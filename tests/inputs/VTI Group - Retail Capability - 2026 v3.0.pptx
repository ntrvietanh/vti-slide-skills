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comment1.xml" ContentType="application/vnd.openxmlformats-officedocument.presentationml.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256" r:id="rId2"/>
    <p:sldId id="257" r:id="rId3"/>
    <p:sldId id="258" r:id="rId4"/>
    <p:sldId id="296" r:id="rId5"/>
    <p:sldId id="297" r:id="rId6"/>
    <p:sldId id="262" r:id="rId7"/>
    <p:sldId id="293" r:id="rId8"/>
    <p:sldId id="265" r:id="rId9"/>
    <p:sldId id="267" r:id="rId10"/>
    <p:sldId id="298" r:id="rId11"/>
    <p:sldId id="299" r:id="rId12"/>
    <p:sldId id="300"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301" r:id="rId38"/>
    <p:sldId id="302" r:id="rId39"/>
    <p:sldId id="294" r:id="rId40"/>
    <p:sldId id="295" r:id="rId41"/>
    <p:sldId id="303" r:id="rId42"/>
    <p:sldId id="304" r:id="rId43"/>
    <p:sldId id="305" r:id="rId44"/>
    <p:sldId id="292" r:id="rId45"/>
  </p:sldIdLst>
  <p:sldSz cx="16256000" cy="9144000"/>
  <p:notesSz cx="16256000" cy="9144000"/>
  <p:embeddedFontLst>
    <p:embeddedFont>
      <p:font typeface="Bai Jamjuree" pitchFamily="2" charset="-34"/>
      <p:regular r:id="rId47"/>
      <p:bold r:id="rId48"/>
      <p:italic r:id="rId49"/>
      <p:boldItalic r:id="rId50"/>
    </p:embeddedFont>
    <p:embeddedFont>
      <p:font typeface="Inter" panose="02000503000000020004"/>
      <p:regular r:id="rId51"/>
      <p:bold r:id="rId52"/>
      <p:italic r:id="rId53"/>
      <p:boldItalic r:id="rId54"/>
    </p:embeddedFont>
    <p:embeddedFont>
      <p:font typeface="Inter Medium" panose="02000503000000020004" pitchFamily="2" charset="0"/>
      <p:regular r:id="rId55"/>
      <p:bold r:id="rId56"/>
      <p:italic r:id="rId57"/>
      <p:boldItalic r:id="rId58"/>
    </p:embeddedFont>
    <p:embeddedFont>
      <p:font typeface="Inter SemiBold" panose="020F0502020204030204" pitchFamily="34" charset="0"/>
      <p:regular r:id="rId59"/>
      <p:bold r:id="rId60"/>
      <p:italic r:id="rId61"/>
      <p:boldItalic r:id="rId62"/>
    </p:embeddedFont>
    <p:embeddedFont>
      <p:font typeface="Malgun Gothic" panose="020B0503020000020004" pitchFamily="34" charset="-127"/>
      <p:regular r:id="rId63"/>
      <p:bold r:id="rId64"/>
    </p:embeddedFont>
    <p:embeddedFont>
      <p:font typeface="Meiryo" panose="020B0604030504040204" pitchFamily="34" charset="-128"/>
      <p:regular r:id="rId65"/>
      <p:bold r:id="rId66"/>
      <p:italic r:id="rId67"/>
      <p:boldItalic r:id="rId68"/>
    </p:embeddedFont>
    <p:embeddedFont>
      <p:font typeface="Noto Sans JP" panose="020F0502020204030204" pitchFamily="34" charset="0"/>
      <p:regular r:id="rId69"/>
      <p:bold r:id="rId70"/>
      <p:italic r:id="rId71"/>
      <p:boldItalic r:id="rId72"/>
    </p:embeddedFont>
    <p:embeddedFont>
      <p:font typeface="Plus Jakarta Sans"/>
      <p:regular r:id="rId73"/>
      <p:bold r:id="rId74"/>
      <p:italic r:id="rId75"/>
      <p:boldItalic r:id="rId76"/>
    </p:embeddedFont>
    <p:embeddedFont>
      <p:font typeface="Plus Jakarta Sans Medium" panose="020F0502020204030204" pitchFamily="34" charset="0"/>
      <p:regular r:id="rId77"/>
      <p:bold r:id="rId78"/>
      <p:italic r:id="rId79"/>
      <p:boldItalic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734">
          <p15:clr>
            <a:srgbClr val="000000"/>
          </p15:clr>
        </p15:guide>
        <p15:guide id="2" pos="2214">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1" roundtripDataSignature="AMtx7mja8eS78ciXFe1wx3eHgjzBmNd+6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eleted user"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94"/>
  </p:normalViewPr>
  <p:slideViewPr>
    <p:cSldViewPr snapToGrid="0">
      <p:cViewPr>
        <p:scale>
          <a:sx n="61" d="100"/>
          <a:sy n="61" d="100"/>
        </p:scale>
        <p:origin x="1672" y="1064"/>
      </p:cViewPr>
      <p:guideLst>
        <p:guide orient="horz" pos="2734"/>
        <p:guide pos="22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font" Target="fonts/font22.fntdata"/><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font" Target="fonts/font7.fntdata"/><Relationship Id="rId58" Type="http://schemas.openxmlformats.org/officeDocument/2006/relationships/font" Target="fonts/font12.fntdata"/><Relationship Id="rId74" Type="http://schemas.openxmlformats.org/officeDocument/2006/relationships/font" Target="fonts/font28.fntdata"/><Relationship Id="rId79" Type="http://schemas.openxmlformats.org/officeDocument/2006/relationships/font" Target="fonts/font33.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font" Target="fonts/font23.fntdata"/><Relationship Id="rId77" Type="http://schemas.openxmlformats.org/officeDocument/2006/relationships/font" Target="fonts/font31.fntdata"/><Relationship Id="rId8" Type="http://schemas.openxmlformats.org/officeDocument/2006/relationships/slide" Target="slides/slide7.xml"/><Relationship Id="rId51" Type="http://schemas.openxmlformats.org/officeDocument/2006/relationships/font" Target="fonts/font5.fntdata"/><Relationship Id="rId72" Type="http://schemas.openxmlformats.org/officeDocument/2006/relationships/font" Target="fonts/font26.fntdata"/><Relationship Id="rId80" Type="http://schemas.openxmlformats.org/officeDocument/2006/relationships/font" Target="fonts/font34.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font" Target="fonts/font24.fntdata"/><Relationship Id="rId75" Type="http://schemas.openxmlformats.org/officeDocument/2006/relationships/font" Target="fonts/font29.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73" Type="http://schemas.openxmlformats.org/officeDocument/2006/relationships/font" Target="fonts/font27.fntdata"/><Relationship Id="rId78" Type="http://schemas.openxmlformats.org/officeDocument/2006/relationships/font" Target="fonts/font32.fntdata"/><Relationship Id="rId81" Type="http://customschemas.google.com/relationships/presentationmetadata" Target="meta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4.fntdata"/><Relationship Id="rId55" Type="http://schemas.openxmlformats.org/officeDocument/2006/relationships/font" Target="fonts/font9.fntdata"/><Relationship Id="rId76" Type="http://schemas.openxmlformats.org/officeDocument/2006/relationships/font" Target="fonts/font30.fntdata"/><Relationship Id="rId7" Type="http://schemas.openxmlformats.org/officeDocument/2006/relationships/slide" Target="slides/slide6.xml"/><Relationship Id="rId71" Type="http://schemas.openxmlformats.org/officeDocument/2006/relationships/font" Target="fonts/font2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20.fntdata"/><Relationship Id="rId61" Type="http://schemas.openxmlformats.org/officeDocument/2006/relationships/font" Target="fonts/font15.fntdata"/><Relationship Id="rId8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03-31T09:55:43.833" idx="1">
    <p:pos x="6000" y="0"/>
    <p:text>các slide case study retail: https://drive.google.com/drive/folders/1Myq7BVqoOpUzs3DoVuzvYRcFI0gr4_lu</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fT-eYl8"/>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709875" y="685800"/>
            <a:ext cx="108378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625600" y="4343400"/>
            <a:ext cx="130048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371019a5e0_0_90: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3371019a5e0_0_90: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465da649cc_0_200:notes"/>
          <p:cNvSpPr txBox="1">
            <a:spLocks noGrp="1"/>
          </p:cNvSpPr>
          <p:nvPr>
            <p:ph type="hdr" idx="2"/>
          </p:nvPr>
        </p:nvSpPr>
        <p:spPr>
          <a:xfrm>
            <a:off x="0" y="0"/>
            <a:ext cx="939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32" name="Google Shape;132;g3465da649cc_0_200:notes"/>
          <p:cNvSpPr txBox="1">
            <a:spLocks noGrp="1"/>
          </p:cNvSpPr>
          <p:nvPr>
            <p:ph type="dt" idx="10"/>
          </p:nvPr>
        </p:nvSpPr>
        <p:spPr>
          <a:xfrm>
            <a:off x="12278549" y="0"/>
            <a:ext cx="939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133" name="Google Shape;133;g3465da649cc_0_200:notes"/>
          <p:cNvSpPr>
            <a:spLocks noGrp="1" noRot="1" noChangeAspect="1"/>
          </p:cNvSpPr>
          <p:nvPr>
            <p:ph type="sldImg" idx="3"/>
          </p:nvPr>
        </p:nvSpPr>
        <p:spPr>
          <a:xfrm>
            <a:off x="8556625"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g3465da649cc_0_200:notes"/>
          <p:cNvSpPr txBox="1">
            <a:spLocks noGrp="1"/>
          </p:cNvSpPr>
          <p:nvPr>
            <p:ph type="body" idx="1"/>
          </p:nvPr>
        </p:nvSpPr>
        <p:spPr>
          <a:xfrm>
            <a:off x="2167467" y="3251200"/>
            <a:ext cx="173397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35" name="Google Shape;135;g3465da649cc_0_200:notes"/>
          <p:cNvSpPr txBox="1">
            <a:spLocks noGrp="1"/>
          </p:cNvSpPr>
          <p:nvPr>
            <p:ph type="ftr" idx="11"/>
          </p:nvPr>
        </p:nvSpPr>
        <p:spPr>
          <a:xfrm>
            <a:off x="0" y="6502400"/>
            <a:ext cx="939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36" name="Google Shape;136;g3465da649cc_0_200:notes"/>
          <p:cNvSpPr txBox="1">
            <a:spLocks noGrp="1"/>
          </p:cNvSpPr>
          <p:nvPr>
            <p:ph type="sldNum" idx="12"/>
          </p:nvPr>
        </p:nvSpPr>
        <p:spPr>
          <a:xfrm>
            <a:off x="12278549" y="6502400"/>
            <a:ext cx="939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e0fe6e9579_0_17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e0fe6e9579_0_17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445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74a8859933_2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74a8859933_2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74a8859933_2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74a8859933_2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74a8859933_2_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74a8859933_2_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74a8859933_2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274a8859933_2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e0fe6e9579_0_17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2e0fe6e9579_0_17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4b9e555fe9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4b9e555fe9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2e0fe6e9579_0_18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2e0fe6e9579_0_18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274a8859933_2_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9" name="Google Shape;679;g274a8859933_2_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3465da649cc_0_461:notes"/>
          <p:cNvSpPr txBox="1">
            <a:spLocks noGrp="1"/>
          </p:cNvSpPr>
          <p:nvPr>
            <p:ph type="hdr" idx="2"/>
          </p:nvPr>
        </p:nvSpPr>
        <p:spPr>
          <a:xfrm>
            <a:off x="0" y="0"/>
            <a:ext cx="939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828" name="Google Shape;828;g3465da649cc_0_461:notes"/>
          <p:cNvSpPr txBox="1">
            <a:spLocks noGrp="1"/>
          </p:cNvSpPr>
          <p:nvPr>
            <p:ph type="dt" idx="10"/>
          </p:nvPr>
        </p:nvSpPr>
        <p:spPr>
          <a:xfrm>
            <a:off x="12278549" y="0"/>
            <a:ext cx="939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829" name="Google Shape;829;g3465da649cc_0_461:notes"/>
          <p:cNvSpPr>
            <a:spLocks noGrp="1" noRot="1" noChangeAspect="1"/>
          </p:cNvSpPr>
          <p:nvPr>
            <p:ph type="sldImg" idx="3"/>
          </p:nvPr>
        </p:nvSpPr>
        <p:spPr>
          <a:xfrm>
            <a:off x="8556625"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3465da649cc_0_461:notes"/>
          <p:cNvSpPr txBox="1">
            <a:spLocks noGrp="1"/>
          </p:cNvSpPr>
          <p:nvPr>
            <p:ph type="body" idx="1"/>
          </p:nvPr>
        </p:nvSpPr>
        <p:spPr>
          <a:xfrm>
            <a:off x="2167467" y="3251200"/>
            <a:ext cx="173397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831" name="Google Shape;831;g3465da649cc_0_461:notes"/>
          <p:cNvSpPr txBox="1">
            <a:spLocks noGrp="1"/>
          </p:cNvSpPr>
          <p:nvPr>
            <p:ph type="ftr" idx="11"/>
          </p:nvPr>
        </p:nvSpPr>
        <p:spPr>
          <a:xfrm>
            <a:off x="0" y="6502400"/>
            <a:ext cx="939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832" name="Google Shape;832;g3465da649cc_0_461:notes"/>
          <p:cNvSpPr txBox="1">
            <a:spLocks noGrp="1"/>
          </p:cNvSpPr>
          <p:nvPr>
            <p:ph type="sldNum" idx="12"/>
          </p:nvPr>
        </p:nvSpPr>
        <p:spPr>
          <a:xfrm>
            <a:off x="12278549" y="6502400"/>
            <a:ext cx="939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3465da649cc_0_708:notes"/>
          <p:cNvSpPr txBox="1">
            <a:spLocks noGrp="1"/>
          </p:cNvSpPr>
          <p:nvPr>
            <p:ph type="hdr" idx="2"/>
          </p:nvPr>
        </p:nvSpPr>
        <p:spPr>
          <a:xfrm>
            <a:off x="0" y="0"/>
            <a:ext cx="939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852" name="Google Shape;852;g3465da649cc_0_708:notes"/>
          <p:cNvSpPr txBox="1">
            <a:spLocks noGrp="1"/>
          </p:cNvSpPr>
          <p:nvPr>
            <p:ph type="dt" idx="10"/>
          </p:nvPr>
        </p:nvSpPr>
        <p:spPr>
          <a:xfrm>
            <a:off x="12278549" y="0"/>
            <a:ext cx="939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853" name="Google Shape;853;g3465da649cc_0_708:notes"/>
          <p:cNvSpPr>
            <a:spLocks noGrp="1" noRot="1" noChangeAspect="1"/>
          </p:cNvSpPr>
          <p:nvPr>
            <p:ph type="sldImg" idx="3"/>
          </p:nvPr>
        </p:nvSpPr>
        <p:spPr>
          <a:xfrm>
            <a:off x="8556625"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3465da649cc_0_708:notes"/>
          <p:cNvSpPr txBox="1">
            <a:spLocks noGrp="1"/>
          </p:cNvSpPr>
          <p:nvPr>
            <p:ph type="body" idx="1"/>
          </p:nvPr>
        </p:nvSpPr>
        <p:spPr>
          <a:xfrm>
            <a:off x="2167467" y="3251200"/>
            <a:ext cx="173397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855" name="Google Shape;855;g3465da649cc_0_708:notes"/>
          <p:cNvSpPr txBox="1">
            <a:spLocks noGrp="1"/>
          </p:cNvSpPr>
          <p:nvPr>
            <p:ph type="ftr" idx="11"/>
          </p:nvPr>
        </p:nvSpPr>
        <p:spPr>
          <a:xfrm>
            <a:off x="0" y="6502400"/>
            <a:ext cx="939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856" name="Google Shape;856;g3465da649cc_0_708:notes"/>
          <p:cNvSpPr txBox="1">
            <a:spLocks noGrp="1"/>
          </p:cNvSpPr>
          <p:nvPr>
            <p:ph type="sldNum" idx="12"/>
          </p:nvPr>
        </p:nvSpPr>
        <p:spPr>
          <a:xfrm>
            <a:off x="12278549" y="6502400"/>
            <a:ext cx="939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3465da649cc_0_838:notes"/>
          <p:cNvSpPr txBox="1">
            <a:spLocks noGrp="1"/>
          </p:cNvSpPr>
          <p:nvPr>
            <p:ph type="hdr" idx="2"/>
          </p:nvPr>
        </p:nvSpPr>
        <p:spPr>
          <a:xfrm>
            <a:off x="0" y="0"/>
            <a:ext cx="939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907" name="Google Shape;907;g3465da649cc_0_838:notes"/>
          <p:cNvSpPr txBox="1">
            <a:spLocks noGrp="1"/>
          </p:cNvSpPr>
          <p:nvPr>
            <p:ph type="dt" idx="10"/>
          </p:nvPr>
        </p:nvSpPr>
        <p:spPr>
          <a:xfrm>
            <a:off x="12278549" y="0"/>
            <a:ext cx="939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908" name="Google Shape;908;g3465da649cc_0_838:notes"/>
          <p:cNvSpPr>
            <a:spLocks noGrp="1" noRot="1" noChangeAspect="1"/>
          </p:cNvSpPr>
          <p:nvPr>
            <p:ph type="sldImg" idx="3"/>
          </p:nvPr>
        </p:nvSpPr>
        <p:spPr>
          <a:xfrm>
            <a:off x="8556625"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g3465da649cc_0_838:notes"/>
          <p:cNvSpPr txBox="1">
            <a:spLocks noGrp="1"/>
          </p:cNvSpPr>
          <p:nvPr>
            <p:ph type="body" idx="1"/>
          </p:nvPr>
        </p:nvSpPr>
        <p:spPr>
          <a:xfrm>
            <a:off x="2167467" y="3251200"/>
            <a:ext cx="173397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910" name="Google Shape;910;g3465da649cc_0_838:notes"/>
          <p:cNvSpPr txBox="1">
            <a:spLocks noGrp="1"/>
          </p:cNvSpPr>
          <p:nvPr>
            <p:ph type="ftr" idx="11"/>
          </p:nvPr>
        </p:nvSpPr>
        <p:spPr>
          <a:xfrm>
            <a:off x="0" y="6502400"/>
            <a:ext cx="939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911" name="Google Shape;911;g3465da649cc_0_838:notes"/>
          <p:cNvSpPr txBox="1">
            <a:spLocks noGrp="1"/>
          </p:cNvSpPr>
          <p:nvPr>
            <p:ph type="sldNum" idx="12"/>
          </p:nvPr>
        </p:nvSpPr>
        <p:spPr>
          <a:xfrm>
            <a:off x="12278549" y="6502400"/>
            <a:ext cx="939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14:notes"/>
          <p:cNvSpPr txBox="1">
            <a:spLocks noGrp="1"/>
          </p:cNvSpPr>
          <p:nvPr>
            <p:ph type="body" idx="1"/>
          </p:nvPr>
        </p:nvSpPr>
        <p:spPr>
          <a:xfrm>
            <a:off x="1625600" y="4343400"/>
            <a:ext cx="1300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78" name="Google Shape;978;p14: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3465da649cc_0_986:notes"/>
          <p:cNvSpPr txBox="1">
            <a:spLocks noGrp="1"/>
          </p:cNvSpPr>
          <p:nvPr>
            <p:ph type="hdr" idx="2"/>
          </p:nvPr>
        </p:nvSpPr>
        <p:spPr>
          <a:xfrm>
            <a:off x="0" y="0"/>
            <a:ext cx="939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983" name="Google Shape;983;g3465da649cc_0_986:notes"/>
          <p:cNvSpPr txBox="1">
            <a:spLocks noGrp="1"/>
          </p:cNvSpPr>
          <p:nvPr>
            <p:ph type="dt" idx="10"/>
          </p:nvPr>
        </p:nvSpPr>
        <p:spPr>
          <a:xfrm>
            <a:off x="12278549" y="0"/>
            <a:ext cx="939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984" name="Google Shape;984;g3465da649cc_0_986:notes"/>
          <p:cNvSpPr>
            <a:spLocks noGrp="1" noRot="1" noChangeAspect="1"/>
          </p:cNvSpPr>
          <p:nvPr>
            <p:ph type="sldImg" idx="3"/>
          </p:nvPr>
        </p:nvSpPr>
        <p:spPr>
          <a:xfrm>
            <a:off x="8556625"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3465da649cc_0_986:notes"/>
          <p:cNvSpPr txBox="1">
            <a:spLocks noGrp="1"/>
          </p:cNvSpPr>
          <p:nvPr>
            <p:ph type="body" idx="1"/>
          </p:nvPr>
        </p:nvSpPr>
        <p:spPr>
          <a:xfrm>
            <a:off x="2167467" y="3251200"/>
            <a:ext cx="173397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986" name="Google Shape;986;g3465da649cc_0_986:notes"/>
          <p:cNvSpPr txBox="1">
            <a:spLocks noGrp="1"/>
          </p:cNvSpPr>
          <p:nvPr>
            <p:ph type="ftr" idx="11"/>
          </p:nvPr>
        </p:nvSpPr>
        <p:spPr>
          <a:xfrm>
            <a:off x="0" y="6502400"/>
            <a:ext cx="939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987" name="Google Shape;987;g3465da649cc_0_986:notes"/>
          <p:cNvSpPr txBox="1">
            <a:spLocks noGrp="1"/>
          </p:cNvSpPr>
          <p:nvPr>
            <p:ph type="sldNum" idx="12"/>
          </p:nvPr>
        </p:nvSpPr>
        <p:spPr>
          <a:xfrm>
            <a:off x="12278549" y="6502400"/>
            <a:ext cx="939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3465da649cc_0_1054:notes"/>
          <p:cNvSpPr txBox="1">
            <a:spLocks noGrp="1"/>
          </p:cNvSpPr>
          <p:nvPr>
            <p:ph type="hdr" idx="2"/>
          </p:nvPr>
        </p:nvSpPr>
        <p:spPr>
          <a:xfrm>
            <a:off x="0" y="0"/>
            <a:ext cx="939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052" name="Google Shape;1052;g3465da649cc_0_1054:notes"/>
          <p:cNvSpPr txBox="1">
            <a:spLocks noGrp="1"/>
          </p:cNvSpPr>
          <p:nvPr>
            <p:ph type="dt" idx="10"/>
          </p:nvPr>
        </p:nvSpPr>
        <p:spPr>
          <a:xfrm>
            <a:off x="12278549" y="0"/>
            <a:ext cx="939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1053" name="Google Shape;1053;g3465da649cc_0_1054:notes"/>
          <p:cNvSpPr>
            <a:spLocks noGrp="1" noRot="1" noChangeAspect="1"/>
          </p:cNvSpPr>
          <p:nvPr>
            <p:ph type="sldImg" idx="3"/>
          </p:nvPr>
        </p:nvSpPr>
        <p:spPr>
          <a:xfrm>
            <a:off x="8556625"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3465da649cc_0_1054:notes"/>
          <p:cNvSpPr txBox="1">
            <a:spLocks noGrp="1"/>
          </p:cNvSpPr>
          <p:nvPr>
            <p:ph type="body" idx="1"/>
          </p:nvPr>
        </p:nvSpPr>
        <p:spPr>
          <a:xfrm>
            <a:off x="2167467" y="3251200"/>
            <a:ext cx="173397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055" name="Google Shape;1055;g3465da649cc_0_1054:notes"/>
          <p:cNvSpPr txBox="1">
            <a:spLocks noGrp="1"/>
          </p:cNvSpPr>
          <p:nvPr>
            <p:ph type="ftr" idx="11"/>
          </p:nvPr>
        </p:nvSpPr>
        <p:spPr>
          <a:xfrm>
            <a:off x="0" y="6502400"/>
            <a:ext cx="939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056" name="Google Shape;1056;g3465da649cc_0_1054:notes"/>
          <p:cNvSpPr txBox="1">
            <a:spLocks noGrp="1"/>
          </p:cNvSpPr>
          <p:nvPr>
            <p:ph type="sldNum" idx="12"/>
          </p:nvPr>
        </p:nvSpPr>
        <p:spPr>
          <a:xfrm>
            <a:off x="12278549" y="6502400"/>
            <a:ext cx="939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3465da649cc_0_1110:notes"/>
          <p:cNvSpPr txBox="1">
            <a:spLocks noGrp="1"/>
          </p:cNvSpPr>
          <p:nvPr>
            <p:ph type="hdr" idx="2"/>
          </p:nvPr>
        </p:nvSpPr>
        <p:spPr>
          <a:xfrm>
            <a:off x="0" y="0"/>
            <a:ext cx="939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109" name="Google Shape;1109;g3465da649cc_0_1110:notes"/>
          <p:cNvSpPr txBox="1">
            <a:spLocks noGrp="1"/>
          </p:cNvSpPr>
          <p:nvPr>
            <p:ph type="dt" idx="10"/>
          </p:nvPr>
        </p:nvSpPr>
        <p:spPr>
          <a:xfrm>
            <a:off x="12278549" y="0"/>
            <a:ext cx="939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1110" name="Google Shape;1110;g3465da649cc_0_1110:notes"/>
          <p:cNvSpPr>
            <a:spLocks noGrp="1" noRot="1" noChangeAspect="1"/>
          </p:cNvSpPr>
          <p:nvPr>
            <p:ph type="sldImg" idx="3"/>
          </p:nvPr>
        </p:nvSpPr>
        <p:spPr>
          <a:xfrm>
            <a:off x="8556625"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1" name="Google Shape;1111;g3465da649cc_0_1110:notes"/>
          <p:cNvSpPr txBox="1">
            <a:spLocks noGrp="1"/>
          </p:cNvSpPr>
          <p:nvPr>
            <p:ph type="body" idx="1"/>
          </p:nvPr>
        </p:nvSpPr>
        <p:spPr>
          <a:xfrm>
            <a:off x="2167467" y="3251200"/>
            <a:ext cx="173397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112" name="Google Shape;1112;g3465da649cc_0_1110:notes"/>
          <p:cNvSpPr txBox="1">
            <a:spLocks noGrp="1"/>
          </p:cNvSpPr>
          <p:nvPr>
            <p:ph type="ftr" idx="11"/>
          </p:nvPr>
        </p:nvSpPr>
        <p:spPr>
          <a:xfrm>
            <a:off x="0" y="6502400"/>
            <a:ext cx="939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113" name="Google Shape;1113;g3465da649cc_0_1110:notes"/>
          <p:cNvSpPr txBox="1">
            <a:spLocks noGrp="1"/>
          </p:cNvSpPr>
          <p:nvPr>
            <p:ph type="sldNum" idx="12"/>
          </p:nvPr>
        </p:nvSpPr>
        <p:spPr>
          <a:xfrm>
            <a:off x="12278549" y="6502400"/>
            <a:ext cx="939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g3499340675d_0_0:notes"/>
          <p:cNvSpPr txBox="1">
            <a:spLocks noGrp="1"/>
          </p:cNvSpPr>
          <p:nvPr>
            <p:ph type="hdr" idx="2"/>
          </p:nvPr>
        </p:nvSpPr>
        <p:spPr>
          <a:xfrm>
            <a:off x="0" y="0"/>
            <a:ext cx="9392400" cy="342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188" name="Google Shape;1188;g3499340675d_0_0:notes"/>
          <p:cNvSpPr txBox="1">
            <a:spLocks noGrp="1"/>
          </p:cNvSpPr>
          <p:nvPr>
            <p:ph type="dt" idx="10"/>
          </p:nvPr>
        </p:nvSpPr>
        <p:spPr>
          <a:xfrm>
            <a:off x="12278549" y="0"/>
            <a:ext cx="9392400" cy="3429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1.7.2013</a:t>
            </a:r>
            <a:endParaRPr sz="1400" b="0" i="0" u="none" strike="noStrike" cap="none">
              <a:solidFill>
                <a:srgbClr val="000000"/>
              </a:solidFill>
              <a:latin typeface="Arial"/>
              <a:ea typeface="Arial"/>
              <a:cs typeface="Arial"/>
              <a:sym typeface="Arial"/>
            </a:endParaRPr>
          </a:p>
        </p:txBody>
      </p:sp>
      <p:sp>
        <p:nvSpPr>
          <p:cNvPr id="1189" name="Google Shape;1189;g3499340675d_0_0:notes"/>
          <p:cNvSpPr>
            <a:spLocks noGrp="1" noRot="1" noChangeAspect="1"/>
          </p:cNvSpPr>
          <p:nvPr>
            <p:ph type="sldImg" idx="3"/>
          </p:nvPr>
        </p:nvSpPr>
        <p:spPr>
          <a:xfrm>
            <a:off x="8556625"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0" name="Google Shape;1190;g3499340675d_0_0:notes"/>
          <p:cNvSpPr txBox="1">
            <a:spLocks noGrp="1"/>
          </p:cNvSpPr>
          <p:nvPr>
            <p:ph type="body" idx="1"/>
          </p:nvPr>
        </p:nvSpPr>
        <p:spPr>
          <a:xfrm>
            <a:off x="2167467" y="3251200"/>
            <a:ext cx="173397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191" name="Google Shape;1191;g3499340675d_0_0:notes"/>
          <p:cNvSpPr txBox="1">
            <a:spLocks noGrp="1"/>
          </p:cNvSpPr>
          <p:nvPr>
            <p:ph type="ftr" idx="11"/>
          </p:nvPr>
        </p:nvSpPr>
        <p:spPr>
          <a:xfrm>
            <a:off x="0" y="6502400"/>
            <a:ext cx="9392400" cy="3414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192" name="Google Shape;1192;g3499340675d_0_0:notes"/>
          <p:cNvSpPr txBox="1">
            <a:spLocks noGrp="1"/>
          </p:cNvSpPr>
          <p:nvPr>
            <p:ph type="sldNum" idx="12"/>
          </p:nvPr>
        </p:nvSpPr>
        <p:spPr>
          <a:xfrm>
            <a:off x="12278549" y="6502400"/>
            <a:ext cx="9392400" cy="3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4"/>
        <p:cNvGrpSpPr/>
        <p:nvPr/>
      </p:nvGrpSpPr>
      <p:grpSpPr>
        <a:xfrm>
          <a:off x="0" y="0"/>
          <a:ext cx="0" cy="0"/>
          <a:chOff x="0" y="0"/>
          <a:chExt cx="0" cy="0"/>
        </a:xfrm>
      </p:grpSpPr>
      <p:sp>
        <p:nvSpPr>
          <p:cNvPr id="1285" name="Google Shape;1285;p19:notes"/>
          <p:cNvSpPr txBox="1">
            <a:spLocks noGrp="1"/>
          </p:cNvSpPr>
          <p:nvPr>
            <p:ph type="body" idx="1"/>
          </p:nvPr>
        </p:nvSpPr>
        <p:spPr>
          <a:xfrm>
            <a:off x="1625600" y="4343400"/>
            <a:ext cx="1300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6" name="Google Shape;1286;p19: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p29: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266" name="Google Shape;1266;p29: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9"/>
        <p:cNvGrpSpPr/>
        <p:nvPr/>
      </p:nvGrpSpPr>
      <p:grpSpPr>
        <a:xfrm>
          <a:off x="0" y="0"/>
          <a:ext cx="0" cy="0"/>
          <a:chOff x="0" y="0"/>
          <a:chExt cx="0" cy="0"/>
        </a:xfrm>
      </p:grpSpPr>
      <p:sp>
        <p:nvSpPr>
          <p:cNvPr id="1320" name="Google Shape;1320;p30: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321" name="Google Shape;1321;p30: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5"/>
        <p:cNvGrpSpPr/>
        <p:nvPr/>
      </p:nvGrpSpPr>
      <p:grpSpPr>
        <a:xfrm>
          <a:off x="0" y="0"/>
          <a:ext cx="0" cy="0"/>
          <a:chOff x="0" y="0"/>
          <a:chExt cx="0" cy="0"/>
        </a:xfrm>
      </p:grpSpPr>
      <p:sp>
        <p:nvSpPr>
          <p:cNvPr id="1376" name="Google Shape;1376;p31: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377" name="Google Shape;1377;p31: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4"/>
        <p:cNvGrpSpPr/>
        <p:nvPr/>
      </p:nvGrpSpPr>
      <p:grpSpPr>
        <a:xfrm>
          <a:off x="0" y="0"/>
          <a:ext cx="0" cy="0"/>
          <a:chOff x="0" y="0"/>
          <a:chExt cx="0" cy="0"/>
        </a:xfrm>
      </p:grpSpPr>
      <p:sp>
        <p:nvSpPr>
          <p:cNvPr id="1485" name="Google Shape;1485;p32: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486" name="Google Shape;1486;p32: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5"/>
        <p:cNvGrpSpPr/>
        <p:nvPr/>
      </p:nvGrpSpPr>
      <p:grpSpPr>
        <a:xfrm>
          <a:off x="0" y="0"/>
          <a:ext cx="0" cy="0"/>
          <a:chOff x="0" y="0"/>
          <a:chExt cx="0" cy="0"/>
        </a:xfrm>
      </p:grpSpPr>
      <p:sp>
        <p:nvSpPr>
          <p:cNvPr id="1526" name="Google Shape;1526;p22: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27" name="Google Shape;1527;p22: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0"/>
        <p:cNvGrpSpPr/>
        <p:nvPr/>
      </p:nvGrpSpPr>
      <p:grpSpPr>
        <a:xfrm>
          <a:off x="0" y="0"/>
          <a:ext cx="0" cy="0"/>
          <a:chOff x="0" y="0"/>
          <a:chExt cx="0" cy="0"/>
        </a:xfrm>
      </p:grpSpPr>
      <p:sp>
        <p:nvSpPr>
          <p:cNvPr id="1661" name="Google Shape;1661;p23: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662" name="Google Shape;1662;p23: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0"/>
        <p:cNvGrpSpPr/>
        <p:nvPr/>
      </p:nvGrpSpPr>
      <p:grpSpPr>
        <a:xfrm>
          <a:off x="0" y="0"/>
          <a:ext cx="0" cy="0"/>
          <a:chOff x="0" y="0"/>
          <a:chExt cx="0" cy="0"/>
        </a:xfrm>
      </p:grpSpPr>
      <p:sp>
        <p:nvSpPr>
          <p:cNvPr id="1721" name="Google Shape;1721;p24: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722" name="Google Shape;1722;p24: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7"/>
        <p:cNvGrpSpPr/>
        <p:nvPr/>
      </p:nvGrpSpPr>
      <p:grpSpPr>
        <a:xfrm>
          <a:off x="0" y="0"/>
          <a:ext cx="0" cy="0"/>
          <a:chOff x="0" y="0"/>
          <a:chExt cx="0" cy="0"/>
        </a:xfrm>
      </p:grpSpPr>
      <p:sp>
        <p:nvSpPr>
          <p:cNvPr id="1858" name="Google Shape;1858;p25: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859" name="Google Shape;1859;p25: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3"/>
        <p:cNvGrpSpPr/>
        <p:nvPr/>
      </p:nvGrpSpPr>
      <p:grpSpPr>
        <a:xfrm>
          <a:off x="0" y="0"/>
          <a:ext cx="0" cy="0"/>
          <a:chOff x="0" y="0"/>
          <a:chExt cx="0" cy="0"/>
        </a:xfrm>
      </p:grpSpPr>
      <p:sp>
        <p:nvSpPr>
          <p:cNvPr id="1904" name="Google Shape;1904;p26: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905" name="Google Shape;1905;p26: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1"/>
        <p:cNvGrpSpPr/>
        <p:nvPr/>
      </p:nvGrpSpPr>
      <p:grpSpPr>
        <a:xfrm>
          <a:off x="0" y="0"/>
          <a:ext cx="0" cy="0"/>
          <a:chOff x="0" y="0"/>
          <a:chExt cx="0" cy="0"/>
        </a:xfrm>
      </p:grpSpPr>
      <p:sp>
        <p:nvSpPr>
          <p:cNvPr id="1972" name="Google Shape;1972;p27: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973" name="Google Shape;1973;p27: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1"/>
        <p:cNvGrpSpPr/>
        <p:nvPr/>
      </p:nvGrpSpPr>
      <p:grpSpPr>
        <a:xfrm>
          <a:off x="0" y="0"/>
          <a:ext cx="0" cy="0"/>
          <a:chOff x="0" y="0"/>
          <a:chExt cx="0" cy="0"/>
        </a:xfrm>
      </p:grpSpPr>
      <p:sp>
        <p:nvSpPr>
          <p:cNvPr id="2042" name="Google Shape;2042;p28: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043" name="Google Shape;2043;p28: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3"/>
        <p:cNvGrpSpPr/>
        <p:nvPr/>
      </p:nvGrpSpPr>
      <p:grpSpPr>
        <a:xfrm>
          <a:off x="0" y="0"/>
          <a:ext cx="0" cy="0"/>
          <a:chOff x="0" y="0"/>
          <a:chExt cx="0" cy="0"/>
        </a:xfrm>
      </p:grpSpPr>
      <p:sp>
        <p:nvSpPr>
          <p:cNvPr id="2094" name="Google Shape;2094;p33: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095" name="Google Shape;2095;p33: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p34: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258" name="Google Shape;2258;p34: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7"/>
        <p:cNvGrpSpPr/>
        <p:nvPr/>
      </p:nvGrpSpPr>
      <p:grpSpPr>
        <a:xfrm>
          <a:off x="0" y="0"/>
          <a:ext cx="0" cy="0"/>
          <a:chOff x="0" y="0"/>
          <a:chExt cx="0" cy="0"/>
        </a:xfrm>
      </p:grpSpPr>
      <p:sp>
        <p:nvSpPr>
          <p:cNvPr id="2338" name="Google Shape;2338;p35: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339" name="Google Shape;2339;p35: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0"/>
        <p:cNvGrpSpPr/>
        <p:nvPr/>
      </p:nvGrpSpPr>
      <p:grpSpPr>
        <a:xfrm>
          <a:off x="0" y="0"/>
          <a:ext cx="0" cy="0"/>
          <a:chOff x="0" y="0"/>
          <a:chExt cx="0" cy="0"/>
        </a:xfrm>
      </p:grpSpPr>
      <p:sp>
        <p:nvSpPr>
          <p:cNvPr id="2441" name="Google Shape;2441;p36: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442" name="Google Shape;2442;p36: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9"/>
        <p:cNvGrpSpPr/>
        <p:nvPr/>
      </p:nvGrpSpPr>
      <p:grpSpPr>
        <a:xfrm>
          <a:off x="0" y="0"/>
          <a:ext cx="0" cy="0"/>
          <a:chOff x="0" y="0"/>
          <a:chExt cx="0" cy="0"/>
        </a:xfrm>
      </p:grpSpPr>
      <p:sp>
        <p:nvSpPr>
          <p:cNvPr id="2470" name="Google Shape;2470;p37: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471" name="Google Shape;2471;p37: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1"/>
        <p:cNvGrpSpPr/>
        <p:nvPr/>
      </p:nvGrpSpPr>
      <p:grpSpPr>
        <a:xfrm>
          <a:off x="0" y="0"/>
          <a:ext cx="0" cy="0"/>
          <a:chOff x="0" y="0"/>
          <a:chExt cx="0" cy="0"/>
        </a:xfrm>
      </p:grpSpPr>
      <p:sp>
        <p:nvSpPr>
          <p:cNvPr id="2542" name="Google Shape;2542;p38: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543" name="Google Shape;2543;p38: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6"/>
        <p:cNvGrpSpPr/>
        <p:nvPr/>
      </p:nvGrpSpPr>
      <p:grpSpPr>
        <a:xfrm>
          <a:off x="0" y="0"/>
          <a:ext cx="0" cy="0"/>
          <a:chOff x="0" y="0"/>
          <a:chExt cx="0" cy="0"/>
        </a:xfrm>
      </p:grpSpPr>
      <p:sp>
        <p:nvSpPr>
          <p:cNvPr id="2617" name="Google Shape;2617;p39: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618" name="Google Shape;2618;p39: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8"/>
        <p:cNvGrpSpPr/>
        <p:nvPr/>
      </p:nvGrpSpPr>
      <p:grpSpPr>
        <a:xfrm>
          <a:off x="0" y="0"/>
          <a:ext cx="0" cy="0"/>
          <a:chOff x="0" y="0"/>
          <a:chExt cx="0" cy="0"/>
        </a:xfrm>
      </p:grpSpPr>
      <p:sp>
        <p:nvSpPr>
          <p:cNvPr id="2659" name="Google Shape;2659;p43: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660" name="Google Shape;2660;p43: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8"/>
        <p:cNvGrpSpPr/>
        <p:nvPr/>
      </p:nvGrpSpPr>
      <p:grpSpPr>
        <a:xfrm>
          <a:off x="0" y="0"/>
          <a:ext cx="0" cy="0"/>
          <a:chOff x="0" y="0"/>
          <a:chExt cx="0" cy="0"/>
        </a:xfrm>
      </p:grpSpPr>
      <p:sp>
        <p:nvSpPr>
          <p:cNvPr id="2679" name="Google Shape;2679;g3d1b7f80f08_0_588: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680" name="Google Shape;2680;g3d1b7f80f08_0_588: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1"/>
        <p:cNvGrpSpPr/>
        <p:nvPr/>
      </p:nvGrpSpPr>
      <p:grpSpPr>
        <a:xfrm>
          <a:off x="0" y="0"/>
          <a:ext cx="0" cy="0"/>
          <a:chOff x="0" y="0"/>
          <a:chExt cx="0" cy="0"/>
        </a:xfrm>
      </p:grpSpPr>
      <p:sp>
        <p:nvSpPr>
          <p:cNvPr id="2692" name="Google Shape;2692;p48: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693" name="Google Shape;2693;p48: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1"/>
        <p:cNvGrpSpPr/>
        <p:nvPr/>
      </p:nvGrpSpPr>
      <p:grpSpPr>
        <a:xfrm>
          <a:off x="0" y="0"/>
          <a:ext cx="0" cy="0"/>
          <a:chOff x="0" y="0"/>
          <a:chExt cx="0" cy="0"/>
        </a:xfrm>
      </p:grpSpPr>
      <p:sp>
        <p:nvSpPr>
          <p:cNvPr id="2712" name="Google Shape;2712;p49: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2713" name="Google Shape;2713;p49: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2"/>
        <p:cNvGrpSpPr/>
        <p:nvPr/>
      </p:nvGrpSpPr>
      <p:grpSpPr>
        <a:xfrm>
          <a:off x="0" y="0"/>
          <a:ext cx="0" cy="0"/>
          <a:chOff x="0" y="0"/>
          <a:chExt cx="0" cy="0"/>
        </a:xfrm>
      </p:grpSpPr>
      <p:sp>
        <p:nvSpPr>
          <p:cNvPr id="2563" name="Google Shape;2563;g3371019a5e0_0_6:notes"/>
          <p:cNvSpPr>
            <a:spLocks noGrp="1" noRot="1" noChangeAspect="1"/>
          </p:cNvSpPr>
          <p:nvPr>
            <p:ph type="sldImg" idx="2"/>
          </p:nvPr>
        </p:nvSpPr>
        <p:spPr>
          <a:xfrm>
            <a:off x="5080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4" name="Google Shape;2564;g3371019a5e0_0_6:notes"/>
          <p:cNvSpPr txBox="1">
            <a:spLocks noGrp="1"/>
          </p:cNvSpPr>
          <p:nvPr>
            <p:ph type="body" idx="1"/>
          </p:nvPr>
        </p:nvSpPr>
        <p:spPr>
          <a:xfrm>
            <a:off x="1625600" y="4343400"/>
            <a:ext cx="130047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g3371019a5e0_0_86"/>
          <p:cNvSpPr txBox="1">
            <a:spLocks noGrp="1"/>
          </p:cNvSpPr>
          <p:nvPr>
            <p:ph type="ctrTitle"/>
          </p:nvPr>
        </p:nvSpPr>
        <p:spPr>
          <a:xfrm>
            <a:off x="554148" y="1323689"/>
            <a:ext cx="15147600" cy="3649200"/>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SzPts val="9200"/>
              <a:buNone/>
              <a:defRPr sz="9200"/>
            </a:lvl1pPr>
            <a:lvl2pPr lvl="1" algn="ctr">
              <a:lnSpc>
                <a:spcPct val="100000"/>
              </a:lnSpc>
              <a:spcBef>
                <a:spcPts val="0"/>
              </a:spcBef>
              <a:spcAft>
                <a:spcPts val="0"/>
              </a:spcAft>
              <a:buSzPts val="9200"/>
              <a:buNone/>
              <a:defRPr sz="9200"/>
            </a:lvl2pPr>
            <a:lvl3pPr lvl="2" algn="ctr">
              <a:lnSpc>
                <a:spcPct val="100000"/>
              </a:lnSpc>
              <a:spcBef>
                <a:spcPts val="0"/>
              </a:spcBef>
              <a:spcAft>
                <a:spcPts val="0"/>
              </a:spcAft>
              <a:buSzPts val="9200"/>
              <a:buNone/>
              <a:defRPr sz="9200"/>
            </a:lvl3pPr>
            <a:lvl4pPr lvl="3" algn="ctr">
              <a:lnSpc>
                <a:spcPct val="100000"/>
              </a:lnSpc>
              <a:spcBef>
                <a:spcPts val="0"/>
              </a:spcBef>
              <a:spcAft>
                <a:spcPts val="0"/>
              </a:spcAft>
              <a:buSzPts val="9200"/>
              <a:buNone/>
              <a:defRPr sz="9200"/>
            </a:lvl4pPr>
            <a:lvl5pPr lvl="4" algn="ctr">
              <a:lnSpc>
                <a:spcPct val="100000"/>
              </a:lnSpc>
              <a:spcBef>
                <a:spcPts val="0"/>
              </a:spcBef>
              <a:spcAft>
                <a:spcPts val="0"/>
              </a:spcAft>
              <a:buSzPts val="9200"/>
              <a:buNone/>
              <a:defRPr sz="9200"/>
            </a:lvl5pPr>
            <a:lvl6pPr lvl="5" algn="ctr">
              <a:lnSpc>
                <a:spcPct val="100000"/>
              </a:lnSpc>
              <a:spcBef>
                <a:spcPts val="0"/>
              </a:spcBef>
              <a:spcAft>
                <a:spcPts val="0"/>
              </a:spcAft>
              <a:buSzPts val="9200"/>
              <a:buNone/>
              <a:defRPr sz="9200"/>
            </a:lvl6pPr>
            <a:lvl7pPr lvl="6" algn="ctr">
              <a:lnSpc>
                <a:spcPct val="100000"/>
              </a:lnSpc>
              <a:spcBef>
                <a:spcPts val="0"/>
              </a:spcBef>
              <a:spcAft>
                <a:spcPts val="0"/>
              </a:spcAft>
              <a:buSzPts val="9200"/>
              <a:buNone/>
              <a:defRPr sz="9200"/>
            </a:lvl7pPr>
            <a:lvl8pPr lvl="7" algn="ctr">
              <a:lnSpc>
                <a:spcPct val="100000"/>
              </a:lnSpc>
              <a:spcBef>
                <a:spcPts val="0"/>
              </a:spcBef>
              <a:spcAft>
                <a:spcPts val="0"/>
              </a:spcAft>
              <a:buSzPts val="9200"/>
              <a:buNone/>
              <a:defRPr sz="9200"/>
            </a:lvl8pPr>
            <a:lvl9pPr lvl="8" algn="ctr">
              <a:lnSpc>
                <a:spcPct val="100000"/>
              </a:lnSpc>
              <a:spcBef>
                <a:spcPts val="0"/>
              </a:spcBef>
              <a:spcAft>
                <a:spcPts val="0"/>
              </a:spcAft>
              <a:buSzPts val="9200"/>
              <a:buNone/>
              <a:defRPr sz="9200"/>
            </a:lvl9pPr>
          </a:lstStyle>
          <a:p>
            <a:endParaRPr/>
          </a:p>
        </p:txBody>
      </p:sp>
      <p:sp>
        <p:nvSpPr>
          <p:cNvPr id="13" name="Google Shape;13;g3371019a5e0_0_86"/>
          <p:cNvSpPr txBox="1">
            <a:spLocks noGrp="1"/>
          </p:cNvSpPr>
          <p:nvPr>
            <p:ph type="subTitle" idx="1"/>
          </p:nvPr>
        </p:nvSpPr>
        <p:spPr>
          <a:xfrm>
            <a:off x="554133" y="5038444"/>
            <a:ext cx="15147600" cy="14091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a:endParaRPr/>
          </a:p>
        </p:txBody>
      </p:sp>
      <p:sp>
        <p:nvSpPr>
          <p:cNvPr id="14" name="Google Shape;14;g3371019a5e0_0_86"/>
          <p:cNvSpPr txBox="1">
            <a:spLocks noGrp="1"/>
          </p:cNvSpPr>
          <p:nvPr>
            <p:ph type="sldNum" idx="12"/>
          </p:nvPr>
        </p:nvSpPr>
        <p:spPr>
          <a:xfrm>
            <a:off x="15062147" y="8290163"/>
            <a:ext cx="975600" cy="27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15"/>
        <p:cNvGrpSpPr/>
        <p:nvPr/>
      </p:nvGrpSpPr>
      <p:grpSpPr>
        <a:xfrm>
          <a:off x="0" y="0"/>
          <a:ext cx="0" cy="0"/>
          <a:chOff x="0" y="0"/>
          <a:chExt cx="0" cy="0"/>
        </a:xfrm>
      </p:grpSpPr>
      <p:sp>
        <p:nvSpPr>
          <p:cNvPr id="16" name="Google Shape;16;g3464c0a1596_0_168"/>
          <p:cNvSpPr txBox="1">
            <a:spLocks noGrp="1"/>
          </p:cNvSpPr>
          <p:nvPr>
            <p:ph type="dt" idx="10"/>
          </p:nvPr>
        </p:nvSpPr>
        <p:spPr>
          <a:xfrm>
            <a:off x="406400" y="5650089"/>
            <a:ext cx="1896600" cy="324600"/>
          </a:xfrm>
          <a:prstGeom prst="rect">
            <a:avLst/>
          </a:prstGeom>
          <a:noFill/>
          <a:ln>
            <a:noFill/>
          </a:ln>
        </p:spPr>
        <p:txBody>
          <a:bodyPr spcFirstLastPara="1" wrap="square" lIns="81275" tIns="40625" rIns="81275" bIns="40625" anchor="ctr"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g3464c0a1596_0_168"/>
          <p:cNvSpPr txBox="1">
            <a:spLocks noGrp="1"/>
          </p:cNvSpPr>
          <p:nvPr>
            <p:ph type="ftr" idx="11"/>
          </p:nvPr>
        </p:nvSpPr>
        <p:spPr>
          <a:xfrm>
            <a:off x="2777067" y="5650089"/>
            <a:ext cx="2574000" cy="324600"/>
          </a:xfrm>
          <a:prstGeom prst="rect">
            <a:avLst/>
          </a:prstGeom>
          <a:noFill/>
          <a:ln>
            <a:noFill/>
          </a:ln>
        </p:spPr>
        <p:txBody>
          <a:bodyPr spcFirstLastPara="1" wrap="square" lIns="81275" tIns="40625" rIns="81275" bIns="40625" anchor="ctr" anchorCtr="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g3464c0a1596_0_168"/>
          <p:cNvSpPr txBox="1">
            <a:spLocks noGrp="1"/>
          </p:cNvSpPr>
          <p:nvPr>
            <p:ph type="sldNum" idx="12"/>
          </p:nvPr>
        </p:nvSpPr>
        <p:spPr>
          <a:xfrm>
            <a:off x="5825067" y="5650089"/>
            <a:ext cx="1896600" cy="359100"/>
          </a:xfrm>
          <a:prstGeom prst="rect">
            <a:avLst/>
          </a:prstGeom>
          <a:noFill/>
          <a:ln>
            <a:noFill/>
          </a:ln>
        </p:spPr>
        <p:txBody>
          <a:bodyPr spcFirstLastPara="1" wrap="square" lIns="81275" tIns="40625" rIns="81275" bIns="40625" anchor="ctr"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obj">
  <p:cSld name="OBJECT">
    <p:spTree>
      <p:nvGrpSpPr>
        <p:cNvPr id="1" name="Shape 25"/>
        <p:cNvGrpSpPr/>
        <p:nvPr/>
      </p:nvGrpSpPr>
      <p:grpSpPr>
        <a:xfrm>
          <a:off x="0" y="0"/>
          <a:ext cx="0" cy="0"/>
          <a:chOff x="0" y="0"/>
          <a:chExt cx="0" cy="0"/>
        </a:xfrm>
      </p:grpSpPr>
      <p:sp>
        <p:nvSpPr>
          <p:cNvPr id="26" name="Google Shape;26;p38"/>
          <p:cNvSpPr txBox="1">
            <a:spLocks noGrp="1"/>
          </p:cNvSpPr>
          <p:nvPr>
            <p:ph type="title"/>
          </p:nvPr>
        </p:nvSpPr>
        <p:spPr>
          <a:xfrm>
            <a:off x="1221972" y="465980"/>
            <a:ext cx="13149630" cy="10118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600" b="1" i="0">
                <a:solidFill>
                  <a:schemeClr val="lt1"/>
                </a:solidFill>
                <a:latin typeface="Bai Jamjuree"/>
                <a:ea typeface="Bai Jamjuree"/>
                <a:cs typeface="Bai Jamjuree"/>
                <a:sym typeface="Bai Jamjure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8"/>
          <p:cNvSpPr txBox="1">
            <a:spLocks noGrp="1"/>
          </p:cNvSpPr>
          <p:nvPr>
            <p:ph type="ftr" idx="11"/>
          </p:nvPr>
        </p:nvSpPr>
        <p:spPr>
          <a:xfrm>
            <a:off x="5527040" y="8503920"/>
            <a:ext cx="5201920" cy="457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8"/>
          <p:cNvSpPr txBox="1">
            <a:spLocks noGrp="1"/>
          </p:cNvSpPr>
          <p:nvPr>
            <p:ph type="dt" idx="10"/>
          </p:nvPr>
        </p:nvSpPr>
        <p:spPr>
          <a:xfrm>
            <a:off x="812800" y="8503920"/>
            <a:ext cx="3738880" cy="457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8"/>
          <p:cNvSpPr txBox="1">
            <a:spLocks noGrp="1"/>
          </p:cNvSpPr>
          <p:nvPr>
            <p:ph type="sldNum" idx="12"/>
          </p:nvPr>
        </p:nvSpPr>
        <p:spPr>
          <a:xfrm>
            <a:off x="11704320" y="8503920"/>
            <a:ext cx="3738880" cy="45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0"/>
        <p:cNvGrpSpPr/>
        <p:nvPr/>
      </p:nvGrpSpPr>
      <p:grpSpPr>
        <a:xfrm>
          <a:off x="0" y="0"/>
          <a:ext cx="0" cy="0"/>
          <a:chOff x="0" y="0"/>
          <a:chExt cx="0" cy="0"/>
        </a:xfrm>
      </p:grpSpPr>
      <p:sp>
        <p:nvSpPr>
          <p:cNvPr id="31" name="Google Shape;31;p40"/>
          <p:cNvSpPr txBox="1">
            <a:spLocks noGrp="1"/>
          </p:cNvSpPr>
          <p:nvPr>
            <p:ph type="ftr" idx="11"/>
          </p:nvPr>
        </p:nvSpPr>
        <p:spPr>
          <a:xfrm>
            <a:off x="5527040" y="8503920"/>
            <a:ext cx="5201920" cy="457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0"/>
          <p:cNvSpPr txBox="1">
            <a:spLocks noGrp="1"/>
          </p:cNvSpPr>
          <p:nvPr>
            <p:ph type="dt" idx="10"/>
          </p:nvPr>
        </p:nvSpPr>
        <p:spPr>
          <a:xfrm>
            <a:off x="812800" y="8503920"/>
            <a:ext cx="3738880" cy="457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0"/>
          <p:cNvSpPr txBox="1">
            <a:spLocks noGrp="1"/>
          </p:cNvSpPr>
          <p:nvPr>
            <p:ph type="sldNum" idx="12"/>
          </p:nvPr>
        </p:nvSpPr>
        <p:spPr>
          <a:xfrm>
            <a:off x="11704320" y="8503920"/>
            <a:ext cx="3738880" cy="45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4"/>
        <p:cNvGrpSpPr/>
        <p:nvPr/>
      </p:nvGrpSpPr>
      <p:grpSpPr>
        <a:xfrm>
          <a:off x="0" y="0"/>
          <a:ext cx="0" cy="0"/>
          <a:chOff x="0" y="0"/>
          <a:chExt cx="0" cy="0"/>
        </a:xfrm>
      </p:grpSpPr>
      <p:sp>
        <p:nvSpPr>
          <p:cNvPr id="35" name="Google Shape;35;p41"/>
          <p:cNvSpPr txBox="1">
            <a:spLocks noGrp="1"/>
          </p:cNvSpPr>
          <p:nvPr>
            <p:ph type="title"/>
          </p:nvPr>
        </p:nvSpPr>
        <p:spPr>
          <a:xfrm>
            <a:off x="1221972" y="465980"/>
            <a:ext cx="13149630" cy="10118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600" b="1" i="0">
                <a:solidFill>
                  <a:schemeClr val="lt1"/>
                </a:solidFill>
                <a:latin typeface="Bai Jamjuree"/>
                <a:ea typeface="Bai Jamjuree"/>
                <a:cs typeface="Bai Jamjuree"/>
                <a:sym typeface="Bai Jamjure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41"/>
          <p:cNvSpPr txBox="1">
            <a:spLocks noGrp="1"/>
          </p:cNvSpPr>
          <p:nvPr>
            <p:ph type="body" idx="1"/>
          </p:nvPr>
        </p:nvSpPr>
        <p:spPr>
          <a:xfrm>
            <a:off x="951298" y="2185961"/>
            <a:ext cx="5826759" cy="572897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000" b="1" i="0">
                <a:solidFill>
                  <a:schemeClr val="lt1"/>
                </a:solidFill>
                <a:latin typeface="Bai Jamjuree"/>
                <a:ea typeface="Bai Jamjuree"/>
                <a:cs typeface="Bai Jamjuree"/>
                <a:sym typeface="Bai Jamjure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body" idx="2"/>
          </p:nvPr>
        </p:nvSpPr>
        <p:spPr>
          <a:xfrm>
            <a:off x="8371840" y="2103120"/>
            <a:ext cx="7071360" cy="603504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ftr" idx="11"/>
          </p:nvPr>
        </p:nvSpPr>
        <p:spPr>
          <a:xfrm>
            <a:off x="5527040" y="8503920"/>
            <a:ext cx="5201920" cy="457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1"/>
          <p:cNvSpPr txBox="1">
            <a:spLocks noGrp="1"/>
          </p:cNvSpPr>
          <p:nvPr>
            <p:ph type="dt" idx="10"/>
          </p:nvPr>
        </p:nvSpPr>
        <p:spPr>
          <a:xfrm>
            <a:off x="812800" y="8503920"/>
            <a:ext cx="3738880" cy="457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1"/>
          <p:cNvSpPr txBox="1">
            <a:spLocks noGrp="1"/>
          </p:cNvSpPr>
          <p:nvPr>
            <p:ph type="sldNum" idx="12"/>
          </p:nvPr>
        </p:nvSpPr>
        <p:spPr>
          <a:xfrm>
            <a:off x="11704320" y="8503920"/>
            <a:ext cx="3738880" cy="45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1"/>
        <p:cNvGrpSpPr/>
        <p:nvPr/>
      </p:nvGrpSpPr>
      <p:grpSpPr>
        <a:xfrm>
          <a:off x="0" y="0"/>
          <a:ext cx="0" cy="0"/>
          <a:chOff x="0" y="0"/>
          <a:chExt cx="0" cy="0"/>
        </a:xfrm>
      </p:grpSpPr>
      <p:sp>
        <p:nvSpPr>
          <p:cNvPr id="42" name="Google Shape;42;p42"/>
          <p:cNvSpPr txBox="1">
            <a:spLocks noGrp="1"/>
          </p:cNvSpPr>
          <p:nvPr>
            <p:ph type="ctrTitle"/>
          </p:nvPr>
        </p:nvSpPr>
        <p:spPr>
          <a:xfrm>
            <a:off x="1219200" y="2834640"/>
            <a:ext cx="13817600" cy="192024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2"/>
          <p:cNvSpPr txBox="1">
            <a:spLocks noGrp="1"/>
          </p:cNvSpPr>
          <p:nvPr>
            <p:ph type="subTitle" idx="1"/>
          </p:nvPr>
        </p:nvSpPr>
        <p:spPr>
          <a:xfrm>
            <a:off x="2438400" y="5120640"/>
            <a:ext cx="11379200" cy="2286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2"/>
          <p:cNvSpPr txBox="1">
            <a:spLocks noGrp="1"/>
          </p:cNvSpPr>
          <p:nvPr>
            <p:ph type="ftr" idx="11"/>
          </p:nvPr>
        </p:nvSpPr>
        <p:spPr>
          <a:xfrm>
            <a:off x="5527040" y="8503920"/>
            <a:ext cx="5201920" cy="457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dt" idx="10"/>
          </p:nvPr>
        </p:nvSpPr>
        <p:spPr>
          <a:xfrm>
            <a:off x="812800" y="8503920"/>
            <a:ext cx="3738880" cy="457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11704320" y="8503920"/>
            <a:ext cx="3738880" cy="45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57"/>
        <p:cNvGrpSpPr/>
        <p:nvPr/>
      </p:nvGrpSpPr>
      <p:grpSpPr>
        <a:xfrm>
          <a:off x="0" y="0"/>
          <a:ext cx="0" cy="0"/>
          <a:chOff x="0" y="0"/>
          <a:chExt cx="0" cy="0"/>
        </a:xfrm>
      </p:grpSpPr>
      <p:sp>
        <p:nvSpPr>
          <p:cNvPr id="58" name="Google Shape;58;p61"/>
          <p:cNvSpPr txBox="1">
            <a:spLocks noGrp="1"/>
          </p:cNvSpPr>
          <p:nvPr>
            <p:ph type="title"/>
          </p:nvPr>
        </p:nvSpPr>
        <p:spPr>
          <a:xfrm>
            <a:off x="1221972" y="465980"/>
            <a:ext cx="13149600" cy="1011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600" b="1" i="0">
                <a:solidFill>
                  <a:schemeClr val="lt1"/>
                </a:solidFill>
                <a:latin typeface="Bai Jamjuree"/>
                <a:ea typeface="Bai Jamjuree"/>
                <a:cs typeface="Bai Jamjuree"/>
                <a:sym typeface="Bai Jamjure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61"/>
          <p:cNvSpPr txBox="1">
            <a:spLocks noGrp="1"/>
          </p:cNvSpPr>
          <p:nvPr>
            <p:ph type="body" idx="1"/>
          </p:nvPr>
        </p:nvSpPr>
        <p:spPr>
          <a:xfrm>
            <a:off x="928303" y="2025600"/>
            <a:ext cx="7340100" cy="38850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000" b="1" i="0">
                <a:solidFill>
                  <a:schemeClr val="lt1"/>
                </a:solidFill>
                <a:latin typeface="Bai Jamjuree"/>
                <a:ea typeface="Bai Jamjuree"/>
                <a:cs typeface="Bai Jamjuree"/>
                <a:sym typeface="Bai Jamjure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0" name="Google Shape;60;p61"/>
          <p:cNvSpPr txBox="1">
            <a:spLocks noGrp="1"/>
          </p:cNvSpPr>
          <p:nvPr>
            <p:ph type="ftr" idx="11"/>
          </p:nvPr>
        </p:nvSpPr>
        <p:spPr>
          <a:xfrm>
            <a:off x="5527040" y="8503920"/>
            <a:ext cx="5202000" cy="4572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61"/>
          <p:cNvSpPr txBox="1">
            <a:spLocks noGrp="1"/>
          </p:cNvSpPr>
          <p:nvPr>
            <p:ph type="dt" idx="10"/>
          </p:nvPr>
        </p:nvSpPr>
        <p:spPr>
          <a:xfrm>
            <a:off x="812800" y="8503920"/>
            <a:ext cx="3738900" cy="457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61"/>
          <p:cNvSpPr txBox="1">
            <a:spLocks noGrp="1"/>
          </p:cNvSpPr>
          <p:nvPr>
            <p:ph type="sldNum" idx="12"/>
          </p:nvPr>
        </p:nvSpPr>
        <p:spPr>
          <a:xfrm>
            <a:off x="11704320" y="8503920"/>
            <a:ext cx="3738900" cy="2772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10720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7"/>
          <p:cNvSpPr txBox="1">
            <a:spLocks noGrp="1"/>
          </p:cNvSpPr>
          <p:nvPr>
            <p:ph type="title"/>
          </p:nvPr>
        </p:nvSpPr>
        <p:spPr>
          <a:xfrm>
            <a:off x="1221972" y="465980"/>
            <a:ext cx="13149630" cy="101183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600" b="1" i="0" u="none" strike="noStrike" cap="none">
                <a:solidFill>
                  <a:schemeClr val="lt1"/>
                </a:solidFill>
                <a:latin typeface="Bai Jamjuree"/>
                <a:ea typeface="Bai Jamjuree"/>
                <a:cs typeface="Bai Jamjuree"/>
                <a:sym typeface="Bai Jamjure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7"/>
          <p:cNvSpPr txBox="1">
            <a:spLocks noGrp="1"/>
          </p:cNvSpPr>
          <p:nvPr>
            <p:ph type="body" idx="1"/>
          </p:nvPr>
        </p:nvSpPr>
        <p:spPr>
          <a:xfrm>
            <a:off x="928303" y="2025600"/>
            <a:ext cx="7339965" cy="388492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000" b="1" i="0" u="none" strike="noStrike" cap="none">
                <a:solidFill>
                  <a:schemeClr val="lt1"/>
                </a:solidFill>
                <a:latin typeface="Bai Jamjuree"/>
                <a:ea typeface="Bai Jamjuree"/>
                <a:cs typeface="Bai Jamjuree"/>
                <a:sym typeface="Bai Jamjuree"/>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p37"/>
          <p:cNvSpPr txBox="1">
            <a:spLocks noGrp="1"/>
          </p:cNvSpPr>
          <p:nvPr>
            <p:ph type="ftr" idx="11"/>
          </p:nvPr>
        </p:nvSpPr>
        <p:spPr>
          <a:xfrm>
            <a:off x="5527040" y="8503920"/>
            <a:ext cx="5201920" cy="4572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37"/>
          <p:cNvSpPr txBox="1">
            <a:spLocks noGrp="1"/>
          </p:cNvSpPr>
          <p:nvPr>
            <p:ph type="dt" idx="10"/>
          </p:nvPr>
        </p:nvSpPr>
        <p:spPr>
          <a:xfrm>
            <a:off x="812800" y="8503920"/>
            <a:ext cx="3738880" cy="4572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37"/>
          <p:cNvSpPr txBox="1">
            <a:spLocks noGrp="1"/>
          </p:cNvSpPr>
          <p:nvPr>
            <p:ph type="sldNum" idx="12"/>
          </p:nvPr>
        </p:nvSpPr>
        <p:spPr>
          <a:xfrm>
            <a:off x="11704320" y="8503920"/>
            <a:ext cx="3738880" cy="4572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1.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5.xml"/><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2.png"/><Relationship Id="rId9" Type="http://schemas.openxmlformats.org/officeDocument/2006/relationships/image" Target="../media/image18.pn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11.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4" Type="http://schemas.openxmlformats.org/officeDocument/2006/relationships/image" Target="../media/image12.png"/><Relationship Id="rId9" Type="http://schemas.openxmlformats.org/officeDocument/2006/relationships/image" Target="../media/image34.png"/><Relationship Id="rId14" Type="http://schemas.openxmlformats.org/officeDocument/2006/relationships/image" Target="../media/image39.png"/></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image" Target="../media/image44.png"/><Relationship Id="rId12"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3.png"/><Relationship Id="rId11" Type="http://schemas.openxmlformats.org/officeDocument/2006/relationships/image" Target="../media/image12.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11.png"/><Relationship Id="rId9" Type="http://schemas.openxmlformats.org/officeDocument/2006/relationships/image" Target="../media/image46.png"/></Relationships>
</file>

<file path=ppt/slides/_rels/slide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18" Type="http://schemas.openxmlformats.org/officeDocument/2006/relationships/image" Target="../media/image64.png"/><Relationship Id="rId3" Type="http://schemas.openxmlformats.org/officeDocument/2006/relationships/image" Target="../media/image50.png"/><Relationship Id="rId21" Type="http://schemas.microsoft.com/office/2007/relationships/hdphoto" Target="../media/hdphoto2.wdp"/><Relationship Id="rId7" Type="http://schemas.openxmlformats.org/officeDocument/2006/relationships/image" Target="../media/image53.png"/><Relationship Id="rId12" Type="http://schemas.openxmlformats.org/officeDocument/2006/relationships/image" Target="../media/image58.png"/><Relationship Id="rId17" Type="http://schemas.openxmlformats.org/officeDocument/2006/relationships/image" Target="../media/image63.svg"/><Relationship Id="rId2" Type="http://schemas.openxmlformats.org/officeDocument/2006/relationships/notesSlide" Target="../notesSlides/notesSlide11.xml"/><Relationship Id="rId16" Type="http://schemas.openxmlformats.org/officeDocument/2006/relationships/image" Target="../media/image62.png"/><Relationship Id="rId20" Type="http://schemas.openxmlformats.org/officeDocument/2006/relationships/image" Target="../media/image65.png"/><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png"/><Relationship Id="rId23" Type="http://schemas.openxmlformats.org/officeDocument/2006/relationships/image" Target="../media/image67.png"/><Relationship Id="rId10" Type="http://schemas.openxmlformats.org/officeDocument/2006/relationships/image" Target="../media/image56.png"/><Relationship Id="rId19" Type="http://schemas.microsoft.com/office/2007/relationships/hdphoto" Target="../media/hdphoto1.wdp"/><Relationship Id="rId4" Type="http://schemas.openxmlformats.org/officeDocument/2006/relationships/image" Target="../media/image26.png"/><Relationship Id="rId9" Type="http://schemas.openxmlformats.org/officeDocument/2006/relationships/image" Target="../media/image55.png"/><Relationship Id="rId14" Type="http://schemas.openxmlformats.org/officeDocument/2006/relationships/image" Target="../media/image60.png"/><Relationship Id="rId22" Type="http://schemas.openxmlformats.org/officeDocument/2006/relationships/image" Target="../media/image66.png"/></Relationships>
</file>

<file path=ppt/slides/_rels/slide12.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18" Type="http://schemas.openxmlformats.org/officeDocument/2006/relationships/image" Target="../media/image82.png"/><Relationship Id="rId3" Type="http://schemas.openxmlformats.org/officeDocument/2006/relationships/image" Target="../media/image68.png"/><Relationship Id="rId7" Type="http://schemas.openxmlformats.org/officeDocument/2006/relationships/image" Target="../media/image71.png"/><Relationship Id="rId12" Type="http://schemas.openxmlformats.org/officeDocument/2006/relationships/image" Target="../media/image76.png"/><Relationship Id="rId17" Type="http://schemas.openxmlformats.org/officeDocument/2006/relationships/image" Target="../media/image81.png"/><Relationship Id="rId2" Type="http://schemas.openxmlformats.org/officeDocument/2006/relationships/notesSlide" Target="../notesSlides/notesSlide12.xml"/><Relationship Id="rId16" Type="http://schemas.openxmlformats.org/officeDocument/2006/relationships/image" Target="../media/image80.png"/><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5" Type="http://schemas.openxmlformats.org/officeDocument/2006/relationships/image" Target="../media/image79.png"/><Relationship Id="rId10" Type="http://schemas.openxmlformats.org/officeDocument/2006/relationships/image" Target="../media/image74.png"/><Relationship Id="rId19"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73.png"/><Relationship Id="rId14" Type="http://schemas.openxmlformats.org/officeDocument/2006/relationships/image" Target="../media/image78.png"/></Relationships>
</file>

<file path=ppt/slides/_rels/slide1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4.pn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9" Type="http://schemas.openxmlformats.org/officeDocument/2006/relationships/image" Target="../media/image90.png"/></Relationships>
</file>

<file path=ppt/slides/_rels/slide15.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1.png"/><Relationship Id="rId7" Type="http://schemas.openxmlformats.org/officeDocument/2006/relationships/image" Target="../media/image95.png"/><Relationship Id="rId12" Type="http://schemas.openxmlformats.org/officeDocument/2006/relationships/image" Target="../media/image9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4.png"/><Relationship Id="rId11" Type="http://schemas.openxmlformats.org/officeDocument/2006/relationships/image" Target="../media/image6.png"/><Relationship Id="rId5" Type="http://schemas.openxmlformats.org/officeDocument/2006/relationships/image" Target="../media/image93.png"/><Relationship Id="rId10" Type="http://schemas.openxmlformats.org/officeDocument/2006/relationships/image" Target="../media/image98.png"/><Relationship Id="rId4" Type="http://schemas.openxmlformats.org/officeDocument/2006/relationships/image" Target="../media/image92.png"/><Relationship Id="rId9" Type="http://schemas.openxmlformats.org/officeDocument/2006/relationships/image" Target="../media/image97.png"/></Relationships>
</file>

<file path=ppt/slides/_rels/slide1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105.jpeg"/><Relationship Id="rId13" Type="http://schemas.openxmlformats.org/officeDocument/2006/relationships/image" Target="../media/image90.png"/><Relationship Id="rId3" Type="http://schemas.openxmlformats.org/officeDocument/2006/relationships/image" Target="../media/image100.jpeg"/><Relationship Id="rId7" Type="http://schemas.openxmlformats.org/officeDocument/2006/relationships/image" Target="../media/image104.png"/><Relationship Id="rId12"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jpeg"/></Relationships>
</file>

<file path=ppt/slides/_rels/slide18.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jpeg"/><Relationship Id="rId7" Type="http://schemas.openxmlformats.org/officeDocument/2006/relationships/image" Target="../media/image113.png"/><Relationship Id="rId12" Type="http://schemas.openxmlformats.org/officeDocument/2006/relationships/image" Target="../media/image9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12.png"/><Relationship Id="rId11" Type="http://schemas.openxmlformats.org/officeDocument/2006/relationships/image" Target="../media/image6.png"/><Relationship Id="rId5" Type="http://schemas.openxmlformats.org/officeDocument/2006/relationships/image" Target="../media/image111.jpeg"/><Relationship Id="rId10" Type="http://schemas.openxmlformats.org/officeDocument/2006/relationships/image" Target="../media/image116.png"/><Relationship Id="rId4" Type="http://schemas.openxmlformats.org/officeDocument/2006/relationships/image" Target="../media/image110.jpeg"/><Relationship Id="rId9" Type="http://schemas.openxmlformats.org/officeDocument/2006/relationships/image" Target="../media/image115.png"/></Relationships>
</file>

<file path=ppt/slides/_rels/slide19.xml.rels><?xml version="1.0" encoding="UTF-8" standalone="yes"?>
<Relationships xmlns="http://schemas.openxmlformats.org/package/2006/relationships"><Relationship Id="rId8" Type="http://schemas.openxmlformats.org/officeDocument/2006/relationships/image" Target="../media/image122.jpeg"/><Relationship Id="rId13" Type="http://schemas.openxmlformats.org/officeDocument/2006/relationships/image" Target="../media/image127.png"/><Relationship Id="rId3" Type="http://schemas.openxmlformats.org/officeDocument/2006/relationships/image" Target="../media/image117.jpeg"/><Relationship Id="rId7" Type="http://schemas.openxmlformats.org/officeDocument/2006/relationships/image" Target="../media/image121.jpeg"/><Relationship Id="rId12" Type="http://schemas.openxmlformats.org/officeDocument/2006/relationships/image" Target="../media/image126.png"/><Relationship Id="rId2" Type="http://schemas.openxmlformats.org/officeDocument/2006/relationships/notesSlide" Target="../notesSlides/notesSlide19.xml"/><Relationship Id="rId16"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120.jpeg"/><Relationship Id="rId11" Type="http://schemas.openxmlformats.org/officeDocument/2006/relationships/image" Target="../media/image125.png"/><Relationship Id="rId5" Type="http://schemas.openxmlformats.org/officeDocument/2006/relationships/image" Target="../media/image119.png"/><Relationship Id="rId15" Type="http://schemas.openxmlformats.org/officeDocument/2006/relationships/image" Target="../media/image6.png"/><Relationship Id="rId10" Type="http://schemas.openxmlformats.org/officeDocument/2006/relationships/image" Target="../media/image124.png"/><Relationship Id="rId4" Type="http://schemas.openxmlformats.org/officeDocument/2006/relationships/image" Target="../media/image118.jpeg"/><Relationship Id="rId9" Type="http://schemas.openxmlformats.org/officeDocument/2006/relationships/image" Target="../media/image123.png"/><Relationship Id="rId14" Type="http://schemas.openxmlformats.org/officeDocument/2006/relationships/image" Target="../media/image128.png"/></Relationships>
</file>

<file path=ppt/slides/_rels/slide20.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image" Target="../media/image138.png"/><Relationship Id="rId18" Type="http://schemas.openxmlformats.org/officeDocument/2006/relationships/image" Target="../media/image90.png"/><Relationship Id="rId3" Type="http://schemas.openxmlformats.org/officeDocument/2006/relationships/image" Target="../media/image129.jpeg"/><Relationship Id="rId7" Type="http://schemas.openxmlformats.org/officeDocument/2006/relationships/image" Target="../media/image133.jpeg"/><Relationship Id="rId12" Type="http://schemas.openxmlformats.org/officeDocument/2006/relationships/image" Target="../media/image137.jpeg"/><Relationship Id="rId17" Type="http://schemas.openxmlformats.org/officeDocument/2006/relationships/image" Target="../media/image142.png"/><Relationship Id="rId2" Type="http://schemas.openxmlformats.org/officeDocument/2006/relationships/notesSlide" Target="../notesSlides/notesSlide20.xml"/><Relationship Id="rId16" Type="http://schemas.openxmlformats.org/officeDocument/2006/relationships/image" Target="../media/image141.png"/><Relationship Id="rId1" Type="http://schemas.openxmlformats.org/officeDocument/2006/relationships/slideLayout" Target="../slideLayouts/slideLayout2.xml"/><Relationship Id="rId6" Type="http://schemas.openxmlformats.org/officeDocument/2006/relationships/image" Target="../media/image132.png"/><Relationship Id="rId11" Type="http://schemas.openxmlformats.org/officeDocument/2006/relationships/image" Target="../media/image6.png"/><Relationship Id="rId5" Type="http://schemas.openxmlformats.org/officeDocument/2006/relationships/image" Target="../media/image131.jpeg"/><Relationship Id="rId15" Type="http://schemas.openxmlformats.org/officeDocument/2006/relationships/image" Target="../media/image140.jpeg"/><Relationship Id="rId10" Type="http://schemas.openxmlformats.org/officeDocument/2006/relationships/image" Target="../media/image136.png"/><Relationship Id="rId4" Type="http://schemas.openxmlformats.org/officeDocument/2006/relationships/image" Target="../media/image130.png"/><Relationship Id="rId9" Type="http://schemas.openxmlformats.org/officeDocument/2006/relationships/image" Target="../media/image135.jpeg"/><Relationship Id="rId14" Type="http://schemas.openxmlformats.org/officeDocument/2006/relationships/image" Target="../media/image139.jpeg"/></Relationships>
</file>

<file path=ppt/slides/_rels/slide21.xml.rels><?xml version="1.0" encoding="UTF-8" standalone="yes"?>
<Relationships xmlns="http://schemas.openxmlformats.org/package/2006/relationships"><Relationship Id="rId3" Type="http://schemas.openxmlformats.org/officeDocument/2006/relationships/image" Target="../media/image143.png"/><Relationship Id="rId7" Type="http://schemas.openxmlformats.org/officeDocument/2006/relationships/comments" Target="../comments/comment1.xm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145.png"/><Relationship Id="rId4" Type="http://schemas.openxmlformats.org/officeDocument/2006/relationships/image" Target="../media/image144.png"/></Relationships>
</file>

<file path=ppt/slides/_rels/slide22.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6.png"/><Relationship Id="rId3" Type="http://schemas.openxmlformats.org/officeDocument/2006/relationships/image" Target="../media/image146.png"/><Relationship Id="rId7" Type="http://schemas.openxmlformats.org/officeDocument/2006/relationships/image" Target="../media/image150.png"/><Relationship Id="rId12" Type="http://schemas.openxmlformats.org/officeDocument/2006/relationships/image" Target="../media/image15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49.png"/><Relationship Id="rId11" Type="http://schemas.openxmlformats.org/officeDocument/2006/relationships/image" Target="../media/image154.png"/><Relationship Id="rId5" Type="http://schemas.openxmlformats.org/officeDocument/2006/relationships/image" Target="../media/image148.png"/><Relationship Id="rId15" Type="http://schemas.openxmlformats.org/officeDocument/2006/relationships/image" Target="../media/image6.png"/><Relationship Id="rId10" Type="http://schemas.openxmlformats.org/officeDocument/2006/relationships/image" Target="../media/image153.png"/><Relationship Id="rId4" Type="http://schemas.openxmlformats.org/officeDocument/2006/relationships/image" Target="../media/image147.png"/><Relationship Id="rId9" Type="http://schemas.openxmlformats.org/officeDocument/2006/relationships/image" Target="../media/image152.png"/><Relationship Id="rId14" Type="http://schemas.openxmlformats.org/officeDocument/2006/relationships/image" Target="../media/image157.png"/></Relationships>
</file>

<file path=ppt/slides/_rels/slide23.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55.png"/><Relationship Id="rId3" Type="http://schemas.openxmlformats.org/officeDocument/2006/relationships/image" Target="../media/image147.png"/><Relationship Id="rId7" Type="http://schemas.openxmlformats.org/officeDocument/2006/relationships/image" Target="../media/image161.png"/><Relationship Id="rId12" Type="http://schemas.openxmlformats.org/officeDocument/2006/relationships/image" Target="../media/image146.png"/><Relationship Id="rId2" Type="http://schemas.openxmlformats.org/officeDocument/2006/relationships/notesSlide" Target="../notesSlides/notesSlide23.xml"/><Relationship Id="rId16"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60.png"/><Relationship Id="rId11" Type="http://schemas.openxmlformats.org/officeDocument/2006/relationships/image" Target="../media/image165.png"/><Relationship Id="rId5" Type="http://schemas.openxmlformats.org/officeDocument/2006/relationships/image" Target="../media/image159.png"/><Relationship Id="rId15" Type="http://schemas.openxmlformats.org/officeDocument/2006/relationships/image" Target="../media/image157.png"/><Relationship Id="rId10" Type="http://schemas.openxmlformats.org/officeDocument/2006/relationships/image" Target="../media/image164.png"/><Relationship Id="rId4" Type="http://schemas.openxmlformats.org/officeDocument/2006/relationships/image" Target="../media/image158.png"/><Relationship Id="rId9" Type="http://schemas.openxmlformats.org/officeDocument/2006/relationships/image" Target="../media/image163.png"/><Relationship Id="rId14" Type="http://schemas.openxmlformats.org/officeDocument/2006/relationships/image" Target="../media/image156.png"/></Relationships>
</file>

<file path=ppt/slides/_rels/slide24.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47.png"/><Relationship Id="rId7" Type="http://schemas.openxmlformats.org/officeDocument/2006/relationships/image" Target="../media/image16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68.png"/><Relationship Id="rId5" Type="http://schemas.openxmlformats.org/officeDocument/2006/relationships/image" Target="../media/image167.png"/><Relationship Id="rId10" Type="http://schemas.openxmlformats.org/officeDocument/2006/relationships/image" Target="../media/image6.png"/><Relationship Id="rId4" Type="http://schemas.openxmlformats.org/officeDocument/2006/relationships/image" Target="../media/image166.png"/><Relationship Id="rId9" Type="http://schemas.openxmlformats.org/officeDocument/2006/relationships/image" Target="../media/image171.png"/></Relationships>
</file>

<file path=ppt/slides/_rels/slide25.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6.png"/><Relationship Id="rId3" Type="http://schemas.openxmlformats.org/officeDocument/2006/relationships/image" Target="../media/image172.png"/><Relationship Id="rId7" Type="http://schemas.openxmlformats.org/officeDocument/2006/relationships/image" Target="../media/image174.png"/><Relationship Id="rId12" Type="http://schemas.openxmlformats.org/officeDocument/2006/relationships/image" Target="../media/image15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54.png"/><Relationship Id="rId11" Type="http://schemas.openxmlformats.org/officeDocument/2006/relationships/image" Target="../media/image156.png"/><Relationship Id="rId5" Type="http://schemas.openxmlformats.org/officeDocument/2006/relationships/image" Target="../media/image148.png"/><Relationship Id="rId10" Type="http://schemas.openxmlformats.org/officeDocument/2006/relationships/image" Target="../media/image155.png"/><Relationship Id="rId4" Type="http://schemas.openxmlformats.org/officeDocument/2006/relationships/image" Target="../media/image173.png"/><Relationship Id="rId9" Type="http://schemas.openxmlformats.org/officeDocument/2006/relationships/image" Target="../media/image146.png"/></Relationships>
</file>

<file path=ppt/slides/_rels/slide26.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80.png"/><Relationship Id="rId18" Type="http://schemas.openxmlformats.org/officeDocument/2006/relationships/image" Target="../media/image185.png"/><Relationship Id="rId3" Type="http://schemas.openxmlformats.org/officeDocument/2006/relationships/image" Target="../media/image146.png"/><Relationship Id="rId7" Type="http://schemas.openxmlformats.org/officeDocument/2006/relationships/image" Target="../media/image175.png"/><Relationship Id="rId12" Type="http://schemas.openxmlformats.org/officeDocument/2006/relationships/image" Target="../media/image179.png"/><Relationship Id="rId17" Type="http://schemas.openxmlformats.org/officeDocument/2006/relationships/image" Target="../media/image184.png"/><Relationship Id="rId2" Type="http://schemas.openxmlformats.org/officeDocument/2006/relationships/notesSlide" Target="../notesSlides/notesSlide26.xml"/><Relationship Id="rId16" Type="http://schemas.openxmlformats.org/officeDocument/2006/relationships/image" Target="../media/image183.png"/><Relationship Id="rId20"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56.png"/><Relationship Id="rId11" Type="http://schemas.openxmlformats.org/officeDocument/2006/relationships/image" Target="../media/image178.png"/><Relationship Id="rId5" Type="http://schemas.openxmlformats.org/officeDocument/2006/relationships/image" Target="../media/image158.png"/><Relationship Id="rId15" Type="http://schemas.openxmlformats.org/officeDocument/2006/relationships/image" Target="../media/image182.png"/><Relationship Id="rId10" Type="http://schemas.openxmlformats.org/officeDocument/2006/relationships/image" Target="../media/image177.jpeg"/><Relationship Id="rId19" Type="http://schemas.openxmlformats.org/officeDocument/2006/relationships/image" Target="../media/image186.png"/><Relationship Id="rId4" Type="http://schemas.openxmlformats.org/officeDocument/2006/relationships/image" Target="../media/image155.png"/><Relationship Id="rId9" Type="http://schemas.openxmlformats.org/officeDocument/2006/relationships/image" Target="../media/image176.jpeg"/><Relationship Id="rId14" Type="http://schemas.openxmlformats.org/officeDocument/2006/relationships/image" Target="../media/image181.png"/></Relationships>
</file>

<file path=ppt/slides/_rels/slide27.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63.png"/><Relationship Id="rId18" Type="http://schemas.openxmlformats.org/officeDocument/2006/relationships/image" Target="../media/image6.png"/><Relationship Id="rId3" Type="http://schemas.openxmlformats.org/officeDocument/2006/relationships/image" Target="../media/image146.png"/><Relationship Id="rId7" Type="http://schemas.openxmlformats.org/officeDocument/2006/relationships/image" Target="../media/image175.png"/><Relationship Id="rId12" Type="http://schemas.openxmlformats.org/officeDocument/2006/relationships/image" Target="../media/image162.png"/><Relationship Id="rId17" Type="http://schemas.openxmlformats.org/officeDocument/2006/relationships/image" Target="../media/image190.png"/><Relationship Id="rId2" Type="http://schemas.openxmlformats.org/officeDocument/2006/relationships/notesSlide" Target="../notesSlides/notesSlide27.xml"/><Relationship Id="rId16" Type="http://schemas.openxmlformats.org/officeDocument/2006/relationships/image" Target="../media/image189.png"/><Relationship Id="rId1" Type="http://schemas.openxmlformats.org/officeDocument/2006/relationships/slideLayout" Target="../slideLayouts/slideLayout2.xml"/><Relationship Id="rId6" Type="http://schemas.openxmlformats.org/officeDocument/2006/relationships/image" Target="../media/image156.png"/><Relationship Id="rId11" Type="http://schemas.openxmlformats.org/officeDocument/2006/relationships/image" Target="../media/image161.png"/><Relationship Id="rId5" Type="http://schemas.openxmlformats.org/officeDocument/2006/relationships/image" Target="../media/image158.png"/><Relationship Id="rId15" Type="http://schemas.openxmlformats.org/officeDocument/2006/relationships/image" Target="../media/image188.png"/><Relationship Id="rId10" Type="http://schemas.openxmlformats.org/officeDocument/2006/relationships/image" Target="../media/image160.png"/><Relationship Id="rId4" Type="http://schemas.openxmlformats.org/officeDocument/2006/relationships/image" Target="../media/image155.png"/><Relationship Id="rId9" Type="http://schemas.openxmlformats.org/officeDocument/2006/relationships/image" Target="../media/image159.png"/><Relationship Id="rId14" Type="http://schemas.openxmlformats.org/officeDocument/2006/relationships/image" Target="../media/image187.png"/></Relationships>
</file>

<file path=ppt/slides/_rels/slide28.xml.rels><?xml version="1.0" encoding="UTF-8" standalone="yes"?>
<Relationships xmlns="http://schemas.openxmlformats.org/package/2006/relationships"><Relationship Id="rId8" Type="http://schemas.openxmlformats.org/officeDocument/2006/relationships/image" Target="../media/image196.png"/><Relationship Id="rId13" Type="http://schemas.openxmlformats.org/officeDocument/2006/relationships/image" Target="../media/image200.png"/><Relationship Id="rId18" Type="http://schemas.openxmlformats.org/officeDocument/2006/relationships/image" Target="../media/image205.png"/><Relationship Id="rId3" Type="http://schemas.openxmlformats.org/officeDocument/2006/relationships/image" Target="../media/image191.png"/><Relationship Id="rId7" Type="http://schemas.openxmlformats.org/officeDocument/2006/relationships/image" Target="../media/image195.png"/><Relationship Id="rId12" Type="http://schemas.openxmlformats.org/officeDocument/2006/relationships/image" Target="../media/image147.png"/><Relationship Id="rId17" Type="http://schemas.openxmlformats.org/officeDocument/2006/relationships/image" Target="../media/image204.png"/><Relationship Id="rId2" Type="http://schemas.openxmlformats.org/officeDocument/2006/relationships/notesSlide" Target="../notesSlides/notesSlide28.xml"/><Relationship Id="rId16" Type="http://schemas.openxmlformats.org/officeDocument/2006/relationships/image" Target="../media/image203.png"/><Relationship Id="rId1" Type="http://schemas.openxmlformats.org/officeDocument/2006/relationships/slideLayout" Target="../slideLayouts/slideLayout2.xml"/><Relationship Id="rId6" Type="http://schemas.openxmlformats.org/officeDocument/2006/relationships/image" Target="../media/image194.png"/><Relationship Id="rId11" Type="http://schemas.openxmlformats.org/officeDocument/2006/relationships/image" Target="../media/image199.png"/><Relationship Id="rId5" Type="http://schemas.openxmlformats.org/officeDocument/2006/relationships/image" Target="../media/image193.png"/><Relationship Id="rId15" Type="http://schemas.openxmlformats.org/officeDocument/2006/relationships/image" Target="../media/image202.png"/><Relationship Id="rId10" Type="http://schemas.openxmlformats.org/officeDocument/2006/relationships/image" Target="../media/image198.png"/><Relationship Id="rId19" Type="http://schemas.openxmlformats.org/officeDocument/2006/relationships/image" Target="../media/image6.png"/><Relationship Id="rId4" Type="http://schemas.openxmlformats.org/officeDocument/2006/relationships/image" Target="../media/image192.png"/><Relationship Id="rId9" Type="http://schemas.openxmlformats.org/officeDocument/2006/relationships/image" Target="../media/image197.png"/><Relationship Id="rId14" Type="http://schemas.openxmlformats.org/officeDocument/2006/relationships/image" Target="../media/image201.png"/></Relationships>
</file>

<file path=ppt/slides/_rels/slide29.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image" Target="../media/image147.png"/><Relationship Id="rId7" Type="http://schemas.openxmlformats.org/officeDocument/2006/relationships/image" Target="../media/image209.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08.png"/><Relationship Id="rId5" Type="http://schemas.openxmlformats.org/officeDocument/2006/relationships/image" Target="../media/image207.png"/><Relationship Id="rId10" Type="http://schemas.openxmlformats.org/officeDocument/2006/relationships/image" Target="../media/image6.png"/><Relationship Id="rId4" Type="http://schemas.openxmlformats.org/officeDocument/2006/relationships/image" Target="../media/image206.png"/><Relationship Id="rId9" Type="http://schemas.openxmlformats.org/officeDocument/2006/relationships/image" Target="../media/image211.png"/></Relationships>
</file>

<file path=ppt/slides/_rels/slide30.xml.rels><?xml version="1.0" encoding="UTF-8" standalone="yes"?>
<Relationships xmlns="http://schemas.openxmlformats.org/package/2006/relationships"><Relationship Id="rId8" Type="http://schemas.openxmlformats.org/officeDocument/2006/relationships/image" Target="../media/image216.png"/><Relationship Id="rId13" Type="http://schemas.openxmlformats.org/officeDocument/2006/relationships/image" Target="../media/image221.png"/><Relationship Id="rId18" Type="http://schemas.openxmlformats.org/officeDocument/2006/relationships/image" Target="../media/image226.png"/><Relationship Id="rId3" Type="http://schemas.openxmlformats.org/officeDocument/2006/relationships/image" Target="../media/image147.png"/><Relationship Id="rId7" Type="http://schemas.openxmlformats.org/officeDocument/2006/relationships/image" Target="../media/image215.png"/><Relationship Id="rId12" Type="http://schemas.openxmlformats.org/officeDocument/2006/relationships/image" Target="../media/image220.png"/><Relationship Id="rId17" Type="http://schemas.openxmlformats.org/officeDocument/2006/relationships/image" Target="../media/image225.png"/><Relationship Id="rId2" Type="http://schemas.openxmlformats.org/officeDocument/2006/relationships/notesSlide" Target="../notesSlides/notesSlide30.xml"/><Relationship Id="rId16" Type="http://schemas.openxmlformats.org/officeDocument/2006/relationships/image" Target="../media/image224.png"/><Relationship Id="rId20"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14.png"/><Relationship Id="rId11" Type="http://schemas.openxmlformats.org/officeDocument/2006/relationships/image" Target="../media/image219.png"/><Relationship Id="rId5" Type="http://schemas.openxmlformats.org/officeDocument/2006/relationships/image" Target="../media/image213.png"/><Relationship Id="rId15" Type="http://schemas.openxmlformats.org/officeDocument/2006/relationships/image" Target="../media/image223.png"/><Relationship Id="rId10" Type="http://schemas.openxmlformats.org/officeDocument/2006/relationships/image" Target="../media/image218.png"/><Relationship Id="rId19" Type="http://schemas.openxmlformats.org/officeDocument/2006/relationships/image" Target="../media/image227.png"/><Relationship Id="rId4" Type="http://schemas.openxmlformats.org/officeDocument/2006/relationships/image" Target="../media/image212.png"/><Relationship Id="rId9" Type="http://schemas.openxmlformats.org/officeDocument/2006/relationships/image" Target="../media/image217.png"/><Relationship Id="rId14" Type="http://schemas.openxmlformats.org/officeDocument/2006/relationships/image" Target="../media/image222.png"/></Relationships>
</file>

<file path=ppt/slides/_rels/slide31.xml.rels><?xml version="1.0" encoding="UTF-8" standalone="yes"?>
<Relationships xmlns="http://schemas.openxmlformats.org/package/2006/relationships"><Relationship Id="rId8" Type="http://schemas.openxmlformats.org/officeDocument/2006/relationships/image" Target="../media/image232.png"/><Relationship Id="rId13" Type="http://schemas.openxmlformats.org/officeDocument/2006/relationships/image" Target="../media/image224.png"/><Relationship Id="rId18" Type="http://schemas.openxmlformats.org/officeDocument/2006/relationships/image" Target="../media/image240.png"/><Relationship Id="rId3" Type="http://schemas.openxmlformats.org/officeDocument/2006/relationships/image" Target="../media/image147.png"/><Relationship Id="rId7" Type="http://schemas.openxmlformats.org/officeDocument/2006/relationships/image" Target="../media/image231.png"/><Relationship Id="rId12" Type="http://schemas.openxmlformats.org/officeDocument/2006/relationships/image" Target="../media/image236.png"/><Relationship Id="rId17" Type="http://schemas.openxmlformats.org/officeDocument/2006/relationships/image" Target="../media/image239.png"/><Relationship Id="rId2" Type="http://schemas.openxmlformats.org/officeDocument/2006/relationships/notesSlide" Target="../notesSlides/notesSlide31.xml"/><Relationship Id="rId16" Type="http://schemas.openxmlformats.org/officeDocument/2006/relationships/image" Target="../media/image238.png"/><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235.png"/><Relationship Id="rId5" Type="http://schemas.openxmlformats.org/officeDocument/2006/relationships/image" Target="../media/image229.png"/><Relationship Id="rId15" Type="http://schemas.openxmlformats.org/officeDocument/2006/relationships/image" Target="../media/image226.png"/><Relationship Id="rId10" Type="http://schemas.openxmlformats.org/officeDocument/2006/relationships/image" Target="../media/image234.png"/><Relationship Id="rId19" Type="http://schemas.openxmlformats.org/officeDocument/2006/relationships/image" Target="../media/image6.png"/><Relationship Id="rId4" Type="http://schemas.openxmlformats.org/officeDocument/2006/relationships/image" Target="../media/image228.png"/><Relationship Id="rId9" Type="http://schemas.openxmlformats.org/officeDocument/2006/relationships/image" Target="../media/image233.png"/><Relationship Id="rId14" Type="http://schemas.openxmlformats.org/officeDocument/2006/relationships/image" Target="../media/image237.png"/></Relationships>
</file>

<file path=ppt/slides/_rels/slide32.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image" Target="../media/image146.png"/><Relationship Id="rId7" Type="http://schemas.openxmlformats.org/officeDocument/2006/relationships/image" Target="../media/image156.png"/><Relationship Id="rId12"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58.png"/><Relationship Id="rId11" Type="http://schemas.openxmlformats.org/officeDocument/2006/relationships/image" Target="../media/image243.png"/><Relationship Id="rId5" Type="http://schemas.openxmlformats.org/officeDocument/2006/relationships/image" Target="../media/image155.png"/><Relationship Id="rId10" Type="http://schemas.openxmlformats.org/officeDocument/2006/relationships/image" Target="../media/image242.png"/><Relationship Id="rId4" Type="http://schemas.openxmlformats.org/officeDocument/2006/relationships/image" Target="../media/image147.png"/><Relationship Id="rId9" Type="http://schemas.openxmlformats.org/officeDocument/2006/relationships/image" Target="../media/image241.png"/></Relationships>
</file>

<file path=ppt/slides/_rels/slide33.xml.rels><?xml version="1.0" encoding="UTF-8" standalone="yes"?>
<Relationships xmlns="http://schemas.openxmlformats.org/package/2006/relationships"><Relationship Id="rId8" Type="http://schemas.openxmlformats.org/officeDocument/2006/relationships/image" Target="../media/image245.png"/><Relationship Id="rId13" Type="http://schemas.openxmlformats.org/officeDocument/2006/relationships/image" Target="../media/image250.png"/><Relationship Id="rId18" Type="http://schemas.openxmlformats.org/officeDocument/2006/relationships/image" Target="../media/image255.png"/><Relationship Id="rId3" Type="http://schemas.openxmlformats.org/officeDocument/2006/relationships/image" Target="../media/image146.png"/><Relationship Id="rId21" Type="http://schemas.openxmlformats.org/officeDocument/2006/relationships/image" Target="../media/image258.png"/><Relationship Id="rId7" Type="http://schemas.openxmlformats.org/officeDocument/2006/relationships/image" Target="../media/image157.png"/><Relationship Id="rId12" Type="http://schemas.openxmlformats.org/officeDocument/2006/relationships/image" Target="../media/image249.jpeg"/><Relationship Id="rId17" Type="http://schemas.openxmlformats.org/officeDocument/2006/relationships/image" Target="../media/image254.png"/><Relationship Id="rId25" Type="http://schemas.openxmlformats.org/officeDocument/2006/relationships/image" Target="../media/image6.png"/><Relationship Id="rId2" Type="http://schemas.openxmlformats.org/officeDocument/2006/relationships/notesSlide" Target="../notesSlides/notesSlide33.xml"/><Relationship Id="rId16" Type="http://schemas.openxmlformats.org/officeDocument/2006/relationships/image" Target="../media/image253.png"/><Relationship Id="rId20" Type="http://schemas.openxmlformats.org/officeDocument/2006/relationships/image" Target="../media/image257.png"/><Relationship Id="rId1" Type="http://schemas.openxmlformats.org/officeDocument/2006/relationships/slideLayout" Target="../slideLayouts/slideLayout4.xml"/><Relationship Id="rId6" Type="http://schemas.openxmlformats.org/officeDocument/2006/relationships/image" Target="../media/image156.png"/><Relationship Id="rId11" Type="http://schemas.openxmlformats.org/officeDocument/2006/relationships/image" Target="../media/image248.jpeg"/><Relationship Id="rId24" Type="http://schemas.openxmlformats.org/officeDocument/2006/relationships/image" Target="../media/image261.png"/><Relationship Id="rId5" Type="http://schemas.openxmlformats.org/officeDocument/2006/relationships/image" Target="../media/image155.png"/><Relationship Id="rId15" Type="http://schemas.openxmlformats.org/officeDocument/2006/relationships/image" Target="../media/image252.png"/><Relationship Id="rId23" Type="http://schemas.openxmlformats.org/officeDocument/2006/relationships/image" Target="../media/image260.png"/><Relationship Id="rId10" Type="http://schemas.openxmlformats.org/officeDocument/2006/relationships/image" Target="../media/image247.jpeg"/><Relationship Id="rId19" Type="http://schemas.openxmlformats.org/officeDocument/2006/relationships/image" Target="../media/image256.png"/><Relationship Id="rId4" Type="http://schemas.openxmlformats.org/officeDocument/2006/relationships/image" Target="../media/image244.png"/><Relationship Id="rId9" Type="http://schemas.openxmlformats.org/officeDocument/2006/relationships/image" Target="../media/image246.jpeg"/><Relationship Id="rId14" Type="http://schemas.openxmlformats.org/officeDocument/2006/relationships/image" Target="../media/image251.png"/><Relationship Id="rId22" Type="http://schemas.openxmlformats.org/officeDocument/2006/relationships/image" Target="../media/image259.png"/></Relationships>
</file>

<file path=ppt/slides/_rels/slide34.xml.rels><?xml version="1.0" encoding="UTF-8" standalone="yes"?>
<Relationships xmlns="http://schemas.openxmlformats.org/package/2006/relationships"><Relationship Id="rId8" Type="http://schemas.openxmlformats.org/officeDocument/2006/relationships/image" Target="../media/image267.png"/><Relationship Id="rId13" Type="http://schemas.openxmlformats.org/officeDocument/2006/relationships/image" Target="../media/image272.png"/><Relationship Id="rId3" Type="http://schemas.openxmlformats.org/officeDocument/2006/relationships/image" Target="../media/image262.jpeg"/><Relationship Id="rId7" Type="http://schemas.openxmlformats.org/officeDocument/2006/relationships/image" Target="../media/image266.png"/><Relationship Id="rId12" Type="http://schemas.openxmlformats.org/officeDocument/2006/relationships/image" Target="../media/image271.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265.jpeg"/><Relationship Id="rId11" Type="http://schemas.openxmlformats.org/officeDocument/2006/relationships/image" Target="../media/image270.png"/><Relationship Id="rId5" Type="http://schemas.openxmlformats.org/officeDocument/2006/relationships/image" Target="../media/image264.jpeg"/><Relationship Id="rId15" Type="http://schemas.openxmlformats.org/officeDocument/2006/relationships/image" Target="../media/image6.png"/><Relationship Id="rId10" Type="http://schemas.openxmlformats.org/officeDocument/2006/relationships/image" Target="../media/image269.png"/><Relationship Id="rId4" Type="http://schemas.openxmlformats.org/officeDocument/2006/relationships/image" Target="../media/image263.jpeg"/><Relationship Id="rId9" Type="http://schemas.openxmlformats.org/officeDocument/2006/relationships/image" Target="../media/image268.png"/><Relationship Id="rId14" Type="http://schemas.openxmlformats.org/officeDocument/2006/relationships/image" Target="../media/image261.png"/></Relationships>
</file>

<file path=ppt/slides/_rels/slide35.xml.rels><?xml version="1.0" encoding="UTF-8" standalone="yes"?>
<Relationships xmlns="http://schemas.openxmlformats.org/package/2006/relationships"><Relationship Id="rId8" Type="http://schemas.openxmlformats.org/officeDocument/2006/relationships/image" Target="../media/image276.jpeg"/><Relationship Id="rId13" Type="http://schemas.openxmlformats.org/officeDocument/2006/relationships/image" Target="../media/image281.png"/><Relationship Id="rId18" Type="http://schemas.openxmlformats.org/officeDocument/2006/relationships/image" Target="../media/image156.png"/><Relationship Id="rId3" Type="http://schemas.openxmlformats.org/officeDocument/2006/relationships/image" Target="../media/image146.png"/><Relationship Id="rId21" Type="http://schemas.openxmlformats.org/officeDocument/2006/relationships/image" Target="../media/image6.png"/><Relationship Id="rId7" Type="http://schemas.openxmlformats.org/officeDocument/2006/relationships/image" Target="../media/image275.jpeg"/><Relationship Id="rId12" Type="http://schemas.openxmlformats.org/officeDocument/2006/relationships/image" Target="../media/image280.png"/><Relationship Id="rId17" Type="http://schemas.openxmlformats.org/officeDocument/2006/relationships/image" Target="../media/image155.png"/><Relationship Id="rId2" Type="http://schemas.openxmlformats.org/officeDocument/2006/relationships/notesSlide" Target="../notesSlides/notesSlide35.xml"/><Relationship Id="rId16" Type="http://schemas.openxmlformats.org/officeDocument/2006/relationships/image" Target="../media/image282.png"/><Relationship Id="rId20" Type="http://schemas.openxmlformats.org/officeDocument/2006/relationships/image" Target="../media/image245.png"/><Relationship Id="rId1" Type="http://schemas.openxmlformats.org/officeDocument/2006/relationships/slideLayout" Target="../slideLayouts/slideLayout4.xml"/><Relationship Id="rId6" Type="http://schemas.openxmlformats.org/officeDocument/2006/relationships/image" Target="../media/image274.jpeg"/><Relationship Id="rId11" Type="http://schemas.openxmlformats.org/officeDocument/2006/relationships/image" Target="../media/image279.png"/><Relationship Id="rId5" Type="http://schemas.openxmlformats.org/officeDocument/2006/relationships/image" Target="../media/image273.jpeg"/><Relationship Id="rId15" Type="http://schemas.openxmlformats.org/officeDocument/2006/relationships/image" Target="../media/image244.png"/><Relationship Id="rId10" Type="http://schemas.openxmlformats.org/officeDocument/2006/relationships/image" Target="../media/image278.png"/><Relationship Id="rId19" Type="http://schemas.openxmlformats.org/officeDocument/2006/relationships/image" Target="../media/image157.png"/><Relationship Id="rId4" Type="http://schemas.openxmlformats.org/officeDocument/2006/relationships/image" Target="../media/image250.png"/><Relationship Id="rId9" Type="http://schemas.openxmlformats.org/officeDocument/2006/relationships/image" Target="../media/image277.jpeg"/><Relationship Id="rId14" Type="http://schemas.openxmlformats.org/officeDocument/2006/relationships/image" Target="../media/image261.png"/></Relationships>
</file>

<file path=ppt/slides/_rels/slide36.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8" Type="http://schemas.openxmlformats.org/officeDocument/2006/relationships/image" Target="../media/image289.png"/><Relationship Id="rId13" Type="http://schemas.openxmlformats.org/officeDocument/2006/relationships/image" Target="../media/image294.png"/><Relationship Id="rId3" Type="http://schemas.openxmlformats.org/officeDocument/2006/relationships/image" Target="../media/image284.png"/><Relationship Id="rId7" Type="http://schemas.openxmlformats.org/officeDocument/2006/relationships/image" Target="../media/image288.png"/><Relationship Id="rId12" Type="http://schemas.openxmlformats.org/officeDocument/2006/relationships/image" Target="../media/image293.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287.png"/><Relationship Id="rId11" Type="http://schemas.openxmlformats.org/officeDocument/2006/relationships/image" Target="../media/image292.png"/><Relationship Id="rId5" Type="http://schemas.openxmlformats.org/officeDocument/2006/relationships/image" Target="../media/image286.png"/><Relationship Id="rId15" Type="http://schemas.openxmlformats.org/officeDocument/2006/relationships/image" Target="../media/image6.png"/><Relationship Id="rId10" Type="http://schemas.openxmlformats.org/officeDocument/2006/relationships/image" Target="../media/image291.png"/><Relationship Id="rId4" Type="http://schemas.openxmlformats.org/officeDocument/2006/relationships/image" Target="../media/image285.png"/><Relationship Id="rId9" Type="http://schemas.openxmlformats.org/officeDocument/2006/relationships/image" Target="../media/image290.png"/><Relationship Id="rId14" Type="http://schemas.openxmlformats.org/officeDocument/2006/relationships/image" Target="../media/image295.png"/></Relationships>
</file>

<file path=ppt/slides/_rels/slide38.xml.rels><?xml version="1.0" encoding="UTF-8" standalone="yes"?>
<Relationships xmlns="http://schemas.openxmlformats.org/package/2006/relationships"><Relationship Id="rId8" Type="http://schemas.openxmlformats.org/officeDocument/2006/relationships/image" Target="../media/image301.png"/><Relationship Id="rId13" Type="http://schemas.openxmlformats.org/officeDocument/2006/relationships/image" Target="../media/image306.png"/><Relationship Id="rId18" Type="http://schemas.openxmlformats.org/officeDocument/2006/relationships/image" Target="../media/image311.png"/><Relationship Id="rId3" Type="http://schemas.openxmlformats.org/officeDocument/2006/relationships/image" Target="../media/image296.png"/><Relationship Id="rId7" Type="http://schemas.openxmlformats.org/officeDocument/2006/relationships/image" Target="../media/image300.png"/><Relationship Id="rId12" Type="http://schemas.openxmlformats.org/officeDocument/2006/relationships/image" Target="../media/image305.png"/><Relationship Id="rId17" Type="http://schemas.openxmlformats.org/officeDocument/2006/relationships/image" Target="../media/image310.png"/><Relationship Id="rId2" Type="http://schemas.openxmlformats.org/officeDocument/2006/relationships/notesSlide" Target="../notesSlides/notesSlide38.xml"/><Relationship Id="rId16" Type="http://schemas.openxmlformats.org/officeDocument/2006/relationships/image" Target="../media/image309.png"/><Relationship Id="rId20"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99.png"/><Relationship Id="rId11" Type="http://schemas.openxmlformats.org/officeDocument/2006/relationships/image" Target="../media/image304.png"/><Relationship Id="rId5" Type="http://schemas.openxmlformats.org/officeDocument/2006/relationships/image" Target="../media/image298.png"/><Relationship Id="rId15" Type="http://schemas.openxmlformats.org/officeDocument/2006/relationships/image" Target="../media/image308.png"/><Relationship Id="rId10" Type="http://schemas.openxmlformats.org/officeDocument/2006/relationships/image" Target="../media/image303.png"/><Relationship Id="rId19" Type="http://schemas.openxmlformats.org/officeDocument/2006/relationships/image" Target="../media/image312.png"/><Relationship Id="rId4" Type="http://schemas.openxmlformats.org/officeDocument/2006/relationships/image" Target="../media/image297.png"/><Relationship Id="rId9" Type="http://schemas.openxmlformats.org/officeDocument/2006/relationships/image" Target="../media/image302.png"/><Relationship Id="rId14" Type="http://schemas.openxmlformats.org/officeDocument/2006/relationships/image" Target="../media/image307.png"/></Relationships>
</file>

<file path=ppt/slides/_rels/slide39.xml.rels><?xml version="1.0" encoding="UTF-8" standalone="yes"?>
<Relationships xmlns="http://schemas.openxmlformats.org/package/2006/relationships"><Relationship Id="rId8" Type="http://schemas.openxmlformats.org/officeDocument/2006/relationships/image" Target="../media/image318.png"/><Relationship Id="rId3" Type="http://schemas.openxmlformats.org/officeDocument/2006/relationships/image" Target="../media/image313.png"/><Relationship Id="rId7" Type="http://schemas.openxmlformats.org/officeDocument/2006/relationships/image" Target="../media/image317.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316.png"/><Relationship Id="rId11" Type="http://schemas.openxmlformats.org/officeDocument/2006/relationships/image" Target="../media/image6.png"/><Relationship Id="rId5" Type="http://schemas.openxmlformats.org/officeDocument/2006/relationships/image" Target="../media/image315.png"/><Relationship Id="rId10" Type="http://schemas.openxmlformats.org/officeDocument/2006/relationships/image" Target="../media/image320.png"/><Relationship Id="rId4" Type="http://schemas.openxmlformats.org/officeDocument/2006/relationships/image" Target="../media/image314.png"/><Relationship Id="rId9" Type="http://schemas.openxmlformats.org/officeDocument/2006/relationships/image" Target="../media/image319.png"/></Relationships>
</file>

<file path=ppt/slides/_rels/slide40.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322.pn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23.png"/></Relationships>
</file>

<file path=ppt/slides/_rels/slide42.xml.rels><?xml version="1.0" encoding="UTF-8" standalone="yes"?>
<Relationships xmlns="http://schemas.openxmlformats.org/package/2006/relationships"><Relationship Id="rId3" Type="http://schemas.openxmlformats.org/officeDocument/2006/relationships/image" Target="../media/image324.jp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325.jp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8" Type="http://schemas.openxmlformats.org/officeDocument/2006/relationships/image" Target="../media/image331.png"/><Relationship Id="rId3" Type="http://schemas.openxmlformats.org/officeDocument/2006/relationships/image" Target="../media/image326.png"/><Relationship Id="rId7" Type="http://schemas.openxmlformats.org/officeDocument/2006/relationships/image" Target="../media/image330.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329.png"/><Relationship Id="rId5" Type="http://schemas.openxmlformats.org/officeDocument/2006/relationships/image" Target="../media/image328.png"/><Relationship Id="rId4" Type="http://schemas.openxmlformats.org/officeDocument/2006/relationships/image" Target="../media/image3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g3371019a5e0_0_9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16256005" cy="9143988"/>
          </a:xfrm>
          <a:prstGeom prst="rect">
            <a:avLst/>
          </a:prstGeom>
          <a:noFill/>
          <a:ln>
            <a:noFill/>
          </a:ln>
        </p:spPr>
      </p:pic>
      <p:pic>
        <p:nvPicPr>
          <p:cNvPr id="127" name="Google Shape;127;g3371019a5e0_0_90"/>
          <p:cNvPicPr preferRelativeResize="0"/>
          <p:nvPr/>
        </p:nvPicPr>
        <p:blipFill rotWithShape="1">
          <a:blip r:embed="rId4" cstate="email">
            <a:alphaModFix/>
            <a:extLst>
              <a:ext uri="{28A0092B-C50C-407E-A947-70E740481C1C}">
                <a14:useLocalDpi xmlns:a14="http://schemas.microsoft.com/office/drawing/2010/main"/>
              </a:ext>
            </a:extLst>
          </a:blip>
          <a:srcRect r="-5427"/>
          <a:stretch/>
        </p:blipFill>
        <p:spPr>
          <a:xfrm>
            <a:off x="7235756" y="1287467"/>
            <a:ext cx="1784489" cy="1073509"/>
          </a:xfrm>
          <a:prstGeom prst="rect">
            <a:avLst/>
          </a:prstGeom>
          <a:noFill/>
          <a:ln>
            <a:noFill/>
          </a:ln>
        </p:spPr>
      </p:pic>
      <p:sp>
        <p:nvSpPr>
          <p:cNvPr id="128" name="Google Shape;128;g3371019a5e0_0_90"/>
          <p:cNvSpPr txBox="1">
            <a:spLocks noGrp="1"/>
          </p:cNvSpPr>
          <p:nvPr>
            <p:ph type="ctrTitle"/>
          </p:nvPr>
        </p:nvSpPr>
        <p:spPr>
          <a:xfrm>
            <a:off x="133" y="5571644"/>
            <a:ext cx="16256100" cy="924000"/>
          </a:xfrm>
          <a:prstGeom prst="rect">
            <a:avLst/>
          </a:prstGeom>
          <a:noFill/>
          <a:ln>
            <a:noFill/>
          </a:ln>
        </p:spPr>
        <p:txBody>
          <a:bodyPr spcFirstLastPara="1" wrap="square" lIns="0" tIns="12700" rIns="0" bIns="0" anchor="t" anchorCtr="0">
            <a:spAutoFit/>
          </a:bodyPr>
          <a:lstStyle/>
          <a:p>
            <a:pPr marL="0" lvl="0" indent="0" algn="ctr" rtl="0">
              <a:lnSpc>
                <a:spcPct val="119964"/>
              </a:lnSpc>
              <a:spcBef>
                <a:spcPts val="0"/>
              </a:spcBef>
              <a:spcAft>
                <a:spcPts val="0"/>
              </a:spcAft>
              <a:buClr>
                <a:schemeClr val="dk1"/>
              </a:buClr>
              <a:buSzPts val="9200"/>
              <a:buFont typeface="Arial"/>
              <a:buNone/>
            </a:pPr>
            <a:r>
              <a:rPr lang="en-US" sz="2850" dirty="0">
                <a:latin typeface="Inter"/>
                <a:ea typeface="Inter"/>
                <a:cs typeface="Inter"/>
                <a:sym typeface="Inter"/>
              </a:rPr>
              <a:t>RETAIL DX Profile - Software Development For Retail</a:t>
            </a:r>
            <a:endParaRPr sz="1400" b="0" dirty="0">
              <a:solidFill>
                <a:schemeClr val="dk1"/>
              </a:solidFill>
              <a:latin typeface="Arial"/>
              <a:ea typeface="Arial"/>
              <a:cs typeface="Arial"/>
              <a:sym typeface="Arial"/>
            </a:endParaRPr>
          </a:p>
          <a:p>
            <a:pPr marL="0" lvl="0" indent="0" algn="l" rtl="0">
              <a:lnSpc>
                <a:spcPct val="100000"/>
              </a:lnSpc>
              <a:spcBef>
                <a:spcPts val="0"/>
              </a:spcBef>
              <a:spcAft>
                <a:spcPts val="0"/>
              </a:spcAft>
              <a:buSzPts val="1400"/>
              <a:buNone/>
            </a:pPr>
            <a:endParaRPr sz="2500" dirty="0">
              <a:latin typeface="Plus Jakarta Sans"/>
              <a:ea typeface="Plus Jakarta Sans"/>
              <a:cs typeface="Plus Jakarta Sans"/>
              <a:sym typeface="Plus Jakarta Sans"/>
            </a:endParaRPr>
          </a:p>
        </p:txBody>
      </p:sp>
      <p:sp>
        <p:nvSpPr>
          <p:cNvPr id="129" name="Google Shape;129;g3371019a5e0_0_90"/>
          <p:cNvSpPr txBox="1">
            <a:spLocks noGrp="1"/>
          </p:cNvSpPr>
          <p:nvPr>
            <p:ph type="ctrTitle"/>
          </p:nvPr>
        </p:nvSpPr>
        <p:spPr>
          <a:xfrm>
            <a:off x="133" y="3648443"/>
            <a:ext cx="16256100" cy="1613700"/>
          </a:xfrm>
          <a:prstGeom prst="rect">
            <a:avLst/>
          </a:prstGeom>
          <a:noFill/>
          <a:ln>
            <a:noFill/>
          </a:ln>
        </p:spPr>
        <p:txBody>
          <a:bodyPr spcFirstLastPara="1" wrap="square" lIns="0" tIns="12700" rIns="0" bIns="0" anchor="t" anchorCtr="0">
            <a:spAutoFit/>
          </a:bodyPr>
          <a:lstStyle/>
          <a:p>
            <a:pPr marL="0" lvl="0" indent="0" algn="ctr" rtl="0">
              <a:lnSpc>
                <a:spcPct val="100000"/>
              </a:lnSpc>
              <a:spcBef>
                <a:spcPts val="0"/>
              </a:spcBef>
              <a:spcAft>
                <a:spcPts val="0"/>
              </a:spcAft>
              <a:buSzPts val="1400"/>
              <a:buNone/>
            </a:pPr>
            <a:r>
              <a:rPr lang="en-US" sz="5200" b="1" dirty="0">
                <a:solidFill>
                  <a:schemeClr val="lt1"/>
                </a:solidFill>
                <a:latin typeface="Plus Jakarta Sans"/>
                <a:ea typeface="Plus Jakarta Sans"/>
                <a:cs typeface="Plus Jakarta Sans"/>
                <a:sym typeface="Plus Jakarta Sans"/>
              </a:rPr>
              <a:t>INNOVATION </a:t>
            </a:r>
            <a:endParaRPr sz="5200" b="1" dirty="0">
              <a:solidFill>
                <a:schemeClr val="lt1"/>
              </a:solidFill>
              <a:latin typeface="Plus Jakarta Sans"/>
              <a:ea typeface="Plus Jakarta Sans"/>
              <a:cs typeface="Plus Jakarta Sans"/>
              <a:sym typeface="Plus Jakarta Sans"/>
            </a:endParaRPr>
          </a:p>
          <a:p>
            <a:pPr marL="0" lvl="0" indent="0" algn="ctr" rtl="0">
              <a:lnSpc>
                <a:spcPct val="100000"/>
              </a:lnSpc>
              <a:spcBef>
                <a:spcPts val="0"/>
              </a:spcBef>
              <a:spcAft>
                <a:spcPts val="0"/>
              </a:spcAft>
              <a:buSzPts val="1400"/>
              <a:buNone/>
            </a:pPr>
            <a:r>
              <a:rPr lang="en-US" sz="5200" b="1" dirty="0">
                <a:solidFill>
                  <a:schemeClr val="lt1"/>
                </a:solidFill>
                <a:latin typeface="Plus Jakarta Sans"/>
                <a:ea typeface="Plus Jakarta Sans"/>
                <a:cs typeface="Plus Jakarta Sans"/>
                <a:sym typeface="Plus Jakarta Sans"/>
              </a:rPr>
              <a:t>TECHNOLOGY VALUE </a:t>
            </a:r>
            <a:endParaRPr sz="5200" b="1" dirty="0">
              <a:solidFill>
                <a:schemeClr val="lt1"/>
              </a:solidFill>
              <a:latin typeface="Plus Jakarta Sans"/>
              <a:ea typeface="Plus Jakarta Sans"/>
              <a:cs typeface="Plus Jakarta Sans"/>
              <a:sym typeface="Plus Jakart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3465da649cc_0_200"/>
          <p:cNvSpPr/>
          <p:nvPr/>
        </p:nvSpPr>
        <p:spPr>
          <a:xfrm>
            <a:off x="-4633" y="0"/>
            <a:ext cx="16276340" cy="9155434"/>
          </a:xfrm>
          <a:custGeom>
            <a:avLst/>
            <a:gdLst/>
            <a:ahLst/>
            <a:cxnLst/>
            <a:rect l="l" t="t" r="r" b="b"/>
            <a:pathLst>
              <a:path w="18288022" h="10287004" extrusionOk="0">
                <a:moveTo>
                  <a:pt x="0" y="0"/>
                </a:moveTo>
                <a:lnTo>
                  <a:pt x="18288022" y="0"/>
                </a:lnTo>
                <a:lnTo>
                  <a:pt x="18288022" y="10287004"/>
                </a:lnTo>
                <a:lnTo>
                  <a:pt x="0" y="10287004"/>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sp>
      <p:sp>
        <p:nvSpPr>
          <p:cNvPr id="139" name="Google Shape;139;g3465da649cc_0_200"/>
          <p:cNvSpPr/>
          <p:nvPr/>
        </p:nvSpPr>
        <p:spPr>
          <a:xfrm>
            <a:off x="1546324" y="4572000"/>
            <a:ext cx="12865360" cy="3024470"/>
          </a:xfrm>
          <a:custGeom>
            <a:avLst/>
            <a:gdLst/>
            <a:ahLst/>
            <a:cxnLst/>
            <a:rect l="l" t="t" r="r" b="b"/>
            <a:pathLst>
              <a:path w="14455461" h="3398281" extrusionOk="0">
                <a:moveTo>
                  <a:pt x="0" y="0"/>
                </a:moveTo>
                <a:lnTo>
                  <a:pt x="14455460" y="0"/>
                </a:lnTo>
                <a:lnTo>
                  <a:pt x="14455460" y="3398281"/>
                </a:lnTo>
                <a:lnTo>
                  <a:pt x="0" y="3398281"/>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l="-126742" r="-258506"/>
            </a:stretch>
          </a:blipFill>
          <a:ln>
            <a:noFill/>
          </a:ln>
        </p:spPr>
        <p:txBody>
          <a:bodyPr/>
          <a:lstStyle/>
          <a:p>
            <a:endParaRPr lang="en-VN" dirty="0"/>
          </a:p>
        </p:txBody>
      </p:sp>
      <p:grpSp>
        <p:nvGrpSpPr>
          <p:cNvPr id="140" name="Google Shape;140;g3465da649cc_0_200"/>
          <p:cNvGrpSpPr/>
          <p:nvPr/>
        </p:nvGrpSpPr>
        <p:grpSpPr>
          <a:xfrm>
            <a:off x="8963078" y="7176772"/>
            <a:ext cx="2476417" cy="441117"/>
            <a:chOff x="0" y="-9525"/>
            <a:chExt cx="3714440" cy="661643"/>
          </a:xfrm>
        </p:grpSpPr>
        <p:sp>
          <p:nvSpPr>
            <p:cNvPr id="141" name="Google Shape;141;g3465da649cc_0_200"/>
            <p:cNvSpPr/>
            <p:nvPr/>
          </p:nvSpPr>
          <p:spPr>
            <a:xfrm>
              <a:off x="0" y="0"/>
              <a:ext cx="3714440" cy="652118"/>
            </a:xfrm>
            <a:custGeom>
              <a:avLst/>
              <a:gdLst/>
              <a:ahLst/>
              <a:cxnLst/>
              <a:rect l="l" t="t" r="r" b="b"/>
              <a:pathLst>
                <a:path w="3714440" h="652118" extrusionOk="0">
                  <a:moveTo>
                    <a:pt x="0" y="0"/>
                  </a:moveTo>
                  <a:lnTo>
                    <a:pt x="3714440" y="0"/>
                  </a:lnTo>
                  <a:lnTo>
                    <a:pt x="3714440" y="652118"/>
                  </a:lnTo>
                  <a:lnTo>
                    <a:pt x="0" y="652118"/>
                  </a:lnTo>
                  <a:close/>
                </a:path>
              </a:pathLst>
            </a:custGeom>
            <a:solidFill>
              <a:srgbClr val="000000">
                <a:alpha val="0"/>
              </a:srgbClr>
            </a:solidFill>
            <a:ln>
              <a:noFill/>
            </a:ln>
          </p:spPr>
        </p:sp>
        <p:sp>
          <p:nvSpPr>
            <p:cNvPr id="142" name="Google Shape;142;g3465da649cc_0_200"/>
            <p:cNvSpPr txBox="1"/>
            <p:nvPr/>
          </p:nvSpPr>
          <p:spPr>
            <a:xfrm>
              <a:off x="0" y="-9525"/>
              <a:ext cx="3714300" cy="661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2000"/>
                <a:buFont typeface="Arial"/>
                <a:buNone/>
              </a:pPr>
              <a:r>
                <a:rPr lang="en-US" sz="2000" b="1" i="0" u="none" strike="noStrike" cap="none" dirty="0">
                  <a:solidFill>
                    <a:srgbClr val="FFFFFF"/>
                  </a:solidFill>
                  <a:latin typeface="Inter"/>
                  <a:ea typeface="Inter"/>
                  <a:cs typeface="Inter"/>
                  <a:sym typeface="Inter"/>
                </a:rPr>
                <a:t>CASE STUDIES</a:t>
              </a:r>
              <a:endParaRPr sz="1200" b="0" i="0" u="none" strike="noStrike" cap="none" dirty="0">
                <a:solidFill>
                  <a:srgbClr val="000000"/>
                </a:solidFill>
                <a:latin typeface="Arial"/>
                <a:ea typeface="Arial"/>
                <a:cs typeface="Arial"/>
                <a:sym typeface="Arial"/>
              </a:endParaRPr>
            </a:p>
          </p:txBody>
        </p:sp>
      </p:grpSp>
      <p:cxnSp>
        <p:nvCxnSpPr>
          <p:cNvPr id="143" name="Google Shape;143;g3465da649cc_0_200"/>
          <p:cNvCxnSpPr/>
          <p:nvPr/>
        </p:nvCxnSpPr>
        <p:spPr>
          <a:xfrm>
            <a:off x="8963078" y="7598856"/>
            <a:ext cx="5770800" cy="0"/>
          </a:xfrm>
          <a:prstGeom prst="straightConnector1">
            <a:avLst/>
          </a:prstGeom>
          <a:noFill/>
          <a:ln w="28575" cap="flat" cmpd="sng">
            <a:solidFill>
              <a:srgbClr val="FFFFFF"/>
            </a:solidFill>
            <a:prstDash val="solid"/>
            <a:round/>
            <a:headEnd type="none" w="sm" len="sm"/>
            <a:tailEnd type="oval" w="lg" len="lg"/>
          </a:ln>
        </p:spPr>
      </p:cxnSp>
      <p:sp>
        <p:nvSpPr>
          <p:cNvPr id="144" name="Google Shape;144;g3465da649cc_0_200"/>
          <p:cNvSpPr/>
          <p:nvPr/>
        </p:nvSpPr>
        <p:spPr>
          <a:xfrm>
            <a:off x="634156" y="244444"/>
            <a:ext cx="1786721" cy="1074854"/>
          </a:xfrm>
          <a:custGeom>
            <a:avLst/>
            <a:gdLst/>
            <a:ahLst/>
            <a:cxnLst/>
            <a:rect l="l" t="t" r="r" b="b"/>
            <a:pathLst>
              <a:path w="2007552" h="1207701" extrusionOk="0">
                <a:moveTo>
                  <a:pt x="0" y="0"/>
                </a:moveTo>
                <a:lnTo>
                  <a:pt x="2007551" y="0"/>
                </a:lnTo>
                <a:lnTo>
                  <a:pt x="2007551" y="1207700"/>
                </a:lnTo>
                <a:lnTo>
                  <a:pt x="0" y="1207700"/>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r="5149"/>
            </a:stretch>
          </a:blipFill>
          <a:ln>
            <a:noFill/>
          </a:ln>
        </p:spPr>
      </p:sp>
      <p:grpSp>
        <p:nvGrpSpPr>
          <p:cNvPr id="145" name="Google Shape;145;g3465da649cc_0_200"/>
          <p:cNvGrpSpPr/>
          <p:nvPr/>
        </p:nvGrpSpPr>
        <p:grpSpPr>
          <a:xfrm>
            <a:off x="2935288" y="3347422"/>
            <a:ext cx="3477374" cy="437654"/>
            <a:chOff x="0" y="0"/>
            <a:chExt cx="5215800" cy="656448"/>
          </a:xfrm>
        </p:grpSpPr>
        <p:sp>
          <p:nvSpPr>
            <p:cNvPr id="146" name="Google Shape;146;g3465da649cc_0_200"/>
            <p:cNvSpPr/>
            <p:nvPr/>
          </p:nvSpPr>
          <p:spPr>
            <a:xfrm>
              <a:off x="0" y="0"/>
              <a:ext cx="5215800" cy="656448"/>
            </a:xfrm>
            <a:custGeom>
              <a:avLst/>
              <a:gdLst/>
              <a:ahLst/>
              <a:cxnLst/>
              <a:rect l="l" t="t" r="r" b="b"/>
              <a:pathLst>
                <a:path w="5215800" h="656448" extrusionOk="0">
                  <a:moveTo>
                    <a:pt x="0" y="0"/>
                  </a:moveTo>
                  <a:lnTo>
                    <a:pt x="5215800" y="0"/>
                  </a:lnTo>
                  <a:lnTo>
                    <a:pt x="5215800" y="656448"/>
                  </a:lnTo>
                  <a:lnTo>
                    <a:pt x="0" y="656448"/>
                  </a:lnTo>
                  <a:close/>
                </a:path>
              </a:pathLst>
            </a:custGeom>
            <a:solidFill>
              <a:srgbClr val="000000">
                <a:alpha val="0"/>
              </a:srgbClr>
            </a:solidFill>
            <a:ln>
              <a:noFill/>
            </a:ln>
          </p:spPr>
        </p:sp>
        <p:sp>
          <p:nvSpPr>
            <p:cNvPr id="147" name="Google Shape;147;g3465da649cc_0_200"/>
            <p:cNvSpPr txBox="1"/>
            <p:nvPr/>
          </p:nvSpPr>
          <p:spPr>
            <a:xfrm>
              <a:off x="0" y="0"/>
              <a:ext cx="5215800" cy="6564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2000"/>
                <a:buFont typeface="Arial"/>
                <a:buNone/>
              </a:pPr>
              <a:r>
                <a:rPr lang="en-US" sz="2000" b="1" i="0" u="none" strike="noStrike" cap="none">
                  <a:solidFill>
                    <a:srgbClr val="44546A"/>
                  </a:solidFill>
                  <a:latin typeface="Inter"/>
                  <a:ea typeface="Inter"/>
                  <a:cs typeface="Inter"/>
                  <a:sym typeface="Inter"/>
                </a:rPr>
                <a:t>TABLE OF CONTENTS</a:t>
              </a:r>
              <a:endParaRPr sz="1200" b="0" i="0" u="none" strike="noStrike" cap="none">
                <a:solidFill>
                  <a:srgbClr val="000000"/>
                </a:solidFill>
                <a:latin typeface="Arial"/>
                <a:ea typeface="Arial"/>
                <a:cs typeface="Arial"/>
                <a:sym typeface="Arial"/>
              </a:endParaRPr>
            </a:p>
          </p:txBody>
        </p:sp>
      </p:grpSp>
      <p:grpSp>
        <p:nvGrpSpPr>
          <p:cNvPr id="148" name="Google Shape;148;g3465da649cc_0_200"/>
          <p:cNvGrpSpPr/>
          <p:nvPr/>
        </p:nvGrpSpPr>
        <p:grpSpPr>
          <a:xfrm>
            <a:off x="1769555" y="4565651"/>
            <a:ext cx="1612881" cy="441117"/>
            <a:chOff x="0" y="-9525"/>
            <a:chExt cx="2419200" cy="661643"/>
          </a:xfrm>
        </p:grpSpPr>
        <p:sp>
          <p:nvSpPr>
            <p:cNvPr id="149" name="Google Shape;149;g3465da649cc_0_200"/>
            <p:cNvSpPr/>
            <p:nvPr/>
          </p:nvSpPr>
          <p:spPr>
            <a:xfrm>
              <a:off x="0" y="0"/>
              <a:ext cx="2419200" cy="652118"/>
            </a:xfrm>
            <a:custGeom>
              <a:avLst/>
              <a:gdLst/>
              <a:ahLst/>
              <a:cxnLst/>
              <a:rect l="l" t="t" r="r" b="b"/>
              <a:pathLst>
                <a:path w="2419200" h="652118" extrusionOk="0">
                  <a:moveTo>
                    <a:pt x="0" y="0"/>
                  </a:moveTo>
                  <a:lnTo>
                    <a:pt x="2419200" y="0"/>
                  </a:lnTo>
                  <a:lnTo>
                    <a:pt x="2419200" y="652118"/>
                  </a:lnTo>
                  <a:lnTo>
                    <a:pt x="0" y="652118"/>
                  </a:lnTo>
                  <a:close/>
                </a:path>
              </a:pathLst>
            </a:custGeom>
            <a:solidFill>
              <a:srgbClr val="000000">
                <a:alpha val="0"/>
              </a:srgbClr>
            </a:solidFill>
            <a:ln>
              <a:noFill/>
            </a:ln>
          </p:spPr>
        </p:sp>
        <p:sp>
          <p:nvSpPr>
            <p:cNvPr id="150" name="Google Shape;150;g3465da649cc_0_200"/>
            <p:cNvSpPr txBox="1"/>
            <p:nvPr/>
          </p:nvSpPr>
          <p:spPr>
            <a:xfrm>
              <a:off x="0" y="-9525"/>
              <a:ext cx="2419200" cy="661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2000"/>
                <a:buFont typeface="Arial"/>
                <a:buNone/>
              </a:pPr>
              <a:r>
                <a:rPr lang="en-US" sz="2000" b="1" i="0" u="none" strike="noStrike" cap="none">
                  <a:solidFill>
                    <a:srgbClr val="FFFFFF"/>
                  </a:solidFill>
                  <a:latin typeface="Inter"/>
                  <a:ea typeface="Inter"/>
                  <a:cs typeface="Inter"/>
                  <a:sym typeface="Inter"/>
                </a:rPr>
                <a:t>ABOUT VTI</a:t>
              </a:r>
              <a:endParaRPr sz="1200" b="0" i="0" u="none" strike="noStrike" cap="none">
                <a:solidFill>
                  <a:srgbClr val="000000"/>
                </a:solidFill>
                <a:latin typeface="Arial"/>
                <a:ea typeface="Arial"/>
                <a:cs typeface="Arial"/>
                <a:sym typeface="Arial"/>
              </a:endParaRPr>
            </a:p>
          </p:txBody>
        </p:sp>
      </p:grpSp>
      <p:grpSp>
        <p:nvGrpSpPr>
          <p:cNvPr id="151" name="Google Shape;151;g3465da649cc_0_200"/>
          <p:cNvGrpSpPr/>
          <p:nvPr/>
        </p:nvGrpSpPr>
        <p:grpSpPr>
          <a:xfrm>
            <a:off x="8963078" y="4565650"/>
            <a:ext cx="5298494" cy="441117"/>
            <a:chOff x="0" y="-9525"/>
            <a:chExt cx="7947344" cy="661643"/>
          </a:xfrm>
        </p:grpSpPr>
        <p:sp>
          <p:nvSpPr>
            <p:cNvPr id="152" name="Google Shape;152;g3465da649cc_0_200"/>
            <p:cNvSpPr/>
            <p:nvPr/>
          </p:nvSpPr>
          <p:spPr>
            <a:xfrm>
              <a:off x="0" y="0"/>
              <a:ext cx="7947344" cy="652118"/>
            </a:xfrm>
            <a:custGeom>
              <a:avLst/>
              <a:gdLst/>
              <a:ahLst/>
              <a:cxnLst/>
              <a:rect l="l" t="t" r="r" b="b"/>
              <a:pathLst>
                <a:path w="7947344" h="652118" extrusionOk="0">
                  <a:moveTo>
                    <a:pt x="0" y="0"/>
                  </a:moveTo>
                  <a:lnTo>
                    <a:pt x="7947344" y="0"/>
                  </a:lnTo>
                  <a:lnTo>
                    <a:pt x="7947344" y="652118"/>
                  </a:lnTo>
                  <a:lnTo>
                    <a:pt x="0" y="652118"/>
                  </a:lnTo>
                  <a:close/>
                </a:path>
              </a:pathLst>
            </a:custGeom>
            <a:solidFill>
              <a:srgbClr val="000000">
                <a:alpha val="0"/>
              </a:srgbClr>
            </a:solidFill>
            <a:ln>
              <a:noFill/>
            </a:ln>
          </p:spPr>
        </p:sp>
        <p:sp>
          <p:nvSpPr>
            <p:cNvPr id="153" name="Google Shape;153;g3465da649cc_0_200"/>
            <p:cNvSpPr txBox="1"/>
            <p:nvPr/>
          </p:nvSpPr>
          <p:spPr>
            <a:xfrm>
              <a:off x="0" y="-9525"/>
              <a:ext cx="7947300" cy="661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2000"/>
                <a:buFont typeface="Arial"/>
                <a:buNone/>
              </a:pPr>
              <a:r>
                <a:rPr lang="en-US" sz="2000" b="1" i="0" u="none" strike="noStrike" cap="none">
                  <a:solidFill>
                    <a:srgbClr val="FFFFFF"/>
                  </a:solidFill>
                  <a:latin typeface="Inter"/>
                  <a:ea typeface="Inter"/>
                  <a:cs typeface="Inter"/>
                  <a:sym typeface="Inter"/>
                </a:rPr>
                <a:t>RETAIL DX SERVICES &amp; SOLUTIONS</a:t>
              </a:r>
              <a:endParaRPr sz="1200" b="0" i="0" u="none" strike="noStrike" cap="none">
                <a:solidFill>
                  <a:srgbClr val="000000"/>
                </a:solidFill>
                <a:latin typeface="Arial"/>
                <a:ea typeface="Arial"/>
                <a:cs typeface="Arial"/>
                <a:sym typeface="Arial"/>
              </a:endParaRPr>
            </a:p>
          </p:txBody>
        </p:sp>
      </p:grpSp>
      <p:grpSp>
        <p:nvGrpSpPr>
          <p:cNvPr id="154" name="Google Shape;154;g3465da649cc_0_200"/>
          <p:cNvGrpSpPr/>
          <p:nvPr/>
        </p:nvGrpSpPr>
        <p:grpSpPr>
          <a:xfrm>
            <a:off x="9318878" y="5176106"/>
            <a:ext cx="4295815" cy="381419"/>
            <a:chOff x="0" y="-9525"/>
            <a:chExt cx="6443400" cy="572100"/>
          </a:xfrm>
        </p:grpSpPr>
        <p:sp>
          <p:nvSpPr>
            <p:cNvPr id="155" name="Google Shape;155;g3465da649cc_0_200"/>
            <p:cNvSpPr/>
            <p:nvPr/>
          </p:nvSpPr>
          <p:spPr>
            <a:xfrm>
              <a:off x="0" y="0"/>
              <a:ext cx="6443400" cy="562552"/>
            </a:xfrm>
            <a:custGeom>
              <a:avLst/>
              <a:gdLst/>
              <a:ahLst/>
              <a:cxnLst/>
              <a:rect l="l" t="t" r="r" b="b"/>
              <a:pathLst>
                <a:path w="6443400" h="562552" extrusionOk="0">
                  <a:moveTo>
                    <a:pt x="0" y="0"/>
                  </a:moveTo>
                  <a:lnTo>
                    <a:pt x="6443400" y="0"/>
                  </a:lnTo>
                  <a:lnTo>
                    <a:pt x="6443400" y="562552"/>
                  </a:lnTo>
                  <a:lnTo>
                    <a:pt x="0" y="562552"/>
                  </a:lnTo>
                  <a:close/>
                </a:path>
              </a:pathLst>
            </a:custGeom>
            <a:solidFill>
              <a:srgbClr val="000000">
                <a:alpha val="0"/>
              </a:srgbClr>
            </a:solidFill>
            <a:ln>
              <a:noFill/>
            </a:ln>
          </p:spPr>
        </p:sp>
        <p:sp>
          <p:nvSpPr>
            <p:cNvPr id="156" name="Google Shape;156;g3465da649cc_0_200"/>
            <p:cNvSpPr txBox="1"/>
            <p:nvPr/>
          </p:nvSpPr>
          <p:spPr>
            <a:xfrm>
              <a:off x="0" y="-9525"/>
              <a:ext cx="6443400" cy="572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700"/>
                <a:buFont typeface="Arial"/>
                <a:buNone/>
              </a:pPr>
              <a:r>
                <a:rPr lang="en-US" sz="1700" b="0" i="0" u="none" strike="noStrike" cap="none" dirty="0">
                  <a:solidFill>
                    <a:srgbClr val="FFFFFF"/>
                  </a:solidFill>
                  <a:latin typeface="Inter"/>
                  <a:ea typeface="Inter"/>
                  <a:cs typeface="Inter"/>
                  <a:sym typeface="Inter"/>
                </a:rPr>
                <a:t>One-stop IT Service for Retailers</a:t>
              </a:r>
              <a:endParaRPr sz="1200" b="0" i="0" u="none" strike="noStrike" cap="none" dirty="0">
                <a:solidFill>
                  <a:srgbClr val="000000"/>
                </a:solidFill>
                <a:latin typeface="Arial"/>
                <a:ea typeface="Arial"/>
                <a:cs typeface="Arial"/>
                <a:sym typeface="Arial"/>
              </a:endParaRPr>
            </a:p>
          </p:txBody>
        </p:sp>
      </p:grpSp>
      <p:grpSp>
        <p:nvGrpSpPr>
          <p:cNvPr id="157" name="Google Shape;157;g3465da649cc_0_200"/>
          <p:cNvGrpSpPr/>
          <p:nvPr/>
        </p:nvGrpSpPr>
        <p:grpSpPr>
          <a:xfrm>
            <a:off x="9318878" y="5603306"/>
            <a:ext cx="4295815" cy="381419"/>
            <a:chOff x="0" y="-9525"/>
            <a:chExt cx="6443400" cy="572100"/>
          </a:xfrm>
        </p:grpSpPr>
        <p:sp>
          <p:nvSpPr>
            <p:cNvPr id="158" name="Google Shape;158;g3465da649cc_0_200"/>
            <p:cNvSpPr/>
            <p:nvPr/>
          </p:nvSpPr>
          <p:spPr>
            <a:xfrm>
              <a:off x="0" y="0"/>
              <a:ext cx="6443400" cy="562552"/>
            </a:xfrm>
            <a:custGeom>
              <a:avLst/>
              <a:gdLst/>
              <a:ahLst/>
              <a:cxnLst/>
              <a:rect l="l" t="t" r="r" b="b"/>
              <a:pathLst>
                <a:path w="6443400" h="562552" extrusionOk="0">
                  <a:moveTo>
                    <a:pt x="0" y="0"/>
                  </a:moveTo>
                  <a:lnTo>
                    <a:pt x="6443400" y="0"/>
                  </a:lnTo>
                  <a:lnTo>
                    <a:pt x="6443400" y="562552"/>
                  </a:lnTo>
                  <a:lnTo>
                    <a:pt x="0" y="562552"/>
                  </a:lnTo>
                  <a:close/>
                </a:path>
              </a:pathLst>
            </a:custGeom>
            <a:solidFill>
              <a:srgbClr val="000000">
                <a:alpha val="0"/>
              </a:srgbClr>
            </a:solidFill>
            <a:ln>
              <a:noFill/>
            </a:ln>
          </p:spPr>
        </p:sp>
        <p:sp>
          <p:nvSpPr>
            <p:cNvPr id="159" name="Google Shape;159;g3465da649cc_0_200"/>
            <p:cNvSpPr txBox="1"/>
            <p:nvPr/>
          </p:nvSpPr>
          <p:spPr>
            <a:xfrm>
              <a:off x="0" y="-9525"/>
              <a:ext cx="6443400" cy="572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700"/>
                <a:buFont typeface="Arial"/>
                <a:buNone/>
              </a:pPr>
              <a:r>
                <a:rPr lang="en-US" sz="1700" b="0" i="0" u="none" strike="noStrike" cap="none" dirty="0">
                  <a:solidFill>
                    <a:srgbClr val="FFFFFF"/>
                  </a:solidFill>
                  <a:latin typeface="Inter"/>
                  <a:ea typeface="Inter"/>
                  <a:cs typeface="Inter"/>
                  <a:sym typeface="Inter"/>
                </a:rPr>
                <a:t>Software for Seamless CX</a:t>
              </a:r>
              <a:endParaRPr sz="1200" b="0" i="0" u="none" strike="noStrike" cap="none" dirty="0">
                <a:solidFill>
                  <a:srgbClr val="000000"/>
                </a:solidFill>
                <a:latin typeface="Arial"/>
                <a:ea typeface="Arial"/>
                <a:cs typeface="Arial"/>
                <a:sym typeface="Arial"/>
              </a:endParaRPr>
            </a:p>
          </p:txBody>
        </p:sp>
      </p:grpSp>
      <p:grpSp>
        <p:nvGrpSpPr>
          <p:cNvPr id="160" name="Google Shape;160;g3465da649cc_0_200"/>
          <p:cNvGrpSpPr/>
          <p:nvPr/>
        </p:nvGrpSpPr>
        <p:grpSpPr>
          <a:xfrm>
            <a:off x="9318878" y="6029200"/>
            <a:ext cx="4295815" cy="381419"/>
            <a:chOff x="0" y="-9525"/>
            <a:chExt cx="6443400" cy="572100"/>
          </a:xfrm>
        </p:grpSpPr>
        <p:sp>
          <p:nvSpPr>
            <p:cNvPr id="161" name="Google Shape;161;g3465da649cc_0_200"/>
            <p:cNvSpPr/>
            <p:nvPr/>
          </p:nvSpPr>
          <p:spPr>
            <a:xfrm>
              <a:off x="0" y="0"/>
              <a:ext cx="6443400" cy="562552"/>
            </a:xfrm>
            <a:custGeom>
              <a:avLst/>
              <a:gdLst/>
              <a:ahLst/>
              <a:cxnLst/>
              <a:rect l="l" t="t" r="r" b="b"/>
              <a:pathLst>
                <a:path w="6443400" h="562552" extrusionOk="0">
                  <a:moveTo>
                    <a:pt x="0" y="0"/>
                  </a:moveTo>
                  <a:lnTo>
                    <a:pt x="6443400" y="0"/>
                  </a:lnTo>
                  <a:lnTo>
                    <a:pt x="6443400" y="562552"/>
                  </a:lnTo>
                  <a:lnTo>
                    <a:pt x="0" y="562552"/>
                  </a:lnTo>
                  <a:close/>
                </a:path>
              </a:pathLst>
            </a:custGeom>
            <a:solidFill>
              <a:srgbClr val="000000">
                <a:alpha val="0"/>
              </a:srgbClr>
            </a:solidFill>
            <a:ln>
              <a:noFill/>
            </a:ln>
          </p:spPr>
        </p:sp>
        <p:sp>
          <p:nvSpPr>
            <p:cNvPr id="162" name="Google Shape;162;g3465da649cc_0_200"/>
            <p:cNvSpPr txBox="1"/>
            <p:nvPr/>
          </p:nvSpPr>
          <p:spPr>
            <a:xfrm>
              <a:off x="0" y="-9525"/>
              <a:ext cx="6443400" cy="572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700"/>
                <a:buFont typeface="Arial"/>
                <a:buNone/>
              </a:pPr>
              <a:r>
                <a:rPr lang="en-US" sz="1700" b="0" i="0" u="none" strike="noStrike" cap="none">
                  <a:solidFill>
                    <a:srgbClr val="FFFFFF"/>
                  </a:solidFill>
                  <a:latin typeface="Inter"/>
                  <a:ea typeface="Inter"/>
                  <a:cs typeface="Inter"/>
                  <a:sym typeface="Inter"/>
                </a:rPr>
                <a:t>Software for Smart In-store Operations</a:t>
              </a:r>
              <a:endParaRPr sz="1200" b="0" i="0" u="none" strike="noStrike" cap="none">
                <a:solidFill>
                  <a:srgbClr val="000000"/>
                </a:solidFill>
                <a:latin typeface="Arial"/>
                <a:ea typeface="Arial"/>
                <a:cs typeface="Arial"/>
                <a:sym typeface="Arial"/>
              </a:endParaRPr>
            </a:p>
          </p:txBody>
        </p:sp>
      </p:grpSp>
      <p:grpSp>
        <p:nvGrpSpPr>
          <p:cNvPr id="163" name="Google Shape;163;g3465da649cc_0_200"/>
          <p:cNvGrpSpPr/>
          <p:nvPr/>
        </p:nvGrpSpPr>
        <p:grpSpPr>
          <a:xfrm>
            <a:off x="9318878" y="6455093"/>
            <a:ext cx="4295815" cy="381419"/>
            <a:chOff x="0" y="-9525"/>
            <a:chExt cx="6443400" cy="572100"/>
          </a:xfrm>
        </p:grpSpPr>
        <p:sp>
          <p:nvSpPr>
            <p:cNvPr id="164" name="Google Shape;164;g3465da649cc_0_200"/>
            <p:cNvSpPr/>
            <p:nvPr/>
          </p:nvSpPr>
          <p:spPr>
            <a:xfrm>
              <a:off x="0" y="0"/>
              <a:ext cx="6443400" cy="562552"/>
            </a:xfrm>
            <a:custGeom>
              <a:avLst/>
              <a:gdLst/>
              <a:ahLst/>
              <a:cxnLst/>
              <a:rect l="l" t="t" r="r" b="b"/>
              <a:pathLst>
                <a:path w="6443400" h="562552" extrusionOk="0">
                  <a:moveTo>
                    <a:pt x="0" y="0"/>
                  </a:moveTo>
                  <a:lnTo>
                    <a:pt x="6443400" y="0"/>
                  </a:lnTo>
                  <a:lnTo>
                    <a:pt x="6443400" y="562552"/>
                  </a:lnTo>
                  <a:lnTo>
                    <a:pt x="0" y="562552"/>
                  </a:lnTo>
                  <a:close/>
                </a:path>
              </a:pathLst>
            </a:custGeom>
            <a:solidFill>
              <a:srgbClr val="000000">
                <a:alpha val="0"/>
              </a:srgbClr>
            </a:solidFill>
            <a:ln>
              <a:noFill/>
            </a:ln>
          </p:spPr>
        </p:sp>
        <p:sp>
          <p:nvSpPr>
            <p:cNvPr id="165" name="Google Shape;165;g3465da649cc_0_200"/>
            <p:cNvSpPr txBox="1"/>
            <p:nvPr/>
          </p:nvSpPr>
          <p:spPr>
            <a:xfrm>
              <a:off x="0" y="-9525"/>
              <a:ext cx="6443400" cy="572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700"/>
                <a:buFont typeface="Arial"/>
                <a:buNone/>
              </a:pPr>
              <a:r>
                <a:rPr lang="en-US" sz="1700" b="0" i="0" u="none" strike="noStrike" cap="none">
                  <a:solidFill>
                    <a:srgbClr val="FFFFFF"/>
                  </a:solidFill>
                  <a:latin typeface="Inter"/>
                  <a:ea typeface="Inter"/>
                  <a:cs typeface="Inter"/>
                  <a:sym typeface="Inter"/>
                </a:rPr>
                <a:t>Software for Agile Business Operations</a:t>
              </a:r>
              <a:endParaRPr sz="1200" b="0" i="0" u="none" strike="noStrike" cap="none">
                <a:solidFill>
                  <a:srgbClr val="000000"/>
                </a:solidFill>
                <a:latin typeface="Arial"/>
                <a:ea typeface="Arial"/>
                <a:cs typeface="Arial"/>
                <a:sym typeface="Arial"/>
              </a:endParaRPr>
            </a:p>
          </p:txBody>
        </p:sp>
      </p:grpSp>
      <p:cxnSp>
        <p:nvCxnSpPr>
          <p:cNvPr id="166" name="Google Shape;166;g3465da649cc_0_200"/>
          <p:cNvCxnSpPr/>
          <p:nvPr/>
        </p:nvCxnSpPr>
        <p:spPr>
          <a:xfrm>
            <a:off x="1769555" y="4987735"/>
            <a:ext cx="5770800" cy="0"/>
          </a:xfrm>
          <a:prstGeom prst="straightConnector1">
            <a:avLst/>
          </a:prstGeom>
          <a:noFill/>
          <a:ln w="28575" cap="flat" cmpd="sng">
            <a:solidFill>
              <a:srgbClr val="FFFFFF"/>
            </a:solidFill>
            <a:prstDash val="solid"/>
            <a:round/>
            <a:headEnd type="none" w="sm" len="sm"/>
            <a:tailEnd type="oval" w="lg" len="lg"/>
          </a:ln>
        </p:spPr>
      </p:cxnSp>
      <p:cxnSp>
        <p:nvCxnSpPr>
          <p:cNvPr id="167" name="Google Shape;167;g3465da649cc_0_200"/>
          <p:cNvCxnSpPr/>
          <p:nvPr/>
        </p:nvCxnSpPr>
        <p:spPr>
          <a:xfrm>
            <a:off x="8963078" y="5019445"/>
            <a:ext cx="5770800" cy="0"/>
          </a:xfrm>
          <a:prstGeom prst="straightConnector1">
            <a:avLst/>
          </a:prstGeom>
          <a:noFill/>
          <a:ln w="28575" cap="flat" cmpd="sng">
            <a:solidFill>
              <a:srgbClr val="FFFFFF"/>
            </a:solidFill>
            <a:prstDash val="solid"/>
            <a:round/>
            <a:headEnd type="none" w="sm" len="sm"/>
            <a:tailEnd type="oval" w="lg" len="lg"/>
          </a:ln>
        </p:spPr>
      </p:cxnSp>
      <p:grpSp>
        <p:nvGrpSpPr>
          <p:cNvPr id="168" name="Google Shape;168;g3465da649cc_0_200"/>
          <p:cNvGrpSpPr/>
          <p:nvPr/>
        </p:nvGrpSpPr>
        <p:grpSpPr>
          <a:xfrm rot="5400000">
            <a:off x="9054979" y="5727238"/>
            <a:ext cx="159959" cy="139964"/>
            <a:chOff x="0" y="0"/>
            <a:chExt cx="812800" cy="711200"/>
          </a:xfrm>
        </p:grpSpPr>
        <p:sp>
          <p:nvSpPr>
            <p:cNvPr id="169" name="Google Shape;169;g3465da649cc_0_20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EEF3FF"/>
            </a:solidFill>
            <a:ln>
              <a:noFill/>
            </a:ln>
          </p:spPr>
        </p:sp>
        <p:sp>
          <p:nvSpPr>
            <p:cNvPr id="170" name="Google Shape;170;g3465da649cc_0_200"/>
            <p:cNvSpPr txBox="1"/>
            <p:nvPr/>
          </p:nvSpPr>
          <p:spPr>
            <a:xfrm>
              <a:off x="127000" y="254000"/>
              <a:ext cx="558900" cy="406500"/>
            </a:xfrm>
            <a:prstGeom prst="rect">
              <a:avLst/>
            </a:prstGeom>
            <a:noFill/>
            <a:ln>
              <a:noFill/>
            </a:ln>
          </p:spPr>
          <p:txBody>
            <a:bodyPr spcFirstLastPara="1" wrap="square" lIns="45150" tIns="45150" rIns="45150" bIns="45150" anchor="ctr" anchorCtr="0">
              <a:noAutofit/>
            </a:bodyPr>
            <a:lstStyle/>
            <a:p>
              <a:pPr marL="0" marR="0" lvl="0" indent="0" algn="ctr" rtl="0">
                <a:lnSpc>
                  <a:spcPct val="160944"/>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1" name="Google Shape;171;g3465da649cc_0_200"/>
          <p:cNvGrpSpPr/>
          <p:nvPr/>
        </p:nvGrpSpPr>
        <p:grpSpPr>
          <a:xfrm rot="5400000">
            <a:off x="9054979" y="6166563"/>
            <a:ext cx="159959" cy="139964"/>
            <a:chOff x="0" y="0"/>
            <a:chExt cx="812800" cy="711200"/>
          </a:xfrm>
        </p:grpSpPr>
        <p:sp>
          <p:nvSpPr>
            <p:cNvPr id="172" name="Google Shape;172;g3465da649cc_0_20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EEF3FF"/>
            </a:solidFill>
            <a:ln>
              <a:noFill/>
            </a:ln>
          </p:spPr>
        </p:sp>
        <p:sp>
          <p:nvSpPr>
            <p:cNvPr id="173" name="Google Shape;173;g3465da649cc_0_200"/>
            <p:cNvSpPr txBox="1"/>
            <p:nvPr/>
          </p:nvSpPr>
          <p:spPr>
            <a:xfrm>
              <a:off x="127000" y="254000"/>
              <a:ext cx="558900" cy="406500"/>
            </a:xfrm>
            <a:prstGeom prst="rect">
              <a:avLst/>
            </a:prstGeom>
            <a:noFill/>
            <a:ln>
              <a:noFill/>
            </a:ln>
          </p:spPr>
          <p:txBody>
            <a:bodyPr spcFirstLastPara="1" wrap="square" lIns="45150" tIns="45150" rIns="45150" bIns="45150" anchor="ctr" anchorCtr="0">
              <a:noAutofit/>
            </a:bodyPr>
            <a:lstStyle/>
            <a:p>
              <a:pPr marL="0" marR="0" lvl="0" indent="0" algn="ctr" rtl="0">
                <a:lnSpc>
                  <a:spcPct val="160944"/>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4" name="Google Shape;174;g3465da649cc_0_200"/>
          <p:cNvGrpSpPr/>
          <p:nvPr/>
        </p:nvGrpSpPr>
        <p:grpSpPr>
          <a:xfrm rot="5400000">
            <a:off x="9054979" y="6579026"/>
            <a:ext cx="159959" cy="139964"/>
            <a:chOff x="0" y="0"/>
            <a:chExt cx="812800" cy="711200"/>
          </a:xfrm>
        </p:grpSpPr>
        <p:sp>
          <p:nvSpPr>
            <p:cNvPr id="175" name="Google Shape;175;g3465da649cc_0_20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EEF3FF"/>
            </a:solidFill>
            <a:ln>
              <a:noFill/>
            </a:ln>
          </p:spPr>
        </p:sp>
        <p:sp>
          <p:nvSpPr>
            <p:cNvPr id="176" name="Google Shape;176;g3465da649cc_0_200"/>
            <p:cNvSpPr txBox="1"/>
            <p:nvPr/>
          </p:nvSpPr>
          <p:spPr>
            <a:xfrm>
              <a:off x="127000" y="254000"/>
              <a:ext cx="558900" cy="406500"/>
            </a:xfrm>
            <a:prstGeom prst="rect">
              <a:avLst/>
            </a:prstGeom>
            <a:noFill/>
            <a:ln>
              <a:noFill/>
            </a:ln>
          </p:spPr>
          <p:txBody>
            <a:bodyPr spcFirstLastPara="1" wrap="square" lIns="45150" tIns="45150" rIns="45150" bIns="45150" anchor="ctr" anchorCtr="0">
              <a:noAutofit/>
            </a:bodyPr>
            <a:lstStyle/>
            <a:p>
              <a:pPr marL="0" marR="0" lvl="0" indent="0" algn="ctr" rtl="0">
                <a:lnSpc>
                  <a:spcPct val="160944"/>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7" name="Google Shape;177;g3465da649cc_0_200"/>
          <p:cNvGrpSpPr/>
          <p:nvPr/>
        </p:nvGrpSpPr>
        <p:grpSpPr>
          <a:xfrm rot="5400000">
            <a:off x="9054979" y="5304728"/>
            <a:ext cx="159959" cy="139964"/>
            <a:chOff x="0" y="0"/>
            <a:chExt cx="812800" cy="711200"/>
          </a:xfrm>
        </p:grpSpPr>
        <p:sp>
          <p:nvSpPr>
            <p:cNvPr id="178" name="Google Shape;178;g3465da649cc_0_20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EEF3FF"/>
            </a:solidFill>
            <a:ln>
              <a:noFill/>
            </a:ln>
          </p:spPr>
        </p:sp>
        <p:sp>
          <p:nvSpPr>
            <p:cNvPr id="179" name="Google Shape;179;g3465da649cc_0_200"/>
            <p:cNvSpPr txBox="1"/>
            <p:nvPr/>
          </p:nvSpPr>
          <p:spPr>
            <a:xfrm>
              <a:off x="127000" y="254000"/>
              <a:ext cx="558900" cy="406500"/>
            </a:xfrm>
            <a:prstGeom prst="rect">
              <a:avLst/>
            </a:prstGeom>
            <a:noFill/>
            <a:ln>
              <a:noFill/>
            </a:ln>
          </p:spPr>
          <p:txBody>
            <a:bodyPr spcFirstLastPara="1" wrap="square" lIns="45150" tIns="45150" rIns="45150" bIns="45150" anchor="ctr" anchorCtr="0">
              <a:noAutofit/>
            </a:bodyPr>
            <a:lstStyle/>
            <a:p>
              <a:pPr marL="0" marR="0" lvl="0" indent="0" algn="ctr" rtl="0">
                <a:lnSpc>
                  <a:spcPct val="160944"/>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204" name="Google Shape;204;g3465da649cc_0_200"/>
          <p:cNvGrpSpPr/>
          <p:nvPr/>
        </p:nvGrpSpPr>
        <p:grpSpPr>
          <a:xfrm>
            <a:off x="2089051" y="6957128"/>
            <a:ext cx="5423871" cy="381419"/>
            <a:chOff x="0" y="-9525"/>
            <a:chExt cx="8135400" cy="572100"/>
          </a:xfrm>
        </p:grpSpPr>
        <p:sp>
          <p:nvSpPr>
            <p:cNvPr id="205" name="Google Shape;205;g3465da649cc_0_200"/>
            <p:cNvSpPr/>
            <p:nvPr/>
          </p:nvSpPr>
          <p:spPr>
            <a:xfrm>
              <a:off x="0" y="0"/>
              <a:ext cx="8135320" cy="562552"/>
            </a:xfrm>
            <a:custGeom>
              <a:avLst/>
              <a:gdLst/>
              <a:ahLst/>
              <a:cxnLst/>
              <a:rect l="l" t="t" r="r" b="b"/>
              <a:pathLst>
                <a:path w="8135320" h="562552" extrusionOk="0">
                  <a:moveTo>
                    <a:pt x="0" y="0"/>
                  </a:moveTo>
                  <a:lnTo>
                    <a:pt x="8135320" y="0"/>
                  </a:lnTo>
                  <a:lnTo>
                    <a:pt x="8135320" y="562552"/>
                  </a:lnTo>
                  <a:lnTo>
                    <a:pt x="0" y="562552"/>
                  </a:lnTo>
                  <a:close/>
                </a:path>
              </a:pathLst>
            </a:custGeom>
            <a:solidFill>
              <a:srgbClr val="000000">
                <a:alpha val="0"/>
              </a:srgbClr>
            </a:solidFill>
            <a:ln>
              <a:noFill/>
            </a:ln>
          </p:spPr>
        </p:sp>
        <p:sp>
          <p:nvSpPr>
            <p:cNvPr id="206" name="Google Shape;206;g3465da649cc_0_200"/>
            <p:cNvSpPr txBox="1"/>
            <p:nvPr/>
          </p:nvSpPr>
          <p:spPr>
            <a:xfrm>
              <a:off x="0" y="-9525"/>
              <a:ext cx="8135400" cy="572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700"/>
                <a:buFont typeface="Arial"/>
                <a:buNone/>
              </a:pPr>
              <a:r>
                <a:rPr lang="en-US" sz="1700" b="0" i="0" u="none" strike="noStrike" cap="none" dirty="0">
                  <a:solidFill>
                    <a:srgbClr val="FFFFFF"/>
                  </a:solidFill>
                  <a:latin typeface="Inter"/>
                  <a:ea typeface="Inter"/>
                  <a:cs typeface="Inter"/>
                  <a:sym typeface="Inter"/>
                </a:rPr>
                <a:t>Why Us</a:t>
              </a:r>
              <a:endParaRPr sz="1200" b="0" i="0" u="none" strike="noStrike" cap="none" dirty="0">
                <a:solidFill>
                  <a:srgbClr val="000000"/>
                </a:solidFill>
                <a:latin typeface="Arial"/>
                <a:ea typeface="Arial"/>
                <a:cs typeface="Arial"/>
                <a:sym typeface="Arial"/>
              </a:endParaRPr>
            </a:p>
          </p:txBody>
        </p:sp>
      </p:grpSp>
      <p:grpSp>
        <p:nvGrpSpPr>
          <p:cNvPr id="207" name="Google Shape;207;g3465da649cc_0_200"/>
          <p:cNvGrpSpPr/>
          <p:nvPr/>
        </p:nvGrpSpPr>
        <p:grpSpPr>
          <a:xfrm>
            <a:off x="2089051" y="7383022"/>
            <a:ext cx="4295815" cy="381419"/>
            <a:chOff x="0" y="-9525"/>
            <a:chExt cx="6443400" cy="572100"/>
          </a:xfrm>
        </p:grpSpPr>
        <p:sp>
          <p:nvSpPr>
            <p:cNvPr id="208" name="Google Shape;208;g3465da649cc_0_200"/>
            <p:cNvSpPr/>
            <p:nvPr/>
          </p:nvSpPr>
          <p:spPr>
            <a:xfrm>
              <a:off x="0" y="0"/>
              <a:ext cx="6443400" cy="562552"/>
            </a:xfrm>
            <a:custGeom>
              <a:avLst/>
              <a:gdLst/>
              <a:ahLst/>
              <a:cxnLst/>
              <a:rect l="l" t="t" r="r" b="b"/>
              <a:pathLst>
                <a:path w="6443400" h="562552" extrusionOk="0">
                  <a:moveTo>
                    <a:pt x="0" y="0"/>
                  </a:moveTo>
                  <a:lnTo>
                    <a:pt x="6443400" y="0"/>
                  </a:lnTo>
                  <a:lnTo>
                    <a:pt x="6443400" y="562552"/>
                  </a:lnTo>
                  <a:lnTo>
                    <a:pt x="0" y="562552"/>
                  </a:lnTo>
                  <a:close/>
                </a:path>
              </a:pathLst>
            </a:custGeom>
            <a:solidFill>
              <a:srgbClr val="000000">
                <a:alpha val="0"/>
              </a:srgbClr>
            </a:solidFill>
            <a:ln>
              <a:noFill/>
            </a:ln>
          </p:spPr>
        </p:sp>
        <p:sp>
          <p:nvSpPr>
            <p:cNvPr id="209" name="Google Shape;209;g3465da649cc_0_200"/>
            <p:cNvSpPr txBox="1"/>
            <p:nvPr/>
          </p:nvSpPr>
          <p:spPr>
            <a:xfrm>
              <a:off x="0" y="-9525"/>
              <a:ext cx="6443400" cy="572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700"/>
                <a:buFont typeface="Arial"/>
                <a:buNone/>
              </a:pPr>
              <a:r>
                <a:rPr lang="en-US" sz="1700" b="0" i="0" u="none" strike="noStrike" cap="none">
                  <a:solidFill>
                    <a:srgbClr val="FFFFFF"/>
                  </a:solidFill>
                  <a:latin typeface="Inter"/>
                  <a:ea typeface="Inter"/>
                  <a:cs typeface="Inter"/>
                  <a:sym typeface="Inter"/>
                </a:rPr>
                <a:t>Technical Competencies</a:t>
              </a:r>
              <a:endParaRPr sz="1200" b="0" i="0" u="none" strike="noStrike" cap="none">
                <a:solidFill>
                  <a:srgbClr val="000000"/>
                </a:solidFill>
                <a:latin typeface="Arial"/>
                <a:ea typeface="Arial"/>
                <a:cs typeface="Arial"/>
                <a:sym typeface="Arial"/>
              </a:endParaRPr>
            </a:p>
          </p:txBody>
        </p:sp>
      </p:grpSp>
      <p:sp>
        <p:nvSpPr>
          <p:cNvPr id="216" name="Google Shape;216;g3465da649cc_0_200"/>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b="-8"/>
            </a:stretch>
          </a:blipFill>
          <a:ln>
            <a:noFill/>
          </a:ln>
        </p:spPr>
      </p:sp>
      <p:cxnSp>
        <p:nvCxnSpPr>
          <p:cNvPr id="217" name="Google Shape;217;g3465da649cc_0_200"/>
          <p:cNvCxnSpPr/>
          <p:nvPr/>
        </p:nvCxnSpPr>
        <p:spPr>
          <a:xfrm>
            <a:off x="1647250" y="8527867"/>
            <a:ext cx="12900" cy="432300"/>
          </a:xfrm>
          <a:prstGeom prst="straightConnector1">
            <a:avLst/>
          </a:prstGeom>
          <a:noFill/>
          <a:ln w="9525" cap="rnd" cmpd="sng">
            <a:solidFill>
              <a:srgbClr val="808080"/>
            </a:solidFill>
            <a:prstDash val="solid"/>
            <a:round/>
            <a:headEnd type="none" w="sm" len="sm"/>
            <a:tailEnd type="none" w="sm" len="sm"/>
          </a:ln>
        </p:spPr>
      </p:cxnSp>
      <p:grpSp>
        <p:nvGrpSpPr>
          <p:cNvPr id="218" name="Google Shape;218;g3465da649cc_0_200"/>
          <p:cNvGrpSpPr/>
          <p:nvPr/>
        </p:nvGrpSpPr>
        <p:grpSpPr>
          <a:xfrm>
            <a:off x="872534" y="8351050"/>
            <a:ext cx="846442" cy="699635"/>
            <a:chOff x="0" y="0"/>
            <a:chExt cx="1269600" cy="1049400"/>
          </a:xfrm>
        </p:grpSpPr>
        <p:sp>
          <p:nvSpPr>
            <p:cNvPr id="219" name="Google Shape;219;g3465da649cc_0_200"/>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220" name="Google Shape;220;g3465da649cc_0_200"/>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19968"/>
                </a:lnSpc>
                <a:spcBef>
                  <a:spcPts val="0"/>
                </a:spcBef>
                <a:spcAft>
                  <a:spcPts val="0"/>
                </a:spcAft>
                <a:buClr>
                  <a:srgbClr val="000000"/>
                </a:buClr>
                <a:buSzPts val="2800"/>
                <a:buFont typeface="Arial"/>
                <a:buNone/>
              </a:pPr>
              <a:r>
                <a:rPr lang="en-US" sz="2800" b="0" i="0" u="none" strike="noStrike" cap="none">
                  <a:solidFill>
                    <a:srgbClr val="666666"/>
                  </a:solidFill>
                  <a:latin typeface="Inter"/>
                  <a:ea typeface="Inter"/>
                  <a:cs typeface="Inter"/>
                  <a:sym typeface="Inter"/>
                </a:rPr>
                <a:t>01</a:t>
              </a:r>
              <a:endParaRPr sz="1200" b="0" i="0" u="none" strike="noStrike" cap="none">
                <a:solidFill>
                  <a:srgbClr val="000000"/>
                </a:solidFill>
                <a:latin typeface="Arial"/>
                <a:ea typeface="Arial"/>
                <a:cs typeface="Arial"/>
                <a:sym typeface="Arial"/>
              </a:endParaRPr>
            </a:p>
          </p:txBody>
        </p:sp>
      </p:grpSp>
      <p:grpSp>
        <p:nvGrpSpPr>
          <p:cNvPr id="221" name="Google Shape;221;g3465da649cc_0_200"/>
          <p:cNvGrpSpPr/>
          <p:nvPr/>
        </p:nvGrpSpPr>
        <p:grpSpPr>
          <a:xfrm>
            <a:off x="1769555" y="8560966"/>
            <a:ext cx="5353468" cy="296215"/>
            <a:chOff x="0" y="-9525"/>
            <a:chExt cx="8029800" cy="444300"/>
          </a:xfrm>
        </p:grpSpPr>
        <p:sp>
          <p:nvSpPr>
            <p:cNvPr id="222" name="Google Shape;222;g3465da649cc_0_200"/>
            <p:cNvSpPr/>
            <p:nvPr/>
          </p:nvSpPr>
          <p:spPr>
            <a:xfrm>
              <a:off x="0" y="0"/>
              <a:ext cx="8029800" cy="434687"/>
            </a:xfrm>
            <a:custGeom>
              <a:avLst/>
              <a:gdLst/>
              <a:ahLst/>
              <a:cxnLst/>
              <a:rect l="l" t="t" r="r" b="b"/>
              <a:pathLst>
                <a:path w="8029800" h="434687" extrusionOk="0">
                  <a:moveTo>
                    <a:pt x="0" y="0"/>
                  </a:moveTo>
                  <a:lnTo>
                    <a:pt x="8029800" y="0"/>
                  </a:lnTo>
                  <a:lnTo>
                    <a:pt x="8029800" y="434687"/>
                  </a:lnTo>
                  <a:lnTo>
                    <a:pt x="0" y="434687"/>
                  </a:lnTo>
                  <a:close/>
                </a:path>
              </a:pathLst>
            </a:custGeom>
            <a:solidFill>
              <a:srgbClr val="000000">
                <a:alpha val="0"/>
              </a:srgbClr>
            </a:solidFill>
            <a:ln>
              <a:noFill/>
            </a:ln>
          </p:spPr>
        </p:sp>
        <p:sp>
          <p:nvSpPr>
            <p:cNvPr id="223" name="Google Shape;223;g3465da649cc_0_200"/>
            <p:cNvSpPr txBox="1"/>
            <p:nvPr/>
          </p:nvSpPr>
          <p:spPr>
            <a:xfrm>
              <a:off x="0" y="-9525"/>
              <a:ext cx="8029800" cy="444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300"/>
                <a:buFont typeface="Arial"/>
                <a:buNone/>
              </a:pPr>
              <a:r>
                <a:rPr lang="en-US" sz="1300" b="0" i="0" u="none" strike="noStrike" cap="none">
                  <a:solidFill>
                    <a:srgbClr val="808080"/>
                  </a:solidFill>
                  <a:latin typeface="Inter"/>
                  <a:ea typeface="Inter"/>
                  <a:cs typeface="Inter"/>
                  <a:sym typeface="Inter"/>
                </a:rPr>
                <a:t>Copyright © 2025 VTI All rights reserved</a:t>
              </a:r>
              <a:endParaRPr sz="1200" b="0" i="0" u="none" strike="noStrike" cap="none">
                <a:solidFill>
                  <a:srgbClr val="000000"/>
                </a:solidFill>
                <a:latin typeface="Arial"/>
                <a:ea typeface="Arial"/>
                <a:cs typeface="Arial"/>
                <a:sym typeface="Arial"/>
              </a:endParaRPr>
            </a:p>
          </p:txBody>
        </p:sp>
      </p:grpSp>
      <p:sp>
        <p:nvSpPr>
          <p:cNvPr id="224" name="Google Shape;224;g3465da649cc_0_200"/>
          <p:cNvSpPr txBox="1"/>
          <p:nvPr/>
        </p:nvSpPr>
        <p:spPr>
          <a:xfrm>
            <a:off x="6799132" y="4549825"/>
            <a:ext cx="452223" cy="441022"/>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2000"/>
              <a:buFont typeface="Arial"/>
              <a:buNone/>
            </a:pPr>
            <a:r>
              <a:rPr lang="en-US" sz="2000" b="1" i="0" u="none" strike="noStrike" cap="none">
                <a:solidFill>
                  <a:srgbClr val="FFFFFF"/>
                </a:solidFill>
                <a:latin typeface="Inter"/>
                <a:ea typeface="Inter"/>
                <a:cs typeface="Inter"/>
                <a:sym typeface="Inter"/>
              </a:rPr>
              <a:t>02</a:t>
            </a:r>
            <a:endParaRPr sz="1200" b="0" i="0" u="none" strike="noStrike" cap="none">
              <a:solidFill>
                <a:srgbClr val="000000"/>
              </a:solidFill>
              <a:latin typeface="Arial"/>
              <a:ea typeface="Arial"/>
              <a:cs typeface="Arial"/>
              <a:sym typeface="Arial"/>
            </a:endParaRPr>
          </a:p>
        </p:txBody>
      </p:sp>
      <p:sp>
        <p:nvSpPr>
          <p:cNvPr id="230" name="Google Shape;230;g3465da649cc_0_200"/>
          <p:cNvSpPr txBox="1"/>
          <p:nvPr/>
        </p:nvSpPr>
        <p:spPr>
          <a:xfrm>
            <a:off x="4970969" y="7306525"/>
            <a:ext cx="2241000" cy="3813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1700"/>
              <a:buFont typeface="Arial"/>
              <a:buNone/>
            </a:pPr>
            <a:r>
              <a:rPr lang="en-US" sz="1700" b="0" i="0" u="none" strike="noStrike" cap="none" dirty="0">
                <a:solidFill>
                  <a:srgbClr val="FFFFFF"/>
                </a:solidFill>
                <a:latin typeface="Inter"/>
                <a:ea typeface="Inter"/>
                <a:cs typeface="Inter"/>
                <a:sym typeface="Inter"/>
              </a:rPr>
              <a:t>11</a:t>
            </a:r>
            <a:endParaRPr sz="1200" b="0" i="0" u="none" strike="noStrike" cap="none" dirty="0">
              <a:solidFill>
                <a:srgbClr val="000000"/>
              </a:solidFill>
              <a:latin typeface="Arial"/>
              <a:ea typeface="Arial"/>
              <a:cs typeface="Arial"/>
              <a:sym typeface="Arial"/>
            </a:endParaRPr>
          </a:p>
        </p:txBody>
      </p:sp>
      <p:sp>
        <p:nvSpPr>
          <p:cNvPr id="231" name="Google Shape;231;g3465da649cc_0_200"/>
          <p:cNvSpPr txBox="1"/>
          <p:nvPr/>
        </p:nvSpPr>
        <p:spPr>
          <a:xfrm>
            <a:off x="12264494" y="5190588"/>
            <a:ext cx="2241000" cy="3813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1700"/>
              <a:buFont typeface="Arial"/>
              <a:buNone/>
            </a:pPr>
            <a:r>
              <a:rPr lang="en-US" sz="1700" b="0" i="0" u="none" strike="noStrike" cap="none">
                <a:solidFill>
                  <a:srgbClr val="FFFFFF"/>
                </a:solidFill>
                <a:latin typeface="Inter"/>
                <a:ea typeface="Inter"/>
                <a:cs typeface="Inter"/>
                <a:sym typeface="Inter"/>
              </a:rPr>
              <a:t>14</a:t>
            </a:r>
            <a:endParaRPr sz="1200" b="0" i="0" u="none" strike="noStrike" cap="none">
              <a:solidFill>
                <a:srgbClr val="000000"/>
              </a:solidFill>
              <a:latin typeface="Arial"/>
              <a:ea typeface="Arial"/>
              <a:cs typeface="Arial"/>
              <a:sym typeface="Arial"/>
            </a:endParaRPr>
          </a:p>
        </p:txBody>
      </p:sp>
      <p:sp>
        <p:nvSpPr>
          <p:cNvPr id="232" name="Google Shape;232;g3465da649cc_0_200"/>
          <p:cNvSpPr txBox="1"/>
          <p:nvPr/>
        </p:nvSpPr>
        <p:spPr>
          <a:xfrm>
            <a:off x="14053407" y="4559700"/>
            <a:ext cx="452100" cy="4410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2000"/>
              <a:buFont typeface="Arial"/>
              <a:buNone/>
            </a:pPr>
            <a:r>
              <a:rPr lang="en-US" sz="2000" b="1" i="0" u="none" strike="noStrike" cap="none">
                <a:solidFill>
                  <a:srgbClr val="FFFFFF"/>
                </a:solidFill>
                <a:latin typeface="Inter"/>
                <a:ea typeface="Inter"/>
                <a:cs typeface="Inter"/>
                <a:sym typeface="Inter"/>
              </a:rPr>
              <a:t>12</a:t>
            </a:r>
            <a:endParaRPr sz="1200" b="0" i="0" u="none" strike="noStrike" cap="none">
              <a:solidFill>
                <a:srgbClr val="000000"/>
              </a:solidFill>
              <a:latin typeface="Arial"/>
              <a:ea typeface="Arial"/>
              <a:cs typeface="Arial"/>
              <a:sym typeface="Arial"/>
            </a:endParaRPr>
          </a:p>
        </p:txBody>
      </p:sp>
      <p:sp>
        <p:nvSpPr>
          <p:cNvPr id="233" name="Google Shape;233;g3465da649cc_0_200"/>
          <p:cNvSpPr txBox="1"/>
          <p:nvPr/>
        </p:nvSpPr>
        <p:spPr>
          <a:xfrm>
            <a:off x="14053407" y="7166560"/>
            <a:ext cx="452100" cy="4410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2000"/>
              <a:buFont typeface="Arial"/>
              <a:buNone/>
            </a:pPr>
            <a:r>
              <a:rPr lang="en-US" sz="2000" b="1" i="0" u="none" strike="noStrike" cap="none" dirty="0">
                <a:solidFill>
                  <a:srgbClr val="FFFFFF"/>
                </a:solidFill>
                <a:latin typeface="Inter"/>
                <a:ea typeface="Inter"/>
                <a:cs typeface="Inter"/>
                <a:sym typeface="Inter"/>
              </a:rPr>
              <a:t>21</a:t>
            </a:r>
            <a:endParaRPr sz="1200" b="0" i="0" u="none" strike="noStrike" cap="none" dirty="0">
              <a:solidFill>
                <a:srgbClr val="000000"/>
              </a:solidFill>
              <a:latin typeface="Arial"/>
              <a:ea typeface="Arial"/>
              <a:cs typeface="Arial"/>
              <a:sym typeface="Arial"/>
            </a:endParaRPr>
          </a:p>
        </p:txBody>
      </p:sp>
      <p:sp>
        <p:nvSpPr>
          <p:cNvPr id="234" name="Google Shape;234;g3465da649cc_0_200"/>
          <p:cNvSpPr txBox="1"/>
          <p:nvPr/>
        </p:nvSpPr>
        <p:spPr>
          <a:xfrm>
            <a:off x="12264494" y="5607088"/>
            <a:ext cx="2241000" cy="3813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1700"/>
              <a:buFont typeface="Arial"/>
              <a:buNone/>
            </a:pPr>
            <a:r>
              <a:rPr lang="en-US" sz="1700" b="0" i="0" u="none" strike="noStrike" cap="none">
                <a:solidFill>
                  <a:srgbClr val="FFFFFF"/>
                </a:solidFill>
                <a:latin typeface="Inter"/>
                <a:ea typeface="Inter"/>
                <a:cs typeface="Inter"/>
                <a:sym typeface="Inter"/>
              </a:rPr>
              <a:t>18</a:t>
            </a:r>
            <a:endParaRPr sz="1200" b="0" i="0" u="none" strike="noStrike" cap="none">
              <a:solidFill>
                <a:srgbClr val="000000"/>
              </a:solidFill>
              <a:latin typeface="Arial"/>
              <a:ea typeface="Arial"/>
              <a:cs typeface="Arial"/>
              <a:sym typeface="Arial"/>
            </a:endParaRPr>
          </a:p>
        </p:txBody>
      </p:sp>
      <p:sp>
        <p:nvSpPr>
          <p:cNvPr id="235" name="Google Shape;235;g3465da649cc_0_200"/>
          <p:cNvSpPr txBox="1"/>
          <p:nvPr/>
        </p:nvSpPr>
        <p:spPr>
          <a:xfrm>
            <a:off x="12264494" y="6013338"/>
            <a:ext cx="2241000" cy="3813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1700"/>
              <a:buFont typeface="Arial"/>
              <a:buNone/>
            </a:pPr>
            <a:r>
              <a:rPr lang="en-US" sz="1700" b="0" i="0" u="none" strike="noStrike" cap="none">
                <a:solidFill>
                  <a:srgbClr val="FFFFFF"/>
                </a:solidFill>
                <a:latin typeface="Inter"/>
                <a:ea typeface="Inter"/>
                <a:cs typeface="Inter"/>
                <a:sym typeface="Inter"/>
              </a:rPr>
              <a:t>19</a:t>
            </a:r>
            <a:endParaRPr sz="1200" b="0" i="0" u="none" strike="noStrike" cap="none">
              <a:solidFill>
                <a:srgbClr val="000000"/>
              </a:solidFill>
              <a:latin typeface="Arial"/>
              <a:ea typeface="Arial"/>
              <a:cs typeface="Arial"/>
              <a:sym typeface="Arial"/>
            </a:endParaRPr>
          </a:p>
        </p:txBody>
      </p:sp>
      <p:sp>
        <p:nvSpPr>
          <p:cNvPr id="236" name="Google Shape;236;g3465da649cc_0_200"/>
          <p:cNvSpPr txBox="1"/>
          <p:nvPr/>
        </p:nvSpPr>
        <p:spPr>
          <a:xfrm>
            <a:off x="12264494" y="6470838"/>
            <a:ext cx="2241000" cy="3813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1700"/>
              <a:buFont typeface="Arial"/>
              <a:buNone/>
            </a:pPr>
            <a:r>
              <a:rPr lang="en-US" sz="1700" b="0" i="0" u="none" strike="noStrike" cap="none">
                <a:solidFill>
                  <a:srgbClr val="FFFFFF"/>
                </a:solidFill>
                <a:latin typeface="Inter"/>
                <a:ea typeface="Inter"/>
                <a:cs typeface="Inter"/>
                <a:sym typeface="Inter"/>
              </a:rPr>
              <a:t>20</a:t>
            </a:r>
            <a:endParaRPr sz="1200" b="0" i="0" u="none" strike="noStrike" cap="none">
              <a:solidFill>
                <a:srgbClr val="000000"/>
              </a:solidFill>
              <a:latin typeface="Arial"/>
              <a:ea typeface="Arial"/>
              <a:cs typeface="Arial"/>
              <a:sym typeface="Arial"/>
            </a:endParaRPr>
          </a:p>
        </p:txBody>
      </p:sp>
      <p:grpSp>
        <p:nvGrpSpPr>
          <p:cNvPr id="7" name="Group 6">
            <a:extLst>
              <a:ext uri="{FF2B5EF4-FFF2-40B4-BE49-F238E27FC236}">
                <a16:creationId xmlns:a16="http://schemas.microsoft.com/office/drawing/2014/main" id="{2C272ECF-8178-8577-4034-18F80F1A86F9}"/>
              </a:ext>
            </a:extLst>
          </p:cNvPr>
          <p:cNvGrpSpPr/>
          <p:nvPr/>
        </p:nvGrpSpPr>
        <p:grpSpPr>
          <a:xfrm>
            <a:off x="1835149" y="5252300"/>
            <a:ext cx="5416195" cy="2328415"/>
            <a:chOff x="1835149" y="5252300"/>
            <a:chExt cx="5416195" cy="2328415"/>
          </a:xfrm>
        </p:grpSpPr>
        <p:grpSp>
          <p:nvGrpSpPr>
            <p:cNvPr id="180" name="Google Shape;180;g3465da649cc_0_200"/>
            <p:cNvGrpSpPr/>
            <p:nvPr/>
          </p:nvGrpSpPr>
          <p:grpSpPr>
            <a:xfrm>
              <a:off x="2116894" y="5252300"/>
              <a:ext cx="2241015" cy="381419"/>
              <a:chOff x="0" y="-9525"/>
              <a:chExt cx="6443400" cy="572100"/>
            </a:xfrm>
          </p:grpSpPr>
          <p:sp>
            <p:nvSpPr>
              <p:cNvPr id="181" name="Google Shape;181;g3465da649cc_0_200"/>
              <p:cNvSpPr/>
              <p:nvPr/>
            </p:nvSpPr>
            <p:spPr>
              <a:xfrm>
                <a:off x="0" y="0"/>
                <a:ext cx="6443400" cy="562552"/>
              </a:xfrm>
              <a:custGeom>
                <a:avLst/>
                <a:gdLst/>
                <a:ahLst/>
                <a:cxnLst/>
                <a:rect l="l" t="t" r="r" b="b"/>
                <a:pathLst>
                  <a:path w="6443400" h="562552" extrusionOk="0">
                    <a:moveTo>
                      <a:pt x="0" y="0"/>
                    </a:moveTo>
                    <a:lnTo>
                      <a:pt x="6443400" y="0"/>
                    </a:lnTo>
                    <a:lnTo>
                      <a:pt x="6443400" y="562552"/>
                    </a:lnTo>
                    <a:lnTo>
                      <a:pt x="0" y="562552"/>
                    </a:lnTo>
                    <a:close/>
                  </a:path>
                </a:pathLst>
              </a:custGeom>
              <a:solidFill>
                <a:srgbClr val="000000">
                  <a:alpha val="0"/>
                </a:srgbClr>
              </a:solidFill>
              <a:ln>
                <a:noFill/>
              </a:ln>
            </p:spPr>
          </p:sp>
          <p:sp>
            <p:nvSpPr>
              <p:cNvPr id="182" name="Google Shape;182;g3465da649cc_0_200"/>
              <p:cNvSpPr txBox="1"/>
              <p:nvPr/>
            </p:nvSpPr>
            <p:spPr>
              <a:xfrm>
                <a:off x="0" y="-9525"/>
                <a:ext cx="6443400" cy="572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700"/>
                  <a:buFont typeface="Arial"/>
                  <a:buNone/>
                </a:pPr>
                <a:r>
                  <a:rPr lang="en-US" sz="1700" b="0" i="0" u="none" strike="noStrike" cap="none">
                    <a:solidFill>
                      <a:srgbClr val="FFFFFF"/>
                    </a:solidFill>
                    <a:latin typeface="Inter"/>
                    <a:ea typeface="Inter"/>
                    <a:cs typeface="Inter"/>
                    <a:sym typeface="Inter"/>
                  </a:rPr>
                  <a:t>Our ecosystem</a:t>
                </a:r>
                <a:endParaRPr sz="1200" b="0" i="0" u="none" strike="noStrike" cap="none">
                  <a:solidFill>
                    <a:srgbClr val="000000"/>
                  </a:solidFill>
                  <a:latin typeface="Arial"/>
                  <a:ea typeface="Arial"/>
                  <a:cs typeface="Arial"/>
                  <a:sym typeface="Arial"/>
                </a:endParaRPr>
              </a:p>
            </p:txBody>
          </p:sp>
        </p:grpSp>
        <p:grpSp>
          <p:nvGrpSpPr>
            <p:cNvPr id="186" name="Google Shape;186;g3465da649cc_0_200"/>
            <p:cNvGrpSpPr/>
            <p:nvPr/>
          </p:nvGrpSpPr>
          <p:grpSpPr>
            <a:xfrm>
              <a:off x="2116888" y="5655233"/>
              <a:ext cx="2557128" cy="381419"/>
              <a:chOff x="0" y="-9525"/>
              <a:chExt cx="3835500" cy="572100"/>
            </a:xfrm>
          </p:grpSpPr>
          <p:sp>
            <p:nvSpPr>
              <p:cNvPr id="187" name="Google Shape;187;g3465da649cc_0_200"/>
              <p:cNvSpPr/>
              <p:nvPr/>
            </p:nvSpPr>
            <p:spPr>
              <a:xfrm>
                <a:off x="0" y="0"/>
                <a:ext cx="3835500" cy="562552"/>
              </a:xfrm>
              <a:custGeom>
                <a:avLst/>
                <a:gdLst/>
                <a:ahLst/>
                <a:cxnLst/>
                <a:rect l="l" t="t" r="r" b="b"/>
                <a:pathLst>
                  <a:path w="3835500" h="562552" extrusionOk="0">
                    <a:moveTo>
                      <a:pt x="0" y="0"/>
                    </a:moveTo>
                    <a:lnTo>
                      <a:pt x="3835500" y="0"/>
                    </a:lnTo>
                    <a:lnTo>
                      <a:pt x="3835500" y="562552"/>
                    </a:lnTo>
                    <a:lnTo>
                      <a:pt x="0" y="562552"/>
                    </a:lnTo>
                    <a:close/>
                  </a:path>
                </a:pathLst>
              </a:custGeom>
              <a:solidFill>
                <a:srgbClr val="000000">
                  <a:alpha val="0"/>
                </a:srgbClr>
              </a:solidFill>
              <a:ln>
                <a:noFill/>
              </a:ln>
            </p:spPr>
          </p:sp>
          <p:sp>
            <p:nvSpPr>
              <p:cNvPr id="188" name="Google Shape;188;g3465da649cc_0_200"/>
              <p:cNvSpPr txBox="1"/>
              <p:nvPr/>
            </p:nvSpPr>
            <p:spPr>
              <a:xfrm>
                <a:off x="0" y="-9525"/>
                <a:ext cx="3835500" cy="572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700"/>
                  <a:buFont typeface="Arial"/>
                  <a:buNone/>
                </a:pPr>
                <a:r>
                  <a:rPr lang="en-US" sz="1700" b="0" i="0" u="none" strike="noStrike" cap="none" dirty="0">
                    <a:solidFill>
                      <a:srgbClr val="FFFFFF"/>
                    </a:solidFill>
                    <a:latin typeface="Inter"/>
                    <a:ea typeface="Inter"/>
                    <a:cs typeface="Inter"/>
                    <a:sym typeface="Inter"/>
                  </a:rPr>
                  <a:t>International Standard </a:t>
                </a:r>
                <a:endParaRPr sz="1200" b="0" i="0" u="none" strike="noStrike" cap="none" dirty="0">
                  <a:solidFill>
                    <a:srgbClr val="000000"/>
                  </a:solidFill>
                  <a:latin typeface="Arial"/>
                  <a:ea typeface="Arial"/>
                  <a:cs typeface="Arial"/>
                  <a:sym typeface="Arial"/>
                </a:endParaRPr>
              </a:p>
            </p:txBody>
          </p:sp>
        </p:grpSp>
        <p:sp>
          <p:nvSpPr>
            <p:cNvPr id="190" name="Google Shape;190;g3465da649cc_0_200"/>
            <p:cNvSpPr/>
            <p:nvPr/>
          </p:nvSpPr>
          <p:spPr>
            <a:xfrm>
              <a:off x="2116888" y="6087476"/>
              <a:ext cx="4295815" cy="375053"/>
            </a:xfrm>
            <a:custGeom>
              <a:avLst/>
              <a:gdLst/>
              <a:ahLst/>
              <a:cxnLst/>
              <a:rect l="l" t="t" r="r" b="b"/>
              <a:pathLst>
                <a:path w="6443400" h="562552" extrusionOk="0">
                  <a:moveTo>
                    <a:pt x="0" y="0"/>
                  </a:moveTo>
                  <a:lnTo>
                    <a:pt x="6443400" y="0"/>
                  </a:lnTo>
                  <a:lnTo>
                    <a:pt x="6443400" y="562552"/>
                  </a:lnTo>
                  <a:lnTo>
                    <a:pt x="0" y="562552"/>
                  </a:lnTo>
                  <a:close/>
                </a:path>
              </a:pathLst>
            </a:custGeom>
            <a:solidFill>
              <a:srgbClr val="000000">
                <a:alpha val="0"/>
              </a:srgbClr>
            </a:solidFill>
            <a:ln>
              <a:noFill/>
            </a:ln>
          </p:spPr>
        </p:sp>
        <p:sp>
          <p:nvSpPr>
            <p:cNvPr id="191" name="Google Shape;191;g3465da649cc_0_200"/>
            <p:cNvSpPr txBox="1"/>
            <p:nvPr/>
          </p:nvSpPr>
          <p:spPr>
            <a:xfrm>
              <a:off x="2116888" y="6081126"/>
              <a:ext cx="4295815" cy="38141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700"/>
                <a:buFont typeface="Arial"/>
                <a:buNone/>
              </a:pPr>
              <a:r>
                <a:rPr lang="en-US" sz="1700" b="0" i="0" u="none" strike="noStrike" cap="none" dirty="0">
                  <a:solidFill>
                    <a:srgbClr val="FFFFFF"/>
                  </a:solidFill>
                  <a:latin typeface="Inter"/>
                  <a:ea typeface="Inter"/>
                  <a:cs typeface="Inter"/>
                  <a:sym typeface="Inter"/>
                </a:rPr>
                <a:t>Partner</a:t>
              </a:r>
              <a:endParaRPr sz="1200" b="0" i="0" u="none" strike="noStrike" cap="none" dirty="0">
                <a:solidFill>
                  <a:srgbClr val="000000"/>
                </a:solidFill>
                <a:latin typeface="Arial"/>
                <a:ea typeface="Arial"/>
                <a:cs typeface="Arial"/>
                <a:sym typeface="Arial"/>
              </a:endParaRPr>
            </a:p>
          </p:txBody>
        </p:sp>
        <p:grpSp>
          <p:nvGrpSpPr>
            <p:cNvPr id="192" name="Google Shape;192;g3465da649cc_0_200"/>
            <p:cNvGrpSpPr/>
            <p:nvPr/>
          </p:nvGrpSpPr>
          <p:grpSpPr>
            <a:xfrm rot="5400000">
              <a:off x="1852989" y="5727238"/>
              <a:ext cx="159959" cy="139964"/>
              <a:chOff x="0" y="0"/>
              <a:chExt cx="812800" cy="711200"/>
            </a:xfrm>
          </p:grpSpPr>
          <p:sp>
            <p:nvSpPr>
              <p:cNvPr id="193" name="Google Shape;193;g3465da649cc_0_20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EEF3FF"/>
              </a:solidFill>
              <a:ln>
                <a:noFill/>
              </a:ln>
            </p:spPr>
          </p:sp>
          <p:sp>
            <p:nvSpPr>
              <p:cNvPr id="194" name="Google Shape;194;g3465da649cc_0_200"/>
              <p:cNvSpPr txBox="1"/>
              <p:nvPr/>
            </p:nvSpPr>
            <p:spPr>
              <a:xfrm>
                <a:off x="127000" y="254000"/>
                <a:ext cx="558900" cy="406500"/>
              </a:xfrm>
              <a:prstGeom prst="rect">
                <a:avLst/>
              </a:prstGeom>
              <a:noFill/>
              <a:ln>
                <a:noFill/>
              </a:ln>
            </p:spPr>
            <p:txBody>
              <a:bodyPr spcFirstLastPara="1" wrap="square" lIns="45150" tIns="45150" rIns="45150" bIns="45150" anchor="ctr" anchorCtr="0">
                <a:noAutofit/>
              </a:bodyPr>
              <a:lstStyle/>
              <a:p>
                <a:pPr marL="0" marR="0" lvl="0" indent="0" algn="ctr" rtl="0">
                  <a:lnSpc>
                    <a:spcPct val="160944"/>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95" name="Google Shape;195;g3465da649cc_0_200"/>
            <p:cNvGrpSpPr/>
            <p:nvPr/>
          </p:nvGrpSpPr>
          <p:grpSpPr>
            <a:xfrm rot="5400000">
              <a:off x="1852989" y="6166563"/>
              <a:ext cx="159959" cy="139964"/>
              <a:chOff x="0" y="0"/>
              <a:chExt cx="812800" cy="711200"/>
            </a:xfrm>
          </p:grpSpPr>
          <p:sp>
            <p:nvSpPr>
              <p:cNvPr id="196" name="Google Shape;196;g3465da649cc_0_20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EEF3FF"/>
              </a:solidFill>
              <a:ln>
                <a:noFill/>
              </a:ln>
            </p:spPr>
          </p:sp>
          <p:sp>
            <p:nvSpPr>
              <p:cNvPr id="197" name="Google Shape;197;g3465da649cc_0_200"/>
              <p:cNvSpPr txBox="1"/>
              <p:nvPr/>
            </p:nvSpPr>
            <p:spPr>
              <a:xfrm>
                <a:off x="127000" y="254000"/>
                <a:ext cx="558900" cy="406500"/>
              </a:xfrm>
              <a:prstGeom prst="rect">
                <a:avLst/>
              </a:prstGeom>
              <a:noFill/>
              <a:ln>
                <a:noFill/>
              </a:ln>
            </p:spPr>
            <p:txBody>
              <a:bodyPr spcFirstLastPara="1" wrap="square" lIns="45150" tIns="45150" rIns="45150" bIns="45150" anchor="ctr" anchorCtr="0">
                <a:noAutofit/>
              </a:bodyPr>
              <a:lstStyle/>
              <a:p>
                <a:pPr marL="0" marR="0" lvl="0" indent="0" algn="ctr" rtl="0">
                  <a:lnSpc>
                    <a:spcPct val="160944"/>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98" name="Google Shape;198;g3465da649cc_0_200"/>
            <p:cNvGrpSpPr/>
            <p:nvPr/>
          </p:nvGrpSpPr>
          <p:grpSpPr>
            <a:xfrm rot="5400000">
              <a:off x="1852989" y="6579026"/>
              <a:ext cx="159959" cy="139964"/>
              <a:chOff x="0" y="0"/>
              <a:chExt cx="812800" cy="711200"/>
            </a:xfrm>
          </p:grpSpPr>
          <p:sp>
            <p:nvSpPr>
              <p:cNvPr id="199" name="Google Shape;199;g3465da649cc_0_20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EEF3FF"/>
              </a:solidFill>
              <a:ln>
                <a:noFill/>
              </a:ln>
            </p:spPr>
          </p:sp>
          <p:sp>
            <p:nvSpPr>
              <p:cNvPr id="200" name="Google Shape;200;g3465da649cc_0_200"/>
              <p:cNvSpPr txBox="1"/>
              <p:nvPr/>
            </p:nvSpPr>
            <p:spPr>
              <a:xfrm>
                <a:off x="127000" y="254000"/>
                <a:ext cx="558900" cy="406500"/>
              </a:xfrm>
              <a:prstGeom prst="rect">
                <a:avLst/>
              </a:prstGeom>
              <a:noFill/>
              <a:ln>
                <a:noFill/>
              </a:ln>
            </p:spPr>
            <p:txBody>
              <a:bodyPr spcFirstLastPara="1" wrap="square" lIns="45150" tIns="45150" rIns="45150" bIns="45150" anchor="ctr" anchorCtr="0">
                <a:noAutofit/>
              </a:bodyPr>
              <a:lstStyle/>
              <a:p>
                <a:pPr marL="0" marR="0" lvl="0" indent="0" algn="ctr" rtl="0">
                  <a:lnSpc>
                    <a:spcPct val="160944"/>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201" name="Google Shape;201;g3465da649cc_0_200"/>
            <p:cNvGrpSpPr/>
            <p:nvPr/>
          </p:nvGrpSpPr>
          <p:grpSpPr>
            <a:xfrm rot="5400000">
              <a:off x="1852989" y="5304728"/>
              <a:ext cx="159959" cy="139964"/>
              <a:chOff x="0" y="0"/>
              <a:chExt cx="812800" cy="711200"/>
            </a:xfrm>
          </p:grpSpPr>
          <p:sp>
            <p:nvSpPr>
              <p:cNvPr id="202" name="Google Shape;202;g3465da649cc_0_20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EEF3FF"/>
              </a:solidFill>
              <a:ln>
                <a:noFill/>
              </a:ln>
            </p:spPr>
          </p:sp>
          <p:sp>
            <p:nvSpPr>
              <p:cNvPr id="203" name="Google Shape;203;g3465da649cc_0_200"/>
              <p:cNvSpPr txBox="1"/>
              <p:nvPr/>
            </p:nvSpPr>
            <p:spPr>
              <a:xfrm>
                <a:off x="127000" y="254000"/>
                <a:ext cx="558900" cy="406500"/>
              </a:xfrm>
              <a:prstGeom prst="rect">
                <a:avLst/>
              </a:prstGeom>
              <a:noFill/>
              <a:ln>
                <a:noFill/>
              </a:ln>
            </p:spPr>
            <p:txBody>
              <a:bodyPr spcFirstLastPara="1" wrap="square" lIns="45150" tIns="45150" rIns="45150" bIns="45150" anchor="ctr" anchorCtr="0">
                <a:noAutofit/>
              </a:bodyPr>
              <a:lstStyle/>
              <a:p>
                <a:pPr marL="0" marR="0" lvl="0" indent="0" algn="ctr" rtl="0">
                  <a:lnSpc>
                    <a:spcPct val="160944"/>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210" name="Google Shape;210;g3465da649cc_0_200"/>
            <p:cNvGrpSpPr/>
            <p:nvPr/>
          </p:nvGrpSpPr>
          <p:grpSpPr>
            <a:xfrm rot="5400000">
              <a:off x="1825151" y="7018291"/>
              <a:ext cx="159959" cy="139964"/>
              <a:chOff x="0" y="0"/>
              <a:chExt cx="812800" cy="711200"/>
            </a:xfrm>
          </p:grpSpPr>
          <p:sp>
            <p:nvSpPr>
              <p:cNvPr id="211" name="Google Shape;211;g3465da649cc_0_20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EEF3FF"/>
              </a:solidFill>
              <a:ln>
                <a:noFill/>
              </a:ln>
            </p:spPr>
          </p:sp>
          <p:sp>
            <p:nvSpPr>
              <p:cNvPr id="212" name="Google Shape;212;g3465da649cc_0_200"/>
              <p:cNvSpPr txBox="1"/>
              <p:nvPr/>
            </p:nvSpPr>
            <p:spPr>
              <a:xfrm>
                <a:off x="127000" y="254000"/>
                <a:ext cx="558900" cy="406500"/>
              </a:xfrm>
              <a:prstGeom prst="rect">
                <a:avLst/>
              </a:prstGeom>
              <a:noFill/>
              <a:ln>
                <a:noFill/>
              </a:ln>
            </p:spPr>
            <p:txBody>
              <a:bodyPr spcFirstLastPara="1" wrap="square" lIns="45150" tIns="45150" rIns="45150" bIns="45150" anchor="ctr" anchorCtr="0">
                <a:noAutofit/>
              </a:bodyPr>
              <a:lstStyle/>
              <a:p>
                <a:pPr marL="0" marR="0" lvl="0" indent="0" algn="ctr" rtl="0">
                  <a:lnSpc>
                    <a:spcPct val="160944"/>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213" name="Google Shape;213;g3465da649cc_0_200"/>
            <p:cNvGrpSpPr/>
            <p:nvPr/>
          </p:nvGrpSpPr>
          <p:grpSpPr>
            <a:xfrm rot="5400000">
              <a:off x="1825151" y="7430754"/>
              <a:ext cx="159959" cy="139964"/>
              <a:chOff x="0" y="0"/>
              <a:chExt cx="812800" cy="711200"/>
            </a:xfrm>
          </p:grpSpPr>
          <p:sp>
            <p:nvSpPr>
              <p:cNvPr id="214" name="Google Shape;214;g3465da649cc_0_200"/>
              <p:cNvSpPr/>
              <p:nvPr/>
            </p:nvSpPr>
            <p:spPr>
              <a:xfrm>
                <a:off x="0" y="0"/>
                <a:ext cx="812800" cy="711200"/>
              </a:xfrm>
              <a:custGeom>
                <a:avLst/>
                <a:gdLst/>
                <a:ahLst/>
                <a:cxnLst/>
                <a:rect l="l" t="t" r="r" b="b"/>
                <a:pathLst>
                  <a:path w="812800" h="711200" extrusionOk="0">
                    <a:moveTo>
                      <a:pt x="406400" y="0"/>
                    </a:moveTo>
                    <a:lnTo>
                      <a:pt x="812800" y="711200"/>
                    </a:lnTo>
                    <a:lnTo>
                      <a:pt x="0" y="711200"/>
                    </a:lnTo>
                    <a:lnTo>
                      <a:pt x="406400" y="0"/>
                    </a:lnTo>
                    <a:close/>
                  </a:path>
                </a:pathLst>
              </a:custGeom>
              <a:solidFill>
                <a:srgbClr val="EEF3FF"/>
              </a:solidFill>
              <a:ln>
                <a:noFill/>
              </a:ln>
            </p:spPr>
          </p:sp>
          <p:sp>
            <p:nvSpPr>
              <p:cNvPr id="215" name="Google Shape;215;g3465da649cc_0_200"/>
              <p:cNvSpPr txBox="1"/>
              <p:nvPr/>
            </p:nvSpPr>
            <p:spPr>
              <a:xfrm>
                <a:off x="127000" y="254000"/>
                <a:ext cx="558900" cy="406500"/>
              </a:xfrm>
              <a:prstGeom prst="rect">
                <a:avLst/>
              </a:prstGeom>
              <a:noFill/>
              <a:ln>
                <a:noFill/>
              </a:ln>
            </p:spPr>
            <p:txBody>
              <a:bodyPr spcFirstLastPara="1" wrap="square" lIns="45150" tIns="45150" rIns="45150" bIns="45150" anchor="ctr" anchorCtr="0">
                <a:noAutofit/>
              </a:bodyPr>
              <a:lstStyle/>
              <a:p>
                <a:pPr marL="0" marR="0" lvl="0" indent="0" algn="ctr" rtl="0">
                  <a:lnSpc>
                    <a:spcPct val="160944"/>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225" name="Google Shape;225;g3465da649cc_0_200"/>
            <p:cNvSpPr txBox="1"/>
            <p:nvPr/>
          </p:nvSpPr>
          <p:spPr>
            <a:xfrm>
              <a:off x="5010344" y="5277075"/>
              <a:ext cx="2241000" cy="3813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1700"/>
                <a:buFont typeface="Arial"/>
                <a:buNone/>
              </a:pPr>
              <a:r>
                <a:rPr lang="en-US" sz="1700" b="0" i="0" u="none" strike="noStrike" cap="none" dirty="0">
                  <a:solidFill>
                    <a:srgbClr val="FFFFFF"/>
                  </a:solidFill>
                  <a:latin typeface="Inter"/>
                  <a:ea typeface="Inter"/>
                  <a:cs typeface="Inter"/>
                  <a:sym typeface="Inter"/>
                </a:rPr>
                <a:t>04</a:t>
              </a:r>
              <a:endParaRPr sz="1200" b="0" i="0" u="none" strike="noStrike" cap="none" dirty="0">
                <a:solidFill>
                  <a:srgbClr val="000000"/>
                </a:solidFill>
                <a:latin typeface="Arial"/>
                <a:ea typeface="Arial"/>
                <a:cs typeface="Arial"/>
                <a:sym typeface="Arial"/>
              </a:endParaRPr>
            </a:p>
          </p:txBody>
        </p:sp>
        <p:sp>
          <p:nvSpPr>
            <p:cNvPr id="227" name="Google Shape;227;g3465da649cc_0_200"/>
            <p:cNvSpPr txBox="1"/>
            <p:nvPr/>
          </p:nvSpPr>
          <p:spPr>
            <a:xfrm>
              <a:off x="5010344" y="5672008"/>
              <a:ext cx="2241000" cy="3813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1700"/>
                <a:buFont typeface="Arial"/>
                <a:buNone/>
              </a:pPr>
              <a:r>
                <a:rPr lang="en-US" sz="1700" b="0" i="0" u="none" strike="noStrike" cap="none">
                  <a:solidFill>
                    <a:srgbClr val="FFFFFF"/>
                  </a:solidFill>
                  <a:latin typeface="Inter"/>
                  <a:ea typeface="Inter"/>
                  <a:cs typeface="Inter"/>
                  <a:sym typeface="Inter"/>
                </a:rPr>
                <a:t>07</a:t>
              </a:r>
              <a:endParaRPr sz="1200" b="0" i="0" u="none" strike="noStrike" cap="none">
                <a:solidFill>
                  <a:srgbClr val="000000"/>
                </a:solidFill>
                <a:latin typeface="Arial"/>
                <a:ea typeface="Arial"/>
                <a:cs typeface="Arial"/>
                <a:sym typeface="Arial"/>
              </a:endParaRPr>
            </a:p>
          </p:txBody>
        </p:sp>
        <p:sp>
          <p:nvSpPr>
            <p:cNvPr id="228" name="Google Shape;228;g3465da649cc_0_200"/>
            <p:cNvSpPr txBox="1"/>
            <p:nvPr/>
          </p:nvSpPr>
          <p:spPr>
            <a:xfrm>
              <a:off x="5010344" y="6134063"/>
              <a:ext cx="2241000" cy="3813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1700"/>
                <a:buFont typeface="Arial"/>
                <a:buNone/>
              </a:pPr>
              <a:r>
                <a:rPr lang="en-US" sz="1700" b="0" i="0" u="none" strike="noStrike" cap="none" dirty="0">
                  <a:solidFill>
                    <a:srgbClr val="FFFFFF"/>
                  </a:solidFill>
                  <a:latin typeface="Inter"/>
                  <a:ea typeface="Inter"/>
                  <a:cs typeface="Inter"/>
                  <a:sym typeface="Inter"/>
                </a:rPr>
                <a:t>08</a:t>
              </a:r>
              <a:endParaRPr sz="1200" b="0" i="0" u="none" strike="noStrike" cap="none" dirty="0">
                <a:solidFill>
                  <a:srgbClr val="000000"/>
                </a:solidFill>
                <a:latin typeface="Arial"/>
                <a:ea typeface="Arial"/>
                <a:cs typeface="Arial"/>
                <a:sym typeface="Arial"/>
              </a:endParaRPr>
            </a:p>
          </p:txBody>
        </p:sp>
        <p:sp>
          <p:nvSpPr>
            <p:cNvPr id="229" name="Google Shape;229;g3465da649cc_0_200"/>
            <p:cNvSpPr txBox="1"/>
            <p:nvPr/>
          </p:nvSpPr>
          <p:spPr>
            <a:xfrm>
              <a:off x="5010344" y="6912300"/>
              <a:ext cx="2241000" cy="3813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1700"/>
                <a:buFont typeface="Arial"/>
                <a:buNone/>
              </a:pPr>
              <a:r>
                <a:rPr lang="en-US" sz="1700" b="0" i="0" u="none" strike="noStrike" cap="none" dirty="0">
                  <a:solidFill>
                    <a:srgbClr val="FFFFFF"/>
                  </a:solidFill>
                  <a:latin typeface="Inter"/>
                  <a:ea typeface="Inter"/>
                  <a:cs typeface="Inter"/>
                  <a:sym typeface="Inter"/>
                </a:rPr>
                <a:t>10</a:t>
              </a:r>
              <a:endParaRPr sz="1200" b="0" i="0" u="none" strike="noStrike" cap="none" dirty="0">
                <a:solidFill>
                  <a:srgbClr val="000000"/>
                </a:solidFill>
                <a:latin typeface="Arial"/>
                <a:ea typeface="Arial"/>
                <a:cs typeface="Arial"/>
                <a:sym typeface="Arial"/>
              </a:endParaRPr>
            </a:p>
          </p:txBody>
        </p:sp>
        <p:sp>
          <p:nvSpPr>
            <p:cNvPr id="5" name="Google Shape;191;g3465da649cc_0_200">
              <a:extLst>
                <a:ext uri="{FF2B5EF4-FFF2-40B4-BE49-F238E27FC236}">
                  <a16:creationId xmlns:a16="http://schemas.microsoft.com/office/drawing/2014/main" id="{909C22E8-E607-8C9F-B5DF-E5120F99B2A6}"/>
                </a:ext>
              </a:extLst>
            </p:cNvPr>
            <p:cNvSpPr txBox="1"/>
            <p:nvPr/>
          </p:nvSpPr>
          <p:spPr>
            <a:xfrm>
              <a:off x="2116888" y="6511432"/>
              <a:ext cx="4295815" cy="381419"/>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700"/>
                <a:buFont typeface="Arial"/>
                <a:buNone/>
              </a:pPr>
              <a:r>
                <a:rPr lang="en-US" sz="1700" b="0" i="0" u="none" strike="noStrike" cap="none" dirty="0">
                  <a:solidFill>
                    <a:srgbClr val="FFFFFF"/>
                  </a:solidFill>
                  <a:latin typeface="Inter"/>
                  <a:ea typeface="Inter"/>
                  <a:cs typeface="Inter"/>
                  <a:sym typeface="Inter"/>
                </a:rPr>
                <a:t>Our Service</a:t>
              </a:r>
              <a:r>
                <a:rPr lang="en-US" sz="1700" dirty="0">
                  <a:solidFill>
                    <a:srgbClr val="FFFFFF"/>
                  </a:solidFill>
                  <a:latin typeface="Inter"/>
                  <a:ea typeface="Inter"/>
                  <a:cs typeface="Inter"/>
                  <a:sym typeface="Inter"/>
                </a:rPr>
                <a:t>s </a:t>
              </a:r>
              <a:r>
                <a:rPr lang="en-US" sz="1700" b="0" i="0" u="none" strike="noStrike" cap="none" dirty="0">
                  <a:solidFill>
                    <a:srgbClr val="FFFFFF"/>
                  </a:solidFill>
                  <a:latin typeface="Inter"/>
                  <a:ea typeface="Inter"/>
                  <a:cs typeface="Inter"/>
                  <a:sym typeface="Inter"/>
                </a:rPr>
                <a:t>&amp; Products</a:t>
              </a:r>
              <a:endParaRPr sz="1200" b="0" i="0" u="none" strike="noStrike" cap="none" dirty="0">
                <a:solidFill>
                  <a:srgbClr val="000000"/>
                </a:solidFill>
                <a:latin typeface="Arial"/>
                <a:ea typeface="Arial"/>
                <a:cs typeface="Arial"/>
                <a:sym typeface="Arial"/>
              </a:endParaRPr>
            </a:p>
          </p:txBody>
        </p:sp>
        <p:sp>
          <p:nvSpPr>
            <p:cNvPr id="6" name="Google Shape;228;g3465da649cc_0_200">
              <a:extLst>
                <a:ext uri="{FF2B5EF4-FFF2-40B4-BE49-F238E27FC236}">
                  <a16:creationId xmlns:a16="http://schemas.microsoft.com/office/drawing/2014/main" id="{38675B04-4D37-F8A9-4C6B-16A04F420C44}"/>
                </a:ext>
              </a:extLst>
            </p:cNvPr>
            <p:cNvSpPr txBox="1"/>
            <p:nvPr/>
          </p:nvSpPr>
          <p:spPr>
            <a:xfrm>
              <a:off x="5010344" y="6547501"/>
              <a:ext cx="2241000" cy="381300"/>
            </a:xfrm>
            <a:prstGeom prst="rect">
              <a:avLst/>
            </a:prstGeom>
            <a:noFill/>
            <a:ln>
              <a:noFill/>
            </a:ln>
          </p:spPr>
          <p:txBody>
            <a:bodyPr spcFirstLastPara="1" wrap="square" lIns="0" tIns="0" rIns="0" bIns="0" anchor="t" anchorCtr="0">
              <a:noAutofit/>
            </a:bodyPr>
            <a:lstStyle/>
            <a:p>
              <a:pPr marL="0" marR="0" lvl="0" indent="0" algn="r" rtl="0">
                <a:lnSpc>
                  <a:spcPct val="120000"/>
                </a:lnSpc>
                <a:spcBef>
                  <a:spcPts val="0"/>
                </a:spcBef>
                <a:spcAft>
                  <a:spcPts val="0"/>
                </a:spcAft>
                <a:buClr>
                  <a:srgbClr val="000000"/>
                </a:buClr>
                <a:buSzPts val="1700"/>
                <a:buFont typeface="Arial"/>
                <a:buNone/>
              </a:pPr>
              <a:r>
                <a:rPr lang="en-US" sz="1700" b="0" i="0" u="none" strike="noStrike" cap="none" dirty="0">
                  <a:solidFill>
                    <a:srgbClr val="FFFFFF"/>
                  </a:solidFill>
                  <a:latin typeface="Inter"/>
                  <a:ea typeface="Inter"/>
                  <a:cs typeface="Inter"/>
                  <a:sym typeface="Inter"/>
                </a:rPr>
                <a:t>09</a:t>
              </a:r>
              <a:endParaRPr sz="1200" b="0" i="0" u="none" strike="noStrike" cap="none" dirty="0">
                <a:solidFill>
                  <a:srgbClr val="000000"/>
                </a:solidFill>
                <a:latin typeface="Arial"/>
                <a:ea typeface="Arial"/>
                <a:cs typeface="Arial"/>
                <a:sym typeface="Arial"/>
              </a:endParaRPr>
            </a:p>
          </p:txBody>
        </p:sp>
      </p:grpSp>
      <p:pic>
        <p:nvPicPr>
          <p:cNvPr id="2" name="Picture 1">
            <a:extLst>
              <a:ext uri="{FF2B5EF4-FFF2-40B4-BE49-F238E27FC236}">
                <a16:creationId xmlns:a16="http://schemas.microsoft.com/office/drawing/2014/main" id="{016DE4A0-E4C7-DF1B-6E3A-C0EC5BC761A5}"/>
              </a:ext>
            </a:extLst>
          </p:cNvPr>
          <p:cNvPicPr>
            <a:picLocks noChangeAspect="1"/>
          </p:cNvPicPr>
          <p:nvPr/>
        </p:nvPicPr>
        <p:blipFill>
          <a:blip r:embed="rId7"/>
          <a:stretch>
            <a:fillRect/>
          </a:stretch>
        </p:blipFill>
        <p:spPr>
          <a:xfrm>
            <a:off x="1507644" y="6850181"/>
            <a:ext cx="6633931" cy="100883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 y="0"/>
            <a:ext cx="16255995" cy="9143982"/>
          </a:xfrm>
          <a:prstGeom prst="rect">
            <a:avLst/>
          </a:prstGeom>
          <a:noFill/>
          <a:ln>
            <a:noFill/>
          </a:ln>
        </p:spPr>
      </p:pic>
      <p:pic>
        <p:nvPicPr>
          <p:cNvPr id="103" name="Google Shape;103;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85112" y="7897422"/>
            <a:ext cx="1485865" cy="954059"/>
          </a:xfrm>
          <a:prstGeom prst="rect">
            <a:avLst/>
          </a:prstGeom>
          <a:noFill/>
          <a:ln>
            <a:noFill/>
          </a:ln>
        </p:spPr>
      </p:pic>
      <p:sp>
        <p:nvSpPr>
          <p:cNvPr id="104" name="Google Shape;104;p17"/>
          <p:cNvSpPr txBox="1">
            <a:spLocks noGrp="1"/>
          </p:cNvSpPr>
          <p:nvPr>
            <p:ph type="ctrTitle"/>
          </p:nvPr>
        </p:nvSpPr>
        <p:spPr>
          <a:xfrm>
            <a:off x="912844" y="3183067"/>
            <a:ext cx="3839467" cy="833509"/>
          </a:xfrm>
          <a:prstGeom prst="rect">
            <a:avLst/>
          </a:prstGeom>
          <a:noFill/>
          <a:ln>
            <a:noFill/>
          </a:ln>
        </p:spPr>
        <p:txBody>
          <a:bodyPr spcFirstLastPara="1" wrap="square" lIns="0" tIns="12711" rIns="0" bIns="0" anchor="t" anchorCtr="0">
            <a:spAutoFit/>
          </a:bodyPr>
          <a:lstStyle/>
          <a:p>
            <a:pPr algn="l">
              <a:buSzPts val="800"/>
            </a:pPr>
            <a:r>
              <a:rPr lang="vi" sz="5333">
                <a:solidFill>
                  <a:schemeClr val="dk2"/>
                </a:solidFill>
                <a:latin typeface="Inter"/>
                <a:ea typeface="Inter"/>
                <a:cs typeface="Inter"/>
                <a:sym typeface="Inter"/>
              </a:rPr>
              <a:t>ABOUT VTI</a:t>
            </a:r>
            <a:endParaRPr sz="5333">
              <a:solidFill>
                <a:schemeClr val="dk2"/>
              </a:solidFill>
              <a:latin typeface="Inter"/>
              <a:ea typeface="Inter"/>
              <a:cs typeface="Inter"/>
              <a:sym typeface="Inter"/>
            </a:endParaRPr>
          </a:p>
        </p:txBody>
      </p:sp>
      <p:sp>
        <p:nvSpPr>
          <p:cNvPr id="105" name="Google Shape;105;p17"/>
          <p:cNvSpPr txBox="1"/>
          <p:nvPr/>
        </p:nvSpPr>
        <p:spPr>
          <a:xfrm>
            <a:off x="912844" y="4164490"/>
            <a:ext cx="7377067" cy="849463"/>
          </a:xfrm>
          <a:prstGeom prst="rect">
            <a:avLst/>
          </a:prstGeom>
          <a:noFill/>
          <a:ln>
            <a:noFill/>
          </a:ln>
        </p:spPr>
        <p:txBody>
          <a:bodyPr spcFirstLastPara="1" wrap="square" lIns="0" tIns="0" rIns="0" bIns="0" anchor="t" anchorCtr="0">
            <a:spAutoFit/>
          </a:bodyPr>
          <a:lstStyle/>
          <a:p>
            <a:pPr marR="2842578">
              <a:lnSpc>
                <a:spcPct val="115000"/>
              </a:lnSpc>
              <a:buClr>
                <a:schemeClr val="dk1"/>
              </a:buClr>
            </a:pPr>
            <a:r>
              <a:rPr lang="vi" sz="1600">
                <a:solidFill>
                  <a:srgbClr val="3D3D3D"/>
                </a:solidFill>
                <a:latin typeface="Plus Jakarta Sans"/>
                <a:ea typeface="Plus Jakarta Sans"/>
                <a:cs typeface="Plus Jakarta Sans"/>
                <a:sym typeface="Plus Jakarta Sans"/>
              </a:rPr>
              <a:t>Discover all the essential components that shape VTI's operations and distinguish the company in the global IT industry</a:t>
            </a:r>
            <a:endParaRPr sz="1600">
              <a:solidFill>
                <a:srgbClr val="3D3D3D"/>
              </a:solidFill>
              <a:latin typeface="Plus Jakarta Sans"/>
              <a:ea typeface="Plus Jakarta Sans"/>
              <a:cs typeface="Plus Jakarta Sans"/>
              <a:sym typeface="Plus Jakarta Sans"/>
            </a:endParaRPr>
          </a:p>
        </p:txBody>
      </p:sp>
      <p:sp>
        <p:nvSpPr>
          <p:cNvPr id="106" name="Google Shape;106;p17"/>
          <p:cNvSpPr txBox="1"/>
          <p:nvPr/>
        </p:nvSpPr>
        <p:spPr>
          <a:xfrm>
            <a:off x="2070978" y="768355"/>
            <a:ext cx="5353067" cy="239980"/>
          </a:xfrm>
          <a:prstGeom prst="rect">
            <a:avLst/>
          </a:prstGeom>
          <a:noFill/>
          <a:ln>
            <a:noFill/>
          </a:ln>
        </p:spPr>
        <p:txBody>
          <a:bodyPr spcFirstLastPara="1" wrap="square" lIns="0" tIns="20933" rIns="0" bIns="0" anchor="t" anchorCtr="0">
            <a:spAutoFit/>
          </a:bodyPr>
          <a:lstStyle/>
          <a:p>
            <a:pPr marL="22578">
              <a:buSzPts val="700"/>
            </a:pPr>
            <a:r>
              <a:rPr lang="vi" sz="1422">
                <a:solidFill>
                  <a:schemeClr val="lt1"/>
                </a:solidFill>
                <a:latin typeface="Inter"/>
                <a:ea typeface="Inter"/>
                <a:cs typeface="Inter"/>
                <a:sym typeface="Inter"/>
              </a:rPr>
              <a:t>Corporate Profile - For Software Development</a:t>
            </a:r>
            <a:endParaRPr sz="1422">
              <a:solidFill>
                <a:schemeClr val="lt1"/>
              </a:solidFill>
              <a:latin typeface="Inter"/>
              <a:ea typeface="Inter"/>
              <a:cs typeface="Inter"/>
              <a:sym typeface="Inter"/>
            </a:endParaRPr>
          </a:p>
        </p:txBody>
      </p:sp>
    </p:spTree>
    <p:extLst>
      <p:ext uri="{BB962C8B-B14F-4D97-AF65-F5344CB8AC3E}">
        <p14:creationId xmlns:p14="http://schemas.microsoft.com/office/powerpoint/2010/main" val="1780298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1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 y="1"/>
            <a:ext cx="16256005" cy="9144012"/>
          </a:xfrm>
          <a:prstGeom prst="rect">
            <a:avLst/>
          </a:prstGeom>
          <a:noFill/>
          <a:ln>
            <a:noFill/>
          </a:ln>
        </p:spPr>
      </p:pic>
      <p:pic>
        <p:nvPicPr>
          <p:cNvPr id="112" name="Google Shape;112;p18"/>
          <p:cNvPicPr preferRelativeResize="0"/>
          <p:nvPr/>
        </p:nvPicPr>
        <p:blipFill>
          <a:blip r:embed="rId4">
            <a:alphaModFix/>
          </a:blip>
          <a:stretch>
            <a:fillRect/>
          </a:stretch>
        </p:blipFill>
        <p:spPr>
          <a:xfrm>
            <a:off x="0" y="8345911"/>
            <a:ext cx="880533" cy="440267"/>
          </a:xfrm>
          <a:prstGeom prst="rect">
            <a:avLst/>
          </a:prstGeom>
          <a:noFill/>
          <a:ln>
            <a:noFill/>
          </a:ln>
        </p:spPr>
      </p:pic>
      <p:cxnSp>
        <p:nvCxnSpPr>
          <p:cNvPr id="113" name="Google Shape;113;p18"/>
          <p:cNvCxnSpPr/>
          <p:nvPr/>
        </p:nvCxnSpPr>
        <p:spPr>
          <a:xfrm>
            <a:off x="1653600" y="8395111"/>
            <a:ext cx="0" cy="419733"/>
          </a:xfrm>
          <a:prstGeom prst="straightConnector1">
            <a:avLst/>
          </a:prstGeom>
          <a:noFill/>
          <a:ln w="9525" cap="flat" cmpd="sng">
            <a:solidFill>
              <a:srgbClr val="808080"/>
            </a:solidFill>
            <a:prstDash val="solid"/>
            <a:round/>
            <a:headEnd type="none" w="med" len="med"/>
            <a:tailEnd type="none" w="med" len="med"/>
          </a:ln>
        </p:spPr>
      </p:cxnSp>
      <p:cxnSp>
        <p:nvCxnSpPr>
          <p:cNvPr id="114" name="Google Shape;114;p18"/>
          <p:cNvCxnSpPr/>
          <p:nvPr/>
        </p:nvCxnSpPr>
        <p:spPr>
          <a:xfrm>
            <a:off x="872533" y="449200"/>
            <a:ext cx="0" cy="305600"/>
          </a:xfrm>
          <a:prstGeom prst="straightConnector1">
            <a:avLst/>
          </a:prstGeom>
          <a:noFill/>
          <a:ln w="9525" cap="flat" cmpd="sng">
            <a:solidFill>
              <a:srgbClr val="808080"/>
            </a:solidFill>
            <a:prstDash val="solid"/>
            <a:round/>
            <a:headEnd type="none" w="med" len="med"/>
            <a:tailEnd type="none" w="med" len="med"/>
          </a:ln>
        </p:spPr>
      </p:cxnSp>
      <p:sp>
        <p:nvSpPr>
          <p:cNvPr id="115" name="Google Shape;115;p18"/>
          <p:cNvSpPr txBox="1"/>
          <p:nvPr/>
        </p:nvSpPr>
        <p:spPr>
          <a:xfrm>
            <a:off x="872534" y="302978"/>
            <a:ext cx="4718933" cy="369067"/>
          </a:xfrm>
          <a:prstGeom prst="rect">
            <a:avLst/>
          </a:prstGeom>
          <a:noFill/>
          <a:ln>
            <a:noFill/>
          </a:ln>
        </p:spPr>
        <p:txBody>
          <a:bodyPr spcFirstLastPara="1" wrap="square" lIns="162533" tIns="162533" rIns="162533" bIns="162533" anchor="t" anchorCtr="0">
            <a:noAutofit/>
          </a:bodyPr>
          <a:lstStyle/>
          <a:p>
            <a:r>
              <a:rPr lang="vi" sz="1956" b="1">
                <a:solidFill>
                  <a:srgbClr val="3D3D3D"/>
                </a:solidFill>
                <a:latin typeface="Inter"/>
                <a:ea typeface="Inter"/>
                <a:cs typeface="Inter"/>
                <a:sym typeface="Inter"/>
              </a:rPr>
              <a:t>ABOUT VTI GROUP</a:t>
            </a:r>
            <a:endParaRPr sz="1956" b="1">
              <a:solidFill>
                <a:srgbClr val="3D3D3D"/>
              </a:solidFill>
              <a:latin typeface="Inter"/>
              <a:ea typeface="Inter"/>
              <a:cs typeface="Inter"/>
              <a:sym typeface="Inter"/>
            </a:endParaRPr>
          </a:p>
          <a:p>
            <a:endParaRPr sz="1956">
              <a:solidFill>
                <a:srgbClr val="3D3D3D"/>
              </a:solidFill>
              <a:latin typeface="Inter"/>
              <a:ea typeface="Inter"/>
              <a:cs typeface="Inter"/>
              <a:sym typeface="Inter"/>
            </a:endParaRPr>
          </a:p>
          <a:p>
            <a:endParaRPr sz="1956">
              <a:solidFill>
                <a:schemeClr val="dk2"/>
              </a:solidFill>
              <a:latin typeface="Inter"/>
              <a:ea typeface="Inter"/>
              <a:cs typeface="Inter"/>
              <a:sym typeface="Inter"/>
            </a:endParaRPr>
          </a:p>
        </p:txBody>
      </p:sp>
      <p:sp>
        <p:nvSpPr>
          <p:cNvPr id="116" name="Google Shape;116;p18"/>
          <p:cNvSpPr txBox="1"/>
          <p:nvPr/>
        </p:nvSpPr>
        <p:spPr>
          <a:xfrm>
            <a:off x="548444" y="966444"/>
            <a:ext cx="14995200" cy="10426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422">
                <a:solidFill>
                  <a:srgbClr val="3D3D3D"/>
                </a:solidFill>
                <a:latin typeface="Plus Jakarta Sans"/>
                <a:ea typeface="Plus Jakarta Sans"/>
                <a:cs typeface="Plus Jakarta Sans"/>
                <a:sym typeface="Plus Jakarta Sans"/>
              </a:rPr>
              <a:t>Established in 2017, VTI Group stands as the </a:t>
            </a:r>
            <a:r>
              <a:rPr lang="vi" sz="1422" b="1">
                <a:solidFill>
                  <a:srgbClr val="3D3D3D"/>
                </a:solidFill>
                <a:latin typeface="Plus Jakarta Sans"/>
                <a:ea typeface="Plus Jakarta Sans"/>
                <a:cs typeface="Plus Jakarta Sans"/>
                <a:sym typeface="Plus Jakarta Sans"/>
              </a:rPr>
              <a:t>Top 10 leading technology and IT service provider</a:t>
            </a:r>
            <a:r>
              <a:rPr lang="vi" sz="1422">
                <a:solidFill>
                  <a:srgbClr val="3D3D3D"/>
                </a:solidFill>
                <a:latin typeface="Plus Jakarta Sans"/>
                <a:ea typeface="Plus Jakarta Sans"/>
                <a:cs typeface="Plus Jakarta Sans"/>
                <a:sym typeface="Plus Jakarta Sans"/>
              </a:rPr>
              <a:t> based in Vietnam, Japan, South Korea, and Singapore.</a:t>
            </a:r>
            <a:endParaRPr sz="1422">
              <a:solidFill>
                <a:srgbClr val="3D3D3D"/>
              </a:solidFill>
              <a:latin typeface="Plus Jakarta Sans"/>
              <a:ea typeface="Plus Jakarta Sans"/>
              <a:cs typeface="Plus Jakarta Sans"/>
              <a:sym typeface="Plus Jakarta Sans"/>
            </a:endParaRPr>
          </a:p>
          <a:p>
            <a:pPr algn="ctr">
              <a:lnSpc>
                <a:spcPct val="115000"/>
              </a:lnSpc>
            </a:pPr>
            <a:r>
              <a:rPr lang="vi" sz="1422">
                <a:solidFill>
                  <a:srgbClr val="3D3D3D"/>
                </a:solidFill>
                <a:latin typeface="Plus Jakarta Sans"/>
                <a:ea typeface="Plus Jakarta Sans"/>
                <a:cs typeface="Plus Jakarta Sans"/>
                <a:sym typeface="Plus Jakarta Sans"/>
              </a:rPr>
              <a:t>Our mission revolves around assisting businesses of all scales and across diverse industries to consult and operate in digital transformation.</a:t>
            </a:r>
            <a:endParaRPr sz="1422">
              <a:solidFill>
                <a:srgbClr val="3D3D3D"/>
              </a:solidFill>
              <a:latin typeface="Plus Jakarta Sans"/>
              <a:ea typeface="Plus Jakarta Sans"/>
              <a:cs typeface="Plus Jakarta Sans"/>
              <a:sym typeface="Plus Jakarta Sans"/>
            </a:endParaRPr>
          </a:p>
          <a:p>
            <a:pPr algn="ctr">
              <a:lnSpc>
                <a:spcPct val="115000"/>
              </a:lnSpc>
            </a:pPr>
            <a:r>
              <a:rPr lang="vi" sz="1422">
                <a:solidFill>
                  <a:srgbClr val="3D3D3D"/>
                </a:solidFill>
                <a:latin typeface="Plus Jakarta Sans"/>
                <a:ea typeface="Plus Jakarta Sans"/>
                <a:cs typeface="Plus Jakarta Sans"/>
                <a:sym typeface="Plus Jakarta Sans"/>
              </a:rPr>
              <a:t>At VTI Group, we gauge our success by the achievements of our customers, making their successes the ultimate measure of our value</a:t>
            </a:r>
            <a:r>
              <a:rPr lang="vi" sz="1600">
                <a:solidFill>
                  <a:srgbClr val="3D3D3D"/>
                </a:solidFill>
                <a:latin typeface="Plus Jakarta Sans"/>
                <a:ea typeface="Plus Jakarta Sans"/>
                <a:cs typeface="Plus Jakarta Sans"/>
                <a:sym typeface="Plus Jakarta Sans"/>
              </a:rPr>
              <a:t>.</a:t>
            </a:r>
            <a:endParaRPr sz="1600">
              <a:solidFill>
                <a:srgbClr val="3D3D3D"/>
              </a:solidFill>
              <a:latin typeface="Plus Jakarta Sans"/>
              <a:ea typeface="Plus Jakarta Sans"/>
              <a:cs typeface="Plus Jakarta Sans"/>
              <a:sym typeface="Plus Jakarta Sans"/>
            </a:endParaRPr>
          </a:p>
          <a:p>
            <a:endParaRPr sz="1956">
              <a:solidFill>
                <a:srgbClr val="3D3D3D"/>
              </a:solidFill>
              <a:latin typeface="Inter"/>
              <a:ea typeface="Inter"/>
              <a:cs typeface="Inter"/>
              <a:sym typeface="Inter"/>
            </a:endParaRPr>
          </a:p>
          <a:p>
            <a:endParaRPr sz="1956">
              <a:solidFill>
                <a:schemeClr val="dk2"/>
              </a:solidFill>
              <a:latin typeface="Inter"/>
              <a:ea typeface="Inter"/>
              <a:cs typeface="Inter"/>
              <a:sym typeface="Inter"/>
            </a:endParaRPr>
          </a:p>
        </p:txBody>
      </p:sp>
      <p:sp>
        <p:nvSpPr>
          <p:cNvPr id="117" name="Google Shape;117;p18"/>
          <p:cNvSpPr txBox="1"/>
          <p:nvPr/>
        </p:nvSpPr>
        <p:spPr>
          <a:xfrm>
            <a:off x="1043956" y="4273812"/>
            <a:ext cx="2059200" cy="939200"/>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778">
                <a:solidFill>
                  <a:schemeClr val="lt1"/>
                </a:solidFill>
                <a:latin typeface="Inter SemiBold"/>
                <a:ea typeface="Inter SemiBold"/>
                <a:cs typeface="Inter SemiBold"/>
                <a:sym typeface="Inter SemiBold"/>
              </a:rPr>
              <a:t>Education</a:t>
            </a:r>
            <a:endParaRPr sz="1778">
              <a:solidFill>
                <a:schemeClr val="lt1"/>
              </a:solidFill>
              <a:latin typeface="Inter SemiBold"/>
              <a:ea typeface="Inter SemiBold"/>
              <a:cs typeface="Inter SemiBold"/>
              <a:sym typeface="Inter SemiBold"/>
            </a:endParaRPr>
          </a:p>
          <a:p>
            <a:pPr algn="ctr">
              <a:lnSpc>
                <a:spcPct val="115000"/>
              </a:lnSpc>
            </a:pPr>
            <a:r>
              <a:rPr lang="vi" sz="1778">
                <a:solidFill>
                  <a:schemeClr val="lt1"/>
                </a:solidFill>
                <a:latin typeface="Inter SemiBold"/>
                <a:ea typeface="Inter SemiBold"/>
                <a:cs typeface="Inter SemiBold"/>
                <a:sym typeface="Inter SemiBold"/>
              </a:rPr>
              <a:t>&amp; Training</a:t>
            </a:r>
            <a:endParaRPr sz="1778">
              <a:solidFill>
                <a:schemeClr val="lt1"/>
              </a:solidFill>
              <a:latin typeface="Inter SemiBold"/>
              <a:ea typeface="Inter SemiBold"/>
              <a:cs typeface="Inter SemiBold"/>
              <a:sym typeface="Inter SemiBold"/>
            </a:endParaRPr>
          </a:p>
          <a:p>
            <a:pPr algn="ctr">
              <a:lnSpc>
                <a:spcPct val="115000"/>
              </a:lnSpc>
            </a:pPr>
            <a:endParaRPr sz="1778">
              <a:solidFill>
                <a:schemeClr val="lt1"/>
              </a:solidFill>
              <a:latin typeface="Inter SemiBold"/>
              <a:ea typeface="Inter SemiBold"/>
              <a:cs typeface="Inter SemiBold"/>
              <a:sym typeface="Inter SemiBold"/>
            </a:endParaRPr>
          </a:p>
          <a:p>
            <a:pPr algn="ctr"/>
            <a:endParaRPr sz="1778">
              <a:solidFill>
                <a:schemeClr val="lt1"/>
              </a:solidFill>
              <a:latin typeface="Inter SemiBold"/>
              <a:ea typeface="Inter SemiBold"/>
              <a:cs typeface="Inter SemiBold"/>
              <a:sym typeface="Inter SemiBold"/>
            </a:endParaRPr>
          </a:p>
          <a:p>
            <a:pPr algn="ctr"/>
            <a:endParaRPr sz="1778">
              <a:solidFill>
                <a:schemeClr val="lt1"/>
              </a:solidFill>
              <a:latin typeface="Inter SemiBold"/>
              <a:ea typeface="Inter SemiBold"/>
              <a:cs typeface="Inter SemiBold"/>
              <a:sym typeface="Inter SemiBold"/>
            </a:endParaRPr>
          </a:p>
        </p:txBody>
      </p:sp>
      <p:sp>
        <p:nvSpPr>
          <p:cNvPr id="118" name="Google Shape;118;p18"/>
          <p:cNvSpPr txBox="1"/>
          <p:nvPr/>
        </p:nvSpPr>
        <p:spPr>
          <a:xfrm>
            <a:off x="3268178" y="4273819"/>
            <a:ext cx="2059200" cy="10426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2133">
                <a:solidFill>
                  <a:srgbClr val="FFFFFF"/>
                </a:solidFill>
                <a:latin typeface="Inter SemiBold"/>
                <a:ea typeface="Inter SemiBold"/>
                <a:cs typeface="Inter SemiBold"/>
                <a:sym typeface="Inter SemiBold"/>
              </a:rPr>
              <a:t>IT Services</a:t>
            </a:r>
            <a:endParaRPr sz="2133">
              <a:solidFill>
                <a:srgbClr val="FFFFFF"/>
              </a:solidFill>
              <a:latin typeface="Inter SemiBold"/>
              <a:ea typeface="Inter SemiBold"/>
              <a:cs typeface="Inter SemiBold"/>
              <a:sym typeface="Inter SemiBold"/>
            </a:endParaRPr>
          </a:p>
          <a:p>
            <a:pPr algn="ctr">
              <a:lnSpc>
                <a:spcPct val="115000"/>
              </a:lnSpc>
            </a:pPr>
            <a:r>
              <a:rPr lang="vi" sz="2133">
                <a:solidFill>
                  <a:srgbClr val="FFFFFF"/>
                </a:solidFill>
                <a:latin typeface="Inter SemiBold"/>
                <a:ea typeface="Inter SemiBold"/>
                <a:cs typeface="Inter SemiBold"/>
                <a:sym typeface="Inter SemiBold"/>
              </a:rPr>
              <a:t>&amp; Solutions</a:t>
            </a:r>
            <a:endParaRPr sz="2133">
              <a:solidFill>
                <a:srgbClr val="FFFFFF"/>
              </a:solidFill>
              <a:latin typeface="Inter SemiBold"/>
              <a:ea typeface="Inter SemiBold"/>
              <a:cs typeface="Inter SemiBold"/>
              <a:sym typeface="Inter SemiBold"/>
            </a:endParaRPr>
          </a:p>
          <a:p>
            <a:pPr algn="ctr">
              <a:lnSpc>
                <a:spcPct val="115000"/>
              </a:lnSpc>
            </a:pPr>
            <a:endParaRPr sz="2133">
              <a:solidFill>
                <a:schemeClr val="lt1"/>
              </a:solidFill>
              <a:latin typeface="Inter SemiBold"/>
              <a:ea typeface="Inter SemiBold"/>
              <a:cs typeface="Inter SemiBold"/>
              <a:sym typeface="Inter SemiBold"/>
            </a:endParaRPr>
          </a:p>
          <a:p>
            <a:pPr algn="ctr">
              <a:lnSpc>
                <a:spcPct val="115000"/>
              </a:lnSpc>
            </a:pPr>
            <a:endParaRPr sz="2133">
              <a:solidFill>
                <a:schemeClr val="lt1"/>
              </a:solidFill>
              <a:latin typeface="Inter SemiBold"/>
              <a:ea typeface="Inter SemiBold"/>
              <a:cs typeface="Inter SemiBold"/>
              <a:sym typeface="Inter SemiBold"/>
            </a:endParaRPr>
          </a:p>
          <a:p>
            <a:pPr algn="ctr"/>
            <a:endParaRPr sz="2133">
              <a:solidFill>
                <a:schemeClr val="lt1"/>
              </a:solidFill>
              <a:latin typeface="Inter SemiBold"/>
              <a:ea typeface="Inter SemiBold"/>
              <a:cs typeface="Inter SemiBold"/>
              <a:sym typeface="Inter SemiBold"/>
            </a:endParaRPr>
          </a:p>
          <a:p>
            <a:pPr algn="ctr"/>
            <a:endParaRPr sz="2133">
              <a:solidFill>
                <a:schemeClr val="lt1"/>
              </a:solidFill>
              <a:latin typeface="Inter SemiBold"/>
              <a:ea typeface="Inter SemiBold"/>
              <a:cs typeface="Inter SemiBold"/>
              <a:sym typeface="Inter SemiBold"/>
            </a:endParaRPr>
          </a:p>
        </p:txBody>
      </p:sp>
      <p:sp>
        <p:nvSpPr>
          <p:cNvPr id="119" name="Google Shape;119;p18"/>
          <p:cNvSpPr txBox="1"/>
          <p:nvPr/>
        </p:nvSpPr>
        <p:spPr>
          <a:xfrm>
            <a:off x="5492356" y="4273806"/>
            <a:ext cx="2059200" cy="8426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778">
                <a:solidFill>
                  <a:srgbClr val="FFFFFF"/>
                </a:solidFill>
                <a:latin typeface="Inter SemiBold"/>
                <a:ea typeface="Inter SemiBold"/>
                <a:cs typeface="Inter SemiBold"/>
                <a:sym typeface="Inter SemiBold"/>
              </a:rPr>
              <a:t>Human</a:t>
            </a:r>
            <a:endParaRPr sz="1778">
              <a:solidFill>
                <a:srgbClr val="FFFFFF"/>
              </a:solidFill>
              <a:latin typeface="Inter SemiBold"/>
              <a:ea typeface="Inter SemiBold"/>
              <a:cs typeface="Inter SemiBold"/>
              <a:sym typeface="Inter SemiBold"/>
            </a:endParaRPr>
          </a:p>
          <a:p>
            <a:pPr algn="ctr">
              <a:lnSpc>
                <a:spcPct val="115000"/>
              </a:lnSpc>
            </a:pPr>
            <a:r>
              <a:rPr lang="vi" sz="1778">
                <a:solidFill>
                  <a:srgbClr val="FFFFFF"/>
                </a:solidFill>
                <a:latin typeface="Inter SemiBold"/>
                <a:ea typeface="Inter SemiBold"/>
                <a:cs typeface="Inter SemiBold"/>
                <a:sym typeface="Inter SemiBold"/>
              </a:rPr>
              <a:t>Resources</a:t>
            </a:r>
            <a:endParaRPr sz="1778">
              <a:solidFill>
                <a:srgbClr val="FFFFFF"/>
              </a:solidFill>
              <a:latin typeface="Inter SemiBold"/>
              <a:ea typeface="Inter SemiBold"/>
              <a:cs typeface="Inter SemiBold"/>
              <a:sym typeface="Inter SemiBold"/>
            </a:endParaRPr>
          </a:p>
          <a:p>
            <a:pPr>
              <a:lnSpc>
                <a:spcPct val="115000"/>
              </a:lnSpc>
            </a:pPr>
            <a:endParaRPr sz="1778">
              <a:solidFill>
                <a:schemeClr val="lt1"/>
              </a:solidFill>
              <a:latin typeface="Inter SemiBold"/>
              <a:ea typeface="Inter SemiBold"/>
              <a:cs typeface="Inter SemiBold"/>
              <a:sym typeface="Inter SemiBold"/>
            </a:endParaRPr>
          </a:p>
          <a:p>
            <a:pPr>
              <a:lnSpc>
                <a:spcPct val="115000"/>
              </a:lnSpc>
            </a:pPr>
            <a:endParaRPr sz="1778">
              <a:solidFill>
                <a:schemeClr val="lt1"/>
              </a:solidFill>
              <a:latin typeface="Inter SemiBold"/>
              <a:ea typeface="Inter SemiBold"/>
              <a:cs typeface="Inter SemiBold"/>
              <a:sym typeface="Inter SemiBold"/>
            </a:endParaRPr>
          </a:p>
          <a:p>
            <a:endParaRPr sz="1778">
              <a:solidFill>
                <a:schemeClr val="lt1"/>
              </a:solidFill>
              <a:latin typeface="Inter SemiBold"/>
              <a:ea typeface="Inter SemiBold"/>
              <a:cs typeface="Inter SemiBold"/>
              <a:sym typeface="Inter SemiBold"/>
            </a:endParaRPr>
          </a:p>
          <a:p>
            <a:endParaRPr sz="1778">
              <a:solidFill>
                <a:schemeClr val="lt1"/>
              </a:solidFill>
              <a:latin typeface="Inter SemiBold"/>
              <a:ea typeface="Inter SemiBold"/>
              <a:cs typeface="Inter SemiBold"/>
              <a:sym typeface="Inter SemiBold"/>
            </a:endParaRPr>
          </a:p>
        </p:txBody>
      </p:sp>
      <p:sp>
        <p:nvSpPr>
          <p:cNvPr id="120" name="Google Shape;120;p18"/>
          <p:cNvSpPr txBox="1"/>
          <p:nvPr/>
        </p:nvSpPr>
        <p:spPr>
          <a:xfrm>
            <a:off x="1122222" y="6194489"/>
            <a:ext cx="2849067" cy="939200"/>
          </a:xfrm>
          <a:prstGeom prst="rect">
            <a:avLst/>
          </a:prstGeom>
          <a:noFill/>
          <a:ln>
            <a:noFill/>
          </a:ln>
        </p:spPr>
        <p:txBody>
          <a:bodyPr spcFirstLastPara="1" wrap="square" lIns="162533" tIns="162533" rIns="162533" bIns="162533" anchor="t" anchorCtr="0">
            <a:noAutofit/>
          </a:bodyPr>
          <a:lstStyle/>
          <a:p>
            <a:pPr>
              <a:lnSpc>
                <a:spcPct val="115000"/>
              </a:lnSpc>
            </a:pPr>
            <a:r>
              <a:rPr lang="vi" sz="5333" b="1" dirty="0">
                <a:solidFill>
                  <a:srgbClr val="003DA6"/>
                </a:solidFill>
                <a:latin typeface="Inter SemiBold"/>
                <a:ea typeface="Inter SemiBold"/>
                <a:cs typeface="Inter SemiBold"/>
                <a:sym typeface="Inter SemiBold"/>
              </a:rPr>
              <a:t>1800+</a:t>
            </a:r>
            <a:endParaRPr sz="5333" b="1" dirty="0">
              <a:solidFill>
                <a:srgbClr val="003DA6"/>
              </a:solidFill>
              <a:latin typeface="Inter SemiBold"/>
              <a:ea typeface="Inter SemiBold"/>
              <a:cs typeface="Inter SemiBold"/>
              <a:sym typeface="Inter SemiBold"/>
            </a:endParaRPr>
          </a:p>
          <a:p>
            <a:pPr>
              <a:lnSpc>
                <a:spcPct val="115000"/>
              </a:lnSpc>
            </a:pPr>
            <a:endParaRPr sz="5333" b="1" dirty="0">
              <a:solidFill>
                <a:srgbClr val="3D3D3D"/>
              </a:solidFill>
              <a:latin typeface="Inter SemiBold"/>
              <a:ea typeface="Inter SemiBold"/>
              <a:cs typeface="Inter SemiBold"/>
              <a:sym typeface="Inter SemiBold"/>
            </a:endParaRPr>
          </a:p>
          <a:p>
            <a:endParaRPr sz="5333" b="1" dirty="0">
              <a:solidFill>
                <a:schemeClr val="dk2"/>
              </a:solidFill>
              <a:latin typeface="Inter SemiBold"/>
              <a:ea typeface="Inter SemiBold"/>
              <a:cs typeface="Inter SemiBold"/>
              <a:sym typeface="Inter SemiBold"/>
            </a:endParaRPr>
          </a:p>
        </p:txBody>
      </p:sp>
      <p:sp>
        <p:nvSpPr>
          <p:cNvPr id="121" name="Google Shape;121;p18"/>
          <p:cNvSpPr txBox="1"/>
          <p:nvPr/>
        </p:nvSpPr>
        <p:spPr>
          <a:xfrm>
            <a:off x="3786222" y="6245378"/>
            <a:ext cx="2556800" cy="1042667"/>
          </a:xfrm>
          <a:prstGeom prst="rect">
            <a:avLst/>
          </a:prstGeom>
          <a:noFill/>
          <a:ln>
            <a:noFill/>
          </a:ln>
        </p:spPr>
        <p:txBody>
          <a:bodyPr spcFirstLastPara="1" wrap="square" lIns="162533" tIns="162533" rIns="162533" bIns="162533" anchor="t" anchorCtr="0">
            <a:noAutofit/>
          </a:bodyPr>
          <a:lstStyle/>
          <a:p>
            <a:pPr>
              <a:lnSpc>
                <a:spcPct val="115000"/>
              </a:lnSpc>
            </a:pPr>
            <a:r>
              <a:rPr lang="vi" sz="5333" b="1">
                <a:solidFill>
                  <a:srgbClr val="004FCA"/>
                </a:solidFill>
                <a:latin typeface="Inter SemiBold"/>
                <a:ea typeface="Inter SemiBold"/>
                <a:cs typeface="Inter SemiBold"/>
                <a:sym typeface="Inter SemiBold"/>
              </a:rPr>
              <a:t>9</a:t>
            </a:r>
            <a:endParaRPr sz="5333" b="1">
              <a:solidFill>
                <a:srgbClr val="004FCA"/>
              </a:solidFill>
              <a:latin typeface="Inter SemiBold"/>
              <a:ea typeface="Inter SemiBold"/>
              <a:cs typeface="Inter SemiBold"/>
              <a:sym typeface="Inter SemiBold"/>
            </a:endParaRPr>
          </a:p>
          <a:p>
            <a:pPr>
              <a:lnSpc>
                <a:spcPct val="115000"/>
              </a:lnSpc>
            </a:pPr>
            <a:endParaRPr sz="5333" b="1">
              <a:solidFill>
                <a:srgbClr val="003DA6"/>
              </a:solidFill>
              <a:latin typeface="Inter SemiBold"/>
              <a:ea typeface="Inter SemiBold"/>
              <a:cs typeface="Inter SemiBold"/>
              <a:sym typeface="Inter SemiBold"/>
            </a:endParaRPr>
          </a:p>
          <a:p>
            <a:pPr>
              <a:lnSpc>
                <a:spcPct val="115000"/>
              </a:lnSpc>
            </a:pPr>
            <a:endParaRPr sz="5333" b="1">
              <a:solidFill>
                <a:srgbClr val="3D3D3D"/>
              </a:solidFill>
              <a:latin typeface="Inter SemiBold"/>
              <a:ea typeface="Inter SemiBold"/>
              <a:cs typeface="Inter SemiBold"/>
              <a:sym typeface="Inter SemiBold"/>
            </a:endParaRPr>
          </a:p>
          <a:p>
            <a:endParaRPr sz="5333" b="1">
              <a:solidFill>
                <a:schemeClr val="dk2"/>
              </a:solidFill>
              <a:latin typeface="Inter SemiBold"/>
              <a:ea typeface="Inter SemiBold"/>
              <a:cs typeface="Inter SemiBold"/>
              <a:sym typeface="Inter SemiBold"/>
            </a:endParaRPr>
          </a:p>
        </p:txBody>
      </p:sp>
      <p:sp>
        <p:nvSpPr>
          <p:cNvPr id="122" name="Google Shape;122;p18"/>
          <p:cNvSpPr txBox="1"/>
          <p:nvPr/>
        </p:nvSpPr>
        <p:spPr>
          <a:xfrm>
            <a:off x="6120044" y="6245378"/>
            <a:ext cx="2556800" cy="939200"/>
          </a:xfrm>
          <a:prstGeom prst="rect">
            <a:avLst/>
          </a:prstGeom>
          <a:noFill/>
          <a:ln>
            <a:noFill/>
          </a:ln>
        </p:spPr>
        <p:txBody>
          <a:bodyPr spcFirstLastPara="1" wrap="square" lIns="162533" tIns="162533" rIns="162533" bIns="162533" anchor="t" anchorCtr="0">
            <a:noAutofit/>
          </a:bodyPr>
          <a:lstStyle/>
          <a:p>
            <a:pPr>
              <a:lnSpc>
                <a:spcPct val="115000"/>
              </a:lnSpc>
            </a:pPr>
            <a:r>
              <a:rPr lang="vi" sz="5333" b="1">
                <a:solidFill>
                  <a:srgbClr val="0078FF"/>
                </a:solidFill>
                <a:latin typeface="Inter SemiBold"/>
                <a:ea typeface="Inter SemiBold"/>
                <a:cs typeface="Inter SemiBold"/>
                <a:sym typeface="Inter SemiBold"/>
              </a:rPr>
              <a:t>4</a:t>
            </a:r>
            <a:endParaRPr sz="5333" b="1">
              <a:solidFill>
                <a:srgbClr val="0078FF"/>
              </a:solidFill>
              <a:latin typeface="Inter SemiBold"/>
              <a:ea typeface="Inter SemiBold"/>
              <a:cs typeface="Inter SemiBold"/>
              <a:sym typeface="Inter SemiBold"/>
            </a:endParaRPr>
          </a:p>
          <a:p>
            <a:pPr>
              <a:lnSpc>
                <a:spcPct val="115000"/>
              </a:lnSpc>
            </a:pPr>
            <a:endParaRPr sz="5333" b="1">
              <a:solidFill>
                <a:srgbClr val="004FCA"/>
              </a:solidFill>
              <a:latin typeface="Inter SemiBold"/>
              <a:ea typeface="Inter SemiBold"/>
              <a:cs typeface="Inter SemiBold"/>
              <a:sym typeface="Inter SemiBold"/>
            </a:endParaRPr>
          </a:p>
          <a:p>
            <a:pPr>
              <a:lnSpc>
                <a:spcPct val="115000"/>
              </a:lnSpc>
            </a:pPr>
            <a:endParaRPr sz="5333" b="1">
              <a:solidFill>
                <a:srgbClr val="003DA6"/>
              </a:solidFill>
              <a:latin typeface="Inter SemiBold"/>
              <a:ea typeface="Inter SemiBold"/>
              <a:cs typeface="Inter SemiBold"/>
              <a:sym typeface="Inter SemiBold"/>
            </a:endParaRPr>
          </a:p>
          <a:p>
            <a:pPr>
              <a:lnSpc>
                <a:spcPct val="115000"/>
              </a:lnSpc>
            </a:pPr>
            <a:endParaRPr sz="5333" b="1">
              <a:solidFill>
                <a:srgbClr val="3D3D3D"/>
              </a:solidFill>
              <a:latin typeface="Inter SemiBold"/>
              <a:ea typeface="Inter SemiBold"/>
              <a:cs typeface="Inter SemiBold"/>
              <a:sym typeface="Inter SemiBold"/>
            </a:endParaRPr>
          </a:p>
          <a:p>
            <a:endParaRPr sz="5333" b="1">
              <a:solidFill>
                <a:schemeClr val="dk2"/>
              </a:solidFill>
              <a:latin typeface="Inter SemiBold"/>
              <a:ea typeface="Inter SemiBold"/>
              <a:cs typeface="Inter SemiBold"/>
              <a:sym typeface="Inter SemiBold"/>
            </a:endParaRPr>
          </a:p>
        </p:txBody>
      </p:sp>
      <p:sp>
        <p:nvSpPr>
          <p:cNvPr id="123" name="Google Shape;123;p18"/>
          <p:cNvSpPr txBox="1"/>
          <p:nvPr/>
        </p:nvSpPr>
        <p:spPr>
          <a:xfrm>
            <a:off x="1173734" y="7078533"/>
            <a:ext cx="2491733" cy="612800"/>
          </a:xfrm>
          <a:prstGeom prst="rect">
            <a:avLst/>
          </a:prstGeom>
          <a:noFill/>
          <a:ln>
            <a:noFill/>
          </a:ln>
        </p:spPr>
        <p:txBody>
          <a:bodyPr spcFirstLastPara="1" wrap="square" lIns="162533" tIns="162533" rIns="162533" bIns="162533" anchor="t" anchorCtr="0">
            <a:noAutofit/>
          </a:bodyPr>
          <a:lstStyle/>
          <a:p>
            <a:pPr>
              <a:lnSpc>
                <a:spcPct val="115000"/>
              </a:lnSpc>
            </a:pPr>
            <a:r>
              <a:rPr lang="vi" sz="1956">
                <a:solidFill>
                  <a:srgbClr val="3D3D3D"/>
                </a:solidFill>
                <a:latin typeface="Inter Medium"/>
                <a:ea typeface="Inter Medium"/>
                <a:cs typeface="Inter Medium"/>
                <a:sym typeface="Inter Medium"/>
              </a:rPr>
              <a:t>EMPLOYEES</a:t>
            </a:r>
            <a:endParaRPr sz="1600">
              <a:solidFill>
                <a:schemeClr val="dk1"/>
              </a:solidFill>
              <a:latin typeface="Inter Medium"/>
              <a:ea typeface="Inter Medium"/>
              <a:cs typeface="Inter Medium"/>
              <a:sym typeface="Inter Medium"/>
            </a:endParaRPr>
          </a:p>
          <a:p>
            <a:endParaRPr sz="1600">
              <a:solidFill>
                <a:schemeClr val="dk1"/>
              </a:solidFill>
              <a:latin typeface="Inter Medium"/>
              <a:ea typeface="Inter Medium"/>
              <a:cs typeface="Inter Medium"/>
              <a:sym typeface="Inter Medium"/>
            </a:endParaRPr>
          </a:p>
        </p:txBody>
      </p:sp>
      <p:sp>
        <p:nvSpPr>
          <p:cNvPr id="124" name="Google Shape;124;p18"/>
          <p:cNvSpPr txBox="1"/>
          <p:nvPr/>
        </p:nvSpPr>
        <p:spPr>
          <a:xfrm>
            <a:off x="3851289" y="7078533"/>
            <a:ext cx="2491733" cy="612800"/>
          </a:xfrm>
          <a:prstGeom prst="rect">
            <a:avLst/>
          </a:prstGeom>
          <a:noFill/>
          <a:ln>
            <a:noFill/>
          </a:ln>
        </p:spPr>
        <p:txBody>
          <a:bodyPr spcFirstLastPara="1" wrap="square" lIns="162533" tIns="162533" rIns="162533" bIns="162533" anchor="t" anchorCtr="0">
            <a:noAutofit/>
          </a:bodyPr>
          <a:lstStyle/>
          <a:p>
            <a:pPr>
              <a:lnSpc>
                <a:spcPct val="115000"/>
              </a:lnSpc>
            </a:pPr>
            <a:r>
              <a:rPr lang="vi" sz="1956">
                <a:solidFill>
                  <a:srgbClr val="3D3D3D"/>
                </a:solidFill>
                <a:latin typeface="Inter Medium"/>
                <a:ea typeface="Inter Medium"/>
                <a:cs typeface="Inter Medium"/>
                <a:sym typeface="Inter Medium"/>
              </a:rPr>
              <a:t>OFFICES</a:t>
            </a:r>
            <a:endParaRPr sz="1956">
              <a:solidFill>
                <a:schemeClr val="dk1"/>
              </a:solidFill>
              <a:latin typeface="Inter Medium"/>
              <a:ea typeface="Inter Medium"/>
              <a:cs typeface="Inter Medium"/>
              <a:sym typeface="Inter Medium"/>
            </a:endParaRPr>
          </a:p>
        </p:txBody>
      </p:sp>
      <p:sp>
        <p:nvSpPr>
          <p:cNvPr id="125" name="Google Shape;125;p18"/>
          <p:cNvSpPr txBox="1"/>
          <p:nvPr/>
        </p:nvSpPr>
        <p:spPr>
          <a:xfrm>
            <a:off x="6152578" y="7078533"/>
            <a:ext cx="2491733" cy="612800"/>
          </a:xfrm>
          <a:prstGeom prst="rect">
            <a:avLst/>
          </a:prstGeom>
          <a:noFill/>
          <a:ln>
            <a:noFill/>
          </a:ln>
        </p:spPr>
        <p:txBody>
          <a:bodyPr spcFirstLastPara="1" wrap="square" lIns="162533" tIns="162533" rIns="162533" bIns="162533" anchor="t" anchorCtr="0">
            <a:noAutofit/>
          </a:bodyPr>
          <a:lstStyle/>
          <a:p>
            <a:pPr>
              <a:lnSpc>
                <a:spcPct val="115000"/>
              </a:lnSpc>
            </a:pPr>
            <a:r>
              <a:rPr lang="vi" sz="1956">
                <a:solidFill>
                  <a:srgbClr val="3D3D3D"/>
                </a:solidFill>
                <a:latin typeface="Inter Medium"/>
                <a:ea typeface="Inter Medium"/>
                <a:cs typeface="Inter Medium"/>
                <a:sym typeface="Inter Medium"/>
              </a:rPr>
              <a:t>COUNTRIES</a:t>
            </a:r>
            <a:endParaRPr sz="1956">
              <a:solidFill>
                <a:srgbClr val="3D3D3D"/>
              </a:solidFill>
              <a:latin typeface="Inter Medium"/>
              <a:ea typeface="Inter Medium"/>
              <a:cs typeface="Inter Medium"/>
              <a:sym typeface="Inter Medium"/>
            </a:endParaRPr>
          </a:p>
          <a:p>
            <a:pPr>
              <a:lnSpc>
                <a:spcPct val="115000"/>
              </a:lnSpc>
            </a:pPr>
            <a:endParaRPr sz="1956">
              <a:solidFill>
                <a:schemeClr val="dk1"/>
              </a:solidFill>
              <a:latin typeface="Inter Medium"/>
              <a:ea typeface="Inter Medium"/>
              <a:cs typeface="Inter Medium"/>
              <a:sym typeface="Inter Medium"/>
            </a:endParaRPr>
          </a:p>
          <a:p>
            <a:pPr>
              <a:lnSpc>
                <a:spcPct val="115000"/>
              </a:lnSpc>
            </a:pPr>
            <a:endParaRPr sz="1956">
              <a:solidFill>
                <a:schemeClr val="dk1"/>
              </a:solidFill>
              <a:latin typeface="Inter Medium"/>
              <a:ea typeface="Inter Medium"/>
              <a:cs typeface="Inter Medium"/>
              <a:sym typeface="Inter Medium"/>
            </a:endParaRPr>
          </a:p>
          <a:p>
            <a:endParaRPr sz="1956">
              <a:solidFill>
                <a:schemeClr val="dk1"/>
              </a:solidFill>
              <a:latin typeface="Inter Medium"/>
              <a:ea typeface="Inter Medium"/>
              <a:cs typeface="Inter Medium"/>
              <a:sym typeface="Inter Medium"/>
            </a:endParaRPr>
          </a:p>
          <a:p>
            <a:endParaRPr sz="1956">
              <a:solidFill>
                <a:schemeClr val="dk1"/>
              </a:solidFill>
              <a:latin typeface="Inter Medium"/>
              <a:ea typeface="Inter Medium"/>
              <a:cs typeface="Inter Medium"/>
              <a:sym typeface="Inter Medium"/>
            </a:endParaRPr>
          </a:p>
        </p:txBody>
      </p:sp>
      <p:sp>
        <p:nvSpPr>
          <p:cNvPr id="126" name="Google Shape;126;p18"/>
          <p:cNvSpPr txBox="1"/>
          <p:nvPr/>
        </p:nvSpPr>
        <p:spPr>
          <a:xfrm>
            <a:off x="1769555" y="8432445"/>
            <a:ext cx="5353067" cy="267359"/>
          </a:xfrm>
          <a:prstGeom prst="rect">
            <a:avLst/>
          </a:prstGeom>
          <a:noFill/>
          <a:ln>
            <a:noFill/>
          </a:ln>
        </p:spPr>
        <p:txBody>
          <a:bodyPr spcFirstLastPara="1" wrap="square" lIns="0" tIns="20933" rIns="0" bIns="0" anchor="t" anchorCtr="0">
            <a:spAutoFit/>
          </a:bodyPr>
          <a:lstStyle/>
          <a:p>
            <a:pPr marL="22578">
              <a:buSzPts val="700"/>
            </a:pPr>
            <a:r>
              <a:rPr lang="vi" sz="1600">
                <a:solidFill>
                  <a:srgbClr val="808080"/>
                </a:solidFill>
                <a:latin typeface="Inter"/>
                <a:ea typeface="Inter"/>
                <a:cs typeface="Inter"/>
                <a:sym typeface="Inter"/>
              </a:rPr>
              <a:t>Corporate Profile - For Software Development</a:t>
            </a:r>
            <a:endParaRPr sz="1600">
              <a:latin typeface="Inter"/>
              <a:ea typeface="Inter"/>
              <a:cs typeface="Inter"/>
              <a:sym typeface="Inter"/>
            </a:endParaRPr>
          </a:p>
        </p:txBody>
      </p:sp>
      <p:sp>
        <p:nvSpPr>
          <p:cNvPr id="127" name="Google Shape;127;p18"/>
          <p:cNvSpPr txBox="1"/>
          <p:nvPr/>
        </p:nvSpPr>
        <p:spPr>
          <a:xfrm>
            <a:off x="9768133" y="3308444"/>
            <a:ext cx="1729600" cy="3690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067" b="1">
                <a:solidFill>
                  <a:srgbClr val="404040"/>
                </a:solidFill>
                <a:latin typeface="Inter"/>
                <a:ea typeface="Inter"/>
                <a:cs typeface="Inter"/>
                <a:sym typeface="Inter"/>
              </a:rPr>
              <a:t>VTI KOREA</a:t>
            </a:r>
            <a:endParaRPr sz="1067" b="1">
              <a:solidFill>
                <a:srgbClr val="404040"/>
              </a:solidFill>
              <a:latin typeface="Inter"/>
              <a:ea typeface="Inter"/>
              <a:cs typeface="Inter"/>
              <a:sym typeface="Inter"/>
            </a:endParaRPr>
          </a:p>
          <a:p>
            <a:pPr algn="ctr">
              <a:lnSpc>
                <a:spcPct val="115000"/>
              </a:lnSpc>
            </a:pPr>
            <a:r>
              <a:rPr lang="vi" sz="1067">
                <a:solidFill>
                  <a:srgbClr val="404040"/>
                </a:solidFill>
                <a:latin typeface="Inter SemiBold"/>
                <a:ea typeface="Inter SemiBold"/>
                <a:cs typeface="Inter SemiBold"/>
                <a:sym typeface="Inter SemiBold"/>
              </a:rPr>
              <a:t>(Seoul)</a:t>
            </a: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p:txBody>
      </p:sp>
      <p:sp>
        <p:nvSpPr>
          <p:cNvPr id="128" name="Google Shape;128;p18"/>
          <p:cNvSpPr txBox="1"/>
          <p:nvPr/>
        </p:nvSpPr>
        <p:spPr>
          <a:xfrm>
            <a:off x="12367200" y="3308444"/>
            <a:ext cx="1729600" cy="3690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067" b="1">
                <a:solidFill>
                  <a:srgbClr val="404040"/>
                </a:solidFill>
                <a:latin typeface="Inter"/>
                <a:ea typeface="Inter"/>
                <a:cs typeface="Inter"/>
                <a:sym typeface="Inter"/>
              </a:rPr>
              <a:t>VTI JAPAN</a:t>
            </a:r>
            <a:endParaRPr sz="1067" b="1">
              <a:solidFill>
                <a:srgbClr val="404040"/>
              </a:solidFill>
              <a:latin typeface="Inter"/>
              <a:ea typeface="Inter"/>
              <a:cs typeface="Inter"/>
              <a:sym typeface="Inter"/>
            </a:endParaRPr>
          </a:p>
          <a:p>
            <a:pPr algn="ctr">
              <a:lnSpc>
                <a:spcPct val="115000"/>
              </a:lnSpc>
            </a:pPr>
            <a:r>
              <a:rPr lang="vi" sz="1067">
                <a:solidFill>
                  <a:srgbClr val="404040"/>
                </a:solidFill>
                <a:latin typeface="Inter SemiBold"/>
                <a:ea typeface="Inter SemiBold"/>
                <a:cs typeface="Inter SemiBold"/>
                <a:sym typeface="Inter SemiBold"/>
              </a:rPr>
              <a:t>(Tokyo)</a:t>
            </a: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p:txBody>
      </p:sp>
      <p:sp>
        <p:nvSpPr>
          <p:cNvPr id="129" name="Google Shape;129;p18"/>
          <p:cNvSpPr txBox="1"/>
          <p:nvPr/>
        </p:nvSpPr>
        <p:spPr>
          <a:xfrm>
            <a:off x="13979600" y="4747579"/>
            <a:ext cx="1729600" cy="3690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067" b="1">
                <a:solidFill>
                  <a:srgbClr val="404040"/>
                </a:solidFill>
                <a:latin typeface="Inter"/>
                <a:ea typeface="Inter"/>
                <a:cs typeface="Inter"/>
                <a:sym typeface="Inter"/>
              </a:rPr>
              <a:t>VTI JAPAN</a:t>
            </a:r>
            <a:endParaRPr sz="1067" b="1">
              <a:solidFill>
                <a:srgbClr val="404040"/>
              </a:solidFill>
              <a:latin typeface="Inter"/>
              <a:ea typeface="Inter"/>
              <a:cs typeface="Inter"/>
              <a:sym typeface="Inter"/>
            </a:endParaRPr>
          </a:p>
          <a:p>
            <a:pPr algn="ctr">
              <a:lnSpc>
                <a:spcPct val="115000"/>
              </a:lnSpc>
            </a:pPr>
            <a:r>
              <a:rPr lang="vi" sz="1067">
                <a:solidFill>
                  <a:srgbClr val="404040"/>
                </a:solidFill>
                <a:latin typeface="Inter SemiBold"/>
                <a:ea typeface="Inter SemiBold"/>
                <a:cs typeface="Inter SemiBold"/>
                <a:sym typeface="Inter SemiBold"/>
              </a:rPr>
              <a:t>(Nagoya)</a:t>
            </a: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p:txBody>
      </p:sp>
      <p:sp>
        <p:nvSpPr>
          <p:cNvPr id="130" name="Google Shape;130;p18"/>
          <p:cNvSpPr txBox="1"/>
          <p:nvPr/>
        </p:nvSpPr>
        <p:spPr>
          <a:xfrm>
            <a:off x="13118489" y="6304044"/>
            <a:ext cx="1729600" cy="3690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067" b="1">
                <a:solidFill>
                  <a:srgbClr val="404040"/>
                </a:solidFill>
                <a:latin typeface="Inter"/>
                <a:ea typeface="Inter"/>
                <a:cs typeface="Inter"/>
                <a:sym typeface="Inter"/>
              </a:rPr>
              <a:t>VTI JAPAN</a:t>
            </a:r>
            <a:endParaRPr sz="1067" b="1">
              <a:solidFill>
                <a:srgbClr val="404040"/>
              </a:solidFill>
              <a:latin typeface="Inter"/>
              <a:ea typeface="Inter"/>
              <a:cs typeface="Inter"/>
              <a:sym typeface="Inter"/>
            </a:endParaRPr>
          </a:p>
          <a:p>
            <a:pPr algn="ctr">
              <a:lnSpc>
                <a:spcPct val="115000"/>
              </a:lnSpc>
            </a:pPr>
            <a:r>
              <a:rPr lang="vi" sz="1067">
                <a:solidFill>
                  <a:srgbClr val="404040"/>
                </a:solidFill>
                <a:latin typeface="Inter SemiBold"/>
                <a:ea typeface="Inter SemiBold"/>
                <a:cs typeface="Inter SemiBold"/>
                <a:sym typeface="Inter SemiBold"/>
              </a:rPr>
              <a:t>(Osaka)</a:t>
            </a: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p:txBody>
      </p:sp>
      <p:sp>
        <p:nvSpPr>
          <p:cNvPr id="131" name="Google Shape;131;p18"/>
          <p:cNvSpPr txBox="1"/>
          <p:nvPr/>
        </p:nvSpPr>
        <p:spPr>
          <a:xfrm>
            <a:off x="11872844" y="7691511"/>
            <a:ext cx="1729600" cy="3690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067" b="1">
                <a:solidFill>
                  <a:srgbClr val="404040"/>
                </a:solidFill>
                <a:latin typeface="Inter"/>
                <a:ea typeface="Inter"/>
                <a:cs typeface="Inter"/>
                <a:sym typeface="Inter"/>
              </a:rPr>
              <a:t>VTI JAPAN</a:t>
            </a:r>
            <a:endParaRPr sz="1067" b="1">
              <a:solidFill>
                <a:srgbClr val="404040"/>
              </a:solidFill>
              <a:latin typeface="Inter"/>
              <a:ea typeface="Inter"/>
              <a:cs typeface="Inter"/>
              <a:sym typeface="Inter"/>
            </a:endParaRPr>
          </a:p>
          <a:p>
            <a:pPr algn="ctr">
              <a:lnSpc>
                <a:spcPct val="115000"/>
              </a:lnSpc>
            </a:pPr>
            <a:r>
              <a:rPr lang="vi" sz="1067">
                <a:solidFill>
                  <a:srgbClr val="404040"/>
                </a:solidFill>
                <a:latin typeface="Inter SemiBold"/>
                <a:ea typeface="Inter SemiBold"/>
                <a:cs typeface="Inter SemiBold"/>
                <a:sym typeface="Inter SemiBold"/>
              </a:rPr>
              <a:t>(Fukuoka)</a:t>
            </a: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p:txBody>
      </p:sp>
      <p:sp>
        <p:nvSpPr>
          <p:cNvPr id="132" name="Google Shape;132;p18"/>
          <p:cNvSpPr txBox="1"/>
          <p:nvPr/>
        </p:nvSpPr>
        <p:spPr>
          <a:xfrm>
            <a:off x="10322978" y="7691511"/>
            <a:ext cx="1729600" cy="3690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067" b="1">
                <a:solidFill>
                  <a:srgbClr val="404040"/>
                </a:solidFill>
                <a:latin typeface="Inter"/>
                <a:ea typeface="Inter"/>
                <a:cs typeface="Inter"/>
                <a:sym typeface="Inter"/>
              </a:rPr>
              <a:t>VTI APAC </a:t>
            </a:r>
            <a:r>
              <a:rPr lang="vi" sz="1067">
                <a:solidFill>
                  <a:srgbClr val="404040"/>
                </a:solidFill>
                <a:latin typeface="Inter SemiBold"/>
                <a:ea typeface="Inter SemiBold"/>
                <a:cs typeface="Inter SemiBold"/>
                <a:sym typeface="Inter SemiBold"/>
              </a:rPr>
              <a:t>(Singapore)</a:t>
            </a: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404040"/>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rgbClr val="3D3D3D"/>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lnSpc>
                <a:spcPct val="115000"/>
              </a:lnSpc>
            </a:pP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a:p>
            <a:pPr algn="ctr"/>
            <a:endParaRPr sz="1067">
              <a:solidFill>
                <a:schemeClr val="dk1"/>
              </a:solidFill>
              <a:latin typeface="Inter SemiBold"/>
              <a:ea typeface="Inter SemiBold"/>
              <a:cs typeface="Inter SemiBold"/>
              <a:sym typeface="Inter SemiBold"/>
            </a:endParaRPr>
          </a:p>
        </p:txBody>
      </p:sp>
      <p:sp>
        <p:nvSpPr>
          <p:cNvPr id="133" name="Google Shape;133;p18"/>
          <p:cNvSpPr txBox="1"/>
          <p:nvPr/>
        </p:nvSpPr>
        <p:spPr>
          <a:xfrm>
            <a:off x="9069467" y="6304044"/>
            <a:ext cx="1729600" cy="3690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067" b="1" dirty="0">
                <a:solidFill>
                  <a:srgbClr val="404040"/>
                </a:solidFill>
                <a:latin typeface="Inter"/>
                <a:ea typeface="Inter"/>
                <a:cs typeface="Inter"/>
                <a:sym typeface="Inter"/>
              </a:rPr>
              <a:t>VTI VIETNAM</a:t>
            </a:r>
            <a:endParaRPr sz="1067" b="1" dirty="0">
              <a:solidFill>
                <a:srgbClr val="404040"/>
              </a:solidFill>
              <a:latin typeface="Inter"/>
              <a:ea typeface="Inter"/>
              <a:cs typeface="Inter"/>
              <a:sym typeface="Inter"/>
            </a:endParaRPr>
          </a:p>
          <a:p>
            <a:pPr algn="ctr">
              <a:lnSpc>
                <a:spcPct val="115000"/>
              </a:lnSpc>
            </a:pPr>
            <a:r>
              <a:rPr lang="vi" sz="1067" dirty="0">
                <a:solidFill>
                  <a:srgbClr val="404040"/>
                </a:solidFill>
                <a:latin typeface="Inter SemiBold"/>
                <a:ea typeface="Inter SemiBold"/>
                <a:cs typeface="Inter SemiBold"/>
                <a:sym typeface="Inter SemiBold"/>
              </a:rPr>
              <a:t>(HCMC)</a:t>
            </a:r>
            <a:endParaRPr sz="1067" dirty="0">
              <a:solidFill>
                <a:srgbClr val="404040"/>
              </a:solidFill>
              <a:latin typeface="Inter SemiBold"/>
              <a:ea typeface="Inter SemiBold"/>
              <a:cs typeface="Inter SemiBold"/>
              <a:sym typeface="Inter SemiBold"/>
            </a:endParaRPr>
          </a:p>
          <a:p>
            <a:pPr algn="ctr">
              <a:lnSpc>
                <a:spcPct val="115000"/>
              </a:lnSpc>
            </a:pPr>
            <a:endParaRPr sz="1067" dirty="0">
              <a:solidFill>
                <a:srgbClr val="404040"/>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p:txBody>
      </p:sp>
      <p:sp>
        <p:nvSpPr>
          <p:cNvPr id="134" name="Google Shape;134;p18"/>
          <p:cNvSpPr txBox="1"/>
          <p:nvPr/>
        </p:nvSpPr>
        <p:spPr>
          <a:xfrm>
            <a:off x="8217022" y="4747555"/>
            <a:ext cx="1729600" cy="3690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067" b="1" dirty="0">
                <a:solidFill>
                  <a:srgbClr val="404040"/>
                </a:solidFill>
                <a:latin typeface="Inter"/>
                <a:ea typeface="Inter"/>
                <a:cs typeface="Inter"/>
                <a:sym typeface="Inter"/>
              </a:rPr>
              <a:t>VTI VIETNAM</a:t>
            </a:r>
            <a:endParaRPr sz="1067" b="1" dirty="0">
              <a:solidFill>
                <a:srgbClr val="404040"/>
              </a:solidFill>
              <a:latin typeface="Inter"/>
              <a:ea typeface="Inter"/>
              <a:cs typeface="Inter"/>
              <a:sym typeface="Inter"/>
            </a:endParaRPr>
          </a:p>
          <a:p>
            <a:pPr algn="ctr">
              <a:lnSpc>
                <a:spcPct val="115000"/>
              </a:lnSpc>
            </a:pPr>
            <a:r>
              <a:rPr lang="vi" sz="1067" dirty="0">
                <a:solidFill>
                  <a:srgbClr val="404040"/>
                </a:solidFill>
                <a:latin typeface="Inter SemiBold"/>
                <a:ea typeface="Inter SemiBold"/>
                <a:cs typeface="Inter SemiBold"/>
                <a:sym typeface="Inter SemiBold"/>
              </a:rPr>
              <a:t>(Ha Noi)</a:t>
            </a:r>
            <a:endParaRPr sz="1067" dirty="0">
              <a:solidFill>
                <a:srgbClr val="404040"/>
              </a:solidFill>
              <a:latin typeface="Inter SemiBold"/>
              <a:ea typeface="Inter SemiBold"/>
              <a:cs typeface="Inter SemiBold"/>
              <a:sym typeface="Inter SemiBold"/>
            </a:endParaRPr>
          </a:p>
          <a:p>
            <a:pPr algn="ctr">
              <a:lnSpc>
                <a:spcPct val="115000"/>
              </a:lnSpc>
            </a:pPr>
            <a:endParaRPr sz="1067" dirty="0">
              <a:solidFill>
                <a:srgbClr val="404040"/>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p:txBody>
      </p:sp>
      <p:pic>
        <p:nvPicPr>
          <p:cNvPr id="135" name="Google Shape;135;p1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4657022" y="189376"/>
            <a:ext cx="1212352" cy="778492"/>
          </a:xfrm>
          <a:prstGeom prst="rect">
            <a:avLst/>
          </a:prstGeom>
          <a:noFill/>
          <a:ln>
            <a:noFill/>
          </a:ln>
        </p:spPr>
      </p:pic>
      <p:sp>
        <p:nvSpPr>
          <p:cNvPr id="136" name="Google Shape;136;p18"/>
          <p:cNvSpPr txBox="1"/>
          <p:nvPr/>
        </p:nvSpPr>
        <p:spPr>
          <a:xfrm>
            <a:off x="872535" y="8216178"/>
            <a:ext cx="846400" cy="699733"/>
          </a:xfrm>
          <a:prstGeom prst="rect">
            <a:avLst/>
          </a:prstGeom>
          <a:noFill/>
          <a:ln>
            <a:noFill/>
          </a:ln>
        </p:spPr>
        <p:txBody>
          <a:bodyPr spcFirstLastPara="1" wrap="square" lIns="162533" tIns="162533" rIns="162533" bIns="162533" anchor="ctr" anchorCtr="0">
            <a:noAutofit/>
          </a:bodyPr>
          <a:lstStyle/>
          <a:p>
            <a:pPr algn="ctr"/>
            <a:r>
              <a:rPr lang="vi" sz="2844">
                <a:solidFill>
                  <a:srgbClr val="666666"/>
                </a:solidFill>
                <a:latin typeface="Inter"/>
                <a:ea typeface="Inter"/>
                <a:cs typeface="Inter"/>
                <a:sym typeface="Inter"/>
              </a:rPr>
              <a:t>0</a:t>
            </a:r>
            <a:fld id="{00000000-1234-1234-1234-123412341234}" type="slidenum">
              <a:rPr lang="vi" sz="2844">
                <a:solidFill>
                  <a:srgbClr val="666666"/>
                </a:solidFill>
                <a:latin typeface="Inter"/>
                <a:ea typeface="Inter"/>
                <a:cs typeface="Inter"/>
                <a:sym typeface="Inter"/>
              </a:rPr>
              <a:pPr algn="ctr"/>
              <a:t>4</a:t>
            </a:fld>
            <a:endParaRPr sz="2844">
              <a:solidFill>
                <a:srgbClr val="666666"/>
              </a:solidFill>
              <a:latin typeface="Inter"/>
              <a:ea typeface="Inter"/>
              <a:cs typeface="Inter"/>
              <a:sym typeface="Inter"/>
            </a:endParaRPr>
          </a:p>
        </p:txBody>
      </p:sp>
      <p:pic>
        <p:nvPicPr>
          <p:cNvPr id="137" name="Google Shape;137;p1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2203954" y="5571823"/>
            <a:ext cx="3665422" cy="2622192"/>
          </a:xfrm>
          <a:prstGeom prst="rect">
            <a:avLst/>
          </a:prstGeom>
          <a:noFill/>
          <a:ln>
            <a:noFill/>
          </a:ln>
        </p:spPr>
      </p:pic>
      <p:sp>
        <p:nvSpPr>
          <p:cNvPr id="3" name="Rectangle 2">
            <a:extLst>
              <a:ext uri="{FF2B5EF4-FFF2-40B4-BE49-F238E27FC236}">
                <a16:creationId xmlns:a16="http://schemas.microsoft.com/office/drawing/2014/main" id="{82EB331D-81EC-6BBE-748D-B125725D1F13}"/>
              </a:ext>
            </a:extLst>
          </p:cNvPr>
          <p:cNvSpPr/>
          <p:nvPr/>
        </p:nvSpPr>
        <p:spPr>
          <a:xfrm>
            <a:off x="14096801" y="7691333"/>
            <a:ext cx="1900926" cy="5026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2489"/>
          </a:p>
        </p:txBody>
      </p:sp>
      <p:sp>
        <p:nvSpPr>
          <p:cNvPr id="2" name="Google Shape;133;p18">
            <a:extLst>
              <a:ext uri="{FF2B5EF4-FFF2-40B4-BE49-F238E27FC236}">
                <a16:creationId xmlns:a16="http://schemas.microsoft.com/office/drawing/2014/main" id="{F521E56D-F705-A58C-D0A1-96718617595F}"/>
              </a:ext>
            </a:extLst>
          </p:cNvPr>
          <p:cNvSpPr txBox="1"/>
          <p:nvPr/>
        </p:nvSpPr>
        <p:spPr>
          <a:xfrm>
            <a:off x="14052916" y="7670579"/>
            <a:ext cx="1729600" cy="369067"/>
          </a:xfrm>
          <a:prstGeom prst="rect">
            <a:avLst/>
          </a:prstGeom>
          <a:noFill/>
          <a:ln>
            <a:noFill/>
          </a:ln>
        </p:spPr>
        <p:txBody>
          <a:bodyPr spcFirstLastPara="1" wrap="square" lIns="162533" tIns="162533" rIns="162533" bIns="162533" anchor="t" anchorCtr="0">
            <a:noAutofit/>
          </a:bodyPr>
          <a:lstStyle/>
          <a:p>
            <a:pPr algn="ctr">
              <a:lnSpc>
                <a:spcPct val="115000"/>
              </a:lnSpc>
            </a:pPr>
            <a:r>
              <a:rPr lang="vi" sz="1067" b="1" dirty="0">
                <a:solidFill>
                  <a:srgbClr val="404040"/>
                </a:solidFill>
                <a:latin typeface="Inter"/>
                <a:ea typeface="Inter"/>
                <a:cs typeface="Inter"/>
                <a:sym typeface="Inter"/>
              </a:rPr>
              <a:t>VTI VIETNAM</a:t>
            </a:r>
            <a:endParaRPr sz="1067" b="1" dirty="0">
              <a:solidFill>
                <a:srgbClr val="404040"/>
              </a:solidFill>
              <a:latin typeface="Inter"/>
              <a:ea typeface="Inter"/>
              <a:cs typeface="Inter"/>
              <a:sym typeface="Inter"/>
            </a:endParaRPr>
          </a:p>
          <a:p>
            <a:pPr algn="ctr">
              <a:lnSpc>
                <a:spcPct val="115000"/>
              </a:lnSpc>
            </a:pPr>
            <a:r>
              <a:rPr lang="vi" sz="1067" dirty="0">
                <a:solidFill>
                  <a:srgbClr val="404040"/>
                </a:solidFill>
                <a:latin typeface="Inter SemiBold"/>
                <a:ea typeface="Inter SemiBold"/>
                <a:cs typeface="Inter SemiBold"/>
                <a:sym typeface="Inter SemiBold"/>
              </a:rPr>
              <a:t>(Da Nang)</a:t>
            </a:r>
            <a:endParaRPr sz="1067" dirty="0">
              <a:solidFill>
                <a:srgbClr val="404040"/>
              </a:solidFill>
              <a:latin typeface="Inter SemiBold"/>
              <a:ea typeface="Inter SemiBold"/>
              <a:cs typeface="Inter SemiBold"/>
              <a:sym typeface="Inter SemiBold"/>
            </a:endParaRPr>
          </a:p>
          <a:p>
            <a:pPr algn="ctr">
              <a:lnSpc>
                <a:spcPct val="115000"/>
              </a:lnSpc>
            </a:pPr>
            <a:endParaRPr sz="1067" dirty="0">
              <a:solidFill>
                <a:srgbClr val="404040"/>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rgbClr val="3D3D3D"/>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lnSpc>
                <a:spcPct val="115000"/>
              </a:lnSpc>
            </a:pP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a:p>
            <a:pPr algn="ctr"/>
            <a:endParaRPr sz="1067" dirty="0">
              <a:solidFill>
                <a:schemeClr val="dk1"/>
              </a:solidFill>
              <a:latin typeface="Inter SemiBold"/>
              <a:ea typeface="Inter SemiBold"/>
              <a:cs typeface="Inter SemiBold"/>
              <a:sym typeface="Inter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20"/>
          <p:cNvPicPr preferRelativeResize="0"/>
          <p:nvPr/>
        </p:nvPicPr>
        <p:blipFill>
          <a:blip r:embed="rId3">
            <a:alphaModFix/>
          </a:blip>
          <a:stretch>
            <a:fillRect/>
          </a:stretch>
        </p:blipFill>
        <p:spPr>
          <a:xfrm>
            <a:off x="0" y="8345911"/>
            <a:ext cx="880533" cy="440267"/>
          </a:xfrm>
          <a:prstGeom prst="rect">
            <a:avLst/>
          </a:prstGeom>
          <a:noFill/>
          <a:ln>
            <a:noFill/>
          </a:ln>
        </p:spPr>
      </p:pic>
      <p:cxnSp>
        <p:nvCxnSpPr>
          <p:cNvPr id="164" name="Google Shape;164;p20"/>
          <p:cNvCxnSpPr/>
          <p:nvPr/>
        </p:nvCxnSpPr>
        <p:spPr>
          <a:xfrm>
            <a:off x="1653600" y="8395111"/>
            <a:ext cx="0" cy="419733"/>
          </a:xfrm>
          <a:prstGeom prst="straightConnector1">
            <a:avLst/>
          </a:prstGeom>
          <a:noFill/>
          <a:ln w="9525" cap="flat" cmpd="sng">
            <a:solidFill>
              <a:srgbClr val="808080"/>
            </a:solidFill>
            <a:prstDash val="solid"/>
            <a:round/>
            <a:headEnd type="none" w="med" len="med"/>
            <a:tailEnd type="none" w="med" len="med"/>
          </a:ln>
        </p:spPr>
      </p:cxnSp>
      <p:cxnSp>
        <p:nvCxnSpPr>
          <p:cNvPr id="165" name="Google Shape;165;p20"/>
          <p:cNvCxnSpPr/>
          <p:nvPr/>
        </p:nvCxnSpPr>
        <p:spPr>
          <a:xfrm>
            <a:off x="872533" y="498933"/>
            <a:ext cx="0" cy="305600"/>
          </a:xfrm>
          <a:prstGeom prst="straightConnector1">
            <a:avLst/>
          </a:prstGeom>
          <a:noFill/>
          <a:ln w="9525" cap="flat" cmpd="sng">
            <a:solidFill>
              <a:srgbClr val="808080"/>
            </a:solidFill>
            <a:prstDash val="solid"/>
            <a:round/>
            <a:headEnd type="none" w="med" len="med"/>
            <a:tailEnd type="none" w="med" len="med"/>
          </a:ln>
        </p:spPr>
      </p:cxnSp>
      <p:sp>
        <p:nvSpPr>
          <p:cNvPr id="166" name="Google Shape;166;p20"/>
          <p:cNvSpPr txBox="1"/>
          <p:nvPr/>
        </p:nvSpPr>
        <p:spPr>
          <a:xfrm>
            <a:off x="880534" y="467200"/>
            <a:ext cx="4718933" cy="369067"/>
          </a:xfrm>
          <a:prstGeom prst="rect">
            <a:avLst/>
          </a:prstGeom>
          <a:noFill/>
          <a:ln>
            <a:noFill/>
          </a:ln>
        </p:spPr>
        <p:txBody>
          <a:bodyPr spcFirstLastPara="1" wrap="square" lIns="162533" tIns="162533" rIns="162533" bIns="162533" anchor="ctr" anchorCtr="0">
            <a:noAutofit/>
          </a:bodyPr>
          <a:lstStyle/>
          <a:p>
            <a:r>
              <a:rPr lang="vi" sz="1956" b="1">
                <a:solidFill>
                  <a:srgbClr val="3D3D3D"/>
                </a:solidFill>
                <a:latin typeface="Inter"/>
                <a:ea typeface="Inter"/>
                <a:cs typeface="Inter"/>
                <a:sym typeface="Inter"/>
              </a:rPr>
              <a:t>OUR ECOSYSTEM</a:t>
            </a:r>
            <a:endParaRPr sz="1956">
              <a:solidFill>
                <a:schemeClr val="dk2"/>
              </a:solidFill>
              <a:latin typeface="Inter"/>
              <a:ea typeface="Inter"/>
              <a:cs typeface="Inter"/>
              <a:sym typeface="Inter"/>
            </a:endParaRPr>
          </a:p>
        </p:txBody>
      </p:sp>
      <p:cxnSp>
        <p:nvCxnSpPr>
          <p:cNvPr id="167" name="Google Shape;167;p20"/>
          <p:cNvCxnSpPr>
            <a:endCxn id="168" idx="2"/>
          </p:cNvCxnSpPr>
          <p:nvPr/>
        </p:nvCxnSpPr>
        <p:spPr>
          <a:xfrm rot="10800000">
            <a:off x="8128000" y="4283245"/>
            <a:ext cx="1067" cy="414933"/>
          </a:xfrm>
          <a:prstGeom prst="straightConnector1">
            <a:avLst/>
          </a:prstGeom>
          <a:noFill/>
          <a:ln w="19050" cap="flat" cmpd="sng">
            <a:solidFill>
              <a:schemeClr val="dk2"/>
            </a:solidFill>
            <a:prstDash val="solid"/>
            <a:round/>
            <a:headEnd type="none" w="med" len="med"/>
            <a:tailEnd type="triangle" w="med" len="med"/>
          </a:ln>
        </p:spPr>
      </p:cxnSp>
      <p:pic>
        <p:nvPicPr>
          <p:cNvPr id="169" name="Google Shape;169;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4657022" y="189376"/>
            <a:ext cx="1212352" cy="778492"/>
          </a:xfrm>
          <a:prstGeom prst="rect">
            <a:avLst/>
          </a:prstGeom>
          <a:noFill/>
          <a:ln>
            <a:noFill/>
          </a:ln>
        </p:spPr>
      </p:pic>
      <p:grpSp>
        <p:nvGrpSpPr>
          <p:cNvPr id="170" name="Google Shape;170;p20"/>
          <p:cNvGrpSpPr/>
          <p:nvPr/>
        </p:nvGrpSpPr>
        <p:grpSpPr>
          <a:xfrm>
            <a:off x="744267" y="1329644"/>
            <a:ext cx="14767467" cy="2953600"/>
            <a:chOff x="418650" y="776425"/>
            <a:chExt cx="8306700" cy="1661400"/>
          </a:xfrm>
        </p:grpSpPr>
        <p:sp>
          <p:nvSpPr>
            <p:cNvPr id="168" name="Google Shape;168;p20"/>
            <p:cNvSpPr/>
            <p:nvPr/>
          </p:nvSpPr>
          <p:spPr>
            <a:xfrm>
              <a:off x="418650" y="776425"/>
              <a:ext cx="8306700" cy="1661400"/>
            </a:xfrm>
            <a:prstGeom prst="roundRect">
              <a:avLst>
                <a:gd name="adj" fmla="val 8933"/>
              </a:avLst>
            </a:prstGeom>
            <a:solidFill>
              <a:schemeClr val="lt1"/>
            </a:solidFill>
            <a:ln w="9525" cap="flat" cmpd="sng">
              <a:solidFill>
                <a:schemeClr val="lt1"/>
              </a:solidFill>
              <a:prstDash val="solid"/>
              <a:round/>
              <a:headEnd type="none" w="sm" len="sm"/>
              <a:tailEnd type="none" w="sm" len="sm"/>
            </a:ln>
            <a:effectLst>
              <a:outerShdw blurRad="100013" dist="9525" dir="2640000" algn="bl" rotWithShape="0">
                <a:srgbClr val="000000">
                  <a:alpha val="38000"/>
                </a:srgbClr>
              </a:outerShdw>
            </a:effectLst>
          </p:spPr>
          <p:txBody>
            <a:bodyPr spcFirstLastPara="1" wrap="square" lIns="162533" tIns="162533" rIns="162533" bIns="162533" anchor="ctr" anchorCtr="0">
              <a:noAutofit/>
            </a:bodyPr>
            <a:lstStyle/>
            <a:p>
              <a:pPr algn="ctr"/>
              <a:endParaRPr sz="2489"/>
            </a:p>
          </p:txBody>
        </p:sp>
        <p:sp>
          <p:nvSpPr>
            <p:cNvPr id="171" name="Google Shape;171;p20"/>
            <p:cNvSpPr/>
            <p:nvPr/>
          </p:nvSpPr>
          <p:spPr>
            <a:xfrm>
              <a:off x="505650" y="892125"/>
              <a:ext cx="8132700" cy="247800"/>
            </a:xfrm>
            <a:prstGeom prst="roundRect">
              <a:avLst>
                <a:gd name="adj" fmla="val 16667"/>
              </a:avLst>
            </a:prstGeom>
            <a:solidFill>
              <a:srgbClr val="2F76EB"/>
            </a:solidFill>
            <a:ln>
              <a:noFill/>
            </a:ln>
          </p:spPr>
          <p:txBody>
            <a:bodyPr spcFirstLastPara="1" wrap="square" lIns="162533" tIns="162533" rIns="162533" bIns="162533" anchor="ctr" anchorCtr="0">
              <a:noAutofit/>
            </a:bodyPr>
            <a:lstStyle/>
            <a:p>
              <a:pPr algn="ctr"/>
              <a:r>
                <a:rPr lang="vi" sz="1778">
                  <a:solidFill>
                    <a:schemeClr val="lt1"/>
                  </a:solidFill>
                  <a:latin typeface="Inter SemiBold"/>
                  <a:ea typeface="Inter SemiBold"/>
                  <a:cs typeface="Inter SemiBold"/>
                  <a:sym typeface="Inter SemiBold"/>
                </a:rPr>
                <a:t>IT OUTSOURCING &amp; SOLUTIONS</a:t>
              </a:r>
              <a:endParaRPr sz="2489"/>
            </a:p>
          </p:txBody>
        </p:sp>
        <p:grpSp>
          <p:nvGrpSpPr>
            <p:cNvPr id="172" name="Google Shape;172;p20"/>
            <p:cNvGrpSpPr/>
            <p:nvPr/>
          </p:nvGrpSpPr>
          <p:grpSpPr>
            <a:xfrm>
              <a:off x="855615" y="1308600"/>
              <a:ext cx="7261172" cy="926850"/>
              <a:chOff x="961428" y="1292100"/>
              <a:chExt cx="7261172" cy="926850"/>
            </a:xfrm>
          </p:grpSpPr>
          <p:grpSp>
            <p:nvGrpSpPr>
              <p:cNvPr id="173" name="Google Shape;173;p20"/>
              <p:cNvGrpSpPr/>
              <p:nvPr/>
            </p:nvGrpSpPr>
            <p:grpSpPr>
              <a:xfrm>
                <a:off x="961428" y="1292100"/>
                <a:ext cx="2744774" cy="633662"/>
                <a:chOff x="807676" y="1266825"/>
                <a:chExt cx="2611086" cy="602799"/>
              </a:xfrm>
            </p:grpSpPr>
            <p:pic>
              <p:nvPicPr>
                <p:cNvPr id="174" name="Google Shape;174;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805013" y="1557124"/>
                  <a:ext cx="616425" cy="312500"/>
                </a:xfrm>
                <a:prstGeom prst="rect">
                  <a:avLst/>
                </a:prstGeom>
                <a:noFill/>
                <a:ln>
                  <a:noFill/>
                </a:ln>
              </p:spPr>
            </p:pic>
            <p:grpSp>
              <p:nvGrpSpPr>
                <p:cNvPr id="175" name="Google Shape;175;p20"/>
                <p:cNvGrpSpPr/>
                <p:nvPr/>
              </p:nvGrpSpPr>
              <p:grpSpPr>
                <a:xfrm>
                  <a:off x="807676" y="1266825"/>
                  <a:ext cx="2611086" cy="202189"/>
                  <a:chOff x="807676" y="1266825"/>
                  <a:chExt cx="2611086" cy="202189"/>
                </a:xfrm>
              </p:grpSpPr>
              <p:pic>
                <p:nvPicPr>
                  <p:cNvPr id="176" name="Google Shape;176;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807676" y="1266825"/>
                    <a:ext cx="758799" cy="202189"/>
                  </a:xfrm>
                  <a:prstGeom prst="rect">
                    <a:avLst/>
                  </a:prstGeom>
                  <a:noFill/>
                  <a:ln>
                    <a:noFill/>
                  </a:ln>
                </p:spPr>
              </p:pic>
              <p:pic>
                <p:nvPicPr>
                  <p:cNvPr id="177" name="Google Shape;177;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2748675" y="1268700"/>
                    <a:ext cx="670088" cy="198450"/>
                  </a:xfrm>
                  <a:prstGeom prst="rect">
                    <a:avLst/>
                  </a:prstGeom>
                  <a:noFill/>
                  <a:ln>
                    <a:noFill/>
                  </a:ln>
                </p:spPr>
              </p:pic>
              <p:pic>
                <p:nvPicPr>
                  <p:cNvPr id="178" name="Google Shape;178;p2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1778176" y="1268702"/>
                    <a:ext cx="758800" cy="198454"/>
                  </a:xfrm>
                  <a:prstGeom prst="rect">
                    <a:avLst/>
                  </a:prstGeom>
                  <a:noFill/>
                  <a:ln>
                    <a:noFill/>
                  </a:ln>
                </p:spPr>
              </p:pic>
            </p:grpSp>
          </p:grpSp>
          <p:sp>
            <p:nvSpPr>
              <p:cNvPr id="179" name="Google Shape;179;p20"/>
              <p:cNvSpPr txBox="1"/>
              <p:nvPr/>
            </p:nvSpPr>
            <p:spPr>
              <a:xfrm>
                <a:off x="966863" y="2011350"/>
                <a:ext cx="2733900" cy="207600"/>
              </a:xfrm>
              <a:prstGeom prst="rect">
                <a:avLst/>
              </a:prstGeom>
              <a:noFill/>
              <a:ln>
                <a:noFill/>
              </a:ln>
            </p:spPr>
            <p:txBody>
              <a:bodyPr spcFirstLastPara="1" wrap="square" lIns="162533" tIns="162533" rIns="162533" bIns="162533" anchor="ctr" anchorCtr="0">
                <a:noAutofit/>
              </a:bodyPr>
              <a:lstStyle/>
              <a:p>
                <a:pPr algn="ctr"/>
                <a:r>
                  <a:rPr lang="vi" sz="1422">
                    <a:solidFill>
                      <a:srgbClr val="3D3D3D"/>
                    </a:solidFill>
                    <a:latin typeface="Plus Jakarta Sans Medium"/>
                    <a:ea typeface="Plus Jakarta Sans Medium"/>
                    <a:cs typeface="Plus Jakarta Sans Medium"/>
                    <a:sym typeface="Plus Jakarta Sans Medium"/>
                  </a:rPr>
                  <a:t>Providing IT outsourcing services for target markets</a:t>
                </a:r>
                <a:endParaRPr sz="1422">
                  <a:solidFill>
                    <a:srgbClr val="3D3D3D"/>
                  </a:solidFill>
                  <a:latin typeface="Plus Jakarta Sans Medium"/>
                  <a:ea typeface="Plus Jakarta Sans Medium"/>
                  <a:cs typeface="Plus Jakarta Sans Medium"/>
                  <a:sym typeface="Plus Jakarta Sans Medium"/>
                </a:endParaRPr>
              </a:p>
            </p:txBody>
          </p:sp>
          <p:grpSp>
            <p:nvGrpSpPr>
              <p:cNvPr id="180" name="Google Shape;180;p20"/>
              <p:cNvGrpSpPr/>
              <p:nvPr/>
            </p:nvGrpSpPr>
            <p:grpSpPr>
              <a:xfrm>
                <a:off x="3944650" y="1443075"/>
                <a:ext cx="1350300" cy="541725"/>
                <a:chOff x="4412250" y="1443075"/>
                <a:chExt cx="1350300" cy="541725"/>
              </a:xfrm>
            </p:grpSpPr>
            <p:grpSp>
              <p:nvGrpSpPr>
                <p:cNvPr id="181" name="Google Shape;181;p20"/>
                <p:cNvGrpSpPr/>
                <p:nvPr/>
              </p:nvGrpSpPr>
              <p:grpSpPr>
                <a:xfrm>
                  <a:off x="4482005" y="1650664"/>
                  <a:ext cx="1210787" cy="126526"/>
                  <a:chOff x="4437950" y="1689150"/>
                  <a:chExt cx="984700" cy="102900"/>
                </a:xfrm>
              </p:grpSpPr>
              <p:cxnSp>
                <p:nvCxnSpPr>
                  <p:cNvPr id="182" name="Google Shape;182;p20"/>
                  <p:cNvCxnSpPr/>
                  <p:nvPr/>
                </p:nvCxnSpPr>
                <p:spPr>
                  <a:xfrm>
                    <a:off x="4438050" y="1689150"/>
                    <a:ext cx="984600" cy="0"/>
                  </a:xfrm>
                  <a:prstGeom prst="straightConnector1">
                    <a:avLst/>
                  </a:prstGeom>
                  <a:noFill/>
                  <a:ln w="9525" cap="flat" cmpd="sng">
                    <a:solidFill>
                      <a:srgbClr val="404040"/>
                    </a:solidFill>
                    <a:prstDash val="solid"/>
                    <a:round/>
                    <a:headEnd type="none" w="med" len="med"/>
                    <a:tailEnd type="triangle" w="med" len="med"/>
                  </a:ln>
                </p:spPr>
              </p:cxnSp>
              <p:cxnSp>
                <p:nvCxnSpPr>
                  <p:cNvPr id="183" name="Google Shape;183;p20"/>
                  <p:cNvCxnSpPr/>
                  <p:nvPr/>
                </p:nvCxnSpPr>
                <p:spPr>
                  <a:xfrm rot="10800000">
                    <a:off x="4437950" y="1792050"/>
                    <a:ext cx="973800" cy="0"/>
                  </a:xfrm>
                  <a:prstGeom prst="straightConnector1">
                    <a:avLst/>
                  </a:prstGeom>
                  <a:noFill/>
                  <a:ln w="9525" cap="flat" cmpd="sng">
                    <a:solidFill>
                      <a:srgbClr val="404040"/>
                    </a:solidFill>
                    <a:prstDash val="solid"/>
                    <a:round/>
                    <a:headEnd type="none" w="med" len="med"/>
                    <a:tailEnd type="triangle" w="med" len="med"/>
                  </a:ln>
                </p:spPr>
              </p:cxnSp>
            </p:grpSp>
            <p:sp>
              <p:nvSpPr>
                <p:cNvPr id="184" name="Google Shape;184;p20"/>
                <p:cNvSpPr txBox="1"/>
                <p:nvPr/>
              </p:nvSpPr>
              <p:spPr>
                <a:xfrm>
                  <a:off x="4412250" y="1443075"/>
                  <a:ext cx="1350300" cy="207600"/>
                </a:xfrm>
                <a:prstGeom prst="rect">
                  <a:avLst/>
                </a:prstGeom>
                <a:noFill/>
                <a:ln>
                  <a:noFill/>
                </a:ln>
              </p:spPr>
              <p:txBody>
                <a:bodyPr spcFirstLastPara="1" wrap="square" lIns="162533" tIns="162533" rIns="162533" bIns="162533" anchor="ctr" anchorCtr="0">
                  <a:noAutofit/>
                </a:bodyPr>
                <a:lstStyle/>
                <a:p>
                  <a:pPr algn="ctr"/>
                  <a:r>
                    <a:rPr lang="vi" sz="1422" b="1">
                      <a:solidFill>
                        <a:srgbClr val="404040"/>
                      </a:solidFill>
                      <a:latin typeface="Plus Jakarta Sans"/>
                      <a:ea typeface="Plus Jakarta Sans"/>
                      <a:cs typeface="Plus Jakarta Sans"/>
                      <a:sym typeface="Plus Jakarta Sans"/>
                    </a:rPr>
                    <a:t>Accumulate know-how</a:t>
                  </a:r>
                  <a:endParaRPr sz="1422" b="1">
                    <a:solidFill>
                      <a:srgbClr val="404040"/>
                    </a:solidFill>
                    <a:latin typeface="Plus Jakarta Sans"/>
                    <a:ea typeface="Plus Jakarta Sans"/>
                    <a:cs typeface="Plus Jakarta Sans"/>
                    <a:sym typeface="Plus Jakarta Sans"/>
                  </a:endParaRPr>
                </a:p>
              </p:txBody>
            </p:sp>
            <p:sp>
              <p:nvSpPr>
                <p:cNvPr id="185" name="Google Shape;185;p20"/>
                <p:cNvSpPr txBox="1"/>
                <p:nvPr/>
              </p:nvSpPr>
              <p:spPr>
                <a:xfrm>
                  <a:off x="4412250" y="1777200"/>
                  <a:ext cx="1350300" cy="207600"/>
                </a:xfrm>
                <a:prstGeom prst="rect">
                  <a:avLst/>
                </a:prstGeom>
                <a:noFill/>
                <a:ln>
                  <a:noFill/>
                </a:ln>
              </p:spPr>
              <p:txBody>
                <a:bodyPr spcFirstLastPara="1" wrap="square" lIns="162533" tIns="162533" rIns="162533" bIns="162533" anchor="ctr" anchorCtr="0">
                  <a:noAutofit/>
                </a:bodyPr>
                <a:lstStyle/>
                <a:p>
                  <a:pPr algn="ctr"/>
                  <a:r>
                    <a:rPr lang="vi" sz="1422" b="1">
                      <a:solidFill>
                        <a:srgbClr val="404040"/>
                      </a:solidFill>
                      <a:latin typeface="Plus Jakarta Sans"/>
                      <a:ea typeface="Plus Jakarta Sans"/>
                      <a:cs typeface="Plus Jakarta Sans"/>
                      <a:sym typeface="Plus Jakarta Sans"/>
                    </a:rPr>
                    <a:t>Solution Consulting</a:t>
                  </a:r>
                  <a:endParaRPr sz="1422" b="1">
                    <a:solidFill>
                      <a:srgbClr val="404040"/>
                    </a:solidFill>
                    <a:latin typeface="Plus Jakarta Sans"/>
                    <a:ea typeface="Plus Jakarta Sans"/>
                    <a:cs typeface="Plus Jakarta Sans"/>
                    <a:sym typeface="Plus Jakarta Sans"/>
                  </a:endParaRPr>
                </a:p>
              </p:txBody>
            </p:sp>
          </p:grpSp>
          <p:grpSp>
            <p:nvGrpSpPr>
              <p:cNvPr id="186" name="Google Shape;186;p20"/>
              <p:cNvGrpSpPr/>
              <p:nvPr/>
            </p:nvGrpSpPr>
            <p:grpSpPr>
              <a:xfrm>
                <a:off x="5533400" y="1354300"/>
                <a:ext cx="2689200" cy="719275"/>
                <a:chOff x="5533400" y="1292100"/>
                <a:chExt cx="2689200" cy="719275"/>
              </a:xfrm>
            </p:grpSpPr>
            <p:pic>
              <p:nvPicPr>
                <p:cNvPr id="187" name="Google Shape;187;p20"/>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6187175" y="1292100"/>
                  <a:ext cx="1381638" cy="171900"/>
                </a:xfrm>
                <a:prstGeom prst="rect">
                  <a:avLst/>
                </a:prstGeom>
                <a:noFill/>
                <a:ln>
                  <a:noFill/>
                </a:ln>
              </p:spPr>
            </p:pic>
            <p:sp>
              <p:nvSpPr>
                <p:cNvPr id="188" name="Google Shape;188;p20"/>
                <p:cNvSpPr txBox="1"/>
                <p:nvPr/>
              </p:nvSpPr>
              <p:spPr>
                <a:xfrm>
                  <a:off x="5533400" y="1602475"/>
                  <a:ext cx="2689200" cy="408900"/>
                </a:xfrm>
                <a:prstGeom prst="rect">
                  <a:avLst/>
                </a:prstGeom>
                <a:noFill/>
                <a:ln>
                  <a:noFill/>
                </a:ln>
              </p:spPr>
              <p:txBody>
                <a:bodyPr spcFirstLastPara="1" wrap="square" lIns="162533" tIns="162533" rIns="162533" bIns="162533" anchor="ctr" anchorCtr="0">
                  <a:noAutofit/>
                </a:bodyPr>
                <a:lstStyle/>
                <a:p>
                  <a:pPr algn="ctr"/>
                  <a:r>
                    <a:rPr lang="vi" sz="1422">
                      <a:solidFill>
                        <a:srgbClr val="3D3D3D"/>
                      </a:solidFill>
                      <a:latin typeface="Plus Jakarta Sans Medium"/>
                      <a:ea typeface="Plus Jakarta Sans Medium"/>
                      <a:cs typeface="Plus Jakarta Sans Medium"/>
                      <a:sym typeface="Plus Jakarta Sans Medium"/>
                    </a:rPr>
                    <a:t>Providing comprehensive software &amp; technology</a:t>
                  </a:r>
                  <a:endParaRPr sz="1422">
                    <a:solidFill>
                      <a:srgbClr val="3D3D3D"/>
                    </a:solidFill>
                    <a:latin typeface="Plus Jakarta Sans Medium"/>
                    <a:ea typeface="Plus Jakarta Sans Medium"/>
                    <a:cs typeface="Plus Jakarta Sans Medium"/>
                    <a:sym typeface="Plus Jakarta Sans Medium"/>
                  </a:endParaRPr>
                </a:p>
                <a:p>
                  <a:pPr algn="ctr"/>
                  <a:r>
                    <a:rPr lang="vi" sz="1422">
                      <a:solidFill>
                        <a:srgbClr val="3D3D3D"/>
                      </a:solidFill>
                      <a:latin typeface="Plus Jakarta Sans Medium"/>
                      <a:ea typeface="Plus Jakarta Sans Medium"/>
                      <a:cs typeface="Plus Jakarta Sans Medium"/>
                      <a:sym typeface="Plus Jakarta Sans Medium"/>
                    </a:rPr>
                    <a:t>solution for all manufacturing &amp; retail industries,</a:t>
                  </a:r>
                  <a:endParaRPr sz="1422">
                    <a:solidFill>
                      <a:srgbClr val="3D3D3D"/>
                    </a:solidFill>
                    <a:latin typeface="Plus Jakarta Sans Medium"/>
                    <a:ea typeface="Plus Jakarta Sans Medium"/>
                    <a:cs typeface="Plus Jakarta Sans Medium"/>
                    <a:sym typeface="Plus Jakarta Sans Medium"/>
                  </a:endParaRPr>
                </a:p>
                <a:p>
                  <a:pPr algn="ctr"/>
                  <a:r>
                    <a:rPr lang="vi" sz="1422">
                      <a:solidFill>
                        <a:srgbClr val="3D3D3D"/>
                      </a:solidFill>
                      <a:latin typeface="Plus Jakarta Sans Medium"/>
                      <a:ea typeface="Plus Jakarta Sans Medium"/>
                      <a:cs typeface="Plus Jakarta Sans Medium"/>
                      <a:sym typeface="Plus Jakarta Sans Medium"/>
                    </a:rPr>
                    <a:t>leveraging AI &amp; loT</a:t>
                  </a:r>
                  <a:endParaRPr sz="1422">
                    <a:solidFill>
                      <a:srgbClr val="3D3D3D"/>
                    </a:solidFill>
                    <a:latin typeface="Plus Jakarta Sans Medium"/>
                    <a:ea typeface="Plus Jakarta Sans Medium"/>
                    <a:cs typeface="Plus Jakarta Sans Medium"/>
                    <a:sym typeface="Plus Jakarta Sans Medium"/>
                  </a:endParaRPr>
                </a:p>
              </p:txBody>
            </p:sp>
          </p:grpSp>
        </p:grpSp>
      </p:grpSp>
      <p:sp>
        <p:nvSpPr>
          <p:cNvPr id="189" name="Google Shape;189;p20"/>
          <p:cNvSpPr txBox="1"/>
          <p:nvPr/>
        </p:nvSpPr>
        <p:spPr>
          <a:xfrm>
            <a:off x="872535" y="8216178"/>
            <a:ext cx="846400" cy="699733"/>
          </a:xfrm>
          <a:prstGeom prst="rect">
            <a:avLst/>
          </a:prstGeom>
          <a:noFill/>
          <a:ln>
            <a:noFill/>
          </a:ln>
        </p:spPr>
        <p:txBody>
          <a:bodyPr spcFirstLastPara="1" wrap="square" lIns="162533" tIns="162533" rIns="162533" bIns="162533" anchor="ctr" anchorCtr="0">
            <a:noAutofit/>
          </a:bodyPr>
          <a:lstStyle/>
          <a:p>
            <a:pPr algn="ctr"/>
            <a:r>
              <a:rPr lang="vi" sz="2844">
                <a:solidFill>
                  <a:srgbClr val="666666"/>
                </a:solidFill>
                <a:latin typeface="Inter"/>
                <a:ea typeface="Inter"/>
                <a:cs typeface="Inter"/>
                <a:sym typeface="Inter"/>
              </a:rPr>
              <a:t>0</a:t>
            </a:r>
            <a:fld id="{00000000-1234-1234-1234-123412341234}" type="slidenum">
              <a:rPr lang="vi" sz="2844">
                <a:solidFill>
                  <a:srgbClr val="666666"/>
                </a:solidFill>
                <a:latin typeface="Inter"/>
                <a:ea typeface="Inter"/>
                <a:cs typeface="Inter"/>
                <a:sym typeface="Inter"/>
              </a:rPr>
              <a:pPr algn="ctr"/>
              <a:t>5</a:t>
            </a:fld>
            <a:endParaRPr sz="2844">
              <a:solidFill>
                <a:srgbClr val="666666"/>
              </a:solidFill>
              <a:latin typeface="Inter"/>
              <a:ea typeface="Inter"/>
              <a:cs typeface="Inter"/>
              <a:sym typeface="Inter"/>
            </a:endParaRPr>
          </a:p>
        </p:txBody>
      </p:sp>
      <p:sp>
        <p:nvSpPr>
          <p:cNvPr id="190" name="Google Shape;190;p20"/>
          <p:cNvSpPr txBox="1"/>
          <p:nvPr/>
        </p:nvSpPr>
        <p:spPr>
          <a:xfrm>
            <a:off x="1769555" y="8432445"/>
            <a:ext cx="5353067" cy="267359"/>
          </a:xfrm>
          <a:prstGeom prst="rect">
            <a:avLst/>
          </a:prstGeom>
          <a:noFill/>
          <a:ln>
            <a:noFill/>
          </a:ln>
        </p:spPr>
        <p:txBody>
          <a:bodyPr spcFirstLastPara="1" wrap="square" lIns="0" tIns="20933" rIns="0" bIns="0" anchor="t" anchorCtr="0">
            <a:spAutoFit/>
          </a:bodyPr>
          <a:lstStyle/>
          <a:p>
            <a:pPr marL="22578">
              <a:buSzPts val="700"/>
            </a:pPr>
            <a:r>
              <a:rPr lang="vi" sz="1600">
                <a:solidFill>
                  <a:srgbClr val="808080"/>
                </a:solidFill>
                <a:latin typeface="Inter"/>
                <a:ea typeface="Inter"/>
                <a:cs typeface="Inter"/>
                <a:sym typeface="Inter"/>
              </a:rPr>
              <a:t>Corporate Profile - For Software Development</a:t>
            </a:r>
            <a:endParaRPr sz="1600">
              <a:latin typeface="Inter"/>
              <a:ea typeface="Inter"/>
              <a:cs typeface="Inter"/>
              <a:sym typeface="Inter"/>
            </a:endParaRPr>
          </a:p>
        </p:txBody>
      </p:sp>
      <p:sp>
        <p:nvSpPr>
          <p:cNvPr id="191" name="Google Shape;191;p20"/>
          <p:cNvSpPr/>
          <p:nvPr/>
        </p:nvSpPr>
        <p:spPr>
          <a:xfrm>
            <a:off x="744267" y="4706667"/>
            <a:ext cx="14767467" cy="3214400"/>
          </a:xfrm>
          <a:prstGeom prst="roundRect">
            <a:avLst>
              <a:gd name="adj" fmla="val 8933"/>
            </a:avLst>
          </a:prstGeom>
          <a:solidFill>
            <a:schemeClr val="lt1"/>
          </a:solidFill>
          <a:ln w="9525" cap="flat" cmpd="sng">
            <a:solidFill>
              <a:schemeClr val="lt1"/>
            </a:solidFill>
            <a:prstDash val="solid"/>
            <a:round/>
            <a:headEnd type="none" w="sm" len="sm"/>
            <a:tailEnd type="none" w="sm" len="sm"/>
          </a:ln>
          <a:effectLst>
            <a:outerShdw blurRad="100013" dist="9525" dir="2640000" algn="bl" rotWithShape="0">
              <a:srgbClr val="000000">
                <a:alpha val="38000"/>
              </a:srgbClr>
            </a:outerShdw>
          </a:effectLst>
        </p:spPr>
        <p:txBody>
          <a:bodyPr spcFirstLastPara="1" wrap="square" lIns="162533" tIns="162533" rIns="162533" bIns="162533" anchor="ctr" anchorCtr="0">
            <a:noAutofit/>
          </a:bodyPr>
          <a:lstStyle/>
          <a:p>
            <a:pPr algn="ctr"/>
            <a:endParaRPr sz="2489"/>
          </a:p>
        </p:txBody>
      </p:sp>
      <p:sp>
        <p:nvSpPr>
          <p:cNvPr id="192" name="Google Shape;192;p20"/>
          <p:cNvSpPr/>
          <p:nvPr/>
        </p:nvSpPr>
        <p:spPr>
          <a:xfrm>
            <a:off x="10621956" y="4837045"/>
            <a:ext cx="4771200" cy="2953600"/>
          </a:xfrm>
          <a:prstGeom prst="roundRect">
            <a:avLst>
              <a:gd name="adj" fmla="val 7894"/>
            </a:avLst>
          </a:prstGeom>
          <a:gradFill>
            <a:gsLst>
              <a:gs pos="0">
                <a:srgbClr val="FF802D">
                  <a:alpha val="12156"/>
                </a:srgbClr>
              </a:gs>
              <a:gs pos="100000">
                <a:srgbClr val="EDAB00">
                  <a:alpha val="12156"/>
                </a:srgbClr>
              </a:gs>
            </a:gsLst>
            <a:lin ang="5400012" scaled="0"/>
          </a:gradFill>
          <a:ln>
            <a:noFill/>
          </a:ln>
        </p:spPr>
        <p:txBody>
          <a:bodyPr spcFirstLastPara="1" wrap="square" lIns="162533" tIns="162533" rIns="162533" bIns="162533" anchor="ctr" anchorCtr="0">
            <a:noAutofit/>
          </a:bodyPr>
          <a:lstStyle/>
          <a:p>
            <a:pPr algn="ctr"/>
            <a:endParaRPr sz="2489"/>
          </a:p>
        </p:txBody>
      </p:sp>
      <p:sp>
        <p:nvSpPr>
          <p:cNvPr id="193" name="Google Shape;193;p20"/>
          <p:cNvSpPr/>
          <p:nvPr/>
        </p:nvSpPr>
        <p:spPr>
          <a:xfrm>
            <a:off x="10868800" y="5014934"/>
            <a:ext cx="4205333" cy="539733"/>
          </a:xfrm>
          <a:prstGeom prst="roundRect">
            <a:avLst>
              <a:gd name="adj" fmla="val 16667"/>
            </a:avLst>
          </a:prstGeom>
          <a:gradFill>
            <a:gsLst>
              <a:gs pos="0">
                <a:srgbClr val="FF802D"/>
              </a:gs>
              <a:gs pos="100000">
                <a:srgbClr val="EDAB00"/>
              </a:gs>
            </a:gsLst>
            <a:lin ang="18900044" scaled="0"/>
          </a:gradFill>
          <a:ln>
            <a:noFill/>
          </a:ln>
        </p:spPr>
        <p:txBody>
          <a:bodyPr spcFirstLastPara="1" wrap="square" lIns="162533" tIns="162533" rIns="162533" bIns="162533" anchor="ctr" anchorCtr="0">
            <a:noAutofit/>
          </a:bodyPr>
          <a:lstStyle/>
          <a:p>
            <a:pPr algn="ctr">
              <a:buClr>
                <a:schemeClr val="dk1"/>
              </a:buClr>
              <a:buSzPts val="1100"/>
            </a:pPr>
            <a:r>
              <a:rPr lang="vi" sz="1778">
                <a:solidFill>
                  <a:schemeClr val="lt1"/>
                </a:solidFill>
                <a:latin typeface="Inter SemiBold"/>
                <a:ea typeface="Inter SemiBold"/>
                <a:cs typeface="Inter SemiBold"/>
                <a:sym typeface="Inter SemiBold"/>
              </a:rPr>
              <a:t>HUMAN RESOURCES</a:t>
            </a:r>
            <a:endParaRPr sz="1422">
              <a:solidFill>
                <a:schemeClr val="lt1"/>
              </a:solidFill>
              <a:latin typeface="Inter SemiBold"/>
              <a:ea typeface="Inter SemiBold"/>
              <a:cs typeface="Inter SemiBold"/>
              <a:sym typeface="Inter SemiBold"/>
            </a:endParaRPr>
          </a:p>
        </p:txBody>
      </p:sp>
      <p:pic>
        <p:nvPicPr>
          <p:cNvPr id="194" name="Google Shape;194;p20"/>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12404755" y="6709067"/>
            <a:ext cx="1133445" cy="539733"/>
          </a:xfrm>
          <a:prstGeom prst="rect">
            <a:avLst/>
          </a:prstGeom>
          <a:noFill/>
          <a:ln>
            <a:noFill/>
          </a:ln>
        </p:spPr>
      </p:pic>
      <p:sp>
        <p:nvSpPr>
          <p:cNvPr id="195" name="Google Shape;195;p20"/>
          <p:cNvSpPr/>
          <p:nvPr/>
        </p:nvSpPr>
        <p:spPr>
          <a:xfrm>
            <a:off x="880534" y="4810889"/>
            <a:ext cx="9355733" cy="3043200"/>
          </a:xfrm>
          <a:prstGeom prst="roundRect">
            <a:avLst>
              <a:gd name="adj" fmla="val 9274"/>
            </a:avLst>
          </a:prstGeom>
          <a:gradFill>
            <a:gsLst>
              <a:gs pos="0">
                <a:srgbClr val="44AC7F">
                  <a:alpha val="20000"/>
                </a:srgbClr>
              </a:gs>
              <a:gs pos="100000">
                <a:srgbClr val="94A40D">
                  <a:alpha val="20000"/>
                </a:srgbClr>
              </a:gs>
            </a:gsLst>
            <a:lin ang="10800025" scaled="0"/>
          </a:gradFill>
          <a:ln>
            <a:noFill/>
          </a:ln>
        </p:spPr>
        <p:txBody>
          <a:bodyPr spcFirstLastPara="1" wrap="square" lIns="162533" tIns="162533" rIns="162533" bIns="162533" anchor="ctr" anchorCtr="0">
            <a:noAutofit/>
          </a:bodyPr>
          <a:lstStyle/>
          <a:p>
            <a:pPr algn="ctr"/>
            <a:endParaRPr sz="2489"/>
          </a:p>
        </p:txBody>
      </p:sp>
      <p:sp>
        <p:nvSpPr>
          <p:cNvPr id="196" name="Google Shape;196;p20"/>
          <p:cNvSpPr/>
          <p:nvPr/>
        </p:nvSpPr>
        <p:spPr>
          <a:xfrm>
            <a:off x="1438222" y="5014934"/>
            <a:ext cx="8133867" cy="539733"/>
          </a:xfrm>
          <a:prstGeom prst="roundRect">
            <a:avLst>
              <a:gd name="adj" fmla="val 16667"/>
            </a:avLst>
          </a:prstGeom>
          <a:gradFill>
            <a:gsLst>
              <a:gs pos="0">
                <a:srgbClr val="44AC7F"/>
              </a:gs>
              <a:gs pos="100000">
                <a:srgbClr val="94A40D"/>
              </a:gs>
            </a:gsLst>
            <a:lin ang="10800025" scaled="0"/>
          </a:gradFill>
          <a:ln>
            <a:noFill/>
          </a:ln>
        </p:spPr>
        <p:txBody>
          <a:bodyPr spcFirstLastPara="1" wrap="square" lIns="162533" tIns="162533" rIns="162533" bIns="162533" anchor="ctr" anchorCtr="0">
            <a:noAutofit/>
          </a:bodyPr>
          <a:lstStyle/>
          <a:p>
            <a:pPr algn="ctr">
              <a:buClr>
                <a:schemeClr val="dk1"/>
              </a:buClr>
              <a:buSzPts val="1100"/>
            </a:pPr>
            <a:r>
              <a:rPr lang="vi" sz="1778">
                <a:solidFill>
                  <a:schemeClr val="lt1"/>
                </a:solidFill>
                <a:latin typeface="Inter SemiBold"/>
                <a:ea typeface="Inter SemiBold"/>
                <a:cs typeface="Inter SemiBold"/>
                <a:sym typeface="Inter SemiBold"/>
              </a:rPr>
              <a:t>EDUCATION &amp; TRAINING</a:t>
            </a:r>
            <a:endParaRPr sz="2489"/>
          </a:p>
        </p:txBody>
      </p:sp>
      <p:pic>
        <p:nvPicPr>
          <p:cNvPr id="197" name="Google Shape;197;p20"/>
          <p:cNvPicPr preferRelativeResize="0"/>
          <p:nvPr/>
        </p:nvPicPr>
        <p:blipFill rotWithShape="1">
          <a:blip r:embed="rId11" cstate="email">
            <a:alphaModFix/>
            <a:extLst>
              <a:ext uri="{28A0092B-C50C-407E-A947-70E740481C1C}">
                <a14:useLocalDpi xmlns:a14="http://schemas.microsoft.com/office/drawing/2010/main"/>
              </a:ext>
            </a:extLst>
          </a:blip>
          <a:srcRect/>
          <a:stretch/>
        </p:blipFill>
        <p:spPr>
          <a:xfrm>
            <a:off x="2017293" y="6750128"/>
            <a:ext cx="1660311" cy="699733"/>
          </a:xfrm>
          <a:prstGeom prst="rect">
            <a:avLst/>
          </a:prstGeom>
          <a:noFill/>
          <a:ln>
            <a:noFill/>
          </a:ln>
        </p:spPr>
      </p:pic>
      <p:pic>
        <p:nvPicPr>
          <p:cNvPr id="198" name="Google Shape;198;p20"/>
          <p:cNvPicPr preferRelativeResize="0"/>
          <p:nvPr/>
        </p:nvPicPr>
        <p:blipFill rotWithShape="1">
          <a:blip r:embed="rId12" cstate="email">
            <a:alphaModFix/>
            <a:extLst>
              <a:ext uri="{28A0092B-C50C-407E-A947-70E740481C1C}">
                <a14:useLocalDpi xmlns:a14="http://schemas.microsoft.com/office/drawing/2010/main"/>
              </a:ext>
            </a:extLst>
          </a:blip>
          <a:srcRect/>
          <a:stretch/>
        </p:blipFill>
        <p:spPr>
          <a:xfrm>
            <a:off x="6537601" y="6765517"/>
            <a:ext cx="2695628" cy="577289"/>
          </a:xfrm>
          <a:prstGeom prst="rect">
            <a:avLst/>
          </a:prstGeom>
          <a:noFill/>
          <a:ln>
            <a:noFill/>
          </a:ln>
        </p:spPr>
      </p:pic>
      <p:pic>
        <p:nvPicPr>
          <p:cNvPr id="199" name="Google Shape;199;p20" title="Logo Mentora_final-01.png"/>
          <p:cNvPicPr preferRelativeResize="0"/>
          <p:nvPr/>
        </p:nvPicPr>
        <p:blipFill rotWithShape="1">
          <a:blip r:embed="rId13" cstate="email">
            <a:alphaModFix/>
            <a:extLst>
              <a:ext uri="{28A0092B-C50C-407E-A947-70E740481C1C}">
                <a14:useLocalDpi xmlns:a14="http://schemas.microsoft.com/office/drawing/2010/main"/>
              </a:ext>
            </a:extLst>
          </a:blip>
          <a:srcRect/>
          <a:stretch/>
        </p:blipFill>
        <p:spPr>
          <a:xfrm>
            <a:off x="4218932" y="6709066"/>
            <a:ext cx="2098272" cy="699732"/>
          </a:xfrm>
          <a:prstGeom prst="rect">
            <a:avLst/>
          </a:prstGeom>
          <a:noFill/>
          <a:ln>
            <a:noFill/>
          </a:ln>
        </p:spPr>
      </p:pic>
      <p:pic>
        <p:nvPicPr>
          <p:cNvPr id="200" name="Google Shape;200;p20" title="Asset 14@2x.png"/>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5599465" y="5871423"/>
            <a:ext cx="3314002" cy="416539"/>
          </a:xfrm>
          <a:prstGeom prst="rect">
            <a:avLst/>
          </a:prstGeom>
          <a:noFill/>
          <a:ln>
            <a:noFill/>
          </a:ln>
        </p:spPr>
      </p:pic>
      <p:pic>
        <p:nvPicPr>
          <p:cNvPr id="201" name="Google Shape;201;p20" title="Asset 10@2x.png"/>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a:off x="1905317" y="5893778"/>
            <a:ext cx="3049125" cy="414933"/>
          </a:xfrm>
          <a:prstGeom prst="rect">
            <a:avLst/>
          </a:prstGeom>
          <a:noFill/>
          <a:ln>
            <a:noFill/>
          </a:ln>
        </p:spPr>
      </p:pic>
      <p:pic>
        <p:nvPicPr>
          <p:cNvPr id="202" name="Google Shape;202;p20" title="NextJapan logo_horizontal_without tagline.png"/>
          <p:cNvPicPr preferRelativeResize="0"/>
          <p:nvPr/>
        </p:nvPicPr>
        <p:blipFill rotWithShape="1">
          <a:blip r:embed="rId16" cstate="email">
            <a:alphaModFix/>
            <a:extLst>
              <a:ext uri="{28A0092B-C50C-407E-A947-70E740481C1C}">
                <a14:useLocalDpi xmlns:a14="http://schemas.microsoft.com/office/drawing/2010/main"/>
              </a:ext>
            </a:extLst>
          </a:blip>
          <a:srcRect/>
          <a:stretch/>
        </p:blipFill>
        <p:spPr>
          <a:xfrm>
            <a:off x="11350576" y="5871444"/>
            <a:ext cx="3314002" cy="3577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1"/>
          <p:cNvSpPr/>
          <p:nvPr/>
        </p:nvSpPr>
        <p:spPr>
          <a:xfrm>
            <a:off x="14133" y="-7911"/>
            <a:ext cx="8481600" cy="9144000"/>
          </a:xfrm>
          <a:prstGeom prst="rect">
            <a:avLst/>
          </a:prstGeom>
          <a:solidFill>
            <a:srgbClr val="EEF3FF"/>
          </a:solidFill>
          <a:ln>
            <a:noFill/>
          </a:ln>
        </p:spPr>
        <p:txBody>
          <a:bodyPr spcFirstLastPara="1" wrap="square" lIns="162533" tIns="162533" rIns="162533" bIns="162533" anchor="ctr" anchorCtr="0">
            <a:noAutofit/>
          </a:bodyPr>
          <a:lstStyle/>
          <a:p>
            <a:pPr algn="ctr"/>
            <a:endParaRPr sz="2489"/>
          </a:p>
        </p:txBody>
      </p:sp>
      <p:pic>
        <p:nvPicPr>
          <p:cNvPr id="208" name="Google Shape;208;p2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4594890" y="120000"/>
            <a:ext cx="1485865" cy="954059"/>
          </a:xfrm>
          <a:prstGeom prst="rect">
            <a:avLst/>
          </a:prstGeom>
          <a:noFill/>
          <a:ln>
            <a:noFill/>
          </a:ln>
        </p:spPr>
      </p:pic>
      <p:sp>
        <p:nvSpPr>
          <p:cNvPr id="209" name="Google Shape;209;p21"/>
          <p:cNvSpPr txBox="1">
            <a:spLocks noGrp="1"/>
          </p:cNvSpPr>
          <p:nvPr>
            <p:ph type="ctrTitle"/>
          </p:nvPr>
        </p:nvSpPr>
        <p:spPr>
          <a:xfrm>
            <a:off x="3898201" y="4360366"/>
            <a:ext cx="1742933" cy="423269"/>
          </a:xfrm>
          <a:prstGeom prst="rect">
            <a:avLst/>
          </a:prstGeom>
          <a:noFill/>
          <a:ln>
            <a:noFill/>
          </a:ln>
        </p:spPr>
        <p:txBody>
          <a:bodyPr spcFirstLastPara="1" wrap="square" lIns="0" tIns="12711" rIns="0" bIns="0" anchor="t" anchorCtr="0">
            <a:spAutoFit/>
          </a:bodyPr>
          <a:lstStyle/>
          <a:p>
            <a:pPr>
              <a:buSzPts val="800"/>
            </a:pPr>
            <a:r>
              <a:rPr lang="vi" sz="2667">
                <a:latin typeface="Plus Jakarta Sans"/>
                <a:ea typeface="Plus Jakarta Sans"/>
                <a:cs typeface="Plus Jakarta Sans"/>
                <a:sym typeface="Plus Jakarta Sans"/>
              </a:rPr>
              <a:t>DOMAIN</a:t>
            </a:r>
            <a:endParaRPr sz="2667">
              <a:latin typeface="Plus Jakarta Sans"/>
              <a:ea typeface="Plus Jakarta Sans"/>
              <a:cs typeface="Plus Jakarta Sans"/>
              <a:sym typeface="Plus Jakarta Sans"/>
            </a:endParaRPr>
          </a:p>
        </p:txBody>
      </p:sp>
      <p:sp>
        <p:nvSpPr>
          <p:cNvPr id="210" name="Google Shape;210;p21"/>
          <p:cNvSpPr txBox="1"/>
          <p:nvPr/>
        </p:nvSpPr>
        <p:spPr>
          <a:xfrm>
            <a:off x="10346311" y="7193645"/>
            <a:ext cx="2453333" cy="1012127"/>
          </a:xfrm>
          <a:prstGeom prst="rect">
            <a:avLst/>
          </a:prstGeom>
          <a:noFill/>
          <a:ln>
            <a:noFill/>
          </a:ln>
        </p:spPr>
        <p:txBody>
          <a:bodyPr spcFirstLastPara="1" wrap="square" lIns="162533" tIns="81244" rIns="162533" bIns="81244" anchor="t" anchorCtr="0">
            <a:spAutoFit/>
          </a:bodyPr>
          <a:lstStyle/>
          <a:p>
            <a:pPr>
              <a:buSzPts val="3600"/>
            </a:pPr>
            <a:r>
              <a:rPr lang="vi" sz="5511" b="1">
                <a:solidFill>
                  <a:srgbClr val="0050A2"/>
                </a:solidFill>
                <a:latin typeface="Plus Jakarta Sans"/>
                <a:ea typeface="Plus Jakarta Sans"/>
                <a:cs typeface="Plus Jakarta Sans"/>
                <a:sym typeface="Plus Jakarta Sans"/>
              </a:rPr>
              <a:t>350+</a:t>
            </a:r>
            <a:endParaRPr sz="5511" b="1">
              <a:solidFill>
                <a:srgbClr val="0050A2"/>
              </a:solidFill>
              <a:latin typeface="Plus Jakarta Sans"/>
              <a:ea typeface="Plus Jakarta Sans"/>
              <a:cs typeface="Plus Jakarta Sans"/>
              <a:sym typeface="Plus Jakarta Sans"/>
            </a:endParaRPr>
          </a:p>
        </p:txBody>
      </p:sp>
      <p:sp>
        <p:nvSpPr>
          <p:cNvPr id="211" name="Google Shape;211;p21"/>
          <p:cNvSpPr txBox="1"/>
          <p:nvPr/>
        </p:nvSpPr>
        <p:spPr>
          <a:xfrm>
            <a:off x="12799645" y="7193645"/>
            <a:ext cx="2771733" cy="1012127"/>
          </a:xfrm>
          <a:prstGeom prst="rect">
            <a:avLst/>
          </a:prstGeom>
          <a:noFill/>
          <a:ln>
            <a:noFill/>
          </a:ln>
        </p:spPr>
        <p:txBody>
          <a:bodyPr spcFirstLastPara="1" wrap="square" lIns="162533" tIns="81244" rIns="162533" bIns="81244" anchor="t" anchorCtr="0">
            <a:spAutoFit/>
          </a:bodyPr>
          <a:lstStyle/>
          <a:p>
            <a:pPr>
              <a:buSzPts val="3600"/>
            </a:pPr>
            <a:r>
              <a:rPr lang="vi" sz="5511" b="1">
                <a:solidFill>
                  <a:srgbClr val="0050A2"/>
                </a:solidFill>
                <a:latin typeface="Plus Jakarta Sans"/>
                <a:ea typeface="Plus Jakarta Sans"/>
                <a:cs typeface="Plus Jakarta Sans"/>
                <a:sym typeface="Plus Jakarta Sans"/>
              </a:rPr>
              <a:t>1200+</a:t>
            </a:r>
            <a:endParaRPr sz="5511" b="1">
              <a:solidFill>
                <a:srgbClr val="0050A2"/>
              </a:solidFill>
              <a:latin typeface="Plus Jakarta Sans"/>
              <a:ea typeface="Plus Jakarta Sans"/>
              <a:cs typeface="Plus Jakarta Sans"/>
              <a:sym typeface="Plus Jakarta Sans"/>
            </a:endParaRPr>
          </a:p>
        </p:txBody>
      </p:sp>
      <p:sp>
        <p:nvSpPr>
          <p:cNvPr id="212" name="Google Shape;212;p21"/>
          <p:cNvSpPr txBox="1"/>
          <p:nvPr/>
        </p:nvSpPr>
        <p:spPr>
          <a:xfrm>
            <a:off x="10587396" y="8076100"/>
            <a:ext cx="1872000" cy="341067"/>
          </a:xfrm>
          <a:prstGeom prst="rect">
            <a:avLst/>
          </a:prstGeom>
          <a:noFill/>
          <a:ln>
            <a:noFill/>
          </a:ln>
        </p:spPr>
        <p:txBody>
          <a:bodyPr spcFirstLastPara="1" wrap="square" lIns="0" tIns="12711" rIns="0" bIns="0" anchor="t" anchorCtr="0">
            <a:spAutoFit/>
          </a:bodyPr>
          <a:lstStyle/>
          <a:p>
            <a:pPr>
              <a:buSzPts val="800"/>
            </a:pPr>
            <a:r>
              <a:rPr lang="vi" sz="2133" b="1">
                <a:solidFill>
                  <a:srgbClr val="4D4D4F"/>
                </a:solidFill>
                <a:latin typeface="Plus Jakarta Sans"/>
                <a:ea typeface="Plus Jakarta Sans"/>
                <a:cs typeface="Plus Jakarta Sans"/>
                <a:sym typeface="Plus Jakarta Sans"/>
              </a:rPr>
              <a:t>CUSTOMERS</a:t>
            </a:r>
            <a:endParaRPr sz="2133" b="1">
              <a:latin typeface="Plus Jakarta Sans"/>
              <a:ea typeface="Plus Jakarta Sans"/>
              <a:cs typeface="Plus Jakarta Sans"/>
              <a:sym typeface="Plus Jakarta Sans"/>
            </a:endParaRPr>
          </a:p>
        </p:txBody>
      </p:sp>
      <p:sp>
        <p:nvSpPr>
          <p:cNvPr id="213" name="Google Shape;213;p21"/>
          <p:cNvSpPr txBox="1"/>
          <p:nvPr/>
        </p:nvSpPr>
        <p:spPr>
          <a:xfrm>
            <a:off x="13004133" y="8076089"/>
            <a:ext cx="1932267" cy="341067"/>
          </a:xfrm>
          <a:prstGeom prst="rect">
            <a:avLst/>
          </a:prstGeom>
          <a:noFill/>
          <a:ln>
            <a:noFill/>
          </a:ln>
        </p:spPr>
        <p:txBody>
          <a:bodyPr spcFirstLastPara="1" wrap="square" lIns="0" tIns="12711" rIns="0" bIns="0" anchor="t" anchorCtr="0">
            <a:spAutoFit/>
          </a:bodyPr>
          <a:lstStyle/>
          <a:p>
            <a:pPr marL="22578">
              <a:buSzPts val="800"/>
            </a:pPr>
            <a:r>
              <a:rPr lang="vi" sz="2133" b="1">
                <a:solidFill>
                  <a:srgbClr val="4D4D4F"/>
                </a:solidFill>
                <a:latin typeface="Plus Jakarta Sans"/>
                <a:ea typeface="Plus Jakarta Sans"/>
                <a:cs typeface="Plus Jakarta Sans"/>
                <a:sym typeface="Plus Jakarta Sans"/>
              </a:rPr>
              <a:t>PROJECTS</a:t>
            </a:r>
            <a:endParaRPr sz="2133" b="1">
              <a:latin typeface="Plus Jakarta Sans"/>
              <a:ea typeface="Plus Jakarta Sans"/>
              <a:cs typeface="Plus Jakarta Sans"/>
              <a:sym typeface="Plus Jakarta Sans"/>
            </a:endParaRPr>
          </a:p>
        </p:txBody>
      </p:sp>
      <p:sp>
        <p:nvSpPr>
          <p:cNvPr id="214" name="Google Shape;214;p21"/>
          <p:cNvSpPr txBox="1"/>
          <p:nvPr/>
        </p:nvSpPr>
        <p:spPr>
          <a:xfrm>
            <a:off x="-2015600" y="2677566"/>
            <a:ext cx="1364800" cy="450519"/>
          </a:xfrm>
          <a:prstGeom prst="rect">
            <a:avLst/>
          </a:prstGeom>
          <a:noFill/>
          <a:ln>
            <a:noFill/>
          </a:ln>
        </p:spPr>
        <p:txBody>
          <a:bodyPr spcFirstLastPara="1" wrap="square" lIns="0" tIns="12711" rIns="0" bIns="0" anchor="t" anchorCtr="0">
            <a:spAutoFit/>
          </a:bodyPr>
          <a:lstStyle/>
          <a:p>
            <a:pPr marL="22578" algn="ctr">
              <a:buClr>
                <a:schemeClr val="dk1"/>
              </a:buClr>
              <a:buSzPts val="800"/>
            </a:pPr>
            <a:r>
              <a:rPr lang="vi" sz="1422" b="1">
                <a:solidFill>
                  <a:schemeClr val="lt1"/>
                </a:solidFill>
                <a:latin typeface="Plus Jakarta Sans"/>
                <a:ea typeface="Plus Jakarta Sans"/>
                <a:cs typeface="Plus Jakarta Sans"/>
                <a:sym typeface="Plus Jakarta Sans"/>
              </a:rPr>
              <a:t>Manufacturing</a:t>
            </a:r>
            <a:endParaRPr sz="1422" b="1">
              <a:solidFill>
                <a:schemeClr val="lt1"/>
              </a:solidFill>
              <a:latin typeface="Plus Jakarta Sans"/>
              <a:ea typeface="Plus Jakarta Sans"/>
              <a:cs typeface="Plus Jakarta Sans"/>
              <a:sym typeface="Plus Jakarta Sans"/>
            </a:endParaRPr>
          </a:p>
          <a:p>
            <a:pPr marL="22578" algn="ctr">
              <a:buClr>
                <a:schemeClr val="dk1"/>
              </a:buClr>
              <a:buSzPts val="800"/>
            </a:pPr>
            <a:r>
              <a:rPr lang="vi" sz="1422" b="1">
                <a:solidFill>
                  <a:schemeClr val="lt1"/>
                </a:solidFill>
                <a:latin typeface="Plus Jakarta Sans"/>
                <a:ea typeface="Plus Jakarta Sans"/>
                <a:cs typeface="Plus Jakarta Sans"/>
                <a:sym typeface="Plus Jakarta Sans"/>
              </a:rPr>
              <a:t>24%</a:t>
            </a:r>
            <a:endParaRPr sz="1422" b="1">
              <a:solidFill>
                <a:schemeClr val="lt1"/>
              </a:solidFill>
              <a:latin typeface="Plus Jakarta Sans"/>
              <a:ea typeface="Plus Jakarta Sans"/>
              <a:cs typeface="Plus Jakarta Sans"/>
              <a:sym typeface="Plus Jakarta Sans"/>
            </a:endParaRPr>
          </a:p>
        </p:txBody>
      </p:sp>
      <p:sp>
        <p:nvSpPr>
          <p:cNvPr id="215" name="Google Shape;215;p21"/>
          <p:cNvSpPr txBox="1"/>
          <p:nvPr/>
        </p:nvSpPr>
        <p:spPr>
          <a:xfrm>
            <a:off x="9713689" y="5833734"/>
            <a:ext cx="5734933" cy="1145453"/>
          </a:xfrm>
          <a:prstGeom prst="rect">
            <a:avLst/>
          </a:prstGeom>
          <a:noFill/>
          <a:ln>
            <a:noFill/>
          </a:ln>
        </p:spPr>
        <p:txBody>
          <a:bodyPr spcFirstLastPara="1" wrap="square" lIns="0" tIns="12711" rIns="0" bIns="0" anchor="t" anchorCtr="0">
            <a:spAutoFit/>
          </a:bodyPr>
          <a:lstStyle/>
          <a:p>
            <a:pPr marL="22578" algn="ctr">
              <a:lnSpc>
                <a:spcPct val="115000"/>
              </a:lnSpc>
              <a:buSzPts val="800"/>
            </a:pPr>
            <a:r>
              <a:rPr lang="vi" sz="1600">
                <a:solidFill>
                  <a:srgbClr val="3D3D3D"/>
                </a:solidFill>
                <a:latin typeface="Plus Jakarta Sans"/>
                <a:ea typeface="Plus Jakarta Sans"/>
                <a:cs typeface="Plus Jakarta Sans"/>
                <a:sym typeface="Plus Jakarta Sans"/>
              </a:rPr>
              <a:t>VTI is dedicated to delivering insightful software development services to a wide-ranging client base in diverse industries, out of which Manufacturing and Retail are our two focused sectors.</a:t>
            </a:r>
            <a:endParaRPr sz="2311">
              <a:solidFill>
                <a:srgbClr val="3D3D3D"/>
              </a:solidFill>
              <a:latin typeface="Plus Jakarta Sans"/>
              <a:ea typeface="Plus Jakarta Sans"/>
              <a:cs typeface="Plus Jakarta Sans"/>
              <a:sym typeface="Plus Jakarta Sans"/>
            </a:endParaRPr>
          </a:p>
        </p:txBody>
      </p:sp>
      <p:cxnSp>
        <p:nvCxnSpPr>
          <p:cNvPr id="216" name="Google Shape;216;p21"/>
          <p:cNvCxnSpPr/>
          <p:nvPr/>
        </p:nvCxnSpPr>
        <p:spPr>
          <a:xfrm>
            <a:off x="12731689" y="7350178"/>
            <a:ext cx="0" cy="1022400"/>
          </a:xfrm>
          <a:prstGeom prst="straightConnector1">
            <a:avLst/>
          </a:prstGeom>
          <a:noFill/>
          <a:ln w="9525" cap="flat" cmpd="sng">
            <a:solidFill>
              <a:srgbClr val="808080"/>
            </a:solidFill>
            <a:prstDash val="solid"/>
            <a:round/>
            <a:headEnd type="none" w="med" len="med"/>
            <a:tailEnd type="none" w="med" len="med"/>
          </a:ln>
        </p:spPr>
      </p:cxnSp>
      <p:sp>
        <p:nvSpPr>
          <p:cNvPr id="217" name="Google Shape;217;p21"/>
          <p:cNvSpPr txBox="1"/>
          <p:nvPr/>
        </p:nvSpPr>
        <p:spPr>
          <a:xfrm>
            <a:off x="-1459367" y="4355966"/>
            <a:ext cx="1364800" cy="450519"/>
          </a:xfrm>
          <a:prstGeom prst="rect">
            <a:avLst/>
          </a:prstGeom>
          <a:noFill/>
          <a:ln>
            <a:noFill/>
          </a:ln>
        </p:spPr>
        <p:txBody>
          <a:bodyPr spcFirstLastPara="1" wrap="square" lIns="0" tIns="12711" rIns="0" bIns="0" anchor="t" anchorCtr="0">
            <a:spAutoFit/>
          </a:bodyPr>
          <a:lstStyle/>
          <a:p>
            <a:pPr marL="22578" algn="ctr">
              <a:buClr>
                <a:schemeClr val="dk1"/>
              </a:buClr>
              <a:buSzPts val="800"/>
            </a:pPr>
            <a:r>
              <a:rPr lang="vi" sz="1422" b="1">
                <a:solidFill>
                  <a:schemeClr val="lt1"/>
                </a:solidFill>
                <a:latin typeface="Plus Jakarta Sans"/>
                <a:ea typeface="Plus Jakarta Sans"/>
                <a:cs typeface="Plus Jakarta Sans"/>
                <a:sym typeface="Plus Jakarta Sans"/>
              </a:rPr>
              <a:t>Retail</a:t>
            </a:r>
            <a:endParaRPr sz="1422" b="1">
              <a:solidFill>
                <a:schemeClr val="lt1"/>
              </a:solidFill>
              <a:latin typeface="Plus Jakarta Sans"/>
              <a:ea typeface="Plus Jakarta Sans"/>
              <a:cs typeface="Plus Jakarta Sans"/>
              <a:sym typeface="Plus Jakarta Sans"/>
            </a:endParaRPr>
          </a:p>
          <a:p>
            <a:pPr marL="22578" algn="ctr">
              <a:buClr>
                <a:schemeClr val="dk1"/>
              </a:buClr>
              <a:buSzPts val="800"/>
            </a:pPr>
            <a:r>
              <a:rPr lang="vi" sz="1422" b="1">
                <a:solidFill>
                  <a:schemeClr val="lt1"/>
                </a:solidFill>
                <a:latin typeface="Plus Jakarta Sans"/>
                <a:ea typeface="Plus Jakarta Sans"/>
                <a:cs typeface="Plus Jakarta Sans"/>
                <a:sym typeface="Plus Jakarta Sans"/>
              </a:rPr>
              <a:t>20%</a:t>
            </a:r>
            <a:endParaRPr sz="1422" b="1">
              <a:solidFill>
                <a:schemeClr val="lt1"/>
              </a:solidFill>
              <a:latin typeface="Plus Jakarta Sans"/>
              <a:ea typeface="Plus Jakarta Sans"/>
              <a:cs typeface="Plus Jakarta Sans"/>
              <a:sym typeface="Plus Jakarta Sans"/>
            </a:endParaRPr>
          </a:p>
        </p:txBody>
      </p:sp>
      <p:sp>
        <p:nvSpPr>
          <p:cNvPr id="218" name="Google Shape;218;p21"/>
          <p:cNvSpPr txBox="1"/>
          <p:nvPr/>
        </p:nvSpPr>
        <p:spPr>
          <a:xfrm>
            <a:off x="-3059566" y="4974834"/>
            <a:ext cx="1364800" cy="450519"/>
          </a:xfrm>
          <a:prstGeom prst="rect">
            <a:avLst/>
          </a:prstGeom>
          <a:noFill/>
          <a:ln>
            <a:noFill/>
          </a:ln>
        </p:spPr>
        <p:txBody>
          <a:bodyPr spcFirstLastPara="1" wrap="square" lIns="0" tIns="12711" rIns="0" bIns="0" anchor="t" anchorCtr="0">
            <a:spAutoFit/>
          </a:bodyPr>
          <a:lstStyle/>
          <a:p>
            <a:pPr marL="22578" algn="ctr">
              <a:buClr>
                <a:schemeClr val="dk1"/>
              </a:buClr>
              <a:buSzPts val="800"/>
            </a:pPr>
            <a:r>
              <a:rPr lang="vi" sz="1422" b="1">
                <a:solidFill>
                  <a:schemeClr val="lt1"/>
                </a:solidFill>
                <a:latin typeface="Plus Jakarta Sans"/>
                <a:ea typeface="Plus Jakarta Sans"/>
                <a:cs typeface="Plus Jakarta Sans"/>
                <a:sym typeface="Plus Jakarta Sans"/>
              </a:rPr>
              <a:t>Finance</a:t>
            </a:r>
            <a:endParaRPr sz="1422" b="1">
              <a:solidFill>
                <a:schemeClr val="lt1"/>
              </a:solidFill>
              <a:latin typeface="Plus Jakarta Sans"/>
              <a:ea typeface="Plus Jakarta Sans"/>
              <a:cs typeface="Plus Jakarta Sans"/>
              <a:sym typeface="Plus Jakarta Sans"/>
            </a:endParaRPr>
          </a:p>
          <a:p>
            <a:pPr marL="22578" algn="ctr">
              <a:buClr>
                <a:schemeClr val="dk1"/>
              </a:buClr>
              <a:buSzPts val="800"/>
            </a:pPr>
            <a:r>
              <a:rPr lang="vi" sz="1422" b="1">
                <a:solidFill>
                  <a:schemeClr val="lt1"/>
                </a:solidFill>
                <a:latin typeface="Plus Jakarta Sans"/>
                <a:ea typeface="Plus Jakarta Sans"/>
                <a:cs typeface="Plus Jakarta Sans"/>
                <a:sym typeface="Plus Jakarta Sans"/>
              </a:rPr>
              <a:t>18%</a:t>
            </a:r>
            <a:endParaRPr sz="1422" b="1">
              <a:solidFill>
                <a:schemeClr val="lt1"/>
              </a:solidFill>
              <a:latin typeface="Plus Jakarta Sans"/>
              <a:ea typeface="Plus Jakarta Sans"/>
              <a:cs typeface="Plus Jakarta Sans"/>
              <a:sym typeface="Plus Jakarta Sans"/>
            </a:endParaRPr>
          </a:p>
        </p:txBody>
      </p:sp>
      <p:sp>
        <p:nvSpPr>
          <p:cNvPr id="219" name="Google Shape;219;p21"/>
          <p:cNvSpPr txBox="1"/>
          <p:nvPr/>
        </p:nvSpPr>
        <p:spPr>
          <a:xfrm>
            <a:off x="-4003166" y="4321200"/>
            <a:ext cx="1364800" cy="450519"/>
          </a:xfrm>
          <a:prstGeom prst="rect">
            <a:avLst/>
          </a:prstGeom>
          <a:noFill/>
          <a:ln>
            <a:noFill/>
          </a:ln>
        </p:spPr>
        <p:txBody>
          <a:bodyPr spcFirstLastPara="1" wrap="square" lIns="0" tIns="12711" rIns="0" bIns="0" anchor="t" anchorCtr="0">
            <a:spAutoFit/>
          </a:bodyPr>
          <a:lstStyle/>
          <a:p>
            <a:pPr marL="22578" algn="ctr">
              <a:buClr>
                <a:schemeClr val="dk1"/>
              </a:buClr>
              <a:buSzPts val="800"/>
            </a:pPr>
            <a:r>
              <a:rPr lang="vi" sz="1422" b="1">
                <a:solidFill>
                  <a:schemeClr val="lt1"/>
                </a:solidFill>
                <a:latin typeface="Plus Jakarta Sans"/>
                <a:ea typeface="Plus Jakarta Sans"/>
                <a:cs typeface="Plus Jakarta Sans"/>
                <a:sym typeface="Plus Jakarta Sans"/>
              </a:rPr>
              <a:t>Cloud service</a:t>
            </a:r>
            <a:endParaRPr sz="1422" b="1">
              <a:solidFill>
                <a:schemeClr val="lt1"/>
              </a:solidFill>
              <a:latin typeface="Plus Jakarta Sans"/>
              <a:ea typeface="Plus Jakarta Sans"/>
              <a:cs typeface="Plus Jakarta Sans"/>
              <a:sym typeface="Plus Jakarta Sans"/>
            </a:endParaRPr>
          </a:p>
          <a:p>
            <a:pPr marL="22578" algn="ctr">
              <a:buClr>
                <a:schemeClr val="dk1"/>
              </a:buClr>
              <a:buSzPts val="800"/>
            </a:pPr>
            <a:r>
              <a:rPr lang="vi" sz="1422" b="1">
                <a:solidFill>
                  <a:schemeClr val="lt1"/>
                </a:solidFill>
                <a:latin typeface="Plus Jakarta Sans"/>
                <a:ea typeface="Plus Jakarta Sans"/>
                <a:cs typeface="Plus Jakarta Sans"/>
                <a:sym typeface="Plus Jakarta Sans"/>
              </a:rPr>
              <a:t>8%</a:t>
            </a:r>
            <a:endParaRPr sz="1422" b="1">
              <a:solidFill>
                <a:schemeClr val="lt1"/>
              </a:solidFill>
              <a:latin typeface="Plus Jakarta Sans"/>
              <a:ea typeface="Plus Jakarta Sans"/>
              <a:cs typeface="Plus Jakarta Sans"/>
              <a:sym typeface="Plus Jakarta Sans"/>
            </a:endParaRPr>
          </a:p>
        </p:txBody>
      </p:sp>
      <p:sp>
        <p:nvSpPr>
          <p:cNvPr id="220" name="Google Shape;220;p21"/>
          <p:cNvSpPr txBox="1"/>
          <p:nvPr/>
        </p:nvSpPr>
        <p:spPr>
          <a:xfrm>
            <a:off x="-4003166" y="3418834"/>
            <a:ext cx="1364800" cy="450519"/>
          </a:xfrm>
          <a:prstGeom prst="rect">
            <a:avLst/>
          </a:prstGeom>
          <a:noFill/>
          <a:ln>
            <a:noFill/>
          </a:ln>
        </p:spPr>
        <p:txBody>
          <a:bodyPr spcFirstLastPara="1" wrap="square" lIns="0" tIns="12711" rIns="0" bIns="0" anchor="t" anchorCtr="0">
            <a:spAutoFit/>
          </a:bodyPr>
          <a:lstStyle/>
          <a:p>
            <a:pPr marL="22578" algn="ctr">
              <a:buClr>
                <a:schemeClr val="dk1"/>
              </a:buClr>
              <a:buSzPts val="800"/>
            </a:pPr>
            <a:r>
              <a:rPr lang="vi" sz="1422" b="1">
                <a:solidFill>
                  <a:schemeClr val="lt1"/>
                </a:solidFill>
                <a:latin typeface="Plus Jakarta Sans"/>
                <a:ea typeface="Plus Jakarta Sans"/>
                <a:cs typeface="Plus Jakarta Sans"/>
                <a:sym typeface="Plus Jakarta Sans"/>
              </a:rPr>
              <a:t>Public sector</a:t>
            </a:r>
            <a:endParaRPr sz="1422" b="1">
              <a:solidFill>
                <a:schemeClr val="lt1"/>
              </a:solidFill>
              <a:latin typeface="Plus Jakarta Sans"/>
              <a:ea typeface="Plus Jakarta Sans"/>
              <a:cs typeface="Plus Jakarta Sans"/>
              <a:sym typeface="Plus Jakarta Sans"/>
            </a:endParaRPr>
          </a:p>
          <a:p>
            <a:pPr marL="22578" algn="ctr">
              <a:buClr>
                <a:schemeClr val="dk1"/>
              </a:buClr>
              <a:buSzPts val="800"/>
            </a:pPr>
            <a:r>
              <a:rPr lang="vi" sz="1422" b="1">
                <a:solidFill>
                  <a:schemeClr val="lt1"/>
                </a:solidFill>
                <a:latin typeface="Plus Jakarta Sans"/>
                <a:ea typeface="Plus Jakarta Sans"/>
                <a:cs typeface="Plus Jakarta Sans"/>
                <a:sym typeface="Plus Jakarta Sans"/>
              </a:rPr>
              <a:t>15%</a:t>
            </a:r>
            <a:endParaRPr sz="1422" b="1">
              <a:solidFill>
                <a:schemeClr val="lt1"/>
              </a:solidFill>
              <a:latin typeface="Plus Jakarta Sans"/>
              <a:ea typeface="Plus Jakarta Sans"/>
              <a:cs typeface="Plus Jakarta Sans"/>
              <a:sym typeface="Plus Jakarta Sans"/>
            </a:endParaRPr>
          </a:p>
        </p:txBody>
      </p:sp>
      <p:sp>
        <p:nvSpPr>
          <p:cNvPr id="221" name="Google Shape;221;p21"/>
          <p:cNvSpPr txBox="1"/>
          <p:nvPr/>
        </p:nvSpPr>
        <p:spPr>
          <a:xfrm>
            <a:off x="-1549833" y="2584000"/>
            <a:ext cx="1364800" cy="450519"/>
          </a:xfrm>
          <a:prstGeom prst="rect">
            <a:avLst/>
          </a:prstGeom>
          <a:noFill/>
          <a:ln>
            <a:noFill/>
          </a:ln>
        </p:spPr>
        <p:txBody>
          <a:bodyPr spcFirstLastPara="1" wrap="square" lIns="0" tIns="12711" rIns="0" bIns="0" anchor="t" anchorCtr="0">
            <a:spAutoFit/>
          </a:bodyPr>
          <a:lstStyle/>
          <a:p>
            <a:pPr marL="22578" algn="ctr">
              <a:buClr>
                <a:schemeClr val="dk1"/>
              </a:buClr>
              <a:buSzPts val="800"/>
            </a:pPr>
            <a:r>
              <a:rPr lang="vi" sz="1422" b="1">
                <a:solidFill>
                  <a:schemeClr val="lt1"/>
                </a:solidFill>
                <a:latin typeface="Plus Jakarta Sans"/>
                <a:ea typeface="Plus Jakarta Sans"/>
                <a:cs typeface="Plus Jakarta Sans"/>
                <a:sym typeface="Plus Jakarta Sans"/>
              </a:rPr>
              <a:t>Others</a:t>
            </a:r>
            <a:endParaRPr sz="1422" b="1">
              <a:solidFill>
                <a:schemeClr val="lt1"/>
              </a:solidFill>
              <a:latin typeface="Plus Jakarta Sans"/>
              <a:ea typeface="Plus Jakarta Sans"/>
              <a:cs typeface="Plus Jakarta Sans"/>
              <a:sym typeface="Plus Jakarta Sans"/>
            </a:endParaRPr>
          </a:p>
          <a:p>
            <a:pPr marL="22578" algn="ctr">
              <a:buClr>
                <a:schemeClr val="dk1"/>
              </a:buClr>
              <a:buSzPts val="800"/>
            </a:pPr>
            <a:r>
              <a:rPr lang="vi" sz="1422" b="1">
                <a:solidFill>
                  <a:schemeClr val="lt1"/>
                </a:solidFill>
                <a:latin typeface="Plus Jakarta Sans"/>
                <a:ea typeface="Plus Jakarta Sans"/>
                <a:cs typeface="Plus Jakarta Sans"/>
                <a:sym typeface="Plus Jakarta Sans"/>
              </a:rPr>
              <a:t>15%</a:t>
            </a:r>
            <a:endParaRPr sz="1422" b="1">
              <a:solidFill>
                <a:schemeClr val="lt1"/>
              </a:solidFill>
              <a:latin typeface="Plus Jakarta Sans"/>
              <a:ea typeface="Plus Jakarta Sans"/>
              <a:cs typeface="Plus Jakarta Sans"/>
              <a:sym typeface="Plus Jakarta Sans"/>
            </a:endParaRPr>
          </a:p>
        </p:txBody>
      </p:sp>
      <p:cxnSp>
        <p:nvCxnSpPr>
          <p:cNvPr id="222" name="Google Shape;222;p21"/>
          <p:cNvCxnSpPr/>
          <p:nvPr/>
        </p:nvCxnSpPr>
        <p:spPr>
          <a:xfrm>
            <a:off x="880533" y="444222"/>
            <a:ext cx="0" cy="305600"/>
          </a:xfrm>
          <a:prstGeom prst="straightConnector1">
            <a:avLst/>
          </a:prstGeom>
          <a:noFill/>
          <a:ln w="9525" cap="flat" cmpd="sng">
            <a:solidFill>
              <a:srgbClr val="808080"/>
            </a:solidFill>
            <a:prstDash val="solid"/>
            <a:round/>
            <a:headEnd type="none" w="med" len="med"/>
            <a:tailEnd type="none" w="med" len="med"/>
          </a:ln>
        </p:spPr>
      </p:cxnSp>
      <p:sp>
        <p:nvSpPr>
          <p:cNvPr id="223" name="Google Shape;223;p21"/>
          <p:cNvSpPr txBox="1"/>
          <p:nvPr/>
        </p:nvSpPr>
        <p:spPr>
          <a:xfrm>
            <a:off x="880533" y="260933"/>
            <a:ext cx="2346667" cy="369067"/>
          </a:xfrm>
          <a:prstGeom prst="rect">
            <a:avLst/>
          </a:prstGeom>
          <a:noFill/>
          <a:ln>
            <a:noFill/>
          </a:ln>
        </p:spPr>
        <p:txBody>
          <a:bodyPr spcFirstLastPara="1" wrap="square" lIns="162533" tIns="162533" rIns="162533" bIns="162533" anchor="t" anchorCtr="0">
            <a:noAutofit/>
          </a:bodyPr>
          <a:lstStyle/>
          <a:p>
            <a:r>
              <a:rPr lang="vi" sz="1956" b="1">
                <a:solidFill>
                  <a:srgbClr val="3D3D3D"/>
                </a:solidFill>
                <a:latin typeface="Inter"/>
                <a:ea typeface="Inter"/>
                <a:cs typeface="Inter"/>
                <a:sym typeface="Inter"/>
              </a:rPr>
              <a:t>CUSTOMERS</a:t>
            </a:r>
            <a:endParaRPr sz="1956">
              <a:solidFill>
                <a:srgbClr val="3D3D3D"/>
              </a:solidFill>
              <a:latin typeface="Inter"/>
              <a:ea typeface="Inter"/>
              <a:cs typeface="Inter"/>
              <a:sym typeface="Inter"/>
            </a:endParaRPr>
          </a:p>
          <a:p>
            <a:endParaRPr sz="1956">
              <a:solidFill>
                <a:schemeClr val="dk2"/>
              </a:solidFill>
              <a:latin typeface="Inter"/>
              <a:ea typeface="Inter"/>
              <a:cs typeface="Inter"/>
              <a:sym typeface="Inter"/>
            </a:endParaRPr>
          </a:p>
        </p:txBody>
      </p:sp>
      <p:pic>
        <p:nvPicPr>
          <p:cNvPr id="224" name="Google Shape;224;p21"/>
          <p:cNvPicPr preferRelativeResize="0"/>
          <p:nvPr/>
        </p:nvPicPr>
        <p:blipFill>
          <a:blip r:embed="rId4">
            <a:alphaModFix/>
          </a:blip>
          <a:stretch>
            <a:fillRect/>
          </a:stretch>
        </p:blipFill>
        <p:spPr>
          <a:xfrm>
            <a:off x="0" y="8345911"/>
            <a:ext cx="880533" cy="440267"/>
          </a:xfrm>
          <a:prstGeom prst="rect">
            <a:avLst/>
          </a:prstGeom>
          <a:noFill/>
          <a:ln>
            <a:noFill/>
          </a:ln>
        </p:spPr>
      </p:pic>
      <p:cxnSp>
        <p:nvCxnSpPr>
          <p:cNvPr id="225" name="Google Shape;225;p21"/>
          <p:cNvCxnSpPr/>
          <p:nvPr/>
        </p:nvCxnSpPr>
        <p:spPr>
          <a:xfrm>
            <a:off x="1653600" y="8395111"/>
            <a:ext cx="0" cy="419733"/>
          </a:xfrm>
          <a:prstGeom prst="straightConnector1">
            <a:avLst/>
          </a:prstGeom>
          <a:noFill/>
          <a:ln w="9525" cap="flat" cmpd="sng">
            <a:solidFill>
              <a:srgbClr val="808080"/>
            </a:solidFill>
            <a:prstDash val="solid"/>
            <a:round/>
            <a:headEnd type="none" w="med" len="med"/>
            <a:tailEnd type="none" w="med" len="med"/>
          </a:ln>
        </p:spPr>
      </p:cxnSp>
      <p:sp>
        <p:nvSpPr>
          <p:cNvPr id="226" name="Google Shape;226;p21"/>
          <p:cNvSpPr txBox="1"/>
          <p:nvPr/>
        </p:nvSpPr>
        <p:spPr>
          <a:xfrm>
            <a:off x="872535" y="8216178"/>
            <a:ext cx="846400" cy="699733"/>
          </a:xfrm>
          <a:prstGeom prst="rect">
            <a:avLst/>
          </a:prstGeom>
          <a:noFill/>
          <a:ln>
            <a:noFill/>
          </a:ln>
        </p:spPr>
        <p:txBody>
          <a:bodyPr spcFirstLastPara="1" wrap="square" lIns="162533" tIns="162533" rIns="162533" bIns="162533" anchor="ctr" anchorCtr="0">
            <a:noAutofit/>
          </a:bodyPr>
          <a:lstStyle/>
          <a:p>
            <a:pPr algn="ctr"/>
            <a:r>
              <a:rPr lang="vi" sz="2844">
                <a:solidFill>
                  <a:srgbClr val="666666"/>
                </a:solidFill>
                <a:latin typeface="Inter"/>
                <a:ea typeface="Inter"/>
                <a:cs typeface="Inter"/>
                <a:sym typeface="Inter"/>
              </a:rPr>
              <a:t>0</a:t>
            </a:r>
            <a:fld id="{00000000-1234-1234-1234-123412341234}" type="slidenum">
              <a:rPr lang="vi" sz="2844">
                <a:solidFill>
                  <a:srgbClr val="666666"/>
                </a:solidFill>
                <a:latin typeface="Inter"/>
                <a:ea typeface="Inter"/>
                <a:cs typeface="Inter"/>
                <a:sym typeface="Inter"/>
              </a:rPr>
              <a:pPr algn="ctr"/>
              <a:t>6</a:t>
            </a:fld>
            <a:endParaRPr sz="2844">
              <a:solidFill>
                <a:srgbClr val="666666"/>
              </a:solidFill>
              <a:latin typeface="Inter"/>
              <a:ea typeface="Inter"/>
              <a:cs typeface="Inter"/>
              <a:sym typeface="Inter"/>
            </a:endParaRPr>
          </a:p>
        </p:txBody>
      </p:sp>
      <p:sp>
        <p:nvSpPr>
          <p:cNvPr id="227" name="Google Shape;227;p21"/>
          <p:cNvSpPr txBox="1"/>
          <p:nvPr/>
        </p:nvSpPr>
        <p:spPr>
          <a:xfrm>
            <a:off x="1769555" y="8432445"/>
            <a:ext cx="5353067" cy="267359"/>
          </a:xfrm>
          <a:prstGeom prst="rect">
            <a:avLst/>
          </a:prstGeom>
          <a:noFill/>
          <a:ln>
            <a:noFill/>
          </a:ln>
        </p:spPr>
        <p:txBody>
          <a:bodyPr spcFirstLastPara="1" wrap="square" lIns="0" tIns="20933" rIns="0" bIns="0" anchor="t" anchorCtr="0">
            <a:spAutoFit/>
          </a:bodyPr>
          <a:lstStyle/>
          <a:p>
            <a:pPr marL="22578">
              <a:buSzPts val="700"/>
            </a:pPr>
            <a:r>
              <a:rPr lang="vi" sz="1600">
                <a:solidFill>
                  <a:srgbClr val="808080"/>
                </a:solidFill>
                <a:latin typeface="Inter"/>
                <a:ea typeface="Inter"/>
                <a:cs typeface="Inter"/>
                <a:sym typeface="Inter"/>
              </a:rPr>
              <a:t>Corporate Profile - For Software Development</a:t>
            </a:r>
            <a:endParaRPr sz="1600">
              <a:latin typeface="Inter"/>
              <a:ea typeface="Inter"/>
              <a:cs typeface="Inter"/>
              <a:sym typeface="Inter"/>
            </a:endParaRPr>
          </a:p>
        </p:txBody>
      </p:sp>
      <p:pic>
        <p:nvPicPr>
          <p:cNvPr id="228" name="Google Shape;228;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043159" y="1252424"/>
            <a:ext cx="6923520" cy="6559200"/>
          </a:xfrm>
          <a:prstGeom prst="rect">
            <a:avLst/>
          </a:prstGeom>
          <a:noFill/>
          <a:ln>
            <a:noFill/>
          </a:ln>
        </p:spPr>
      </p:pic>
      <p:pic>
        <p:nvPicPr>
          <p:cNvPr id="229" name="Google Shape;229;p21" title="Points scored"/>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9062486" y="1086356"/>
            <a:ext cx="7037413" cy="4339739"/>
          </a:xfrm>
          <a:prstGeom prst="rect">
            <a:avLst/>
          </a:prstGeom>
          <a:noFill/>
          <a:ln>
            <a:noFill/>
          </a:ln>
        </p:spPr>
      </p:pic>
      <p:pic>
        <p:nvPicPr>
          <p:cNvPr id="230" name="Google Shape;230;p21"/>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19540400" y="2592222"/>
            <a:ext cx="3606978" cy="3617600"/>
          </a:xfrm>
          <a:prstGeom prst="rect">
            <a:avLst/>
          </a:prstGeom>
          <a:noFill/>
          <a:ln>
            <a:noFill/>
          </a:ln>
        </p:spPr>
      </p:pic>
      <p:sp>
        <p:nvSpPr>
          <p:cNvPr id="231" name="Google Shape;231;p21"/>
          <p:cNvSpPr/>
          <p:nvPr/>
        </p:nvSpPr>
        <p:spPr>
          <a:xfrm>
            <a:off x="17171467" y="2285378"/>
            <a:ext cx="267200" cy="274133"/>
          </a:xfrm>
          <a:prstGeom prst="rect">
            <a:avLst/>
          </a:prstGeom>
          <a:solidFill>
            <a:srgbClr val="0054CB"/>
          </a:solidFill>
          <a:ln>
            <a:noFill/>
          </a:ln>
        </p:spPr>
        <p:txBody>
          <a:bodyPr spcFirstLastPara="1" wrap="square" lIns="162533" tIns="162533" rIns="162533" bIns="162533" anchor="ctr" anchorCtr="0">
            <a:noAutofit/>
          </a:bodyPr>
          <a:lstStyle/>
          <a:p>
            <a:pPr algn="ctr"/>
            <a:endParaRPr sz="2489"/>
          </a:p>
        </p:txBody>
      </p:sp>
      <p:sp>
        <p:nvSpPr>
          <p:cNvPr id="232" name="Google Shape;232;p21"/>
          <p:cNvSpPr/>
          <p:nvPr/>
        </p:nvSpPr>
        <p:spPr>
          <a:xfrm>
            <a:off x="17171467" y="2696903"/>
            <a:ext cx="267200" cy="274133"/>
          </a:xfrm>
          <a:prstGeom prst="rect">
            <a:avLst/>
          </a:prstGeom>
          <a:solidFill>
            <a:srgbClr val="037CFB"/>
          </a:solidFill>
          <a:ln>
            <a:noFill/>
          </a:ln>
        </p:spPr>
        <p:txBody>
          <a:bodyPr spcFirstLastPara="1" wrap="square" lIns="162533" tIns="162533" rIns="162533" bIns="162533" anchor="ctr" anchorCtr="0">
            <a:noAutofit/>
          </a:bodyPr>
          <a:lstStyle/>
          <a:p>
            <a:pPr algn="ctr"/>
            <a:endParaRPr sz="2489"/>
          </a:p>
        </p:txBody>
      </p:sp>
      <p:sp>
        <p:nvSpPr>
          <p:cNvPr id="233" name="Google Shape;233;p21"/>
          <p:cNvSpPr/>
          <p:nvPr/>
        </p:nvSpPr>
        <p:spPr>
          <a:xfrm>
            <a:off x="17171467" y="3134174"/>
            <a:ext cx="267200" cy="274133"/>
          </a:xfrm>
          <a:prstGeom prst="rect">
            <a:avLst/>
          </a:prstGeom>
          <a:solidFill>
            <a:srgbClr val="3395F5"/>
          </a:solidFill>
          <a:ln>
            <a:noFill/>
          </a:ln>
        </p:spPr>
        <p:txBody>
          <a:bodyPr spcFirstLastPara="1" wrap="square" lIns="162533" tIns="162533" rIns="162533" bIns="162533" anchor="ctr" anchorCtr="0">
            <a:noAutofit/>
          </a:bodyPr>
          <a:lstStyle/>
          <a:p>
            <a:pPr algn="ctr"/>
            <a:endParaRPr sz="2489"/>
          </a:p>
        </p:txBody>
      </p:sp>
      <p:sp>
        <p:nvSpPr>
          <p:cNvPr id="234" name="Google Shape;234;p21"/>
          <p:cNvSpPr/>
          <p:nvPr/>
        </p:nvSpPr>
        <p:spPr>
          <a:xfrm>
            <a:off x="17171467" y="3545698"/>
            <a:ext cx="267200" cy="274133"/>
          </a:xfrm>
          <a:prstGeom prst="rect">
            <a:avLst/>
          </a:prstGeom>
          <a:solidFill>
            <a:srgbClr val="F4B400"/>
          </a:solidFill>
          <a:ln>
            <a:noFill/>
          </a:ln>
        </p:spPr>
        <p:txBody>
          <a:bodyPr spcFirstLastPara="1" wrap="square" lIns="162533" tIns="162533" rIns="162533" bIns="162533" anchor="ctr" anchorCtr="0">
            <a:noAutofit/>
          </a:bodyPr>
          <a:lstStyle/>
          <a:p>
            <a:pPr algn="ctr"/>
            <a:endParaRPr sz="2489"/>
          </a:p>
        </p:txBody>
      </p:sp>
      <p:sp>
        <p:nvSpPr>
          <p:cNvPr id="235" name="Google Shape;235;p21"/>
          <p:cNvSpPr/>
          <p:nvPr/>
        </p:nvSpPr>
        <p:spPr>
          <a:xfrm>
            <a:off x="17171467" y="4015625"/>
            <a:ext cx="267200" cy="274133"/>
          </a:xfrm>
          <a:prstGeom prst="rect">
            <a:avLst/>
          </a:prstGeom>
          <a:solidFill>
            <a:srgbClr val="E07C00"/>
          </a:solidFill>
          <a:ln>
            <a:noFill/>
          </a:ln>
        </p:spPr>
        <p:txBody>
          <a:bodyPr spcFirstLastPara="1" wrap="square" lIns="162533" tIns="162533" rIns="162533" bIns="162533" anchor="ctr" anchorCtr="0">
            <a:noAutofit/>
          </a:bodyPr>
          <a:lstStyle/>
          <a:p>
            <a:pPr algn="ctr"/>
            <a:endParaRPr sz="2489"/>
          </a:p>
        </p:txBody>
      </p:sp>
      <p:sp>
        <p:nvSpPr>
          <p:cNvPr id="236" name="Google Shape;236;p21"/>
          <p:cNvSpPr/>
          <p:nvPr/>
        </p:nvSpPr>
        <p:spPr>
          <a:xfrm>
            <a:off x="17189291" y="5376912"/>
            <a:ext cx="267200" cy="274133"/>
          </a:xfrm>
          <a:prstGeom prst="rect">
            <a:avLst/>
          </a:prstGeom>
          <a:solidFill>
            <a:srgbClr val="C3E20E"/>
          </a:solidFill>
          <a:ln>
            <a:noFill/>
          </a:ln>
        </p:spPr>
        <p:txBody>
          <a:bodyPr spcFirstLastPara="1" wrap="square" lIns="162533" tIns="162533" rIns="162533" bIns="162533" anchor="ctr" anchorCtr="0">
            <a:noAutofit/>
          </a:bodyPr>
          <a:lstStyle/>
          <a:p>
            <a:pPr algn="ctr"/>
            <a:endParaRPr sz="2489"/>
          </a:p>
        </p:txBody>
      </p:sp>
      <p:sp>
        <p:nvSpPr>
          <p:cNvPr id="237" name="Google Shape;237;p21"/>
          <p:cNvSpPr/>
          <p:nvPr/>
        </p:nvSpPr>
        <p:spPr>
          <a:xfrm>
            <a:off x="17195684" y="4427330"/>
            <a:ext cx="267200" cy="274133"/>
          </a:xfrm>
          <a:prstGeom prst="rect">
            <a:avLst/>
          </a:prstGeom>
          <a:solidFill>
            <a:srgbClr val="00C2CC"/>
          </a:solidFill>
          <a:ln>
            <a:noFill/>
          </a:ln>
        </p:spPr>
        <p:txBody>
          <a:bodyPr spcFirstLastPara="1" wrap="square" lIns="162533" tIns="162533" rIns="162533" bIns="162533" anchor="ctr" anchorCtr="0">
            <a:noAutofit/>
          </a:bodyPr>
          <a:lstStyle/>
          <a:p>
            <a:pPr algn="ctr"/>
            <a:endParaRPr sz="2489"/>
          </a:p>
        </p:txBody>
      </p:sp>
      <p:sp>
        <p:nvSpPr>
          <p:cNvPr id="238" name="Google Shape;238;p21"/>
          <p:cNvSpPr/>
          <p:nvPr/>
        </p:nvSpPr>
        <p:spPr>
          <a:xfrm>
            <a:off x="17195684" y="4851705"/>
            <a:ext cx="267200" cy="274133"/>
          </a:xfrm>
          <a:prstGeom prst="rect">
            <a:avLst/>
          </a:prstGeom>
          <a:solidFill>
            <a:srgbClr val="17DBE5"/>
          </a:solidFill>
          <a:ln>
            <a:noFill/>
          </a:ln>
        </p:spPr>
        <p:txBody>
          <a:bodyPr spcFirstLastPara="1" wrap="square" lIns="162533" tIns="162533" rIns="162533" bIns="162533" anchor="ctr" anchorCtr="0">
            <a:noAutofit/>
          </a:bodyPr>
          <a:lstStyle/>
          <a:p>
            <a:pPr algn="ctr"/>
            <a:endParaRPr sz="2489"/>
          </a:p>
        </p:txBody>
      </p:sp>
      <p:sp>
        <p:nvSpPr>
          <p:cNvPr id="239" name="Google Shape;239;p21"/>
          <p:cNvSpPr txBox="1"/>
          <p:nvPr/>
        </p:nvSpPr>
        <p:spPr>
          <a:xfrm>
            <a:off x="17492267" y="2148844"/>
            <a:ext cx="2031467" cy="603957"/>
          </a:xfrm>
          <a:prstGeom prst="rect">
            <a:avLst/>
          </a:prstGeom>
          <a:noFill/>
          <a:ln>
            <a:noFill/>
          </a:ln>
        </p:spPr>
        <p:txBody>
          <a:bodyPr spcFirstLastPara="1" wrap="square" lIns="162533" tIns="162533" rIns="162533" bIns="162533" anchor="t" anchorCtr="0">
            <a:spAutoFit/>
          </a:bodyPr>
          <a:lstStyle/>
          <a:p>
            <a:pPr>
              <a:lnSpc>
                <a:spcPct val="126000"/>
              </a:lnSpc>
            </a:pPr>
            <a:r>
              <a:rPr lang="vi" sz="1422">
                <a:solidFill>
                  <a:srgbClr val="3D3D3D"/>
                </a:solidFill>
                <a:latin typeface="Plus Jakarta Sans Medium"/>
                <a:ea typeface="Plus Jakarta Sans Medium"/>
                <a:cs typeface="Plus Jakarta Sans Medium"/>
                <a:sym typeface="Plus Jakarta Sans Medium"/>
              </a:rPr>
              <a:t>Retail</a:t>
            </a:r>
            <a:endParaRPr sz="1422">
              <a:solidFill>
                <a:srgbClr val="3D3D3D"/>
              </a:solidFill>
              <a:latin typeface="Plus Jakarta Sans Medium"/>
              <a:ea typeface="Plus Jakarta Sans Medium"/>
              <a:cs typeface="Plus Jakarta Sans Medium"/>
              <a:sym typeface="Plus Jakarta Sans Medium"/>
            </a:endParaRPr>
          </a:p>
        </p:txBody>
      </p:sp>
      <p:sp>
        <p:nvSpPr>
          <p:cNvPr id="240" name="Google Shape;240;p21"/>
          <p:cNvSpPr txBox="1"/>
          <p:nvPr/>
        </p:nvSpPr>
        <p:spPr>
          <a:xfrm>
            <a:off x="17502578" y="2598267"/>
            <a:ext cx="2106667" cy="547083"/>
          </a:xfrm>
          <a:prstGeom prst="rect">
            <a:avLst/>
          </a:prstGeom>
          <a:noFill/>
          <a:ln>
            <a:noFill/>
          </a:ln>
        </p:spPr>
        <p:txBody>
          <a:bodyPr spcFirstLastPara="1" wrap="square" lIns="162533" tIns="162533" rIns="162533" bIns="162533" anchor="t" anchorCtr="0">
            <a:spAutoFit/>
          </a:bodyPr>
          <a:lstStyle/>
          <a:p>
            <a:r>
              <a:rPr lang="vi" sz="1422">
                <a:solidFill>
                  <a:srgbClr val="3D3D3D"/>
                </a:solidFill>
                <a:latin typeface="Plus Jakarta Sans Medium"/>
                <a:ea typeface="Plus Jakarta Sans Medium"/>
                <a:cs typeface="Plus Jakarta Sans Medium"/>
                <a:sym typeface="Plus Jakarta Sans Medium"/>
              </a:rPr>
              <a:t>Manufacturing</a:t>
            </a:r>
            <a:endParaRPr sz="1422">
              <a:solidFill>
                <a:srgbClr val="3D3D3D"/>
              </a:solidFill>
              <a:latin typeface="Plus Jakarta Sans Medium"/>
              <a:ea typeface="Plus Jakarta Sans Medium"/>
              <a:cs typeface="Plus Jakarta Sans Medium"/>
              <a:sym typeface="Plus Jakarta Sans Medium"/>
            </a:endParaRPr>
          </a:p>
        </p:txBody>
      </p:sp>
      <p:sp>
        <p:nvSpPr>
          <p:cNvPr id="241" name="Google Shape;241;p21"/>
          <p:cNvSpPr txBox="1"/>
          <p:nvPr/>
        </p:nvSpPr>
        <p:spPr>
          <a:xfrm>
            <a:off x="17510400" y="2997623"/>
            <a:ext cx="2214400" cy="603957"/>
          </a:xfrm>
          <a:prstGeom prst="rect">
            <a:avLst/>
          </a:prstGeom>
          <a:noFill/>
          <a:ln>
            <a:noFill/>
          </a:ln>
        </p:spPr>
        <p:txBody>
          <a:bodyPr spcFirstLastPara="1" wrap="square" lIns="162533" tIns="162533" rIns="162533" bIns="162533" anchor="t" anchorCtr="0">
            <a:spAutoFit/>
          </a:bodyPr>
          <a:lstStyle/>
          <a:p>
            <a:pPr>
              <a:lnSpc>
                <a:spcPct val="126000"/>
              </a:lnSpc>
            </a:pPr>
            <a:r>
              <a:rPr lang="vi" sz="1422">
                <a:solidFill>
                  <a:srgbClr val="3D3D3D"/>
                </a:solidFill>
                <a:latin typeface="Plus Jakarta Sans Medium"/>
                <a:ea typeface="Plus Jakarta Sans Medium"/>
                <a:cs typeface="Plus Jakarta Sans Medium"/>
                <a:sym typeface="Plus Jakarta Sans Medium"/>
              </a:rPr>
              <a:t>Public Service</a:t>
            </a:r>
            <a:endParaRPr sz="1422">
              <a:solidFill>
                <a:srgbClr val="3D3D3D"/>
              </a:solidFill>
              <a:latin typeface="Plus Jakarta Sans Medium"/>
              <a:ea typeface="Plus Jakarta Sans Medium"/>
              <a:cs typeface="Plus Jakarta Sans Medium"/>
              <a:sym typeface="Plus Jakarta Sans Medium"/>
            </a:endParaRPr>
          </a:p>
        </p:txBody>
      </p:sp>
      <p:sp>
        <p:nvSpPr>
          <p:cNvPr id="242" name="Google Shape;242;p21"/>
          <p:cNvSpPr txBox="1"/>
          <p:nvPr/>
        </p:nvSpPr>
        <p:spPr>
          <a:xfrm>
            <a:off x="17502578" y="3442311"/>
            <a:ext cx="2031467" cy="547083"/>
          </a:xfrm>
          <a:prstGeom prst="rect">
            <a:avLst/>
          </a:prstGeom>
          <a:noFill/>
          <a:ln>
            <a:noFill/>
          </a:ln>
        </p:spPr>
        <p:txBody>
          <a:bodyPr spcFirstLastPara="1" wrap="square" lIns="162533" tIns="162533" rIns="162533" bIns="162533" anchor="t" anchorCtr="0">
            <a:spAutoFit/>
          </a:bodyPr>
          <a:lstStyle/>
          <a:p>
            <a:r>
              <a:rPr lang="vi" sz="1422">
                <a:solidFill>
                  <a:srgbClr val="3D3D3D"/>
                </a:solidFill>
                <a:latin typeface="Plus Jakarta Sans Medium"/>
                <a:ea typeface="Plus Jakarta Sans Medium"/>
                <a:cs typeface="Plus Jakarta Sans Medium"/>
                <a:sym typeface="Plus Jakarta Sans Medium"/>
              </a:rPr>
              <a:t>Banking &amp; Finance</a:t>
            </a:r>
            <a:endParaRPr sz="1422">
              <a:solidFill>
                <a:srgbClr val="3D3D3D"/>
              </a:solidFill>
              <a:latin typeface="Plus Jakarta Sans Medium"/>
              <a:ea typeface="Plus Jakarta Sans Medium"/>
              <a:cs typeface="Plus Jakarta Sans Medium"/>
              <a:sym typeface="Plus Jakarta Sans Medium"/>
            </a:endParaRPr>
          </a:p>
        </p:txBody>
      </p:sp>
      <p:sp>
        <p:nvSpPr>
          <p:cNvPr id="243" name="Google Shape;243;p21"/>
          <p:cNvSpPr txBox="1"/>
          <p:nvPr/>
        </p:nvSpPr>
        <p:spPr>
          <a:xfrm>
            <a:off x="17507534" y="3894499"/>
            <a:ext cx="2041600" cy="603957"/>
          </a:xfrm>
          <a:prstGeom prst="rect">
            <a:avLst/>
          </a:prstGeom>
          <a:noFill/>
          <a:ln>
            <a:noFill/>
          </a:ln>
        </p:spPr>
        <p:txBody>
          <a:bodyPr spcFirstLastPara="1" wrap="square" lIns="162533" tIns="162533" rIns="162533" bIns="162533" anchor="t" anchorCtr="0">
            <a:spAutoFit/>
          </a:bodyPr>
          <a:lstStyle/>
          <a:p>
            <a:pPr>
              <a:lnSpc>
                <a:spcPct val="126000"/>
              </a:lnSpc>
            </a:pPr>
            <a:r>
              <a:rPr lang="vi" sz="1422">
                <a:solidFill>
                  <a:srgbClr val="3D3D3D"/>
                </a:solidFill>
                <a:latin typeface="Plus Jakarta Sans Medium"/>
                <a:ea typeface="Plus Jakarta Sans Medium"/>
                <a:cs typeface="Plus Jakarta Sans Medium"/>
                <a:sym typeface="Plus Jakarta Sans Medium"/>
              </a:rPr>
              <a:t>Internet Service</a:t>
            </a:r>
            <a:endParaRPr sz="1422">
              <a:solidFill>
                <a:srgbClr val="3D3D3D"/>
              </a:solidFill>
              <a:latin typeface="Plus Jakarta Sans Medium"/>
              <a:ea typeface="Plus Jakarta Sans Medium"/>
              <a:cs typeface="Plus Jakarta Sans Medium"/>
              <a:sym typeface="Plus Jakarta Sans Medium"/>
            </a:endParaRPr>
          </a:p>
        </p:txBody>
      </p:sp>
      <p:grpSp>
        <p:nvGrpSpPr>
          <p:cNvPr id="244" name="Google Shape;244;p21"/>
          <p:cNvGrpSpPr/>
          <p:nvPr/>
        </p:nvGrpSpPr>
        <p:grpSpPr>
          <a:xfrm>
            <a:off x="17195689" y="5683956"/>
            <a:ext cx="2245733" cy="765924"/>
            <a:chOff x="5467300" y="1908388"/>
            <a:chExt cx="1263225" cy="430832"/>
          </a:xfrm>
        </p:grpSpPr>
        <p:sp>
          <p:nvSpPr>
            <p:cNvPr id="245" name="Google Shape;245;p21"/>
            <p:cNvSpPr/>
            <p:nvPr/>
          </p:nvSpPr>
          <p:spPr>
            <a:xfrm>
              <a:off x="5467300" y="2048451"/>
              <a:ext cx="150300" cy="154200"/>
            </a:xfrm>
            <a:prstGeom prst="rect">
              <a:avLst/>
            </a:prstGeom>
            <a:solidFill>
              <a:srgbClr val="A3C416"/>
            </a:solidFill>
            <a:ln>
              <a:noFill/>
            </a:ln>
          </p:spPr>
          <p:txBody>
            <a:bodyPr spcFirstLastPara="1" wrap="square" lIns="162533" tIns="162533" rIns="162533" bIns="162533" anchor="ctr" anchorCtr="0">
              <a:noAutofit/>
            </a:bodyPr>
            <a:lstStyle/>
            <a:p>
              <a:pPr algn="ctr"/>
              <a:endParaRPr sz="2489"/>
            </a:p>
          </p:txBody>
        </p:sp>
        <p:sp>
          <p:nvSpPr>
            <p:cNvPr id="246" name="Google Shape;246;p21"/>
            <p:cNvSpPr txBox="1"/>
            <p:nvPr/>
          </p:nvSpPr>
          <p:spPr>
            <a:xfrm>
              <a:off x="5677525" y="1908388"/>
              <a:ext cx="1053000" cy="430832"/>
            </a:xfrm>
            <a:prstGeom prst="rect">
              <a:avLst/>
            </a:prstGeom>
            <a:noFill/>
            <a:ln>
              <a:noFill/>
            </a:ln>
          </p:spPr>
          <p:txBody>
            <a:bodyPr spcFirstLastPara="1" wrap="square" lIns="162533" tIns="162533" rIns="162533" bIns="162533" anchor="t" anchorCtr="0">
              <a:spAutoFit/>
            </a:bodyPr>
            <a:lstStyle/>
            <a:p>
              <a:r>
                <a:rPr lang="vi" sz="1422">
                  <a:solidFill>
                    <a:srgbClr val="3D3D3D"/>
                  </a:solidFill>
                  <a:latin typeface="Plus Jakarta Sans Medium"/>
                  <a:ea typeface="Plus Jakarta Sans Medium"/>
                  <a:cs typeface="Plus Jakarta Sans Medium"/>
                  <a:sym typeface="Plus Jakarta Sans Medium"/>
                </a:rPr>
                <a:t>Automotive and Others</a:t>
              </a:r>
              <a:endParaRPr sz="1422">
                <a:solidFill>
                  <a:srgbClr val="3D3D3D"/>
                </a:solidFill>
                <a:latin typeface="Plus Jakarta Sans Medium"/>
                <a:ea typeface="Plus Jakarta Sans Medium"/>
                <a:cs typeface="Plus Jakarta Sans Medium"/>
                <a:sym typeface="Plus Jakarta Sans Medium"/>
              </a:endParaRPr>
            </a:p>
          </p:txBody>
        </p:sp>
      </p:grpSp>
      <p:sp>
        <p:nvSpPr>
          <p:cNvPr id="247" name="Google Shape;247;p21"/>
          <p:cNvSpPr txBox="1"/>
          <p:nvPr/>
        </p:nvSpPr>
        <p:spPr>
          <a:xfrm>
            <a:off x="17528224" y="5254787"/>
            <a:ext cx="2177600" cy="603957"/>
          </a:xfrm>
          <a:prstGeom prst="rect">
            <a:avLst/>
          </a:prstGeom>
          <a:noFill/>
          <a:ln>
            <a:noFill/>
          </a:ln>
        </p:spPr>
        <p:txBody>
          <a:bodyPr spcFirstLastPara="1" wrap="square" lIns="162533" tIns="162533" rIns="162533" bIns="162533" anchor="t" anchorCtr="0">
            <a:spAutoFit/>
          </a:bodyPr>
          <a:lstStyle/>
          <a:p>
            <a:pPr>
              <a:lnSpc>
                <a:spcPct val="126000"/>
              </a:lnSpc>
            </a:pPr>
            <a:r>
              <a:rPr lang="vi" sz="1422">
                <a:solidFill>
                  <a:srgbClr val="3D3D3D"/>
                </a:solidFill>
                <a:latin typeface="Plus Jakarta Sans Medium"/>
                <a:ea typeface="Plus Jakarta Sans Medium"/>
                <a:cs typeface="Plus Jakarta Sans Medium"/>
                <a:sym typeface="Plus Jakarta Sans Medium"/>
              </a:rPr>
              <a:t>Utilities</a:t>
            </a:r>
            <a:endParaRPr sz="1422">
              <a:solidFill>
                <a:srgbClr val="3D3D3D"/>
              </a:solidFill>
              <a:latin typeface="Plus Jakarta Sans Medium"/>
              <a:ea typeface="Plus Jakarta Sans Medium"/>
              <a:cs typeface="Plus Jakarta Sans Medium"/>
              <a:sym typeface="Plus Jakarta Sans Medium"/>
            </a:endParaRPr>
          </a:p>
        </p:txBody>
      </p:sp>
      <p:sp>
        <p:nvSpPr>
          <p:cNvPr id="248" name="Google Shape;248;p21"/>
          <p:cNvSpPr txBox="1"/>
          <p:nvPr/>
        </p:nvSpPr>
        <p:spPr>
          <a:xfrm>
            <a:off x="17526795" y="4313394"/>
            <a:ext cx="2177600" cy="547083"/>
          </a:xfrm>
          <a:prstGeom prst="rect">
            <a:avLst/>
          </a:prstGeom>
          <a:noFill/>
          <a:ln>
            <a:noFill/>
          </a:ln>
        </p:spPr>
        <p:txBody>
          <a:bodyPr spcFirstLastPara="1" wrap="square" lIns="162533" tIns="162533" rIns="162533" bIns="162533" anchor="t" anchorCtr="0">
            <a:spAutoFit/>
          </a:bodyPr>
          <a:lstStyle/>
          <a:p>
            <a:r>
              <a:rPr lang="vi" sz="1422">
                <a:solidFill>
                  <a:srgbClr val="3D3D3D"/>
                </a:solidFill>
                <a:latin typeface="Plus Jakarta Sans Medium"/>
                <a:ea typeface="Plus Jakarta Sans Medium"/>
                <a:cs typeface="Plus Jakarta Sans Medium"/>
                <a:sym typeface="Plus Jakarta Sans Medium"/>
              </a:rPr>
              <a:t>Construction</a:t>
            </a:r>
            <a:endParaRPr sz="1422">
              <a:solidFill>
                <a:srgbClr val="3D3D3D"/>
              </a:solidFill>
              <a:latin typeface="Plus Jakarta Sans Medium"/>
              <a:ea typeface="Plus Jakarta Sans Medium"/>
              <a:cs typeface="Plus Jakarta Sans Medium"/>
              <a:sym typeface="Plus Jakarta Sans Medium"/>
            </a:endParaRPr>
          </a:p>
        </p:txBody>
      </p:sp>
      <p:sp>
        <p:nvSpPr>
          <p:cNvPr id="249" name="Google Shape;249;p21"/>
          <p:cNvSpPr txBox="1"/>
          <p:nvPr/>
        </p:nvSpPr>
        <p:spPr>
          <a:xfrm>
            <a:off x="17534617" y="4733883"/>
            <a:ext cx="2214400" cy="547083"/>
          </a:xfrm>
          <a:prstGeom prst="rect">
            <a:avLst/>
          </a:prstGeom>
          <a:noFill/>
          <a:ln>
            <a:noFill/>
          </a:ln>
        </p:spPr>
        <p:txBody>
          <a:bodyPr spcFirstLastPara="1" wrap="square" lIns="162533" tIns="162533" rIns="162533" bIns="162533" anchor="t" anchorCtr="0">
            <a:spAutoFit/>
          </a:bodyPr>
          <a:lstStyle/>
          <a:p>
            <a:r>
              <a:rPr lang="vi" sz="1422">
                <a:solidFill>
                  <a:srgbClr val="3D3D3D"/>
                </a:solidFill>
                <a:latin typeface="Plus Jakarta Sans Medium"/>
                <a:ea typeface="Plus Jakarta Sans Medium"/>
                <a:cs typeface="Plus Jakarta Sans Medium"/>
                <a:sym typeface="Plus Jakarta Sans Medium"/>
              </a:rPr>
              <a:t>Healthcare</a:t>
            </a:r>
            <a:endParaRPr sz="1422">
              <a:solidFill>
                <a:srgbClr val="3D3D3D"/>
              </a:solidFill>
              <a:latin typeface="Plus Jakarta Sans Medium"/>
              <a:ea typeface="Plus Jakarta Sans Medium"/>
              <a:cs typeface="Plus Jakarta Sans Medium"/>
              <a:sym typeface="Plus Jakarta Sans Medium"/>
            </a:endParaRPr>
          </a:p>
        </p:txBody>
      </p:sp>
      <p:sp>
        <p:nvSpPr>
          <p:cNvPr id="250" name="Google Shape;250;p21"/>
          <p:cNvSpPr txBox="1"/>
          <p:nvPr/>
        </p:nvSpPr>
        <p:spPr>
          <a:xfrm>
            <a:off x="21784133" y="3452312"/>
            <a:ext cx="880533" cy="492453"/>
          </a:xfrm>
          <a:prstGeom prst="rect">
            <a:avLst/>
          </a:prstGeom>
          <a:noFill/>
          <a:ln>
            <a:noFill/>
          </a:ln>
        </p:spPr>
        <p:txBody>
          <a:bodyPr spcFirstLastPara="1" wrap="square" lIns="162533" tIns="162533" rIns="162533" bIns="162533" anchor="t" anchorCtr="0">
            <a:spAutoFit/>
          </a:bodyPr>
          <a:lstStyle/>
          <a:p>
            <a:r>
              <a:rPr lang="vi" sz="1067">
                <a:solidFill>
                  <a:schemeClr val="lt1"/>
                </a:solidFill>
              </a:rPr>
              <a:t>25,44%</a:t>
            </a:r>
            <a:endParaRPr sz="1067">
              <a:solidFill>
                <a:schemeClr val="lt1"/>
              </a:solidFill>
            </a:endParaRPr>
          </a:p>
        </p:txBody>
      </p:sp>
      <p:sp>
        <p:nvSpPr>
          <p:cNvPr id="251" name="Google Shape;251;p21"/>
          <p:cNvSpPr txBox="1"/>
          <p:nvPr/>
        </p:nvSpPr>
        <p:spPr>
          <a:xfrm>
            <a:off x="21830756" y="4841112"/>
            <a:ext cx="880533" cy="492453"/>
          </a:xfrm>
          <a:prstGeom prst="rect">
            <a:avLst/>
          </a:prstGeom>
          <a:noFill/>
          <a:ln>
            <a:noFill/>
          </a:ln>
        </p:spPr>
        <p:txBody>
          <a:bodyPr spcFirstLastPara="1" wrap="square" lIns="162533" tIns="162533" rIns="162533" bIns="162533" anchor="t" anchorCtr="0">
            <a:spAutoFit/>
          </a:bodyPr>
          <a:lstStyle/>
          <a:p>
            <a:r>
              <a:rPr lang="vi" sz="1067">
                <a:solidFill>
                  <a:schemeClr val="lt1"/>
                </a:solidFill>
              </a:rPr>
              <a:t>20,62%</a:t>
            </a:r>
            <a:endParaRPr sz="1067">
              <a:solidFill>
                <a:schemeClr val="lt1"/>
              </a:solidFill>
            </a:endParaRPr>
          </a:p>
        </p:txBody>
      </p:sp>
      <p:sp>
        <p:nvSpPr>
          <p:cNvPr id="252" name="Google Shape;252;p21"/>
          <p:cNvSpPr txBox="1"/>
          <p:nvPr/>
        </p:nvSpPr>
        <p:spPr>
          <a:xfrm>
            <a:off x="20686711" y="5402445"/>
            <a:ext cx="880533" cy="492453"/>
          </a:xfrm>
          <a:prstGeom prst="rect">
            <a:avLst/>
          </a:prstGeom>
          <a:noFill/>
          <a:ln>
            <a:noFill/>
          </a:ln>
        </p:spPr>
        <p:txBody>
          <a:bodyPr spcFirstLastPara="1" wrap="square" lIns="162533" tIns="162533" rIns="162533" bIns="162533" anchor="t" anchorCtr="0">
            <a:spAutoFit/>
          </a:bodyPr>
          <a:lstStyle/>
          <a:p>
            <a:r>
              <a:rPr lang="vi" sz="1067">
                <a:solidFill>
                  <a:schemeClr val="lt1"/>
                </a:solidFill>
              </a:rPr>
              <a:t>15,63%</a:t>
            </a:r>
            <a:endParaRPr sz="1067">
              <a:solidFill>
                <a:schemeClr val="lt1"/>
              </a:solidFill>
            </a:endParaRPr>
          </a:p>
        </p:txBody>
      </p:sp>
      <p:sp>
        <p:nvSpPr>
          <p:cNvPr id="253" name="Google Shape;253;p21"/>
          <p:cNvSpPr txBox="1"/>
          <p:nvPr/>
        </p:nvSpPr>
        <p:spPr>
          <a:xfrm>
            <a:off x="19842756" y="4773802"/>
            <a:ext cx="880533" cy="492453"/>
          </a:xfrm>
          <a:prstGeom prst="rect">
            <a:avLst/>
          </a:prstGeom>
          <a:noFill/>
          <a:ln>
            <a:noFill/>
          </a:ln>
        </p:spPr>
        <p:txBody>
          <a:bodyPr spcFirstLastPara="1" wrap="square" lIns="162533" tIns="162533" rIns="162533" bIns="162533" anchor="t" anchorCtr="0">
            <a:spAutoFit/>
          </a:bodyPr>
          <a:lstStyle/>
          <a:p>
            <a:r>
              <a:rPr lang="vi" sz="1067">
                <a:solidFill>
                  <a:schemeClr val="lt1"/>
                </a:solidFill>
              </a:rPr>
              <a:t>10,65%</a:t>
            </a:r>
            <a:endParaRPr sz="1067">
              <a:solidFill>
                <a:schemeClr val="lt1"/>
              </a:solidFill>
            </a:endParaRPr>
          </a:p>
        </p:txBody>
      </p:sp>
      <p:sp>
        <p:nvSpPr>
          <p:cNvPr id="254" name="Google Shape;254;p21"/>
          <p:cNvSpPr txBox="1"/>
          <p:nvPr/>
        </p:nvSpPr>
        <p:spPr>
          <a:xfrm>
            <a:off x="19634667" y="4105446"/>
            <a:ext cx="880533" cy="492453"/>
          </a:xfrm>
          <a:prstGeom prst="rect">
            <a:avLst/>
          </a:prstGeom>
          <a:noFill/>
          <a:ln>
            <a:noFill/>
          </a:ln>
        </p:spPr>
        <p:txBody>
          <a:bodyPr spcFirstLastPara="1" wrap="square" lIns="162533" tIns="162533" rIns="162533" bIns="162533" anchor="t" anchorCtr="0">
            <a:spAutoFit/>
          </a:bodyPr>
          <a:lstStyle/>
          <a:p>
            <a:r>
              <a:rPr lang="vi" sz="1067">
                <a:solidFill>
                  <a:schemeClr val="lt1"/>
                </a:solidFill>
              </a:rPr>
              <a:t>7,52%</a:t>
            </a:r>
            <a:endParaRPr sz="1067">
              <a:solidFill>
                <a:schemeClr val="lt1"/>
              </a:solidFill>
            </a:endParaRPr>
          </a:p>
        </p:txBody>
      </p:sp>
      <p:sp>
        <p:nvSpPr>
          <p:cNvPr id="255" name="Google Shape;255;p21"/>
          <p:cNvSpPr txBox="1"/>
          <p:nvPr/>
        </p:nvSpPr>
        <p:spPr>
          <a:xfrm>
            <a:off x="19888400" y="3452291"/>
            <a:ext cx="880533" cy="492453"/>
          </a:xfrm>
          <a:prstGeom prst="rect">
            <a:avLst/>
          </a:prstGeom>
          <a:noFill/>
          <a:ln>
            <a:noFill/>
          </a:ln>
        </p:spPr>
        <p:txBody>
          <a:bodyPr spcFirstLastPara="1" wrap="square" lIns="162533" tIns="162533" rIns="162533" bIns="162533" anchor="t" anchorCtr="0">
            <a:spAutoFit/>
          </a:bodyPr>
          <a:lstStyle/>
          <a:p>
            <a:r>
              <a:rPr lang="vi" sz="1067">
                <a:solidFill>
                  <a:schemeClr val="lt1"/>
                </a:solidFill>
              </a:rPr>
              <a:t>8,57%</a:t>
            </a:r>
            <a:endParaRPr sz="1067">
              <a:solidFill>
                <a:schemeClr val="lt1"/>
              </a:solidFill>
            </a:endParaRPr>
          </a:p>
        </p:txBody>
      </p:sp>
      <p:sp>
        <p:nvSpPr>
          <p:cNvPr id="256" name="Google Shape;256;p21"/>
          <p:cNvSpPr txBox="1"/>
          <p:nvPr/>
        </p:nvSpPr>
        <p:spPr>
          <a:xfrm>
            <a:off x="20375467" y="3133556"/>
            <a:ext cx="880533" cy="492453"/>
          </a:xfrm>
          <a:prstGeom prst="rect">
            <a:avLst/>
          </a:prstGeom>
          <a:noFill/>
          <a:ln>
            <a:noFill/>
          </a:ln>
        </p:spPr>
        <p:txBody>
          <a:bodyPr spcFirstLastPara="1" wrap="square" lIns="162533" tIns="162533" rIns="162533" bIns="162533" anchor="t" anchorCtr="0">
            <a:spAutoFit/>
          </a:bodyPr>
          <a:lstStyle/>
          <a:p>
            <a:r>
              <a:rPr lang="vi" sz="1067">
                <a:solidFill>
                  <a:schemeClr val="lt1"/>
                </a:solidFill>
              </a:rPr>
              <a:t>6,09%</a:t>
            </a:r>
            <a:endParaRPr sz="1067">
              <a:solidFill>
                <a:schemeClr val="lt1"/>
              </a:solidFill>
            </a:endParaRPr>
          </a:p>
        </p:txBody>
      </p:sp>
      <p:sp>
        <p:nvSpPr>
          <p:cNvPr id="257" name="Google Shape;257;p21"/>
          <p:cNvSpPr txBox="1"/>
          <p:nvPr/>
        </p:nvSpPr>
        <p:spPr>
          <a:xfrm>
            <a:off x="20631067" y="2707156"/>
            <a:ext cx="880533" cy="492453"/>
          </a:xfrm>
          <a:prstGeom prst="rect">
            <a:avLst/>
          </a:prstGeom>
          <a:noFill/>
          <a:ln>
            <a:noFill/>
          </a:ln>
        </p:spPr>
        <p:txBody>
          <a:bodyPr spcFirstLastPara="1" wrap="square" lIns="162533" tIns="162533" rIns="162533" bIns="162533" anchor="t" anchorCtr="0">
            <a:spAutoFit/>
          </a:bodyPr>
          <a:lstStyle/>
          <a:p>
            <a:r>
              <a:rPr lang="vi" sz="1067">
                <a:solidFill>
                  <a:schemeClr val="lt1"/>
                </a:solidFill>
              </a:rPr>
              <a:t>3,39%</a:t>
            </a:r>
            <a:endParaRPr sz="1067">
              <a:solidFill>
                <a:schemeClr val="lt1"/>
              </a:solidFill>
            </a:endParaRPr>
          </a:p>
        </p:txBody>
      </p:sp>
      <p:sp>
        <p:nvSpPr>
          <p:cNvPr id="258" name="Google Shape;258;p21"/>
          <p:cNvSpPr txBox="1"/>
          <p:nvPr/>
        </p:nvSpPr>
        <p:spPr>
          <a:xfrm>
            <a:off x="20903600" y="3002890"/>
            <a:ext cx="880533" cy="492453"/>
          </a:xfrm>
          <a:prstGeom prst="rect">
            <a:avLst/>
          </a:prstGeom>
          <a:noFill/>
          <a:ln>
            <a:noFill/>
          </a:ln>
        </p:spPr>
        <p:txBody>
          <a:bodyPr spcFirstLastPara="1" wrap="square" lIns="162533" tIns="162533" rIns="162533" bIns="162533" anchor="t" anchorCtr="0">
            <a:spAutoFit/>
          </a:bodyPr>
          <a:lstStyle/>
          <a:p>
            <a:r>
              <a:rPr lang="vi" sz="1067">
                <a:solidFill>
                  <a:schemeClr val="lt1"/>
                </a:solidFill>
              </a:rPr>
              <a:t>2,09%</a:t>
            </a:r>
            <a:endParaRPr sz="1067">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cxnSp>
        <p:nvCxnSpPr>
          <p:cNvPr id="240" name="Google Shape;240;p7"/>
          <p:cNvCxnSpPr/>
          <p:nvPr/>
        </p:nvCxnSpPr>
        <p:spPr>
          <a:xfrm>
            <a:off x="1653600" y="8395111"/>
            <a:ext cx="0" cy="419733"/>
          </a:xfrm>
          <a:prstGeom prst="straightConnector1">
            <a:avLst/>
          </a:prstGeom>
          <a:noFill/>
          <a:ln w="9525" cap="flat" cmpd="sng">
            <a:solidFill>
              <a:srgbClr val="808080"/>
            </a:solidFill>
            <a:prstDash val="solid"/>
            <a:round/>
            <a:headEnd type="none" w="sm" len="sm"/>
            <a:tailEnd type="none" w="sm" len="sm"/>
          </a:ln>
        </p:spPr>
      </p:cxnSp>
      <p:pic>
        <p:nvPicPr>
          <p:cNvPr id="241" name="Google Shape;241;p7"/>
          <p:cNvPicPr preferRelativeResize="0"/>
          <p:nvPr/>
        </p:nvPicPr>
        <p:blipFill rotWithShape="1">
          <a:blip r:embed="rId3">
            <a:alphaModFix/>
          </a:blip>
          <a:srcRect/>
          <a:stretch/>
        </p:blipFill>
        <p:spPr>
          <a:xfrm>
            <a:off x="0" y="8345911"/>
            <a:ext cx="880533" cy="440267"/>
          </a:xfrm>
          <a:prstGeom prst="rect">
            <a:avLst/>
          </a:prstGeom>
          <a:noFill/>
          <a:ln>
            <a:noFill/>
          </a:ln>
        </p:spPr>
      </p:pic>
      <p:cxnSp>
        <p:nvCxnSpPr>
          <p:cNvPr id="242" name="Google Shape;242;p7"/>
          <p:cNvCxnSpPr/>
          <p:nvPr/>
        </p:nvCxnSpPr>
        <p:spPr>
          <a:xfrm>
            <a:off x="8579220" y="599244"/>
            <a:ext cx="0" cy="305600"/>
          </a:xfrm>
          <a:prstGeom prst="straightConnector1">
            <a:avLst/>
          </a:prstGeom>
          <a:noFill/>
          <a:ln w="9525" cap="flat" cmpd="sng">
            <a:solidFill>
              <a:srgbClr val="808080"/>
            </a:solidFill>
            <a:prstDash val="solid"/>
            <a:round/>
            <a:headEnd type="none" w="sm" len="sm"/>
            <a:tailEnd type="none" w="sm" len="sm"/>
          </a:ln>
        </p:spPr>
      </p:cxnSp>
      <p:sp>
        <p:nvSpPr>
          <p:cNvPr id="243" name="Google Shape;243;p7"/>
          <p:cNvSpPr txBox="1"/>
          <p:nvPr/>
        </p:nvSpPr>
        <p:spPr>
          <a:xfrm>
            <a:off x="8579221" y="453022"/>
            <a:ext cx="5447172" cy="369067"/>
          </a:xfrm>
          <a:prstGeom prst="rect">
            <a:avLst/>
          </a:prstGeom>
          <a:noFill/>
          <a:ln>
            <a:noFill/>
          </a:ln>
        </p:spPr>
        <p:txBody>
          <a:bodyPr spcFirstLastPara="1" wrap="square" lIns="162533" tIns="162533" rIns="162533" bIns="162533" anchor="t" anchorCtr="0">
            <a:noAutofit/>
          </a:bodyPr>
          <a:lstStyle/>
          <a:p>
            <a:r>
              <a:rPr lang="en-US" sz="1956" b="1">
                <a:solidFill>
                  <a:srgbClr val="3D3D3D"/>
                </a:solidFill>
                <a:latin typeface="Inter"/>
                <a:ea typeface="Inter"/>
                <a:cs typeface="Inter"/>
                <a:sym typeface="Inter"/>
              </a:rPr>
              <a:t>INTERNATIONAL STANDARD FOR SOFTWARE DEVELOPMENT</a:t>
            </a:r>
            <a:endParaRPr sz="1956" b="1">
              <a:solidFill>
                <a:srgbClr val="3D3D3D"/>
              </a:solidFill>
              <a:latin typeface="Inter"/>
              <a:ea typeface="Inter"/>
              <a:cs typeface="Inter"/>
              <a:sym typeface="Inter"/>
            </a:endParaRPr>
          </a:p>
          <a:p>
            <a:endParaRPr sz="1956">
              <a:solidFill>
                <a:srgbClr val="3D3D3D"/>
              </a:solidFill>
              <a:latin typeface="Inter"/>
              <a:ea typeface="Inter"/>
              <a:cs typeface="Inter"/>
              <a:sym typeface="Inter"/>
            </a:endParaRPr>
          </a:p>
          <a:p>
            <a:endParaRPr sz="1956">
              <a:solidFill>
                <a:schemeClr val="dk2"/>
              </a:solidFill>
              <a:latin typeface="Inter"/>
              <a:ea typeface="Inter"/>
              <a:cs typeface="Inter"/>
              <a:sym typeface="Inter"/>
            </a:endParaRPr>
          </a:p>
        </p:txBody>
      </p:sp>
      <p:pic>
        <p:nvPicPr>
          <p:cNvPr id="273" name="Google Shape;273;p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4657022" y="189376"/>
            <a:ext cx="1212352" cy="778492"/>
          </a:xfrm>
          <a:prstGeom prst="rect">
            <a:avLst/>
          </a:prstGeom>
          <a:noFill/>
          <a:ln>
            <a:noFill/>
          </a:ln>
        </p:spPr>
      </p:pic>
      <p:sp>
        <p:nvSpPr>
          <p:cNvPr id="274" name="Google Shape;274;p7"/>
          <p:cNvSpPr txBox="1"/>
          <p:nvPr/>
        </p:nvSpPr>
        <p:spPr>
          <a:xfrm>
            <a:off x="872535" y="8216178"/>
            <a:ext cx="846400" cy="699733"/>
          </a:xfrm>
          <a:prstGeom prst="rect">
            <a:avLst/>
          </a:prstGeom>
          <a:noFill/>
          <a:ln>
            <a:noFill/>
          </a:ln>
        </p:spPr>
        <p:txBody>
          <a:bodyPr spcFirstLastPara="1" wrap="square" lIns="162533" tIns="162533" rIns="162533" bIns="162533" anchor="ctr" anchorCtr="0">
            <a:noAutofit/>
          </a:bodyPr>
          <a:lstStyle/>
          <a:p>
            <a:pPr algn="ctr"/>
            <a:r>
              <a:rPr lang="en-US" sz="2844">
                <a:solidFill>
                  <a:srgbClr val="666666"/>
                </a:solidFill>
                <a:latin typeface="Inter"/>
                <a:ea typeface="Inter"/>
                <a:cs typeface="Inter"/>
                <a:sym typeface="Inter"/>
              </a:rPr>
              <a:t>0</a:t>
            </a:r>
            <a:fld id="{00000000-1234-1234-1234-123412341234}" type="slidenum">
              <a:rPr lang="en-US" sz="2844">
                <a:solidFill>
                  <a:srgbClr val="666666"/>
                </a:solidFill>
                <a:latin typeface="Inter"/>
                <a:ea typeface="Inter"/>
                <a:cs typeface="Inter"/>
                <a:sym typeface="Inter"/>
              </a:rPr>
              <a:pPr algn="ctr"/>
              <a:t>7</a:t>
            </a:fld>
            <a:endParaRPr sz="2844">
              <a:solidFill>
                <a:srgbClr val="666666"/>
              </a:solidFill>
              <a:latin typeface="Inter"/>
              <a:ea typeface="Inter"/>
              <a:cs typeface="Inter"/>
              <a:sym typeface="Inter"/>
            </a:endParaRPr>
          </a:p>
        </p:txBody>
      </p:sp>
      <p:sp>
        <p:nvSpPr>
          <p:cNvPr id="275" name="Google Shape;275;p7"/>
          <p:cNvSpPr txBox="1"/>
          <p:nvPr/>
        </p:nvSpPr>
        <p:spPr>
          <a:xfrm>
            <a:off x="1769555" y="8432445"/>
            <a:ext cx="5353067" cy="267359"/>
          </a:xfrm>
          <a:prstGeom prst="rect">
            <a:avLst/>
          </a:prstGeom>
          <a:noFill/>
          <a:ln>
            <a:noFill/>
          </a:ln>
        </p:spPr>
        <p:txBody>
          <a:bodyPr spcFirstLastPara="1" wrap="square" lIns="0" tIns="20933" rIns="0" bIns="0" anchor="t" anchorCtr="0">
            <a:spAutoFit/>
          </a:bodyPr>
          <a:lstStyle/>
          <a:p>
            <a:pPr marL="22578"/>
            <a:r>
              <a:rPr lang="en-US" sz="1600">
                <a:solidFill>
                  <a:srgbClr val="808080"/>
                </a:solidFill>
                <a:latin typeface="Inter"/>
                <a:ea typeface="Inter"/>
                <a:cs typeface="Inter"/>
                <a:sym typeface="Inter"/>
              </a:rPr>
              <a:t>Corporate Profile - For Software Development</a:t>
            </a:r>
            <a:endParaRPr sz="1600">
              <a:latin typeface="Inter"/>
              <a:ea typeface="Inter"/>
              <a:cs typeface="Inter"/>
              <a:sym typeface="Inter"/>
            </a:endParaRPr>
          </a:p>
        </p:txBody>
      </p:sp>
      <p:cxnSp>
        <p:nvCxnSpPr>
          <p:cNvPr id="290" name="Google Shape;290;p7"/>
          <p:cNvCxnSpPr/>
          <p:nvPr/>
        </p:nvCxnSpPr>
        <p:spPr>
          <a:xfrm>
            <a:off x="872533" y="509867"/>
            <a:ext cx="0" cy="305600"/>
          </a:xfrm>
          <a:prstGeom prst="straightConnector1">
            <a:avLst/>
          </a:prstGeom>
          <a:noFill/>
          <a:ln w="9525" cap="flat" cmpd="sng">
            <a:solidFill>
              <a:srgbClr val="808080"/>
            </a:solidFill>
            <a:prstDash val="solid"/>
            <a:round/>
            <a:headEnd type="none" w="sm" len="sm"/>
            <a:tailEnd type="none" w="sm" len="sm"/>
          </a:ln>
        </p:spPr>
      </p:cxnSp>
      <p:sp>
        <p:nvSpPr>
          <p:cNvPr id="291" name="Google Shape;291;p7"/>
          <p:cNvSpPr txBox="1"/>
          <p:nvPr/>
        </p:nvSpPr>
        <p:spPr>
          <a:xfrm>
            <a:off x="872533" y="363644"/>
            <a:ext cx="7863467" cy="369067"/>
          </a:xfrm>
          <a:prstGeom prst="rect">
            <a:avLst/>
          </a:prstGeom>
          <a:noFill/>
          <a:ln>
            <a:noFill/>
          </a:ln>
        </p:spPr>
        <p:txBody>
          <a:bodyPr spcFirstLastPara="1" wrap="square" lIns="162533" tIns="162533" rIns="162533" bIns="162533" anchor="t" anchorCtr="0">
            <a:noAutofit/>
          </a:bodyPr>
          <a:lstStyle/>
          <a:p>
            <a:r>
              <a:rPr lang="en-US" sz="1956" b="1" dirty="0">
                <a:solidFill>
                  <a:srgbClr val="3D3D3D"/>
                </a:solidFill>
                <a:latin typeface="Inter"/>
                <a:ea typeface="Inter"/>
                <a:cs typeface="Inter"/>
                <a:sym typeface="Inter"/>
              </a:rPr>
              <a:t>OUR AWARDS &amp; RECOGNITION</a:t>
            </a:r>
            <a:endParaRPr sz="1956" b="1" dirty="0">
              <a:solidFill>
                <a:srgbClr val="3D3D3D"/>
              </a:solidFill>
              <a:latin typeface="Inter"/>
              <a:ea typeface="Inter"/>
              <a:cs typeface="Inter"/>
              <a:sym typeface="Inter"/>
            </a:endParaRPr>
          </a:p>
          <a:p>
            <a:endParaRPr sz="1956" dirty="0">
              <a:solidFill>
                <a:srgbClr val="3D3D3D"/>
              </a:solidFill>
              <a:latin typeface="Inter"/>
              <a:ea typeface="Inter"/>
              <a:cs typeface="Inter"/>
              <a:sym typeface="Inter"/>
            </a:endParaRPr>
          </a:p>
          <a:p>
            <a:endParaRPr sz="1956" dirty="0">
              <a:solidFill>
                <a:schemeClr val="dk2"/>
              </a:solidFill>
              <a:latin typeface="Inter"/>
              <a:ea typeface="Inter"/>
              <a:cs typeface="Inter"/>
              <a:sym typeface="Inter"/>
            </a:endParaRPr>
          </a:p>
        </p:txBody>
      </p:sp>
      <p:pic>
        <p:nvPicPr>
          <p:cNvPr id="13" name="Google Shape;318;p23">
            <a:extLst>
              <a:ext uri="{FF2B5EF4-FFF2-40B4-BE49-F238E27FC236}">
                <a16:creationId xmlns:a16="http://schemas.microsoft.com/office/drawing/2014/main" id="{5345595F-A653-92EB-3BF1-D9CE291B0194}"/>
              </a:ext>
            </a:extLst>
          </p:cNvPr>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885324" y="3201024"/>
            <a:ext cx="1462532" cy="1270972"/>
          </a:xfrm>
          <a:prstGeom prst="rect">
            <a:avLst/>
          </a:prstGeom>
          <a:noFill/>
          <a:ln>
            <a:noFill/>
          </a:ln>
        </p:spPr>
      </p:pic>
      <p:sp>
        <p:nvSpPr>
          <p:cNvPr id="14" name="Google Shape;319;p23">
            <a:extLst>
              <a:ext uri="{FF2B5EF4-FFF2-40B4-BE49-F238E27FC236}">
                <a16:creationId xmlns:a16="http://schemas.microsoft.com/office/drawing/2014/main" id="{EA751D0F-B804-3614-4415-619306A64FD2}"/>
              </a:ext>
            </a:extLst>
          </p:cNvPr>
          <p:cNvSpPr txBox="1"/>
          <p:nvPr/>
        </p:nvSpPr>
        <p:spPr>
          <a:xfrm>
            <a:off x="2958800" y="4696779"/>
            <a:ext cx="5271467" cy="1099733"/>
          </a:xfrm>
          <a:prstGeom prst="rect">
            <a:avLst/>
          </a:prstGeom>
          <a:noFill/>
          <a:ln>
            <a:noFill/>
          </a:ln>
        </p:spPr>
        <p:txBody>
          <a:bodyPr spcFirstLastPara="1" wrap="square" lIns="162533" tIns="162533" rIns="162533" bIns="162533" anchor="t" anchorCtr="0">
            <a:noAutofit/>
          </a:bodyPr>
          <a:lstStyle/>
          <a:p>
            <a:pPr marL="22578" algn="ctr">
              <a:lnSpc>
                <a:spcPct val="115000"/>
              </a:lnSpc>
              <a:buClr>
                <a:schemeClr val="dk1"/>
              </a:buClr>
            </a:pPr>
            <a:r>
              <a:rPr lang="vi" sz="1422" b="1">
                <a:solidFill>
                  <a:srgbClr val="404040"/>
                </a:solidFill>
                <a:latin typeface="Plus Jakarta Sans"/>
                <a:ea typeface="Plus Jakarta Sans"/>
                <a:cs typeface="Plus Jakarta Sans"/>
                <a:sym typeface="Plus Jakarta Sans"/>
              </a:rPr>
              <a:t>MAKE IN VIETNAM 2025 - Gold Award</a:t>
            </a:r>
            <a:endParaRPr sz="1067" b="1">
              <a:solidFill>
                <a:schemeClr val="dk1"/>
              </a:solidFill>
              <a:latin typeface="Plus Jakarta Sans"/>
              <a:ea typeface="Plus Jakarta Sans"/>
              <a:cs typeface="Plus Jakarta Sans"/>
              <a:sym typeface="Plus Jakarta Sans"/>
            </a:endParaRPr>
          </a:p>
          <a:p>
            <a:pPr algn="ctr">
              <a:lnSpc>
                <a:spcPct val="115000"/>
              </a:lnSpc>
              <a:buSzPts val="700"/>
            </a:pPr>
            <a:r>
              <a:rPr lang="vi" sz="1422" b="1">
                <a:solidFill>
                  <a:srgbClr val="404040"/>
                </a:solidFill>
                <a:highlight>
                  <a:srgbClr val="FFFFFF"/>
                </a:highlight>
                <a:latin typeface="Plus Jakarta Sans"/>
                <a:ea typeface="Plus Jakarta Sans"/>
                <a:cs typeface="Plus Jakarta Sans"/>
                <a:sym typeface="Plus Jakarta Sans"/>
              </a:rPr>
              <a:t>by Ministry of Science and Technology</a:t>
            </a:r>
            <a:endParaRPr sz="1422" b="1">
              <a:solidFill>
                <a:srgbClr val="404040"/>
              </a:solidFill>
              <a:highlight>
                <a:srgbClr val="FFFFFF"/>
              </a:highlight>
              <a:latin typeface="Plus Jakarta Sans"/>
              <a:ea typeface="Plus Jakarta Sans"/>
              <a:cs typeface="Plus Jakarta Sans"/>
              <a:sym typeface="Plus Jakarta Sans"/>
            </a:endParaRPr>
          </a:p>
        </p:txBody>
      </p:sp>
      <p:sp>
        <p:nvSpPr>
          <p:cNvPr id="15" name="Google Shape;320;p23">
            <a:extLst>
              <a:ext uri="{FF2B5EF4-FFF2-40B4-BE49-F238E27FC236}">
                <a16:creationId xmlns:a16="http://schemas.microsoft.com/office/drawing/2014/main" id="{60ECA9D3-01A0-8C73-202E-C2EA5F3569A3}"/>
              </a:ext>
            </a:extLst>
          </p:cNvPr>
          <p:cNvSpPr txBox="1"/>
          <p:nvPr/>
        </p:nvSpPr>
        <p:spPr>
          <a:xfrm>
            <a:off x="4053255" y="7195045"/>
            <a:ext cx="3152533" cy="369067"/>
          </a:xfrm>
          <a:prstGeom prst="rect">
            <a:avLst/>
          </a:prstGeom>
          <a:noFill/>
          <a:ln>
            <a:noFill/>
          </a:ln>
        </p:spPr>
        <p:txBody>
          <a:bodyPr spcFirstLastPara="1" wrap="square" lIns="162533" tIns="162533" rIns="162533" bIns="162533" anchor="t" anchorCtr="0">
            <a:noAutofit/>
          </a:bodyPr>
          <a:lstStyle/>
          <a:p>
            <a:pPr marL="22578" algn="ctr">
              <a:buClr>
                <a:schemeClr val="dk1"/>
              </a:buClr>
            </a:pPr>
            <a:r>
              <a:rPr lang="vi" sz="1422" b="1">
                <a:solidFill>
                  <a:srgbClr val="404040"/>
                </a:solidFill>
                <a:latin typeface="Plus Jakarta Sans"/>
                <a:ea typeface="Plus Jakarta Sans"/>
                <a:cs typeface="Plus Jakarta Sans"/>
                <a:sym typeface="Plus Jakarta Sans"/>
              </a:rPr>
              <a:t>SAO KHUE 2024</a:t>
            </a:r>
            <a:endParaRPr sz="1422" b="1">
              <a:solidFill>
                <a:schemeClr val="dk1"/>
              </a:solidFill>
              <a:latin typeface="Plus Jakarta Sans"/>
              <a:ea typeface="Plus Jakarta Sans"/>
              <a:cs typeface="Plus Jakarta Sans"/>
              <a:sym typeface="Plus Jakarta Sans"/>
            </a:endParaRPr>
          </a:p>
          <a:p>
            <a:pPr algn="ctr">
              <a:buSzPts val="700"/>
            </a:pPr>
            <a:endParaRPr sz="1422" b="1">
              <a:solidFill>
                <a:srgbClr val="404040"/>
              </a:solidFill>
              <a:latin typeface="Malgun Gothic"/>
              <a:ea typeface="Malgun Gothic"/>
              <a:cs typeface="Malgun Gothic"/>
              <a:sym typeface="Malgun Gothic"/>
            </a:endParaRPr>
          </a:p>
          <a:p>
            <a:pPr>
              <a:buSzPts val="700"/>
            </a:pPr>
            <a:endParaRPr sz="1244">
              <a:solidFill>
                <a:srgbClr val="3D3D3D"/>
              </a:solidFill>
              <a:latin typeface="Malgun Gothic"/>
              <a:ea typeface="Malgun Gothic"/>
              <a:cs typeface="Malgun Gothic"/>
              <a:sym typeface="Malgun Gothic"/>
            </a:endParaRPr>
          </a:p>
          <a:p>
            <a:pPr>
              <a:buSzPts val="700"/>
            </a:pPr>
            <a:endParaRPr sz="1244">
              <a:solidFill>
                <a:srgbClr val="595959"/>
              </a:solidFill>
              <a:latin typeface="Malgun Gothic"/>
              <a:ea typeface="Malgun Gothic"/>
              <a:cs typeface="Malgun Gothic"/>
              <a:sym typeface="Malgun Gothic"/>
            </a:endParaRPr>
          </a:p>
        </p:txBody>
      </p:sp>
      <p:sp>
        <p:nvSpPr>
          <p:cNvPr id="16" name="Google Shape;321;p23">
            <a:extLst>
              <a:ext uri="{FF2B5EF4-FFF2-40B4-BE49-F238E27FC236}">
                <a16:creationId xmlns:a16="http://schemas.microsoft.com/office/drawing/2014/main" id="{9E5F1D14-E261-D0A0-5F62-EFEACBE45CB8}"/>
              </a:ext>
            </a:extLst>
          </p:cNvPr>
          <p:cNvSpPr txBox="1"/>
          <p:nvPr/>
        </p:nvSpPr>
        <p:spPr>
          <a:xfrm>
            <a:off x="866000" y="7195024"/>
            <a:ext cx="3044267" cy="369067"/>
          </a:xfrm>
          <a:prstGeom prst="rect">
            <a:avLst/>
          </a:prstGeom>
          <a:noFill/>
          <a:ln>
            <a:noFill/>
          </a:ln>
        </p:spPr>
        <p:txBody>
          <a:bodyPr spcFirstLastPara="1" wrap="square" lIns="162533" tIns="162533" rIns="162533" bIns="162533" anchor="t" anchorCtr="0">
            <a:noAutofit/>
          </a:bodyPr>
          <a:lstStyle/>
          <a:p>
            <a:pPr marL="22578" algn="ctr">
              <a:buClr>
                <a:schemeClr val="dk1"/>
              </a:buClr>
            </a:pPr>
            <a:r>
              <a:rPr lang="vi" sz="1422" b="1">
                <a:solidFill>
                  <a:srgbClr val="404040"/>
                </a:solidFill>
                <a:latin typeface="Plus Jakarta Sans"/>
                <a:ea typeface="Plus Jakarta Sans"/>
                <a:cs typeface="Plus Jakarta Sans"/>
                <a:sym typeface="Plus Jakarta Sans"/>
              </a:rPr>
              <a:t>BEST PLACES TO WORK 2025</a:t>
            </a:r>
            <a:endParaRPr sz="1067" b="1">
              <a:solidFill>
                <a:srgbClr val="3D3D3D"/>
              </a:solidFill>
              <a:latin typeface="Plus Jakarta Sans"/>
              <a:ea typeface="Plus Jakarta Sans"/>
              <a:cs typeface="Plus Jakarta Sans"/>
              <a:sym typeface="Plus Jakarta Sans"/>
            </a:endParaRPr>
          </a:p>
          <a:p>
            <a:pPr algn="ctr">
              <a:lnSpc>
                <a:spcPct val="115000"/>
              </a:lnSpc>
              <a:buSzPts val="1100"/>
            </a:pPr>
            <a:endParaRPr sz="1422" b="1">
              <a:solidFill>
                <a:srgbClr val="404040"/>
              </a:solidFill>
              <a:highlight>
                <a:srgbClr val="FFFFFF"/>
              </a:highlight>
              <a:latin typeface="Malgun Gothic"/>
              <a:ea typeface="Malgun Gothic"/>
              <a:cs typeface="Malgun Gothic"/>
              <a:sym typeface="Malgun Gothic"/>
            </a:endParaRPr>
          </a:p>
          <a:p>
            <a:pPr>
              <a:buSzPts val="800"/>
            </a:pPr>
            <a:endParaRPr sz="1422">
              <a:solidFill>
                <a:srgbClr val="3D3D3D"/>
              </a:solidFill>
              <a:latin typeface="Malgun Gothic"/>
              <a:ea typeface="Malgun Gothic"/>
              <a:cs typeface="Malgun Gothic"/>
              <a:sym typeface="Malgun Gothic"/>
            </a:endParaRPr>
          </a:p>
          <a:p>
            <a:pPr>
              <a:buSzPts val="800"/>
            </a:pPr>
            <a:endParaRPr sz="1422">
              <a:solidFill>
                <a:srgbClr val="595959"/>
              </a:solidFill>
              <a:latin typeface="Malgun Gothic"/>
              <a:ea typeface="Malgun Gothic"/>
              <a:cs typeface="Malgun Gothic"/>
              <a:sym typeface="Malgun Gothic"/>
            </a:endParaRPr>
          </a:p>
        </p:txBody>
      </p:sp>
      <p:sp>
        <p:nvSpPr>
          <p:cNvPr id="17" name="Google Shape;322;p23">
            <a:extLst>
              <a:ext uri="{FF2B5EF4-FFF2-40B4-BE49-F238E27FC236}">
                <a16:creationId xmlns:a16="http://schemas.microsoft.com/office/drawing/2014/main" id="{1B594E95-2935-803E-6D99-2AE343486C33}"/>
              </a:ext>
            </a:extLst>
          </p:cNvPr>
          <p:cNvSpPr txBox="1"/>
          <p:nvPr/>
        </p:nvSpPr>
        <p:spPr>
          <a:xfrm>
            <a:off x="1018866" y="4696757"/>
            <a:ext cx="2507200" cy="369067"/>
          </a:xfrm>
          <a:prstGeom prst="rect">
            <a:avLst/>
          </a:prstGeom>
          <a:noFill/>
          <a:ln>
            <a:noFill/>
          </a:ln>
        </p:spPr>
        <p:txBody>
          <a:bodyPr spcFirstLastPara="1" wrap="square" lIns="162533" tIns="162533" rIns="162533" bIns="162533" anchor="t" anchorCtr="0">
            <a:noAutofit/>
          </a:bodyPr>
          <a:lstStyle/>
          <a:p>
            <a:pPr marL="22578" algn="ctr">
              <a:buClr>
                <a:schemeClr val="dk1"/>
              </a:buClr>
            </a:pPr>
            <a:r>
              <a:rPr lang="vi" sz="1422" b="1">
                <a:solidFill>
                  <a:srgbClr val="404040"/>
                </a:solidFill>
                <a:latin typeface="Plus Jakarta Sans"/>
                <a:ea typeface="Plus Jakarta Sans"/>
                <a:cs typeface="Plus Jakarta Sans"/>
                <a:sym typeface="Plus Jakarta Sans"/>
              </a:rPr>
              <a:t>TOP 10 ICT 2025</a:t>
            </a:r>
            <a:endParaRPr sz="1422" b="1">
              <a:solidFill>
                <a:schemeClr val="dk1"/>
              </a:solidFill>
              <a:latin typeface="Plus Jakarta Sans"/>
              <a:ea typeface="Plus Jakarta Sans"/>
              <a:cs typeface="Plus Jakarta Sans"/>
              <a:sym typeface="Plus Jakarta Sans"/>
            </a:endParaRPr>
          </a:p>
          <a:p>
            <a:pPr algn="ctr">
              <a:lnSpc>
                <a:spcPct val="115000"/>
              </a:lnSpc>
              <a:buSzPts val="1100"/>
            </a:pPr>
            <a:endParaRPr sz="1422" b="1">
              <a:highlight>
                <a:srgbClr val="FFFFFF"/>
              </a:highlight>
              <a:latin typeface="Malgun Gothic"/>
              <a:ea typeface="Malgun Gothic"/>
              <a:cs typeface="Malgun Gothic"/>
              <a:sym typeface="Malgun Gothic"/>
            </a:endParaRPr>
          </a:p>
          <a:p>
            <a:pPr>
              <a:buSzPts val="800"/>
            </a:pPr>
            <a:endParaRPr sz="1422" b="1">
              <a:solidFill>
                <a:srgbClr val="3D3D3D"/>
              </a:solidFill>
              <a:latin typeface="Malgun Gothic"/>
              <a:ea typeface="Malgun Gothic"/>
              <a:cs typeface="Malgun Gothic"/>
              <a:sym typeface="Malgun Gothic"/>
            </a:endParaRPr>
          </a:p>
          <a:p>
            <a:pPr>
              <a:buSzPts val="800"/>
            </a:pPr>
            <a:endParaRPr sz="1422">
              <a:solidFill>
                <a:srgbClr val="3D3D3D"/>
              </a:solidFill>
              <a:latin typeface="Malgun Gothic"/>
              <a:ea typeface="Malgun Gothic"/>
              <a:cs typeface="Malgun Gothic"/>
              <a:sym typeface="Malgun Gothic"/>
            </a:endParaRPr>
          </a:p>
          <a:p>
            <a:pPr>
              <a:buSzPts val="800"/>
            </a:pPr>
            <a:endParaRPr sz="1422">
              <a:solidFill>
                <a:srgbClr val="595959"/>
              </a:solidFill>
              <a:latin typeface="Malgun Gothic"/>
              <a:ea typeface="Malgun Gothic"/>
              <a:cs typeface="Malgun Gothic"/>
              <a:sym typeface="Malgun Gothic"/>
            </a:endParaRPr>
          </a:p>
        </p:txBody>
      </p:sp>
      <p:pic>
        <p:nvPicPr>
          <p:cNvPr id="18" name="Google Shape;323;p23" title="logo-top-10-2025-New.png">
            <a:extLst>
              <a:ext uri="{FF2B5EF4-FFF2-40B4-BE49-F238E27FC236}">
                <a16:creationId xmlns:a16="http://schemas.microsoft.com/office/drawing/2014/main" id="{52AEE399-B2EB-550F-C01A-BA8081391E47}"/>
              </a:ext>
            </a:extLst>
          </p:cNvPr>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541201" y="3137895"/>
            <a:ext cx="1462533" cy="1394574"/>
          </a:xfrm>
          <a:prstGeom prst="rect">
            <a:avLst/>
          </a:prstGeom>
          <a:noFill/>
          <a:ln>
            <a:noFill/>
          </a:ln>
        </p:spPr>
      </p:pic>
      <p:pic>
        <p:nvPicPr>
          <p:cNvPr id="19" name="Google Shape;324;p23" title="logo vietnam best places to work 2025.png">
            <a:extLst>
              <a:ext uri="{FF2B5EF4-FFF2-40B4-BE49-F238E27FC236}">
                <a16:creationId xmlns:a16="http://schemas.microsoft.com/office/drawing/2014/main" id="{8CAA2BD9-23D9-0398-EEEA-F3AE37214C2A}"/>
              </a:ext>
            </a:extLst>
          </p:cNvPr>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1482624" y="5869668"/>
            <a:ext cx="1811086" cy="1099733"/>
          </a:xfrm>
          <a:prstGeom prst="rect">
            <a:avLst/>
          </a:prstGeom>
          <a:noFill/>
          <a:ln>
            <a:noFill/>
          </a:ln>
        </p:spPr>
      </p:pic>
      <p:sp>
        <p:nvSpPr>
          <p:cNvPr id="20" name="Google Shape;325;p23">
            <a:extLst>
              <a:ext uri="{FF2B5EF4-FFF2-40B4-BE49-F238E27FC236}">
                <a16:creationId xmlns:a16="http://schemas.microsoft.com/office/drawing/2014/main" id="{E37C258C-6389-D084-4FD4-2BEAD37E1F41}"/>
              </a:ext>
            </a:extLst>
          </p:cNvPr>
          <p:cNvSpPr txBox="1"/>
          <p:nvPr/>
        </p:nvSpPr>
        <p:spPr>
          <a:xfrm>
            <a:off x="2380978" y="2385134"/>
            <a:ext cx="3309867" cy="369067"/>
          </a:xfrm>
          <a:prstGeom prst="rect">
            <a:avLst/>
          </a:prstGeom>
          <a:noFill/>
          <a:ln>
            <a:noFill/>
          </a:ln>
        </p:spPr>
        <p:txBody>
          <a:bodyPr spcFirstLastPara="1" wrap="square" lIns="162533" tIns="162533" rIns="162533" bIns="162533" anchor="t" anchorCtr="0">
            <a:noAutofit/>
          </a:bodyPr>
          <a:lstStyle/>
          <a:p>
            <a:pPr marL="22578" algn="ctr">
              <a:buClr>
                <a:schemeClr val="dk1"/>
              </a:buClr>
            </a:pPr>
            <a:r>
              <a:rPr lang="vi" sz="1422" b="1">
                <a:solidFill>
                  <a:srgbClr val="404040"/>
                </a:solidFill>
                <a:latin typeface="Plus Jakarta Sans"/>
                <a:ea typeface="Plus Jakarta Sans"/>
                <a:cs typeface="Plus Jakarta Sans"/>
                <a:sym typeface="Plus Jakarta Sans"/>
              </a:rPr>
              <a:t>ASEAN DIGITAL AWARDS (ADA) 2025 - Silver Award</a:t>
            </a:r>
            <a:endParaRPr sz="1422" b="1">
              <a:solidFill>
                <a:schemeClr val="dk1"/>
              </a:solidFill>
              <a:latin typeface="Plus Jakarta Sans"/>
              <a:ea typeface="Plus Jakarta Sans"/>
              <a:cs typeface="Plus Jakarta Sans"/>
              <a:sym typeface="Plus Jakarta Sans"/>
            </a:endParaRPr>
          </a:p>
          <a:p>
            <a:pPr algn="ctr">
              <a:lnSpc>
                <a:spcPct val="115000"/>
              </a:lnSpc>
              <a:buSzPts val="1100"/>
            </a:pPr>
            <a:endParaRPr sz="1422" b="1">
              <a:highlight>
                <a:srgbClr val="FFFFFF"/>
              </a:highlight>
              <a:latin typeface="Malgun Gothic"/>
              <a:ea typeface="Malgun Gothic"/>
              <a:cs typeface="Malgun Gothic"/>
              <a:sym typeface="Malgun Gothic"/>
            </a:endParaRPr>
          </a:p>
          <a:p>
            <a:pPr>
              <a:buSzPts val="800"/>
            </a:pPr>
            <a:endParaRPr sz="1422" b="1">
              <a:solidFill>
                <a:srgbClr val="3D3D3D"/>
              </a:solidFill>
              <a:latin typeface="Malgun Gothic"/>
              <a:ea typeface="Malgun Gothic"/>
              <a:cs typeface="Malgun Gothic"/>
              <a:sym typeface="Malgun Gothic"/>
            </a:endParaRPr>
          </a:p>
          <a:p>
            <a:pPr>
              <a:buSzPts val="800"/>
            </a:pPr>
            <a:endParaRPr sz="1422">
              <a:solidFill>
                <a:srgbClr val="3D3D3D"/>
              </a:solidFill>
              <a:latin typeface="Malgun Gothic"/>
              <a:ea typeface="Malgun Gothic"/>
              <a:cs typeface="Malgun Gothic"/>
              <a:sym typeface="Malgun Gothic"/>
            </a:endParaRPr>
          </a:p>
          <a:p>
            <a:pPr>
              <a:buSzPts val="800"/>
            </a:pPr>
            <a:endParaRPr sz="1422">
              <a:solidFill>
                <a:srgbClr val="595959"/>
              </a:solidFill>
              <a:latin typeface="Malgun Gothic"/>
              <a:ea typeface="Malgun Gothic"/>
              <a:cs typeface="Malgun Gothic"/>
              <a:sym typeface="Malgun Gothic"/>
            </a:endParaRPr>
          </a:p>
        </p:txBody>
      </p:sp>
      <p:pic>
        <p:nvPicPr>
          <p:cNvPr id="21" name="Google Shape;326;p23" title="ada 2025.png">
            <a:extLst>
              <a:ext uri="{FF2B5EF4-FFF2-40B4-BE49-F238E27FC236}">
                <a16:creationId xmlns:a16="http://schemas.microsoft.com/office/drawing/2014/main" id="{F3B1722B-D297-77E2-9FDE-0A76EE04DF21}"/>
              </a:ext>
            </a:extLst>
          </p:cNvPr>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3130401" y="1384776"/>
            <a:ext cx="1811067" cy="872002"/>
          </a:xfrm>
          <a:prstGeom prst="rect">
            <a:avLst/>
          </a:prstGeom>
          <a:noFill/>
          <a:ln>
            <a:noFill/>
          </a:ln>
        </p:spPr>
      </p:pic>
      <p:grpSp>
        <p:nvGrpSpPr>
          <p:cNvPr id="22" name="Google Shape;274;p22">
            <a:extLst>
              <a:ext uri="{FF2B5EF4-FFF2-40B4-BE49-F238E27FC236}">
                <a16:creationId xmlns:a16="http://schemas.microsoft.com/office/drawing/2014/main" id="{9C48BE1B-78D6-CCCF-33E5-E69319298210}"/>
              </a:ext>
            </a:extLst>
          </p:cNvPr>
          <p:cNvGrpSpPr/>
          <p:nvPr/>
        </p:nvGrpSpPr>
        <p:grpSpPr>
          <a:xfrm>
            <a:off x="9295292" y="1623698"/>
            <a:ext cx="6277950" cy="6003056"/>
            <a:chOff x="5295851" y="883305"/>
            <a:chExt cx="3531347" cy="3376719"/>
          </a:xfrm>
        </p:grpSpPr>
        <p:grpSp>
          <p:nvGrpSpPr>
            <p:cNvPr id="23" name="Google Shape;275;p22">
              <a:extLst>
                <a:ext uri="{FF2B5EF4-FFF2-40B4-BE49-F238E27FC236}">
                  <a16:creationId xmlns:a16="http://schemas.microsoft.com/office/drawing/2014/main" id="{D6A617EB-EAE0-0CC4-46C4-1C60B2E555BB}"/>
                </a:ext>
              </a:extLst>
            </p:cNvPr>
            <p:cNvGrpSpPr/>
            <p:nvPr/>
          </p:nvGrpSpPr>
          <p:grpSpPr>
            <a:xfrm>
              <a:off x="5295851" y="3310999"/>
              <a:ext cx="3531347" cy="949025"/>
              <a:chOff x="5328851" y="3322561"/>
              <a:chExt cx="3531347" cy="949025"/>
            </a:xfrm>
          </p:grpSpPr>
          <p:grpSp>
            <p:nvGrpSpPr>
              <p:cNvPr id="41" name="Google Shape;276;p22">
                <a:extLst>
                  <a:ext uri="{FF2B5EF4-FFF2-40B4-BE49-F238E27FC236}">
                    <a16:creationId xmlns:a16="http://schemas.microsoft.com/office/drawing/2014/main" id="{17256FFB-6F16-4D50-5592-A867C1E72BC1}"/>
                  </a:ext>
                </a:extLst>
              </p:cNvPr>
              <p:cNvGrpSpPr/>
              <p:nvPr/>
            </p:nvGrpSpPr>
            <p:grpSpPr>
              <a:xfrm>
                <a:off x="7247098" y="3322561"/>
                <a:ext cx="1613100" cy="949025"/>
                <a:chOff x="7247098" y="3322561"/>
                <a:chExt cx="1613100" cy="949025"/>
              </a:xfrm>
            </p:grpSpPr>
            <p:cxnSp>
              <p:nvCxnSpPr>
                <p:cNvPr id="45" name="Google Shape;277;p22">
                  <a:extLst>
                    <a:ext uri="{FF2B5EF4-FFF2-40B4-BE49-F238E27FC236}">
                      <a16:creationId xmlns:a16="http://schemas.microsoft.com/office/drawing/2014/main" id="{37E3F831-9D4B-475E-4491-0D57FEA38DE1}"/>
                    </a:ext>
                  </a:extLst>
                </p:cNvPr>
                <p:cNvCxnSpPr/>
                <p:nvPr/>
              </p:nvCxnSpPr>
              <p:spPr>
                <a:xfrm>
                  <a:off x="7247098" y="3933055"/>
                  <a:ext cx="1613100" cy="0"/>
                </a:xfrm>
                <a:prstGeom prst="straightConnector1">
                  <a:avLst/>
                </a:prstGeom>
                <a:noFill/>
                <a:ln w="9525" cap="flat" cmpd="sng">
                  <a:solidFill>
                    <a:schemeClr val="dk2"/>
                  </a:solidFill>
                  <a:prstDash val="solid"/>
                  <a:round/>
                  <a:headEnd type="none" w="med" len="med"/>
                  <a:tailEnd type="none" w="med" len="med"/>
                </a:ln>
              </p:spPr>
            </p:cxnSp>
            <p:sp>
              <p:nvSpPr>
                <p:cNvPr id="46" name="Google Shape;278;p22">
                  <a:extLst>
                    <a:ext uri="{FF2B5EF4-FFF2-40B4-BE49-F238E27FC236}">
                      <a16:creationId xmlns:a16="http://schemas.microsoft.com/office/drawing/2014/main" id="{F9541A28-7F7F-8861-2258-DD31EE69FB8A}"/>
                    </a:ext>
                  </a:extLst>
                </p:cNvPr>
                <p:cNvSpPr txBox="1"/>
                <p:nvPr/>
              </p:nvSpPr>
              <p:spPr>
                <a:xfrm>
                  <a:off x="7285648" y="3933050"/>
                  <a:ext cx="1536000" cy="338536"/>
                </a:xfrm>
                <a:prstGeom prst="rect">
                  <a:avLst/>
                </a:prstGeom>
                <a:noFill/>
                <a:ln>
                  <a:noFill/>
                </a:ln>
              </p:spPr>
              <p:txBody>
                <a:bodyPr spcFirstLastPara="1" wrap="square" lIns="162533" tIns="162533" rIns="162533" bIns="162533" anchor="t" anchorCtr="0">
                  <a:spAutoFit/>
                </a:bodyPr>
                <a:lstStyle/>
                <a:p>
                  <a:pPr algn="ctr"/>
                  <a:r>
                    <a:rPr lang="vi" sz="1778">
                      <a:solidFill>
                        <a:srgbClr val="3D3D3D"/>
                      </a:solidFill>
                      <a:latin typeface="Plus Jakarta Sans Medium"/>
                      <a:ea typeface="Plus Jakarta Sans Medium"/>
                      <a:cs typeface="Plus Jakarta Sans Medium"/>
                      <a:sym typeface="Plus Jakarta Sans Medium"/>
                    </a:rPr>
                    <a:t>ISO/IEC 27001</a:t>
                  </a:r>
                  <a:endParaRPr sz="1778">
                    <a:solidFill>
                      <a:srgbClr val="3D3D3D"/>
                    </a:solidFill>
                    <a:latin typeface="Plus Jakarta Sans Medium"/>
                    <a:ea typeface="Plus Jakarta Sans Medium"/>
                    <a:cs typeface="Plus Jakarta Sans Medium"/>
                    <a:sym typeface="Plus Jakarta Sans Medium"/>
                  </a:endParaRPr>
                </a:p>
              </p:txBody>
            </p:sp>
            <p:pic>
              <p:nvPicPr>
                <p:cNvPr id="47" name="Google Shape;279;p22">
                  <a:extLst>
                    <a:ext uri="{FF2B5EF4-FFF2-40B4-BE49-F238E27FC236}">
                      <a16:creationId xmlns:a16="http://schemas.microsoft.com/office/drawing/2014/main" id="{81FE4275-6981-C595-BFF6-796BE19C5F9C}"/>
                    </a:ext>
                  </a:extLst>
                </p:cNvPr>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7771286" y="3322561"/>
                  <a:ext cx="564725" cy="570850"/>
                </a:xfrm>
                <a:prstGeom prst="rect">
                  <a:avLst/>
                </a:prstGeom>
                <a:noFill/>
                <a:ln>
                  <a:noFill/>
                </a:ln>
              </p:spPr>
            </p:pic>
          </p:grpSp>
          <p:grpSp>
            <p:nvGrpSpPr>
              <p:cNvPr id="42" name="Google Shape;280;p22">
                <a:extLst>
                  <a:ext uri="{FF2B5EF4-FFF2-40B4-BE49-F238E27FC236}">
                    <a16:creationId xmlns:a16="http://schemas.microsoft.com/office/drawing/2014/main" id="{276D781C-702D-62CA-B68D-1B1FEFEFD1C2}"/>
                  </a:ext>
                </a:extLst>
              </p:cNvPr>
              <p:cNvGrpSpPr/>
              <p:nvPr/>
            </p:nvGrpSpPr>
            <p:grpSpPr>
              <a:xfrm>
                <a:off x="5328851" y="3933050"/>
                <a:ext cx="1613100" cy="338536"/>
                <a:chOff x="5328851" y="3933050"/>
                <a:chExt cx="1613100" cy="338536"/>
              </a:xfrm>
            </p:grpSpPr>
            <p:cxnSp>
              <p:nvCxnSpPr>
                <p:cNvPr id="43" name="Google Shape;281;p22">
                  <a:extLst>
                    <a:ext uri="{FF2B5EF4-FFF2-40B4-BE49-F238E27FC236}">
                      <a16:creationId xmlns:a16="http://schemas.microsoft.com/office/drawing/2014/main" id="{67D399C2-F662-FABA-4407-7888C2DC008D}"/>
                    </a:ext>
                  </a:extLst>
                </p:cNvPr>
                <p:cNvCxnSpPr/>
                <p:nvPr/>
              </p:nvCxnSpPr>
              <p:spPr>
                <a:xfrm>
                  <a:off x="5328851" y="3933055"/>
                  <a:ext cx="1613100" cy="0"/>
                </a:xfrm>
                <a:prstGeom prst="straightConnector1">
                  <a:avLst/>
                </a:prstGeom>
                <a:noFill/>
                <a:ln w="9525" cap="flat" cmpd="sng">
                  <a:solidFill>
                    <a:schemeClr val="dk2"/>
                  </a:solidFill>
                  <a:prstDash val="solid"/>
                  <a:round/>
                  <a:headEnd type="none" w="med" len="med"/>
                  <a:tailEnd type="none" w="med" len="med"/>
                </a:ln>
              </p:spPr>
            </p:cxnSp>
            <p:sp>
              <p:nvSpPr>
                <p:cNvPr id="44" name="Google Shape;282;p22">
                  <a:extLst>
                    <a:ext uri="{FF2B5EF4-FFF2-40B4-BE49-F238E27FC236}">
                      <a16:creationId xmlns:a16="http://schemas.microsoft.com/office/drawing/2014/main" id="{3210244D-6E85-FA6D-EF17-7AF37024FC2D}"/>
                    </a:ext>
                  </a:extLst>
                </p:cNvPr>
                <p:cNvSpPr txBox="1"/>
                <p:nvPr/>
              </p:nvSpPr>
              <p:spPr>
                <a:xfrm>
                  <a:off x="5367401" y="3933050"/>
                  <a:ext cx="1536000" cy="338536"/>
                </a:xfrm>
                <a:prstGeom prst="rect">
                  <a:avLst/>
                </a:prstGeom>
                <a:noFill/>
                <a:ln>
                  <a:noFill/>
                </a:ln>
              </p:spPr>
              <p:txBody>
                <a:bodyPr spcFirstLastPara="1" wrap="square" lIns="162533" tIns="162533" rIns="162533" bIns="162533" anchor="t" anchorCtr="0">
                  <a:spAutoFit/>
                </a:bodyPr>
                <a:lstStyle/>
                <a:p>
                  <a:pPr algn="ctr"/>
                  <a:r>
                    <a:rPr lang="vi" sz="1778">
                      <a:solidFill>
                        <a:srgbClr val="3D3D3D"/>
                      </a:solidFill>
                      <a:latin typeface="Plus Jakarta Sans Medium"/>
                      <a:ea typeface="Plus Jakarta Sans Medium"/>
                      <a:cs typeface="Plus Jakarta Sans Medium"/>
                      <a:sym typeface="Plus Jakarta Sans Medium"/>
                    </a:rPr>
                    <a:t>PrivacyMark System</a:t>
                  </a:r>
                  <a:endParaRPr sz="1778">
                    <a:solidFill>
                      <a:srgbClr val="3D3D3D"/>
                    </a:solidFill>
                    <a:latin typeface="Plus Jakarta Sans Medium"/>
                    <a:ea typeface="Plus Jakarta Sans Medium"/>
                    <a:cs typeface="Plus Jakarta Sans Medium"/>
                    <a:sym typeface="Plus Jakarta Sans Medium"/>
                  </a:endParaRPr>
                </a:p>
              </p:txBody>
            </p:sp>
          </p:grpSp>
        </p:grpSp>
        <p:grpSp>
          <p:nvGrpSpPr>
            <p:cNvPr id="24" name="Google Shape;283;p22">
              <a:extLst>
                <a:ext uri="{FF2B5EF4-FFF2-40B4-BE49-F238E27FC236}">
                  <a16:creationId xmlns:a16="http://schemas.microsoft.com/office/drawing/2014/main" id="{8C5E8A12-D186-FB3E-15F8-1FEB6584FFA5}"/>
                </a:ext>
              </a:extLst>
            </p:cNvPr>
            <p:cNvGrpSpPr/>
            <p:nvPr/>
          </p:nvGrpSpPr>
          <p:grpSpPr>
            <a:xfrm>
              <a:off x="5295851" y="2203349"/>
              <a:ext cx="3531347" cy="880212"/>
              <a:chOff x="5328851" y="2214912"/>
              <a:chExt cx="3531347" cy="880212"/>
            </a:xfrm>
          </p:grpSpPr>
          <p:grpSp>
            <p:nvGrpSpPr>
              <p:cNvPr id="33" name="Google Shape;284;p22">
                <a:extLst>
                  <a:ext uri="{FF2B5EF4-FFF2-40B4-BE49-F238E27FC236}">
                    <a16:creationId xmlns:a16="http://schemas.microsoft.com/office/drawing/2014/main" id="{1B4B17B1-E377-F444-1D89-630488787F75}"/>
                  </a:ext>
                </a:extLst>
              </p:cNvPr>
              <p:cNvGrpSpPr/>
              <p:nvPr/>
            </p:nvGrpSpPr>
            <p:grpSpPr>
              <a:xfrm>
                <a:off x="7247098" y="2214912"/>
                <a:ext cx="1613100" cy="880212"/>
                <a:chOff x="7247098" y="2214912"/>
                <a:chExt cx="1613100" cy="880212"/>
              </a:xfrm>
            </p:grpSpPr>
            <p:cxnSp>
              <p:nvCxnSpPr>
                <p:cNvPr id="38" name="Google Shape;285;p22">
                  <a:extLst>
                    <a:ext uri="{FF2B5EF4-FFF2-40B4-BE49-F238E27FC236}">
                      <a16:creationId xmlns:a16="http://schemas.microsoft.com/office/drawing/2014/main" id="{B981B046-0A63-E1A9-8F17-B8F120489799}"/>
                    </a:ext>
                  </a:extLst>
                </p:cNvPr>
                <p:cNvCxnSpPr/>
                <p:nvPr/>
              </p:nvCxnSpPr>
              <p:spPr>
                <a:xfrm>
                  <a:off x="7247098" y="2756593"/>
                  <a:ext cx="1613100" cy="0"/>
                </a:xfrm>
                <a:prstGeom prst="straightConnector1">
                  <a:avLst/>
                </a:prstGeom>
                <a:noFill/>
                <a:ln w="9525" cap="flat" cmpd="sng">
                  <a:solidFill>
                    <a:schemeClr val="dk2"/>
                  </a:solidFill>
                  <a:prstDash val="solid"/>
                  <a:round/>
                  <a:headEnd type="none" w="med" len="med"/>
                  <a:tailEnd type="none" w="med" len="med"/>
                </a:ln>
              </p:spPr>
            </p:cxnSp>
            <p:sp>
              <p:nvSpPr>
                <p:cNvPr id="39" name="Google Shape;286;p22">
                  <a:extLst>
                    <a:ext uri="{FF2B5EF4-FFF2-40B4-BE49-F238E27FC236}">
                      <a16:creationId xmlns:a16="http://schemas.microsoft.com/office/drawing/2014/main" id="{55E91C3A-704A-29CE-ADE9-3B3588B3B050}"/>
                    </a:ext>
                  </a:extLst>
                </p:cNvPr>
                <p:cNvSpPr txBox="1"/>
                <p:nvPr/>
              </p:nvSpPr>
              <p:spPr>
                <a:xfrm>
                  <a:off x="7285648" y="2756588"/>
                  <a:ext cx="1536000" cy="338536"/>
                </a:xfrm>
                <a:prstGeom prst="rect">
                  <a:avLst/>
                </a:prstGeom>
                <a:noFill/>
                <a:ln>
                  <a:noFill/>
                </a:ln>
              </p:spPr>
              <p:txBody>
                <a:bodyPr spcFirstLastPara="1" wrap="square" lIns="162533" tIns="162533" rIns="162533" bIns="162533" anchor="t" anchorCtr="0">
                  <a:spAutoFit/>
                </a:bodyPr>
                <a:lstStyle/>
                <a:p>
                  <a:pPr algn="ctr"/>
                  <a:r>
                    <a:rPr lang="vi" sz="1778">
                      <a:solidFill>
                        <a:srgbClr val="3D3D3D"/>
                      </a:solidFill>
                      <a:latin typeface="Plus Jakarta Sans Medium"/>
                      <a:ea typeface="Plus Jakarta Sans Medium"/>
                      <a:cs typeface="Plus Jakarta Sans Medium"/>
                      <a:sym typeface="Plus Jakarta Sans Medium"/>
                    </a:rPr>
                    <a:t>ITIL® 4 Foundation</a:t>
                  </a:r>
                  <a:endParaRPr sz="1778">
                    <a:solidFill>
                      <a:srgbClr val="3D3D3D"/>
                    </a:solidFill>
                    <a:latin typeface="Plus Jakarta Sans Medium"/>
                    <a:ea typeface="Plus Jakarta Sans Medium"/>
                    <a:cs typeface="Plus Jakarta Sans Medium"/>
                    <a:sym typeface="Plus Jakarta Sans Medium"/>
                  </a:endParaRPr>
                </a:p>
              </p:txBody>
            </p:sp>
            <p:pic>
              <p:nvPicPr>
                <p:cNvPr id="40" name="Google Shape;287;p22">
                  <a:extLst>
                    <a:ext uri="{FF2B5EF4-FFF2-40B4-BE49-F238E27FC236}">
                      <a16:creationId xmlns:a16="http://schemas.microsoft.com/office/drawing/2014/main" id="{4C15FEBB-D42F-0F8F-9FF7-6B10760F42ED}"/>
                    </a:ext>
                  </a:extLst>
                </p:cNvPr>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7516552" y="2214912"/>
                  <a:ext cx="1074194" cy="492600"/>
                </a:xfrm>
                <a:prstGeom prst="rect">
                  <a:avLst/>
                </a:prstGeom>
                <a:noFill/>
                <a:ln>
                  <a:noFill/>
                </a:ln>
              </p:spPr>
            </p:pic>
          </p:grpSp>
          <p:grpSp>
            <p:nvGrpSpPr>
              <p:cNvPr id="34" name="Google Shape;288;p22">
                <a:extLst>
                  <a:ext uri="{FF2B5EF4-FFF2-40B4-BE49-F238E27FC236}">
                    <a16:creationId xmlns:a16="http://schemas.microsoft.com/office/drawing/2014/main" id="{34836B75-FCC1-D071-471D-779CA70498ED}"/>
                  </a:ext>
                </a:extLst>
              </p:cNvPr>
              <p:cNvGrpSpPr/>
              <p:nvPr/>
            </p:nvGrpSpPr>
            <p:grpSpPr>
              <a:xfrm>
                <a:off x="5328851" y="2270937"/>
                <a:ext cx="1613100" cy="824187"/>
                <a:chOff x="5328851" y="2270937"/>
                <a:chExt cx="1613100" cy="824187"/>
              </a:xfrm>
            </p:grpSpPr>
            <p:cxnSp>
              <p:nvCxnSpPr>
                <p:cNvPr id="35" name="Google Shape;289;p22">
                  <a:extLst>
                    <a:ext uri="{FF2B5EF4-FFF2-40B4-BE49-F238E27FC236}">
                      <a16:creationId xmlns:a16="http://schemas.microsoft.com/office/drawing/2014/main" id="{BF055876-C817-3A1B-023B-0959010AAA2E}"/>
                    </a:ext>
                  </a:extLst>
                </p:cNvPr>
                <p:cNvCxnSpPr/>
                <p:nvPr/>
              </p:nvCxnSpPr>
              <p:spPr>
                <a:xfrm>
                  <a:off x="5328851" y="2756593"/>
                  <a:ext cx="1613100" cy="0"/>
                </a:xfrm>
                <a:prstGeom prst="straightConnector1">
                  <a:avLst/>
                </a:prstGeom>
                <a:noFill/>
                <a:ln w="9525" cap="flat" cmpd="sng">
                  <a:solidFill>
                    <a:schemeClr val="dk2"/>
                  </a:solidFill>
                  <a:prstDash val="solid"/>
                  <a:round/>
                  <a:headEnd type="none" w="med" len="med"/>
                  <a:tailEnd type="none" w="med" len="med"/>
                </a:ln>
              </p:spPr>
            </p:cxnSp>
            <p:sp>
              <p:nvSpPr>
                <p:cNvPr id="36" name="Google Shape;290;p22">
                  <a:extLst>
                    <a:ext uri="{FF2B5EF4-FFF2-40B4-BE49-F238E27FC236}">
                      <a16:creationId xmlns:a16="http://schemas.microsoft.com/office/drawing/2014/main" id="{E5603211-797C-91D0-B72C-8F5815166D58}"/>
                    </a:ext>
                  </a:extLst>
                </p:cNvPr>
                <p:cNvSpPr txBox="1"/>
                <p:nvPr/>
              </p:nvSpPr>
              <p:spPr>
                <a:xfrm>
                  <a:off x="5367401" y="2756588"/>
                  <a:ext cx="1536000" cy="338536"/>
                </a:xfrm>
                <a:prstGeom prst="rect">
                  <a:avLst/>
                </a:prstGeom>
                <a:noFill/>
                <a:ln>
                  <a:noFill/>
                </a:ln>
              </p:spPr>
              <p:txBody>
                <a:bodyPr spcFirstLastPara="1" wrap="square" lIns="162533" tIns="162533" rIns="162533" bIns="162533" anchor="t" anchorCtr="0">
                  <a:spAutoFit/>
                </a:bodyPr>
                <a:lstStyle/>
                <a:p>
                  <a:pPr algn="ctr"/>
                  <a:r>
                    <a:rPr lang="vi" sz="1778">
                      <a:solidFill>
                        <a:srgbClr val="3D3D3D"/>
                      </a:solidFill>
                      <a:latin typeface="Plus Jakarta Sans Medium"/>
                      <a:ea typeface="Plus Jakarta Sans Medium"/>
                      <a:cs typeface="Plus Jakarta Sans Medium"/>
                      <a:sym typeface="Plus Jakarta Sans Medium"/>
                    </a:rPr>
                    <a:t>PMI PMP</a:t>
                  </a:r>
                  <a:endParaRPr sz="1778">
                    <a:solidFill>
                      <a:srgbClr val="3D3D3D"/>
                    </a:solidFill>
                    <a:latin typeface="Plus Jakarta Sans Medium"/>
                    <a:ea typeface="Plus Jakarta Sans Medium"/>
                    <a:cs typeface="Plus Jakarta Sans Medium"/>
                    <a:sym typeface="Plus Jakarta Sans Medium"/>
                  </a:endParaRPr>
                </a:p>
              </p:txBody>
            </p:sp>
            <p:pic>
              <p:nvPicPr>
                <p:cNvPr id="37" name="Google Shape;291;p22">
                  <a:extLst>
                    <a:ext uri="{FF2B5EF4-FFF2-40B4-BE49-F238E27FC236}">
                      <a16:creationId xmlns:a16="http://schemas.microsoft.com/office/drawing/2014/main" id="{85252AAC-1C46-50B6-1C8E-79CBB13FBAE5}"/>
                    </a:ext>
                  </a:extLst>
                </p:cNvPr>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5585151" y="2270937"/>
                  <a:ext cx="1100500" cy="380550"/>
                </a:xfrm>
                <a:prstGeom prst="rect">
                  <a:avLst/>
                </a:prstGeom>
                <a:noFill/>
                <a:ln>
                  <a:noFill/>
                </a:ln>
              </p:spPr>
            </p:pic>
          </p:grpSp>
        </p:grpSp>
        <p:grpSp>
          <p:nvGrpSpPr>
            <p:cNvPr id="25" name="Google Shape;292;p22">
              <a:extLst>
                <a:ext uri="{FF2B5EF4-FFF2-40B4-BE49-F238E27FC236}">
                  <a16:creationId xmlns:a16="http://schemas.microsoft.com/office/drawing/2014/main" id="{38770C0C-E0A6-ED07-41A6-12114487B38A}"/>
                </a:ext>
              </a:extLst>
            </p:cNvPr>
            <p:cNvGrpSpPr/>
            <p:nvPr/>
          </p:nvGrpSpPr>
          <p:grpSpPr>
            <a:xfrm>
              <a:off x="5295851" y="883305"/>
              <a:ext cx="3531347" cy="931993"/>
              <a:chOff x="5368176" y="1095343"/>
              <a:chExt cx="3531347" cy="931993"/>
            </a:xfrm>
          </p:grpSpPr>
          <p:grpSp>
            <p:nvGrpSpPr>
              <p:cNvPr id="26" name="Google Shape;293;p22">
                <a:extLst>
                  <a:ext uri="{FF2B5EF4-FFF2-40B4-BE49-F238E27FC236}">
                    <a16:creationId xmlns:a16="http://schemas.microsoft.com/office/drawing/2014/main" id="{CA54A64C-17CD-2C75-3CC3-F17E76459669}"/>
                  </a:ext>
                </a:extLst>
              </p:cNvPr>
              <p:cNvGrpSpPr/>
              <p:nvPr/>
            </p:nvGrpSpPr>
            <p:grpSpPr>
              <a:xfrm>
                <a:off x="7286423" y="1095343"/>
                <a:ext cx="1613100" cy="931993"/>
                <a:chOff x="7286423" y="1095343"/>
                <a:chExt cx="1613100" cy="931993"/>
              </a:xfrm>
            </p:grpSpPr>
            <p:pic>
              <p:nvPicPr>
                <p:cNvPr id="30" name="Google Shape;294;p22">
                  <a:extLst>
                    <a:ext uri="{FF2B5EF4-FFF2-40B4-BE49-F238E27FC236}">
                      <a16:creationId xmlns:a16="http://schemas.microsoft.com/office/drawing/2014/main" id="{C39BA503-D821-9169-0449-0C09662645B3}"/>
                    </a:ext>
                  </a:extLst>
                </p:cNvPr>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7750898" y="1095343"/>
                  <a:ext cx="684150" cy="567030"/>
                </a:xfrm>
                <a:prstGeom prst="rect">
                  <a:avLst/>
                </a:prstGeom>
                <a:noFill/>
                <a:ln>
                  <a:noFill/>
                </a:ln>
              </p:spPr>
            </p:pic>
            <p:cxnSp>
              <p:nvCxnSpPr>
                <p:cNvPr id="31" name="Google Shape;295;p22">
                  <a:extLst>
                    <a:ext uri="{FF2B5EF4-FFF2-40B4-BE49-F238E27FC236}">
                      <a16:creationId xmlns:a16="http://schemas.microsoft.com/office/drawing/2014/main" id="{9E91BD18-7761-7C56-25A5-C7A3BDFACC7F}"/>
                    </a:ext>
                  </a:extLst>
                </p:cNvPr>
                <p:cNvCxnSpPr/>
                <p:nvPr/>
              </p:nvCxnSpPr>
              <p:spPr>
                <a:xfrm>
                  <a:off x="7286423" y="1688805"/>
                  <a:ext cx="1613100" cy="0"/>
                </a:xfrm>
                <a:prstGeom prst="straightConnector1">
                  <a:avLst/>
                </a:prstGeom>
                <a:noFill/>
                <a:ln w="9525" cap="flat" cmpd="sng">
                  <a:solidFill>
                    <a:schemeClr val="dk2"/>
                  </a:solidFill>
                  <a:prstDash val="solid"/>
                  <a:round/>
                  <a:headEnd type="none" w="med" len="med"/>
                  <a:tailEnd type="none" w="med" len="med"/>
                </a:ln>
              </p:spPr>
            </p:cxnSp>
            <p:sp>
              <p:nvSpPr>
                <p:cNvPr id="32" name="Google Shape;296;p22">
                  <a:extLst>
                    <a:ext uri="{FF2B5EF4-FFF2-40B4-BE49-F238E27FC236}">
                      <a16:creationId xmlns:a16="http://schemas.microsoft.com/office/drawing/2014/main" id="{82E47917-274F-FFD3-2962-759EA721F4E3}"/>
                    </a:ext>
                  </a:extLst>
                </p:cNvPr>
                <p:cNvSpPr txBox="1"/>
                <p:nvPr/>
              </p:nvSpPr>
              <p:spPr>
                <a:xfrm>
                  <a:off x="7324973" y="1688800"/>
                  <a:ext cx="1536000" cy="338536"/>
                </a:xfrm>
                <a:prstGeom prst="rect">
                  <a:avLst/>
                </a:prstGeom>
                <a:noFill/>
                <a:ln>
                  <a:noFill/>
                </a:ln>
              </p:spPr>
              <p:txBody>
                <a:bodyPr spcFirstLastPara="1" wrap="square" lIns="162533" tIns="162533" rIns="162533" bIns="162533" anchor="t" anchorCtr="0">
                  <a:spAutoFit/>
                </a:bodyPr>
                <a:lstStyle/>
                <a:p>
                  <a:pPr algn="ctr"/>
                  <a:r>
                    <a:rPr lang="vi" sz="1778">
                      <a:solidFill>
                        <a:srgbClr val="3D3D3D"/>
                      </a:solidFill>
                      <a:latin typeface="Plus Jakarta Sans Medium"/>
                      <a:ea typeface="Plus Jakarta Sans Medium"/>
                      <a:cs typeface="Plus Jakarta Sans Medium"/>
                      <a:sym typeface="Plus Jakarta Sans Medium"/>
                    </a:rPr>
                    <a:t>Scrum Master</a:t>
                  </a:r>
                  <a:endParaRPr sz="1778">
                    <a:solidFill>
                      <a:srgbClr val="3D3D3D"/>
                    </a:solidFill>
                    <a:latin typeface="Plus Jakarta Sans Medium"/>
                    <a:ea typeface="Plus Jakarta Sans Medium"/>
                    <a:cs typeface="Plus Jakarta Sans Medium"/>
                    <a:sym typeface="Plus Jakarta Sans Medium"/>
                  </a:endParaRPr>
                </a:p>
              </p:txBody>
            </p:sp>
          </p:grpSp>
          <p:grpSp>
            <p:nvGrpSpPr>
              <p:cNvPr id="27" name="Google Shape;297;p22">
                <a:extLst>
                  <a:ext uri="{FF2B5EF4-FFF2-40B4-BE49-F238E27FC236}">
                    <a16:creationId xmlns:a16="http://schemas.microsoft.com/office/drawing/2014/main" id="{77DBD987-6E22-AF4C-03D2-5427EB75BBDE}"/>
                  </a:ext>
                </a:extLst>
              </p:cNvPr>
              <p:cNvGrpSpPr/>
              <p:nvPr/>
            </p:nvGrpSpPr>
            <p:grpSpPr>
              <a:xfrm>
                <a:off x="5368176" y="1688800"/>
                <a:ext cx="1613100" cy="338536"/>
                <a:chOff x="5368176" y="1688800"/>
                <a:chExt cx="1613100" cy="338536"/>
              </a:xfrm>
            </p:grpSpPr>
            <p:cxnSp>
              <p:nvCxnSpPr>
                <p:cNvPr id="28" name="Google Shape;298;p22">
                  <a:extLst>
                    <a:ext uri="{FF2B5EF4-FFF2-40B4-BE49-F238E27FC236}">
                      <a16:creationId xmlns:a16="http://schemas.microsoft.com/office/drawing/2014/main" id="{FF63037C-457C-814E-6301-2EC43BC5B433}"/>
                    </a:ext>
                  </a:extLst>
                </p:cNvPr>
                <p:cNvCxnSpPr/>
                <p:nvPr/>
              </p:nvCxnSpPr>
              <p:spPr>
                <a:xfrm>
                  <a:off x="5368176" y="1688805"/>
                  <a:ext cx="1613100" cy="0"/>
                </a:xfrm>
                <a:prstGeom prst="straightConnector1">
                  <a:avLst/>
                </a:prstGeom>
                <a:noFill/>
                <a:ln w="9525" cap="flat" cmpd="sng">
                  <a:solidFill>
                    <a:schemeClr val="dk2"/>
                  </a:solidFill>
                  <a:prstDash val="solid"/>
                  <a:round/>
                  <a:headEnd type="none" w="med" len="med"/>
                  <a:tailEnd type="none" w="med" len="med"/>
                </a:ln>
              </p:spPr>
            </p:cxnSp>
            <p:sp>
              <p:nvSpPr>
                <p:cNvPr id="29" name="Google Shape;299;p22">
                  <a:extLst>
                    <a:ext uri="{FF2B5EF4-FFF2-40B4-BE49-F238E27FC236}">
                      <a16:creationId xmlns:a16="http://schemas.microsoft.com/office/drawing/2014/main" id="{8C14C7BF-1AF7-70FD-0783-92210BA2EF3A}"/>
                    </a:ext>
                  </a:extLst>
                </p:cNvPr>
                <p:cNvSpPr txBox="1"/>
                <p:nvPr/>
              </p:nvSpPr>
              <p:spPr>
                <a:xfrm>
                  <a:off x="5406726" y="1688800"/>
                  <a:ext cx="1536000" cy="338536"/>
                </a:xfrm>
                <a:prstGeom prst="rect">
                  <a:avLst/>
                </a:prstGeom>
                <a:noFill/>
                <a:ln>
                  <a:noFill/>
                </a:ln>
              </p:spPr>
              <p:txBody>
                <a:bodyPr spcFirstLastPara="1" wrap="square" lIns="162533" tIns="162533" rIns="162533" bIns="162533" anchor="t" anchorCtr="0">
                  <a:spAutoFit/>
                </a:bodyPr>
                <a:lstStyle/>
                <a:p>
                  <a:pPr algn="ctr"/>
                  <a:r>
                    <a:rPr lang="vi" sz="1778">
                      <a:solidFill>
                        <a:srgbClr val="3D3D3D"/>
                      </a:solidFill>
                      <a:latin typeface="Plus Jakarta Sans Medium"/>
                      <a:ea typeface="Plus Jakarta Sans Medium"/>
                      <a:cs typeface="Plus Jakarta Sans Medium"/>
                      <a:sym typeface="Plus Jakarta Sans Medium"/>
                    </a:rPr>
                    <a:t>CMMI Maturity Level 3</a:t>
                  </a:r>
                  <a:endParaRPr sz="1778">
                    <a:solidFill>
                      <a:srgbClr val="3D3D3D"/>
                    </a:solidFill>
                    <a:latin typeface="Plus Jakarta Sans Medium"/>
                    <a:ea typeface="Plus Jakarta Sans Medium"/>
                    <a:cs typeface="Plus Jakarta Sans Medium"/>
                    <a:sym typeface="Plus Jakarta Sans Medium"/>
                  </a:endParaRPr>
                </a:p>
              </p:txBody>
            </p:sp>
          </p:grpSp>
        </p:grpSp>
      </p:grpSp>
      <p:pic>
        <p:nvPicPr>
          <p:cNvPr id="48" name="Google Shape;300;p22" title="77921-Full_Lifecycle_Software_Development_Projects_CMMI_Development_Maturity_Level 3.png">
            <a:extLst>
              <a:ext uri="{FF2B5EF4-FFF2-40B4-BE49-F238E27FC236}">
                <a16:creationId xmlns:a16="http://schemas.microsoft.com/office/drawing/2014/main" id="{ED3F35A6-3FA2-4DD6-1483-9F68458962A4}"/>
              </a:ext>
            </a:extLst>
          </p:cNvPr>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9557385" y="1623689"/>
            <a:ext cx="2170464" cy="778489"/>
          </a:xfrm>
          <a:prstGeom prst="rect">
            <a:avLst/>
          </a:prstGeom>
          <a:noFill/>
          <a:ln>
            <a:noFill/>
          </a:ln>
        </p:spPr>
      </p:pic>
      <p:pic>
        <p:nvPicPr>
          <p:cNvPr id="49" name="Google Shape;301;p22" title="Logo Pmark 17004269_03_jp.png">
            <a:extLst>
              <a:ext uri="{FF2B5EF4-FFF2-40B4-BE49-F238E27FC236}">
                <a16:creationId xmlns:a16="http://schemas.microsoft.com/office/drawing/2014/main" id="{24F049D5-712C-39E5-EAF7-A89BB4770142}"/>
              </a:ext>
            </a:extLst>
          </p:cNvPr>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10036444" y="5706622"/>
            <a:ext cx="1212356" cy="1212356"/>
          </a:xfrm>
          <a:prstGeom prst="rect">
            <a:avLst/>
          </a:prstGeom>
          <a:noFill/>
          <a:ln>
            <a:noFill/>
          </a:ln>
        </p:spPr>
      </p:pic>
      <p:pic>
        <p:nvPicPr>
          <p:cNvPr id="3" name="Picture 2">
            <a:extLst>
              <a:ext uri="{FF2B5EF4-FFF2-40B4-BE49-F238E27FC236}">
                <a16:creationId xmlns:a16="http://schemas.microsoft.com/office/drawing/2014/main" id="{137395F5-4B20-C50D-390B-880CB5960800}"/>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4919141" y="5706623"/>
            <a:ext cx="1381764" cy="14242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pic>
        <p:nvPicPr>
          <p:cNvPr id="331" name="Google Shape;331;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1948267" y="1716267"/>
            <a:ext cx="3186357" cy="3028660"/>
          </a:xfrm>
          <a:prstGeom prst="rect">
            <a:avLst/>
          </a:prstGeom>
          <a:noFill/>
          <a:ln>
            <a:noFill/>
          </a:ln>
        </p:spPr>
      </p:pic>
      <p:pic>
        <p:nvPicPr>
          <p:cNvPr id="332" name="Google Shape;332;p24"/>
          <p:cNvPicPr preferRelativeResize="0"/>
          <p:nvPr/>
        </p:nvPicPr>
        <p:blipFill>
          <a:blip r:embed="rId4">
            <a:alphaModFix/>
          </a:blip>
          <a:stretch>
            <a:fillRect/>
          </a:stretch>
        </p:blipFill>
        <p:spPr>
          <a:xfrm>
            <a:off x="0" y="8345911"/>
            <a:ext cx="880533" cy="440267"/>
          </a:xfrm>
          <a:prstGeom prst="rect">
            <a:avLst/>
          </a:prstGeom>
          <a:noFill/>
          <a:ln>
            <a:noFill/>
          </a:ln>
        </p:spPr>
      </p:pic>
      <p:pic>
        <p:nvPicPr>
          <p:cNvPr id="333" name="Google Shape;333;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93956" y="1681201"/>
            <a:ext cx="3186357" cy="3028660"/>
          </a:xfrm>
          <a:prstGeom prst="rect">
            <a:avLst/>
          </a:prstGeom>
          <a:noFill/>
          <a:ln>
            <a:noFill/>
          </a:ln>
        </p:spPr>
      </p:pic>
      <p:pic>
        <p:nvPicPr>
          <p:cNvPr id="334" name="Google Shape;334;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647710" y="5021466"/>
            <a:ext cx="3186357" cy="3028660"/>
          </a:xfrm>
          <a:prstGeom prst="rect">
            <a:avLst/>
          </a:prstGeom>
          <a:noFill/>
          <a:ln>
            <a:noFill/>
          </a:ln>
        </p:spPr>
      </p:pic>
      <p:pic>
        <p:nvPicPr>
          <p:cNvPr id="335" name="Google Shape;335;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315910" y="5056532"/>
            <a:ext cx="3186357" cy="3028660"/>
          </a:xfrm>
          <a:prstGeom prst="rect">
            <a:avLst/>
          </a:prstGeom>
          <a:noFill/>
          <a:ln>
            <a:noFill/>
          </a:ln>
        </p:spPr>
      </p:pic>
      <p:pic>
        <p:nvPicPr>
          <p:cNvPr id="336" name="Google Shape;336;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0136777" y="5056532"/>
            <a:ext cx="3186357" cy="3028660"/>
          </a:xfrm>
          <a:prstGeom prst="rect">
            <a:avLst/>
          </a:prstGeom>
          <a:noFill/>
          <a:ln>
            <a:noFill/>
          </a:ln>
        </p:spPr>
      </p:pic>
      <p:pic>
        <p:nvPicPr>
          <p:cNvPr id="337" name="Google Shape;337;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8224934" y="1716267"/>
            <a:ext cx="3186357" cy="3028660"/>
          </a:xfrm>
          <a:prstGeom prst="rect">
            <a:avLst/>
          </a:prstGeom>
          <a:noFill/>
          <a:ln>
            <a:noFill/>
          </a:ln>
        </p:spPr>
      </p:pic>
      <p:pic>
        <p:nvPicPr>
          <p:cNvPr id="338" name="Google Shape;338;p2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462157" y="1716267"/>
            <a:ext cx="3186357" cy="3028660"/>
          </a:xfrm>
          <a:prstGeom prst="rect">
            <a:avLst/>
          </a:prstGeom>
          <a:noFill/>
          <a:ln>
            <a:noFill/>
          </a:ln>
        </p:spPr>
      </p:pic>
      <p:pic>
        <p:nvPicPr>
          <p:cNvPr id="339" name="Google Shape;339;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701195" y="2598267"/>
            <a:ext cx="1371879" cy="440267"/>
          </a:xfrm>
          <a:prstGeom prst="rect">
            <a:avLst/>
          </a:prstGeom>
          <a:noFill/>
          <a:ln>
            <a:noFill/>
          </a:ln>
        </p:spPr>
      </p:pic>
      <p:pic>
        <p:nvPicPr>
          <p:cNvPr id="340" name="Google Shape;340;p2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596690" y="2378134"/>
            <a:ext cx="880533" cy="880533"/>
          </a:xfrm>
          <a:prstGeom prst="rect">
            <a:avLst/>
          </a:prstGeom>
          <a:noFill/>
          <a:ln>
            <a:noFill/>
          </a:ln>
        </p:spPr>
      </p:pic>
      <p:pic>
        <p:nvPicPr>
          <p:cNvPr id="341" name="Google Shape;341;p2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239668" y="5808301"/>
            <a:ext cx="1586400" cy="533076"/>
          </a:xfrm>
          <a:prstGeom prst="rect">
            <a:avLst/>
          </a:prstGeom>
          <a:noFill/>
          <a:ln>
            <a:noFill/>
          </a:ln>
        </p:spPr>
      </p:pic>
      <p:pic>
        <p:nvPicPr>
          <p:cNvPr id="342" name="Google Shape;342;p24"/>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7083488" y="5956975"/>
            <a:ext cx="1586400" cy="235774"/>
          </a:xfrm>
          <a:prstGeom prst="rect">
            <a:avLst/>
          </a:prstGeom>
          <a:noFill/>
          <a:ln>
            <a:noFill/>
          </a:ln>
        </p:spPr>
      </p:pic>
      <p:pic>
        <p:nvPicPr>
          <p:cNvPr id="343" name="Google Shape;343;p24"/>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11061465" y="5647550"/>
            <a:ext cx="1220843" cy="854578"/>
          </a:xfrm>
          <a:prstGeom prst="rect">
            <a:avLst/>
          </a:prstGeom>
          <a:noFill/>
          <a:ln>
            <a:noFill/>
          </a:ln>
        </p:spPr>
      </p:pic>
      <p:cxnSp>
        <p:nvCxnSpPr>
          <p:cNvPr id="344" name="Google Shape;344;p24"/>
          <p:cNvCxnSpPr/>
          <p:nvPr/>
        </p:nvCxnSpPr>
        <p:spPr>
          <a:xfrm>
            <a:off x="1653600" y="8395111"/>
            <a:ext cx="0" cy="419733"/>
          </a:xfrm>
          <a:prstGeom prst="straightConnector1">
            <a:avLst/>
          </a:prstGeom>
          <a:noFill/>
          <a:ln w="9525" cap="flat" cmpd="sng">
            <a:solidFill>
              <a:srgbClr val="808080"/>
            </a:solidFill>
            <a:prstDash val="solid"/>
            <a:round/>
            <a:headEnd type="none" w="med" len="med"/>
            <a:tailEnd type="none" w="med" len="med"/>
          </a:ln>
        </p:spPr>
      </p:cxnSp>
      <p:cxnSp>
        <p:nvCxnSpPr>
          <p:cNvPr id="345" name="Google Shape;345;p24"/>
          <p:cNvCxnSpPr/>
          <p:nvPr/>
        </p:nvCxnSpPr>
        <p:spPr>
          <a:xfrm>
            <a:off x="872533" y="498933"/>
            <a:ext cx="0" cy="305600"/>
          </a:xfrm>
          <a:prstGeom prst="straightConnector1">
            <a:avLst/>
          </a:prstGeom>
          <a:noFill/>
          <a:ln w="9525" cap="flat" cmpd="sng">
            <a:solidFill>
              <a:srgbClr val="808080"/>
            </a:solidFill>
            <a:prstDash val="solid"/>
            <a:round/>
            <a:headEnd type="none" w="med" len="med"/>
            <a:tailEnd type="none" w="med" len="med"/>
          </a:ln>
        </p:spPr>
      </p:cxnSp>
      <p:sp>
        <p:nvSpPr>
          <p:cNvPr id="346" name="Google Shape;346;p24"/>
          <p:cNvSpPr txBox="1"/>
          <p:nvPr/>
        </p:nvSpPr>
        <p:spPr>
          <a:xfrm>
            <a:off x="872534" y="352711"/>
            <a:ext cx="4718933" cy="369067"/>
          </a:xfrm>
          <a:prstGeom prst="rect">
            <a:avLst/>
          </a:prstGeom>
          <a:noFill/>
          <a:ln>
            <a:noFill/>
          </a:ln>
        </p:spPr>
        <p:txBody>
          <a:bodyPr spcFirstLastPara="1" wrap="square" lIns="162533" tIns="162533" rIns="162533" bIns="162533" anchor="t" anchorCtr="0">
            <a:noAutofit/>
          </a:bodyPr>
          <a:lstStyle/>
          <a:p>
            <a:r>
              <a:rPr lang="vi" sz="1956" b="1">
                <a:solidFill>
                  <a:srgbClr val="3D3D3D"/>
                </a:solidFill>
                <a:latin typeface="Inter"/>
                <a:ea typeface="Inter"/>
                <a:cs typeface="Inter"/>
                <a:sym typeface="Inter"/>
              </a:rPr>
              <a:t>PARTNER</a:t>
            </a:r>
            <a:endParaRPr sz="1956" b="1">
              <a:solidFill>
                <a:srgbClr val="3D3D3D"/>
              </a:solidFill>
              <a:latin typeface="Inter"/>
              <a:ea typeface="Inter"/>
              <a:cs typeface="Inter"/>
              <a:sym typeface="Inter"/>
            </a:endParaRPr>
          </a:p>
          <a:p>
            <a:endParaRPr sz="1956">
              <a:solidFill>
                <a:srgbClr val="3D3D3D"/>
              </a:solidFill>
              <a:latin typeface="Inter"/>
              <a:ea typeface="Inter"/>
              <a:cs typeface="Inter"/>
              <a:sym typeface="Inter"/>
            </a:endParaRPr>
          </a:p>
          <a:p>
            <a:endParaRPr sz="1956">
              <a:solidFill>
                <a:schemeClr val="dk2"/>
              </a:solidFill>
              <a:latin typeface="Inter"/>
              <a:ea typeface="Inter"/>
              <a:cs typeface="Inter"/>
              <a:sym typeface="Inter"/>
            </a:endParaRPr>
          </a:p>
        </p:txBody>
      </p:sp>
      <p:sp>
        <p:nvSpPr>
          <p:cNvPr id="347" name="Google Shape;347;p24"/>
          <p:cNvSpPr txBox="1"/>
          <p:nvPr/>
        </p:nvSpPr>
        <p:spPr>
          <a:xfrm>
            <a:off x="888534" y="3575490"/>
            <a:ext cx="2923733" cy="532800"/>
          </a:xfrm>
          <a:prstGeom prst="rect">
            <a:avLst/>
          </a:prstGeom>
          <a:noFill/>
          <a:ln>
            <a:noFill/>
          </a:ln>
        </p:spPr>
        <p:txBody>
          <a:bodyPr spcFirstLastPara="1" wrap="square" lIns="162533" tIns="162533" rIns="162533" bIns="162533" anchor="ctr" anchorCtr="0">
            <a:noAutofit/>
          </a:bodyPr>
          <a:lstStyle/>
          <a:p>
            <a:pPr algn="ctr">
              <a:lnSpc>
                <a:spcPct val="115000"/>
              </a:lnSpc>
            </a:pPr>
            <a:r>
              <a:rPr lang="vi" sz="1422" b="1">
                <a:solidFill>
                  <a:srgbClr val="3D3D3D"/>
                </a:solidFill>
                <a:latin typeface="Plus Jakarta Sans"/>
                <a:ea typeface="Plus Jakarta Sans"/>
                <a:cs typeface="Plus Jakarta Sans"/>
                <a:sym typeface="Plus Jakarta Sans"/>
              </a:rPr>
              <a:t>Odoo</a:t>
            </a:r>
            <a:endParaRPr sz="1422" b="1">
              <a:solidFill>
                <a:srgbClr val="3D3D3D"/>
              </a:solidFill>
              <a:latin typeface="Plus Jakarta Sans"/>
              <a:ea typeface="Plus Jakarta Sans"/>
              <a:cs typeface="Plus Jakarta Sans"/>
              <a:sym typeface="Plus Jakarta Sans"/>
            </a:endParaRPr>
          </a:p>
          <a:p>
            <a:pPr algn="ctr">
              <a:lnSpc>
                <a:spcPct val="115000"/>
              </a:lnSpc>
            </a:pPr>
            <a:r>
              <a:rPr lang="vi" sz="1422" b="1">
                <a:solidFill>
                  <a:srgbClr val="3D3D3D"/>
                </a:solidFill>
                <a:latin typeface="Plus Jakarta Sans"/>
                <a:ea typeface="Plus Jakarta Sans"/>
                <a:cs typeface="Plus Jakarta Sans"/>
                <a:sym typeface="Plus Jakarta Sans"/>
              </a:rPr>
              <a:t>ERP Partner </a:t>
            </a:r>
            <a:endParaRPr sz="1422" b="1">
              <a:solidFill>
                <a:srgbClr val="3D3D3D"/>
              </a:solidFill>
              <a:latin typeface="Plus Jakarta Sans"/>
              <a:ea typeface="Plus Jakarta Sans"/>
              <a:cs typeface="Plus Jakarta Sans"/>
              <a:sym typeface="Plus Jakarta Sans"/>
            </a:endParaRPr>
          </a:p>
        </p:txBody>
      </p:sp>
      <p:sp>
        <p:nvSpPr>
          <p:cNvPr id="348" name="Google Shape;348;p24"/>
          <p:cNvSpPr txBox="1"/>
          <p:nvPr/>
        </p:nvSpPr>
        <p:spPr>
          <a:xfrm>
            <a:off x="4575090" y="3536578"/>
            <a:ext cx="2923733" cy="369067"/>
          </a:xfrm>
          <a:prstGeom prst="rect">
            <a:avLst/>
          </a:prstGeom>
          <a:noFill/>
          <a:ln>
            <a:noFill/>
          </a:ln>
        </p:spPr>
        <p:txBody>
          <a:bodyPr spcFirstLastPara="1" wrap="square" lIns="162533" tIns="162533" rIns="162533" bIns="162533" anchor="ctr" anchorCtr="0">
            <a:noAutofit/>
          </a:bodyPr>
          <a:lstStyle/>
          <a:p>
            <a:pPr algn="ctr">
              <a:lnSpc>
                <a:spcPct val="115000"/>
              </a:lnSpc>
            </a:pPr>
            <a:r>
              <a:rPr lang="vi" sz="1422" b="1">
                <a:solidFill>
                  <a:srgbClr val="3D3D3D"/>
                </a:solidFill>
                <a:latin typeface="Plus Jakarta Sans"/>
                <a:ea typeface="Plus Jakarta Sans"/>
                <a:cs typeface="Plus Jakarta Sans"/>
                <a:sym typeface="Plus Jakarta Sans"/>
              </a:rPr>
              <a:t>AWS Partner </a:t>
            </a:r>
            <a:endParaRPr sz="1422" b="1">
              <a:solidFill>
                <a:srgbClr val="3D3D3D"/>
              </a:solidFill>
              <a:latin typeface="Plus Jakarta Sans"/>
              <a:ea typeface="Plus Jakarta Sans"/>
              <a:cs typeface="Plus Jakarta Sans"/>
              <a:sym typeface="Plus Jakarta Sans"/>
            </a:endParaRPr>
          </a:p>
        </p:txBody>
      </p:sp>
      <p:pic>
        <p:nvPicPr>
          <p:cNvPr id="349" name="Google Shape;349;p24"/>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8968115" y="2598267"/>
            <a:ext cx="1699995" cy="440267"/>
          </a:xfrm>
          <a:prstGeom prst="rect">
            <a:avLst/>
          </a:prstGeom>
          <a:noFill/>
          <a:ln>
            <a:noFill/>
          </a:ln>
        </p:spPr>
      </p:pic>
      <p:sp>
        <p:nvSpPr>
          <p:cNvPr id="350" name="Google Shape;350;p24"/>
          <p:cNvSpPr txBox="1"/>
          <p:nvPr/>
        </p:nvSpPr>
        <p:spPr>
          <a:xfrm>
            <a:off x="8261689" y="3536578"/>
            <a:ext cx="2923733" cy="533333"/>
          </a:xfrm>
          <a:prstGeom prst="rect">
            <a:avLst/>
          </a:prstGeom>
          <a:noFill/>
          <a:ln>
            <a:noFill/>
          </a:ln>
        </p:spPr>
        <p:txBody>
          <a:bodyPr spcFirstLastPara="1" wrap="square" lIns="162533" tIns="162533" rIns="162533" bIns="162533" anchor="ctr" anchorCtr="0">
            <a:noAutofit/>
          </a:bodyPr>
          <a:lstStyle/>
          <a:p>
            <a:pPr algn="ctr">
              <a:lnSpc>
                <a:spcPct val="115000"/>
              </a:lnSpc>
            </a:pPr>
            <a:r>
              <a:rPr lang="vi" sz="1422" b="1">
                <a:solidFill>
                  <a:srgbClr val="3D3D3D"/>
                </a:solidFill>
                <a:latin typeface="Plus Jakarta Sans"/>
                <a:ea typeface="Plus Jakarta Sans"/>
                <a:cs typeface="Plus Jakarta Sans"/>
                <a:sym typeface="Plus Jakarta Sans"/>
              </a:rPr>
              <a:t>Microsoft Partner</a:t>
            </a:r>
            <a:endParaRPr sz="1422" b="1">
              <a:solidFill>
                <a:srgbClr val="3D3D3D"/>
              </a:solidFill>
              <a:latin typeface="Plus Jakarta Sans"/>
              <a:ea typeface="Plus Jakarta Sans"/>
              <a:cs typeface="Plus Jakarta Sans"/>
              <a:sym typeface="Plus Jakarta Sans"/>
            </a:endParaRPr>
          </a:p>
          <a:p>
            <a:pPr algn="ctr">
              <a:lnSpc>
                <a:spcPct val="115000"/>
              </a:lnSpc>
            </a:pPr>
            <a:r>
              <a:rPr lang="vi" sz="1422" b="1">
                <a:solidFill>
                  <a:srgbClr val="3D3D3D"/>
                </a:solidFill>
                <a:latin typeface="Plus Jakarta Sans"/>
                <a:ea typeface="Plus Jakarta Sans"/>
                <a:cs typeface="Plus Jakarta Sans"/>
                <a:sym typeface="Plus Jakarta Sans"/>
              </a:rPr>
              <a:t>For Data Analytics</a:t>
            </a:r>
            <a:endParaRPr sz="1422" b="1">
              <a:solidFill>
                <a:srgbClr val="3D3D3D"/>
              </a:solidFill>
              <a:latin typeface="Plus Jakarta Sans"/>
              <a:ea typeface="Plus Jakarta Sans"/>
              <a:cs typeface="Plus Jakarta Sans"/>
              <a:sym typeface="Plus Jakarta Sans"/>
            </a:endParaRPr>
          </a:p>
        </p:txBody>
      </p:sp>
      <p:sp>
        <p:nvSpPr>
          <p:cNvPr id="351" name="Google Shape;351;p24"/>
          <p:cNvSpPr txBox="1"/>
          <p:nvPr/>
        </p:nvSpPr>
        <p:spPr>
          <a:xfrm>
            <a:off x="2757710" y="6757465"/>
            <a:ext cx="2923733" cy="532800"/>
          </a:xfrm>
          <a:prstGeom prst="rect">
            <a:avLst/>
          </a:prstGeom>
          <a:noFill/>
          <a:ln>
            <a:noFill/>
          </a:ln>
        </p:spPr>
        <p:txBody>
          <a:bodyPr spcFirstLastPara="1" wrap="square" lIns="162533" tIns="162533" rIns="162533" bIns="162533" anchor="ctr" anchorCtr="0">
            <a:noAutofit/>
          </a:bodyPr>
          <a:lstStyle/>
          <a:p>
            <a:pPr algn="ctr">
              <a:lnSpc>
                <a:spcPct val="115000"/>
              </a:lnSpc>
            </a:pPr>
            <a:r>
              <a:rPr lang="vi" sz="1422" b="1">
                <a:solidFill>
                  <a:srgbClr val="3D3D3D"/>
                </a:solidFill>
                <a:latin typeface="Plus Jakarta Sans"/>
                <a:ea typeface="Plus Jakarta Sans"/>
                <a:cs typeface="Plus Jakarta Sans"/>
                <a:sym typeface="Plus Jakarta Sans"/>
              </a:rPr>
              <a:t>Adobe Ecommerce</a:t>
            </a:r>
            <a:endParaRPr sz="1422" b="1">
              <a:solidFill>
                <a:srgbClr val="3D3D3D"/>
              </a:solidFill>
              <a:latin typeface="Plus Jakarta Sans"/>
              <a:ea typeface="Plus Jakarta Sans"/>
              <a:cs typeface="Plus Jakarta Sans"/>
              <a:sym typeface="Plus Jakarta Sans"/>
            </a:endParaRPr>
          </a:p>
          <a:p>
            <a:pPr algn="ctr">
              <a:lnSpc>
                <a:spcPct val="115000"/>
              </a:lnSpc>
            </a:pPr>
            <a:r>
              <a:rPr lang="vi" sz="1422" b="1">
                <a:solidFill>
                  <a:srgbClr val="3D3D3D"/>
                </a:solidFill>
                <a:latin typeface="Plus Jakarta Sans"/>
                <a:ea typeface="Plus Jakarta Sans"/>
                <a:cs typeface="Plus Jakarta Sans"/>
                <a:sym typeface="Plus Jakarta Sans"/>
              </a:rPr>
              <a:t>(Magento) Partner</a:t>
            </a:r>
            <a:endParaRPr sz="1422" b="1">
              <a:solidFill>
                <a:srgbClr val="3D3D3D"/>
              </a:solidFill>
              <a:latin typeface="Plus Jakarta Sans"/>
              <a:ea typeface="Plus Jakarta Sans"/>
              <a:cs typeface="Plus Jakarta Sans"/>
              <a:sym typeface="Plus Jakarta Sans"/>
            </a:endParaRPr>
          </a:p>
        </p:txBody>
      </p:sp>
      <p:sp>
        <p:nvSpPr>
          <p:cNvPr id="352" name="Google Shape;352;p24"/>
          <p:cNvSpPr txBox="1"/>
          <p:nvPr/>
        </p:nvSpPr>
        <p:spPr>
          <a:xfrm>
            <a:off x="6315933" y="6673998"/>
            <a:ext cx="3054933" cy="699733"/>
          </a:xfrm>
          <a:prstGeom prst="rect">
            <a:avLst/>
          </a:prstGeom>
          <a:noFill/>
          <a:ln>
            <a:noFill/>
          </a:ln>
        </p:spPr>
        <p:txBody>
          <a:bodyPr spcFirstLastPara="1" wrap="square" lIns="162533" tIns="162533" rIns="162533" bIns="162533" anchor="ctr" anchorCtr="0">
            <a:noAutofit/>
          </a:bodyPr>
          <a:lstStyle/>
          <a:p>
            <a:pPr algn="ctr">
              <a:lnSpc>
                <a:spcPct val="115000"/>
              </a:lnSpc>
            </a:pPr>
            <a:r>
              <a:rPr lang="vi" sz="1422" b="1">
                <a:solidFill>
                  <a:srgbClr val="3D3D3D"/>
                </a:solidFill>
                <a:latin typeface="Plus Jakarta Sans"/>
                <a:ea typeface="Plus Jakarta Sans"/>
                <a:cs typeface="Plus Jakarta Sans"/>
                <a:sym typeface="Plus Jakarta Sans"/>
              </a:rPr>
              <a:t>ServiceNow Consulting</a:t>
            </a:r>
            <a:endParaRPr sz="1422" b="1">
              <a:solidFill>
                <a:srgbClr val="3D3D3D"/>
              </a:solidFill>
              <a:latin typeface="Plus Jakarta Sans"/>
              <a:ea typeface="Plus Jakarta Sans"/>
              <a:cs typeface="Plus Jakarta Sans"/>
              <a:sym typeface="Plus Jakarta Sans"/>
            </a:endParaRPr>
          </a:p>
          <a:p>
            <a:pPr algn="ctr">
              <a:lnSpc>
                <a:spcPct val="115000"/>
              </a:lnSpc>
            </a:pPr>
            <a:r>
              <a:rPr lang="vi" sz="1422" b="1">
                <a:solidFill>
                  <a:srgbClr val="3D3D3D"/>
                </a:solidFill>
                <a:latin typeface="Plus Jakarta Sans"/>
                <a:ea typeface="Plus Jakarta Sans"/>
                <a:cs typeface="Plus Jakarta Sans"/>
                <a:sym typeface="Plus Jakarta Sans"/>
              </a:rPr>
              <a:t>and Implementation Partner</a:t>
            </a:r>
            <a:endParaRPr sz="1422" b="1">
              <a:solidFill>
                <a:srgbClr val="3D3D3D"/>
              </a:solidFill>
              <a:latin typeface="Plus Jakarta Sans"/>
              <a:ea typeface="Plus Jakarta Sans"/>
              <a:cs typeface="Plus Jakarta Sans"/>
              <a:sym typeface="Plus Jakarta Sans"/>
            </a:endParaRPr>
          </a:p>
        </p:txBody>
      </p:sp>
      <p:sp>
        <p:nvSpPr>
          <p:cNvPr id="353" name="Google Shape;353;p24"/>
          <p:cNvSpPr txBox="1"/>
          <p:nvPr/>
        </p:nvSpPr>
        <p:spPr>
          <a:xfrm>
            <a:off x="10210022" y="6757465"/>
            <a:ext cx="2923733" cy="532800"/>
          </a:xfrm>
          <a:prstGeom prst="rect">
            <a:avLst/>
          </a:prstGeom>
          <a:noFill/>
          <a:ln>
            <a:noFill/>
          </a:ln>
        </p:spPr>
        <p:txBody>
          <a:bodyPr spcFirstLastPara="1" wrap="square" lIns="162533" tIns="162533" rIns="162533" bIns="162533" anchor="ctr" anchorCtr="0">
            <a:noAutofit/>
          </a:bodyPr>
          <a:lstStyle/>
          <a:p>
            <a:pPr algn="ctr">
              <a:lnSpc>
                <a:spcPct val="115000"/>
              </a:lnSpc>
            </a:pPr>
            <a:r>
              <a:rPr lang="vi" sz="1422" b="1">
                <a:solidFill>
                  <a:srgbClr val="3D3D3D"/>
                </a:solidFill>
                <a:latin typeface="Plus Jakarta Sans"/>
                <a:ea typeface="Plus Jakarta Sans"/>
                <a:cs typeface="Plus Jakarta Sans"/>
                <a:sym typeface="Plus Jakarta Sans"/>
              </a:rPr>
              <a:t>Salesforce </a:t>
            </a:r>
            <a:endParaRPr sz="1422" b="1">
              <a:solidFill>
                <a:srgbClr val="3D3D3D"/>
              </a:solidFill>
              <a:latin typeface="Plus Jakarta Sans"/>
              <a:ea typeface="Plus Jakarta Sans"/>
              <a:cs typeface="Plus Jakarta Sans"/>
              <a:sym typeface="Plus Jakarta Sans"/>
            </a:endParaRPr>
          </a:p>
          <a:p>
            <a:pPr algn="ctr">
              <a:lnSpc>
                <a:spcPct val="115000"/>
              </a:lnSpc>
            </a:pPr>
            <a:r>
              <a:rPr lang="vi" sz="1422" b="1">
                <a:solidFill>
                  <a:srgbClr val="3D3D3D"/>
                </a:solidFill>
                <a:latin typeface="Plus Jakarta Sans"/>
                <a:ea typeface="Plus Jakarta Sans"/>
                <a:cs typeface="Plus Jakarta Sans"/>
                <a:sym typeface="Plus Jakarta Sans"/>
              </a:rPr>
              <a:t>Partner</a:t>
            </a:r>
            <a:endParaRPr sz="1422" b="1">
              <a:solidFill>
                <a:srgbClr val="3D3D3D"/>
              </a:solidFill>
              <a:latin typeface="Plus Jakarta Sans"/>
              <a:ea typeface="Plus Jakarta Sans"/>
              <a:cs typeface="Plus Jakarta Sans"/>
              <a:sym typeface="Plus Jakarta Sans"/>
            </a:endParaRPr>
          </a:p>
        </p:txBody>
      </p:sp>
      <p:pic>
        <p:nvPicPr>
          <p:cNvPr id="354" name="Google Shape;354;p24"/>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14657022" y="189376"/>
            <a:ext cx="1212352" cy="778492"/>
          </a:xfrm>
          <a:prstGeom prst="rect">
            <a:avLst/>
          </a:prstGeom>
          <a:noFill/>
          <a:ln>
            <a:noFill/>
          </a:ln>
        </p:spPr>
      </p:pic>
      <p:sp>
        <p:nvSpPr>
          <p:cNvPr id="355" name="Google Shape;355;p24"/>
          <p:cNvSpPr txBox="1"/>
          <p:nvPr/>
        </p:nvSpPr>
        <p:spPr>
          <a:xfrm>
            <a:off x="1769555" y="8432445"/>
            <a:ext cx="5353067" cy="267359"/>
          </a:xfrm>
          <a:prstGeom prst="rect">
            <a:avLst/>
          </a:prstGeom>
          <a:noFill/>
          <a:ln>
            <a:noFill/>
          </a:ln>
        </p:spPr>
        <p:txBody>
          <a:bodyPr spcFirstLastPara="1" wrap="square" lIns="0" tIns="20933" rIns="0" bIns="0" anchor="t" anchorCtr="0">
            <a:spAutoFit/>
          </a:bodyPr>
          <a:lstStyle/>
          <a:p>
            <a:pPr marL="22578">
              <a:buSzPts val="700"/>
            </a:pPr>
            <a:r>
              <a:rPr lang="vi" sz="1600">
                <a:solidFill>
                  <a:srgbClr val="808080"/>
                </a:solidFill>
                <a:latin typeface="Inter"/>
                <a:ea typeface="Inter"/>
                <a:cs typeface="Inter"/>
                <a:sym typeface="Inter"/>
              </a:rPr>
              <a:t>Corporate Profile - For Software Development</a:t>
            </a:r>
            <a:endParaRPr sz="1600">
              <a:latin typeface="Inter"/>
              <a:ea typeface="Inter"/>
              <a:cs typeface="Inter"/>
              <a:sym typeface="Inter"/>
            </a:endParaRPr>
          </a:p>
        </p:txBody>
      </p:sp>
      <p:sp>
        <p:nvSpPr>
          <p:cNvPr id="356" name="Google Shape;356;p24"/>
          <p:cNvSpPr txBox="1"/>
          <p:nvPr/>
        </p:nvSpPr>
        <p:spPr>
          <a:xfrm>
            <a:off x="872535" y="8216178"/>
            <a:ext cx="846400" cy="699733"/>
          </a:xfrm>
          <a:prstGeom prst="rect">
            <a:avLst/>
          </a:prstGeom>
          <a:noFill/>
          <a:ln>
            <a:noFill/>
          </a:ln>
        </p:spPr>
        <p:txBody>
          <a:bodyPr spcFirstLastPara="1" wrap="square" lIns="162533" tIns="162533" rIns="162533" bIns="162533" anchor="ctr" anchorCtr="0">
            <a:noAutofit/>
          </a:bodyPr>
          <a:lstStyle/>
          <a:p>
            <a:pPr algn="ctr"/>
            <a:r>
              <a:rPr lang="vi" sz="2844" dirty="0">
                <a:solidFill>
                  <a:srgbClr val="666666"/>
                </a:solidFill>
                <a:latin typeface="Inter"/>
                <a:ea typeface="Inter"/>
                <a:cs typeface="Inter"/>
                <a:sym typeface="Inter"/>
              </a:rPr>
              <a:t>0</a:t>
            </a:r>
            <a:fld id="{00000000-1234-1234-1234-123412341234}" type="slidenum">
              <a:rPr lang="vi" sz="2844">
                <a:solidFill>
                  <a:srgbClr val="666666"/>
                </a:solidFill>
                <a:latin typeface="Inter"/>
                <a:ea typeface="Inter"/>
                <a:cs typeface="Inter"/>
                <a:sym typeface="Inter"/>
              </a:rPr>
              <a:pPr algn="ctr"/>
              <a:t>8</a:t>
            </a:fld>
            <a:endParaRPr sz="2844" dirty="0">
              <a:solidFill>
                <a:srgbClr val="666666"/>
              </a:solidFill>
              <a:latin typeface="Inter"/>
              <a:ea typeface="Inter"/>
              <a:cs typeface="Inter"/>
              <a:sym typeface="Inter"/>
            </a:endParaRPr>
          </a:p>
        </p:txBody>
      </p:sp>
      <p:pic>
        <p:nvPicPr>
          <p:cNvPr id="357" name="Google Shape;357;p24" title="ibm partner web.png"/>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12752675" y="2380980"/>
            <a:ext cx="1577547" cy="699733"/>
          </a:xfrm>
          <a:prstGeom prst="rect">
            <a:avLst/>
          </a:prstGeom>
          <a:noFill/>
          <a:ln>
            <a:noFill/>
          </a:ln>
        </p:spPr>
      </p:pic>
      <p:sp>
        <p:nvSpPr>
          <p:cNvPr id="358" name="Google Shape;358;p24"/>
          <p:cNvSpPr txBox="1"/>
          <p:nvPr/>
        </p:nvSpPr>
        <p:spPr>
          <a:xfrm>
            <a:off x="12079579" y="3454445"/>
            <a:ext cx="2923733" cy="533333"/>
          </a:xfrm>
          <a:prstGeom prst="rect">
            <a:avLst/>
          </a:prstGeom>
          <a:noFill/>
          <a:ln>
            <a:noFill/>
          </a:ln>
        </p:spPr>
        <p:txBody>
          <a:bodyPr spcFirstLastPara="1" wrap="square" lIns="162533" tIns="162533" rIns="162533" bIns="162533" anchor="ctr" anchorCtr="0">
            <a:noAutofit/>
          </a:bodyPr>
          <a:lstStyle/>
          <a:p>
            <a:pPr algn="ctr">
              <a:lnSpc>
                <a:spcPct val="115000"/>
              </a:lnSpc>
            </a:pPr>
            <a:r>
              <a:rPr lang="vi" sz="1422" b="1">
                <a:solidFill>
                  <a:srgbClr val="3D3D3D"/>
                </a:solidFill>
                <a:latin typeface="Plus Jakarta Sans"/>
                <a:ea typeface="Plus Jakarta Sans"/>
                <a:cs typeface="Plus Jakarta Sans"/>
                <a:sym typeface="Plus Jakarta Sans"/>
              </a:rPr>
              <a:t>IBM Service Partner</a:t>
            </a:r>
            <a:endParaRPr sz="1422" b="1">
              <a:solidFill>
                <a:srgbClr val="3D3D3D"/>
              </a:solidFill>
              <a:latin typeface="Plus Jakarta Sans"/>
              <a:ea typeface="Plus Jakarta Sans"/>
              <a:cs typeface="Plus Jakarta Sans"/>
              <a:sym typeface="Plus Jakarta Sans"/>
            </a:endParaRPr>
          </a:p>
        </p:txBody>
      </p:sp>
      <p:sp>
        <p:nvSpPr>
          <p:cNvPr id="3" name="TextBox 2">
            <a:extLst>
              <a:ext uri="{FF2B5EF4-FFF2-40B4-BE49-F238E27FC236}">
                <a16:creationId xmlns:a16="http://schemas.microsoft.com/office/drawing/2014/main" id="{AB35F281-B687-7E55-3149-1B63D36FC13B}"/>
              </a:ext>
            </a:extLst>
          </p:cNvPr>
          <p:cNvSpPr txBox="1"/>
          <p:nvPr/>
        </p:nvSpPr>
        <p:spPr>
          <a:xfrm>
            <a:off x="4065563" y="4407628"/>
            <a:ext cx="8131126" cy="328744"/>
          </a:xfrm>
          <a:prstGeom prst="rect">
            <a:avLst/>
          </a:prstGeom>
          <a:noFill/>
        </p:spPr>
        <p:txBody>
          <a:bodyPr wrap="square">
            <a:spAutoFit/>
          </a:bodyPr>
          <a:lstStyle/>
          <a:p>
            <a:pPr marL="0" marR="0" lvl="0" indent="0" algn="l" rtl="0">
              <a:lnSpc>
                <a:spcPct val="120000"/>
              </a:lnSpc>
              <a:spcBef>
                <a:spcPts val="0"/>
              </a:spcBef>
              <a:spcAft>
                <a:spcPts val="0"/>
              </a:spcAft>
              <a:buClr>
                <a:srgbClr val="000000"/>
              </a:buClr>
              <a:buSzPts val="1700"/>
              <a:buFont typeface="Arial"/>
              <a:buNone/>
            </a:pPr>
            <a:r>
              <a:rPr lang="en-US" sz="1400" b="0" i="0" u="none" strike="noStrike" cap="none" dirty="0">
                <a:solidFill>
                  <a:srgbClr val="FFFFFF"/>
                </a:solidFill>
                <a:latin typeface="Inter"/>
                <a:ea typeface="Inter"/>
                <a:cs typeface="Inter"/>
                <a:sym typeface="Inter"/>
              </a:rPr>
              <a:t>International Standard </a:t>
            </a:r>
            <a:endParaRPr lang="en-US" sz="105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4" name="Google Shape;394;p2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0" y="1"/>
            <a:ext cx="16256032" cy="9143998"/>
          </a:xfrm>
          <a:prstGeom prst="rect">
            <a:avLst/>
          </a:prstGeom>
          <a:noFill/>
          <a:ln>
            <a:noFill/>
          </a:ln>
        </p:spPr>
      </p:pic>
      <p:pic>
        <p:nvPicPr>
          <p:cNvPr id="395" name="Google Shape;395;p2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85112" y="7897422"/>
            <a:ext cx="1485865" cy="954059"/>
          </a:xfrm>
          <a:prstGeom prst="rect">
            <a:avLst/>
          </a:prstGeom>
          <a:noFill/>
          <a:ln>
            <a:noFill/>
          </a:ln>
        </p:spPr>
      </p:pic>
      <p:sp>
        <p:nvSpPr>
          <p:cNvPr id="396" name="Google Shape;396;p26"/>
          <p:cNvSpPr txBox="1"/>
          <p:nvPr/>
        </p:nvSpPr>
        <p:spPr>
          <a:xfrm>
            <a:off x="2070978" y="768355"/>
            <a:ext cx="5353067" cy="239980"/>
          </a:xfrm>
          <a:prstGeom prst="rect">
            <a:avLst/>
          </a:prstGeom>
          <a:noFill/>
          <a:ln>
            <a:noFill/>
          </a:ln>
        </p:spPr>
        <p:txBody>
          <a:bodyPr spcFirstLastPara="1" wrap="square" lIns="0" tIns="20933" rIns="0" bIns="0" anchor="t" anchorCtr="0">
            <a:spAutoFit/>
          </a:bodyPr>
          <a:lstStyle/>
          <a:p>
            <a:pPr marL="22578">
              <a:buSzPts val="700"/>
            </a:pPr>
            <a:r>
              <a:rPr lang="vi" sz="1422">
                <a:solidFill>
                  <a:schemeClr val="lt1"/>
                </a:solidFill>
                <a:latin typeface="Inter"/>
                <a:ea typeface="Inter"/>
                <a:cs typeface="Inter"/>
                <a:sym typeface="Inter"/>
              </a:rPr>
              <a:t>Corporate Profile - For Software Development</a:t>
            </a:r>
            <a:endParaRPr sz="1422">
              <a:solidFill>
                <a:schemeClr val="lt1"/>
              </a:solidFill>
              <a:latin typeface="Inter"/>
              <a:ea typeface="Inter"/>
              <a:cs typeface="Inter"/>
              <a:sym typeface="Inter"/>
            </a:endParaRPr>
          </a:p>
        </p:txBody>
      </p:sp>
      <p:sp>
        <p:nvSpPr>
          <p:cNvPr id="397" name="Google Shape;397;p26"/>
          <p:cNvSpPr txBox="1">
            <a:spLocks noGrp="1"/>
          </p:cNvSpPr>
          <p:nvPr>
            <p:ph type="ctrTitle"/>
          </p:nvPr>
        </p:nvSpPr>
        <p:spPr>
          <a:xfrm>
            <a:off x="912844" y="3183068"/>
            <a:ext cx="6342400" cy="1654182"/>
          </a:xfrm>
          <a:prstGeom prst="rect">
            <a:avLst/>
          </a:prstGeom>
          <a:noFill/>
          <a:ln>
            <a:noFill/>
          </a:ln>
        </p:spPr>
        <p:txBody>
          <a:bodyPr spcFirstLastPara="1" wrap="square" lIns="0" tIns="12711" rIns="0" bIns="0" anchor="t" anchorCtr="0">
            <a:spAutoFit/>
          </a:bodyPr>
          <a:lstStyle/>
          <a:p>
            <a:pPr algn="l">
              <a:buSzPts val="800"/>
            </a:pPr>
            <a:r>
              <a:rPr lang="vi" sz="5333" dirty="0">
                <a:solidFill>
                  <a:schemeClr val="dk2"/>
                </a:solidFill>
                <a:latin typeface="Inter"/>
                <a:ea typeface="Inter"/>
                <a:cs typeface="Inter"/>
                <a:sym typeface="Inter"/>
              </a:rPr>
              <a:t>OUR SERVICES &amp; PRODUCTS</a:t>
            </a:r>
            <a:endParaRPr sz="5333" dirty="0">
              <a:solidFill>
                <a:schemeClr val="dk2"/>
              </a:solidFill>
              <a:latin typeface="Inter"/>
              <a:ea typeface="Inter"/>
              <a:cs typeface="Inter"/>
              <a:sym typeface="Inter"/>
            </a:endParaRPr>
          </a:p>
        </p:txBody>
      </p:sp>
      <p:sp>
        <p:nvSpPr>
          <p:cNvPr id="398" name="Google Shape;398;p26"/>
          <p:cNvSpPr txBox="1"/>
          <p:nvPr/>
        </p:nvSpPr>
        <p:spPr>
          <a:xfrm>
            <a:off x="912844" y="4934267"/>
            <a:ext cx="7773867" cy="849463"/>
          </a:xfrm>
          <a:prstGeom prst="rect">
            <a:avLst/>
          </a:prstGeom>
          <a:noFill/>
          <a:ln>
            <a:noFill/>
          </a:ln>
        </p:spPr>
        <p:txBody>
          <a:bodyPr spcFirstLastPara="1" wrap="square" lIns="0" tIns="0" rIns="0" bIns="0" anchor="t" anchorCtr="0">
            <a:spAutoFit/>
          </a:bodyPr>
          <a:lstStyle/>
          <a:p>
            <a:pPr marR="2842578">
              <a:lnSpc>
                <a:spcPct val="115000"/>
              </a:lnSpc>
            </a:pPr>
            <a:r>
              <a:rPr lang="vi" sz="1600">
                <a:solidFill>
                  <a:srgbClr val="3D3D3D"/>
                </a:solidFill>
                <a:latin typeface="Plus Jakarta Sans"/>
                <a:ea typeface="Plus Jakarta Sans"/>
                <a:cs typeface="Plus Jakarta Sans"/>
                <a:sym typeface="Plus Jakarta Sans"/>
              </a:rPr>
              <a:t>VTI provides high-quality, one-stop services and products that caters to various customer needs, leveraging our abundant and skilled workforce</a:t>
            </a:r>
            <a:endParaRPr sz="1600">
              <a:solidFill>
                <a:srgbClr val="3D3D3D"/>
              </a:solidFill>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grpSp>
        <p:nvGrpSpPr>
          <p:cNvPr id="403" name="Google Shape;403;p27"/>
          <p:cNvGrpSpPr/>
          <p:nvPr/>
        </p:nvGrpSpPr>
        <p:grpSpPr>
          <a:xfrm>
            <a:off x="-274666" y="5742400"/>
            <a:ext cx="15636489" cy="2115200"/>
            <a:chOff x="-154500" y="629900"/>
            <a:chExt cx="8795525" cy="1189800"/>
          </a:xfrm>
        </p:grpSpPr>
        <p:sp>
          <p:nvSpPr>
            <p:cNvPr id="404" name="Google Shape;404;p27"/>
            <p:cNvSpPr/>
            <p:nvPr/>
          </p:nvSpPr>
          <p:spPr>
            <a:xfrm>
              <a:off x="-22075" y="635000"/>
              <a:ext cx="8663100" cy="1184700"/>
            </a:xfrm>
            <a:prstGeom prst="roundRect">
              <a:avLst>
                <a:gd name="adj" fmla="val 6879"/>
              </a:avLst>
            </a:prstGeom>
            <a:solidFill>
              <a:srgbClr val="F0F5F7"/>
            </a:solidFill>
            <a:ln>
              <a:noFill/>
            </a:ln>
          </p:spPr>
          <p:txBody>
            <a:bodyPr spcFirstLastPara="1" wrap="square" lIns="162533" tIns="162533" rIns="162533" bIns="162533" anchor="ctr" anchorCtr="0">
              <a:noAutofit/>
            </a:bodyPr>
            <a:lstStyle/>
            <a:p>
              <a:pPr algn="ctr"/>
              <a:endParaRPr sz="2489"/>
            </a:p>
          </p:txBody>
        </p:sp>
        <p:grpSp>
          <p:nvGrpSpPr>
            <p:cNvPr id="405" name="Google Shape;405;p27"/>
            <p:cNvGrpSpPr/>
            <p:nvPr/>
          </p:nvGrpSpPr>
          <p:grpSpPr>
            <a:xfrm>
              <a:off x="-154500" y="629900"/>
              <a:ext cx="1038900" cy="1184700"/>
              <a:chOff x="-154500" y="629900"/>
              <a:chExt cx="1038900" cy="1184700"/>
            </a:xfrm>
          </p:grpSpPr>
          <p:sp>
            <p:nvSpPr>
              <p:cNvPr id="406" name="Google Shape;406;p27"/>
              <p:cNvSpPr/>
              <p:nvPr/>
            </p:nvSpPr>
            <p:spPr>
              <a:xfrm>
                <a:off x="-154500" y="629900"/>
                <a:ext cx="1038900" cy="1184700"/>
              </a:xfrm>
              <a:prstGeom prst="roundRect">
                <a:avLst>
                  <a:gd name="adj" fmla="val 10674"/>
                </a:avLst>
              </a:prstGeom>
              <a:solidFill>
                <a:srgbClr val="1B4DCC"/>
              </a:solidFill>
              <a:ln>
                <a:noFill/>
              </a:ln>
            </p:spPr>
            <p:txBody>
              <a:bodyPr spcFirstLastPara="1" wrap="square" lIns="162533" tIns="162533" rIns="162533" bIns="162533" anchor="ctr" anchorCtr="0">
                <a:noAutofit/>
              </a:bodyPr>
              <a:lstStyle/>
              <a:p>
                <a:pPr algn="ctr"/>
                <a:endParaRPr sz="2489"/>
              </a:p>
            </p:txBody>
          </p:sp>
          <p:sp>
            <p:nvSpPr>
              <p:cNvPr id="407" name="Google Shape;407;p27"/>
              <p:cNvSpPr txBox="1"/>
              <p:nvPr/>
            </p:nvSpPr>
            <p:spPr>
              <a:xfrm rot="16200000">
                <a:off x="-17073" y="1137373"/>
                <a:ext cx="976800" cy="169754"/>
              </a:xfrm>
              <a:prstGeom prst="rect">
                <a:avLst/>
              </a:prstGeom>
              <a:noFill/>
              <a:ln>
                <a:noFill/>
              </a:ln>
            </p:spPr>
            <p:txBody>
              <a:bodyPr spcFirstLastPara="1" wrap="square" lIns="0" tIns="27911" rIns="0" bIns="0" anchor="t" anchorCtr="0">
                <a:spAutoFit/>
              </a:bodyPr>
              <a:lstStyle/>
              <a:p>
                <a:pPr marL="22578" algn="ctr">
                  <a:buClr>
                    <a:schemeClr val="dk1"/>
                  </a:buClr>
                </a:pPr>
                <a:r>
                  <a:rPr lang="vi" sz="1778">
                    <a:solidFill>
                      <a:schemeClr val="lt1"/>
                    </a:solidFill>
                    <a:latin typeface="Inter Medium"/>
                    <a:ea typeface="Inter Medium"/>
                    <a:cs typeface="Inter Medium"/>
                    <a:sym typeface="Inter Medium"/>
                  </a:rPr>
                  <a:t>Others</a:t>
                </a:r>
                <a:endParaRPr sz="1778">
                  <a:latin typeface="Inter Medium"/>
                  <a:ea typeface="Inter Medium"/>
                  <a:cs typeface="Inter Medium"/>
                  <a:sym typeface="Inter Medium"/>
                </a:endParaRPr>
              </a:p>
            </p:txBody>
          </p:sp>
        </p:grpSp>
      </p:grpSp>
      <p:grpSp>
        <p:nvGrpSpPr>
          <p:cNvPr id="408" name="Google Shape;408;p27"/>
          <p:cNvGrpSpPr/>
          <p:nvPr/>
        </p:nvGrpSpPr>
        <p:grpSpPr>
          <a:xfrm>
            <a:off x="-274666" y="3431111"/>
            <a:ext cx="15636489" cy="2115200"/>
            <a:chOff x="-154500" y="629900"/>
            <a:chExt cx="8795525" cy="1189800"/>
          </a:xfrm>
        </p:grpSpPr>
        <p:sp>
          <p:nvSpPr>
            <p:cNvPr id="409" name="Google Shape;409;p27"/>
            <p:cNvSpPr/>
            <p:nvPr/>
          </p:nvSpPr>
          <p:spPr>
            <a:xfrm>
              <a:off x="-22075" y="635000"/>
              <a:ext cx="8663100" cy="1184700"/>
            </a:xfrm>
            <a:prstGeom prst="roundRect">
              <a:avLst>
                <a:gd name="adj" fmla="val 6879"/>
              </a:avLst>
            </a:prstGeom>
            <a:solidFill>
              <a:srgbClr val="F0F5F7"/>
            </a:solidFill>
            <a:ln>
              <a:noFill/>
            </a:ln>
          </p:spPr>
          <p:txBody>
            <a:bodyPr spcFirstLastPara="1" wrap="square" lIns="162533" tIns="162533" rIns="162533" bIns="162533" anchor="ctr" anchorCtr="0">
              <a:noAutofit/>
            </a:bodyPr>
            <a:lstStyle/>
            <a:p>
              <a:pPr algn="ctr"/>
              <a:endParaRPr sz="2489"/>
            </a:p>
          </p:txBody>
        </p:sp>
        <p:grpSp>
          <p:nvGrpSpPr>
            <p:cNvPr id="410" name="Google Shape;410;p27"/>
            <p:cNvGrpSpPr/>
            <p:nvPr/>
          </p:nvGrpSpPr>
          <p:grpSpPr>
            <a:xfrm>
              <a:off x="-154500" y="629900"/>
              <a:ext cx="1038900" cy="1184700"/>
              <a:chOff x="-154500" y="629900"/>
              <a:chExt cx="1038900" cy="1184700"/>
            </a:xfrm>
          </p:grpSpPr>
          <p:sp>
            <p:nvSpPr>
              <p:cNvPr id="411" name="Google Shape;411;p27"/>
              <p:cNvSpPr/>
              <p:nvPr/>
            </p:nvSpPr>
            <p:spPr>
              <a:xfrm>
                <a:off x="-154500" y="629900"/>
                <a:ext cx="1038900" cy="1184700"/>
              </a:xfrm>
              <a:prstGeom prst="roundRect">
                <a:avLst>
                  <a:gd name="adj" fmla="val 10674"/>
                </a:avLst>
              </a:prstGeom>
              <a:solidFill>
                <a:srgbClr val="34B3EC"/>
              </a:solidFill>
              <a:ln>
                <a:noFill/>
              </a:ln>
            </p:spPr>
            <p:txBody>
              <a:bodyPr spcFirstLastPara="1" wrap="square" lIns="162533" tIns="162533" rIns="162533" bIns="162533" anchor="ctr" anchorCtr="0">
                <a:noAutofit/>
              </a:bodyPr>
              <a:lstStyle/>
              <a:p>
                <a:pPr algn="ctr"/>
                <a:endParaRPr sz="2489"/>
              </a:p>
            </p:txBody>
          </p:sp>
          <p:sp>
            <p:nvSpPr>
              <p:cNvPr id="412" name="Google Shape;412;p27"/>
              <p:cNvSpPr txBox="1"/>
              <p:nvPr/>
            </p:nvSpPr>
            <p:spPr>
              <a:xfrm rot="16200000">
                <a:off x="136827" y="983473"/>
                <a:ext cx="976800" cy="477555"/>
              </a:xfrm>
              <a:prstGeom prst="rect">
                <a:avLst/>
              </a:prstGeom>
              <a:noFill/>
              <a:ln>
                <a:noFill/>
              </a:ln>
            </p:spPr>
            <p:txBody>
              <a:bodyPr spcFirstLastPara="1" wrap="square" lIns="0" tIns="27911" rIns="0" bIns="0" anchor="t" anchorCtr="0">
                <a:spAutoFit/>
              </a:bodyPr>
              <a:lstStyle/>
              <a:p>
                <a:pPr marL="22578" algn="ctr"/>
                <a:r>
                  <a:rPr lang="vi" sz="1778">
                    <a:solidFill>
                      <a:schemeClr val="lt1"/>
                    </a:solidFill>
                    <a:latin typeface="Inter Medium"/>
                    <a:ea typeface="Inter Medium"/>
                    <a:cs typeface="Inter Medium"/>
                    <a:sym typeface="Inter Medium"/>
                  </a:rPr>
                  <a:t>Cutting-edge technologies</a:t>
                </a:r>
                <a:endParaRPr sz="1778">
                  <a:solidFill>
                    <a:schemeClr val="dk1"/>
                  </a:solidFill>
                  <a:latin typeface="Inter Medium"/>
                  <a:ea typeface="Inter Medium"/>
                  <a:cs typeface="Inter Medium"/>
                  <a:sym typeface="Inter Medium"/>
                </a:endParaRPr>
              </a:p>
              <a:p>
                <a:pPr marL="22578"/>
                <a:endParaRPr sz="1778">
                  <a:solidFill>
                    <a:srgbClr val="FFFFFF"/>
                  </a:solidFill>
                  <a:latin typeface="Inter Medium"/>
                  <a:ea typeface="Inter Medium"/>
                  <a:cs typeface="Inter Medium"/>
                  <a:sym typeface="Inter Medium"/>
                </a:endParaRPr>
              </a:p>
            </p:txBody>
          </p:sp>
        </p:grpSp>
      </p:grpSp>
      <p:pic>
        <p:nvPicPr>
          <p:cNvPr id="413" name="Google Shape;413;p27"/>
          <p:cNvPicPr preferRelativeResize="0"/>
          <p:nvPr/>
        </p:nvPicPr>
        <p:blipFill>
          <a:blip r:embed="rId3">
            <a:alphaModFix/>
          </a:blip>
          <a:stretch>
            <a:fillRect/>
          </a:stretch>
        </p:blipFill>
        <p:spPr>
          <a:xfrm>
            <a:off x="0" y="8345911"/>
            <a:ext cx="880533" cy="440267"/>
          </a:xfrm>
          <a:prstGeom prst="rect">
            <a:avLst/>
          </a:prstGeom>
          <a:noFill/>
          <a:ln>
            <a:noFill/>
          </a:ln>
        </p:spPr>
      </p:pic>
      <p:grpSp>
        <p:nvGrpSpPr>
          <p:cNvPr id="414" name="Google Shape;414;p27"/>
          <p:cNvGrpSpPr/>
          <p:nvPr/>
        </p:nvGrpSpPr>
        <p:grpSpPr>
          <a:xfrm>
            <a:off x="-274666" y="1119822"/>
            <a:ext cx="15636489" cy="2115200"/>
            <a:chOff x="-154500" y="629900"/>
            <a:chExt cx="8795525" cy="1189800"/>
          </a:xfrm>
        </p:grpSpPr>
        <p:sp>
          <p:nvSpPr>
            <p:cNvPr id="415" name="Google Shape;415;p27"/>
            <p:cNvSpPr/>
            <p:nvPr/>
          </p:nvSpPr>
          <p:spPr>
            <a:xfrm>
              <a:off x="-22075" y="635000"/>
              <a:ext cx="8663100" cy="1184700"/>
            </a:xfrm>
            <a:prstGeom prst="roundRect">
              <a:avLst>
                <a:gd name="adj" fmla="val 6879"/>
              </a:avLst>
            </a:prstGeom>
            <a:solidFill>
              <a:srgbClr val="F0F5F7"/>
            </a:solidFill>
            <a:ln>
              <a:noFill/>
            </a:ln>
          </p:spPr>
          <p:txBody>
            <a:bodyPr spcFirstLastPara="1" wrap="square" lIns="162533" tIns="162533" rIns="162533" bIns="162533" anchor="ctr" anchorCtr="0">
              <a:noAutofit/>
            </a:bodyPr>
            <a:lstStyle/>
            <a:p>
              <a:pPr algn="ctr"/>
              <a:endParaRPr sz="2489"/>
            </a:p>
          </p:txBody>
        </p:sp>
        <p:grpSp>
          <p:nvGrpSpPr>
            <p:cNvPr id="416" name="Google Shape;416;p27"/>
            <p:cNvGrpSpPr/>
            <p:nvPr/>
          </p:nvGrpSpPr>
          <p:grpSpPr>
            <a:xfrm>
              <a:off x="-154500" y="629900"/>
              <a:ext cx="1038900" cy="1184700"/>
              <a:chOff x="-154500" y="629900"/>
              <a:chExt cx="1038900" cy="1184700"/>
            </a:xfrm>
          </p:grpSpPr>
          <p:sp>
            <p:nvSpPr>
              <p:cNvPr id="417" name="Google Shape;417;p27"/>
              <p:cNvSpPr/>
              <p:nvPr/>
            </p:nvSpPr>
            <p:spPr>
              <a:xfrm>
                <a:off x="-154500" y="629900"/>
                <a:ext cx="1038900" cy="1184700"/>
              </a:xfrm>
              <a:prstGeom prst="roundRect">
                <a:avLst>
                  <a:gd name="adj" fmla="val 10674"/>
                </a:avLst>
              </a:prstGeom>
              <a:solidFill>
                <a:srgbClr val="1B4DCC"/>
              </a:solidFill>
              <a:ln>
                <a:noFill/>
              </a:ln>
            </p:spPr>
            <p:txBody>
              <a:bodyPr spcFirstLastPara="1" wrap="square" lIns="162533" tIns="162533" rIns="162533" bIns="162533" anchor="ctr" anchorCtr="0">
                <a:noAutofit/>
              </a:bodyPr>
              <a:lstStyle/>
              <a:p>
                <a:pPr algn="ctr"/>
                <a:endParaRPr sz="2489"/>
              </a:p>
            </p:txBody>
          </p:sp>
          <p:sp>
            <p:nvSpPr>
              <p:cNvPr id="418" name="Google Shape;418;p27"/>
              <p:cNvSpPr txBox="1"/>
              <p:nvPr/>
            </p:nvSpPr>
            <p:spPr>
              <a:xfrm rot="16200000">
                <a:off x="59877" y="1060424"/>
                <a:ext cx="976800" cy="323654"/>
              </a:xfrm>
              <a:prstGeom prst="rect">
                <a:avLst/>
              </a:prstGeom>
              <a:noFill/>
              <a:ln>
                <a:noFill/>
              </a:ln>
            </p:spPr>
            <p:txBody>
              <a:bodyPr spcFirstLastPara="1" wrap="square" lIns="0" tIns="27911" rIns="0" bIns="0" anchor="t" anchorCtr="0">
                <a:spAutoFit/>
              </a:bodyPr>
              <a:lstStyle/>
              <a:p>
                <a:pPr marL="22578" algn="ctr"/>
                <a:r>
                  <a:rPr lang="vi" sz="1778">
                    <a:solidFill>
                      <a:srgbClr val="FFFFFF"/>
                    </a:solidFill>
                    <a:latin typeface="Inter Medium"/>
                    <a:ea typeface="Inter Medium"/>
                    <a:cs typeface="Inter Medium"/>
                    <a:sym typeface="Inter Medium"/>
                  </a:rPr>
                  <a:t>Fundamental Services</a:t>
                </a:r>
                <a:endParaRPr sz="1778">
                  <a:latin typeface="Inter Medium"/>
                  <a:ea typeface="Inter Medium"/>
                  <a:cs typeface="Inter Medium"/>
                  <a:sym typeface="Inter Medium"/>
                </a:endParaRPr>
              </a:p>
            </p:txBody>
          </p:sp>
        </p:grpSp>
      </p:grpSp>
      <p:cxnSp>
        <p:nvCxnSpPr>
          <p:cNvPr id="419" name="Google Shape;419;p27"/>
          <p:cNvCxnSpPr/>
          <p:nvPr/>
        </p:nvCxnSpPr>
        <p:spPr>
          <a:xfrm>
            <a:off x="1653600" y="8395111"/>
            <a:ext cx="0" cy="419733"/>
          </a:xfrm>
          <a:prstGeom prst="straightConnector1">
            <a:avLst/>
          </a:prstGeom>
          <a:noFill/>
          <a:ln w="9525" cap="flat" cmpd="sng">
            <a:solidFill>
              <a:srgbClr val="808080"/>
            </a:solidFill>
            <a:prstDash val="solid"/>
            <a:round/>
            <a:headEnd type="none" w="med" len="med"/>
            <a:tailEnd type="none" w="med" len="med"/>
          </a:ln>
        </p:spPr>
      </p:cxnSp>
      <p:cxnSp>
        <p:nvCxnSpPr>
          <p:cNvPr id="420" name="Google Shape;420;p27"/>
          <p:cNvCxnSpPr/>
          <p:nvPr/>
        </p:nvCxnSpPr>
        <p:spPr>
          <a:xfrm>
            <a:off x="880533" y="403067"/>
            <a:ext cx="0" cy="305600"/>
          </a:xfrm>
          <a:prstGeom prst="straightConnector1">
            <a:avLst/>
          </a:prstGeom>
          <a:noFill/>
          <a:ln w="9525" cap="flat" cmpd="sng">
            <a:solidFill>
              <a:srgbClr val="808080"/>
            </a:solidFill>
            <a:prstDash val="solid"/>
            <a:round/>
            <a:headEnd type="none" w="med" len="med"/>
            <a:tailEnd type="none" w="med" len="med"/>
          </a:ln>
        </p:spPr>
      </p:cxnSp>
      <p:sp>
        <p:nvSpPr>
          <p:cNvPr id="421" name="Google Shape;421;p27"/>
          <p:cNvSpPr txBox="1"/>
          <p:nvPr/>
        </p:nvSpPr>
        <p:spPr>
          <a:xfrm>
            <a:off x="880534" y="376978"/>
            <a:ext cx="5494933" cy="369067"/>
          </a:xfrm>
          <a:prstGeom prst="rect">
            <a:avLst/>
          </a:prstGeom>
          <a:noFill/>
          <a:ln>
            <a:noFill/>
          </a:ln>
        </p:spPr>
        <p:txBody>
          <a:bodyPr spcFirstLastPara="1" wrap="square" lIns="162533" tIns="162533" rIns="162533" bIns="162533" anchor="ctr" anchorCtr="0">
            <a:noAutofit/>
          </a:bodyPr>
          <a:lstStyle/>
          <a:p>
            <a:r>
              <a:rPr lang="vi" sz="1956" b="1">
                <a:solidFill>
                  <a:srgbClr val="3D3D3D"/>
                </a:solidFill>
                <a:latin typeface="Inter"/>
                <a:ea typeface="Inter"/>
                <a:cs typeface="Inter"/>
                <a:sym typeface="Inter"/>
              </a:rPr>
              <a:t>SOFTWARE DEVELOPMENT SERVICES </a:t>
            </a:r>
            <a:endParaRPr sz="1956" b="1">
              <a:solidFill>
                <a:schemeClr val="dk2"/>
              </a:solidFill>
              <a:latin typeface="Inter"/>
              <a:ea typeface="Inter"/>
              <a:cs typeface="Inter"/>
              <a:sym typeface="Inter"/>
            </a:endParaRPr>
          </a:p>
        </p:txBody>
      </p:sp>
      <p:pic>
        <p:nvPicPr>
          <p:cNvPr id="422" name="Google Shape;422;p2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4657022" y="189376"/>
            <a:ext cx="1212352" cy="778492"/>
          </a:xfrm>
          <a:prstGeom prst="rect">
            <a:avLst/>
          </a:prstGeom>
          <a:noFill/>
          <a:ln>
            <a:noFill/>
          </a:ln>
        </p:spPr>
      </p:pic>
      <p:sp>
        <p:nvSpPr>
          <p:cNvPr id="423" name="Google Shape;423;p27"/>
          <p:cNvSpPr txBox="1"/>
          <p:nvPr/>
        </p:nvSpPr>
        <p:spPr>
          <a:xfrm>
            <a:off x="1769555" y="8432445"/>
            <a:ext cx="5353067" cy="267359"/>
          </a:xfrm>
          <a:prstGeom prst="rect">
            <a:avLst/>
          </a:prstGeom>
          <a:noFill/>
          <a:ln>
            <a:noFill/>
          </a:ln>
        </p:spPr>
        <p:txBody>
          <a:bodyPr spcFirstLastPara="1" wrap="square" lIns="0" tIns="20933" rIns="0" bIns="0" anchor="t" anchorCtr="0">
            <a:spAutoFit/>
          </a:bodyPr>
          <a:lstStyle/>
          <a:p>
            <a:pPr marL="22578">
              <a:buSzPts val="700"/>
            </a:pPr>
            <a:r>
              <a:rPr lang="vi" sz="1600">
                <a:solidFill>
                  <a:srgbClr val="808080"/>
                </a:solidFill>
                <a:latin typeface="Inter"/>
                <a:ea typeface="Inter"/>
                <a:cs typeface="Inter"/>
                <a:sym typeface="Inter"/>
              </a:rPr>
              <a:t>Corporate Profile - For Software Development</a:t>
            </a:r>
            <a:endParaRPr sz="1600">
              <a:latin typeface="Inter"/>
              <a:ea typeface="Inter"/>
              <a:cs typeface="Inter"/>
              <a:sym typeface="Inter"/>
            </a:endParaRPr>
          </a:p>
        </p:txBody>
      </p:sp>
      <p:sp>
        <p:nvSpPr>
          <p:cNvPr id="424" name="Google Shape;424;p27"/>
          <p:cNvSpPr txBox="1"/>
          <p:nvPr/>
        </p:nvSpPr>
        <p:spPr>
          <a:xfrm>
            <a:off x="872535" y="8216178"/>
            <a:ext cx="846400" cy="699733"/>
          </a:xfrm>
          <a:prstGeom prst="rect">
            <a:avLst/>
          </a:prstGeom>
          <a:noFill/>
          <a:ln>
            <a:noFill/>
          </a:ln>
        </p:spPr>
        <p:txBody>
          <a:bodyPr spcFirstLastPara="1" wrap="square" lIns="162533" tIns="162533" rIns="162533" bIns="162533" anchor="ctr" anchorCtr="0">
            <a:noAutofit/>
          </a:bodyPr>
          <a:lstStyle/>
          <a:p>
            <a:pPr algn="ctr"/>
            <a:fld id="{00000000-1234-1234-1234-123412341234}" type="slidenum">
              <a:rPr lang="vi" sz="2844">
                <a:solidFill>
                  <a:srgbClr val="666666"/>
                </a:solidFill>
                <a:latin typeface="Inter"/>
                <a:ea typeface="Inter"/>
                <a:cs typeface="Inter"/>
                <a:sym typeface="Inter"/>
              </a:rPr>
              <a:pPr algn="ctr"/>
              <a:t>10</a:t>
            </a:fld>
            <a:endParaRPr sz="2844">
              <a:solidFill>
                <a:srgbClr val="666666"/>
              </a:solidFill>
              <a:latin typeface="Inter"/>
              <a:ea typeface="Inter"/>
              <a:cs typeface="Inter"/>
              <a:sym typeface="Inter"/>
            </a:endParaRPr>
          </a:p>
        </p:txBody>
      </p:sp>
      <p:grpSp>
        <p:nvGrpSpPr>
          <p:cNvPr id="425" name="Google Shape;425;p27"/>
          <p:cNvGrpSpPr/>
          <p:nvPr/>
        </p:nvGrpSpPr>
        <p:grpSpPr>
          <a:xfrm>
            <a:off x="1937868" y="1380800"/>
            <a:ext cx="3149822" cy="1566978"/>
            <a:chOff x="1090050" y="776700"/>
            <a:chExt cx="1771775" cy="881425"/>
          </a:xfrm>
        </p:grpSpPr>
        <p:sp>
          <p:nvSpPr>
            <p:cNvPr id="426" name="Google Shape;426;p27"/>
            <p:cNvSpPr/>
            <p:nvPr/>
          </p:nvSpPr>
          <p:spPr>
            <a:xfrm>
              <a:off x="1090050" y="837625"/>
              <a:ext cx="1766100" cy="820500"/>
            </a:xfrm>
            <a:prstGeom prst="roundRect">
              <a:avLst>
                <a:gd name="adj" fmla="val 6883"/>
              </a:avLst>
            </a:prstGeom>
            <a:solidFill>
              <a:schemeClr val="lt1"/>
            </a:solidFill>
            <a:ln>
              <a:noFill/>
            </a:ln>
            <a:effectLst>
              <a:outerShdw blurRad="57150" dist="19050" dir="5400000" algn="bl" rotWithShape="0">
                <a:srgbClr val="000000">
                  <a:alpha val="35000"/>
                </a:srgbClr>
              </a:outerShdw>
            </a:effectLst>
          </p:spPr>
          <p:txBody>
            <a:bodyPr spcFirstLastPara="1" wrap="square" lIns="162533" tIns="162533" rIns="162533" bIns="162533" anchor="ctr" anchorCtr="0">
              <a:noAutofit/>
            </a:bodyPr>
            <a:lstStyle/>
            <a:p>
              <a:pPr algn="ctr"/>
              <a:endParaRPr sz="2489"/>
            </a:p>
          </p:txBody>
        </p:sp>
        <p:sp>
          <p:nvSpPr>
            <p:cNvPr id="427" name="Google Shape;427;p27"/>
            <p:cNvSpPr txBox="1"/>
            <p:nvPr/>
          </p:nvSpPr>
          <p:spPr>
            <a:xfrm>
              <a:off x="1095725" y="979338"/>
              <a:ext cx="1766100" cy="533806"/>
            </a:xfrm>
            <a:prstGeom prst="rect">
              <a:avLst/>
            </a:prstGeom>
            <a:noFill/>
            <a:ln>
              <a:noFill/>
            </a:ln>
          </p:spPr>
          <p:txBody>
            <a:bodyPr spcFirstLastPara="1" wrap="square" lIns="162533" tIns="162533" rIns="162533" bIns="162533" anchor="t" anchorCtr="0">
              <a:spAutoFit/>
            </a:bodyPr>
            <a:lstStyle/>
            <a:p>
              <a:pPr>
                <a:lnSpc>
                  <a:spcPct val="126000"/>
                </a:lnSpc>
              </a:pPr>
              <a:r>
                <a:rPr lang="vi" sz="1067">
                  <a:solidFill>
                    <a:srgbClr val="3D3D3D"/>
                  </a:solidFill>
                  <a:latin typeface="Plus Jakarta Sans Medium"/>
                  <a:ea typeface="Plus Jakarta Sans Medium"/>
                  <a:cs typeface="Plus Jakarta Sans Medium"/>
                  <a:sym typeface="Plus Jakarta Sans Medium"/>
                </a:rPr>
                <a:t>• Website development service </a:t>
              </a:r>
              <a:endParaRPr sz="1067">
                <a:solidFill>
                  <a:srgbClr val="3D3D3D"/>
                </a:solidFill>
                <a:latin typeface="Plus Jakarta Sans Medium"/>
                <a:ea typeface="Plus Jakarta Sans Medium"/>
                <a:cs typeface="Plus Jakarta Sans Medium"/>
                <a:sym typeface="Plus Jakarta Sans Medium"/>
              </a:endParaRPr>
            </a:p>
            <a:p>
              <a:pPr>
                <a:lnSpc>
                  <a:spcPct val="126000"/>
                </a:lnSpc>
              </a:pPr>
              <a:r>
                <a:rPr lang="vi" sz="1067">
                  <a:solidFill>
                    <a:srgbClr val="3D3D3D"/>
                  </a:solidFill>
                  <a:latin typeface="Plus Jakarta Sans Medium"/>
                  <a:ea typeface="Plus Jakarta Sans Medium"/>
                  <a:cs typeface="Plus Jakarta Sans Medium"/>
                  <a:sym typeface="Plus Jakarta Sans Medium"/>
                </a:rPr>
                <a:t>• Mobile application service</a:t>
              </a:r>
              <a:endParaRPr sz="1067">
                <a:solidFill>
                  <a:srgbClr val="3D3D3D"/>
                </a:solidFill>
                <a:latin typeface="Plus Jakarta Sans Medium"/>
                <a:ea typeface="Plus Jakarta Sans Medium"/>
                <a:cs typeface="Plus Jakarta Sans Medium"/>
                <a:sym typeface="Plus Jakarta Sans Medium"/>
              </a:endParaRPr>
            </a:p>
            <a:p>
              <a:pPr>
                <a:lnSpc>
                  <a:spcPct val="126000"/>
                </a:lnSpc>
              </a:pPr>
              <a:r>
                <a:rPr lang="vi" sz="1067">
                  <a:solidFill>
                    <a:srgbClr val="3D3D3D"/>
                  </a:solidFill>
                  <a:latin typeface="Plus Jakarta Sans Medium"/>
                  <a:ea typeface="Plus Jakarta Sans Medium"/>
                  <a:cs typeface="Plus Jakarta Sans Medium"/>
                  <a:sym typeface="Plus Jakarta Sans Medium"/>
                </a:rPr>
                <a:t>• UI/UX design</a:t>
              </a:r>
              <a:endParaRPr sz="1067">
                <a:solidFill>
                  <a:srgbClr val="3D3D3D"/>
                </a:solidFill>
                <a:latin typeface="Plus Jakarta Sans Medium"/>
                <a:ea typeface="Plus Jakarta Sans Medium"/>
                <a:cs typeface="Plus Jakarta Sans Medium"/>
                <a:sym typeface="Plus Jakarta Sans Medium"/>
              </a:endParaRPr>
            </a:p>
          </p:txBody>
        </p:sp>
        <p:sp>
          <p:nvSpPr>
            <p:cNvPr id="428" name="Google Shape;428;p27"/>
            <p:cNvSpPr/>
            <p:nvPr/>
          </p:nvSpPr>
          <p:spPr>
            <a:xfrm>
              <a:off x="1092125" y="776700"/>
              <a:ext cx="1766100" cy="236100"/>
            </a:xfrm>
            <a:prstGeom prst="roundRect">
              <a:avLst>
                <a:gd name="adj" fmla="val 16667"/>
              </a:avLst>
            </a:prstGeom>
            <a:solidFill>
              <a:srgbClr val="1B4DCC"/>
            </a:solidFill>
            <a:ln>
              <a:noFill/>
            </a:ln>
          </p:spPr>
          <p:txBody>
            <a:bodyPr spcFirstLastPara="1" wrap="square" lIns="162533" tIns="162533" rIns="162533" bIns="162533" anchor="ctr" anchorCtr="0">
              <a:noAutofit/>
            </a:bodyPr>
            <a:lstStyle/>
            <a:p>
              <a:pPr marL="22578" algn="ctr">
                <a:buClr>
                  <a:schemeClr val="dk1"/>
                </a:buClr>
                <a:buSzPts val="1100"/>
              </a:pPr>
              <a:r>
                <a:rPr lang="vi" sz="1422">
                  <a:solidFill>
                    <a:schemeClr val="lt1"/>
                  </a:solidFill>
                  <a:latin typeface="Inter Medium"/>
                  <a:ea typeface="Inter Medium"/>
                  <a:cs typeface="Inter Medium"/>
                  <a:sym typeface="Inter Medium"/>
                </a:rPr>
                <a:t>Software Development</a:t>
              </a:r>
              <a:endParaRPr sz="2489"/>
            </a:p>
          </p:txBody>
        </p:sp>
      </p:grpSp>
      <p:grpSp>
        <p:nvGrpSpPr>
          <p:cNvPr id="429" name="Google Shape;429;p27"/>
          <p:cNvGrpSpPr/>
          <p:nvPr/>
        </p:nvGrpSpPr>
        <p:grpSpPr>
          <a:xfrm>
            <a:off x="5210934" y="1380223"/>
            <a:ext cx="3149822" cy="1566978"/>
            <a:chOff x="2931150" y="776375"/>
            <a:chExt cx="1771775" cy="881425"/>
          </a:xfrm>
        </p:grpSpPr>
        <p:sp>
          <p:nvSpPr>
            <p:cNvPr id="430" name="Google Shape;430;p27"/>
            <p:cNvSpPr/>
            <p:nvPr/>
          </p:nvSpPr>
          <p:spPr>
            <a:xfrm>
              <a:off x="2931150" y="837300"/>
              <a:ext cx="1766100" cy="820500"/>
            </a:xfrm>
            <a:prstGeom prst="roundRect">
              <a:avLst>
                <a:gd name="adj" fmla="val 6883"/>
              </a:avLst>
            </a:prstGeom>
            <a:solidFill>
              <a:schemeClr val="lt1"/>
            </a:solidFill>
            <a:ln>
              <a:noFill/>
            </a:ln>
            <a:effectLst>
              <a:outerShdw blurRad="57150" dist="19050" dir="5400000" algn="bl" rotWithShape="0">
                <a:srgbClr val="000000">
                  <a:alpha val="35000"/>
                </a:srgbClr>
              </a:outerShdw>
            </a:effectLst>
          </p:spPr>
          <p:txBody>
            <a:bodyPr spcFirstLastPara="1" wrap="square" lIns="162533" tIns="162533" rIns="162533" bIns="162533" anchor="ctr" anchorCtr="0">
              <a:noAutofit/>
            </a:bodyPr>
            <a:lstStyle/>
            <a:p>
              <a:pPr algn="ctr"/>
              <a:endParaRPr sz="2489"/>
            </a:p>
          </p:txBody>
        </p:sp>
        <p:sp>
          <p:nvSpPr>
            <p:cNvPr id="431" name="Google Shape;431;p27"/>
            <p:cNvSpPr txBox="1"/>
            <p:nvPr/>
          </p:nvSpPr>
          <p:spPr>
            <a:xfrm>
              <a:off x="2936825" y="979013"/>
              <a:ext cx="1766100" cy="417415"/>
            </a:xfrm>
            <a:prstGeom prst="rect">
              <a:avLst/>
            </a:prstGeom>
            <a:noFill/>
            <a:ln>
              <a:noFill/>
            </a:ln>
          </p:spPr>
          <p:txBody>
            <a:bodyPr spcFirstLastPara="1" wrap="square" lIns="162533" tIns="162533" rIns="162533" bIns="162533" anchor="t" anchorCtr="0">
              <a:spAutoFit/>
            </a:bodyPr>
            <a:lstStyle/>
            <a:p>
              <a:pPr>
                <a:lnSpc>
                  <a:spcPct val="126000"/>
                </a:lnSpc>
              </a:pPr>
              <a:r>
                <a:rPr lang="vi" sz="1067">
                  <a:solidFill>
                    <a:srgbClr val="3D3D3D"/>
                  </a:solidFill>
                  <a:latin typeface="Plus Jakarta Sans Medium"/>
                  <a:ea typeface="Plus Jakarta Sans Medium"/>
                  <a:cs typeface="Plus Jakarta Sans Medium"/>
                  <a:sym typeface="Plus Jakarta Sans Medium"/>
                </a:rPr>
                <a:t>• Mud migration</a:t>
              </a:r>
              <a:endParaRPr sz="1067">
                <a:solidFill>
                  <a:srgbClr val="3D3D3D"/>
                </a:solidFill>
                <a:latin typeface="Plus Jakarta Sans Medium"/>
                <a:ea typeface="Plus Jakarta Sans Medium"/>
                <a:cs typeface="Plus Jakarta Sans Medium"/>
                <a:sym typeface="Plus Jakarta Sans Medium"/>
              </a:endParaRPr>
            </a:p>
            <a:p>
              <a:pPr>
                <a:lnSpc>
                  <a:spcPct val="125933"/>
                </a:lnSpc>
              </a:pPr>
              <a:r>
                <a:rPr lang="vi" sz="1067">
                  <a:solidFill>
                    <a:srgbClr val="3D3D3D"/>
                  </a:solidFill>
                  <a:latin typeface="Plus Jakarta Sans Medium"/>
                  <a:ea typeface="Plus Jakarta Sans Medium"/>
                  <a:cs typeface="Plus Jakarta Sans Medium"/>
                  <a:sym typeface="Plus Jakarta Sans Medium"/>
                </a:rPr>
                <a:t>• Data migration</a:t>
              </a:r>
              <a:endParaRPr sz="1067">
                <a:solidFill>
                  <a:srgbClr val="3D3D3D"/>
                </a:solidFill>
                <a:latin typeface="Plus Jakarta Sans Medium"/>
                <a:ea typeface="Plus Jakarta Sans Medium"/>
                <a:cs typeface="Plus Jakarta Sans Medium"/>
                <a:sym typeface="Plus Jakarta Sans Medium"/>
              </a:endParaRPr>
            </a:p>
          </p:txBody>
        </p:sp>
        <p:sp>
          <p:nvSpPr>
            <p:cNvPr id="432" name="Google Shape;432;p27"/>
            <p:cNvSpPr/>
            <p:nvPr/>
          </p:nvSpPr>
          <p:spPr>
            <a:xfrm>
              <a:off x="2933225" y="776375"/>
              <a:ext cx="1766100" cy="236100"/>
            </a:xfrm>
            <a:prstGeom prst="roundRect">
              <a:avLst>
                <a:gd name="adj" fmla="val 16667"/>
              </a:avLst>
            </a:prstGeom>
            <a:solidFill>
              <a:srgbClr val="34B3EC"/>
            </a:solidFill>
            <a:ln>
              <a:noFill/>
            </a:ln>
          </p:spPr>
          <p:txBody>
            <a:bodyPr spcFirstLastPara="1" wrap="square" lIns="162533" tIns="162533" rIns="162533" bIns="162533" anchor="ctr" anchorCtr="0">
              <a:noAutofit/>
            </a:bodyPr>
            <a:lstStyle/>
            <a:p>
              <a:pPr marL="22578" algn="ctr">
                <a:buClr>
                  <a:schemeClr val="dk1"/>
                </a:buClr>
                <a:buSzPts val="1100"/>
              </a:pPr>
              <a:r>
                <a:rPr lang="vi" sz="1422">
                  <a:solidFill>
                    <a:schemeClr val="lt1"/>
                  </a:solidFill>
                  <a:latin typeface="Inter Medium"/>
                  <a:ea typeface="Inter Medium"/>
                  <a:cs typeface="Inter Medium"/>
                  <a:sym typeface="Inter Medium"/>
                </a:rPr>
                <a:t>Migration</a:t>
              </a:r>
              <a:endParaRPr sz="2489"/>
            </a:p>
          </p:txBody>
        </p:sp>
      </p:grpSp>
      <p:grpSp>
        <p:nvGrpSpPr>
          <p:cNvPr id="433" name="Google Shape;433;p27"/>
          <p:cNvGrpSpPr/>
          <p:nvPr/>
        </p:nvGrpSpPr>
        <p:grpSpPr>
          <a:xfrm>
            <a:off x="8484001" y="1380223"/>
            <a:ext cx="3149822" cy="1566978"/>
            <a:chOff x="4772250" y="776375"/>
            <a:chExt cx="1771775" cy="881425"/>
          </a:xfrm>
        </p:grpSpPr>
        <p:sp>
          <p:nvSpPr>
            <p:cNvPr id="434" name="Google Shape;434;p27"/>
            <p:cNvSpPr/>
            <p:nvPr/>
          </p:nvSpPr>
          <p:spPr>
            <a:xfrm>
              <a:off x="4772250" y="837300"/>
              <a:ext cx="1766100" cy="820500"/>
            </a:xfrm>
            <a:prstGeom prst="roundRect">
              <a:avLst>
                <a:gd name="adj" fmla="val 6883"/>
              </a:avLst>
            </a:prstGeom>
            <a:solidFill>
              <a:schemeClr val="lt1"/>
            </a:solidFill>
            <a:ln>
              <a:noFill/>
            </a:ln>
            <a:effectLst>
              <a:outerShdw blurRad="57150" dist="19050" dir="5400000" algn="bl" rotWithShape="0">
                <a:srgbClr val="000000">
                  <a:alpha val="35000"/>
                </a:srgbClr>
              </a:outerShdw>
            </a:effectLst>
          </p:spPr>
          <p:txBody>
            <a:bodyPr spcFirstLastPara="1" wrap="square" lIns="162533" tIns="162533" rIns="162533" bIns="162533" anchor="ctr" anchorCtr="0">
              <a:noAutofit/>
            </a:bodyPr>
            <a:lstStyle/>
            <a:p>
              <a:pPr algn="ctr"/>
              <a:endParaRPr sz="2489"/>
            </a:p>
          </p:txBody>
        </p:sp>
        <p:sp>
          <p:nvSpPr>
            <p:cNvPr id="435" name="Google Shape;435;p27"/>
            <p:cNvSpPr txBox="1"/>
            <p:nvPr/>
          </p:nvSpPr>
          <p:spPr>
            <a:xfrm>
              <a:off x="4777925" y="979013"/>
              <a:ext cx="1766100" cy="650196"/>
            </a:xfrm>
            <a:prstGeom prst="rect">
              <a:avLst/>
            </a:prstGeom>
            <a:noFill/>
            <a:ln>
              <a:noFill/>
            </a:ln>
          </p:spPr>
          <p:txBody>
            <a:bodyPr spcFirstLastPara="1" wrap="square" lIns="162533" tIns="162533" rIns="162533" bIns="162533" anchor="t" anchorCtr="0">
              <a:spAutoFit/>
            </a:bodyPr>
            <a:lstStyle/>
            <a:p>
              <a:pPr>
                <a:lnSpc>
                  <a:spcPct val="126000"/>
                </a:lnSpc>
              </a:pPr>
              <a:r>
                <a:rPr lang="vi" sz="1067" dirty="0">
                  <a:solidFill>
                    <a:srgbClr val="3D3D3D"/>
                  </a:solidFill>
                  <a:latin typeface="Plus Jakarta Sans Medium"/>
                  <a:ea typeface="Plus Jakarta Sans Medium"/>
                  <a:cs typeface="Plus Jakarta Sans Medium"/>
                  <a:sym typeface="Plus Jakarta Sans Medium"/>
                </a:rPr>
                <a:t>• Application &amp; system maintenance</a:t>
              </a:r>
              <a:endParaRPr sz="1067" dirty="0">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dirty="0">
                  <a:solidFill>
                    <a:srgbClr val="3D3D3D"/>
                  </a:solidFill>
                  <a:latin typeface="Plus Jakarta Sans Medium"/>
                  <a:ea typeface="Plus Jakarta Sans Medium"/>
                  <a:cs typeface="Plus Jakarta Sans Medium"/>
                  <a:sym typeface="Plus Jakarta Sans Medium"/>
                </a:rPr>
                <a:t>• IT environment optimization &amp; support</a:t>
              </a:r>
              <a:endParaRPr sz="1067" dirty="0">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dirty="0">
                  <a:solidFill>
                    <a:srgbClr val="3D3D3D"/>
                  </a:solidFill>
                  <a:latin typeface="Plus Jakarta Sans Medium"/>
                  <a:ea typeface="Plus Jakarta Sans Medium"/>
                  <a:cs typeface="Plus Jakarta Sans Medium"/>
                  <a:sym typeface="Plus Jakarta Sans Medium"/>
                </a:rPr>
                <a:t>• Cross-platform &amp; cloud application </a:t>
              </a:r>
              <a:endParaRPr sz="1067" dirty="0">
                <a:solidFill>
                  <a:srgbClr val="3D3D3D"/>
                </a:solidFill>
                <a:latin typeface="Plus Jakarta Sans Medium"/>
                <a:ea typeface="Plus Jakarta Sans Medium"/>
                <a:cs typeface="Plus Jakarta Sans Medium"/>
                <a:sym typeface="Plus Jakarta Sans Medium"/>
              </a:endParaRPr>
            </a:p>
            <a:p>
              <a:pPr>
                <a:lnSpc>
                  <a:spcPct val="125933"/>
                </a:lnSpc>
              </a:pPr>
              <a:r>
                <a:rPr lang="vi" sz="1067" dirty="0">
                  <a:solidFill>
                    <a:srgbClr val="3D3D3D"/>
                  </a:solidFill>
                  <a:latin typeface="Plus Jakarta Sans Medium"/>
                  <a:ea typeface="Plus Jakarta Sans Medium"/>
                  <a:cs typeface="Plus Jakarta Sans Medium"/>
                  <a:sym typeface="Plus Jakarta Sans Medium"/>
                </a:rPr>
                <a:t>maintenance</a:t>
              </a:r>
              <a:endParaRPr sz="1067" dirty="0">
                <a:solidFill>
                  <a:srgbClr val="3D3D3D"/>
                </a:solidFill>
                <a:latin typeface="Plus Jakarta Sans Medium"/>
                <a:ea typeface="Plus Jakarta Sans Medium"/>
                <a:cs typeface="Plus Jakarta Sans Medium"/>
                <a:sym typeface="Plus Jakarta Sans Medium"/>
              </a:endParaRPr>
            </a:p>
          </p:txBody>
        </p:sp>
        <p:sp>
          <p:nvSpPr>
            <p:cNvPr id="436" name="Google Shape;436;p27"/>
            <p:cNvSpPr/>
            <p:nvPr/>
          </p:nvSpPr>
          <p:spPr>
            <a:xfrm>
              <a:off x="4774325" y="776375"/>
              <a:ext cx="1766100" cy="236100"/>
            </a:xfrm>
            <a:prstGeom prst="roundRect">
              <a:avLst>
                <a:gd name="adj" fmla="val 16667"/>
              </a:avLst>
            </a:prstGeom>
            <a:solidFill>
              <a:srgbClr val="1B4DCC"/>
            </a:solidFill>
            <a:ln>
              <a:noFill/>
            </a:ln>
          </p:spPr>
          <p:txBody>
            <a:bodyPr spcFirstLastPara="1" wrap="square" lIns="162533" tIns="162533" rIns="162533" bIns="162533" anchor="ctr" anchorCtr="0">
              <a:noAutofit/>
            </a:bodyPr>
            <a:lstStyle/>
            <a:p>
              <a:pPr marL="22578" algn="ctr"/>
              <a:r>
                <a:rPr lang="vi" sz="1422">
                  <a:solidFill>
                    <a:schemeClr val="lt1"/>
                  </a:solidFill>
                  <a:latin typeface="Inter Medium"/>
                  <a:ea typeface="Inter Medium"/>
                  <a:cs typeface="Inter Medium"/>
                  <a:sym typeface="Inter Medium"/>
                </a:rPr>
                <a:t>Maintenance &amp; Monitoring</a:t>
              </a:r>
              <a:endParaRPr sz="1422">
                <a:solidFill>
                  <a:schemeClr val="lt1"/>
                </a:solidFill>
                <a:latin typeface="Inter Medium"/>
                <a:ea typeface="Inter Medium"/>
                <a:cs typeface="Inter Medium"/>
                <a:sym typeface="Inter Medium"/>
              </a:endParaRPr>
            </a:p>
          </p:txBody>
        </p:sp>
      </p:grpSp>
      <p:grpSp>
        <p:nvGrpSpPr>
          <p:cNvPr id="437" name="Google Shape;437;p27"/>
          <p:cNvGrpSpPr/>
          <p:nvPr/>
        </p:nvGrpSpPr>
        <p:grpSpPr>
          <a:xfrm>
            <a:off x="11757068" y="1379645"/>
            <a:ext cx="3149822" cy="1867725"/>
            <a:chOff x="6613350" y="776050"/>
            <a:chExt cx="1771775" cy="1050595"/>
          </a:xfrm>
        </p:grpSpPr>
        <p:sp>
          <p:nvSpPr>
            <p:cNvPr id="438" name="Google Shape;438;p27"/>
            <p:cNvSpPr/>
            <p:nvPr/>
          </p:nvSpPr>
          <p:spPr>
            <a:xfrm>
              <a:off x="6613350" y="836975"/>
              <a:ext cx="1766100" cy="820500"/>
            </a:xfrm>
            <a:prstGeom prst="roundRect">
              <a:avLst>
                <a:gd name="adj" fmla="val 6883"/>
              </a:avLst>
            </a:prstGeom>
            <a:solidFill>
              <a:schemeClr val="lt1"/>
            </a:solidFill>
            <a:ln>
              <a:noFill/>
            </a:ln>
            <a:effectLst>
              <a:outerShdw blurRad="57150" dist="19050" dir="5400000" algn="bl" rotWithShape="0">
                <a:srgbClr val="000000">
                  <a:alpha val="35000"/>
                </a:srgbClr>
              </a:outerShdw>
            </a:effectLst>
          </p:spPr>
          <p:txBody>
            <a:bodyPr spcFirstLastPara="1" wrap="square" lIns="162533" tIns="162533" rIns="162533" bIns="162533" anchor="ctr" anchorCtr="0">
              <a:noAutofit/>
            </a:bodyPr>
            <a:lstStyle/>
            <a:p>
              <a:pPr algn="ctr"/>
              <a:endParaRPr sz="2489"/>
            </a:p>
          </p:txBody>
        </p:sp>
        <p:sp>
          <p:nvSpPr>
            <p:cNvPr id="439" name="Google Shape;439;p27"/>
            <p:cNvSpPr txBox="1"/>
            <p:nvPr/>
          </p:nvSpPr>
          <p:spPr>
            <a:xfrm>
              <a:off x="6619025" y="943670"/>
              <a:ext cx="1766100" cy="882975"/>
            </a:xfrm>
            <a:prstGeom prst="rect">
              <a:avLst/>
            </a:prstGeom>
            <a:noFill/>
            <a:ln>
              <a:noFill/>
            </a:ln>
          </p:spPr>
          <p:txBody>
            <a:bodyPr spcFirstLastPara="1" wrap="square" lIns="162533" tIns="162533" rIns="162533" bIns="162533" anchor="t" anchorCtr="0">
              <a:spAutoFit/>
            </a:bodyPr>
            <a:lstStyle/>
            <a:p>
              <a:pPr lvl="0">
                <a:lnSpc>
                  <a:spcPct val="125933"/>
                </a:lnSpc>
              </a:pPr>
              <a:r>
                <a:rPr lang="en-US" sz="1067" dirty="0">
                  <a:solidFill>
                    <a:srgbClr val="3D3D3D"/>
                  </a:solidFill>
                  <a:latin typeface="Plus Jakarta Sans Medium"/>
                  <a:ea typeface="Plus Jakarta Sans Medium"/>
                  <a:cs typeface="Plus Jakarta Sans Medium"/>
                  <a:sym typeface="Plus Jakarta Sans Medium"/>
                </a:rPr>
                <a:t>• Cloud and infrastructure</a:t>
              </a:r>
            </a:p>
            <a:p>
              <a:pPr lvl="0">
                <a:lnSpc>
                  <a:spcPct val="125933"/>
                </a:lnSpc>
              </a:pPr>
              <a:r>
                <a:rPr lang="en-US" sz="1067" dirty="0">
                  <a:solidFill>
                    <a:srgbClr val="3D3D3D"/>
                  </a:solidFill>
                  <a:latin typeface="Plus Jakarta Sans Medium"/>
                  <a:ea typeface="Plus Jakarta Sans Medium"/>
                  <a:cs typeface="Plus Jakarta Sans Medium"/>
                  <a:sym typeface="Plus Jakarta Sans Medium"/>
                </a:rPr>
                <a:t>• Application managed services (AMS)</a:t>
              </a:r>
            </a:p>
            <a:p>
              <a:pPr lvl="0">
                <a:lnSpc>
                  <a:spcPct val="125933"/>
                </a:lnSpc>
              </a:pPr>
              <a:r>
                <a:rPr lang="en-US" sz="1067" dirty="0">
                  <a:solidFill>
                    <a:srgbClr val="3D3D3D"/>
                  </a:solidFill>
                  <a:latin typeface="Plus Jakarta Sans Medium"/>
                  <a:ea typeface="Plus Jakarta Sans Medium"/>
                  <a:cs typeface="Plus Jakarta Sans Medium"/>
                  <a:sym typeface="Plus Jakarta Sans Medium"/>
                </a:rPr>
                <a:t>• ITSM &amp; enterprise application</a:t>
              </a:r>
            </a:p>
            <a:p>
              <a:pPr lvl="0">
                <a:lnSpc>
                  <a:spcPct val="125933"/>
                </a:lnSpc>
              </a:pPr>
              <a:r>
                <a:rPr lang="en-US" sz="1067" dirty="0">
                  <a:solidFill>
                    <a:srgbClr val="3D3D3D"/>
                  </a:solidFill>
                  <a:latin typeface="Plus Jakarta Sans Medium"/>
                  <a:ea typeface="Plus Jakarta Sans Medium"/>
                  <a:cs typeface="Plus Jakarta Sans Medium"/>
                  <a:sym typeface="Plus Jakarta Sans Medium"/>
                </a:rPr>
                <a:t>• Industry-specific managed services</a:t>
              </a:r>
            </a:p>
            <a:p>
              <a:pPr lvl="0">
                <a:lnSpc>
                  <a:spcPct val="125933"/>
                </a:lnSpc>
              </a:pPr>
              <a:r>
                <a:rPr lang="en-US" sz="1067" dirty="0">
                  <a:solidFill>
                    <a:srgbClr val="3D3D3D"/>
                  </a:solidFill>
                  <a:latin typeface="Plus Jakarta Sans Medium"/>
                  <a:ea typeface="Plus Jakarta Sans Medium"/>
                  <a:cs typeface="Plus Jakarta Sans Medium"/>
                  <a:sym typeface="Plus Jakarta Sans Medium"/>
                </a:rPr>
                <a:t>• Data &amp; analytics</a:t>
              </a:r>
            </a:p>
            <a:p>
              <a:pPr lvl="0">
                <a:lnSpc>
                  <a:spcPct val="125933"/>
                </a:lnSpc>
              </a:pPr>
              <a:endParaRPr lang="en-US" sz="1067" dirty="0">
                <a:solidFill>
                  <a:srgbClr val="3D3D3D"/>
                </a:solidFill>
                <a:latin typeface="Plus Jakarta Sans Medium"/>
                <a:ea typeface="Plus Jakarta Sans Medium"/>
                <a:cs typeface="Plus Jakarta Sans Medium"/>
                <a:sym typeface="Plus Jakarta Sans Medium"/>
              </a:endParaRPr>
            </a:p>
          </p:txBody>
        </p:sp>
        <p:sp>
          <p:nvSpPr>
            <p:cNvPr id="440" name="Google Shape;440;p27"/>
            <p:cNvSpPr/>
            <p:nvPr/>
          </p:nvSpPr>
          <p:spPr>
            <a:xfrm>
              <a:off x="6615425" y="776050"/>
              <a:ext cx="1766100" cy="236100"/>
            </a:xfrm>
            <a:prstGeom prst="roundRect">
              <a:avLst>
                <a:gd name="adj" fmla="val 16667"/>
              </a:avLst>
            </a:prstGeom>
            <a:solidFill>
              <a:srgbClr val="34B3EC"/>
            </a:solidFill>
            <a:ln>
              <a:noFill/>
            </a:ln>
          </p:spPr>
          <p:txBody>
            <a:bodyPr spcFirstLastPara="1" wrap="square" lIns="162533" tIns="162533" rIns="162533" bIns="162533" anchor="ctr" anchorCtr="0">
              <a:noAutofit/>
            </a:bodyPr>
            <a:lstStyle/>
            <a:p>
              <a:pPr marL="22578" algn="ctr">
                <a:buClr>
                  <a:schemeClr val="dk1"/>
                </a:buClr>
                <a:buSzPts val="1100"/>
              </a:pPr>
              <a:r>
                <a:rPr lang="vi" sz="1422">
                  <a:solidFill>
                    <a:schemeClr val="lt1"/>
                  </a:solidFill>
                  <a:latin typeface="Inter Medium"/>
                  <a:ea typeface="Inter Medium"/>
                  <a:cs typeface="Inter Medium"/>
                  <a:sym typeface="Inter Medium"/>
                </a:rPr>
                <a:t>Managed Service</a:t>
              </a:r>
              <a:endParaRPr sz="2489"/>
            </a:p>
          </p:txBody>
        </p:sp>
      </p:grpSp>
      <p:grpSp>
        <p:nvGrpSpPr>
          <p:cNvPr id="441" name="Google Shape;441;p27"/>
          <p:cNvGrpSpPr/>
          <p:nvPr/>
        </p:nvGrpSpPr>
        <p:grpSpPr>
          <a:xfrm>
            <a:off x="3280001" y="3705512"/>
            <a:ext cx="3149822" cy="1668818"/>
            <a:chOff x="1845000" y="2084350"/>
            <a:chExt cx="1771775" cy="938710"/>
          </a:xfrm>
        </p:grpSpPr>
        <p:sp>
          <p:nvSpPr>
            <p:cNvPr id="442" name="Google Shape;442;p27"/>
            <p:cNvSpPr/>
            <p:nvPr/>
          </p:nvSpPr>
          <p:spPr>
            <a:xfrm>
              <a:off x="1845000" y="2145275"/>
              <a:ext cx="1766100" cy="820500"/>
            </a:xfrm>
            <a:prstGeom prst="roundRect">
              <a:avLst>
                <a:gd name="adj" fmla="val 6883"/>
              </a:avLst>
            </a:prstGeom>
            <a:solidFill>
              <a:schemeClr val="lt1"/>
            </a:solidFill>
            <a:ln>
              <a:noFill/>
            </a:ln>
            <a:effectLst>
              <a:outerShdw blurRad="57150" dist="19050" dir="5400000" algn="bl" rotWithShape="0">
                <a:srgbClr val="000000">
                  <a:alpha val="35000"/>
                </a:srgbClr>
              </a:outerShdw>
            </a:effectLst>
          </p:spPr>
          <p:txBody>
            <a:bodyPr spcFirstLastPara="1" wrap="square" lIns="162533" tIns="162533" rIns="162533" bIns="162533" anchor="ctr" anchorCtr="0">
              <a:noAutofit/>
            </a:bodyPr>
            <a:lstStyle/>
            <a:p>
              <a:pPr algn="ctr"/>
              <a:endParaRPr sz="2489"/>
            </a:p>
          </p:txBody>
        </p:sp>
        <p:sp>
          <p:nvSpPr>
            <p:cNvPr id="443" name="Google Shape;443;p27"/>
            <p:cNvSpPr txBox="1"/>
            <p:nvPr/>
          </p:nvSpPr>
          <p:spPr>
            <a:xfrm>
              <a:off x="1850675" y="2286988"/>
              <a:ext cx="1766100" cy="736072"/>
            </a:xfrm>
            <a:prstGeom prst="rect">
              <a:avLst/>
            </a:prstGeom>
            <a:noFill/>
            <a:ln>
              <a:noFill/>
            </a:ln>
          </p:spPr>
          <p:txBody>
            <a:bodyPr spcFirstLastPara="1" wrap="square" lIns="162533" tIns="162533" rIns="162533" bIns="162533" anchor="t" anchorCtr="0">
              <a:spAutoFit/>
            </a:bodyPr>
            <a:lstStyle/>
            <a:p>
              <a:pPr>
                <a:lnSpc>
                  <a:spcPct val="126000"/>
                </a:lnSpc>
              </a:pPr>
              <a:r>
                <a:rPr lang="vi" sz="1067">
                  <a:solidFill>
                    <a:srgbClr val="3D3D3D"/>
                  </a:solidFill>
                  <a:latin typeface="Plus Jakarta Sans Medium"/>
                  <a:ea typeface="Plus Jakarta Sans Medium"/>
                  <a:cs typeface="Plus Jakarta Sans Medium"/>
                  <a:sym typeface="Plus Jakarta Sans Medium"/>
                </a:rPr>
                <a:t>• Computer vision  (OCR, eKYC, vision inspection, smart insight)</a:t>
              </a:r>
              <a:endParaRPr sz="1067">
                <a:solidFill>
                  <a:srgbClr val="3D3D3D"/>
                </a:solidFill>
                <a:latin typeface="Plus Jakarta Sans"/>
                <a:ea typeface="Plus Jakarta Sans"/>
                <a:cs typeface="Plus Jakarta Sans"/>
                <a:sym typeface="Plus Jakarta Sans"/>
              </a:endParaRPr>
            </a:p>
            <a:p>
              <a:pPr>
                <a:lnSpc>
                  <a:spcPct val="115000"/>
                </a:lnSpc>
                <a:buClr>
                  <a:schemeClr val="dk1"/>
                </a:buClr>
                <a:buSzPts val="1100"/>
              </a:pPr>
              <a:r>
                <a:rPr lang="vi" sz="1067">
                  <a:solidFill>
                    <a:srgbClr val="3D3D3D"/>
                  </a:solidFill>
                  <a:latin typeface="Plus Jakarta Sans Medium"/>
                  <a:ea typeface="Plus Jakarta Sans Medium"/>
                  <a:cs typeface="Plus Jakarta Sans Medium"/>
                  <a:sym typeface="Plus Jakarta Sans Medium"/>
                </a:rPr>
                <a:t>• Data Analytics</a:t>
              </a:r>
              <a:endParaRPr sz="1067">
                <a:solidFill>
                  <a:srgbClr val="3D3D3D"/>
                </a:solidFill>
                <a:latin typeface="Plus Jakarta Sans Medium"/>
                <a:ea typeface="Plus Jakarta Sans Medium"/>
                <a:cs typeface="Plus Jakarta Sans Medium"/>
                <a:sym typeface="Plus Jakarta Sans Medium"/>
              </a:endParaRPr>
            </a:p>
            <a:p>
              <a:pPr>
                <a:lnSpc>
                  <a:spcPct val="115000"/>
                </a:lnSpc>
                <a:buClr>
                  <a:schemeClr val="dk1"/>
                </a:buClr>
                <a:buSzPts val="1100"/>
              </a:pPr>
              <a:r>
                <a:rPr lang="vi" sz="1067">
                  <a:solidFill>
                    <a:srgbClr val="3D3D3D"/>
                  </a:solidFill>
                  <a:latin typeface="Plus Jakarta Sans Medium"/>
                  <a:ea typeface="Plus Jakarta Sans Medium"/>
                  <a:cs typeface="Plus Jakarta Sans Medium"/>
                  <a:sym typeface="Plus Jakarta Sans Medium"/>
                </a:rPr>
                <a:t>• Natural Language Processing (NLP)</a:t>
              </a:r>
              <a:endParaRPr sz="1067">
                <a:solidFill>
                  <a:srgbClr val="3D3D3D"/>
                </a:solidFill>
                <a:latin typeface="Plus Jakarta Sans Medium"/>
                <a:ea typeface="Plus Jakarta Sans Medium"/>
                <a:cs typeface="Plus Jakarta Sans Medium"/>
                <a:sym typeface="Plus Jakarta Sans Medium"/>
              </a:endParaRPr>
            </a:p>
            <a:p>
              <a:pPr>
                <a:lnSpc>
                  <a:spcPct val="115000"/>
                </a:lnSpc>
              </a:pPr>
              <a:r>
                <a:rPr lang="vi" sz="1067">
                  <a:solidFill>
                    <a:srgbClr val="3D3D3D"/>
                  </a:solidFill>
                  <a:latin typeface="Plus Jakarta Sans Medium"/>
                  <a:ea typeface="Plus Jakarta Sans Medium"/>
                  <a:cs typeface="Plus Jakarta Sans Medium"/>
                  <a:sym typeface="Plus Jakarta Sans Medium"/>
                </a:rPr>
                <a:t>• Generative AI </a:t>
              </a:r>
              <a:endParaRPr sz="1067">
                <a:solidFill>
                  <a:srgbClr val="3D3D3D"/>
                </a:solidFill>
                <a:latin typeface="Plus Jakarta Sans Medium"/>
                <a:ea typeface="Plus Jakarta Sans Medium"/>
                <a:cs typeface="Plus Jakarta Sans Medium"/>
                <a:sym typeface="Plus Jakarta Sans Medium"/>
              </a:endParaRPr>
            </a:p>
          </p:txBody>
        </p:sp>
        <p:sp>
          <p:nvSpPr>
            <p:cNvPr id="444" name="Google Shape;444;p27"/>
            <p:cNvSpPr/>
            <p:nvPr/>
          </p:nvSpPr>
          <p:spPr>
            <a:xfrm>
              <a:off x="1847075" y="2084350"/>
              <a:ext cx="1766100" cy="236100"/>
            </a:xfrm>
            <a:prstGeom prst="roundRect">
              <a:avLst>
                <a:gd name="adj" fmla="val 16667"/>
              </a:avLst>
            </a:prstGeom>
            <a:solidFill>
              <a:srgbClr val="1B4DCC"/>
            </a:solidFill>
            <a:ln>
              <a:noFill/>
            </a:ln>
          </p:spPr>
          <p:txBody>
            <a:bodyPr spcFirstLastPara="1" wrap="square" lIns="162533" tIns="162533" rIns="162533" bIns="162533" anchor="ctr" anchorCtr="0">
              <a:noAutofit/>
            </a:bodyPr>
            <a:lstStyle/>
            <a:p>
              <a:pPr marL="22578" algn="ctr">
                <a:buClr>
                  <a:schemeClr val="dk1"/>
                </a:buClr>
                <a:buSzPts val="1100"/>
              </a:pPr>
              <a:r>
                <a:rPr lang="vi" sz="1422">
                  <a:solidFill>
                    <a:schemeClr val="lt1"/>
                  </a:solidFill>
                  <a:latin typeface="Inter Medium"/>
                  <a:ea typeface="Inter Medium"/>
                  <a:cs typeface="Inter Medium"/>
                  <a:sym typeface="Inter Medium"/>
                </a:rPr>
                <a:t>AI</a:t>
              </a:r>
              <a:endParaRPr sz="2489"/>
            </a:p>
          </p:txBody>
        </p:sp>
      </p:grpSp>
      <p:grpSp>
        <p:nvGrpSpPr>
          <p:cNvPr id="445" name="Google Shape;445;p27"/>
          <p:cNvGrpSpPr/>
          <p:nvPr/>
        </p:nvGrpSpPr>
        <p:grpSpPr>
          <a:xfrm>
            <a:off x="6553068" y="3704933"/>
            <a:ext cx="3149822" cy="1566978"/>
            <a:chOff x="3686100" y="2084025"/>
            <a:chExt cx="1771775" cy="881425"/>
          </a:xfrm>
        </p:grpSpPr>
        <p:sp>
          <p:nvSpPr>
            <p:cNvPr id="446" name="Google Shape;446;p27"/>
            <p:cNvSpPr/>
            <p:nvPr/>
          </p:nvSpPr>
          <p:spPr>
            <a:xfrm>
              <a:off x="3686100" y="2144950"/>
              <a:ext cx="1766100" cy="820500"/>
            </a:xfrm>
            <a:prstGeom prst="roundRect">
              <a:avLst>
                <a:gd name="adj" fmla="val 6883"/>
              </a:avLst>
            </a:prstGeom>
            <a:solidFill>
              <a:schemeClr val="lt1"/>
            </a:solidFill>
            <a:ln>
              <a:noFill/>
            </a:ln>
            <a:effectLst>
              <a:outerShdw blurRad="57150" dist="19050" dir="5400000" algn="bl" rotWithShape="0">
                <a:srgbClr val="000000">
                  <a:alpha val="35000"/>
                </a:srgbClr>
              </a:outerShdw>
            </a:effectLst>
          </p:spPr>
          <p:txBody>
            <a:bodyPr spcFirstLastPara="1" wrap="square" lIns="162533" tIns="162533" rIns="162533" bIns="162533" anchor="ctr" anchorCtr="0">
              <a:noAutofit/>
            </a:bodyPr>
            <a:lstStyle/>
            <a:p>
              <a:pPr algn="ctr"/>
              <a:endParaRPr sz="2489"/>
            </a:p>
          </p:txBody>
        </p:sp>
        <p:sp>
          <p:nvSpPr>
            <p:cNvPr id="447" name="Google Shape;447;p27"/>
            <p:cNvSpPr txBox="1"/>
            <p:nvPr/>
          </p:nvSpPr>
          <p:spPr>
            <a:xfrm>
              <a:off x="3691775" y="2286663"/>
              <a:ext cx="1766100" cy="650195"/>
            </a:xfrm>
            <a:prstGeom prst="rect">
              <a:avLst/>
            </a:prstGeom>
            <a:noFill/>
            <a:ln>
              <a:noFill/>
            </a:ln>
          </p:spPr>
          <p:txBody>
            <a:bodyPr spcFirstLastPara="1" wrap="square" lIns="162533" tIns="162533" rIns="162533" bIns="162533" anchor="t" anchorCtr="0">
              <a:spAutoFit/>
            </a:bodyPr>
            <a:lstStyle/>
            <a:p>
              <a:pPr>
                <a:lnSpc>
                  <a:spcPct val="126000"/>
                </a:lnSpc>
              </a:pPr>
              <a:r>
                <a:rPr lang="vi" sz="1067">
                  <a:solidFill>
                    <a:srgbClr val="3D3D3D"/>
                  </a:solidFill>
                  <a:latin typeface="Plus Jakarta Sans Medium"/>
                  <a:ea typeface="Plus Jakarta Sans Medium"/>
                  <a:cs typeface="Plus Jakarta Sans Medium"/>
                  <a:sym typeface="Plus Jakarta Sans Medium"/>
                </a:rPr>
                <a:t>•Managed service</a:t>
              </a:r>
              <a:endParaRPr sz="1067">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a:solidFill>
                    <a:srgbClr val="3D3D3D"/>
                  </a:solidFill>
                  <a:latin typeface="Plus Jakarta Sans Medium"/>
                  <a:ea typeface="Plus Jakarta Sans Medium"/>
                  <a:cs typeface="Plus Jakarta Sans Medium"/>
                  <a:sym typeface="Plus Jakarta Sans Medium"/>
                </a:rPr>
                <a:t>• Migration &amp; modernization service</a:t>
              </a:r>
              <a:endParaRPr sz="1067">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a:solidFill>
                    <a:srgbClr val="3D3D3D"/>
                  </a:solidFill>
                  <a:latin typeface="Plus Jakarta Sans Medium"/>
                  <a:ea typeface="Plus Jakarta Sans Medium"/>
                  <a:cs typeface="Plus Jakarta Sans Medium"/>
                  <a:sym typeface="Plus Jakarta Sans Medium"/>
                </a:rPr>
                <a:t>• Development service</a:t>
              </a:r>
              <a:endParaRPr sz="1067">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a:solidFill>
                    <a:srgbClr val="3D3D3D"/>
                  </a:solidFill>
                  <a:latin typeface="Plus Jakarta Sans Medium"/>
                  <a:ea typeface="Plus Jakarta Sans Medium"/>
                  <a:cs typeface="Plus Jakarta Sans Medium"/>
                  <a:sym typeface="Plus Jakarta Sans Medium"/>
                </a:rPr>
                <a:t>• Well-architectured review</a:t>
              </a:r>
              <a:endParaRPr sz="1067">
                <a:solidFill>
                  <a:srgbClr val="3D3D3D"/>
                </a:solidFill>
                <a:latin typeface="Plus Jakarta Sans Medium"/>
                <a:ea typeface="Plus Jakarta Sans Medium"/>
                <a:cs typeface="Plus Jakarta Sans Medium"/>
                <a:sym typeface="Plus Jakarta Sans Medium"/>
              </a:endParaRPr>
            </a:p>
          </p:txBody>
        </p:sp>
        <p:sp>
          <p:nvSpPr>
            <p:cNvPr id="448" name="Google Shape;448;p27"/>
            <p:cNvSpPr/>
            <p:nvPr/>
          </p:nvSpPr>
          <p:spPr>
            <a:xfrm>
              <a:off x="3688175" y="2084025"/>
              <a:ext cx="1766100" cy="236100"/>
            </a:xfrm>
            <a:prstGeom prst="roundRect">
              <a:avLst>
                <a:gd name="adj" fmla="val 16667"/>
              </a:avLst>
            </a:prstGeom>
            <a:solidFill>
              <a:srgbClr val="34B3EC"/>
            </a:solidFill>
            <a:ln>
              <a:noFill/>
            </a:ln>
          </p:spPr>
          <p:txBody>
            <a:bodyPr spcFirstLastPara="1" wrap="square" lIns="162533" tIns="162533" rIns="162533" bIns="162533" anchor="ctr" anchorCtr="0">
              <a:noAutofit/>
            </a:bodyPr>
            <a:lstStyle/>
            <a:p>
              <a:pPr marL="22578" algn="ctr"/>
              <a:r>
                <a:rPr lang="vi" sz="1422">
                  <a:solidFill>
                    <a:schemeClr val="lt1"/>
                  </a:solidFill>
                  <a:latin typeface="Inter Medium"/>
                  <a:ea typeface="Inter Medium"/>
                  <a:cs typeface="Inter Medium"/>
                  <a:sym typeface="Inter Medium"/>
                </a:rPr>
                <a:t>Cloud Computing</a:t>
              </a:r>
              <a:endParaRPr sz="1422">
                <a:solidFill>
                  <a:schemeClr val="lt1"/>
                </a:solidFill>
                <a:latin typeface="Inter Medium"/>
                <a:ea typeface="Inter Medium"/>
                <a:cs typeface="Inter Medium"/>
                <a:sym typeface="Inter Medium"/>
              </a:endParaRPr>
            </a:p>
          </p:txBody>
        </p:sp>
      </p:grpSp>
      <p:grpSp>
        <p:nvGrpSpPr>
          <p:cNvPr id="449" name="Google Shape;449;p27"/>
          <p:cNvGrpSpPr/>
          <p:nvPr/>
        </p:nvGrpSpPr>
        <p:grpSpPr>
          <a:xfrm>
            <a:off x="9826134" y="3704933"/>
            <a:ext cx="3149822" cy="1566978"/>
            <a:chOff x="5527200" y="2084025"/>
            <a:chExt cx="1771775" cy="881425"/>
          </a:xfrm>
        </p:grpSpPr>
        <p:sp>
          <p:nvSpPr>
            <p:cNvPr id="450" name="Google Shape;450;p27"/>
            <p:cNvSpPr/>
            <p:nvPr/>
          </p:nvSpPr>
          <p:spPr>
            <a:xfrm>
              <a:off x="5527200" y="2144950"/>
              <a:ext cx="1766100" cy="820500"/>
            </a:xfrm>
            <a:prstGeom prst="roundRect">
              <a:avLst>
                <a:gd name="adj" fmla="val 6883"/>
              </a:avLst>
            </a:prstGeom>
            <a:solidFill>
              <a:schemeClr val="lt1"/>
            </a:solidFill>
            <a:ln>
              <a:noFill/>
            </a:ln>
            <a:effectLst>
              <a:outerShdw blurRad="57150" dist="19050" dir="5400000" algn="bl" rotWithShape="0">
                <a:srgbClr val="000000">
                  <a:alpha val="35000"/>
                </a:srgbClr>
              </a:outerShdw>
            </a:effectLst>
          </p:spPr>
          <p:txBody>
            <a:bodyPr spcFirstLastPara="1" wrap="square" lIns="162533" tIns="162533" rIns="162533" bIns="162533" anchor="ctr" anchorCtr="0">
              <a:noAutofit/>
            </a:bodyPr>
            <a:lstStyle/>
            <a:p>
              <a:pPr algn="ctr"/>
              <a:endParaRPr sz="2489"/>
            </a:p>
          </p:txBody>
        </p:sp>
        <p:sp>
          <p:nvSpPr>
            <p:cNvPr id="451" name="Google Shape;451;p27"/>
            <p:cNvSpPr txBox="1"/>
            <p:nvPr/>
          </p:nvSpPr>
          <p:spPr>
            <a:xfrm>
              <a:off x="5532875" y="2286663"/>
              <a:ext cx="1766100" cy="533806"/>
            </a:xfrm>
            <a:prstGeom prst="rect">
              <a:avLst/>
            </a:prstGeom>
            <a:noFill/>
            <a:ln>
              <a:noFill/>
            </a:ln>
          </p:spPr>
          <p:txBody>
            <a:bodyPr spcFirstLastPara="1" wrap="square" lIns="162533" tIns="162533" rIns="162533" bIns="162533" anchor="t" anchorCtr="0">
              <a:spAutoFit/>
            </a:bodyPr>
            <a:lstStyle/>
            <a:p>
              <a:pPr>
                <a:lnSpc>
                  <a:spcPct val="126000"/>
                </a:lnSpc>
              </a:pPr>
              <a:r>
                <a:rPr lang="vi" sz="1067">
                  <a:solidFill>
                    <a:srgbClr val="3D3D3D"/>
                  </a:solidFill>
                  <a:latin typeface="Plus Jakarta Sans Medium"/>
                  <a:ea typeface="Plus Jakarta Sans Medium"/>
                  <a:cs typeface="Plus Jakarta Sans Medium"/>
                  <a:sym typeface="Plus Jakarta Sans Medium"/>
                </a:rPr>
                <a:t>•Cloud-based IoT application </a:t>
              </a:r>
              <a:endParaRPr sz="1067">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a:solidFill>
                    <a:srgbClr val="3D3D3D"/>
                  </a:solidFill>
                  <a:latin typeface="Plus Jakarta Sans Medium"/>
                  <a:ea typeface="Plus Jakarta Sans Medium"/>
                  <a:cs typeface="Plus Jakarta Sans Medium"/>
                  <a:sym typeface="Plus Jakarta Sans Medium"/>
                </a:rPr>
                <a:t>• M2M network development </a:t>
              </a:r>
              <a:endParaRPr sz="1067">
                <a:solidFill>
                  <a:srgbClr val="3D3D3D"/>
                </a:solidFill>
                <a:latin typeface="Plus Jakarta Sans Medium"/>
                <a:ea typeface="Plus Jakarta Sans Medium"/>
                <a:cs typeface="Plus Jakarta Sans Medium"/>
                <a:sym typeface="Plus Jakarta Sans Medium"/>
              </a:endParaRPr>
            </a:p>
            <a:p>
              <a:pPr>
                <a:lnSpc>
                  <a:spcPct val="125933"/>
                </a:lnSpc>
              </a:pPr>
              <a:r>
                <a:rPr lang="vi" sz="1067">
                  <a:solidFill>
                    <a:srgbClr val="3D3D3D"/>
                  </a:solidFill>
                  <a:latin typeface="Plus Jakarta Sans Medium"/>
                  <a:ea typeface="Plus Jakarta Sans Medium"/>
                  <a:cs typeface="Plus Jakarta Sans Medium"/>
                  <a:sym typeface="Plus Jakarta Sans Medium"/>
                </a:rPr>
                <a:t>• Device development</a:t>
              </a:r>
              <a:endParaRPr sz="1067">
                <a:solidFill>
                  <a:srgbClr val="3D3D3D"/>
                </a:solidFill>
                <a:latin typeface="Plus Jakarta Sans Medium"/>
                <a:ea typeface="Plus Jakarta Sans Medium"/>
                <a:cs typeface="Plus Jakarta Sans Medium"/>
                <a:sym typeface="Plus Jakarta Sans Medium"/>
              </a:endParaRPr>
            </a:p>
          </p:txBody>
        </p:sp>
        <p:sp>
          <p:nvSpPr>
            <p:cNvPr id="452" name="Google Shape;452;p27"/>
            <p:cNvSpPr/>
            <p:nvPr/>
          </p:nvSpPr>
          <p:spPr>
            <a:xfrm>
              <a:off x="5529275" y="2084025"/>
              <a:ext cx="1766100" cy="236100"/>
            </a:xfrm>
            <a:prstGeom prst="roundRect">
              <a:avLst>
                <a:gd name="adj" fmla="val 16667"/>
              </a:avLst>
            </a:prstGeom>
            <a:solidFill>
              <a:srgbClr val="1B4DCC"/>
            </a:solidFill>
            <a:ln>
              <a:noFill/>
            </a:ln>
          </p:spPr>
          <p:txBody>
            <a:bodyPr spcFirstLastPara="1" wrap="square" lIns="162533" tIns="162533" rIns="162533" bIns="162533" anchor="ctr" anchorCtr="0">
              <a:noAutofit/>
            </a:bodyPr>
            <a:lstStyle/>
            <a:p>
              <a:pPr marL="22578" algn="ctr">
                <a:buClr>
                  <a:schemeClr val="dk1"/>
                </a:buClr>
                <a:buSzPts val="1100"/>
              </a:pPr>
              <a:r>
                <a:rPr lang="vi" sz="1422">
                  <a:solidFill>
                    <a:schemeClr val="lt1"/>
                  </a:solidFill>
                  <a:latin typeface="Inter Medium"/>
                  <a:ea typeface="Inter Medium"/>
                  <a:cs typeface="Inter Medium"/>
                  <a:sym typeface="Inter Medium"/>
                </a:rPr>
                <a:t>IoT-Embedded</a:t>
              </a:r>
              <a:endParaRPr sz="1422">
                <a:solidFill>
                  <a:schemeClr val="lt1"/>
                </a:solidFill>
                <a:latin typeface="Inter Medium"/>
                <a:ea typeface="Inter Medium"/>
                <a:cs typeface="Inter Medium"/>
                <a:sym typeface="Inter Medium"/>
              </a:endParaRPr>
            </a:p>
          </p:txBody>
        </p:sp>
      </p:grpSp>
      <p:grpSp>
        <p:nvGrpSpPr>
          <p:cNvPr id="453" name="Google Shape;453;p27"/>
          <p:cNvGrpSpPr/>
          <p:nvPr/>
        </p:nvGrpSpPr>
        <p:grpSpPr>
          <a:xfrm>
            <a:off x="5215957" y="5978002"/>
            <a:ext cx="3149822" cy="1723065"/>
            <a:chOff x="2933975" y="3362625"/>
            <a:chExt cx="1771775" cy="969224"/>
          </a:xfrm>
        </p:grpSpPr>
        <p:sp>
          <p:nvSpPr>
            <p:cNvPr id="454" name="Google Shape;454;p27"/>
            <p:cNvSpPr/>
            <p:nvPr/>
          </p:nvSpPr>
          <p:spPr>
            <a:xfrm>
              <a:off x="2933975" y="3423550"/>
              <a:ext cx="1766100" cy="820500"/>
            </a:xfrm>
            <a:prstGeom prst="roundRect">
              <a:avLst>
                <a:gd name="adj" fmla="val 6883"/>
              </a:avLst>
            </a:prstGeom>
            <a:solidFill>
              <a:schemeClr val="lt1"/>
            </a:solidFill>
            <a:ln>
              <a:noFill/>
            </a:ln>
            <a:effectLst>
              <a:outerShdw blurRad="57150" dist="19050" dir="5400000" algn="bl" rotWithShape="0">
                <a:srgbClr val="000000">
                  <a:alpha val="35000"/>
                </a:srgbClr>
              </a:outerShdw>
            </a:effectLst>
          </p:spPr>
          <p:txBody>
            <a:bodyPr spcFirstLastPara="1" wrap="square" lIns="162533" tIns="162533" rIns="162533" bIns="162533" anchor="ctr" anchorCtr="0">
              <a:noAutofit/>
            </a:bodyPr>
            <a:lstStyle/>
            <a:p>
              <a:pPr algn="ctr"/>
              <a:endParaRPr sz="2489"/>
            </a:p>
          </p:txBody>
        </p:sp>
        <p:sp>
          <p:nvSpPr>
            <p:cNvPr id="455" name="Google Shape;455;p27"/>
            <p:cNvSpPr txBox="1"/>
            <p:nvPr/>
          </p:nvSpPr>
          <p:spPr>
            <a:xfrm>
              <a:off x="2939650" y="3565263"/>
              <a:ext cx="1766100" cy="766586"/>
            </a:xfrm>
            <a:prstGeom prst="rect">
              <a:avLst/>
            </a:prstGeom>
            <a:noFill/>
            <a:ln>
              <a:noFill/>
            </a:ln>
          </p:spPr>
          <p:txBody>
            <a:bodyPr spcFirstLastPara="1" wrap="square" lIns="162533" tIns="162533" rIns="162533" bIns="162533" anchor="t" anchorCtr="0">
              <a:spAutoFit/>
            </a:bodyPr>
            <a:lstStyle/>
            <a:p>
              <a:pPr>
                <a:lnSpc>
                  <a:spcPct val="126000"/>
                </a:lnSpc>
              </a:pPr>
              <a:r>
                <a:rPr lang="vi" sz="1067" dirty="0">
                  <a:solidFill>
                    <a:srgbClr val="3D3D3D"/>
                  </a:solidFill>
                  <a:latin typeface="Plus Jakarta Sans Medium"/>
                  <a:ea typeface="Plus Jakarta Sans Medium"/>
                  <a:cs typeface="Plus Jakarta Sans Medium"/>
                  <a:sym typeface="Plus Jakarta Sans Medium"/>
                </a:rPr>
                <a:t>•Low-code development</a:t>
              </a:r>
              <a:endParaRPr sz="1067" dirty="0">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dirty="0">
                  <a:solidFill>
                    <a:srgbClr val="3D3D3D"/>
                  </a:solidFill>
                  <a:latin typeface="Plus Jakarta Sans Medium"/>
                  <a:ea typeface="Plus Jakarta Sans Medium"/>
                  <a:cs typeface="Plus Jakarta Sans Medium"/>
                  <a:sym typeface="Plus Jakarta Sans Medium"/>
                </a:rPr>
                <a:t>     OutSystems</a:t>
              </a:r>
              <a:endParaRPr sz="1067" dirty="0">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dirty="0">
                  <a:solidFill>
                    <a:srgbClr val="3D3D3D"/>
                  </a:solidFill>
                  <a:latin typeface="Plus Jakarta Sans Medium"/>
                  <a:ea typeface="Plus Jakarta Sans Medium"/>
                  <a:cs typeface="Plus Jakarta Sans Medium"/>
                  <a:sym typeface="Plus Jakarta Sans Medium"/>
                </a:rPr>
                <a:t>      Microsoft Power Platform</a:t>
              </a:r>
              <a:endParaRPr sz="1067" dirty="0">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dirty="0">
                  <a:solidFill>
                    <a:srgbClr val="3D3D3D"/>
                  </a:solidFill>
                  <a:latin typeface="Plus Jakarta Sans Medium"/>
                  <a:ea typeface="Plus Jakarta Sans Medium"/>
                  <a:cs typeface="Plus Jakarta Sans Medium"/>
                  <a:sym typeface="Plus Jakarta Sans Medium"/>
                </a:rPr>
                <a:t>      ServiceNow</a:t>
              </a:r>
              <a:endParaRPr sz="1067" dirty="0">
                <a:solidFill>
                  <a:srgbClr val="3D3D3D"/>
                </a:solidFill>
                <a:latin typeface="Plus Jakarta Sans Medium"/>
                <a:ea typeface="Plus Jakarta Sans Medium"/>
                <a:cs typeface="Plus Jakarta Sans Medium"/>
                <a:sym typeface="Plus Jakarta Sans Medium"/>
              </a:endParaRPr>
            </a:p>
            <a:p>
              <a:pPr>
                <a:lnSpc>
                  <a:spcPct val="125933"/>
                </a:lnSpc>
              </a:pPr>
              <a:r>
                <a:rPr lang="vi" sz="1067" dirty="0">
                  <a:solidFill>
                    <a:srgbClr val="3D3D3D"/>
                  </a:solidFill>
                  <a:latin typeface="Plus Jakarta Sans Medium"/>
                  <a:ea typeface="Plus Jakarta Sans Medium"/>
                  <a:cs typeface="Plus Jakarta Sans Medium"/>
                  <a:sym typeface="Plus Jakarta Sans Medium"/>
                </a:rPr>
                <a:t>• Robotic Process Automation (RPA)</a:t>
              </a:r>
              <a:endParaRPr sz="1067" dirty="0">
                <a:solidFill>
                  <a:srgbClr val="3D3D3D"/>
                </a:solidFill>
                <a:latin typeface="Plus Jakarta Sans Medium"/>
                <a:ea typeface="Plus Jakarta Sans Medium"/>
                <a:cs typeface="Plus Jakarta Sans Medium"/>
                <a:sym typeface="Plus Jakarta Sans Medium"/>
              </a:endParaRPr>
            </a:p>
          </p:txBody>
        </p:sp>
        <p:sp>
          <p:nvSpPr>
            <p:cNvPr id="456" name="Google Shape;456;p27"/>
            <p:cNvSpPr/>
            <p:nvPr/>
          </p:nvSpPr>
          <p:spPr>
            <a:xfrm>
              <a:off x="2936050" y="3362625"/>
              <a:ext cx="1766100" cy="236100"/>
            </a:xfrm>
            <a:prstGeom prst="roundRect">
              <a:avLst>
                <a:gd name="adj" fmla="val 16667"/>
              </a:avLst>
            </a:prstGeom>
            <a:solidFill>
              <a:srgbClr val="1B4DCC"/>
            </a:solidFill>
            <a:ln>
              <a:noFill/>
            </a:ln>
          </p:spPr>
          <p:txBody>
            <a:bodyPr spcFirstLastPara="1" wrap="square" lIns="162533" tIns="162533" rIns="162533" bIns="162533" anchor="ctr" anchorCtr="0">
              <a:noAutofit/>
            </a:bodyPr>
            <a:lstStyle/>
            <a:p>
              <a:pPr marL="22578" algn="ctr">
                <a:buClr>
                  <a:schemeClr val="dk1"/>
                </a:buClr>
                <a:buSzPts val="1100"/>
              </a:pPr>
              <a:r>
                <a:rPr lang="vi" sz="1422">
                  <a:solidFill>
                    <a:schemeClr val="lt1"/>
                  </a:solidFill>
                  <a:latin typeface="Inter Medium"/>
                  <a:ea typeface="Inter Medium"/>
                  <a:cs typeface="Inter Medium"/>
                  <a:sym typeface="Inter Medium"/>
                </a:rPr>
                <a:t>Business Automation</a:t>
              </a:r>
              <a:endParaRPr sz="2489"/>
            </a:p>
          </p:txBody>
        </p:sp>
      </p:grpSp>
      <p:grpSp>
        <p:nvGrpSpPr>
          <p:cNvPr id="457" name="Google Shape;457;p27"/>
          <p:cNvGrpSpPr/>
          <p:nvPr/>
        </p:nvGrpSpPr>
        <p:grpSpPr>
          <a:xfrm>
            <a:off x="8489002" y="5977714"/>
            <a:ext cx="3149822" cy="1566978"/>
            <a:chOff x="4775063" y="3362463"/>
            <a:chExt cx="1771775" cy="881425"/>
          </a:xfrm>
        </p:grpSpPr>
        <p:sp>
          <p:nvSpPr>
            <p:cNvPr id="458" name="Google Shape;458;p27"/>
            <p:cNvSpPr/>
            <p:nvPr/>
          </p:nvSpPr>
          <p:spPr>
            <a:xfrm>
              <a:off x="4775063" y="3423388"/>
              <a:ext cx="1766100" cy="820500"/>
            </a:xfrm>
            <a:prstGeom prst="roundRect">
              <a:avLst>
                <a:gd name="adj" fmla="val 6883"/>
              </a:avLst>
            </a:prstGeom>
            <a:solidFill>
              <a:schemeClr val="lt1"/>
            </a:solidFill>
            <a:ln>
              <a:noFill/>
            </a:ln>
            <a:effectLst>
              <a:outerShdw blurRad="57150" dist="19050" dir="5400000" algn="bl" rotWithShape="0">
                <a:srgbClr val="000000">
                  <a:alpha val="35000"/>
                </a:srgbClr>
              </a:outerShdw>
            </a:effectLst>
          </p:spPr>
          <p:txBody>
            <a:bodyPr spcFirstLastPara="1" wrap="square" lIns="162533" tIns="162533" rIns="162533" bIns="162533" anchor="ctr" anchorCtr="0">
              <a:noAutofit/>
            </a:bodyPr>
            <a:lstStyle/>
            <a:p>
              <a:pPr algn="ctr"/>
              <a:endParaRPr sz="2489"/>
            </a:p>
          </p:txBody>
        </p:sp>
        <p:sp>
          <p:nvSpPr>
            <p:cNvPr id="459" name="Google Shape;459;p27"/>
            <p:cNvSpPr txBox="1"/>
            <p:nvPr/>
          </p:nvSpPr>
          <p:spPr>
            <a:xfrm>
              <a:off x="4780738" y="3565100"/>
              <a:ext cx="1766100" cy="533806"/>
            </a:xfrm>
            <a:prstGeom prst="rect">
              <a:avLst/>
            </a:prstGeom>
            <a:noFill/>
            <a:ln>
              <a:noFill/>
            </a:ln>
          </p:spPr>
          <p:txBody>
            <a:bodyPr spcFirstLastPara="1" wrap="square" lIns="162533" tIns="162533" rIns="162533" bIns="162533" anchor="t" anchorCtr="0">
              <a:spAutoFit/>
            </a:bodyPr>
            <a:lstStyle/>
            <a:p>
              <a:pPr>
                <a:lnSpc>
                  <a:spcPct val="126000"/>
                </a:lnSpc>
              </a:pPr>
              <a:r>
                <a:rPr lang="vi" sz="1067">
                  <a:solidFill>
                    <a:srgbClr val="3D3D3D"/>
                  </a:solidFill>
                  <a:latin typeface="Plus Jakarta Sans Medium"/>
                  <a:ea typeface="Plus Jakarta Sans Medium"/>
                  <a:cs typeface="Plus Jakarta Sans Medium"/>
                  <a:sym typeface="Plus Jakarta Sans Medium"/>
                </a:rPr>
                <a:t>•Pentesting</a:t>
              </a:r>
              <a:endParaRPr sz="1067">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a:solidFill>
                    <a:srgbClr val="3D3D3D"/>
                  </a:solidFill>
                  <a:latin typeface="Plus Jakarta Sans Medium"/>
                  <a:ea typeface="Plus Jakarta Sans Medium"/>
                  <a:cs typeface="Plus Jakarta Sans Medium"/>
                  <a:sym typeface="Plus Jakarta Sans Medium"/>
                </a:rPr>
                <a:t>• Threat &amp; vulnerability management</a:t>
              </a:r>
              <a:endParaRPr sz="1067">
                <a:solidFill>
                  <a:srgbClr val="3D3D3D"/>
                </a:solidFill>
                <a:latin typeface="Plus Jakarta Sans Medium"/>
                <a:ea typeface="Plus Jakarta Sans Medium"/>
                <a:cs typeface="Plus Jakarta Sans Medium"/>
                <a:sym typeface="Plus Jakarta Sans Medium"/>
              </a:endParaRPr>
            </a:p>
            <a:p>
              <a:pPr>
                <a:lnSpc>
                  <a:spcPct val="125933"/>
                </a:lnSpc>
              </a:pPr>
              <a:r>
                <a:rPr lang="vi" sz="1067">
                  <a:solidFill>
                    <a:srgbClr val="3D3D3D"/>
                  </a:solidFill>
                  <a:latin typeface="Plus Jakarta Sans Medium"/>
                  <a:ea typeface="Plus Jakarta Sans Medium"/>
                  <a:cs typeface="Plus Jakarta Sans Medium"/>
                  <a:sym typeface="Plus Jakarta Sans Medium"/>
                </a:rPr>
                <a:t>• Security implementation service</a:t>
              </a:r>
              <a:endParaRPr sz="1067">
                <a:solidFill>
                  <a:srgbClr val="3D3D3D"/>
                </a:solidFill>
                <a:latin typeface="Plus Jakarta Sans Medium"/>
                <a:ea typeface="Plus Jakarta Sans Medium"/>
                <a:cs typeface="Plus Jakarta Sans Medium"/>
                <a:sym typeface="Plus Jakarta Sans Medium"/>
              </a:endParaRPr>
            </a:p>
          </p:txBody>
        </p:sp>
        <p:sp>
          <p:nvSpPr>
            <p:cNvPr id="460" name="Google Shape;460;p27"/>
            <p:cNvSpPr/>
            <p:nvPr/>
          </p:nvSpPr>
          <p:spPr>
            <a:xfrm>
              <a:off x="4777138" y="3362463"/>
              <a:ext cx="1766100" cy="236100"/>
            </a:xfrm>
            <a:prstGeom prst="roundRect">
              <a:avLst>
                <a:gd name="adj" fmla="val 16667"/>
              </a:avLst>
            </a:prstGeom>
            <a:solidFill>
              <a:srgbClr val="34B3EC"/>
            </a:solidFill>
            <a:ln>
              <a:noFill/>
            </a:ln>
          </p:spPr>
          <p:txBody>
            <a:bodyPr spcFirstLastPara="1" wrap="square" lIns="162533" tIns="162533" rIns="162533" bIns="162533" anchor="ctr" anchorCtr="0">
              <a:noAutofit/>
            </a:bodyPr>
            <a:lstStyle/>
            <a:p>
              <a:pPr marL="22578" algn="ctr">
                <a:buClr>
                  <a:schemeClr val="dk1"/>
                </a:buClr>
                <a:buSzPts val="1100"/>
              </a:pPr>
              <a:r>
                <a:rPr lang="vi" sz="1422">
                  <a:solidFill>
                    <a:schemeClr val="lt1"/>
                  </a:solidFill>
                  <a:latin typeface="Inter Medium"/>
                  <a:ea typeface="Inter Medium"/>
                  <a:cs typeface="Inter Medium"/>
                  <a:sym typeface="Inter Medium"/>
                </a:rPr>
                <a:t>Cyber Security</a:t>
              </a:r>
              <a:endParaRPr sz="1422">
                <a:solidFill>
                  <a:schemeClr val="lt1"/>
                </a:solidFill>
                <a:latin typeface="Inter Medium"/>
                <a:ea typeface="Inter Medium"/>
                <a:cs typeface="Inter Medium"/>
                <a:sym typeface="Inter Medium"/>
              </a:endParaRPr>
            </a:p>
          </p:txBody>
        </p:sp>
      </p:grpSp>
      <p:grpSp>
        <p:nvGrpSpPr>
          <p:cNvPr id="461" name="Google Shape;461;p27"/>
          <p:cNvGrpSpPr/>
          <p:nvPr/>
        </p:nvGrpSpPr>
        <p:grpSpPr>
          <a:xfrm>
            <a:off x="1942890" y="5977732"/>
            <a:ext cx="3149822" cy="1566956"/>
            <a:chOff x="1092875" y="3362475"/>
            <a:chExt cx="1771775" cy="881413"/>
          </a:xfrm>
        </p:grpSpPr>
        <p:sp>
          <p:nvSpPr>
            <p:cNvPr id="462" name="Google Shape;462;p27"/>
            <p:cNvSpPr/>
            <p:nvPr/>
          </p:nvSpPr>
          <p:spPr>
            <a:xfrm>
              <a:off x="1092875" y="3423388"/>
              <a:ext cx="1766100" cy="820500"/>
            </a:xfrm>
            <a:prstGeom prst="roundRect">
              <a:avLst>
                <a:gd name="adj" fmla="val 6883"/>
              </a:avLst>
            </a:prstGeom>
            <a:solidFill>
              <a:schemeClr val="lt1"/>
            </a:solidFill>
            <a:ln>
              <a:noFill/>
            </a:ln>
            <a:effectLst>
              <a:outerShdw blurRad="57150" dist="19050" dir="5400000" algn="bl" rotWithShape="0">
                <a:srgbClr val="000000">
                  <a:alpha val="35000"/>
                </a:srgbClr>
              </a:outerShdw>
            </a:effectLst>
          </p:spPr>
          <p:txBody>
            <a:bodyPr spcFirstLastPara="1" wrap="square" lIns="162533" tIns="162533" rIns="162533" bIns="162533" anchor="ctr" anchorCtr="0">
              <a:noAutofit/>
            </a:bodyPr>
            <a:lstStyle/>
            <a:p>
              <a:pPr algn="ctr"/>
              <a:endParaRPr sz="2489"/>
            </a:p>
          </p:txBody>
        </p:sp>
        <p:sp>
          <p:nvSpPr>
            <p:cNvPr id="463" name="Google Shape;463;p27"/>
            <p:cNvSpPr txBox="1"/>
            <p:nvPr/>
          </p:nvSpPr>
          <p:spPr>
            <a:xfrm>
              <a:off x="1098550" y="3565100"/>
              <a:ext cx="1766100" cy="533806"/>
            </a:xfrm>
            <a:prstGeom prst="rect">
              <a:avLst/>
            </a:prstGeom>
            <a:noFill/>
            <a:ln>
              <a:noFill/>
            </a:ln>
          </p:spPr>
          <p:txBody>
            <a:bodyPr spcFirstLastPara="1" wrap="square" lIns="162533" tIns="162533" rIns="162533" bIns="162533" anchor="t" anchorCtr="0">
              <a:spAutoFit/>
            </a:bodyPr>
            <a:lstStyle/>
            <a:p>
              <a:pPr>
                <a:lnSpc>
                  <a:spcPct val="126000"/>
                </a:lnSpc>
              </a:pPr>
              <a:r>
                <a:rPr lang="vi" sz="1067">
                  <a:solidFill>
                    <a:srgbClr val="3D3D3D"/>
                  </a:solidFill>
                  <a:latin typeface="Plus Jakarta Sans Medium"/>
                  <a:ea typeface="Plus Jakarta Sans Medium"/>
                  <a:cs typeface="Plus Jakarta Sans Medium"/>
                  <a:sym typeface="Plus Jakarta Sans Medium"/>
                </a:rPr>
                <a:t>•SAP</a:t>
              </a:r>
              <a:endParaRPr sz="1067">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a:solidFill>
                    <a:srgbClr val="3D3D3D"/>
                  </a:solidFill>
                  <a:latin typeface="Plus Jakarta Sans Medium"/>
                  <a:ea typeface="Plus Jakarta Sans Medium"/>
                  <a:cs typeface="Plus Jakarta Sans Medium"/>
                  <a:sym typeface="Plus Jakarta Sans Medium"/>
                </a:rPr>
                <a:t>• Odoo</a:t>
              </a:r>
              <a:endParaRPr sz="1067">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a:solidFill>
                    <a:srgbClr val="3D3D3D"/>
                  </a:solidFill>
                  <a:latin typeface="Plus Jakarta Sans Medium"/>
                  <a:ea typeface="Plus Jakarta Sans Medium"/>
                  <a:cs typeface="Plus Jakarta Sans Medium"/>
                  <a:sym typeface="Plus Jakarta Sans Medium"/>
                </a:rPr>
                <a:t>• Salesforce</a:t>
              </a:r>
              <a:endParaRPr sz="1067">
                <a:solidFill>
                  <a:srgbClr val="3D3D3D"/>
                </a:solidFill>
                <a:latin typeface="Plus Jakarta Sans Medium"/>
                <a:ea typeface="Plus Jakarta Sans Medium"/>
                <a:cs typeface="Plus Jakarta Sans Medium"/>
                <a:sym typeface="Plus Jakarta Sans Medium"/>
              </a:endParaRPr>
            </a:p>
          </p:txBody>
        </p:sp>
        <p:sp>
          <p:nvSpPr>
            <p:cNvPr id="464" name="Google Shape;464;p27"/>
            <p:cNvSpPr/>
            <p:nvPr/>
          </p:nvSpPr>
          <p:spPr>
            <a:xfrm>
              <a:off x="1094950" y="3362475"/>
              <a:ext cx="1766100" cy="236100"/>
            </a:xfrm>
            <a:prstGeom prst="roundRect">
              <a:avLst>
                <a:gd name="adj" fmla="val 16667"/>
              </a:avLst>
            </a:prstGeom>
            <a:solidFill>
              <a:srgbClr val="34B3EC"/>
            </a:solidFill>
            <a:ln>
              <a:noFill/>
            </a:ln>
          </p:spPr>
          <p:txBody>
            <a:bodyPr spcFirstLastPara="1" wrap="square" lIns="162533" tIns="162533" rIns="162533" bIns="162533" anchor="ctr" anchorCtr="0">
              <a:noAutofit/>
            </a:bodyPr>
            <a:lstStyle/>
            <a:p>
              <a:pPr marL="22578" algn="ctr">
                <a:buClr>
                  <a:schemeClr val="dk1"/>
                </a:buClr>
                <a:buSzPts val="1100"/>
              </a:pPr>
              <a:r>
                <a:rPr lang="vi" sz="1422">
                  <a:solidFill>
                    <a:schemeClr val="lt1"/>
                  </a:solidFill>
                  <a:latin typeface="Inter Medium"/>
                  <a:ea typeface="Inter Medium"/>
                  <a:cs typeface="Inter Medium"/>
                  <a:sym typeface="Inter Medium"/>
                </a:rPr>
                <a:t>ERP &amp; CRM</a:t>
              </a:r>
              <a:endParaRPr sz="1422">
                <a:solidFill>
                  <a:schemeClr val="lt1"/>
                </a:solidFill>
                <a:latin typeface="Inter Medium"/>
                <a:ea typeface="Inter Medium"/>
                <a:cs typeface="Inter Medium"/>
                <a:sym typeface="Inter Medium"/>
              </a:endParaRPr>
            </a:p>
          </p:txBody>
        </p:sp>
      </p:grpSp>
      <p:grpSp>
        <p:nvGrpSpPr>
          <p:cNvPr id="465" name="Google Shape;465;p27"/>
          <p:cNvGrpSpPr/>
          <p:nvPr/>
        </p:nvGrpSpPr>
        <p:grpSpPr>
          <a:xfrm>
            <a:off x="11762090" y="5939225"/>
            <a:ext cx="3149822" cy="1566978"/>
            <a:chOff x="6616175" y="3340813"/>
            <a:chExt cx="1771775" cy="881425"/>
          </a:xfrm>
        </p:grpSpPr>
        <p:sp>
          <p:nvSpPr>
            <p:cNvPr id="466" name="Google Shape;466;p27"/>
            <p:cNvSpPr/>
            <p:nvPr/>
          </p:nvSpPr>
          <p:spPr>
            <a:xfrm>
              <a:off x="6616175" y="3401738"/>
              <a:ext cx="1766100" cy="820500"/>
            </a:xfrm>
            <a:prstGeom prst="roundRect">
              <a:avLst>
                <a:gd name="adj" fmla="val 6883"/>
              </a:avLst>
            </a:prstGeom>
            <a:solidFill>
              <a:schemeClr val="lt1"/>
            </a:solidFill>
            <a:ln>
              <a:noFill/>
            </a:ln>
            <a:effectLst>
              <a:outerShdw blurRad="57150" dist="19050" dir="5400000" algn="bl" rotWithShape="0">
                <a:srgbClr val="000000">
                  <a:alpha val="35000"/>
                </a:srgbClr>
              </a:outerShdw>
            </a:effectLst>
          </p:spPr>
          <p:txBody>
            <a:bodyPr spcFirstLastPara="1" wrap="square" lIns="162533" tIns="162533" rIns="162533" bIns="162533" anchor="ctr" anchorCtr="0">
              <a:noAutofit/>
            </a:bodyPr>
            <a:lstStyle/>
            <a:p>
              <a:pPr algn="ctr"/>
              <a:endParaRPr sz="2489"/>
            </a:p>
          </p:txBody>
        </p:sp>
        <p:sp>
          <p:nvSpPr>
            <p:cNvPr id="467" name="Google Shape;467;p27"/>
            <p:cNvSpPr txBox="1"/>
            <p:nvPr/>
          </p:nvSpPr>
          <p:spPr>
            <a:xfrm>
              <a:off x="6621850" y="3543450"/>
              <a:ext cx="1766100" cy="533806"/>
            </a:xfrm>
            <a:prstGeom prst="rect">
              <a:avLst/>
            </a:prstGeom>
            <a:noFill/>
            <a:ln>
              <a:noFill/>
            </a:ln>
          </p:spPr>
          <p:txBody>
            <a:bodyPr spcFirstLastPara="1" wrap="square" lIns="162533" tIns="162533" rIns="162533" bIns="162533" anchor="t" anchorCtr="0">
              <a:spAutoFit/>
            </a:bodyPr>
            <a:lstStyle/>
            <a:p>
              <a:pPr>
                <a:lnSpc>
                  <a:spcPct val="126000"/>
                </a:lnSpc>
              </a:pPr>
              <a:r>
                <a:rPr lang="vi" sz="1067">
                  <a:solidFill>
                    <a:srgbClr val="3D3D3D"/>
                  </a:solidFill>
                  <a:latin typeface="Plus Jakarta Sans Medium"/>
                  <a:ea typeface="Plus Jakarta Sans Medium"/>
                  <a:cs typeface="Plus Jakarta Sans Medium"/>
                  <a:sym typeface="Plus Jakarta Sans Medium"/>
                </a:rPr>
                <a:t>• Self-build ecommerce development</a:t>
              </a:r>
              <a:endParaRPr sz="1067">
                <a:solidFill>
                  <a:srgbClr val="3D3D3D"/>
                </a:solidFill>
                <a:latin typeface="Plus Jakarta Sans Medium"/>
                <a:ea typeface="Plus Jakarta Sans Medium"/>
                <a:cs typeface="Plus Jakarta Sans Medium"/>
                <a:sym typeface="Plus Jakarta Sans Medium"/>
              </a:endParaRPr>
            </a:p>
            <a:p>
              <a:pPr>
                <a:lnSpc>
                  <a:spcPct val="125933"/>
                </a:lnSpc>
                <a:buClr>
                  <a:schemeClr val="dk1"/>
                </a:buClr>
                <a:buSzPts val="1100"/>
              </a:pPr>
              <a:r>
                <a:rPr lang="vi" sz="1067">
                  <a:solidFill>
                    <a:srgbClr val="3D3D3D"/>
                  </a:solidFill>
                  <a:latin typeface="Plus Jakarta Sans Medium"/>
                  <a:ea typeface="Plus Jakarta Sans Medium"/>
                  <a:cs typeface="Plus Jakarta Sans Medium"/>
                  <a:sym typeface="Plus Jakarta Sans Medium"/>
                </a:rPr>
                <a:t>• Platform-based ecommerce</a:t>
              </a:r>
              <a:endParaRPr sz="1067">
                <a:solidFill>
                  <a:srgbClr val="3D3D3D"/>
                </a:solidFill>
                <a:latin typeface="Plus Jakarta Sans Medium"/>
                <a:ea typeface="Plus Jakarta Sans Medium"/>
                <a:cs typeface="Plus Jakarta Sans Medium"/>
                <a:sym typeface="Plus Jakarta Sans Medium"/>
              </a:endParaRPr>
            </a:p>
            <a:p>
              <a:pPr>
                <a:lnSpc>
                  <a:spcPct val="125933"/>
                </a:lnSpc>
              </a:pPr>
              <a:r>
                <a:rPr lang="vi" sz="1067">
                  <a:solidFill>
                    <a:srgbClr val="3D3D3D"/>
                  </a:solidFill>
                  <a:latin typeface="Plus Jakarta Sans Medium"/>
                  <a:ea typeface="Plus Jakarta Sans Medium"/>
                  <a:cs typeface="Plus Jakarta Sans Medium"/>
                  <a:sym typeface="Plus Jakarta Sans Medium"/>
                </a:rPr>
                <a:t>development</a:t>
              </a:r>
              <a:endParaRPr sz="1067">
                <a:solidFill>
                  <a:srgbClr val="3D3D3D"/>
                </a:solidFill>
                <a:latin typeface="Plus Jakarta Sans Medium"/>
                <a:ea typeface="Plus Jakarta Sans Medium"/>
                <a:cs typeface="Plus Jakarta Sans Medium"/>
                <a:sym typeface="Plus Jakarta Sans Medium"/>
              </a:endParaRPr>
            </a:p>
          </p:txBody>
        </p:sp>
        <p:sp>
          <p:nvSpPr>
            <p:cNvPr id="468" name="Google Shape;468;p27"/>
            <p:cNvSpPr/>
            <p:nvPr/>
          </p:nvSpPr>
          <p:spPr>
            <a:xfrm>
              <a:off x="6618250" y="3340813"/>
              <a:ext cx="1766100" cy="236100"/>
            </a:xfrm>
            <a:prstGeom prst="roundRect">
              <a:avLst>
                <a:gd name="adj" fmla="val 16667"/>
              </a:avLst>
            </a:prstGeom>
            <a:solidFill>
              <a:srgbClr val="1B4DCC"/>
            </a:solidFill>
            <a:ln>
              <a:noFill/>
            </a:ln>
          </p:spPr>
          <p:txBody>
            <a:bodyPr spcFirstLastPara="1" wrap="square" lIns="162533" tIns="162533" rIns="162533" bIns="162533" anchor="ctr" anchorCtr="0">
              <a:noAutofit/>
            </a:bodyPr>
            <a:lstStyle/>
            <a:p>
              <a:pPr marL="22578" algn="ctr">
                <a:buClr>
                  <a:schemeClr val="dk1"/>
                </a:buClr>
                <a:buSzPts val="1100"/>
              </a:pPr>
              <a:r>
                <a:rPr lang="vi" sz="1422">
                  <a:solidFill>
                    <a:schemeClr val="lt1"/>
                  </a:solidFill>
                  <a:latin typeface="Inter Medium"/>
                  <a:ea typeface="Inter Medium"/>
                  <a:cs typeface="Inter Medium"/>
                  <a:sym typeface="Inter Medium"/>
                </a:rPr>
                <a:t>Ecommerce</a:t>
              </a:r>
              <a:endParaRPr sz="2489"/>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pic>
        <p:nvPicPr>
          <p:cNvPr id="2" name="Picture 1">
            <a:extLst>
              <a:ext uri="{FF2B5EF4-FFF2-40B4-BE49-F238E27FC236}">
                <a16:creationId xmlns:a16="http://schemas.microsoft.com/office/drawing/2014/main" id="{24642464-C260-A031-C153-F47DDA46B59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6372352"/>
            <a:ext cx="16256000" cy="2801080"/>
          </a:xfrm>
          <a:prstGeom prst="rect">
            <a:avLst/>
          </a:prstGeom>
        </p:spPr>
      </p:pic>
      <p:sp>
        <p:nvSpPr>
          <p:cNvPr id="576" name="Google Shape;576;p32"/>
          <p:cNvSpPr txBox="1">
            <a:spLocks noGrp="1"/>
          </p:cNvSpPr>
          <p:nvPr>
            <p:ph type="ctrTitle"/>
          </p:nvPr>
        </p:nvSpPr>
        <p:spPr>
          <a:xfrm>
            <a:off x="288089" y="3408957"/>
            <a:ext cx="4448000" cy="405250"/>
          </a:xfrm>
          <a:prstGeom prst="rect">
            <a:avLst/>
          </a:prstGeom>
          <a:noFill/>
          <a:ln>
            <a:noFill/>
          </a:ln>
        </p:spPr>
        <p:txBody>
          <a:bodyPr spcFirstLastPara="1" wrap="square" lIns="0" tIns="12711" rIns="0" bIns="0" anchor="t" anchorCtr="0">
            <a:spAutoFit/>
          </a:bodyPr>
          <a:lstStyle/>
          <a:p>
            <a:pPr>
              <a:lnSpc>
                <a:spcPct val="150000"/>
              </a:lnSpc>
              <a:spcBef>
                <a:spcPts val="489"/>
              </a:spcBef>
              <a:buClr>
                <a:schemeClr val="dk1"/>
              </a:buClr>
              <a:buSzPts val="1100"/>
            </a:pPr>
            <a:r>
              <a:rPr lang="vi" sz="1422">
                <a:latin typeface="Plus Jakarta Sans"/>
                <a:ea typeface="Plus Jakarta Sans"/>
                <a:cs typeface="Plus Jakarta Sans"/>
                <a:sym typeface="Plus Jakarta Sans"/>
              </a:rPr>
              <a:t>COMPUTER VISION</a:t>
            </a:r>
            <a:endParaRPr sz="1422">
              <a:solidFill>
                <a:srgbClr val="404040"/>
              </a:solidFill>
              <a:latin typeface="Plus Jakarta Sans"/>
              <a:ea typeface="Plus Jakarta Sans"/>
              <a:cs typeface="Plus Jakarta Sans"/>
              <a:sym typeface="Plus Jakarta Sans"/>
            </a:endParaRPr>
          </a:p>
        </p:txBody>
      </p:sp>
      <p:sp>
        <p:nvSpPr>
          <p:cNvPr id="577" name="Google Shape;577;p32"/>
          <p:cNvSpPr txBox="1">
            <a:spLocks noGrp="1"/>
          </p:cNvSpPr>
          <p:nvPr>
            <p:ph type="ctrTitle"/>
          </p:nvPr>
        </p:nvSpPr>
        <p:spPr>
          <a:xfrm>
            <a:off x="4529534" y="3367511"/>
            <a:ext cx="3365867" cy="797602"/>
          </a:xfrm>
          <a:prstGeom prst="rect">
            <a:avLst/>
          </a:prstGeom>
          <a:noFill/>
          <a:ln>
            <a:noFill/>
          </a:ln>
        </p:spPr>
        <p:txBody>
          <a:bodyPr spcFirstLastPara="1" wrap="square" lIns="0" tIns="12711" rIns="0" bIns="0" anchor="t" anchorCtr="0">
            <a:spAutoFit/>
          </a:bodyPr>
          <a:lstStyle/>
          <a:p>
            <a:pPr>
              <a:spcBef>
                <a:spcPts val="489"/>
              </a:spcBef>
              <a:buSzPts val="1100"/>
            </a:pPr>
            <a:r>
              <a:rPr lang="vi" sz="1422">
                <a:latin typeface="Plus Jakarta Sans"/>
                <a:ea typeface="Plus Jakarta Sans"/>
                <a:cs typeface="Plus Jakarta Sans"/>
                <a:sym typeface="Plus Jakarta Sans"/>
              </a:rPr>
              <a:t>AI CONSERVATIONAL &amp; </a:t>
            </a:r>
            <a:endParaRPr sz="1422">
              <a:latin typeface="Plus Jakarta Sans"/>
              <a:ea typeface="Plus Jakarta Sans"/>
              <a:cs typeface="Plus Jakarta Sans"/>
              <a:sym typeface="Plus Jakarta Sans"/>
            </a:endParaRPr>
          </a:p>
          <a:p>
            <a:pPr>
              <a:spcBef>
                <a:spcPts val="489"/>
              </a:spcBef>
              <a:buClr>
                <a:schemeClr val="dk1"/>
              </a:buClr>
              <a:buSzPts val="1100"/>
            </a:pPr>
            <a:r>
              <a:rPr lang="vi" sz="1422">
                <a:latin typeface="Plus Jakarta Sans"/>
                <a:ea typeface="Plus Jakarta Sans"/>
                <a:cs typeface="Plus Jakarta Sans"/>
                <a:sym typeface="Plus Jakarta Sans"/>
              </a:rPr>
              <a:t>NATURAL LANGUAGE PROCESSING (NLP)</a:t>
            </a:r>
            <a:endParaRPr sz="1422">
              <a:solidFill>
                <a:srgbClr val="404040"/>
              </a:solidFill>
              <a:latin typeface="Plus Jakarta Sans"/>
              <a:ea typeface="Plus Jakarta Sans"/>
              <a:cs typeface="Plus Jakarta Sans"/>
              <a:sym typeface="Plus Jakarta Sans"/>
            </a:endParaRPr>
          </a:p>
        </p:txBody>
      </p:sp>
      <p:sp>
        <p:nvSpPr>
          <p:cNvPr id="578" name="Google Shape;578;p32"/>
          <p:cNvSpPr txBox="1">
            <a:spLocks noGrp="1"/>
          </p:cNvSpPr>
          <p:nvPr>
            <p:ph type="ctrTitle"/>
          </p:nvPr>
        </p:nvSpPr>
        <p:spPr>
          <a:xfrm>
            <a:off x="8326557" y="3408956"/>
            <a:ext cx="3098133" cy="231678"/>
          </a:xfrm>
          <a:prstGeom prst="rect">
            <a:avLst/>
          </a:prstGeom>
          <a:noFill/>
          <a:ln>
            <a:noFill/>
          </a:ln>
        </p:spPr>
        <p:txBody>
          <a:bodyPr spcFirstLastPara="1" wrap="square" lIns="0" tIns="12711" rIns="0" bIns="0" anchor="t" anchorCtr="0">
            <a:spAutoFit/>
          </a:bodyPr>
          <a:lstStyle/>
          <a:p>
            <a:pPr>
              <a:buSzPts val="800"/>
            </a:pPr>
            <a:r>
              <a:rPr lang="vi" sz="1422">
                <a:solidFill>
                  <a:srgbClr val="404040"/>
                </a:solidFill>
                <a:latin typeface="Plus Jakarta Sans"/>
                <a:ea typeface="Plus Jakarta Sans"/>
                <a:cs typeface="Plus Jakarta Sans"/>
                <a:sym typeface="Plus Jakarta Sans"/>
              </a:rPr>
              <a:t>DATA ANALYTICS</a:t>
            </a:r>
            <a:endParaRPr sz="1422">
              <a:solidFill>
                <a:srgbClr val="404040"/>
              </a:solidFill>
              <a:latin typeface="Plus Jakarta Sans"/>
              <a:ea typeface="Plus Jakarta Sans"/>
              <a:cs typeface="Plus Jakarta Sans"/>
              <a:sym typeface="Plus Jakarta Sans"/>
            </a:endParaRPr>
          </a:p>
        </p:txBody>
      </p:sp>
      <p:sp>
        <p:nvSpPr>
          <p:cNvPr id="579" name="Google Shape;579;p32"/>
          <p:cNvSpPr txBox="1"/>
          <p:nvPr/>
        </p:nvSpPr>
        <p:spPr>
          <a:xfrm>
            <a:off x="904756" y="3949268"/>
            <a:ext cx="3453333" cy="1982605"/>
          </a:xfrm>
          <a:prstGeom prst="rect">
            <a:avLst/>
          </a:prstGeom>
          <a:noFill/>
          <a:ln>
            <a:noFill/>
          </a:ln>
        </p:spPr>
        <p:txBody>
          <a:bodyPr spcFirstLastPara="1" wrap="square" lIns="0" tIns="12711" rIns="0" bIns="0" anchor="t" anchorCtr="0">
            <a:spAutoFit/>
          </a:bodyPr>
          <a:lstStyle/>
          <a:p>
            <a:pPr marL="371203" indent="-307915">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OCR (Optical character recognition)</a:t>
            </a:r>
            <a:endParaRPr sz="1422">
              <a:solidFill>
                <a:srgbClr val="3D3D3D"/>
              </a:solidFill>
              <a:latin typeface="Plus Jakarta Sans"/>
              <a:ea typeface="Plus Jakarta Sans"/>
              <a:cs typeface="Plus Jakarta Sans"/>
              <a:sym typeface="Plus Jakarta Sans"/>
            </a:endParaRPr>
          </a:p>
          <a:p>
            <a:pPr marL="371203" indent="-307915">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eKYC (Electronic know your customer)</a:t>
            </a:r>
            <a:endParaRPr sz="1422">
              <a:solidFill>
                <a:srgbClr val="3D3D3D"/>
              </a:solidFill>
              <a:latin typeface="Plus Jakarta Sans"/>
              <a:ea typeface="Plus Jakarta Sans"/>
              <a:cs typeface="Plus Jakarta Sans"/>
              <a:sym typeface="Plus Jakarta Sans"/>
            </a:endParaRPr>
          </a:p>
          <a:p>
            <a:pPr marL="371203" indent="-307915">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Vision inspection</a:t>
            </a:r>
            <a:endParaRPr sz="1422">
              <a:solidFill>
                <a:srgbClr val="3D3D3D"/>
              </a:solidFill>
              <a:latin typeface="Plus Jakarta Sans"/>
              <a:ea typeface="Plus Jakarta Sans"/>
              <a:cs typeface="Plus Jakarta Sans"/>
              <a:sym typeface="Plus Jakarta Sans"/>
            </a:endParaRPr>
          </a:p>
          <a:p>
            <a:pPr marL="371203" indent="-307915">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Smart insight</a:t>
            </a:r>
            <a:endParaRPr sz="1244">
              <a:solidFill>
                <a:srgbClr val="3D3D3D"/>
              </a:solidFill>
              <a:latin typeface="Meiryo"/>
              <a:ea typeface="Meiryo"/>
              <a:cs typeface="Meiryo"/>
              <a:sym typeface="Meiryo"/>
            </a:endParaRPr>
          </a:p>
        </p:txBody>
      </p:sp>
      <p:sp>
        <p:nvSpPr>
          <p:cNvPr id="580" name="Google Shape;580;p32"/>
          <p:cNvSpPr txBox="1"/>
          <p:nvPr/>
        </p:nvSpPr>
        <p:spPr>
          <a:xfrm>
            <a:off x="5226912" y="4310556"/>
            <a:ext cx="2270933" cy="1326015"/>
          </a:xfrm>
          <a:prstGeom prst="rect">
            <a:avLst/>
          </a:prstGeom>
          <a:noFill/>
          <a:ln>
            <a:noFill/>
          </a:ln>
        </p:spPr>
        <p:txBody>
          <a:bodyPr spcFirstLastPara="1" wrap="square" lIns="0" tIns="12711" rIns="0" bIns="0" anchor="t" anchorCtr="0">
            <a:spAutoFit/>
          </a:bodyPr>
          <a:lstStyle/>
          <a:p>
            <a:pPr marL="371203" indent="-307915" algn="just">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Text to speech</a:t>
            </a:r>
            <a:endParaRPr sz="1422">
              <a:solidFill>
                <a:srgbClr val="3D3D3D"/>
              </a:solidFill>
              <a:latin typeface="Plus Jakarta Sans"/>
              <a:ea typeface="Plus Jakarta Sans"/>
              <a:cs typeface="Plus Jakarta Sans"/>
              <a:sym typeface="Plus Jakarta Sans"/>
            </a:endParaRPr>
          </a:p>
          <a:p>
            <a:pPr marL="371203" indent="-307915" algn="just">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Chatbots</a:t>
            </a:r>
            <a:endParaRPr sz="1422">
              <a:solidFill>
                <a:srgbClr val="3D3D3D"/>
              </a:solidFill>
              <a:latin typeface="Plus Jakarta Sans"/>
              <a:ea typeface="Plus Jakarta Sans"/>
              <a:cs typeface="Plus Jakarta Sans"/>
              <a:sym typeface="Plus Jakarta Sans"/>
            </a:endParaRPr>
          </a:p>
          <a:p>
            <a:pPr marL="371203" indent="-307915" algn="just">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Voice processing</a:t>
            </a:r>
            <a:endParaRPr sz="1422">
              <a:solidFill>
                <a:srgbClr val="3D3D3D"/>
              </a:solidFill>
              <a:latin typeface="Plus Jakarta Sans"/>
              <a:ea typeface="Plus Jakarta Sans"/>
              <a:cs typeface="Plus Jakarta Sans"/>
              <a:sym typeface="Plus Jakarta Sans"/>
            </a:endParaRPr>
          </a:p>
          <a:p>
            <a:pPr marL="371203" indent="-307915" algn="just">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Speech to text</a:t>
            </a:r>
            <a:endParaRPr sz="1244">
              <a:solidFill>
                <a:srgbClr val="3D3D3D"/>
              </a:solidFill>
              <a:latin typeface="Meiryo"/>
              <a:ea typeface="Meiryo"/>
              <a:cs typeface="Meiryo"/>
              <a:sym typeface="Meiryo"/>
            </a:endParaRPr>
          </a:p>
        </p:txBody>
      </p:sp>
      <p:sp>
        <p:nvSpPr>
          <p:cNvPr id="581" name="Google Shape;581;p32"/>
          <p:cNvSpPr txBox="1"/>
          <p:nvPr/>
        </p:nvSpPr>
        <p:spPr>
          <a:xfrm>
            <a:off x="8443623" y="4069668"/>
            <a:ext cx="2864000" cy="1654310"/>
          </a:xfrm>
          <a:prstGeom prst="rect">
            <a:avLst/>
          </a:prstGeom>
          <a:noFill/>
          <a:ln>
            <a:noFill/>
          </a:ln>
        </p:spPr>
        <p:txBody>
          <a:bodyPr spcFirstLastPara="1" wrap="square" lIns="0" tIns="12711" rIns="0" bIns="0" anchor="t" anchorCtr="0">
            <a:spAutoFit/>
          </a:bodyPr>
          <a:lstStyle/>
          <a:p>
            <a:pPr marL="371203" indent="-307915">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Anomaly detection &amp; analytics</a:t>
            </a:r>
            <a:endParaRPr sz="1422">
              <a:solidFill>
                <a:srgbClr val="3D3D3D"/>
              </a:solidFill>
              <a:latin typeface="Plus Jakarta Sans"/>
              <a:ea typeface="Plus Jakarta Sans"/>
              <a:cs typeface="Plus Jakarta Sans"/>
              <a:sym typeface="Plus Jakarta Sans"/>
            </a:endParaRPr>
          </a:p>
          <a:p>
            <a:pPr marL="371203" indent="-307915">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Predictive maintenance</a:t>
            </a:r>
            <a:endParaRPr sz="1422">
              <a:solidFill>
                <a:srgbClr val="3D3D3D"/>
              </a:solidFill>
              <a:latin typeface="Plus Jakarta Sans"/>
              <a:ea typeface="Plus Jakarta Sans"/>
              <a:cs typeface="Plus Jakarta Sans"/>
              <a:sym typeface="Plus Jakarta Sans"/>
            </a:endParaRPr>
          </a:p>
          <a:p>
            <a:pPr marL="371203" indent="-307915">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Demand forecasting</a:t>
            </a:r>
            <a:endParaRPr sz="1422">
              <a:solidFill>
                <a:srgbClr val="3D3D3D"/>
              </a:solidFill>
              <a:latin typeface="Plus Jakarta Sans"/>
              <a:ea typeface="Plus Jakarta Sans"/>
              <a:cs typeface="Plus Jakarta Sans"/>
              <a:sym typeface="Plus Jakarta Sans"/>
            </a:endParaRPr>
          </a:p>
          <a:p>
            <a:pPr marL="371203" indent="-307915">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Recommendation</a:t>
            </a:r>
            <a:endParaRPr sz="1422">
              <a:solidFill>
                <a:srgbClr val="3D3D3D"/>
              </a:solidFill>
              <a:latin typeface="Plus Jakarta Sans"/>
              <a:ea typeface="Plus Jakarta Sans"/>
              <a:cs typeface="Plus Jakarta Sans"/>
              <a:sym typeface="Plus Jakarta Sans"/>
            </a:endParaRPr>
          </a:p>
        </p:txBody>
      </p:sp>
      <p:pic>
        <p:nvPicPr>
          <p:cNvPr id="582" name="Google Shape;582;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4594890" y="120000"/>
            <a:ext cx="1485865" cy="954059"/>
          </a:xfrm>
          <a:prstGeom prst="rect">
            <a:avLst/>
          </a:prstGeom>
          <a:noFill/>
          <a:ln>
            <a:noFill/>
          </a:ln>
        </p:spPr>
      </p:pic>
      <p:cxnSp>
        <p:nvCxnSpPr>
          <p:cNvPr id="583" name="Google Shape;583;p32"/>
          <p:cNvCxnSpPr/>
          <p:nvPr/>
        </p:nvCxnSpPr>
        <p:spPr>
          <a:xfrm>
            <a:off x="1653600" y="8395111"/>
            <a:ext cx="0" cy="419733"/>
          </a:xfrm>
          <a:prstGeom prst="straightConnector1">
            <a:avLst/>
          </a:prstGeom>
          <a:noFill/>
          <a:ln w="9525" cap="flat" cmpd="sng">
            <a:solidFill>
              <a:schemeClr val="lt1"/>
            </a:solidFill>
            <a:prstDash val="solid"/>
            <a:round/>
            <a:headEnd type="none" w="med" len="med"/>
            <a:tailEnd type="none" w="med" len="med"/>
          </a:ln>
        </p:spPr>
      </p:cxnSp>
      <p:sp>
        <p:nvSpPr>
          <p:cNvPr id="584" name="Google Shape;584;p32"/>
          <p:cNvSpPr txBox="1"/>
          <p:nvPr/>
        </p:nvSpPr>
        <p:spPr>
          <a:xfrm>
            <a:off x="1769555" y="8432445"/>
            <a:ext cx="5353067" cy="267359"/>
          </a:xfrm>
          <a:prstGeom prst="rect">
            <a:avLst/>
          </a:prstGeom>
          <a:noFill/>
          <a:ln>
            <a:noFill/>
          </a:ln>
        </p:spPr>
        <p:txBody>
          <a:bodyPr spcFirstLastPara="1" wrap="square" lIns="0" tIns="20933" rIns="0" bIns="0" anchor="t" anchorCtr="0">
            <a:spAutoFit/>
          </a:bodyPr>
          <a:lstStyle/>
          <a:p>
            <a:pPr marL="22578">
              <a:buSzPts val="700"/>
            </a:pPr>
            <a:r>
              <a:rPr lang="vi" sz="1600">
                <a:solidFill>
                  <a:schemeClr val="lt1"/>
                </a:solidFill>
                <a:latin typeface="Inter"/>
                <a:ea typeface="Inter"/>
                <a:cs typeface="Inter"/>
                <a:sym typeface="Inter"/>
              </a:rPr>
              <a:t>Corporate Profile - For Software Development</a:t>
            </a:r>
            <a:endParaRPr sz="1600">
              <a:solidFill>
                <a:schemeClr val="lt1"/>
              </a:solidFill>
              <a:latin typeface="Inter"/>
              <a:ea typeface="Inter"/>
              <a:cs typeface="Inter"/>
              <a:sym typeface="Inter"/>
            </a:endParaRPr>
          </a:p>
        </p:txBody>
      </p:sp>
      <p:sp>
        <p:nvSpPr>
          <p:cNvPr id="585" name="Google Shape;585;p32"/>
          <p:cNvSpPr txBox="1"/>
          <p:nvPr/>
        </p:nvSpPr>
        <p:spPr>
          <a:xfrm>
            <a:off x="872535" y="8216178"/>
            <a:ext cx="846400" cy="699733"/>
          </a:xfrm>
          <a:prstGeom prst="rect">
            <a:avLst/>
          </a:prstGeom>
          <a:noFill/>
          <a:ln>
            <a:noFill/>
          </a:ln>
        </p:spPr>
        <p:txBody>
          <a:bodyPr spcFirstLastPara="1" wrap="square" lIns="162533" tIns="162533" rIns="162533" bIns="162533" anchor="ctr" anchorCtr="0">
            <a:noAutofit/>
          </a:bodyPr>
          <a:lstStyle/>
          <a:p>
            <a:pPr algn="ctr"/>
            <a:fld id="{00000000-1234-1234-1234-123412341234}" type="slidenum">
              <a:rPr lang="vi" sz="2844">
                <a:solidFill>
                  <a:schemeClr val="lt1"/>
                </a:solidFill>
                <a:latin typeface="Inter"/>
                <a:ea typeface="Inter"/>
                <a:cs typeface="Inter"/>
                <a:sym typeface="Inter"/>
              </a:rPr>
              <a:pPr algn="ctr"/>
              <a:t>11</a:t>
            </a:fld>
            <a:endParaRPr sz="2844">
              <a:solidFill>
                <a:schemeClr val="lt1"/>
              </a:solidFill>
              <a:latin typeface="Inter"/>
              <a:ea typeface="Inter"/>
              <a:cs typeface="Inter"/>
              <a:sym typeface="Inter"/>
            </a:endParaRPr>
          </a:p>
        </p:txBody>
      </p:sp>
      <p:cxnSp>
        <p:nvCxnSpPr>
          <p:cNvPr id="586" name="Google Shape;586;p32"/>
          <p:cNvCxnSpPr/>
          <p:nvPr/>
        </p:nvCxnSpPr>
        <p:spPr>
          <a:xfrm>
            <a:off x="872533" y="517333"/>
            <a:ext cx="0" cy="305600"/>
          </a:xfrm>
          <a:prstGeom prst="straightConnector1">
            <a:avLst/>
          </a:prstGeom>
          <a:noFill/>
          <a:ln w="9525" cap="flat" cmpd="sng">
            <a:solidFill>
              <a:srgbClr val="3D3D3D"/>
            </a:solidFill>
            <a:prstDash val="solid"/>
            <a:round/>
            <a:headEnd type="none" w="med" len="med"/>
            <a:tailEnd type="none" w="med" len="med"/>
          </a:ln>
        </p:spPr>
      </p:cxnSp>
      <p:sp>
        <p:nvSpPr>
          <p:cNvPr id="587" name="Google Shape;587;p32"/>
          <p:cNvSpPr txBox="1"/>
          <p:nvPr/>
        </p:nvSpPr>
        <p:spPr>
          <a:xfrm>
            <a:off x="872534" y="371111"/>
            <a:ext cx="5494933" cy="369067"/>
          </a:xfrm>
          <a:prstGeom prst="rect">
            <a:avLst/>
          </a:prstGeom>
          <a:noFill/>
          <a:ln>
            <a:noFill/>
          </a:ln>
        </p:spPr>
        <p:txBody>
          <a:bodyPr spcFirstLastPara="1" wrap="square" lIns="162533" tIns="162533" rIns="162533" bIns="162533" anchor="t" anchorCtr="0">
            <a:noAutofit/>
          </a:bodyPr>
          <a:lstStyle/>
          <a:p>
            <a:r>
              <a:rPr lang="vi" sz="1956" b="1">
                <a:solidFill>
                  <a:srgbClr val="3D3D3D"/>
                </a:solidFill>
                <a:latin typeface="Inter"/>
                <a:ea typeface="Inter"/>
                <a:cs typeface="Inter"/>
                <a:sym typeface="Inter"/>
              </a:rPr>
              <a:t>AI SERVICE</a:t>
            </a:r>
            <a:endParaRPr sz="1956" b="1">
              <a:solidFill>
                <a:srgbClr val="3D3D3D"/>
              </a:solidFill>
              <a:latin typeface="Inter"/>
              <a:ea typeface="Inter"/>
              <a:cs typeface="Inter"/>
              <a:sym typeface="Inter"/>
            </a:endParaRPr>
          </a:p>
          <a:p>
            <a:endParaRPr sz="1956" b="1">
              <a:solidFill>
                <a:srgbClr val="3D3D3D"/>
              </a:solidFill>
              <a:latin typeface="Inter"/>
              <a:ea typeface="Inter"/>
              <a:cs typeface="Inter"/>
              <a:sym typeface="Inter"/>
            </a:endParaRPr>
          </a:p>
          <a:p>
            <a:endParaRPr sz="1956" b="1">
              <a:solidFill>
                <a:srgbClr val="3D3D3D"/>
              </a:solidFill>
              <a:latin typeface="Inter"/>
              <a:ea typeface="Inter"/>
              <a:cs typeface="Inter"/>
              <a:sym typeface="Inter"/>
            </a:endParaRPr>
          </a:p>
        </p:txBody>
      </p:sp>
      <p:pic>
        <p:nvPicPr>
          <p:cNvPr id="588" name="Google Shape;588;p3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834046" y="1146490"/>
            <a:ext cx="3366092" cy="1859351"/>
          </a:xfrm>
          <a:prstGeom prst="rect">
            <a:avLst/>
          </a:prstGeom>
          <a:noFill/>
          <a:ln>
            <a:noFill/>
          </a:ln>
        </p:spPr>
      </p:pic>
      <p:pic>
        <p:nvPicPr>
          <p:cNvPr id="589" name="Google Shape;589;p3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497199" y="1146504"/>
            <a:ext cx="3366092" cy="1859351"/>
          </a:xfrm>
          <a:prstGeom prst="rect">
            <a:avLst/>
          </a:prstGeom>
          <a:noFill/>
          <a:ln>
            <a:noFill/>
          </a:ln>
        </p:spPr>
      </p:pic>
      <p:pic>
        <p:nvPicPr>
          <p:cNvPr id="590" name="Google Shape;590;p3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8160353" y="1146490"/>
            <a:ext cx="3366092" cy="1859351"/>
          </a:xfrm>
          <a:prstGeom prst="rect">
            <a:avLst/>
          </a:prstGeom>
          <a:noFill/>
          <a:ln>
            <a:noFill/>
          </a:ln>
        </p:spPr>
      </p:pic>
      <p:pic>
        <p:nvPicPr>
          <p:cNvPr id="591" name="Google Shape;591;p3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2086400" y="2537998"/>
            <a:ext cx="846400" cy="846400"/>
          </a:xfrm>
          <a:prstGeom prst="rect">
            <a:avLst/>
          </a:prstGeom>
          <a:noFill/>
          <a:ln>
            <a:noFill/>
          </a:ln>
        </p:spPr>
      </p:pic>
      <p:pic>
        <p:nvPicPr>
          <p:cNvPr id="592" name="Google Shape;592;p3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757045" y="2538018"/>
            <a:ext cx="846400" cy="846400"/>
          </a:xfrm>
          <a:prstGeom prst="rect">
            <a:avLst/>
          </a:prstGeom>
          <a:noFill/>
          <a:ln>
            <a:noFill/>
          </a:ln>
        </p:spPr>
      </p:pic>
      <p:pic>
        <p:nvPicPr>
          <p:cNvPr id="593" name="Google Shape;593;p32"/>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9370622" y="2537996"/>
            <a:ext cx="846400" cy="846400"/>
          </a:xfrm>
          <a:prstGeom prst="rect">
            <a:avLst/>
          </a:prstGeom>
          <a:noFill/>
          <a:ln>
            <a:noFill/>
          </a:ln>
        </p:spPr>
      </p:pic>
      <p:pic>
        <p:nvPicPr>
          <p:cNvPr id="594" name="Google Shape;594;p32"/>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14108754" y="14126743"/>
            <a:ext cx="3944000" cy="1340400"/>
          </a:xfrm>
          <a:prstGeom prst="rect">
            <a:avLst/>
          </a:prstGeom>
          <a:noFill/>
          <a:ln>
            <a:noFill/>
          </a:ln>
        </p:spPr>
      </p:pic>
      <p:sp>
        <p:nvSpPr>
          <p:cNvPr id="595" name="Google Shape;595;p32"/>
          <p:cNvSpPr txBox="1"/>
          <p:nvPr/>
        </p:nvSpPr>
        <p:spPr>
          <a:xfrm>
            <a:off x="9182398" y="14009365"/>
            <a:ext cx="4448000" cy="874418"/>
          </a:xfrm>
          <a:prstGeom prst="rect">
            <a:avLst/>
          </a:prstGeom>
          <a:noFill/>
          <a:ln>
            <a:noFill/>
          </a:ln>
        </p:spPr>
        <p:txBody>
          <a:bodyPr spcFirstLastPara="1" wrap="square" lIns="0" tIns="12711" rIns="0" bIns="0" anchor="t" anchorCtr="0">
            <a:spAutoFit/>
          </a:bodyPr>
          <a:lstStyle/>
          <a:p>
            <a:pPr marL="371203" indent="-296626">
              <a:lnSpc>
                <a:spcPct val="150000"/>
              </a:lnSpc>
              <a:buClr>
                <a:schemeClr val="lt1"/>
              </a:buClr>
              <a:buSzPts val="700"/>
              <a:buFont typeface="Bai Jamjuree"/>
              <a:buChar char="●"/>
            </a:pPr>
            <a:r>
              <a:rPr lang="vi" sz="1244">
                <a:solidFill>
                  <a:schemeClr val="lt1"/>
                </a:solidFill>
                <a:latin typeface="Bai Jamjuree"/>
                <a:ea typeface="Bai Jamjuree"/>
                <a:cs typeface="Bai Jamjuree"/>
                <a:sym typeface="Bai Jamjuree"/>
              </a:rPr>
              <a:t>Pytorch, Caffe, TensorFlow, Keras</a:t>
            </a:r>
            <a:endParaRPr sz="1244">
              <a:solidFill>
                <a:schemeClr val="lt1"/>
              </a:solidFill>
              <a:latin typeface="Bai Jamjuree"/>
              <a:ea typeface="Bai Jamjuree"/>
              <a:cs typeface="Bai Jamjuree"/>
              <a:sym typeface="Bai Jamjuree"/>
            </a:endParaRPr>
          </a:p>
          <a:p>
            <a:pPr marL="371203" indent="-296626">
              <a:lnSpc>
                <a:spcPct val="150000"/>
              </a:lnSpc>
              <a:buClr>
                <a:schemeClr val="lt1"/>
              </a:buClr>
              <a:buSzPts val="700"/>
              <a:buFont typeface="Bai Jamjuree"/>
              <a:buChar char="●"/>
            </a:pPr>
            <a:r>
              <a:rPr lang="vi" sz="1244">
                <a:solidFill>
                  <a:schemeClr val="lt1"/>
                </a:solidFill>
                <a:latin typeface="Bai Jamjuree"/>
                <a:ea typeface="Bai Jamjuree"/>
                <a:cs typeface="Bai Jamjuree"/>
                <a:sym typeface="Bai Jamjuree"/>
              </a:rPr>
              <a:t>OpenCV, Scikit-Learn, Pandas, Matplotlib</a:t>
            </a:r>
            <a:endParaRPr sz="1244">
              <a:solidFill>
                <a:schemeClr val="lt1"/>
              </a:solidFill>
              <a:latin typeface="Bai Jamjuree"/>
              <a:ea typeface="Bai Jamjuree"/>
              <a:cs typeface="Bai Jamjuree"/>
              <a:sym typeface="Bai Jamjuree"/>
            </a:endParaRPr>
          </a:p>
          <a:p>
            <a:pPr marL="371203" indent="-296626">
              <a:lnSpc>
                <a:spcPct val="150000"/>
              </a:lnSpc>
              <a:buClr>
                <a:schemeClr val="lt1"/>
              </a:buClr>
              <a:buSzPts val="700"/>
              <a:buFont typeface="Bai Jamjuree"/>
              <a:buChar char="●"/>
            </a:pPr>
            <a:r>
              <a:rPr lang="vi" sz="1244">
                <a:solidFill>
                  <a:schemeClr val="lt1"/>
                </a:solidFill>
                <a:latin typeface="Bai Jamjuree"/>
                <a:ea typeface="Bai Jamjuree"/>
                <a:cs typeface="Bai Jamjuree"/>
                <a:sym typeface="Bai Jamjuree"/>
              </a:rPr>
              <a:t>Programming languages: Python, R</a:t>
            </a:r>
            <a:endParaRPr sz="1244">
              <a:solidFill>
                <a:schemeClr val="lt1"/>
              </a:solidFill>
              <a:latin typeface="Bai Jamjuree"/>
              <a:ea typeface="Bai Jamjuree"/>
              <a:cs typeface="Bai Jamjuree"/>
              <a:sym typeface="Bai Jamjuree"/>
            </a:endParaRPr>
          </a:p>
        </p:txBody>
      </p:sp>
      <p:pic>
        <p:nvPicPr>
          <p:cNvPr id="596" name="Google Shape;596;p32"/>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9245532" y="13427744"/>
            <a:ext cx="2913472" cy="519067"/>
          </a:xfrm>
          <a:prstGeom prst="rect">
            <a:avLst/>
          </a:prstGeom>
          <a:noFill/>
          <a:ln>
            <a:noFill/>
          </a:ln>
        </p:spPr>
      </p:pic>
      <p:sp>
        <p:nvSpPr>
          <p:cNvPr id="597" name="Google Shape;597;p32"/>
          <p:cNvSpPr txBox="1">
            <a:spLocks noGrp="1"/>
          </p:cNvSpPr>
          <p:nvPr>
            <p:ph type="ctrTitle"/>
          </p:nvPr>
        </p:nvSpPr>
        <p:spPr>
          <a:xfrm>
            <a:off x="9310887" y="13571276"/>
            <a:ext cx="2694933" cy="231678"/>
          </a:xfrm>
          <a:prstGeom prst="rect">
            <a:avLst/>
          </a:prstGeom>
          <a:noFill/>
          <a:ln>
            <a:noFill/>
          </a:ln>
        </p:spPr>
        <p:txBody>
          <a:bodyPr spcFirstLastPara="1" wrap="square" lIns="0" tIns="12711" rIns="0" bIns="0" anchor="t" anchorCtr="0">
            <a:spAutoFit/>
          </a:bodyPr>
          <a:lstStyle/>
          <a:p>
            <a:pPr>
              <a:buSzPts val="800"/>
            </a:pPr>
            <a:r>
              <a:rPr lang="vi" sz="1422">
                <a:latin typeface="Plus Jakarta Sans"/>
                <a:ea typeface="Plus Jakarta Sans"/>
                <a:cs typeface="Plus Jakarta Sans"/>
                <a:sym typeface="Plus Jakarta Sans"/>
              </a:rPr>
              <a:t>Framework/ Libraries</a:t>
            </a:r>
            <a:endParaRPr sz="1422">
              <a:latin typeface="Plus Jakarta Sans"/>
              <a:ea typeface="Plus Jakarta Sans"/>
              <a:cs typeface="Plus Jakarta Sans"/>
              <a:sym typeface="Plus Jakarta Sans"/>
            </a:endParaRPr>
          </a:p>
        </p:txBody>
      </p:sp>
      <p:pic>
        <p:nvPicPr>
          <p:cNvPr id="598" name="Google Shape;598;p32"/>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14577177" y="13427744"/>
            <a:ext cx="2913472" cy="519067"/>
          </a:xfrm>
          <a:prstGeom prst="rect">
            <a:avLst/>
          </a:prstGeom>
          <a:noFill/>
          <a:ln>
            <a:noFill/>
          </a:ln>
        </p:spPr>
      </p:pic>
      <p:sp>
        <p:nvSpPr>
          <p:cNvPr id="599" name="Google Shape;599;p32"/>
          <p:cNvSpPr txBox="1">
            <a:spLocks noGrp="1"/>
          </p:cNvSpPr>
          <p:nvPr>
            <p:ph type="ctrTitle"/>
          </p:nvPr>
        </p:nvSpPr>
        <p:spPr>
          <a:xfrm>
            <a:off x="15176843" y="13571276"/>
            <a:ext cx="1714133" cy="231678"/>
          </a:xfrm>
          <a:prstGeom prst="rect">
            <a:avLst/>
          </a:prstGeom>
          <a:noFill/>
          <a:ln>
            <a:noFill/>
          </a:ln>
        </p:spPr>
        <p:txBody>
          <a:bodyPr spcFirstLastPara="1" wrap="square" lIns="0" tIns="12711" rIns="0" bIns="0" anchor="t" anchorCtr="0">
            <a:spAutoFit/>
          </a:bodyPr>
          <a:lstStyle/>
          <a:p>
            <a:pPr>
              <a:buSzPts val="800"/>
            </a:pPr>
            <a:r>
              <a:rPr lang="vi" sz="1422"/>
              <a:t>Certificates</a:t>
            </a:r>
            <a:endParaRPr sz="1422"/>
          </a:p>
        </p:txBody>
      </p:sp>
      <p:pic>
        <p:nvPicPr>
          <p:cNvPr id="600" name="Google Shape;600;p32"/>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11823512" y="1146487"/>
            <a:ext cx="3366089" cy="1859353"/>
          </a:xfrm>
          <a:prstGeom prst="rect">
            <a:avLst/>
          </a:prstGeom>
          <a:noFill/>
          <a:ln>
            <a:noFill/>
          </a:ln>
        </p:spPr>
      </p:pic>
      <p:sp>
        <p:nvSpPr>
          <p:cNvPr id="601" name="Google Shape;601;p32"/>
          <p:cNvSpPr txBox="1"/>
          <p:nvPr/>
        </p:nvSpPr>
        <p:spPr>
          <a:xfrm>
            <a:off x="12106779" y="4112556"/>
            <a:ext cx="2864000" cy="341130"/>
          </a:xfrm>
          <a:prstGeom prst="rect">
            <a:avLst/>
          </a:prstGeom>
          <a:noFill/>
          <a:ln>
            <a:noFill/>
          </a:ln>
        </p:spPr>
        <p:txBody>
          <a:bodyPr spcFirstLastPara="1" wrap="square" lIns="0" tIns="12711" rIns="0" bIns="0" anchor="t" anchorCtr="0">
            <a:spAutoFit/>
          </a:bodyPr>
          <a:lstStyle/>
          <a:p>
            <a:pPr marL="371203" indent="-307915">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Coding Generation</a:t>
            </a:r>
            <a:endParaRPr sz="1422">
              <a:solidFill>
                <a:srgbClr val="3D3D3D"/>
              </a:solidFill>
              <a:latin typeface="Plus Jakarta Sans"/>
              <a:ea typeface="Plus Jakarta Sans"/>
              <a:cs typeface="Plus Jakarta Sans"/>
              <a:sym typeface="Plus Jakarta Sans"/>
            </a:endParaRPr>
          </a:p>
        </p:txBody>
      </p:sp>
      <p:sp>
        <p:nvSpPr>
          <p:cNvPr id="602" name="Google Shape;602;p32"/>
          <p:cNvSpPr txBox="1"/>
          <p:nvPr/>
        </p:nvSpPr>
        <p:spPr>
          <a:xfrm>
            <a:off x="12106800" y="5690693"/>
            <a:ext cx="2864000" cy="341130"/>
          </a:xfrm>
          <a:prstGeom prst="rect">
            <a:avLst/>
          </a:prstGeom>
          <a:noFill/>
          <a:ln>
            <a:noFill/>
          </a:ln>
        </p:spPr>
        <p:txBody>
          <a:bodyPr spcFirstLastPara="1" wrap="square" lIns="0" tIns="12711" rIns="0" bIns="0" anchor="t" anchorCtr="0">
            <a:spAutoFit/>
          </a:bodyPr>
          <a:lstStyle/>
          <a:p>
            <a:pPr marL="371203" indent="-307915">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GenAI Chatbot</a:t>
            </a:r>
            <a:endParaRPr sz="1422">
              <a:solidFill>
                <a:srgbClr val="3D3D3D"/>
              </a:solidFill>
              <a:latin typeface="Plus Jakarta Sans"/>
              <a:ea typeface="Plus Jakarta Sans"/>
              <a:cs typeface="Plus Jakarta Sans"/>
              <a:sym typeface="Plus Jakarta Sans"/>
            </a:endParaRPr>
          </a:p>
        </p:txBody>
      </p:sp>
      <p:sp>
        <p:nvSpPr>
          <p:cNvPr id="603" name="Google Shape;603;p32"/>
          <p:cNvSpPr txBox="1"/>
          <p:nvPr/>
        </p:nvSpPr>
        <p:spPr>
          <a:xfrm>
            <a:off x="12106779" y="5074645"/>
            <a:ext cx="2864000" cy="341130"/>
          </a:xfrm>
          <a:prstGeom prst="rect">
            <a:avLst/>
          </a:prstGeom>
          <a:noFill/>
          <a:ln>
            <a:noFill/>
          </a:ln>
        </p:spPr>
        <p:txBody>
          <a:bodyPr spcFirstLastPara="1" wrap="square" lIns="0" tIns="12711" rIns="0" bIns="0" anchor="t" anchorCtr="0">
            <a:spAutoFit/>
          </a:bodyPr>
          <a:lstStyle/>
          <a:p>
            <a:pPr marL="371203" indent="-307915">
              <a:lnSpc>
                <a:spcPct val="150000"/>
              </a:lnSpc>
              <a:buClr>
                <a:srgbClr val="3D3D3D"/>
              </a:buClr>
              <a:buSzPts val="800"/>
              <a:buFont typeface="Plus Jakarta Sans"/>
              <a:buChar char="●"/>
            </a:pPr>
            <a:r>
              <a:rPr lang="vi" sz="1422">
                <a:solidFill>
                  <a:srgbClr val="3D3D3D"/>
                </a:solidFill>
                <a:latin typeface="Plus Jakarta Sans"/>
                <a:ea typeface="Plus Jakarta Sans"/>
                <a:cs typeface="Plus Jakarta Sans"/>
                <a:sym typeface="Plus Jakarta Sans"/>
              </a:rPr>
              <a:t>Test Case Generation</a:t>
            </a:r>
            <a:endParaRPr sz="1422">
              <a:solidFill>
                <a:srgbClr val="3D3D3D"/>
              </a:solidFill>
              <a:latin typeface="Plus Jakarta Sans"/>
              <a:ea typeface="Plus Jakarta Sans"/>
              <a:cs typeface="Plus Jakarta Sans"/>
              <a:sym typeface="Plus Jakarta Sans"/>
            </a:endParaRPr>
          </a:p>
        </p:txBody>
      </p:sp>
      <p:sp>
        <p:nvSpPr>
          <p:cNvPr id="604" name="Google Shape;604;p32"/>
          <p:cNvSpPr txBox="1"/>
          <p:nvPr/>
        </p:nvSpPr>
        <p:spPr>
          <a:xfrm>
            <a:off x="12486912" y="5382645"/>
            <a:ext cx="2864000" cy="1028498"/>
          </a:xfrm>
          <a:prstGeom prst="rect">
            <a:avLst/>
          </a:prstGeom>
          <a:noFill/>
          <a:ln>
            <a:noFill/>
          </a:ln>
        </p:spPr>
        <p:txBody>
          <a:bodyPr spcFirstLastPara="1" wrap="square" lIns="0" tIns="12711" rIns="0" bIns="0" anchor="t" anchorCtr="0">
            <a:spAutoFit/>
          </a:bodyPr>
          <a:lstStyle/>
          <a:p>
            <a:pPr>
              <a:lnSpc>
                <a:spcPct val="150000"/>
              </a:lnSpc>
              <a:spcAft>
                <a:spcPts val="2844"/>
              </a:spcAft>
            </a:pPr>
            <a:r>
              <a:rPr lang="vi" sz="1422">
                <a:solidFill>
                  <a:srgbClr val="3D3D3D"/>
                </a:solidFill>
                <a:latin typeface="Plus Jakarta Sans"/>
                <a:ea typeface="Plus Jakarta Sans"/>
                <a:cs typeface="Plus Jakarta Sans"/>
                <a:sym typeface="Plus Jakarta Sans"/>
              </a:rPr>
              <a:t>Test Case, Test Script Generation</a:t>
            </a:r>
            <a:endParaRPr sz="1422">
              <a:solidFill>
                <a:srgbClr val="3D3D3D"/>
              </a:solidFill>
              <a:latin typeface="Plus Jakarta Sans"/>
              <a:ea typeface="Plus Jakarta Sans"/>
              <a:cs typeface="Plus Jakarta Sans"/>
              <a:sym typeface="Plus Jakarta Sans"/>
            </a:endParaRPr>
          </a:p>
        </p:txBody>
      </p:sp>
      <p:sp>
        <p:nvSpPr>
          <p:cNvPr id="605" name="Google Shape;605;p32"/>
          <p:cNvSpPr txBox="1"/>
          <p:nvPr/>
        </p:nvSpPr>
        <p:spPr>
          <a:xfrm>
            <a:off x="12486912" y="4433244"/>
            <a:ext cx="2864000" cy="700203"/>
          </a:xfrm>
          <a:prstGeom prst="rect">
            <a:avLst/>
          </a:prstGeom>
          <a:noFill/>
          <a:ln>
            <a:noFill/>
          </a:ln>
        </p:spPr>
        <p:txBody>
          <a:bodyPr spcFirstLastPara="1" wrap="square" lIns="0" tIns="12711" rIns="0" bIns="0" anchor="t" anchorCtr="0">
            <a:spAutoFit/>
          </a:bodyPr>
          <a:lstStyle/>
          <a:p>
            <a:pPr>
              <a:lnSpc>
                <a:spcPct val="150000"/>
              </a:lnSpc>
              <a:spcAft>
                <a:spcPts val="2844"/>
              </a:spcAft>
            </a:pPr>
            <a:r>
              <a:rPr lang="vi" sz="1422">
                <a:solidFill>
                  <a:srgbClr val="3D3D3D"/>
                </a:solidFill>
                <a:latin typeface="Plus Jakarta Sans"/>
                <a:ea typeface="Plus Jakarta Sans"/>
                <a:cs typeface="Plus Jakarta Sans"/>
                <a:sym typeface="Plus Jakarta Sans"/>
              </a:rPr>
              <a:t>Automated Code Completion</a:t>
            </a:r>
            <a:endParaRPr sz="1422">
              <a:solidFill>
                <a:srgbClr val="3D3D3D"/>
              </a:solidFill>
              <a:latin typeface="Plus Jakarta Sans"/>
              <a:ea typeface="Plus Jakarta Sans"/>
              <a:cs typeface="Plus Jakarta Sans"/>
              <a:sym typeface="Plus Jakarta Sans"/>
            </a:endParaRPr>
          </a:p>
        </p:txBody>
      </p:sp>
      <p:sp>
        <p:nvSpPr>
          <p:cNvPr id="606" name="Google Shape;606;p32"/>
          <p:cNvSpPr txBox="1"/>
          <p:nvPr/>
        </p:nvSpPr>
        <p:spPr>
          <a:xfrm>
            <a:off x="12486912" y="4753956"/>
            <a:ext cx="2864000" cy="700203"/>
          </a:xfrm>
          <a:prstGeom prst="rect">
            <a:avLst/>
          </a:prstGeom>
          <a:noFill/>
          <a:ln>
            <a:noFill/>
          </a:ln>
        </p:spPr>
        <p:txBody>
          <a:bodyPr spcFirstLastPara="1" wrap="square" lIns="0" tIns="12711" rIns="0" bIns="0" anchor="t" anchorCtr="0">
            <a:spAutoFit/>
          </a:bodyPr>
          <a:lstStyle/>
          <a:p>
            <a:pPr>
              <a:lnSpc>
                <a:spcPct val="150000"/>
              </a:lnSpc>
              <a:spcAft>
                <a:spcPts val="2844"/>
              </a:spcAft>
            </a:pPr>
            <a:r>
              <a:rPr lang="vi" sz="1422">
                <a:solidFill>
                  <a:srgbClr val="3D3D3D"/>
                </a:solidFill>
                <a:latin typeface="Plus Jakarta Sans"/>
                <a:ea typeface="Plus Jakarta Sans"/>
                <a:cs typeface="Plus Jakarta Sans"/>
                <a:sym typeface="Plus Jakarta Sans"/>
              </a:rPr>
              <a:t>Bug Detection and Fixing</a:t>
            </a:r>
            <a:endParaRPr sz="1422">
              <a:solidFill>
                <a:srgbClr val="3D3D3D"/>
              </a:solidFill>
              <a:latin typeface="Plus Jakarta Sans"/>
              <a:ea typeface="Plus Jakarta Sans"/>
              <a:cs typeface="Plus Jakarta Sans"/>
              <a:sym typeface="Plus Jakarta Sans"/>
            </a:endParaRPr>
          </a:p>
        </p:txBody>
      </p:sp>
      <p:sp>
        <p:nvSpPr>
          <p:cNvPr id="607" name="Google Shape;607;p32"/>
          <p:cNvSpPr txBox="1">
            <a:spLocks noGrp="1"/>
          </p:cNvSpPr>
          <p:nvPr>
            <p:ph type="ctrTitle"/>
          </p:nvPr>
        </p:nvSpPr>
        <p:spPr>
          <a:xfrm>
            <a:off x="11989712" y="3435268"/>
            <a:ext cx="3098133" cy="231678"/>
          </a:xfrm>
          <a:prstGeom prst="rect">
            <a:avLst/>
          </a:prstGeom>
          <a:noFill/>
          <a:ln>
            <a:noFill/>
          </a:ln>
        </p:spPr>
        <p:txBody>
          <a:bodyPr spcFirstLastPara="1" wrap="square" lIns="0" tIns="12711" rIns="0" bIns="0" anchor="t" anchorCtr="0">
            <a:spAutoFit/>
          </a:bodyPr>
          <a:lstStyle/>
          <a:p>
            <a:pPr>
              <a:buSzPts val="800"/>
            </a:pPr>
            <a:r>
              <a:rPr lang="vi" sz="1422">
                <a:solidFill>
                  <a:srgbClr val="404040"/>
                </a:solidFill>
                <a:latin typeface="Plus Jakarta Sans"/>
                <a:ea typeface="Plus Jakarta Sans"/>
                <a:cs typeface="Plus Jakarta Sans"/>
                <a:sym typeface="Plus Jakarta Sans"/>
              </a:rPr>
              <a:t>GENERATIVE AI</a:t>
            </a:r>
            <a:endParaRPr sz="1422">
              <a:solidFill>
                <a:srgbClr val="404040"/>
              </a:solidFill>
              <a:latin typeface="Plus Jakarta Sans"/>
              <a:ea typeface="Plus Jakarta Sans"/>
              <a:cs typeface="Plus Jakarta Sans"/>
              <a:sym typeface="Plus Jakarta Sans"/>
            </a:endParaRPr>
          </a:p>
        </p:txBody>
      </p:sp>
      <p:pic>
        <p:nvPicPr>
          <p:cNvPr id="608" name="Google Shape;608;p32"/>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13172978" y="2537996"/>
            <a:ext cx="846400" cy="846400"/>
          </a:xfrm>
          <a:prstGeom prst="rect">
            <a:avLst/>
          </a:prstGeom>
          <a:noFill/>
          <a:ln>
            <a:noFill/>
          </a:ln>
        </p:spPr>
      </p:pic>
      <p:pic>
        <p:nvPicPr>
          <p:cNvPr id="609" name="Google Shape;609;p32"/>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13291333" y="2703156"/>
            <a:ext cx="613956" cy="519067"/>
          </a:xfrm>
          <a:prstGeom prst="rect">
            <a:avLst/>
          </a:prstGeom>
          <a:noFill/>
          <a:ln>
            <a:noFill/>
          </a:ln>
        </p:spPr>
      </p:pic>
      <p:pic>
        <p:nvPicPr>
          <p:cNvPr id="610" name="Google Shape;610;p32"/>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a:off x="13312844" y="2651245"/>
            <a:ext cx="570937" cy="570978"/>
          </a:xfrm>
          <a:prstGeom prst="rect">
            <a:avLst/>
          </a:prstGeom>
          <a:noFill/>
          <a:ln>
            <a:noFill/>
          </a:ln>
        </p:spPr>
      </p:pic>
      <p:cxnSp>
        <p:nvCxnSpPr>
          <p:cNvPr id="903" name="Google Shape;583;p32">
            <a:extLst>
              <a:ext uri="{FF2B5EF4-FFF2-40B4-BE49-F238E27FC236}">
                <a16:creationId xmlns:a16="http://schemas.microsoft.com/office/drawing/2014/main" id="{B35BF8D8-93DB-79D7-88E3-6BE53E97113F}"/>
              </a:ext>
            </a:extLst>
          </p:cNvPr>
          <p:cNvCxnSpPr/>
          <p:nvPr/>
        </p:nvCxnSpPr>
        <p:spPr>
          <a:xfrm>
            <a:off x="1653600" y="8395111"/>
            <a:ext cx="0" cy="419733"/>
          </a:xfrm>
          <a:prstGeom prst="straightConnector1">
            <a:avLst/>
          </a:prstGeom>
          <a:noFill/>
          <a:ln w="9525" cap="flat" cmpd="sng">
            <a:solidFill>
              <a:schemeClr val="lt1"/>
            </a:solidFill>
            <a:prstDash val="solid"/>
            <a:round/>
            <a:headEnd type="none" w="med" len="med"/>
            <a:tailEnd type="none" w="med" len="med"/>
          </a:ln>
        </p:spPr>
      </p:cxnSp>
      <p:sp>
        <p:nvSpPr>
          <p:cNvPr id="904" name="Google Shape;584;p32">
            <a:extLst>
              <a:ext uri="{FF2B5EF4-FFF2-40B4-BE49-F238E27FC236}">
                <a16:creationId xmlns:a16="http://schemas.microsoft.com/office/drawing/2014/main" id="{8F877A48-1656-B8A2-F603-FD34546E8A69}"/>
              </a:ext>
            </a:extLst>
          </p:cNvPr>
          <p:cNvSpPr txBox="1"/>
          <p:nvPr/>
        </p:nvSpPr>
        <p:spPr>
          <a:xfrm>
            <a:off x="1769555" y="8432445"/>
            <a:ext cx="5353067" cy="267359"/>
          </a:xfrm>
          <a:prstGeom prst="rect">
            <a:avLst/>
          </a:prstGeom>
          <a:noFill/>
          <a:ln>
            <a:noFill/>
          </a:ln>
        </p:spPr>
        <p:txBody>
          <a:bodyPr spcFirstLastPara="1" wrap="square" lIns="0" tIns="20933" rIns="0" bIns="0" anchor="t" anchorCtr="0">
            <a:spAutoFit/>
          </a:bodyPr>
          <a:lstStyle/>
          <a:p>
            <a:pPr marL="22578">
              <a:buSzPts val="700"/>
            </a:pPr>
            <a:r>
              <a:rPr lang="vi" sz="1600">
                <a:solidFill>
                  <a:schemeClr val="lt1"/>
                </a:solidFill>
                <a:latin typeface="Inter"/>
                <a:ea typeface="Inter"/>
                <a:cs typeface="Inter"/>
                <a:sym typeface="Inter"/>
              </a:rPr>
              <a:t>Corporate Profile - For Software Development</a:t>
            </a:r>
            <a:endParaRPr sz="1600">
              <a:solidFill>
                <a:schemeClr val="lt1"/>
              </a:solidFill>
              <a:latin typeface="Inter"/>
              <a:ea typeface="Inter"/>
              <a:cs typeface="Inter"/>
              <a:sym typeface="Inter"/>
            </a:endParaRPr>
          </a:p>
        </p:txBody>
      </p:sp>
      <p:sp>
        <p:nvSpPr>
          <p:cNvPr id="905" name="Google Shape;585;p32">
            <a:extLst>
              <a:ext uri="{FF2B5EF4-FFF2-40B4-BE49-F238E27FC236}">
                <a16:creationId xmlns:a16="http://schemas.microsoft.com/office/drawing/2014/main" id="{114638BE-CF2D-2CF1-3526-D595F49A897D}"/>
              </a:ext>
            </a:extLst>
          </p:cNvPr>
          <p:cNvSpPr txBox="1"/>
          <p:nvPr/>
        </p:nvSpPr>
        <p:spPr>
          <a:xfrm>
            <a:off x="872535" y="8216178"/>
            <a:ext cx="846400" cy="699733"/>
          </a:xfrm>
          <a:prstGeom prst="rect">
            <a:avLst/>
          </a:prstGeom>
          <a:noFill/>
          <a:ln>
            <a:noFill/>
          </a:ln>
        </p:spPr>
        <p:txBody>
          <a:bodyPr spcFirstLastPara="1" wrap="square" lIns="162533" tIns="162533" rIns="162533" bIns="162533" anchor="ctr" anchorCtr="0">
            <a:noAutofit/>
          </a:bodyPr>
          <a:lstStyle/>
          <a:p>
            <a:pPr algn="ctr"/>
            <a:fld id="{00000000-1234-1234-1234-123412341234}" type="slidenum">
              <a:rPr lang="vi" sz="2844">
                <a:solidFill>
                  <a:schemeClr val="lt1"/>
                </a:solidFill>
                <a:latin typeface="Inter"/>
                <a:ea typeface="Inter"/>
                <a:cs typeface="Inter"/>
                <a:sym typeface="Inter"/>
              </a:rPr>
              <a:pPr algn="ctr"/>
              <a:t>11</a:t>
            </a:fld>
            <a:endParaRPr sz="2844">
              <a:solidFill>
                <a:schemeClr val="lt1"/>
              </a:solidFill>
              <a:latin typeface="Inter"/>
              <a:ea typeface="Inter"/>
              <a:cs typeface="Inter"/>
              <a:sym typeface="Inter"/>
            </a:endParaRPr>
          </a:p>
        </p:txBody>
      </p:sp>
      <p:cxnSp>
        <p:nvCxnSpPr>
          <p:cNvPr id="906" name="Google Shape;583;p32">
            <a:extLst>
              <a:ext uri="{FF2B5EF4-FFF2-40B4-BE49-F238E27FC236}">
                <a16:creationId xmlns:a16="http://schemas.microsoft.com/office/drawing/2014/main" id="{D0CE4EEE-EBAB-955C-48C4-65B52CC73F95}"/>
              </a:ext>
            </a:extLst>
          </p:cNvPr>
          <p:cNvCxnSpPr/>
          <p:nvPr/>
        </p:nvCxnSpPr>
        <p:spPr>
          <a:xfrm>
            <a:off x="1653600" y="8395111"/>
            <a:ext cx="0" cy="419733"/>
          </a:xfrm>
          <a:prstGeom prst="straightConnector1">
            <a:avLst/>
          </a:prstGeom>
          <a:noFill/>
          <a:ln w="9525" cap="flat" cmpd="sng">
            <a:solidFill>
              <a:schemeClr val="lt1"/>
            </a:solidFill>
            <a:prstDash val="solid"/>
            <a:round/>
            <a:headEnd type="none" w="med" len="med"/>
            <a:tailEnd type="none" w="med" len="med"/>
          </a:ln>
        </p:spPr>
      </p:cxnSp>
      <p:sp>
        <p:nvSpPr>
          <p:cNvPr id="907" name="Google Shape;585;p32">
            <a:extLst>
              <a:ext uri="{FF2B5EF4-FFF2-40B4-BE49-F238E27FC236}">
                <a16:creationId xmlns:a16="http://schemas.microsoft.com/office/drawing/2014/main" id="{FA584649-1835-BE70-4EFD-66063CF72271}"/>
              </a:ext>
            </a:extLst>
          </p:cNvPr>
          <p:cNvSpPr txBox="1"/>
          <p:nvPr/>
        </p:nvSpPr>
        <p:spPr>
          <a:xfrm>
            <a:off x="872535" y="8216178"/>
            <a:ext cx="846400" cy="699733"/>
          </a:xfrm>
          <a:prstGeom prst="rect">
            <a:avLst/>
          </a:prstGeom>
          <a:noFill/>
          <a:ln>
            <a:noFill/>
          </a:ln>
        </p:spPr>
        <p:txBody>
          <a:bodyPr spcFirstLastPara="1" wrap="square" lIns="162533" tIns="162533" rIns="162533" bIns="162533" anchor="ctr" anchorCtr="0">
            <a:noAutofit/>
          </a:bodyPr>
          <a:lstStyle/>
          <a:p>
            <a:pPr algn="ctr"/>
            <a:fld id="{00000000-1234-1234-1234-123412341234}" type="slidenum">
              <a:rPr lang="vi" sz="2844">
                <a:solidFill>
                  <a:schemeClr val="lt1"/>
                </a:solidFill>
                <a:latin typeface="Inter"/>
                <a:ea typeface="Inter"/>
                <a:cs typeface="Inter"/>
                <a:sym typeface="Inter"/>
              </a:rPr>
              <a:pPr algn="ctr"/>
              <a:t>11</a:t>
            </a:fld>
            <a:endParaRPr sz="2844" dirty="0">
              <a:solidFill>
                <a:schemeClr val="lt1"/>
              </a:solidFill>
              <a:latin typeface="Inter"/>
              <a:ea typeface="Inter"/>
              <a:cs typeface="Inter"/>
              <a:sym typeface="Inter"/>
            </a:endParaRPr>
          </a:p>
        </p:txBody>
      </p:sp>
      <p:pic>
        <p:nvPicPr>
          <p:cNvPr id="908" name="Google Shape;594;p32">
            <a:extLst>
              <a:ext uri="{FF2B5EF4-FFF2-40B4-BE49-F238E27FC236}">
                <a16:creationId xmlns:a16="http://schemas.microsoft.com/office/drawing/2014/main" id="{AB24947D-179E-BC0B-9907-73E05EBB49E6}"/>
              </a:ext>
            </a:extLst>
          </p:cNvPr>
          <p:cNvPicPr preferRelativeResize="0"/>
          <p:nvPr/>
        </p:nvPicPr>
        <p:blipFill>
          <a:blip r:embed="rId16" cstate="email">
            <a:alphaModFix/>
            <a:extLst>
              <a:ext uri="{28A0092B-C50C-407E-A947-70E740481C1C}">
                <a14:useLocalDpi xmlns:a14="http://schemas.microsoft.com/office/drawing/2010/main"/>
              </a:ext>
            </a:extLst>
          </a:blip>
          <a:stretch>
            <a:fillRect/>
          </a:stretch>
        </p:blipFill>
        <p:spPr>
          <a:xfrm>
            <a:off x="3530413" y="7136235"/>
            <a:ext cx="2586780" cy="879138"/>
          </a:xfrm>
          <a:prstGeom prst="rect">
            <a:avLst/>
          </a:prstGeom>
          <a:noFill/>
          <a:ln>
            <a:noFill/>
          </a:ln>
        </p:spPr>
      </p:pic>
      <p:pic>
        <p:nvPicPr>
          <p:cNvPr id="909" name="Google Shape;598;p32">
            <a:extLst>
              <a:ext uri="{FF2B5EF4-FFF2-40B4-BE49-F238E27FC236}">
                <a16:creationId xmlns:a16="http://schemas.microsoft.com/office/drawing/2014/main" id="{38107229-27AA-5532-761D-0C41AB05B897}"/>
              </a:ext>
            </a:extLst>
          </p:cNvPr>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3306690" y="6520187"/>
            <a:ext cx="2913472" cy="519067"/>
          </a:xfrm>
          <a:prstGeom prst="rect">
            <a:avLst/>
          </a:prstGeom>
          <a:noFill/>
          <a:ln>
            <a:noFill/>
          </a:ln>
        </p:spPr>
      </p:pic>
      <p:sp>
        <p:nvSpPr>
          <p:cNvPr id="910" name="Google Shape;599;p32">
            <a:extLst>
              <a:ext uri="{FF2B5EF4-FFF2-40B4-BE49-F238E27FC236}">
                <a16:creationId xmlns:a16="http://schemas.microsoft.com/office/drawing/2014/main" id="{1F1B1940-EB86-C79B-20D9-CA4C293C7FA1}"/>
              </a:ext>
            </a:extLst>
          </p:cNvPr>
          <p:cNvSpPr txBox="1">
            <a:spLocks/>
          </p:cNvSpPr>
          <p:nvPr/>
        </p:nvSpPr>
        <p:spPr>
          <a:xfrm>
            <a:off x="3868105" y="6663719"/>
            <a:ext cx="1714133" cy="231678"/>
          </a:xfrm>
          <a:prstGeom prst="rect">
            <a:avLst/>
          </a:prstGeom>
          <a:noFill/>
          <a:ln>
            <a:noFill/>
          </a:ln>
        </p:spPr>
        <p:txBody>
          <a:bodyPr spcFirstLastPara="1" wrap="square" lIns="0" tIns="12711" rIns="0" bIns="0" anchor="t"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buSzPts val="800"/>
            </a:pPr>
            <a:r>
              <a:rPr lang="en-US" sz="1422" b="1">
                <a:solidFill>
                  <a:schemeClr val="lt1"/>
                </a:solidFill>
                <a:latin typeface="Bai Jamjuree"/>
                <a:ea typeface="Bai Jamjuree"/>
                <a:cs typeface="Bai Jamjuree"/>
                <a:sym typeface="Bai Jamjuree"/>
              </a:rPr>
              <a:t>Certificates</a:t>
            </a:r>
            <a:endParaRPr lang="en-US" sz="1422" b="1" dirty="0">
              <a:solidFill>
                <a:schemeClr val="lt1"/>
              </a:solidFill>
              <a:latin typeface="Bai Jamjuree"/>
              <a:ea typeface="Bai Jamjuree"/>
              <a:cs typeface="Bai Jamjuree"/>
              <a:sym typeface="Bai Jamjuree"/>
            </a:endParaRPr>
          </a:p>
        </p:txBody>
      </p:sp>
      <p:grpSp>
        <p:nvGrpSpPr>
          <p:cNvPr id="911" name="Group 910">
            <a:extLst>
              <a:ext uri="{FF2B5EF4-FFF2-40B4-BE49-F238E27FC236}">
                <a16:creationId xmlns:a16="http://schemas.microsoft.com/office/drawing/2014/main" id="{01991A49-9EC9-5489-8E1C-FBEEF3707D8C}"/>
              </a:ext>
            </a:extLst>
          </p:cNvPr>
          <p:cNvGrpSpPr/>
          <p:nvPr/>
        </p:nvGrpSpPr>
        <p:grpSpPr>
          <a:xfrm>
            <a:off x="272875" y="6519211"/>
            <a:ext cx="2913472" cy="1382620"/>
            <a:chOff x="1150806" y="3699563"/>
            <a:chExt cx="1638828" cy="777724"/>
          </a:xfrm>
        </p:grpSpPr>
        <p:pic>
          <p:nvPicPr>
            <p:cNvPr id="912" name="Google Shape;596;p32">
              <a:extLst>
                <a:ext uri="{FF2B5EF4-FFF2-40B4-BE49-F238E27FC236}">
                  <a16:creationId xmlns:a16="http://schemas.microsoft.com/office/drawing/2014/main" id="{8C22CB50-EE5F-7353-F292-68F57C86DA94}"/>
                </a:ext>
              </a:extLst>
            </p:cNvPr>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1150806" y="3699563"/>
              <a:ext cx="1638828" cy="291975"/>
            </a:xfrm>
            <a:prstGeom prst="rect">
              <a:avLst/>
            </a:prstGeom>
            <a:noFill/>
            <a:ln>
              <a:noFill/>
            </a:ln>
          </p:spPr>
        </p:pic>
        <p:sp>
          <p:nvSpPr>
            <p:cNvPr id="913" name="Google Shape;597;p32">
              <a:extLst>
                <a:ext uri="{FF2B5EF4-FFF2-40B4-BE49-F238E27FC236}">
                  <a16:creationId xmlns:a16="http://schemas.microsoft.com/office/drawing/2014/main" id="{20B60086-3E4E-F64E-7A10-B05D13A349B7}"/>
                </a:ext>
              </a:extLst>
            </p:cNvPr>
            <p:cNvSpPr txBox="1">
              <a:spLocks/>
            </p:cNvSpPr>
            <p:nvPr/>
          </p:nvSpPr>
          <p:spPr>
            <a:xfrm>
              <a:off x="1187568" y="3780300"/>
              <a:ext cx="1515900" cy="130319"/>
            </a:xfrm>
            <a:prstGeom prst="rect">
              <a:avLst/>
            </a:prstGeom>
            <a:noFill/>
            <a:ln>
              <a:noFill/>
            </a:ln>
          </p:spPr>
          <p:txBody>
            <a:bodyPr spcFirstLastPara="1" wrap="square" lIns="0" tIns="12711" rIns="0" bIns="0" anchor="t"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buSzPts val="800"/>
              </a:pPr>
              <a:r>
                <a:rPr lang="en-US" sz="1422" b="1" dirty="0">
                  <a:solidFill>
                    <a:schemeClr val="lt1"/>
                  </a:solidFill>
                  <a:latin typeface="Plus Jakarta Sans"/>
                  <a:ea typeface="Plus Jakarta Sans"/>
                  <a:cs typeface="Plus Jakarta Sans"/>
                  <a:sym typeface="Plus Jakarta Sans"/>
                </a:rPr>
                <a:t>Models</a:t>
              </a:r>
            </a:p>
          </p:txBody>
        </p:sp>
        <p:pic>
          <p:nvPicPr>
            <p:cNvPr id="914" name="Graphic 913">
              <a:extLst>
                <a:ext uri="{FF2B5EF4-FFF2-40B4-BE49-F238E27FC236}">
                  <a16:creationId xmlns:a16="http://schemas.microsoft.com/office/drawing/2014/main" id="{21BE2D01-6F4C-75F6-AF6D-E94C10C39B45}"/>
                </a:ext>
              </a:extLst>
            </p:cNvPr>
            <p:cNvPicPr>
              <a:picLocks noChangeAspect="1"/>
            </p:cNvPicPr>
            <p:nvPr/>
          </p:nvPicPr>
          <p:blipFill>
            <a:blip>
              <a:alphaModFix amt="78000"/>
              <a:extLst>
                <a:ext uri="{96DAC541-7B7A-43D3-8B79-37D633B846F1}">
                  <asvg:svgBlip xmlns:asvg="http://schemas.microsoft.com/office/drawing/2016/SVG/main" r:embed="rId17"/>
                </a:ext>
              </a:extLst>
            </a:blip>
            <a:srcRect r="68738"/>
            <a:stretch/>
          </p:blipFill>
          <p:spPr>
            <a:xfrm>
              <a:off x="2202364" y="4084025"/>
              <a:ext cx="579650" cy="381000"/>
            </a:xfrm>
            <a:prstGeom prst="rect">
              <a:avLst/>
            </a:prstGeom>
          </p:spPr>
        </p:pic>
        <p:pic>
          <p:nvPicPr>
            <p:cNvPr id="915" name="Picture 10" descr="Gemini (Google) Logo Free Download S... · LobeHub">
              <a:extLst>
                <a:ext uri="{FF2B5EF4-FFF2-40B4-BE49-F238E27FC236}">
                  <a16:creationId xmlns:a16="http://schemas.microsoft.com/office/drawing/2014/main" id="{69CBB50D-71F8-83CB-A3CF-F0FF782C35AC}"/>
                </a:ext>
              </a:extLst>
            </p:cNvPr>
            <p:cNvPicPr>
              <a:picLocks noChangeAspect="1" noChangeArrowheads="1"/>
            </p:cNvPicPr>
            <p:nvPr/>
          </p:nvPicPr>
          <p:blipFill>
            <a:blip r:embed="rId18" cstate="email">
              <a:alphaModFix amt="78000"/>
              <a:extLst>
                <a:ext uri="{BEBA8EAE-BF5A-486C-A8C5-ECC9F3942E4B}">
                  <a14:imgProps xmlns:a14="http://schemas.microsoft.com/office/drawing/2010/main">
                    <a14:imgLayer r:embed="rId19">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1165980" y="4072275"/>
              <a:ext cx="405012" cy="405012"/>
            </a:xfrm>
            <a:prstGeom prst="rect">
              <a:avLst/>
            </a:prstGeom>
            <a:noFill/>
          </p:spPr>
        </p:pic>
        <p:pic>
          <p:nvPicPr>
            <p:cNvPr id="916" name="Picture 12" descr="OpenAI Icon SVG Vector &amp; PNG Free Download | UXWing">
              <a:extLst>
                <a:ext uri="{FF2B5EF4-FFF2-40B4-BE49-F238E27FC236}">
                  <a16:creationId xmlns:a16="http://schemas.microsoft.com/office/drawing/2014/main" id="{6C3F16CE-71BE-CD86-AA9F-99C132A2060B}"/>
                </a:ext>
              </a:extLst>
            </p:cNvPr>
            <p:cNvPicPr>
              <a:picLocks noChangeAspect="1" noChangeArrowheads="1"/>
            </p:cNvPicPr>
            <p:nvPr/>
          </p:nvPicPr>
          <p:blipFill>
            <a:blip r:embed="rId20" cstate="email">
              <a:alphaModFix amt="78000"/>
              <a:extLst>
                <a:ext uri="{BEBA8EAE-BF5A-486C-A8C5-ECC9F3942E4B}">
                  <a14:imgProps xmlns:a14="http://schemas.microsoft.com/office/drawing/2010/main">
                    <a14:imgLayer r:embed="rId21">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1684020" y="4072275"/>
              <a:ext cx="405012" cy="40501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17" name="Group 916">
            <a:extLst>
              <a:ext uri="{FF2B5EF4-FFF2-40B4-BE49-F238E27FC236}">
                <a16:creationId xmlns:a16="http://schemas.microsoft.com/office/drawing/2014/main" id="{E3398B3C-AD1E-22FB-273C-D94D571AC8C8}"/>
              </a:ext>
            </a:extLst>
          </p:cNvPr>
          <p:cNvGrpSpPr/>
          <p:nvPr/>
        </p:nvGrpSpPr>
        <p:grpSpPr>
          <a:xfrm>
            <a:off x="6307597" y="6500916"/>
            <a:ext cx="3728245" cy="1525316"/>
            <a:chOff x="3633298" y="3614685"/>
            <a:chExt cx="1722952" cy="857990"/>
          </a:xfrm>
        </p:grpSpPr>
        <p:sp>
          <p:nvSpPr>
            <p:cNvPr id="918" name="Google Shape;595;p32">
              <a:extLst>
                <a:ext uri="{FF2B5EF4-FFF2-40B4-BE49-F238E27FC236}">
                  <a16:creationId xmlns:a16="http://schemas.microsoft.com/office/drawing/2014/main" id="{2730AB7D-2537-36D7-A427-001F617F25D7}"/>
                </a:ext>
              </a:extLst>
            </p:cNvPr>
            <p:cNvSpPr txBox="1"/>
            <p:nvPr/>
          </p:nvSpPr>
          <p:spPr>
            <a:xfrm>
              <a:off x="3633298" y="3946190"/>
              <a:ext cx="1722952" cy="526485"/>
            </a:xfrm>
            <a:prstGeom prst="rect">
              <a:avLst/>
            </a:prstGeom>
            <a:noFill/>
            <a:ln>
              <a:noFill/>
            </a:ln>
          </p:spPr>
          <p:txBody>
            <a:bodyPr spcFirstLastPara="1" wrap="square" lIns="0" tIns="12711" rIns="0" bIns="0" anchor="t" anchorCtr="0">
              <a:spAutoFit/>
            </a:bodyPr>
            <a:lstStyle/>
            <a:p>
              <a:pPr marL="371203" indent="-296626">
                <a:lnSpc>
                  <a:spcPct val="150000"/>
                </a:lnSpc>
                <a:buClr>
                  <a:schemeClr val="lt1"/>
                </a:buClr>
                <a:buSzPts val="700"/>
                <a:buFont typeface="Bai Jamjuree"/>
                <a:buChar char="●"/>
              </a:pPr>
              <a:r>
                <a:rPr lang="vi" sz="1333" dirty="0">
                  <a:solidFill>
                    <a:schemeClr val="lt1"/>
                  </a:solidFill>
                  <a:latin typeface="Bai Jamjuree"/>
                  <a:ea typeface="Bai Jamjuree"/>
                  <a:cs typeface="Bai Jamjuree"/>
                  <a:sym typeface="Bai Jamjuree"/>
                </a:rPr>
                <a:t>Pytorch, Caffe, TensorFlow, Keras</a:t>
              </a:r>
              <a:endParaRPr sz="1333" dirty="0">
                <a:solidFill>
                  <a:schemeClr val="lt1"/>
                </a:solidFill>
                <a:latin typeface="Bai Jamjuree"/>
                <a:ea typeface="Bai Jamjuree"/>
                <a:cs typeface="Bai Jamjuree"/>
                <a:sym typeface="Bai Jamjuree"/>
              </a:endParaRPr>
            </a:p>
            <a:p>
              <a:pPr marL="371203" indent="-296626">
                <a:lnSpc>
                  <a:spcPct val="150000"/>
                </a:lnSpc>
                <a:buClr>
                  <a:schemeClr val="lt1"/>
                </a:buClr>
                <a:buSzPts val="700"/>
                <a:buFont typeface="Bai Jamjuree"/>
                <a:buChar char="●"/>
              </a:pPr>
              <a:r>
                <a:rPr lang="vi" sz="1333" dirty="0">
                  <a:solidFill>
                    <a:schemeClr val="lt1"/>
                  </a:solidFill>
                  <a:latin typeface="Bai Jamjuree"/>
                  <a:ea typeface="Bai Jamjuree"/>
                  <a:cs typeface="Bai Jamjuree"/>
                  <a:sym typeface="Bai Jamjuree"/>
                </a:rPr>
                <a:t>OpenCV, Scikit-Learn, Pandas, Matplotlib</a:t>
              </a:r>
              <a:endParaRPr sz="1333" dirty="0">
                <a:solidFill>
                  <a:schemeClr val="lt1"/>
                </a:solidFill>
                <a:latin typeface="Bai Jamjuree"/>
                <a:ea typeface="Bai Jamjuree"/>
                <a:cs typeface="Bai Jamjuree"/>
                <a:sym typeface="Bai Jamjuree"/>
              </a:endParaRPr>
            </a:p>
            <a:p>
              <a:pPr marL="371203" indent="-296626">
                <a:lnSpc>
                  <a:spcPct val="150000"/>
                </a:lnSpc>
                <a:buClr>
                  <a:schemeClr val="lt1"/>
                </a:buClr>
                <a:buSzPts val="700"/>
                <a:buFont typeface="Bai Jamjuree"/>
                <a:buChar char="●"/>
              </a:pPr>
              <a:r>
                <a:rPr lang="vi" sz="1333" dirty="0">
                  <a:solidFill>
                    <a:schemeClr val="lt1"/>
                  </a:solidFill>
                  <a:latin typeface="Bai Jamjuree"/>
                  <a:ea typeface="Bai Jamjuree"/>
                  <a:cs typeface="Bai Jamjuree"/>
                  <a:sym typeface="Bai Jamjuree"/>
                </a:rPr>
                <a:t>Programming languages: Python, R</a:t>
              </a:r>
              <a:endParaRPr sz="1333" dirty="0">
                <a:solidFill>
                  <a:schemeClr val="lt1"/>
                </a:solidFill>
                <a:latin typeface="Bai Jamjuree"/>
                <a:ea typeface="Bai Jamjuree"/>
                <a:cs typeface="Bai Jamjuree"/>
                <a:sym typeface="Bai Jamjuree"/>
              </a:endParaRPr>
            </a:p>
          </p:txBody>
        </p:sp>
        <p:pic>
          <p:nvPicPr>
            <p:cNvPr id="919" name="Google Shape;598;p32">
              <a:extLst>
                <a:ext uri="{FF2B5EF4-FFF2-40B4-BE49-F238E27FC236}">
                  <a16:creationId xmlns:a16="http://schemas.microsoft.com/office/drawing/2014/main" id="{CFE292EA-0999-19AD-EA48-CB0F2633BF71}"/>
                </a:ext>
              </a:extLst>
            </p:cNvPr>
            <p:cNvPicPr preferRelativeResize="0"/>
            <p:nvPr/>
          </p:nvPicPr>
          <p:blipFill>
            <a:blip r:embed="rId22" cstate="email">
              <a:alphaModFix/>
              <a:extLst>
                <a:ext uri="{28A0092B-C50C-407E-A947-70E740481C1C}">
                  <a14:useLocalDpi xmlns:a14="http://schemas.microsoft.com/office/drawing/2010/main"/>
                </a:ext>
              </a:extLst>
            </a:blip>
            <a:stretch>
              <a:fillRect/>
            </a:stretch>
          </p:blipFill>
          <p:spPr>
            <a:xfrm>
              <a:off x="3653098" y="3614685"/>
              <a:ext cx="1638828" cy="291975"/>
            </a:xfrm>
            <a:prstGeom prst="rect">
              <a:avLst/>
            </a:prstGeom>
            <a:noFill/>
            <a:ln>
              <a:noFill/>
            </a:ln>
          </p:spPr>
        </p:pic>
        <p:sp>
          <p:nvSpPr>
            <p:cNvPr id="920" name="Google Shape;597;p32">
              <a:extLst>
                <a:ext uri="{FF2B5EF4-FFF2-40B4-BE49-F238E27FC236}">
                  <a16:creationId xmlns:a16="http://schemas.microsoft.com/office/drawing/2014/main" id="{87D20DEE-B2BD-BBDB-7E66-8D66A4784CC5}"/>
                </a:ext>
              </a:extLst>
            </p:cNvPr>
            <p:cNvSpPr txBox="1">
              <a:spLocks/>
            </p:cNvSpPr>
            <p:nvPr/>
          </p:nvSpPr>
          <p:spPr>
            <a:xfrm>
              <a:off x="3707369" y="3693200"/>
              <a:ext cx="1515900" cy="130319"/>
            </a:xfrm>
            <a:prstGeom prst="rect">
              <a:avLst/>
            </a:prstGeom>
            <a:noFill/>
            <a:ln>
              <a:noFill/>
            </a:ln>
          </p:spPr>
          <p:txBody>
            <a:bodyPr spcFirstLastPara="1" wrap="square" lIns="0" tIns="12711" rIns="0" bIns="0" anchor="t"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buSzPts val="800"/>
              </a:pPr>
              <a:r>
                <a:rPr lang="en-US" sz="1422" b="1" dirty="0">
                  <a:solidFill>
                    <a:schemeClr val="lt1"/>
                  </a:solidFill>
                  <a:latin typeface="Plus Jakarta Sans"/>
                  <a:ea typeface="Plus Jakarta Sans"/>
                  <a:cs typeface="Plus Jakarta Sans"/>
                  <a:sym typeface="Plus Jakarta Sans"/>
                </a:rPr>
                <a:t>Framework/ Libraries</a:t>
              </a:r>
            </a:p>
          </p:txBody>
        </p:sp>
      </p:grpSp>
      <p:grpSp>
        <p:nvGrpSpPr>
          <p:cNvPr id="921" name="Group 920">
            <a:extLst>
              <a:ext uri="{FF2B5EF4-FFF2-40B4-BE49-F238E27FC236}">
                <a16:creationId xmlns:a16="http://schemas.microsoft.com/office/drawing/2014/main" id="{79140C03-F3FD-3F33-6C96-0160DDB5EC57}"/>
              </a:ext>
            </a:extLst>
          </p:cNvPr>
          <p:cNvGrpSpPr/>
          <p:nvPr/>
        </p:nvGrpSpPr>
        <p:grpSpPr>
          <a:xfrm>
            <a:off x="10019125" y="6500909"/>
            <a:ext cx="5964000" cy="519066"/>
            <a:chOff x="3653098" y="3614685"/>
            <a:chExt cx="1638828" cy="291975"/>
          </a:xfrm>
        </p:grpSpPr>
        <p:pic>
          <p:nvPicPr>
            <p:cNvPr id="922" name="Google Shape;598;p32">
              <a:extLst>
                <a:ext uri="{FF2B5EF4-FFF2-40B4-BE49-F238E27FC236}">
                  <a16:creationId xmlns:a16="http://schemas.microsoft.com/office/drawing/2014/main" id="{669D7F90-3E9C-FA61-4958-784D6A6E23AC}"/>
                </a:ext>
              </a:extLst>
            </p:cNvPr>
            <p:cNvPicPr preferRelativeResize="0"/>
            <p:nvPr/>
          </p:nvPicPr>
          <p:blipFill>
            <a:blip r:embed="rId23">
              <a:alphaModFix/>
            </a:blip>
            <a:stretch>
              <a:fillRect/>
            </a:stretch>
          </p:blipFill>
          <p:spPr>
            <a:xfrm>
              <a:off x="3653098" y="3614685"/>
              <a:ext cx="1638828" cy="291975"/>
            </a:xfrm>
            <a:prstGeom prst="rect">
              <a:avLst/>
            </a:prstGeom>
            <a:noFill/>
            <a:ln>
              <a:noFill/>
            </a:ln>
          </p:spPr>
        </p:pic>
        <p:sp>
          <p:nvSpPr>
            <p:cNvPr id="923" name="Google Shape;597;p32">
              <a:extLst>
                <a:ext uri="{FF2B5EF4-FFF2-40B4-BE49-F238E27FC236}">
                  <a16:creationId xmlns:a16="http://schemas.microsoft.com/office/drawing/2014/main" id="{D928CC93-0601-9719-C47E-450675DE50BE}"/>
                </a:ext>
              </a:extLst>
            </p:cNvPr>
            <p:cNvSpPr txBox="1">
              <a:spLocks/>
            </p:cNvSpPr>
            <p:nvPr/>
          </p:nvSpPr>
          <p:spPr>
            <a:xfrm>
              <a:off x="3707369" y="3693200"/>
              <a:ext cx="1515900" cy="130319"/>
            </a:xfrm>
            <a:prstGeom prst="rect">
              <a:avLst/>
            </a:prstGeom>
            <a:noFill/>
            <a:ln>
              <a:noFill/>
            </a:ln>
          </p:spPr>
          <p:txBody>
            <a:bodyPr spcFirstLastPara="1" wrap="square" lIns="0" tIns="12711" rIns="0" bIns="0" anchor="t"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buSzPts val="800"/>
              </a:pPr>
              <a:r>
                <a:rPr lang="en-US" sz="1422" b="1" dirty="0">
                  <a:solidFill>
                    <a:schemeClr val="lt1"/>
                  </a:solidFill>
                  <a:latin typeface="Plus Jakarta Sans"/>
                  <a:ea typeface="Plus Jakarta Sans"/>
                  <a:cs typeface="Plus Jakarta Sans"/>
                  <a:sym typeface="Plus Jakarta Sans"/>
                </a:rPr>
                <a:t>Resources</a:t>
              </a:r>
            </a:p>
          </p:txBody>
        </p:sp>
      </p:grpSp>
      <p:sp>
        <p:nvSpPr>
          <p:cNvPr id="924" name="Google Shape;743;p38">
            <a:extLst>
              <a:ext uri="{FF2B5EF4-FFF2-40B4-BE49-F238E27FC236}">
                <a16:creationId xmlns:a16="http://schemas.microsoft.com/office/drawing/2014/main" id="{8C822727-1CA4-FF70-954B-3140961A5468}"/>
              </a:ext>
            </a:extLst>
          </p:cNvPr>
          <p:cNvSpPr txBox="1"/>
          <p:nvPr/>
        </p:nvSpPr>
        <p:spPr>
          <a:xfrm>
            <a:off x="10092280" y="7160594"/>
            <a:ext cx="694256" cy="421793"/>
          </a:xfrm>
          <a:prstGeom prst="rect">
            <a:avLst/>
          </a:prstGeom>
          <a:noFill/>
          <a:ln>
            <a:noFill/>
          </a:ln>
        </p:spPr>
        <p:txBody>
          <a:bodyPr spcFirstLastPara="1" wrap="square" lIns="0" tIns="12711" rIns="0" bIns="0" anchor="t" anchorCtr="0">
            <a:spAutoFit/>
          </a:bodyPr>
          <a:lstStyle/>
          <a:p>
            <a:pPr marL="22578">
              <a:lnSpc>
                <a:spcPct val="115000"/>
              </a:lnSpc>
              <a:buSzPts val="800"/>
            </a:pPr>
            <a:r>
              <a:rPr lang="vi" sz="2311" b="1" dirty="0">
                <a:solidFill>
                  <a:schemeClr val="bg1"/>
                </a:solidFill>
                <a:latin typeface="Plus Jakarta Sans"/>
                <a:ea typeface="Plus Jakarta Sans"/>
                <a:cs typeface="Plus Jakarta Sans"/>
                <a:sym typeface="Plus Jakarta Sans"/>
              </a:rPr>
              <a:t>20+</a:t>
            </a:r>
            <a:endParaRPr sz="2311" b="1" dirty="0">
              <a:solidFill>
                <a:schemeClr val="bg1"/>
              </a:solidFill>
              <a:latin typeface="Plus Jakarta Sans"/>
              <a:ea typeface="Plus Jakarta Sans"/>
              <a:cs typeface="Plus Jakarta Sans"/>
              <a:sym typeface="Plus Jakarta Sans"/>
            </a:endParaRPr>
          </a:p>
        </p:txBody>
      </p:sp>
      <p:sp>
        <p:nvSpPr>
          <p:cNvPr id="925" name="Google Shape;744;p38">
            <a:extLst>
              <a:ext uri="{FF2B5EF4-FFF2-40B4-BE49-F238E27FC236}">
                <a16:creationId xmlns:a16="http://schemas.microsoft.com/office/drawing/2014/main" id="{2F42DA9D-4F63-3799-DB99-4B37C87F75BD}"/>
              </a:ext>
            </a:extLst>
          </p:cNvPr>
          <p:cNvSpPr txBox="1"/>
          <p:nvPr/>
        </p:nvSpPr>
        <p:spPr>
          <a:xfrm>
            <a:off x="10093455" y="7797897"/>
            <a:ext cx="694256" cy="421793"/>
          </a:xfrm>
          <a:prstGeom prst="rect">
            <a:avLst/>
          </a:prstGeom>
          <a:noFill/>
          <a:ln>
            <a:noFill/>
          </a:ln>
        </p:spPr>
        <p:txBody>
          <a:bodyPr spcFirstLastPara="1" wrap="square" lIns="0" tIns="12711" rIns="0" bIns="0" anchor="t" anchorCtr="0">
            <a:spAutoFit/>
          </a:bodyPr>
          <a:lstStyle/>
          <a:p>
            <a:pPr marL="22578">
              <a:lnSpc>
                <a:spcPct val="115000"/>
              </a:lnSpc>
              <a:buSzPts val="800"/>
            </a:pPr>
            <a:r>
              <a:rPr lang="vi" sz="2311" b="1" dirty="0">
                <a:solidFill>
                  <a:schemeClr val="bg1"/>
                </a:solidFill>
                <a:latin typeface="Plus Jakarta Sans"/>
                <a:ea typeface="Plus Jakarta Sans"/>
                <a:cs typeface="Plus Jakarta Sans"/>
                <a:sym typeface="Plus Jakarta Sans"/>
              </a:rPr>
              <a:t>25+</a:t>
            </a:r>
            <a:endParaRPr sz="2311" b="1" dirty="0">
              <a:solidFill>
                <a:schemeClr val="bg1"/>
              </a:solidFill>
              <a:latin typeface="Plus Jakarta Sans"/>
              <a:ea typeface="Plus Jakarta Sans"/>
              <a:cs typeface="Plus Jakarta Sans"/>
              <a:sym typeface="Plus Jakarta Sans"/>
            </a:endParaRPr>
          </a:p>
        </p:txBody>
      </p:sp>
      <p:sp>
        <p:nvSpPr>
          <p:cNvPr id="926" name="Google Shape;752;p38">
            <a:extLst>
              <a:ext uri="{FF2B5EF4-FFF2-40B4-BE49-F238E27FC236}">
                <a16:creationId xmlns:a16="http://schemas.microsoft.com/office/drawing/2014/main" id="{8652DDBC-3D19-D276-D3CC-E4A8ACB81CD5}"/>
              </a:ext>
            </a:extLst>
          </p:cNvPr>
          <p:cNvSpPr txBox="1"/>
          <p:nvPr/>
        </p:nvSpPr>
        <p:spPr>
          <a:xfrm>
            <a:off x="10093455" y="8362905"/>
            <a:ext cx="694256" cy="421793"/>
          </a:xfrm>
          <a:prstGeom prst="rect">
            <a:avLst/>
          </a:prstGeom>
          <a:noFill/>
          <a:ln>
            <a:noFill/>
          </a:ln>
        </p:spPr>
        <p:txBody>
          <a:bodyPr spcFirstLastPara="1" wrap="square" lIns="0" tIns="12711" rIns="0" bIns="0" anchor="t" anchorCtr="0">
            <a:spAutoFit/>
          </a:bodyPr>
          <a:lstStyle/>
          <a:p>
            <a:pPr marL="22578">
              <a:lnSpc>
                <a:spcPct val="115000"/>
              </a:lnSpc>
              <a:buSzPts val="800"/>
            </a:pPr>
            <a:r>
              <a:rPr lang="vi" sz="2311" b="1" dirty="0">
                <a:solidFill>
                  <a:schemeClr val="bg1"/>
                </a:solidFill>
                <a:latin typeface="Plus Jakarta Sans"/>
                <a:ea typeface="Plus Jakarta Sans"/>
                <a:cs typeface="Plus Jakarta Sans"/>
                <a:sym typeface="Plus Jakarta Sans"/>
              </a:rPr>
              <a:t>20+</a:t>
            </a:r>
            <a:endParaRPr sz="2311" b="1" dirty="0">
              <a:solidFill>
                <a:schemeClr val="bg1"/>
              </a:solidFill>
              <a:latin typeface="Plus Jakarta Sans"/>
              <a:ea typeface="Plus Jakarta Sans"/>
              <a:cs typeface="Plus Jakarta Sans"/>
              <a:sym typeface="Plus Jakarta Sans"/>
            </a:endParaRPr>
          </a:p>
        </p:txBody>
      </p:sp>
      <p:sp>
        <p:nvSpPr>
          <p:cNvPr id="927" name="Google Shape;753;p38">
            <a:extLst>
              <a:ext uri="{FF2B5EF4-FFF2-40B4-BE49-F238E27FC236}">
                <a16:creationId xmlns:a16="http://schemas.microsoft.com/office/drawing/2014/main" id="{D59903D8-8A14-135B-0F03-9438BB106982}"/>
              </a:ext>
            </a:extLst>
          </p:cNvPr>
          <p:cNvSpPr txBox="1"/>
          <p:nvPr/>
        </p:nvSpPr>
        <p:spPr>
          <a:xfrm>
            <a:off x="10884389" y="8476320"/>
            <a:ext cx="4873015" cy="231678"/>
          </a:xfrm>
          <a:prstGeom prst="rect">
            <a:avLst/>
          </a:prstGeom>
          <a:noFill/>
          <a:ln>
            <a:noFill/>
          </a:ln>
        </p:spPr>
        <p:txBody>
          <a:bodyPr spcFirstLastPara="1" wrap="square" lIns="0" tIns="12711" rIns="0" bIns="0" anchor="t" anchorCtr="0">
            <a:spAutoFit/>
          </a:bodyPr>
          <a:lstStyle/>
          <a:p>
            <a:pPr>
              <a:buClr>
                <a:schemeClr val="dk1"/>
              </a:buClr>
            </a:pPr>
            <a:r>
              <a:rPr lang="vi" sz="1422" dirty="0">
                <a:solidFill>
                  <a:schemeClr val="bg1"/>
                </a:solidFill>
                <a:latin typeface="Plus Jakarta Sans"/>
                <a:ea typeface="Plus Jakarta Sans"/>
                <a:cs typeface="Plus Jakarta Sans"/>
                <a:sym typeface="Plus Jakarta Sans"/>
              </a:rPr>
              <a:t>Scientific research projects and 20 international articles</a:t>
            </a:r>
            <a:endParaRPr sz="1422" dirty="0">
              <a:solidFill>
                <a:schemeClr val="bg1"/>
              </a:solidFill>
              <a:latin typeface="Plus Jakarta Sans"/>
              <a:ea typeface="Plus Jakarta Sans"/>
              <a:cs typeface="Plus Jakarta Sans"/>
              <a:sym typeface="Plus Jakarta Sans"/>
            </a:endParaRPr>
          </a:p>
        </p:txBody>
      </p:sp>
      <p:sp>
        <p:nvSpPr>
          <p:cNvPr id="928" name="Google Shape;755;p38">
            <a:extLst>
              <a:ext uri="{FF2B5EF4-FFF2-40B4-BE49-F238E27FC236}">
                <a16:creationId xmlns:a16="http://schemas.microsoft.com/office/drawing/2014/main" id="{5CE3A684-5D8E-AA3A-935C-38E432D47F6A}"/>
              </a:ext>
            </a:extLst>
          </p:cNvPr>
          <p:cNvSpPr txBox="1"/>
          <p:nvPr/>
        </p:nvSpPr>
        <p:spPr>
          <a:xfrm>
            <a:off x="10884388" y="7214781"/>
            <a:ext cx="5200437" cy="450519"/>
          </a:xfrm>
          <a:prstGeom prst="rect">
            <a:avLst/>
          </a:prstGeom>
          <a:noFill/>
          <a:ln>
            <a:noFill/>
          </a:ln>
        </p:spPr>
        <p:txBody>
          <a:bodyPr spcFirstLastPara="1" wrap="square" lIns="0" tIns="12711" rIns="0" bIns="0" anchor="t" anchorCtr="0">
            <a:spAutoFit/>
          </a:bodyPr>
          <a:lstStyle/>
          <a:p>
            <a:pPr>
              <a:buClr>
                <a:schemeClr val="dk1"/>
              </a:buClr>
            </a:pPr>
            <a:r>
              <a:rPr lang="vi" sz="1422" dirty="0">
                <a:solidFill>
                  <a:schemeClr val="bg1"/>
                </a:solidFill>
                <a:latin typeface="Plus Jakarta Sans"/>
                <a:ea typeface="Plus Jakarta Sans"/>
                <a:cs typeface="Plus Jakarta Sans"/>
                <a:sym typeface="Plus Jakarta Sans"/>
              </a:rPr>
              <a:t> AI Engineers, leading by an </a:t>
            </a:r>
            <a:r>
              <a:rPr lang="vi" sz="1422" b="1" dirty="0">
                <a:solidFill>
                  <a:schemeClr val="bg1"/>
                </a:solidFill>
                <a:latin typeface="Plus Jakarta Sans"/>
                <a:ea typeface="Plus Jakarta Sans"/>
                <a:cs typeface="Plus Jakarta Sans"/>
                <a:sym typeface="Plus Jakarta Sans"/>
              </a:rPr>
              <a:t>Expert with </a:t>
            </a:r>
            <a:r>
              <a:rPr lang="en-US" sz="1422" b="1" dirty="0">
                <a:solidFill>
                  <a:schemeClr val="bg1"/>
                </a:solidFill>
                <a:latin typeface="Plus Jakarta Sans"/>
                <a:ea typeface="Plus Jakarta Sans"/>
                <a:cs typeface="Plus Jakarta Sans"/>
                <a:sym typeface="Plus Jakarta Sans"/>
              </a:rPr>
              <a:t>PhD in Artificial Intelligence and Machine Learning</a:t>
            </a:r>
            <a:endParaRPr sz="1422" b="1" dirty="0">
              <a:solidFill>
                <a:schemeClr val="bg1"/>
              </a:solidFill>
              <a:latin typeface="Plus Jakarta Sans"/>
              <a:ea typeface="Plus Jakarta Sans"/>
              <a:cs typeface="Plus Jakarta Sans"/>
              <a:sym typeface="Plus Jakarta Sans"/>
            </a:endParaRPr>
          </a:p>
        </p:txBody>
      </p:sp>
      <p:sp>
        <p:nvSpPr>
          <p:cNvPr id="933" name="Google Shape;751;p38">
            <a:extLst>
              <a:ext uri="{FF2B5EF4-FFF2-40B4-BE49-F238E27FC236}">
                <a16:creationId xmlns:a16="http://schemas.microsoft.com/office/drawing/2014/main" id="{0391B677-BB92-08FB-9766-5E98D38D0914}"/>
              </a:ext>
            </a:extLst>
          </p:cNvPr>
          <p:cNvSpPr txBox="1"/>
          <p:nvPr/>
        </p:nvSpPr>
        <p:spPr>
          <a:xfrm>
            <a:off x="10884371" y="7900885"/>
            <a:ext cx="5571979" cy="231678"/>
          </a:xfrm>
          <a:prstGeom prst="rect">
            <a:avLst/>
          </a:prstGeom>
          <a:noFill/>
          <a:ln>
            <a:noFill/>
          </a:ln>
        </p:spPr>
        <p:txBody>
          <a:bodyPr spcFirstLastPara="1" wrap="square" lIns="0" tIns="12711" rIns="0" bIns="0" anchor="t" anchorCtr="0">
            <a:spAutoFit/>
          </a:bodyPr>
          <a:lstStyle/>
          <a:p>
            <a:pPr marL="22578">
              <a:buSzPts val="800"/>
            </a:pPr>
            <a:r>
              <a:rPr lang="vi" sz="1422" dirty="0">
                <a:solidFill>
                  <a:schemeClr val="bg1"/>
                </a:solidFill>
                <a:latin typeface="Plus Jakarta Sans"/>
                <a:ea typeface="Plus Jakarta Sans"/>
                <a:cs typeface="Plus Jakarta Sans"/>
                <a:sym typeface="Plus Jakarta Sans"/>
              </a:rPr>
              <a:t>AI development projects</a:t>
            </a:r>
            <a:endParaRPr sz="1422" dirty="0">
              <a:solidFill>
                <a:schemeClr val="bg1"/>
              </a:solidFill>
              <a:latin typeface="Plus Jakarta Sans"/>
              <a:ea typeface="Plus Jakarta Sans"/>
              <a:cs typeface="Plus Jakarta Sans"/>
              <a:sym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pic>
        <p:nvPicPr>
          <p:cNvPr id="681" name="Google Shape;681;p3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1" y="1"/>
            <a:ext cx="16256032" cy="9144002"/>
          </a:xfrm>
          <a:prstGeom prst="rect">
            <a:avLst/>
          </a:prstGeom>
          <a:noFill/>
          <a:ln>
            <a:noFill/>
          </a:ln>
        </p:spPr>
      </p:pic>
      <p:pic>
        <p:nvPicPr>
          <p:cNvPr id="682" name="Google Shape;682;p36"/>
          <p:cNvPicPr preferRelativeResize="0"/>
          <p:nvPr/>
        </p:nvPicPr>
        <p:blipFill>
          <a:blip r:embed="rId4">
            <a:alphaModFix/>
          </a:blip>
          <a:stretch>
            <a:fillRect/>
          </a:stretch>
        </p:blipFill>
        <p:spPr>
          <a:xfrm>
            <a:off x="0" y="8345911"/>
            <a:ext cx="880533" cy="440267"/>
          </a:xfrm>
          <a:prstGeom prst="rect">
            <a:avLst/>
          </a:prstGeom>
          <a:noFill/>
          <a:ln>
            <a:noFill/>
          </a:ln>
        </p:spPr>
      </p:pic>
      <p:cxnSp>
        <p:nvCxnSpPr>
          <p:cNvPr id="683" name="Google Shape;683;p36"/>
          <p:cNvCxnSpPr/>
          <p:nvPr/>
        </p:nvCxnSpPr>
        <p:spPr>
          <a:xfrm>
            <a:off x="1653600" y="8395111"/>
            <a:ext cx="0" cy="419733"/>
          </a:xfrm>
          <a:prstGeom prst="straightConnector1">
            <a:avLst/>
          </a:prstGeom>
          <a:noFill/>
          <a:ln w="9525" cap="flat" cmpd="sng">
            <a:solidFill>
              <a:srgbClr val="808080"/>
            </a:solidFill>
            <a:prstDash val="solid"/>
            <a:round/>
            <a:headEnd type="none" w="med" len="med"/>
            <a:tailEnd type="none" w="med" len="med"/>
          </a:ln>
        </p:spPr>
      </p:cxnSp>
      <p:sp>
        <p:nvSpPr>
          <p:cNvPr id="684" name="Google Shape;684;p36"/>
          <p:cNvSpPr txBox="1"/>
          <p:nvPr/>
        </p:nvSpPr>
        <p:spPr>
          <a:xfrm>
            <a:off x="872533" y="352711"/>
            <a:ext cx="6118400" cy="369067"/>
          </a:xfrm>
          <a:prstGeom prst="rect">
            <a:avLst/>
          </a:prstGeom>
          <a:noFill/>
          <a:ln>
            <a:noFill/>
          </a:ln>
        </p:spPr>
        <p:txBody>
          <a:bodyPr spcFirstLastPara="1" wrap="square" lIns="162533" tIns="162533" rIns="162533" bIns="162533" anchor="t" anchorCtr="0">
            <a:noAutofit/>
          </a:bodyPr>
          <a:lstStyle/>
          <a:p>
            <a:r>
              <a:rPr lang="vi" sz="1956" b="1">
                <a:solidFill>
                  <a:srgbClr val="3D3D3D"/>
                </a:solidFill>
                <a:latin typeface="Inter"/>
                <a:ea typeface="Inter"/>
                <a:cs typeface="Inter"/>
                <a:sym typeface="Inter"/>
              </a:rPr>
              <a:t>MADE-BY-VTI PRODUCTS &amp; SOLUTIONS</a:t>
            </a:r>
            <a:endParaRPr sz="1956">
              <a:solidFill>
                <a:srgbClr val="3D3D3D"/>
              </a:solidFill>
              <a:latin typeface="Inter"/>
              <a:ea typeface="Inter"/>
              <a:cs typeface="Inter"/>
              <a:sym typeface="Inter"/>
            </a:endParaRPr>
          </a:p>
          <a:p>
            <a:endParaRPr sz="1956">
              <a:solidFill>
                <a:schemeClr val="dk2"/>
              </a:solidFill>
              <a:latin typeface="Inter"/>
              <a:ea typeface="Inter"/>
              <a:cs typeface="Inter"/>
              <a:sym typeface="Inter"/>
            </a:endParaRPr>
          </a:p>
        </p:txBody>
      </p:sp>
      <p:pic>
        <p:nvPicPr>
          <p:cNvPr id="685" name="Google Shape;685;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400244" y="2054889"/>
            <a:ext cx="1198734" cy="313600"/>
          </a:xfrm>
          <a:prstGeom prst="rect">
            <a:avLst/>
          </a:prstGeom>
          <a:noFill/>
          <a:ln>
            <a:noFill/>
          </a:ln>
        </p:spPr>
      </p:pic>
      <p:sp>
        <p:nvSpPr>
          <p:cNvPr id="686" name="Google Shape;686;p36"/>
          <p:cNvSpPr txBox="1"/>
          <p:nvPr/>
        </p:nvSpPr>
        <p:spPr>
          <a:xfrm>
            <a:off x="3695945" y="2057758"/>
            <a:ext cx="4718933" cy="286436"/>
          </a:xfrm>
          <a:prstGeom prst="rect">
            <a:avLst/>
          </a:prstGeom>
          <a:noFill/>
          <a:ln>
            <a:noFill/>
          </a:ln>
        </p:spPr>
        <p:txBody>
          <a:bodyPr spcFirstLastPara="1" wrap="square" lIns="0" tIns="12711" rIns="0" bIns="0" anchor="t" anchorCtr="0">
            <a:spAutoFit/>
          </a:bodyPr>
          <a:lstStyle/>
          <a:p>
            <a:pPr marL="22578">
              <a:buClr>
                <a:schemeClr val="dk1"/>
              </a:buClr>
              <a:buSzPts val="1100"/>
            </a:pPr>
            <a:r>
              <a:rPr lang="vi" sz="1778" b="1">
                <a:solidFill>
                  <a:srgbClr val="004299"/>
                </a:solidFill>
                <a:latin typeface="Inter"/>
                <a:ea typeface="Inter"/>
                <a:cs typeface="Inter"/>
                <a:sym typeface="Inter"/>
              </a:rPr>
              <a:t>MANUFACTURING EXECUTIVE SYSTEM</a:t>
            </a:r>
            <a:endParaRPr sz="1778" b="1">
              <a:solidFill>
                <a:schemeClr val="lt1"/>
              </a:solidFill>
              <a:latin typeface="Inter"/>
              <a:ea typeface="Inter"/>
              <a:cs typeface="Inter"/>
              <a:sym typeface="Inter"/>
            </a:endParaRPr>
          </a:p>
        </p:txBody>
      </p:sp>
      <p:sp>
        <p:nvSpPr>
          <p:cNvPr id="687" name="Google Shape;687;p36"/>
          <p:cNvSpPr txBox="1"/>
          <p:nvPr/>
        </p:nvSpPr>
        <p:spPr>
          <a:xfrm>
            <a:off x="548444" y="966444"/>
            <a:ext cx="14995200" cy="770667"/>
          </a:xfrm>
          <a:prstGeom prst="rect">
            <a:avLst/>
          </a:prstGeom>
          <a:noFill/>
          <a:ln>
            <a:noFill/>
          </a:ln>
        </p:spPr>
        <p:txBody>
          <a:bodyPr spcFirstLastPara="1" wrap="square" lIns="162533" tIns="162533" rIns="162533" bIns="162533" anchor="t" anchorCtr="0">
            <a:noAutofit/>
          </a:bodyPr>
          <a:lstStyle/>
          <a:p>
            <a:pPr>
              <a:lnSpc>
                <a:spcPct val="115000"/>
              </a:lnSpc>
            </a:pPr>
            <a:r>
              <a:rPr lang="vi" sz="1600" b="1">
                <a:solidFill>
                  <a:srgbClr val="3D3D3D"/>
                </a:solidFill>
                <a:latin typeface="Plus Jakarta Sans"/>
                <a:ea typeface="Plus Jakarta Sans"/>
                <a:cs typeface="Plus Jakarta Sans"/>
                <a:sym typeface="Plus Jakarta Sans"/>
              </a:rPr>
              <a:t>VTI Solutions</a:t>
            </a:r>
            <a:r>
              <a:rPr lang="vi" sz="1600">
                <a:solidFill>
                  <a:srgbClr val="3D3D3D"/>
                </a:solidFill>
                <a:latin typeface="Plus Jakarta Sans Medium"/>
                <a:ea typeface="Plus Jakarta Sans Medium"/>
                <a:cs typeface="Plus Jakarta Sans Medium"/>
                <a:sym typeface="Plus Jakarta Sans Medium"/>
              </a:rPr>
              <a:t> has expertise in providing customised highly-scalable software &amp; solutions for customers in diverse industries,</a:t>
            </a:r>
            <a:endParaRPr sz="1600">
              <a:solidFill>
                <a:srgbClr val="3D3D3D"/>
              </a:solidFill>
              <a:latin typeface="Plus Jakarta Sans Medium"/>
              <a:ea typeface="Plus Jakarta Sans Medium"/>
              <a:cs typeface="Plus Jakarta Sans Medium"/>
              <a:sym typeface="Plus Jakarta Sans Medium"/>
            </a:endParaRPr>
          </a:p>
          <a:p>
            <a:pPr>
              <a:lnSpc>
                <a:spcPct val="115000"/>
              </a:lnSpc>
              <a:buClr>
                <a:schemeClr val="dk1"/>
              </a:buClr>
              <a:buSzPts val="1100"/>
            </a:pPr>
            <a:r>
              <a:rPr lang="vi" sz="1600">
                <a:solidFill>
                  <a:srgbClr val="3D3D3D"/>
                </a:solidFill>
                <a:latin typeface="Plus Jakarta Sans Medium"/>
                <a:ea typeface="Plus Jakarta Sans Medium"/>
                <a:cs typeface="Plus Jakarta Sans Medium"/>
                <a:sym typeface="Plus Jakarta Sans Medium"/>
              </a:rPr>
              <a:t>especially Manufacturing and Retail</a:t>
            </a:r>
            <a:endParaRPr sz="1600">
              <a:solidFill>
                <a:srgbClr val="3D3D3D"/>
              </a:solidFill>
              <a:latin typeface="Plus Jakarta Sans Medium"/>
              <a:ea typeface="Plus Jakarta Sans Medium"/>
              <a:cs typeface="Plus Jakarta Sans Medium"/>
              <a:sym typeface="Plus Jakarta Sans Medium"/>
            </a:endParaRPr>
          </a:p>
          <a:p>
            <a:pPr algn="ctr">
              <a:lnSpc>
                <a:spcPct val="115000"/>
              </a:lnSpc>
            </a:pPr>
            <a:endParaRPr sz="1600">
              <a:solidFill>
                <a:srgbClr val="3D3D3D"/>
              </a:solidFill>
              <a:latin typeface="Plus Jakarta Sans Medium"/>
              <a:ea typeface="Plus Jakarta Sans Medium"/>
              <a:cs typeface="Plus Jakarta Sans Medium"/>
              <a:sym typeface="Plus Jakarta Sans Medium"/>
            </a:endParaRPr>
          </a:p>
        </p:txBody>
      </p:sp>
      <p:sp>
        <p:nvSpPr>
          <p:cNvPr id="688" name="Google Shape;688;p36"/>
          <p:cNvSpPr txBox="1"/>
          <p:nvPr/>
        </p:nvSpPr>
        <p:spPr>
          <a:xfrm>
            <a:off x="10600270" y="2068489"/>
            <a:ext cx="3093867" cy="286436"/>
          </a:xfrm>
          <a:prstGeom prst="rect">
            <a:avLst/>
          </a:prstGeom>
          <a:noFill/>
          <a:ln>
            <a:noFill/>
          </a:ln>
        </p:spPr>
        <p:txBody>
          <a:bodyPr spcFirstLastPara="1" wrap="square" lIns="0" tIns="12711" rIns="0" bIns="0" anchor="t" anchorCtr="0">
            <a:spAutoFit/>
          </a:bodyPr>
          <a:lstStyle/>
          <a:p>
            <a:pPr marL="22578">
              <a:buClr>
                <a:schemeClr val="dk1"/>
              </a:buClr>
              <a:buSzPts val="1100"/>
            </a:pPr>
            <a:r>
              <a:rPr lang="vi" sz="1778" b="1">
                <a:solidFill>
                  <a:srgbClr val="004299"/>
                </a:solidFill>
                <a:latin typeface="Inter"/>
                <a:ea typeface="Inter"/>
                <a:cs typeface="Inter"/>
                <a:sym typeface="Inter"/>
              </a:rPr>
              <a:t>SMART ACCESS CONTROL</a:t>
            </a:r>
            <a:endParaRPr sz="1778" b="1">
              <a:solidFill>
                <a:srgbClr val="004299"/>
              </a:solidFill>
              <a:latin typeface="Inter"/>
              <a:ea typeface="Inter"/>
              <a:cs typeface="Inter"/>
              <a:sym typeface="Inter"/>
            </a:endParaRPr>
          </a:p>
        </p:txBody>
      </p:sp>
      <p:sp>
        <p:nvSpPr>
          <p:cNvPr id="689" name="Google Shape;689;p36"/>
          <p:cNvSpPr txBox="1"/>
          <p:nvPr/>
        </p:nvSpPr>
        <p:spPr>
          <a:xfrm rot="-5400000">
            <a:off x="-313600" y="3314578"/>
            <a:ext cx="3304000" cy="630143"/>
          </a:xfrm>
          <a:prstGeom prst="rect">
            <a:avLst/>
          </a:prstGeom>
          <a:noFill/>
          <a:ln>
            <a:noFill/>
          </a:ln>
        </p:spPr>
        <p:txBody>
          <a:bodyPr spcFirstLastPara="1" wrap="square" lIns="0" tIns="27911" rIns="0" bIns="0" anchor="t" anchorCtr="0">
            <a:spAutoFit/>
          </a:bodyPr>
          <a:lstStyle/>
          <a:p>
            <a:pPr marL="22578" algn="ctr"/>
            <a:r>
              <a:rPr lang="vi" sz="1956">
                <a:solidFill>
                  <a:srgbClr val="FFFFFF"/>
                </a:solidFill>
                <a:latin typeface="Inter Medium"/>
                <a:ea typeface="Inter Medium"/>
                <a:cs typeface="Inter Medium"/>
                <a:sym typeface="Inter Medium"/>
              </a:rPr>
              <a:t>DX for</a:t>
            </a:r>
            <a:endParaRPr sz="1956">
              <a:solidFill>
                <a:srgbClr val="FFFFFF"/>
              </a:solidFill>
              <a:latin typeface="Inter Medium"/>
              <a:ea typeface="Inter Medium"/>
              <a:cs typeface="Inter Medium"/>
              <a:sym typeface="Inter Medium"/>
            </a:endParaRPr>
          </a:p>
          <a:p>
            <a:pPr marL="22578" algn="ctr"/>
            <a:r>
              <a:rPr lang="vi" sz="1956">
                <a:solidFill>
                  <a:srgbClr val="FFFFFF"/>
                </a:solidFill>
                <a:latin typeface="Inter Medium"/>
                <a:ea typeface="Inter Medium"/>
                <a:cs typeface="Inter Medium"/>
                <a:sym typeface="Inter Medium"/>
              </a:rPr>
              <a:t>smart factory</a:t>
            </a:r>
            <a:endParaRPr sz="1956">
              <a:solidFill>
                <a:srgbClr val="FFFFFF"/>
              </a:solidFill>
              <a:latin typeface="Inter Medium"/>
              <a:ea typeface="Inter Medium"/>
              <a:cs typeface="Inter Medium"/>
              <a:sym typeface="Inter Medium"/>
            </a:endParaRPr>
          </a:p>
        </p:txBody>
      </p:sp>
      <p:sp>
        <p:nvSpPr>
          <p:cNvPr id="690" name="Google Shape;690;p36"/>
          <p:cNvSpPr txBox="1"/>
          <p:nvPr/>
        </p:nvSpPr>
        <p:spPr>
          <a:xfrm rot="-5400000">
            <a:off x="215734" y="6394843"/>
            <a:ext cx="2245333" cy="630143"/>
          </a:xfrm>
          <a:prstGeom prst="rect">
            <a:avLst/>
          </a:prstGeom>
          <a:noFill/>
          <a:ln>
            <a:noFill/>
          </a:ln>
        </p:spPr>
        <p:txBody>
          <a:bodyPr spcFirstLastPara="1" wrap="square" lIns="0" tIns="27911" rIns="0" bIns="0" anchor="t" anchorCtr="0">
            <a:spAutoFit/>
          </a:bodyPr>
          <a:lstStyle/>
          <a:p>
            <a:pPr marL="22578" algn="ctr"/>
            <a:r>
              <a:rPr lang="vi" sz="1956">
                <a:solidFill>
                  <a:srgbClr val="FFFFFF"/>
                </a:solidFill>
                <a:latin typeface="Inter Medium"/>
                <a:ea typeface="Inter Medium"/>
                <a:cs typeface="Inter Medium"/>
                <a:sym typeface="Inter Medium"/>
              </a:rPr>
              <a:t>DX for</a:t>
            </a:r>
            <a:endParaRPr sz="1956">
              <a:solidFill>
                <a:srgbClr val="FFFFFF"/>
              </a:solidFill>
              <a:latin typeface="Inter Medium"/>
              <a:ea typeface="Inter Medium"/>
              <a:cs typeface="Inter Medium"/>
              <a:sym typeface="Inter Medium"/>
            </a:endParaRPr>
          </a:p>
          <a:p>
            <a:pPr marL="22578" algn="ctr"/>
            <a:r>
              <a:rPr lang="vi" sz="1956">
                <a:solidFill>
                  <a:srgbClr val="FFFFFF"/>
                </a:solidFill>
                <a:latin typeface="Inter Medium"/>
                <a:ea typeface="Inter Medium"/>
                <a:cs typeface="Inter Medium"/>
                <a:sym typeface="Inter Medium"/>
              </a:rPr>
              <a:t>smart office</a:t>
            </a:r>
            <a:endParaRPr sz="1956">
              <a:solidFill>
                <a:srgbClr val="FFFFFF"/>
              </a:solidFill>
              <a:latin typeface="Inter Medium"/>
              <a:ea typeface="Inter Medium"/>
              <a:cs typeface="Inter Medium"/>
              <a:sym typeface="Inter Medium"/>
            </a:endParaRPr>
          </a:p>
        </p:txBody>
      </p:sp>
      <p:grpSp>
        <p:nvGrpSpPr>
          <p:cNvPr id="691" name="Google Shape;691;p36"/>
          <p:cNvGrpSpPr/>
          <p:nvPr/>
        </p:nvGrpSpPr>
        <p:grpSpPr>
          <a:xfrm>
            <a:off x="2280711" y="2887378"/>
            <a:ext cx="6859022" cy="2176468"/>
            <a:chOff x="1385900" y="1623925"/>
            <a:chExt cx="3858200" cy="1224263"/>
          </a:xfrm>
        </p:grpSpPr>
        <p:grpSp>
          <p:nvGrpSpPr>
            <p:cNvPr id="692" name="Google Shape;692;p36"/>
            <p:cNvGrpSpPr/>
            <p:nvPr/>
          </p:nvGrpSpPr>
          <p:grpSpPr>
            <a:xfrm>
              <a:off x="1385900" y="1623925"/>
              <a:ext cx="1772050" cy="339537"/>
              <a:chOff x="1385900" y="1508063"/>
              <a:chExt cx="1772050" cy="339537"/>
            </a:xfrm>
          </p:grpSpPr>
          <p:pic>
            <p:nvPicPr>
              <p:cNvPr id="693" name="Google Shape;693;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385900" y="1610067"/>
                <a:ext cx="517600" cy="237533"/>
              </a:xfrm>
              <a:prstGeom prst="rect">
                <a:avLst/>
              </a:prstGeom>
              <a:noFill/>
              <a:ln>
                <a:noFill/>
              </a:ln>
            </p:spPr>
          </p:pic>
          <p:sp>
            <p:nvSpPr>
              <p:cNvPr id="694" name="Google Shape;694;p36"/>
              <p:cNvSpPr txBox="1"/>
              <p:nvPr/>
            </p:nvSpPr>
            <p:spPr>
              <a:xfrm>
                <a:off x="1903350" y="1508063"/>
                <a:ext cx="1254600" cy="332400"/>
              </a:xfrm>
              <a:prstGeom prst="rect">
                <a:avLst/>
              </a:prstGeom>
              <a:noFill/>
              <a:ln>
                <a:noFill/>
              </a:ln>
            </p:spPr>
            <p:txBody>
              <a:bodyPr spcFirstLastPara="1" wrap="square" lIns="162533" tIns="162533" rIns="162533" bIns="162533" anchor="t" anchorCtr="0">
                <a:noAutofit/>
              </a:bodyPr>
              <a:lstStyle/>
              <a:p>
                <a:pPr>
                  <a:lnSpc>
                    <a:spcPct val="150000"/>
                  </a:lnSpc>
                  <a:buClr>
                    <a:schemeClr val="dk1"/>
                  </a:buClr>
                  <a:buSzPts val="1100"/>
                </a:pPr>
                <a:r>
                  <a:rPr lang="vi" sz="1244">
                    <a:solidFill>
                      <a:srgbClr val="3D3D3D"/>
                    </a:solidFill>
                    <a:latin typeface="Plus Jakarta Sans Medium"/>
                    <a:ea typeface="Plus Jakarta Sans Medium"/>
                    <a:cs typeface="Plus Jakarta Sans Medium"/>
                    <a:sym typeface="Plus Jakarta Sans Medium"/>
                  </a:rPr>
                  <a:t>Manufacturing Execution</a:t>
                </a:r>
                <a:endParaRPr sz="1244">
                  <a:solidFill>
                    <a:srgbClr val="3D3D3D"/>
                  </a:solidFill>
                  <a:latin typeface="Plus Jakarta Sans Medium"/>
                  <a:ea typeface="Plus Jakarta Sans Medium"/>
                  <a:cs typeface="Plus Jakarta Sans Medium"/>
                  <a:sym typeface="Plus Jakarta Sans Medium"/>
                </a:endParaRPr>
              </a:p>
              <a:p>
                <a:pPr>
                  <a:lnSpc>
                    <a:spcPct val="150000"/>
                  </a:lnSpc>
                  <a:buClr>
                    <a:schemeClr val="dk1"/>
                  </a:buClr>
                  <a:buSzPts val="1100"/>
                </a:pPr>
                <a:r>
                  <a:rPr lang="vi" sz="1244">
                    <a:solidFill>
                      <a:srgbClr val="3D3D3D"/>
                    </a:solidFill>
                    <a:latin typeface="Plus Jakarta Sans Medium"/>
                    <a:ea typeface="Plus Jakarta Sans Medium"/>
                    <a:cs typeface="Plus Jakarta Sans Medium"/>
                    <a:sym typeface="Plus Jakarta Sans Medium"/>
                  </a:rPr>
                  <a:t>System</a:t>
                </a:r>
                <a:endParaRPr sz="1244">
                  <a:solidFill>
                    <a:srgbClr val="3D3D3D"/>
                  </a:solidFill>
                  <a:latin typeface="Plus Jakarta Sans Medium"/>
                  <a:ea typeface="Plus Jakarta Sans Medium"/>
                  <a:cs typeface="Plus Jakarta Sans Medium"/>
                  <a:sym typeface="Plus Jakarta Sans Medium"/>
                </a:endParaRPr>
              </a:p>
              <a:p>
                <a:pPr>
                  <a:lnSpc>
                    <a:spcPct val="150000"/>
                  </a:lnSpc>
                </a:pPr>
                <a:r>
                  <a:rPr lang="vi" sz="1244">
                    <a:solidFill>
                      <a:srgbClr val="3D3D3D"/>
                    </a:solidFill>
                    <a:latin typeface="Plus Jakarta Sans Medium"/>
                    <a:ea typeface="Plus Jakarta Sans Medium"/>
                    <a:cs typeface="Plus Jakarta Sans Medium"/>
                    <a:sym typeface="Plus Jakarta Sans Medium"/>
                  </a:rPr>
                  <a:t> </a:t>
                </a:r>
                <a:endParaRPr sz="1244">
                  <a:solidFill>
                    <a:srgbClr val="3D3D3D"/>
                  </a:solidFill>
                  <a:latin typeface="Plus Jakarta Sans Medium"/>
                  <a:ea typeface="Plus Jakarta Sans Medium"/>
                  <a:cs typeface="Plus Jakarta Sans Medium"/>
                  <a:sym typeface="Plus Jakarta Sans Medium"/>
                </a:endParaRPr>
              </a:p>
            </p:txBody>
          </p:sp>
        </p:grpSp>
        <p:grpSp>
          <p:nvGrpSpPr>
            <p:cNvPr id="695" name="Google Shape;695;p36"/>
            <p:cNvGrpSpPr/>
            <p:nvPr/>
          </p:nvGrpSpPr>
          <p:grpSpPr>
            <a:xfrm>
              <a:off x="1385900" y="2116738"/>
              <a:ext cx="1726000" cy="266401"/>
              <a:chOff x="1385900" y="2000875"/>
              <a:chExt cx="1726000" cy="266401"/>
            </a:xfrm>
          </p:grpSpPr>
          <p:pic>
            <p:nvPicPr>
              <p:cNvPr id="696" name="Google Shape;696;p36"/>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1385900" y="2145985"/>
                <a:ext cx="517600" cy="121291"/>
              </a:xfrm>
              <a:prstGeom prst="rect">
                <a:avLst/>
              </a:prstGeom>
              <a:noFill/>
              <a:ln>
                <a:noFill/>
              </a:ln>
            </p:spPr>
          </p:pic>
          <p:sp>
            <p:nvSpPr>
              <p:cNvPr id="697" name="Google Shape;697;p36"/>
              <p:cNvSpPr txBox="1"/>
              <p:nvPr/>
            </p:nvSpPr>
            <p:spPr>
              <a:xfrm>
                <a:off x="1894500" y="2000875"/>
                <a:ext cx="12174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Warehouse</a:t>
                </a:r>
                <a:endParaRPr sz="1244">
                  <a:solidFill>
                    <a:srgbClr val="3D3D3D"/>
                  </a:solidFill>
                  <a:latin typeface="Plus Jakarta Sans Medium"/>
                  <a:ea typeface="Plus Jakarta Sans Medium"/>
                  <a:cs typeface="Plus Jakarta Sans Medium"/>
                  <a:sym typeface="Plus Jakarta Sans Medium"/>
                </a:endParaRPr>
              </a:p>
              <a:p>
                <a:pPr>
                  <a:lnSpc>
                    <a:spcPct val="115000"/>
                  </a:lnSpc>
                </a:pPr>
                <a:r>
                  <a:rPr lang="vi" sz="1244">
                    <a:solidFill>
                      <a:srgbClr val="3D3D3D"/>
                    </a:solidFill>
                    <a:latin typeface="Plus Jakarta Sans Medium"/>
                    <a:ea typeface="Plus Jakarta Sans Medium"/>
                    <a:cs typeface="Plus Jakarta Sans Medium"/>
                    <a:sym typeface="Plus Jakarta Sans Medium"/>
                  </a:rPr>
                  <a:t>Management System</a:t>
                </a:r>
                <a:endParaRPr sz="1244">
                  <a:solidFill>
                    <a:srgbClr val="3D3D3D"/>
                  </a:solidFill>
                  <a:latin typeface="Plus Jakarta Sans Medium"/>
                  <a:ea typeface="Plus Jakarta Sans Medium"/>
                  <a:cs typeface="Plus Jakarta Sans Medium"/>
                  <a:sym typeface="Plus Jakarta Sans Medium"/>
                </a:endParaRPr>
              </a:p>
            </p:txBody>
          </p:sp>
        </p:grpSp>
        <p:grpSp>
          <p:nvGrpSpPr>
            <p:cNvPr id="698" name="Google Shape;698;p36"/>
            <p:cNvGrpSpPr/>
            <p:nvPr/>
          </p:nvGrpSpPr>
          <p:grpSpPr>
            <a:xfrm>
              <a:off x="1385900" y="2567938"/>
              <a:ext cx="1772050" cy="280250"/>
              <a:chOff x="1385900" y="2452075"/>
              <a:chExt cx="1772050" cy="280250"/>
            </a:xfrm>
          </p:grpSpPr>
          <p:pic>
            <p:nvPicPr>
              <p:cNvPr id="699" name="Google Shape;699;p36"/>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1385900" y="2599025"/>
                <a:ext cx="517600" cy="133300"/>
              </a:xfrm>
              <a:prstGeom prst="rect">
                <a:avLst/>
              </a:prstGeom>
              <a:noFill/>
              <a:ln>
                <a:noFill/>
              </a:ln>
            </p:spPr>
          </p:pic>
          <p:sp>
            <p:nvSpPr>
              <p:cNvPr id="700" name="Google Shape;700;p36"/>
              <p:cNvSpPr txBox="1"/>
              <p:nvPr/>
            </p:nvSpPr>
            <p:spPr>
              <a:xfrm>
                <a:off x="1903350" y="2452075"/>
                <a:ext cx="12546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Quality Management</a:t>
                </a:r>
                <a:endParaRPr sz="1244">
                  <a:solidFill>
                    <a:srgbClr val="3D3D3D"/>
                  </a:solidFill>
                  <a:latin typeface="Plus Jakarta Sans Medium"/>
                  <a:ea typeface="Plus Jakarta Sans Medium"/>
                  <a:cs typeface="Plus Jakarta Sans Medium"/>
                  <a:sym typeface="Plus Jakarta Sans Medium"/>
                </a:endParaRPr>
              </a:p>
              <a:p>
                <a:pPr>
                  <a:lnSpc>
                    <a:spcPct val="115000"/>
                  </a:lnSpc>
                </a:pPr>
                <a:r>
                  <a:rPr lang="vi" sz="1244">
                    <a:solidFill>
                      <a:srgbClr val="3D3D3D"/>
                    </a:solidFill>
                    <a:latin typeface="Plus Jakarta Sans Medium"/>
                    <a:ea typeface="Plus Jakarta Sans Medium"/>
                    <a:cs typeface="Plus Jakarta Sans Medium"/>
                    <a:sym typeface="Plus Jakarta Sans Medium"/>
                  </a:rPr>
                  <a:t>System</a:t>
                </a:r>
                <a:endParaRPr sz="1244">
                  <a:solidFill>
                    <a:srgbClr val="3D3D3D"/>
                  </a:solidFill>
                  <a:latin typeface="Plus Jakarta Sans Medium"/>
                  <a:ea typeface="Plus Jakarta Sans Medium"/>
                  <a:cs typeface="Plus Jakarta Sans Medium"/>
                  <a:sym typeface="Plus Jakarta Sans Medium"/>
                </a:endParaRPr>
              </a:p>
            </p:txBody>
          </p:sp>
        </p:grpSp>
        <p:grpSp>
          <p:nvGrpSpPr>
            <p:cNvPr id="701" name="Google Shape;701;p36"/>
            <p:cNvGrpSpPr/>
            <p:nvPr/>
          </p:nvGrpSpPr>
          <p:grpSpPr>
            <a:xfrm>
              <a:off x="3319763" y="1623925"/>
              <a:ext cx="1920038" cy="256386"/>
              <a:chOff x="3321313" y="1543225"/>
              <a:chExt cx="1920038" cy="256386"/>
            </a:xfrm>
          </p:grpSpPr>
          <p:pic>
            <p:nvPicPr>
              <p:cNvPr id="702" name="Google Shape;702;p36"/>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3321313" y="1666311"/>
                <a:ext cx="537484" cy="133300"/>
              </a:xfrm>
              <a:prstGeom prst="rect">
                <a:avLst/>
              </a:prstGeom>
              <a:noFill/>
              <a:ln>
                <a:noFill/>
              </a:ln>
            </p:spPr>
          </p:pic>
          <p:sp>
            <p:nvSpPr>
              <p:cNvPr id="703" name="Google Shape;703;p36"/>
              <p:cNvSpPr txBox="1"/>
              <p:nvPr/>
            </p:nvSpPr>
            <p:spPr>
              <a:xfrm>
                <a:off x="3894050" y="1543225"/>
                <a:ext cx="13473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Maintenance</a:t>
                </a:r>
                <a:endParaRPr sz="1244">
                  <a:solidFill>
                    <a:srgbClr val="3D3D3D"/>
                  </a:solidFill>
                  <a:latin typeface="Plus Jakarta Sans Medium"/>
                  <a:ea typeface="Plus Jakarta Sans Medium"/>
                  <a:cs typeface="Plus Jakarta Sans Medium"/>
                  <a:sym typeface="Plus Jakarta Sans Medium"/>
                </a:endParaRPr>
              </a:p>
              <a:p>
                <a:pPr>
                  <a:lnSpc>
                    <a:spcPct val="115000"/>
                  </a:lnSpc>
                </a:pPr>
                <a:r>
                  <a:rPr lang="vi" sz="1244">
                    <a:solidFill>
                      <a:srgbClr val="3D3D3D"/>
                    </a:solidFill>
                    <a:latin typeface="Plus Jakarta Sans Medium"/>
                    <a:ea typeface="Plus Jakarta Sans Medium"/>
                    <a:cs typeface="Plus Jakarta Sans Medium"/>
                    <a:sym typeface="Plus Jakarta Sans Medium"/>
                  </a:rPr>
                  <a:t>Management System</a:t>
                </a: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422">
                  <a:solidFill>
                    <a:srgbClr val="3D3D3D"/>
                  </a:solidFill>
                  <a:latin typeface="Plus Jakarta Sans Medium"/>
                  <a:ea typeface="Plus Jakarta Sans Medium"/>
                  <a:cs typeface="Plus Jakarta Sans Medium"/>
                  <a:sym typeface="Plus Jakarta Sans Medium"/>
                </a:endParaRPr>
              </a:p>
            </p:txBody>
          </p:sp>
        </p:grpSp>
        <p:grpSp>
          <p:nvGrpSpPr>
            <p:cNvPr id="704" name="Google Shape;704;p36"/>
            <p:cNvGrpSpPr/>
            <p:nvPr/>
          </p:nvGrpSpPr>
          <p:grpSpPr>
            <a:xfrm>
              <a:off x="3333800" y="2068400"/>
              <a:ext cx="1761225" cy="266013"/>
              <a:chOff x="3335350" y="1987700"/>
              <a:chExt cx="1761225" cy="266013"/>
            </a:xfrm>
          </p:grpSpPr>
          <p:pic>
            <p:nvPicPr>
              <p:cNvPr id="705" name="Google Shape;705;p36"/>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3335350" y="2111300"/>
                <a:ext cx="537475" cy="142413"/>
              </a:xfrm>
              <a:prstGeom prst="rect">
                <a:avLst/>
              </a:prstGeom>
              <a:noFill/>
              <a:ln>
                <a:noFill/>
              </a:ln>
            </p:spPr>
          </p:pic>
          <p:sp>
            <p:nvSpPr>
              <p:cNvPr id="706" name="Google Shape;706;p36"/>
              <p:cNvSpPr txBox="1"/>
              <p:nvPr/>
            </p:nvSpPr>
            <p:spPr>
              <a:xfrm>
                <a:off x="3901075" y="1987700"/>
                <a:ext cx="11955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Traceability</a:t>
                </a:r>
                <a:endParaRPr sz="1244">
                  <a:solidFill>
                    <a:srgbClr val="3D3D3D"/>
                  </a:solidFill>
                  <a:latin typeface="Plus Jakarta Sans Medium"/>
                  <a:ea typeface="Plus Jakarta Sans Medium"/>
                  <a:cs typeface="Plus Jakarta Sans Medium"/>
                  <a:sym typeface="Plus Jakarta Sans Medium"/>
                </a:endParaRPr>
              </a:p>
              <a:p>
                <a:pPr>
                  <a:lnSpc>
                    <a:spcPct val="115000"/>
                  </a:lnSpc>
                </a:pPr>
                <a:r>
                  <a:rPr lang="vi" sz="1244">
                    <a:solidFill>
                      <a:srgbClr val="3D3D3D"/>
                    </a:solidFill>
                    <a:latin typeface="Plus Jakarta Sans Medium"/>
                    <a:ea typeface="Plus Jakarta Sans Medium"/>
                    <a:cs typeface="Plus Jakarta Sans Medium"/>
                    <a:sym typeface="Plus Jakarta Sans Medium"/>
                  </a:rPr>
                  <a:t>Management System</a:t>
                </a: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422">
                  <a:solidFill>
                    <a:srgbClr val="3D3D3D"/>
                  </a:solidFill>
                  <a:latin typeface="Plus Jakarta Sans Medium"/>
                  <a:ea typeface="Plus Jakarta Sans Medium"/>
                  <a:cs typeface="Plus Jakarta Sans Medium"/>
                  <a:sym typeface="Plus Jakarta Sans Medium"/>
                </a:endParaRPr>
              </a:p>
            </p:txBody>
          </p:sp>
        </p:grpSp>
        <p:grpSp>
          <p:nvGrpSpPr>
            <p:cNvPr id="707" name="Google Shape;707;p36"/>
            <p:cNvGrpSpPr/>
            <p:nvPr/>
          </p:nvGrpSpPr>
          <p:grpSpPr>
            <a:xfrm>
              <a:off x="3333800" y="2512863"/>
              <a:ext cx="1910300" cy="285051"/>
              <a:chOff x="3335350" y="2432163"/>
              <a:chExt cx="1910300" cy="285051"/>
            </a:xfrm>
          </p:grpSpPr>
          <p:pic>
            <p:nvPicPr>
              <p:cNvPr id="708" name="Google Shape;708;p36"/>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3335350" y="2574801"/>
                <a:ext cx="537475" cy="142413"/>
              </a:xfrm>
              <a:prstGeom prst="rect">
                <a:avLst/>
              </a:prstGeom>
              <a:noFill/>
              <a:ln>
                <a:noFill/>
              </a:ln>
            </p:spPr>
          </p:pic>
          <p:sp>
            <p:nvSpPr>
              <p:cNvPr id="709" name="Google Shape;709;p36"/>
              <p:cNvSpPr txBox="1"/>
              <p:nvPr/>
            </p:nvSpPr>
            <p:spPr>
              <a:xfrm>
                <a:off x="3898350" y="2432163"/>
                <a:ext cx="13473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Procurement</a:t>
                </a:r>
                <a:endParaRPr sz="1244">
                  <a:solidFill>
                    <a:srgbClr val="3D3D3D"/>
                  </a:solidFill>
                  <a:latin typeface="Plus Jakarta Sans Medium"/>
                  <a:ea typeface="Plus Jakarta Sans Medium"/>
                  <a:cs typeface="Plus Jakarta Sans Medium"/>
                  <a:sym typeface="Plus Jakarta Sans Medium"/>
                </a:endParaRPr>
              </a:p>
              <a:p>
                <a:pPr>
                  <a:lnSpc>
                    <a:spcPct val="115000"/>
                  </a:lnSpc>
                </a:pPr>
                <a:r>
                  <a:rPr lang="vi" sz="1244">
                    <a:solidFill>
                      <a:srgbClr val="3D3D3D"/>
                    </a:solidFill>
                    <a:latin typeface="Plus Jakarta Sans Medium"/>
                    <a:ea typeface="Plus Jakarta Sans Medium"/>
                    <a:cs typeface="Plus Jakarta Sans Medium"/>
                    <a:sym typeface="Plus Jakarta Sans Medium"/>
                  </a:rPr>
                  <a:t>Management System</a:t>
                </a: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422">
                  <a:solidFill>
                    <a:srgbClr val="3D3D3D"/>
                  </a:solidFill>
                  <a:latin typeface="Plus Jakarta Sans Medium"/>
                  <a:ea typeface="Plus Jakarta Sans Medium"/>
                  <a:cs typeface="Plus Jakarta Sans Medium"/>
                  <a:sym typeface="Plus Jakarta Sans Medium"/>
                </a:endParaRPr>
              </a:p>
            </p:txBody>
          </p:sp>
        </p:grpSp>
      </p:grpSp>
      <p:grpSp>
        <p:nvGrpSpPr>
          <p:cNvPr id="710" name="Google Shape;710;p36"/>
          <p:cNvGrpSpPr/>
          <p:nvPr/>
        </p:nvGrpSpPr>
        <p:grpSpPr>
          <a:xfrm>
            <a:off x="9520290" y="2415644"/>
            <a:ext cx="4770933" cy="1198756"/>
            <a:chOff x="5242150" y="1358800"/>
            <a:chExt cx="2683650" cy="674300"/>
          </a:xfrm>
        </p:grpSpPr>
        <p:pic>
          <p:nvPicPr>
            <p:cNvPr id="711" name="Google Shape;711;p36"/>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5242150" y="1358800"/>
              <a:ext cx="674300" cy="674300"/>
            </a:xfrm>
            <a:prstGeom prst="rect">
              <a:avLst/>
            </a:prstGeom>
            <a:noFill/>
            <a:ln>
              <a:noFill/>
            </a:ln>
          </p:spPr>
        </p:pic>
        <p:sp>
          <p:nvSpPr>
            <p:cNvPr id="712" name="Google Shape;712;p36"/>
            <p:cNvSpPr txBox="1"/>
            <p:nvPr/>
          </p:nvSpPr>
          <p:spPr>
            <a:xfrm>
              <a:off x="6017500" y="1511025"/>
              <a:ext cx="19083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Smart facial recognition attendance</a:t>
              </a:r>
              <a:endParaRPr sz="1244">
                <a:solidFill>
                  <a:srgbClr val="3D3D3D"/>
                </a:solidFill>
                <a:latin typeface="Plus Jakarta Sans Medium"/>
                <a:ea typeface="Plus Jakarta Sans Medium"/>
                <a:cs typeface="Plus Jakarta Sans Medium"/>
                <a:sym typeface="Plus Jakarta Sans Medium"/>
              </a:endParaRPr>
            </a:p>
            <a:p>
              <a:pPr>
                <a:lnSpc>
                  <a:spcPct val="115000"/>
                </a:lnSpc>
              </a:pPr>
              <a:r>
                <a:rPr lang="vi" sz="1244">
                  <a:solidFill>
                    <a:srgbClr val="3D3D3D"/>
                  </a:solidFill>
                  <a:latin typeface="Plus Jakarta Sans Medium"/>
                  <a:ea typeface="Plus Jakarta Sans Medium"/>
                  <a:cs typeface="Plus Jakarta Sans Medium"/>
                  <a:sym typeface="Plus Jakarta Sans Medium"/>
                </a:rPr>
                <a:t>management system</a:t>
              </a: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422">
                <a:solidFill>
                  <a:srgbClr val="3D3D3D"/>
                </a:solidFill>
                <a:latin typeface="Plus Jakarta Sans Medium"/>
                <a:ea typeface="Plus Jakarta Sans Medium"/>
                <a:cs typeface="Plus Jakarta Sans Medium"/>
                <a:sym typeface="Plus Jakarta Sans Medium"/>
              </a:endParaRPr>
            </a:p>
          </p:txBody>
        </p:sp>
      </p:grpSp>
      <p:grpSp>
        <p:nvGrpSpPr>
          <p:cNvPr id="713" name="Google Shape;713;p36"/>
          <p:cNvGrpSpPr/>
          <p:nvPr/>
        </p:nvGrpSpPr>
        <p:grpSpPr>
          <a:xfrm>
            <a:off x="9631534" y="3189077"/>
            <a:ext cx="5317177" cy="1026814"/>
            <a:chOff x="5304725" y="1793855"/>
            <a:chExt cx="2990912" cy="577583"/>
          </a:xfrm>
        </p:grpSpPr>
        <p:pic>
          <p:nvPicPr>
            <p:cNvPr id="714" name="Google Shape;714;p36"/>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5304725" y="1793855"/>
              <a:ext cx="579600" cy="577583"/>
            </a:xfrm>
            <a:prstGeom prst="rect">
              <a:avLst/>
            </a:prstGeom>
            <a:noFill/>
            <a:ln>
              <a:noFill/>
            </a:ln>
          </p:spPr>
        </p:pic>
        <p:sp>
          <p:nvSpPr>
            <p:cNvPr id="715" name="Google Shape;715;p36"/>
            <p:cNvSpPr txBox="1"/>
            <p:nvPr/>
          </p:nvSpPr>
          <p:spPr>
            <a:xfrm>
              <a:off x="6040237" y="1868750"/>
              <a:ext cx="22554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Bus Operation &amp; Fleeting</a:t>
              </a:r>
              <a:endParaRPr sz="1244">
                <a:solidFill>
                  <a:srgbClr val="3D3D3D"/>
                </a:solidFill>
                <a:latin typeface="Plus Jakarta Sans Medium"/>
                <a:ea typeface="Plus Jakarta Sans Medium"/>
                <a:cs typeface="Plus Jakarta Sans Medium"/>
                <a:sym typeface="Plus Jakarta Sans Medium"/>
              </a:endParaRPr>
            </a:p>
            <a:p>
              <a:pPr>
                <a:lnSpc>
                  <a:spcPct val="115000"/>
                </a:lnSpc>
              </a:pPr>
              <a:r>
                <a:rPr lang="vi" sz="1244">
                  <a:solidFill>
                    <a:srgbClr val="3D3D3D"/>
                  </a:solidFill>
                  <a:latin typeface="Plus Jakarta Sans Medium"/>
                  <a:ea typeface="Plus Jakarta Sans Medium"/>
                  <a:cs typeface="Plus Jakarta Sans Medium"/>
                  <a:sym typeface="Plus Jakarta Sans Medium"/>
                </a:rPr>
                <a:t>management system</a:t>
              </a: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422">
                <a:solidFill>
                  <a:srgbClr val="3D3D3D"/>
                </a:solidFill>
                <a:latin typeface="Plus Jakarta Sans Medium"/>
                <a:ea typeface="Plus Jakarta Sans Medium"/>
                <a:cs typeface="Plus Jakarta Sans Medium"/>
                <a:sym typeface="Plus Jakarta Sans Medium"/>
              </a:endParaRPr>
            </a:p>
          </p:txBody>
        </p:sp>
      </p:grpSp>
      <p:grpSp>
        <p:nvGrpSpPr>
          <p:cNvPr id="716" name="Google Shape;716;p36"/>
          <p:cNvGrpSpPr/>
          <p:nvPr/>
        </p:nvGrpSpPr>
        <p:grpSpPr>
          <a:xfrm>
            <a:off x="9347801" y="3691290"/>
            <a:ext cx="5598756" cy="1584133"/>
            <a:chOff x="5145125" y="2076350"/>
            <a:chExt cx="3149300" cy="891075"/>
          </a:xfrm>
        </p:grpSpPr>
        <p:pic>
          <p:nvPicPr>
            <p:cNvPr id="717" name="Google Shape;717;p36"/>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5145125" y="2076350"/>
              <a:ext cx="891075" cy="891075"/>
            </a:xfrm>
            <a:prstGeom prst="rect">
              <a:avLst/>
            </a:prstGeom>
            <a:noFill/>
            <a:ln>
              <a:noFill/>
            </a:ln>
          </p:spPr>
        </p:pic>
        <p:sp>
          <p:nvSpPr>
            <p:cNvPr id="718" name="Google Shape;718;p36"/>
            <p:cNvSpPr txBox="1"/>
            <p:nvPr/>
          </p:nvSpPr>
          <p:spPr>
            <a:xfrm>
              <a:off x="6040225" y="2371625"/>
              <a:ext cx="22542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AI-based smart license plate recognition system</a:t>
              </a: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422">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422">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422">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422">
                <a:solidFill>
                  <a:srgbClr val="3D3D3D"/>
                </a:solidFill>
                <a:latin typeface="Plus Jakarta Sans Medium"/>
                <a:ea typeface="Plus Jakarta Sans Medium"/>
                <a:cs typeface="Plus Jakarta Sans Medium"/>
                <a:sym typeface="Plus Jakarta Sans Medium"/>
              </a:endParaRPr>
            </a:p>
          </p:txBody>
        </p:sp>
      </p:grpSp>
      <p:grpSp>
        <p:nvGrpSpPr>
          <p:cNvPr id="719" name="Google Shape;719;p36"/>
          <p:cNvGrpSpPr/>
          <p:nvPr/>
        </p:nvGrpSpPr>
        <p:grpSpPr>
          <a:xfrm>
            <a:off x="9464646" y="4846534"/>
            <a:ext cx="4529244" cy="477022"/>
            <a:chOff x="5210850" y="2726175"/>
            <a:chExt cx="2547700" cy="268325"/>
          </a:xfrm>
        </p:grpSpPr>
        <p:pic>
          <p:nvPicPr>
            <p:cNvPr id="720" name="Google Shape;720;p36"/>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a:off x="5210850" y="2758400"/>
              <a:ext cx="736910" cy="236100"/>
            </a:xfrm>
            <a:prstGeom prst="rect">
              <a:avLst/>
            </a:prstGeom>
            <a:noFill/>
            <a:ln>
              <a:noFill/>
            </a:ln>
          </p:spPr>
        </p:pic>
        <p:sp>
          <p:nvSpPr>
            <p:cNvPr id="721" name="Google Shape;721;p36"/>
            <p:cNvSpPr txBox="1"/>
            <p:nvPr/>
          </p:nvSpPr>
          <p:spPr>
            <a:xfrm>
              <a:off x="6047950" y="2726175"/>
              <a:ext cx="17106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LCD Virtual Receptionist</a:t>
              </a: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422">
                <a:solidFill>
                  <a:srgbClr val="3D3D3D"/>
                </a:solidFill>
                <a:latin typeface="Plus Jakarta Sans Medium"/>
                <a:ea typeface="Plus Jakarta Sans Medium"/>
                <a:cs typeface="Plus Jakarta Sans Medium"/>
                <a:sym typeface="Plus Jakarta Sans Medium"/>
              </a:endParaRPr>
            </a:p>
          </p:txBody>
        </p:sp>
      </p:grpSp>
      <p:grpSp>
        <p:nvGrpSpPr>
          <p:cNvPr id="722" name="Google Shape;722;p36"/>
          <p:cNvGrpSpPr/>
          <p:nvPr/>
        </p:nvGrpSpPr>
        <p:grpSpPr>
          <a:xfrm>
            <a:off x="11337734" y="6372335"/>
            <a:ext cx="4009733" cy="614711"/>
            <a:chOff x="6442275" y="3548650"/>
            <a:chExt cx="2255475" cy="345775"/>
          </a:xfrm>
        </p:grpSpPr>
        <p:pic>
          <p:nvPicPr>
            <p:cNvPr id="723" name="Google Shape;723;p36"/>
            <p:cNvPicPr preferRelativeResize="0"/>
            <p:nvPr/>
          </p:nvPicPr>
          <p:blipFill>
            <a:blip r:embed="rId16" cstate="email">
              <a:alphaModFix/>
              <a:extLst>
                <a:ext uri="{28A0092B-C50C-407E-A947-70E740481C1C}">
                  <a14:useLocalDpi xmlns:a14="http://schemas.microsoft.com/office/drawing/2010/main"/>
                </a:ext>
              </a:extLst>
            </a:blip>
            <a:stretch>
              <a:fillRect/>
            </a:stretch>
          </p:blipFill>
          <p:spPr>
            <a:xfrm>
              <a:off x="6442275" y="3654213"/>
              <a:ext cx="837100" cy="240212"/>
            </a:xfrm>
            <a:prstGeom prst="rect">
              <a:avLst/>
            </a:prstGeom>
            <a:noFill/>
            <a:ln>
              <a:noFill/>
            </a:ln>
          </p:spPr>
        </p:pic>
        <p:sp>
          <p:nvSpPr>
            <p:cNvPr id="724" name="Google Shape;724;p36"/>
            <p:cNvSpPr txBox="1"/>
            <p:nvPr/>
          </p:nvSpPr>
          <p:spPr>
            <a:xfrm>
              <a:off x="7227750" y="3548650"/>
              <a:ext cx="14700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Smart Meeting</a:t>
              </a:r>
              <a:endParaRPr sz="1244">
                <a:solidFill>
                  <a:srgbClr val="3D3D3D"/>
                </a:solidFill>
                <a:latin typeface="Plus Jakarta Sans Medium"/>
                <a:ea typeface="Plus Jakarta Sans Medium"/>
                <a:cs typeface="Plus Jakarta Sans Medium"/>
                <a:sym typeface="Plus Jakarta Sans Medium"/>
              </a:endParaRPr>
            </a:p>
            <a:p>
              <a:pPr>
                <a:lnSpc>
                  <a:spcPct val="115000"/>
                </a:lnSpc>
              </a:pPr>
              <a:r>
                <a:rPr lang="vi" sz="1244">
                  <a:solidFill>
                    <a:srgbClr val="3D3D3D"/>
                  </a:solidFill>
                  <a:latin typeface="Plus Jakarta Sans Medium"/>
                  <a:ea typeface="Plus Jakarta Sans Medium"/>
                  <a:cs typeface="Plus Jakarta Sans Medium"/>
                  <a:sym typeface="Plus Jakarta Sans Medium"/>
                </a:rPr>
                <a:t>Management</a:t>
              </a: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p:txBody>
        </p:sp>
      </p:grpSp>
      <p:grpSp>
        <p:nvGrpSpPr>
          <p:cNvPr id="725" name="Google Shape;725;p36"/>
          <p:cNvGrpSpPr/>
          <p:nvPr/>
        </p:nvGrpSpPr>
        <p:grpSpPr>
          <a:xfrm>
            <a:off x="2571911" y="5656755"/>
            <a:ext cx="4144356" cy="1198756"/>
            <a:chOff x="1282900" y="3101763"/>
            <a:chExt cx="2331200" cy="674300"/>
          </a:xfrm>
        </p:grpSpPr>
        <p:pic>
          <p:nvPicPr>
            <p:cNvPr id="726" name="Google Shape;726;p36"/>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1282900" y="3101763"/>
              <a:ext cx="674300" cy="674300"/>
            </a:xfrm>
            <a:prstGeom prst="rect">
              <a:avLst/>
            </a:prstGeom>
            <a:noFill/>
            <a:ln>
              <a:noFill/>
            </a:ln>
          </p:spPr>
        </p:pic>
        <p:sp>
          <p:nvSpPr>
            <p:cNvPr id="727" name="Google Shape;727;p36"/>
            <p:cNvSpPr txBox="1"/>
            <p:nvPr/>
          </p:nvSpPr>
          <p:spPr>
            <a:xfrm>
              <a:off x="1903500" y="3232225"/>
              <a:ext cx="17106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Smart facial recognition </a:t>
              </a:r>
              <a:endParaRPr sz="1244">
                <a:solidFill>
                  <a:srgbClr val="3D3D3D"/>
                </a:solidFill>
                <a:latin typeface="Plus Jakarta Sans Medium"/>
                <a:ea typeface="Plus Jakarta Sans Medium"/>
                <a:cs typeface="Plus Jakarta Sans Medium"/>
                <a:sym typeface="Plus Jakarta Sans Medium"/>
              </a:endParaRPr>
            </a:p>
            <a:p>
              <a:pPr>
                <a:lnSpc>
                  <a:spcPct val="115000"/>
                </a:lnSpc>
              </a:pPr>
              <a:r>
                <a:rPr lang="vi" sz="1244">
                  <a:solidFill>
                    <a:srgbClr val="3D3D3D"/>
                  </a:solidFill>
                  <a:latin typeface="Plus Jakarta Sans Medium"/>
                  <a:ea typeface="Plus Jakarta Sans Medium"/>
                  <a:cs typeface="Plus Jakarta Sans Medium"/>
                  <a:sym typeface="Plus Jakarta Sans Medium"/>
                </a:rPr>
                <a:t>attendance management system</a:t>
              </a: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p:txBody>
        </p:sp>
      </p:grpSp>
      <p:grpSp>
        <p:nvGrpSpPr>
          <p:cNvPr id="728" name="Google Shape;728;p36"/>
          <p:cNvGrpSpPr/>
          <p:nvPr/>
        </p:nvGrpSpPr>
        <p:grpSpPr>
          <a:xfrm>
            <a:off x="2565781" y="6628958"/>
            <a:ext cx="5251998" cy="1262220"/>
            <a:chOff x="1279451" y="3648626"/>
            <a:chExt cx="2954249" cy="709999"/>
          </a:xfrm>
        </p:grpSpPr>
        <p:pic>
          <p:nvPicPr>
            <p:cNvPr id="729" name="Google Shape;729;p36"/>
            <p:cNvPicPr preferRelativeResize="0"/>
            <p:nvPr/>
          </p:nvPicPr>
          <p:blipFill>
            <a:blip r:embed="rId17" cstate="email">
              <a:alphaModFix/>
              <a:extLst>
                <a:ext uri="{28A0092B-C50C-407E-A947-70E740481C1C}">
                  <a14:useLocalDpi xmlns:a14="http://schemas.microsoft.com/office/drawing/2010/main"/>
                </a:ext>
              </a:extLst>
            </a:blip>
            <a:stretch>
              <a:fillRect/>
            </a:stretch>
          </p:blipFill>
          <p:spPr>
            <a:xfrm>
              <a:off x="1279451" y="3648626"/>
              <a:ext cx="712475" cy="709999"/>
            </a:xfrm>
            <a:prstGeom prst="rect">
              <a:avLst/>
            </a:prstGeom>
            <a:noFill/>
            <a:ln>
              <a:noFill/>
            </a:ln>
          </p:spPr>
        </p:pic>
        <p:sp>
          <p:nvSpPr>
            <p:cNvPr id="730" name="Google Shape;730;p36"/>
            <p:cNvSpPr txBox="1"/>
            <p:nvPr/>
          </p:nvSpPr>
          <p:spPr>
            <a:xfrm>
              <a:off x="1876000" y="3776050"/>
              <a:ext cx="23577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Bus Operation &amp; Fleeting</a:t>
              </a:r>
              <a:endParaRPr sz="1244">
                <a:solidFill>
                  <a:srgbClr val="3D3D3D"/>
                </a:solidFill>
                <a:latin typeface="Plus Jakarta Sans Medium"/>
                <a:ea typeface="Plus Jakarta Sans Medium"/>
                <a:cs typeface="Plus Jakarta Sans Medium"/>
                <a:sym typeface="Plus Jakarta Sans Medium"/>
              </a:endParaRPr>
            </a:p>
            <a:p>
              <a:pPr>
                <a:lnSpc>
                  <a:spcPct val="115000"/>
                </a:lnSpc>
              </a:pPr>
              <a:r>
                <a:rPr lang="vi" sz="1244">
                  <a:solidFill>
                    <a:srgbClr val="3D3D3D"/>
                  </a:solidFill>
                  <a:latin typeface="Plus Jakarta Sans Medium"/>
                  <a:ea typeface="Plus Jakarta Sans Medium"/>
                  <a:cs typeface="Plus Jakarta Sans Medium"/>
                  <a:sym typeface="Plus Jakarta Sans Medium"/>
                </a:rPr>
                <a:t>management system</a:t>
              </a:r>
              <a:endParaRPr sz="1244">
                <a:solidFill>
                  <a:srgbClr val="3D3D3D"/>
                </a:solidFill>
                <a:latin typeface="Plus Jakarta Sans Medium"/>
                <a:ea typeface="Plus Jakarta Sans Medium"/>
                <a:cs typeface="Plus Jakarta Sans Medium"/>
                <a:sym typeface="Plus Jakarta Sans Medium"/>
              </a:endParaRPr>
            </a:p>
          </p:txBody>
        </p:sp>
      </p:grpSp>
      <p:grpSp>
        <p:nvGrpSpPr>
          <p:cNvPr id="731" name="Google Shape;731;p36"/>
          <p:cNvGrpSpPr/>
          <p:nvPr/>
        </p:nvGrpSpPr>
        <p:grpSpPr>
          <a:xfrm>
            <a:off x="6773999" y="5448646"/>
            <a:ext cx="4353979" cy="1614974"/>
            <a:chOff x="3646574" y="2984701"/>
            <a:chExt cx="2449113" cy="908423"/>
          </a:xfrm>
        </p:grpSpPr>
        <p:pic>
          <p:nvPicPr>
            <p:cNvPr id="732" name="Google Shape;732;p36"/>
            <p:cNvPicPr preferRelativeResize="0"/>
            <p:nvPr/>
          </p:nvPicPr>
          <p:blipFill>
            <a:blip r:embed="rId18" cstate="email">
              <a:alphaModFix/>
              <a:extLst>
                <a:ext uri="{28A0092B-C50C-407E-A947-70E740481C1C}">
                  <a14:useLocalDpi xmlns:a14="http://schemas.microsoft.com/office/drawing/2010/main"/>
                </a:ext>
              </a:extLst>
            </a:blip>
            <a:stretch>
              <a:fillRect/>
            </a:stretch>
          </p:blipFill>
          <p:spPr>
            <a:xfrm>
              <a:off x="3646574" y="2984701"/>
              <a:ext cx="908400" cy="908423"/>
            </a:xfrm>
            <a:prstGeom prst="rect">
              <a:avLst/>
            </a:prstGeom>
            <a:noFill/>
            <a:ln>
              <a:noFill/>
            </a:ln>
          </p:spPr>
        </p:pic>
        <p:sp>
          <p:nvSpPr>
            <p:cNvPr id="733" name="Google Shape;733;p36"/>
            <p:cNvSpPr txBox="1"/>
            <p:nvPr/>
          </p:nvSpPr>
          <p:spPr>
            <a:xfrm>
              <a:off x="4470288" y="3232225"/>
              <a:ext cx="16254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AI-based smart license plate recognition system</a:t>
              </a: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p:txBody>
        </p:sp>
      </p:grpSp>
      <p:grpSp>
        <p:nvGrpSpPr>
          <p:cNvPr id="734" name="Google Shape;734;p36"/>
          <p:cNvGrpSpPr/>
          <p:nvPr/>
        </p:nvGrpSpPr>
        <p:grpSpPr>
          <a:xfrm>
            <a:off x="6969689" y="6987045"/>
            <a:ext cx="3663890" cy="497156"/>
            <a:chOff x="3756650" y="3842025"/>
            <a:chExt cx="2060938" cy="279650"/>
          </a:xfrm>
        </p:grpSpPr>
        <p:pic>
          <p:nvPicPr>
            <p:cNvPr id="735" name="Google Shape;735;p36"/>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a:off x="3756650" y="3885575"/>
              <a:ext cx="736910" cy="236100"/>
            </a:xfrm>
            <a:prstGeom prst="rect">
              <a:avLst/>
            </a:prstGeom>
            <a:noFill/>
            <a:ln>
              <a:noFill/>
            </a:ln>
          </p:spPr>
        </p:pic>
        <p:sp>
          <p:nvSpPr>
            <p:cNvPr id="736" name="Google Shape;736;p36"/>
            <p:cNvSpPr txBox="1"/>
            <p:nvPr/>
          </p:nvSpPr>
          <p:spPr>
            <a:xfrm>
              <a:off x="4470288" y="3842025"/>
              <a:ext cx="1347300" cy="207600"/>
            </a:xfrm>
            <a:prstGeom prst="rect">
              <a:avLst/>
            </a:prstGeom>
            <a:noFill/>
            <a:ln>
              <a:noFill/>
            </a:ln>
          </p:spPr>
          <p:txBody>
            <a:bodyPr spcFirstLastPara="1" wrap="square" lIns="162533" tIns="162533" rIns="162533" bIns="162533" anchor="t" anchorCtr="0">
              <a:noAutofit/>
            </a:bodyPr>
            <a:lstStyle/>
            <a:p>
              <a:pPr>
                <a:lnSpc>
                  <a:spcPct val="115000"/>
                </a:lnSpc>
              </a:pPr>
              <a:r>
                <a:rPr lang="vi" sz="1244">
                  <a:solidFill>
                    <a:srgbClr val="3D3D3D"/>
                  </a:solidFill>
                  <a:latin typeface="Plus Jakarta Sans Medium"/>
                  <a:ea typeface="Plus Jakarta Sans Medium"/>
                  <a:cs typeface="Plus Jakarta Sans Medium"/>
                  <a:sym typeface="Plus Jakarta Sans Medium"/>
                </a:rPr>
                <a:t>LCD Virtual Receptionist</a:t>
              </a: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a:p>
              <a:pPr>
                <a:lnSpc>
                  <a:spcPct val="115000"/>
                </a:lnSpc>
              </a:pPr>
              <a:endParaRPr sz="1244">
                <a:solidFill>
                  <a:srgbClr val="3D3D3D"/>
                </a:solidFill>
                <a:latin typeface="Plus Jakarta Sans Medium"/>
                <a:ea typeface="Plus Jakarta Sans Medium"/>
                <a:cs typeface="Plus Jakarta Sans Medium"/>
                <a:sym typeface="Plus Jakarta Sans Medium"/>
              </a:endParaRPr>
            </a:p>
          </p:txBody>
        </p:sp>
      </p:grpSp>
      <p:pic>
        <p:nvPicPr>
          <p:cNvPr id="737" name="Google Shape;737;p36"/>
          <p:cNvPicPr preferRelativeResize="0"/>
          <p:nvPr/>
        </p:nvPicPr>
        <p:blipFill>
          <a:blip r:embed="rId19" cstate="email">
            <a:alphaModFix/>
            <a:extLst>
              <a:ext uri="{28A0092B-C50C-407E-A947-70E740481C1C}">
                <a14:useLocalDpi xmlns:a14="http://schemas.microsoft.com/office/drawing/2010/main"/>
              </a:ext>
            </a:extLst>
          </a:blip>
          <a:stretch>
            <a:fillRect/>
          </a:stretch>
        </p:blipFill>
        <p:spPr>
          <a:xfrm>
            <a:off x="14657022" y="189376"/>
            <a:ext cx="1212352" cy="778492"/>
          </a:xfrm>
          <a:prstGeom prst="rect">
            <a:avLst/>
          </a:prstGeom>
          <a:noFill/>
          <a:ln>
            <a:noFill/>
          </a:ln>
        </p:spPr>
      </p:pic>
      <p:cxnSp>
        <p:nvCxnSpPr>
          <p:cNvPr id="738" name="Google Shape;738;p36"/>
          <p:cNvCxnSpPr/>
          <p:nvPr/>
        </p:nvCxnSpPr>
        <p:spPr>
          <a:xfrm>
            <a:off x="872533" y="498933"/>
            <a:ext cx="0" cy="305600"/>
          </a:xfrm>
          <a:prstGeom prst="straightConnector1">
            <a:avLst/>
          </a:prstGeom>
          <a:noFill/>
          <a:ln w="9525" cap="flat" cmpd="sng">
            <a:solidFill>
              <a:srgbClr val="808080"/>
            </a:solidFill>
            <a:prstDash val="solid"/>
            <a:round/>
            <a:headEnd type="none" w="med" len="med"/>
            <a:tailEnd type="none" w="med" len="med"/>
          </a:ln>
        </p:spPr>
      </p:cxnSp>
      <p:sp>
        <p:nvSpPr>
          <p:cNvPr id="739" name="Google Shape;739;p36"/>
          <p:cNvSpPr txBox="1"/>
          <p:nvPr/>
        </p:nvSpPr>
        <p:spPr>
          <a:xfrm>
            <a:off x="1769555" y="8432445"/>
            <a:ext cx="5353067" cy="267359"/>
          </a:xfrm>
          <a:prstGeom prst="rect">
            <a:avLst/>
          </a:prstGeom>
          <a:noFill/>
          <a:ln>
            <a:noFill/>
          </a:ln>
        </p:spPr>
        <p:txBody>
          <a:bodyPr spcFirstLastPara="1" wrap="square" lIns="0" tIns="20933" rIns="0" bIns="0" anchor="t" anchorCtr="0">
            <a:spAutoFit/>
          </a:bodyPr>
          <a:lstStyle/>
          <a:p>
            <a:pPr marL="22578">
              <a:buSzPts val="700"/>
            </a:pPr>
            <a:r>
              <a:rPr lang="vi" sz="1600">
                <a:solidFill>
                  <a:srgbClr val="808080"/>
                </a:solidFill>
                <a:latin typeface="Inter"/>
                <a:ea typeface="Inter"/>
                <a:cs typeface="Inter"/>
                <a:sym typeface="Inter"/>
              </a:rPr>
              <a:t>Corporate Profile - For Software Development</a:t>
            </a:r>
            <a:endParaRPr sz="1600">
              <a:latin typeface="Inter"/>
              <a:ea typeface="Inter"/>
              <a:cs typeface="Inter"/>
              <a:sym typeface="Inter"/>
            </a:endParaRPr>
          </a:p>
        </p:txBody>
      </p:sp>
      <p:sp>
        <p:nvSpPr>
          <p:cNvPr id="740" name="Google Shape;740;p36"/>
          <p:cNvSpPr txBox="1"/>
          <p:nvPr/>
        </p:nvSpPr>
        <p:spPr>
          <a:xfrm>
            <a:off x="872535" y="8216178"/>
            <a:ext cx="846400" cy="699733"/>
          </a:xfrm>
          <a:prstGeom prst="rect">
            <a:avLst/>
          </a:prstGeom>
          <a:noFill/>
          <a:ln>
            <a:noFill/>
          </a:ln>
        </p:spPr>
        <p:txBody>
          <a:bodyPr spcFirstLastPara="1" wrap="square" lIns="162533" tIns="162533" rIns="162533" bIns="162533" anchor="ctr" anchorCtr="0">
            <a:noAutofit/>
          </a:bodyPr>
          <a:lstStyle/>
          <a:p>
            <a:pPr algn="ctr"/>
            <a:fld id="{00000000-1234-1234-1234-123412341234}" type="slidenum">
              <a:rPr lang="vi" sz="2844">
                <a:solidFill>
                  <a:srgbClr val="666666"/>
                </a:solidFill>
                <a:latin typeface="Inter"/>
                <a:ea typeface="Inter"/>
                <a:cs typeface="Inter"/>
                <a:sym typeface="Inter"/>
              </a:rPr>
              <a:pPr algn="ctr"/>
              <a:t>12</a:t>
            </a:fld>
            <a:endParaRPr sz="2844">
              <a:solidFill>
                <a:srgbClr val="666666"/>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3465da649cc_0_461"/>
          <p:cNvSpPr/>
          <p:nvPr/>
        </p:nvSpPr>
        <p:spPr>
          <a:xfrm>
            <a:off x="0" y="0"/>
            <a:ext cx="16276355" cy="9155426"/>
          </a:xfrm>
          <a:custGeom>
            <a:avLst/>
            <a:gdLst/>
            <a:ahLst/>
            <a:cxnLst/>
            <a:rect l="l" t="t" r="r" b="b"/>
            <a:pathLst>
              <a:path w="18288039" h="10286996" extrusionOk="0">
                <a:moveTo>
                  <a:pt x="0" y="0"/>
                </a:moveTo>
                <a:lnTo>
                  <a:pt x="18288039" y="0"/>
                </a:lnTo>
                <a:lnTo>
                  <a:pt x="18288039" y="10286996"/>
                </a:lnTo>
                <a:lnTo>
                  <a:pt x="0" y="10286996"/>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sp>
      <p:sp>
        <p:nvSpPr>
          <p:cNvPr id="835" name="Google Shape;835;g3465da649cc_0_461"/>
          <p:cNvSpPr/>
          <p:nvPr/>
        </p:nvSpPr>
        <p:spPr>
          <a:xfrm>
            <a:off x="914411" y="2447710"/>
            <a:ext cx="1487722" cy="955251"/>
          </a:xfrm>
          <a:custGeom>
            <a:avLst/>
            <a:gdLst/>
            <a:ahLst/>
            <a:cxnLst/>
            <a:rect l="l" t="t" r="r" b="b"/>
            <a:pathLst>
              <a:path w="1671598" h="1073316" extrusionOk="0">
                <a:moveTo>
                  <a:pt x="0" y="0"/>
                </a:moveTo>
                <a:lnTo>
                  <a:pt x="1671598" y="0"/>
                </a:lnTo>
                <a:lnTo>
                  <a:pt x="1671598" y="1073316"/>
                </a:lnTo>
                <a:lnTo>
                  <a:pt x="0" y="1073316"/>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grpSp>
        <p:nvGrpSpPr>
          <p:cNvPr id="836" name="Google Shape;836;g3465da649cc_0_461"/>
          <p:cNvGrpSpPr/>
          <p:nvPr/>
        </p:nvGrpSpPr>
        <p:grpSpPr>
          <a:xfrm>
            <a:off x="914400" y="3684276"/>
            <a:ext cx="7457837" cy="1972180"/>
            <a:chOff x="0" y="0"/>
            <a:chExt cx="11186196" cy="2958122"/>
          </a:xfrm>
        </p:grpSpPr>
        <p:sp>
          <p:nvSpPr>
            <p:cNvPr id="837" name="Google Shape;837;g3465da649cc_0_461"/>
            <p:cNvSpPr/>
            <p:nvPr/>
          </p:nvSpPr>
          <p:spPr>
            <a:xfrm>
              <a:off x="0" y="0"/>
              <a:ext cx="11186196" cy="2958122"/>
            </a:xfrm>
            <a:custGeom>
              <a:avLst/>
              <a:gdLst/>
              <a:ahLst/>
              <a:cxnLst/>
              <a:rect l="l" t="t" r="r" b="b"/>
              <a:pathLst>
                <a:path w="11186196" h="2958122" extrusionOk="0">
                  <a:moveTo>
                    <a:pt x="0" y="0"/>
                  </a:moveTo>
                  <a:lnTo>
                    <a:pt x="11186196" y="0"/>
                  </a:lnTo>
                  <a:lnTo>
                    <a:pt x="11186196" y="2958122"/>
                  </a:lnTo>
                  <a:lnTo>
                    <a:pt x="0" y="2958122"/>
                  </a:lnTo>
                  <a:close/>
                </a:path>
              </a:pathLst>
            </a:custGeom>
            <a:solidFill>
              <a:srgbClr val="000000">
                <a:alpha val="0"/>
              </a:srgbClr>
            </a:solidFill>
            <a:ln>
              <a:noFill/>
            </a:ln>
          </p:spPr>
        </p:sp>
        <p:sp>
          <p:nvSpPr>
            <p:cNvPr id="838" name="Google Shape;838;g3465da649cc_0_461"/>
            <p:cNvSpPr txBox="1"/>
            <p:nvPr/>
          </p:nvSpPr>
          <p:spPr>
            <a:xfrm>
              <a:off x="0" y="0"/>
              <a:ext cx="11186100" cy="2958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5300"/>
                <a:buFont typeface="Arial"/>
                <a:buNone/>
              </a:pPr>
              <a:r>
                <a:rPr lang="en-US" sz="5300" b="1" i="0" u="none" strike="noStrike" cap="none">
                  <a:solidFill>
                    <a:srgbClr val="595959"/>
                  </a:solidFill>
                  <a:latin typeface="Inter"/>
                  <a:ea typeface="Inter"/>
                  <a:cs typeface="Inter"/>
                  <a:sym typeface="Inter"/>
                </a:rPr>
                <a:t>RETAIL DX SERVICES &amp; SOLUTIONS</a:t>
              </a:r>
              <a:endParaRPr sz="1200" b="0" i="0" u="none" strike="noStrike" cap="none">
                <a:solidFill>
                  <a:srgbClr val="000000"/>
                </a:solidFill>
                <a:latin typeface="Arial"/>
                <a:ea typeface="Arial"/>
                <a:cs typeface="Arial"/>
                <a:sym typeface="Arial"/>
              </a:endParaRPr>
            </a:p>
          </p:txBody>
        </p:sp>
      </p:grpSp>
      <p:grpSp>
        <p:nvGrpSpPr>
          <p:cNvPr id="839" name="Google Shape;839;g3465da649cc_0_461"/>
          <p:cNvGrpSpPr/>
          <p:nvPr/>
        </p:nvGrpSpPr>
        <p:grpSpPr>
          <a:xfrm>
            <a:off x="2226574" y="756679"/>
            <a:ext cx="5353468" cy="326816"/>
            <a:chOff x="0" y="0"/>
            <a:chExt cx="8029800" cy="490200"/>
          </a:xfrm>
        </p:grpSpPr>
        <p:sp>
          <p:nvSpPr>
            <p:cNvPr id="840" name="Google Shape;840;g3465da649cc_0_461"/>
            <p:cNvSpPr/>
            <p:nvPr/>
          </p:nvSpPr>
          <p:spPr>
            <a:xfrm>
              <a:off x="0" y="0"/>
              <a:ext cx="8029800" cy="490061"/>
            </a:xfrm>
            <a:custGeom>
              <a:avLst/>
              <a:gdLst/>
              <a:ahLst/>
              <a:cxnLst/>
              <a:rect l="l" t="t" r="r" b="b"/>
              <a:pathLst>
                <a:path w="8029800" h="490061" extrusionOk="0">
                  <a:moveTo>
                    <a:pt x="0" y="0"/>
                  </a:moveTo>
                  <a:lnTo>
                    <a:pt x="8029800" y="0"/>
                  </a:lnTo>
                  <a:lnTo>
                    <a:pt x="8029800" y="490061"/>
                  </a:lnTo>
                  <a:lnTo>
                    <a:pt x="0" y="490061"/>
                  </a:lnTo>
                  <a:close/>
                </a:path>
              </a:pathLst>
            </a:custGeom>
            <a:solidFill>
              <a:srgbClr val="000000">
                <a:alpha val="0"/>
              </a:srgbClr>
            </a:solidFill>
            <a:ln>
              <a:noFill/>
            </a:ln>
          </p:spPr>
        </p:sp>
        <p:sp>
          <p:nvSpPr>
            <p:cNvPr id="841" name="Google Shape;841;g3465da649cc_0_461"/>
            <p:cNvSpPr txBox="1"/>
            <p:nvPr/>
          </p:nvSpPr>
          <p:spPr>
            <a:xfrm>
              <a:off x="0" y="0"/>
              <a:ext cx="8029800" cy="490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500"/>
                <a:buFont typeface="Arial"/>
                <a:buNone/>
              </a:pPr>
              <a:r>
                <a:rPr lang="en-US" sz="1500" b="1" i="0" u="none" strike="noStrike" cap="none">
                  <a:solidFill>
                    <a:srgbClr val="FFFFFF"/>
                  </a:solidFill>
                  <a:latin typeface="Inter"/>
                  <a:ea typeface="Inter"/>
                  <a:cs typeface="Inter"/>
                  <a:sym typeface="Inter"/>
                </a:rPr>
                <a:t>Retail DX Service Profile</a:t>
              </a:r>
              <a:endParaRPr sz="1200" b="0" i="0" u="none" strike="noStrike" cap="none">
                <a:solidFill>
                  <a:srgbClr val="000000"/>
                </a:solidFill>
                <a:latin typeface="Arial"/>
                <a:ea typeface="Arial"/>
                <a:cs typeface="Arial"/>
                <a:sym typeface="Arial"/>
              </a:endParaRPr>
            </a:p>
          </p:txBody>
        </p:sp>
      </p:grpSp>
      <p:sp>
        <p:nvSpPr>
          <p:cNvPr id="842" name="Google Shape;842;g3465da649cc_0_461"/>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b="-8"/>
            </a:stretch>
          </a:blipFill>
          <a:ln>
            <a:noFill/>
          </a:ln>
        </p:spPr>
      </p:sp>
      <p:cxnSp>
        <p:nvCxnSpPr>
          <p:cNvPr id="843" name="Google Shape;843;g3465da649cc_0_461"/>
          <p:cNvCxnSpPr/>
          <p:nvPr/>
        </p:nvCxnSpPr>
        <p:spPr>
          <a:xfrm>
            <a:off x="1647250" y="8527867"/>
            <a:ext cx="12900" cy="432300"/>
          </a:xfrm>
          <a:prstGeom prst="straightConnector1">
            <a:avLst/>
          </a:prstGeom>
          <a:noFill/>
          <a:ln w="9525" cap="rnd" cmpd="sng">
            <a:solidFill>
              <a:srgbClr val="808080"/>
            </a:solidFill>
            <a:prstDash val="solid"/>
            <a:round/>
            <a:headEnd type="none" w="sm" len="sm"/>
            <a:tailEnd type="none" w="sm" len="sm"/>
          </a:ln>
        </p:spPr>
      </p:cxnSp>
      <p:grpSp>
        <p:nvGrpSpPr>
          <p:cNvPr id="844" name="Google Shape;844;g3465da649cc_0_461"/>
          <p:cNvGrpSpPr/>
          <p:nvPr/>
        </p:nvGrpSpPr>
        <p:grpSpPr>
          <a:xfrm>
            <a:off x="872534" y="8351050"/>
            <a:ext cx="846442" cy="699635"/>
            <a:chOff x="0" y="0"/>
            <a:chExt cx="1269600" cy="1049400"/>
          </a:xfrm>
        </p:grpSpPr>
        <p:sp>
          <p:nvSpPr>
            <p:cNvPr id="845" name="Google Shape;845;g3465da649cc_0_461"/>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846" name="Google Shape;846;g3465da649cc_0_461"/>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19968"/>
                </a:lnSpc>
                <a:spcBef>
                  <a:spcPts val="0"/>
                </a:spcBef>
                <a:spcAft>
                  <a:spcPts val="0"/>
                </a:spcAft>
                <a:buClr>
                  <a:srgbClr val="000000"/>
                </a:buClr>
                <a:buSzPts val="2800"/>
                <a:buFont typeface="Arial"/>
                <a:buNone/>
              </a:pPr>
              <a:r>
                <a:rPr lang="en-US" sz="2800" dirty="0">
                  <a:solidFill>
                    <a:srgbClr val="666666"/>
                  </a:solidFill>
                  <a:latin typeface="Inter"/>
                  <a:ea typeface="Inter"/>
                  <a:sym typeface="Inter"/>
                </a:rPr>
                <a:t>13</a:t>
              </a:r>
              <a:endParaRPr sz="1200" b="0" i="0" u="none" strike="noStrike" cap="none" dirty="0">
                <a:solidFill>
                  <a:srgbClr val="000000"/>
                </a:solidFill>
                <a:latin typeface="Arial"/>
                <a:ea typeface="Arial"/>
                <a:cs typeface="Arial"/>
                <a:sym typeface="Arial"/>
              </a:endParaRPr>
            </a:p>
          </p:txBody>
        </p:sp>
      </p:grpSp>
      <p:grpSp>
        <p:nvGrpSpPr>
          <p:cNvPr id="847" name="Google Shape;847;g3465da649cc_0_461"/>
          <p:cNvGrpSpPr/>
          <p:nvPr/>
        </p:nvGrpSpPr>
        <p:grpSpPr>
          <a:xfrm>
            <a:off x="1769555" y="8560966"/>
            <a:ext cx="5353468" cy="296215"/>
            <a:chOff x="0" y="-9525"/>
            <a:chExt cx="8029800" cy="444300"/>
          </a:xfrm>
        </p:grpSpPr>
        <p:sp>
          <p:nvSpPr>
            <p:cNvPr id="848" name="Google Shape;848;g3465da649cc_0_461"/>
            <p:cNvSpPr/>
            <p:nvPr/>
          </p:nvSpPr>
          <p:spPr>
            <a:xfrm>
              <a:off x="0" y="0"/>
              <a:ext cx="8029800" cy="434687"/>
            </a:xfrm>
            <a:custGeom>
              <a:avLst/>
              <a:gdLst/>
              <a:ahLst/>
              <a:cxnLst/>
              <a:rect l="l" t="t" r="r" b="b"/>
              <a:pathLst>
                <a:path w="8029800" h="434687" extrusionOk="0">
                  <a:moveTo>
                    <a:pt x="0" y="0"/>
                  </a:moveTo>
                  <a:lnTo>
                    <a:pt x="8029800" y="0"/>
                  </a:lnTo>
                  <a:lnTo>
                    <a:pt x="8029800" y="434687"/>
                  </a:lnTo>
                  <a:lnTo>
                    <a:pt x="0" y="434687"/>
                  </a:lnTo>
                  <a:close/>
                </a:path>
              </a:pathLst>
            </a:custGeom>
            <a:solidFill>
              <a:srgbClr val="000000">
                <a:alpha val="0"/>
              </a:srgbClr>
            </a:solidFill>
            <a:ln>
              <a:noFill/>
            </a:ln>
          </p:spPr>
        </p:sp>
        <p:sp>
          <p:nvSpPr>
            <p:cNvPr id="849" name="Google Shape;849;g3465da649cc_0_461"/>
            <p:cNvSpPr txBox="1"/>
            <p:nvPr/>
          </p:nvSpPr>
          <p:spPr>
            <a:xfrm>
              <a:off x="0" y="-9525"/>
              <a:ext cx="8029800" cy="444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300"/>
                <a:buFont typeface="Arial"/>
                <a:buNone/>
              </a:pPr>
              <a:r>
                <a:rPr lang="en-US" sz="1300" b="0" i="0" u="none" strike="noStrike" cap="none" dirty="0">
                  <a:solidFill>
                    <a:srgbClr val="808080"/>
                  </a:solidFill>
                  <a:latin typeface="Inter"/>
                  <a:ea typeface="Inter"/>
                  <a:cs typeface="Inter"/>
                  <a:sym typeface="Inter"/>
                </a:rPr>
                <a:t>RETAIL DX Profile - Software Development For Retail</a:t>
              </a:r>
              <a:endParaRPr sz="1200" b="0" i="0" u="none" strike="noStrike" cap="none" dirty="0">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cxnSp>
        <p:nvCxnSpPr>
          <p:cNvPr id="858" name="Google Shape;858;g3465da649cc_0_708"/>
          <p:cNvCxnSpPr/>
          <p:nvPr/>
        </p:nvCxnSpPr>
        <p:spPr>
          <a:xfrm>
            <a:off x="906402" y="445572"/>
            <a:ext cx="0" cy="371400"/>
          </a:xfrm>
          <a:prstGeom prst="straightConnector1">
            <a:avLst/>
          </a:prstGeom>
          <a:noFill/>
          <a:ln w="47625" cap="rnd" cmpd="sng">
            <a:solidFill>
              <a:srgbClr val="0050AE"/>
            </a:solidFill>
            <a:prstDash val="solid"/>
            <a:round/>
            <a:headEnd type="none" w="sm" len="sm"/>
            <a:tailEnd type="none" w="sm" len="sm"/>
          </a:ln>
        </p:spPr>
      </p:cxnSp>
      <p:grpSp>
        <p:nvGrpSpPr>
          <p:cNvPr id="859" name="Google Shape;859;g3465da649cc_0_708"/>
          <p:cNvGrpSpPr/>
          <p:nvPr/>
        </p:nvGrpSpPr>
        <p:grpSpPr>
          <a:xfrm>
            <a:off x="1173733" y="394023"/>
            <a:ext cx="9181259" cy="474574"/>
            <a:chOff x="0" y="0"/>
            <a:chExt cx="13771200" cy="711825"/>
          </a:xfrm>
        </p:grpSpPr>
        <p:sp>
          <p:nvSpPr>
            <p:cNvPr id="860" name="Google Shape;860;g3465da649cc_0_708"/>
            <p:cNvSpPr/>
            <p:nvPr/>
          </p:nvSpPr>
          <p:spPr>
            <a:xfrm>
              <a:off x="0" y="0"/>
              <a:ext cx="13771184" cy="711689"/>
            </a:xfrm>
            <a:custGeom>
              <a:avLst/>
              <a:gdLst/>
              <a:ahLst/>
              <a:cxnLst/>
              <a:rect l="l" t="t" r="r" b="b"/>
              <a:pathLst>
                <a:path w="13771184" h="711689" extrusionOk="0">
                  <a:moveTo>
                    <a:pt x="0" y="0"/>
                  </a:moveTo>
                  <a:lnTo>
                    <a:pt x="13771184" y="0"/>
                  </a:lnTo>
                  <a:lnTo>
                    <a:pt x="13771184" y="711689"/>
                  </a:lnTo>
                  <a:lnTo>
                    <a:pt x="0" y="711689"/>
                  </a:lnTo>
                  <a:close/>
                </a:path>
              </a:pathLst>
            </a:custGeom>
            <a:solidFill>
              <a:srgbClr val="000000">
                <a:alpha val="0"/>
              </a:srgbClr>
            </a:solidFill>
            <a:ln>
              <a:noFill/>
            </a:ln>
          </p:spPr>
        </p:sp>
        <p:sp>
          <p:nvSpPr>
            <p:cNvPr id="861" name="Google Shape;861;g3465da649cc_0_708"/>
            <p:cNvSpPr txBox="1"/>
            <p:nvPr/>
          </p:nvSpPr>
          <p:spPr>
            <a:xfrm>
              <a:off x="0" y="9525"/>
              <a:ext cx="13771200" cy="702300"/>
            </a:xfrm>
            <a:prstGeom prst="rect">
              <a:avLst/>
            </a:prstGeom>
            <a:noFill/>
            <a:ln>
              <a:noFill/>
            </a:ln>
          </p:spPr>
          <p:txBody>
            <a:bodyPr spcFirstLastPara="1" wrap="square" lIns="0" tIns="0" rIns="0" bIns="0" anchor="t" anchorCtr="0">
              <a:noAutofit/>
            </a:bodyPr>
            <a:lstStyle/>
            <a:p>
              <a:pPr marL="0" marR="0" lvl="0" indent="0" algn="l" rtl="0">
                <a:lnSpc>
                  <a:spcPct val="120008"/>
                </a:lnSpc>
                <a:spcBef>
                  <a:spcPts val="0"/>
                </a:spcBef>
                <a:spcAft>
                  <a:spcPts val="0"/>
                </a:spcAft>
                <a:buClr>
                  <a:srgbClr val="000000"/>
                </a:buClr>
                <a:buSzPts val="3000"/>
                <a:buFont typeface="Arial"/>
                <a:buNone/>
              </a:pPr>
              <a:r>
                <a:rPr lang="en-US" sz="3000" b="1" i="0" u="none" strike="noStrike" cap="none">
                  <a:solidFill>
                    <a:srgbClr val="0050AE"/>
                  </a:solidFill>
                  <a:latin typeface="Inter"/>
                  <a:ea typeface="Inter"/>
                  <a:cs typeface="Inter"/>
                  <a:sym typeface="Inter"/>
                </a:rPr>
                <a:t>RETAIL DX SERVICES &amp; SOLUTIONS OVERVIEW</a:t>
              </a:r>
              <a:endParaRPr sz="3000" b="0" i="0" u="none" strike="noStrike" cap="none">
                <a:solidFill>
                  <a:srgbClr val="000000"/>
                </a:solidFill>
                <a:latin typeface="Arial"/>
                <a:ea typeface="Arial"/>
                <a:cs typeface="Arial"/>
                <a:sym typeface="Arial"/>
              </a:endParaRPr>
            </a:p>
          </p:txBody>
        </p:sp>
      </p:grpSp>
      <p:grpSp>
        <p:nvGrpSpPr>
          <p:cNvPr id="862" name="Google Shape;862;g3465da649cc_0_708"/>
          <p:cNvGrpSpPr/>
          <p:nvPr/>
        </p:nvGrpSpPr>
        <p:grpSpPr>
          <a:xfrm>
            <a:off x="6931650" y="1362875"/>
            <a:ext cx="9503300" cy="6289667"/>
            <a:chOff x="0" y="-38100"/>
            <a:chExt cx="2690400" cy="1863605"/>
          </a:xfrm>
        </p:grpSpPr>
        <p:sp>
          <p:nvSpPr>
            <p:cNvPr id="863" name="Google Shape;863;g3465da649cc_0_708"/>
            <p:cNvSpPr/>
            <p:nvPr/>
          </p:nvSpPr>
          <p:spPr>
            <a:xfrm>
              <a:off x="0" y="0"/>
              <a:ext cx="2690300" cy="1825505"/>
            </a:xfrm>
            <a:custGeom>
              <a:avLst/>
              <a:gdLst/>
              <a:ahLst/>
              <a:cxnLst/>
              <a:rect l="l" t="t" r="r" b="b"/>
              <a:pathLst>
                <a:path w="2690300" h="1825505" extrusionOk="0">
                  <a:moveTo>
                    <a:pt x="38654" y="0"/>
                  </a:moveTo>
                  <a:lnTo>
                    <a:pt x="2651646" y="0"/>
                  </a:lnTo>
                  <a:cubicBezTo>
                    <a:pt x="2672994" y="0"/>
                    <a:pt x="2690300" y="17306"/>
                    <a:pt x="2690300" y="38654"/>
                  </a:cubicBezTo>
                  <a:lnTo>
                    <a:pt x="2690300" y="1786851"/>
                  </a:lnTo>
                  <a:cubicBezTo>
                    <a:pt x="2690300" y="1797103"/>
                    <a:pt x="2686228" y="1806934"/>
                    <a:pt x="2678979" y="1814183"/>
                  </a:cubicBezTo>
                  <a:cubicBezTo>
                    <a:pt x="2671730" y="1821432"/>
                    <a:pt x="2661898" y="1825505"/>
                    <a:pt x="2651646" y="1825505"/>
                  </a:cubicBezTo>
                  <a:lnTo>
                    <a:pt x="38654" y="1825505"/>
                  </a:lnTo>
                  <a:cubicBezTo>
                    <a:pt x="28402" y="1825505"/>
                    <a:pt x="18570" y="1821432"/>
                    <a:pt x="11321" y="1814183"/>
                  </a:cubicBezTo>
                  <a:cubicBezTo>
                    <a:pt x="4072" y="1806934"/>
                    <a:pt x="0" y="1797103"/>
                    <a:pt x="0" y="1786851"/>
                  </a:cubicBezTo>
                  <a:lnTo>
                    <a:pt x="0" y="38654"/>
                  </a:lnTo>
                  <a:cubicBezTo>
                    <a:pt x="0" y="28402"/>
                    <a:pt x="4072" y="18570"/>
                    <a:pt x="11321" y="11321"/>
                  </a:cubicBezTo>
                  <a:cubicBezTo>
                    <a:pt x="18570" y="4072"/>
                    <a:pt x="28402" y="0"/>
                    <a:pt x="38654" y="0"/>
                  </a:cubicBezTo>
                  <a:close/>
                </a:path>
              </a:pathLst>
            </a:custGeom>
            <a:solidFill>
              <a:srgbClr val="0491E8">
                <a:alpha val="7058"/>
              </a:srgbClr>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4" name="Google Shape;864;g3465da649cc_0_708"/>
            <p:cNvSpPr txBox="1"/>
            <p:nvPr/>
          </p:nvSpPr>
          <p:spPr>
            <a:xfrm>
              <a:off x="0" y="-38100"/>
              <a:ext cx="2690400" cy="1863600"/>
            </a:xfrm>
            <a:prstGeom prst="rect">
              <a:avLst/>
            </a:prstGeom>
            <a:noFill/>
            <a:ln>
              <a:noFill/>
            </a:ln>
          </p:spPr>
          <p:txBody>
            <a:bodyPr spcFirstLastPara="1" wrap="square" lIns="45150" tIns="45150" rIns="45150" bIns="45150" anchor="ctr" anchorCtr="0">
              <a:noAutofit/>
            </a:bodyPr>
            <a:lstStyle/>
            <a:p>
              <a:pPr marL="0" marR="0" lvl="0" indent="0" algn="ctr" rtl="0">
                <a:lnSpc>
                  <a:spcPct val="1265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865" name="Google Shape;865;g3465da649cc_0_708"/>
          <p:cNvGrpSpPr/>
          <p:nvPr/>
        </p:nvGrpSpPr>
        <p:grpSpPr>
          <a:xfrm>
            <a:off x="7530916" y="1991585"/>
            <a:ext cx="8334225" cy="2976744"/>
            <a:chOff x="0" y="0"/>
            <a:chExt cx="12500713" cy="4464893"/>
          </a:xfrm>
        </p:grpSpPr>
        <p:sp>
          <p:nvSpPr>
            <p:cNvPr id="866" name="Google Shape;866;g3465da649cc_0_708"/>
            <p:cNvSpPr/>
            <p:nvPr/>
          </p:nvSpPr>
          <p:spPr>
            <a:xfrm>
              <a:off x="0" y="0"/>
              <a:ext cx="12500595" cy="4464893"/>
            </a:xfrm>
            <a:custGeom>
              <a:avLst/>
              <a:gdLst/>
              <a:ahLst/>
              <a:cxnLst/>
              <a:rect l="l" t="t" r="r" b="b"/>
              <a:pathLst>
                <a:path w="12500595" h="4464893" extrusionOk="0">
                  <a:moveTo>
                    <a:pt x="0" y="0"/>
                  </a:moveTo>
                  <a:lnTo>
                    <a:pt x="12500595" y="0"/>
                  </a:lnTo>
                  <a:lnTo>
                    <a:pt x="12500595" y="4464893"/>
                  </a:lnTo>
                  <a:lnTo>
                    <a:pt x="0" y="4464893"/>
                  </a:lnTo>
                  <a:close/>
                </a:path>
              </a:pathLst>
            </a:custGeom>
            <a:solidFill>
              <a:srgbClr val="000000">
                <a:alpha val="0"/>
              </a:srgbClr>
            </a:solidFill>
            <a:ln>
              <a:noFill/>
            </a:ln>
          </p:spPr>
        </p:sp>
        <p:sp>
          <p:nvSpPr>
            <p:cNvPr id="867" name="Google Shape;867;g3465da649cc_0_708"/>
            <p:cNvSpPr txBox="1"/>
            <p:nvPr/>
          </p:nvSpPr>
          <p:spPr>
            <a:xfrm>
              <a:off x="13" y="166143"/>
              <a:ext cx="12500700" cy="3541800"/>
            </a:xfrm>
            <a:prstGeom prst="rect">
              <a:avLst/>
            </a:prstGeom>
            <a:noFill/>
            <a:ln>
              <a:noFill/>
            </a:ln>
          </p:spPr>
          <p:txBody>
            <a:bodyPr spcFirstLastPara="1" wrap="square" lIns="0" tIns="0" rIns="0" bIns="0" anchor="t" anchorCtr="0">
              <a:noAutofit/>
            </a:bodyPr>
            <a:lstStyle/>
            <a:p>
              <a:pPr marL="0" marR="0" lvl="0" indent="0" algn="l" rtl="0">
                <a:lnSpc>
                  <a:spcPct val="124977"/>
                </a:lnSpc>
                <a:spcBef>
                  <a:spcPts val="0"/>
                </a:spcBef>
                <a:spcAft>
                  <a:spcPts val="0"/>
                </a:spcAft>
                <a:buClr>
                  <a:srgbClr val="000000"/>
                </a:buClr>
                <a:buSzPts val="1500"/>
                <a:buFont typeface="Arial"/>
                <a:buNone/>
              </a:pPr>
              <a:r>
                <a:rPr lang="en-US" sz="1500" b="0" i="0" u="none" strike="noStrike" cap="none">
                  <a:solidFill>
                    <a:srgbClr val="4D4D4F"/>
                  </a:solidFill>
                  <a:latin typeface="Inter"/>
                  <a:ea typeface="Inter"/>
                  <a:cs typeface="Inter"/>
                  <a:sym typeface="Inter"/>
                </a:rPr>
                <a:t>Success in today’s fast-paced retail industry requires agility, innovation, and seamless operations.</a:t>
              </a:r>
              <a:endParaRPr sz="1500" b="0" i="0" u="none" strike="noStrike" cap="none">
                <a:solidFill>
                  <a:srgbClr val="000000"/>
                </a:solidFill>
                <a:latin typeface="Arial"/>
                <a:ea typeface="Arial"/>
                <a:cs typeface="Arial"/>
                <a:sym typeface="Arial"/>
              </a:endParaRPr>
            </a:p>
            <a:p>
              <a:pPr marL="0" marR="0" lvl="0" indent="0" algn="l" rtl="0">
                <a:lnSpc>
                  <a:spcPct val="124977"/>
                </a:lnSpc>
                <a:spcBef>
                  <a:spcPts val="0"/>
                </a:spcBef>
                <a:spcAft>
                  <a:spcPts val="0"/>
                </a:spcAft>
                <a:buClr>
                  <a:srgbClr val="000000"/>
                </a:buClr>
                <a:buSzPts val="1500"/>
                <a:buFont typeface="Arial"/>
                <a:buNone/>
              </a:pPr>
              <a:endParaRPr sz="1500" b="0" i="0" u="none" strike="noStrike" cap="none">
                <a:solidFill>
                  <a:srgbClr val="4D4D4F"/>
                </a:solidFill>
                <a:latin typeface="Inter"/>
                <a:ea typeface="Inter"/>
                <a:cs typeface="Inter"/>
                <a:sym typeface="Inter"/>
              </a:endParaRPr>
            </a:p>
            <a:p>
              <a:pPr marL="0" marR="0" lvl="0" indent="0" algn="l" rtl="0">
                <a:lnSpc>
                  <a:spcPct val="124977"/>
                </a:lnSpc>
                <a:spcBef>
                  <a:spcPts val="0"/>
                </a:spcBef>
                <a:spcAft>
                  <a:spcPts val="0"/>
                </a:spcAft>
                <a:buClr>
                  <a:srgbClr val="000000"/>
                </a:buClr>
                <a:buSzPts val="1500"/>
                <a:buFont typeface="Arial"/>
                <a:buNone/>
              </a:pPr>
              <a:r>
                <a:rPr lang="en-US" sz="1500" b="0" i="0" u="none" strike="noStrike" cap="none">
                  <a:solidFill>
                    <a:srgbClr val="4D4D4F"/>
                  </a:solidFill>
                  <a:latin typeface="Inter"/>
                  <a:ea typeface="Inter"/>
                  <a:cs typeface="Inter"/>
                  <a:sym typeface="Inter"/>
                </a:rPr>
                <a:t>As a trusted DX partner of multiple retailers, VTI offers advanced one-stop retail services and solutions to optimize operations, cut costs, and enhance excellent customer experience (CX). We are here to help retailers stay competitive in this ever-changing market.</a:t>
              </a:r>
              <a:endParaRPr sz="1500" b="0" i="0" u="none" strike="noStrike" cap="none">
                <a:solidFill>
                  <a:srgbClr val="000000"/>
                </a:solidFill>
                <a:latin typeface="Arial"/>
                <a:ea typeface="Arial"/>
                <a:cs typeface="Arial"/>
                <a:sym typeface="Arial"/>
              </a:endParaRPr>
            </a:p>
            <a:p>
              <a:pPr marL="0" marR="0" lvl="0" indent="0" algn="l" rtl="0">
                <a:lnSpc>
                  <a:spcPct val="124977"/>
                </a:lnSpc>
                <a:spcBef>
                  <a:spcPts val="0"/>
                </a:spcBef>
                <a:spcAft>
                  <a:spcPts val="0"/>
                </a:spcAft>
                <a:buClr>
                  <a:srgbClr val="000000"/>
                </a:buClr>
                <a:buSzPts val="1500"/>
                <a:buFont typeface="Arial"/>
                <a:buNone/>
              </a:pPr>
              <a:endParaRPr sz="1500" b="0" i="0" u="none" strike="noStrike" cap="none">
                <a:solidFill>
                  <a:srgbClr val="4D4D4F"/>
                </a:solidFill>
                <a:latin typeface="Inter"/>
                <a:ea typeface="Inter"/>
                <a:cs typeface="Inter"/>
                <a:sym typeface="Inter"/>
              </a:endParaRPr>
            </a:p>
            <a:p>
              <a:pPr marL="0" marR="0" lvl="0" indent="0" algn="l" rtl="0">
                <a:lnSpc>
                  <a:spcPct val="124977"/>
                </a:lnSpc>
                <a:spcBef>
                  <a:spcPts val="0"/>
                </a:spcBef>
                <a:spcAft>
                  <a:spcPts val="0"/>
                </a:spcAft>
                <a:buClr>
                  <a:srgbClr val="000000"/>
                </a:buClr>
                <a:buSzPts val="1500"/>
                <a:buFont typeface="Arial"/>
                <a:buNone/>
              </a:pPr>
              <a:r>
                <a:rPr lang="en-US" sz="1500" b="0" i="0" u="none" strike="noStrike" cap="none">
                  <a:solidFill>
                    <a:srgbClr val="4D4D4F"/>
                  </a:solidFill>
                  <a:latin typeface="Inter"/>
                  <a:ea typeface="Inter"/>
                  <a:cs typeface="Inter"/>
                  <a:sym typeface="Inter"/>
                </a:rPr>
                <a:t>Leveraging </a:t>
              </a:r>
              <a:r>
                <a:rPr lang="en-US" sz="1500" b="1" i="0" u="none" strike="noStrike" cap="none">
                  <a:solidFill>
                    <a:srgbClr val="4D4D4F"/>
                  </a:solidFill>
                  <a:latin typeface="Inter"/>
                  <a:ea typeface="Inter"/>
                  <a:cs typeface="Inter"/>
                  <a:sym typeface="Inter"/>
                </a:rPr>
                <a:t>the core technologies</a:t>
              </a:r>
              <a:endParaRPr sz="1500" b="0" i="0" u="none" strike="noStrike" cap="none">
                <a:solidFill>
                  <a:srgbClr val="000000"/>
                </a:solidFill>
                <a:latin typeface="Arial"/>
                <a:ea typeface="Arial"/>
                <a:cs typeface="Arial"/>
                <a:sym typeface="Arial"/>
              </a:endParaRPr>
            </a:p>
          </p:txBody>
        </p:sp>
      </p:grpSp>
      <p:sp>
        <p:nvSpPr>
          <p:cNvPr id="868" name="Google Shape;868;g3465da649cc_0_708"/>
          <p:cNvSpPr/>
          <p:nvPr/>
        </p:nvSpPr>
        <p:spPr>
          <a:xfrm>
            <a:off x="449266" y="1268454"/>
            <a:ext cx="6681831" cy="6615350"/>
          </a:xfrm>
          <a:custGeom>
            <a:avLst/>
            <a:gdLst/>
            <a:ahLst/>
            <a:cxnLst/>
            <a:rect l="l" t="t" r="r" b="b"/>
            <a:pathLst>
              <a:path w="7507675" h="7432977" extrusionOk="0">
                <a:moveTo>
                  <a:pt x="0" y="0"/>
                </a:moveTo>
                <a:lnTo>
                  <a:pt x="7507675" y="0"/>
                </a:lnTo>
                <a:lnTo>
                  <a:pt x="7507675" y="7432978"/>
                </a:lnTo>
                <a:lnTo>
                  <a:pt x="0" y="7432978"/>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r="-9548"/>
            </a:stretch>
          </a:blipFill>
          <a:ln>
            <a:noFill/>
          </a:ln>
        </p:spPr>
      </p:sp>
      <p:grpSp>
        <p:nvGrpSpPr>
          <p:cNvPr id="869" name="Google Shape;869;g3465da649cc_0_708"/>
          <p:cNvGrpSpPr/>
          <p:nvPr/>
        </p:nvGrpSpPr>
        <p:grpSpPr>
          <a:xfrm>
            <a:off x="8156484" y="5010514"/>
            <a:ext cx="1260463" cy="1260463"/>
            <a:chOff x="0" y="0"/>
            <a:chExt cx="1890600" cy="1890600"/>
          </a:xfrm>
        </p:grpSpPr>
        <p:grpSp>
          <p:nvGrpSpPr>
            <p:cNvPr id="870" name="Google Shape;870;g3465da649cc_0_708"/>
            <p:cNvGrpSpPr/>
            <p:nvPr/>
          </p:nvGrpSpPr>
          <p:grpSpPr>
            <a:xfrm>
              <a:off x="0" y="0"/>
              <a:ext cx="1890573" cy="1890573"/>
              <a:chOff x="0" y="0"/>
              <a:chExt cx="812800" cy="812800"/>
            </a:xfrm>
          </p:grpSpPr>
          <p:sp>
            <p:nvSpPr>
              <p:cNvPr id="871" name="Google Shape;871;g3465da649cc_0_70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50A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g3465da649cc_0_708"/>
              <p:cNvSpPr txBox="1"/>
              <p:nvPr/>
            </p:nvSpPr>
            <p:spPr>
              <a:xfrm>
                <a:off x="76200" y="38100"/>
                <a:ext cx="660300" cy="698400"/>
              </a:xfrm>
              <a:prstGeom prst="rect">
                <a:avLst/>
              </a:prstGeom>
              <a:noFill/>
              <a:ln>
                <a:noFill/>
              </a:ln>
            </p:spPr>
            <p:txBody>
              <a:bodyPr spcFirstLastPara="1" wrap="square" lIns="45150" tIns="45150" rIns="45150" bIns="45150" anchor="ctr" anchorCtr="0">
                <a:noAutofit/>
              </a:bodyPr>
              <a:lstStyle/>
              <a:p>
                <a:pPr marL="0" marR="0" lvl="0" indent="0" algn="ctr" rtl="0">
                  <a:lnSpc>
                    <a:spcPct val="1265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873" name="Google Shape;873;g3465da649cc_0_708"/>
            <p:cNvSpPr/>
            <p:nvPr/>
          </p:nvSpPr>
          <p:spPr>
            <a:xfrm>
              <a:off x="292550" y="328225"/>
              <a:ext cx="1234149" cy="1234149"/>
            </a:xfrm>
            <a:custGeom>
              <a:avLst/>
              <a:gdLst/>
              <a:ahLst/>
              <a:cxnLst/>
              <a:rect l="l" t="t" r="r" b="b"/>
              <a:pathLst>
                <a:path w="1234149" h="1234149" extrusionOk="0">
                  <a:moveTo>
                    <a:pt x="0" y="0"/>
                  </a:moveTo>
                  <a:lnTo>
                    <a:pt x="1234149" y="0"/>
                  </a:lnTo>
                  <a:lnTo>
                    <a:pt x="1234149" y="1234150"/>
                  </a:lnTo>
                  <a:lnTo>
                    <a:pt x="0" y="1234150"/>
                  </a:lnTo>
                  <a:lnTo>
                    <a:pt x="0" y="0"/>
                  </a:lnTo>
                  <a:close/>
                </a:path>
              </a:pathLst>
            </a:custGeom>
            <a:blipFill rotWithShape="1">
              <a:blip r:embed="rId4">
                <a:alphaModFix/>
              </a:blip>
              <a:stretch>
                <a:fillRect/>
              </a:stretch>
            </a:blipFill>
            <a:ln>
              <a:noFill/>
            </a:ln>
          </p:spPr>
        </p:sp>
        <p:sp>
          <p:nvSpPr>
            <p:cNvPr id="874" name="Google Shape;874;g3465da649cc_0_708"/>
            <p:cNvSpPr/>
            <p:nvPr/>
          </p:nvSpPr>
          <p:spPr>
            <a:xfrm>
              <a:off x="0" y="0"/>
              <a:ext cx="1890600" cy="1890600"/>
            </a:xfrm>
            <a:custGeom>
              <a:avLst/>
              <a:gdLst/>
              <a:ahLst/>
              <a:cxnLst/>
              <a:rect l="l" t="t" r="r" b="b"/>
              <a:pathLst>
                <a:path w="1890600" h="1890600" extrusionOk="0">
                  <a:moveTo>
                    <a:pt x="0" y="0"/>
                  </a:moveTo>
                  <a:lnTo>
                    <a:pt x="1890600" y="0"/>
                  </a:lnTo>
                  <a:lnTo>
                    <a:pt x="1890600" y="1890600"/>
                  </a:lnTo>
                  <a:lnTo>
                    <a:pt x="0" y="1890600"/>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grpSp>
      <p:grpSp>
        <p:nvGrpSpPr>
          <p:cNvPr id="875" name="Google Shape;875;g3465da649cc_0_708"/>
          <p:cNvGrpSpPr/>
          <p:nvPr/>
        </p:nvGrpSpPr>
        <p:grpSpPr>
          <a:xfrm>
            <a:off x="10841340" y="5010514"/>
            <a:ext cx="1260463" cy="1260463"/>
            <a:chOff x="0" y="0"/>
            <a:chExt cx="1890600" cy="1890600"/>
          </a:xfrm>
        </p:grpSpPr>
        <p:grpSp>
          <p:nvGrpSpPr>
            <p:cNvPr id="876" name="Google Shape;876;g3465da649cc_0_708"/>
            <p:cNvGrpSpPr/>
            <p:nvPr/>
          </p:nvGrpSpPr>
          <p:grpSpPr>
            <a:xfrm>
              <a:off x="0" y="0"/>
              <a:ext cx="1890573" cy="1890573"/>
              <a:chOff x="0" y="0"/>
              <a:chExt cx="812800" cy="812800"/>
            </a:xfrm>
          </p:grpSpPr>
          <p:sp>
            <p:nvSpPr>
              <p:cNvPr id="877" name="Google Shape;877;g3465da649cc_0_70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BC6"/>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g3465da649cc_0_708"/>
              <p:cNvSpPr txBox="1"/>
              <p:nvPr/>
            </p:nvSpPr>
            <p:spPr>
              <a:xfrm>
                <a:off x="76200" y="38100"/>
                <a:ext cx="660300" cy="698400"/>
              </a:xfrm>
              <a:prstGeom prst="rect">
                <a:avLst/>
              </a:prstGeom>
              <a:noFill/>
              <a:ln>
                <a:noFill/>
              </a:ln>
            </p:spPr>
            <p:txBody>
              <a:bodyPr spcFirstLastPara="1" wrap="square" lIns="45150" tIns="45150" rIns="45150" bIns="45150" anchor="ctr" anchorCtr="0">
                <a:noAutofit/>
              </a:bodyPr>
              <a:lstStyle/>
              <a:p>
                <a:pPr marL="0" marR="0" lvl="0" indent="0" algn="ctr" rtl="0">
                  <a:lnSpc>
                    <a:spcPct val="1265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879" name="Google Shape;879;g3465da649cc_0_708"/>
            <p:cNvSpPr/>
            <p:nvPr/>
          </p:nvSpPr>
          <p:spPr>
            <a:xfrm>
              <a:off x="269862" y="257162"/>
              <a:ext cx="1249276" cy="1249276"/>
            </a:xfrm>
            <a:custGeom>
              <a:avLst/>
              <a:gdLst/>
              <a:ahLst/>
              <a:cxnLst/>
              <a:rect l="l" t="t" r="r" b="b"/>
              <a:pathLst>
                <a:path w="1249276" h="1249276" extrusionOk="0">
                  <a:moveTo>
                    <a:pt x="0" y="0"/>
                  </a:moveTo>
                  <a:lnTo>
                    <a:pt x="1249276" y="0"/>
                  </a:lnTo>
                  <a:lnTo>
                    <a:pt x="1249276" y="1249276"/>
                  </a:lnTo>
                  <a:lnTo>
                    <a:pt x="0" y="1249276"/>
                  </a:lnTo>
                  <a:lnTo>
                    <a:pt x="0" y="0"/>
                  </a:lnTo>
                  <a:close/>
                </a:path>
              </a:pathLst>
            </a:custGeom>
            <a:blipFill rotWithShape="1">
              <a:blip r:embed="rId6">
                <a:alphaModFix/>
              </a:blip>
              <a:stretch>
                <a:fillRect/>
              </a:stretch>
            </a:blipFill>
            <a:ln>
              <a:noFill/>
            </a:ln>
          </p:spPr>
        </p:sp>
        <p:sp>
          <p:nvSpPr>
            <p:cNvPr id="880" name="Google Shape;880;g3465da649cc_0_708"/>
            <p:cNvSpPr/>
            <p:nvPr/>
          </p:nvSpPr>
          <p:spPr>
            <a:xfrm>
              <a:off x="0" y="0"/>
              <a:ext cx="1890600" cy="1890600"/>
            </a:xfrm>
            <a:custGeom>
              <a:avLst/>
              <a:gdLst/>
              <a:ahLst/>
              <a:cxnLst/>
              <a:rect l="l" t="t" r="r" b="b"/>
              <a:pathLst>
                <a:path w="1890600" h="1890600" extrusionOk="0">
                  <a:moveTo>
                    <a:pt x="0" y="0"/>
                  </a:moveTo>
                  <a:lnTo>
                    <a:pt x="1890600" y="0"/>
                  </a:lnTo>
                  <a:lnTo>
                    <a:pt x="1890600" y="1890600"/>
                  </a:lnTo>
                  <a:lnTo>
                    <a:pt x="0" y="1890600"/>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grpSp>
      <p:grpSp>
        <p:nvGrpSpPr>
          <p:cNvPr id="881" name="Google Shape;881;g3465da649cc_0_708"/>
          <p:cNvGrpSpPr/>
          <p:nvPr/>
        </p:nvGrpSpPr>
        <p:grpSpPr>
          <a:xfrm>
            <a:off x="13597488" y="5010514"/>
            <a:ext cx="1260463" cy="1260463"/>
            <a:chOff x="0" y="0"/>
            <a:chExt cx="1890600" cy="1890600"/>
          </a:xfrm>
        </p:grpSpPr>
        <p:grpSp>
          <p:nvGrpSpPr>
            <p:cNvPr id="882" name="Google Shape;882;g3465da649cc_0_708"/>
            <p:cNvGrpSpPr/>
            <p:nvPr/>
          </p:nvGrpSpPr>
          <p:grpSpPr>
            <a:xfrm>
              <a:off x="0" y="0"/>
              <a:ext cx="1890573" cy="1890573"/>
              <a:chOff x="0" y="0"/>
              <a:chExt cx="812800" cy="812800"/>
            </a:xfrm>
          </p:grpSpPr>
          <p:sp>
            <p:nvSpPr>
              <p:cNvPr id="883" name="Google Shape;883;g3465da649cc_0_70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1E8"/>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g3465da649cc_0_708"/>
              <p:cNvSpPr txBox="1"/>
              <p:nvPr/>
            </p:nvSpPr>
            <p:spPr>
              <a:xfrm>
                <a:off x="76200" y="38100"/>
                <a:ext cx="660300" cy="698400"/>
              </a:xfrm>
              <a:prstGeom prst="rect">
                <a:avLst/>
              </a:prstGeom>
              <a:noFill/>
              <a:ln>
                <a:noFill/>
              </a:ln>
            </p:spPr>
            <p:txBody>
              <a:bodyPr spcFirstLastPara="1" wrap="square" lIns="45150" tIns="45150" rIns="45150" bIns="45150" anchor="ctr" anchorCtr="0">
                <a:noAutofit/>
              </a:bodyPr>
              <a:lstStyle/>
              <a:p>
                <a:pPr marL="0" marR="0" lvl="0" indent="0" algn="ctr" rtl="0">
                  <a:lnSpc>
                    <a:spcPct val="1265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885" name="Google Shape;885;g3465da649cc_0_708"/>
            <p:cNvSpPr/>
            <p:nvPr/>
          </p:nvSpPr>
          <p:spPr>
            <a:xfrm>
              <a:off x="275774" y="280795"/>
              <a:ext cx="1339052" cy="1329009"/>
            </a:xfrm>
            <a:custGeom>
              <a:avLst/>
              <a:gdLst/>
              <a:ahLst/>
              <a:cxnLst/>
              <a:rect l="l" t="t" r="r" b="b"/>
              <a:pathLst>
                <a:path w="1339052" h="1329009" extrusionOk="0">
                  <a:moveTo>
                    <a:pt x="0" y="0"/>
                  </a:moveTo>
                  <a:lnTo>
                    <a:pt x="1339052" y="0"/>
                  </a:lnTo>
                  <a:lnTo>
                    <a:pt x="1339052" y="1329009"/>
                  </a:lnTo>
                  <a:lnTo>
                    <a:pt x="0" y="1329009"/>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886" name="Google Shape;886;g3465da649cc_0_708"/>
            <p:cNvSpPr/>
            <p:nvPr/>
          </p:nvSpPr>
          <p:spPr>
            <a:xfrm>
              <a:off x="0" y="0"/>
              <a:ext cx="1890600" cy="1890600"/>
            </a:xfrm>
            <a:custGeom>
              <a:avLst/>
              <a:gdLst/>
              <a:ahLst/>
              <a:cxnLst/>
              <a:rect l="l" t="t" r="r" b="b"/>
              <a:pathLst>
                <a:path w="1890600" h="1890600" extrusionOk="0">
                  <a:moveTo>
                    <a:pt x="0" y="0"/>
                  </a:moveTo>
                  <a:lnTo>
                    <a:pt x="1890600" y="0"/>
                  </a:lnTo>
                  <a:lnTo>
                    <a:pt x="1890600" y="1890600"/>
                  </a:lnTo>
                  <a:lnTo>
                    <a:pt x="0" y="1890600"/>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grpSp>
      <p:grpSp>
        <p:nvGrpSpPr>
          <p:cNvPr id="887" name="Google Shape;887;g3465da649cc_0_708"/>
          <p:cNvGrpSpPr/>
          <p:nvPr/>
        </p:nvGrpSpPr>
        <p:grpSpPr>
          <a:xfrm>
            <a:off x="7734444" y="6458031"/>
            <a:ext cx="2104584" cy="542027"/>
            <a:chOff x="0" y="-9525"/>
            <a:chExt cx="3156718" cy="813000"/>
          </a:xfrm>
        </p:grpSpPr>
        <p:sp>
          <p:nvSpPr>
            <p:cNvPr id="888" name="Google Shape;888;g3465da649cc_0_708"/>
            <p:cNvSpPr/>
            <p:nvPr/>
          </p:nvSpPr>
          <p:spPr>
            <a:xfrm>
              <a:off x="0" y="0"/>
              <a:ext cx="3156718" cy="803451"/>
            </a:xfrm>
            <a:custGeom>
              <a:avLst/>
              <a:gdLst/>
              <a:ahLst/>
              <a:cxnLst/>
              <a:rect l="l" t="t" r="r" b="b"/>
              <a:pathLst>
                <a:path w="3156718" h="803451" extrusionOk="0">
                  <a:moveTo>
                    <a:pt x="0" y="0"/>
                  </a:moveTo>
                  <a:lnTo>
                    <a:pt x="3156718" y="0"/>
                  </a:lnTo>
                  <a:lnTo>
                    <a:pt x="3156718" y="803451"/>
                  </a:lnTo>
                  <a:lnTo>
                    <a:pt x="0" y="803451"/>
                  </a:lnTo>
                  <a:close/>
                </a:path>
              </a:pathLst>
            </a:custGeom>
            <a:solidFill>
              <a:srgbClr val="000000">
                <a:alpha val="0"/>
              </a:srgbClr>
            </a:solidFill>
            <a:ln>
              <a:noFill/>
            </a:ln>
          </p:spPr>
        </p:sp>
        <p:sp>
          <p:nvSpPr>
            <p:cNvPr id="889" name="Google Shape;889;g3465da649cc_0_708"/>
            <p:cNvSpPr txBox="1"/>
            <p:nvPr/>
          </p:nvSpPr>
          <p:spPr>
            <a:xfrm>
              <a:off x="0" y="-9525"/>
              <a:ext cx="3156600" cy="8130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404040"/>
                  </a:solidFill>
                  <a:latin typeface="Inter"/>
                  <a:ea typeface="Inter"/>
                  <a:cs typeface="Inter"/>
                  <a:sym typeface="Inter"/>
                </a:rPr>
                <a:t>MOBILE APPLICATION DEVELOPMENT</a:t>
              </a:r>
              <a:endParaRPr sz="1200" b="0" i="0" u="none" strike="noStrike" cap="none">
                <a:solidFill>
                  <a:srgbClr val="000000"/>
                </a:solidFill>
                <a:latin typeface="Arial"/>
                <a:ea typeface="Arial"/>
                <a:cs typeface="Arial"/>
                <a:sym typeface="Arial"/>
              </a:endParaRPr>
            </a:p>
          </p:txBody>
        </p:sp>
      </p:grpSp>
      <p:grpSp>
        <p:nvGrpSpPr>
          <p:cNvPr id="890" name="Google Shape;890;g3465da649cc_0_708"/>
          <p:cNvGrpSpPr/>
          <p:nvPr/>
        </p:nvGrpSpPr>
        <p:grpSpPr>
          <a:xfrm>
            <a:off x="10419300" y="6458031"/>
            <a:ext cx="2104584" cy="335026"/>
            <a:chOff x="0" y="-9525"/>
            <a:chExt cx="3156718" cy="502514"/>
          </a:xfrm>
        </p:grpSpPr>
        <p:sp>
          <p:nvSpPr>
            <p:cNvPr id="891" name="Google Shape;891;g3465da649cc_0_708"/>
            <p:cNvSpPr/>
            <p:nvPr/>
          </p:nvSpPr>
          <p:spPr>
            <a:xfrm>
              <a:off x="0" y="0"/>
              <a:ext cx="3156718" cy="492989"/>
            </a:xfrm>
            <a:custGeom>
              <a:avLst/>
              <a:gdLst/>
              <a:ahLst/>
              <a:cxnLst/>
              <a:rect l="l" t="t" r="r" b="b"/>
              <a:pathLst>
                <a:path w="3156718" h="492989" extrusionOk="0">
                  <a:moveTo>
                    <a:pt x="0" y="0"/>
                  </a:moveTo>
                  <a:lnTo>
                    <a:pt x="3156718" y="0"/>
                  </a:lnTo>
                  <a:lnTo>
                    <a:pt x="3156718" y="492989"/>
                  </a:lnTo>
                  <a:lnTo>
                    <a:pt x="0" y="492989"/>
                  </a:lnTo>
                  <a:close/>
                </a:path>
              </a:pathLst>
            </a:custGeom>
            <a:solidFill>
              <a:srgbClr val="000000">
                <a:alpha val="0"/>
              </a:srgbClr>
            </a:solidFill>
            <a:ln>
              <a:noFill/>
            </a:ln>
          </p:spPr>
        </p:sp>
        <p:sp>
          <p:nvSpPr>
            <p:cNvPr id="892" name="Google Shape;892;g3465da649cc_0_708"/>
            <p:cNvSpPr txBox="1"/>
            <p:nvPr/>
          </p:nvSpPr>
          <p:spPr>
            <a:xfrm>
              <a:off x="0" y="-9525"/>
              <a:ext cx="3156600" cy="5025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404040"/>
                  </a:solidFill>
                  <a:latin typeface="Inter"/>
                  <a:ea typeface="Inter"/>
                  <a:cs typeface="Inter"/>
                  <a:sym typeface="Inter"/>
                </a:rPr>
                <a:t>AI &amp; ML</a:t>
              </a:r>
              <a:endParaRPr sz="1200" b="0" i="0" u="none" strike="noStrike" cap="none">
                <a:solidFill>
                  <a:srgbClr val="000000"/>
                </a:solidFill>
                <a:latin typeface="Arial"/>
                <a:ea typeface="Arial"/>
                <a:cs typeface="Arial"/>
                <a:sym typeface="Arial"/>
              </a:endParaRPr>
            </a:p>
          </p:txBody>
        </p:sp>
      </p:grpSp>
      <p:grpSp>
        <p:nvGrpSpPr>
          <p:cNvPr id="893" name="Google Shape;893;g3465da649cc_0_708"/>
          <p:cNvGrpSpPr/>
          <p:nvPr/>
        </p:nvGrpSpPr>
        <p:grpSpPr>
          <a:xfrm>
            <a:off x="13175448" y="6458031"/>
            <a:ext cx="2104584" cy="335026"/>
            <a:chOff x="0" y="-9525"/>
            <a:chExt cx="3156718" cy="502514"/>
          </a:xfrm>
        </p:grpSpPr>
        <p:sp>
          <p:nvSpPr>
            <p:cNvPr id="894" name="Google Shape;894;g3465da649cc_0_708"/>
            <p:cNvSpPr/>
            <p:nvPr/>
          </p:nvSpPr>
          <p:spPr>
            <a:xfrm>
              <a:off x="0" y="0"/>
              <a:ext cx="3156718" cy="492989"/>
            </a:xfrm>
            <a:custGeom>
              <a:avLst/>
              <a:gdLst/>
              <a:ahLst/>
              <a:cxnLst/>
              <a:rect l="l" t="t" r="r" b="b"/>
              <a:pathLst>
                <a:path w="3156718" h="492989" extrusionOk="0">
                  <a:moveTo>
                    <a:pt x="0" y="0"/>
                  </a:moveTo>
                  <a:lnTo>
                    <a:pt x="3156718" y="0"/>
                  </a:lnTo>
                  <a:lnTo>
                    <a:pt x="3156718" y="492989"/>
                  </a:lnTo>
                  <a:lnTo>
                    <a:pt x="0" y="492989"/>
                  </a:lnTo>
                  <a:close/>
                </a:path>
              </a:pathLst>
            </a:custGeom>
            <a:solidFill>
              <a:srgbClr val="000000">
                <a:alpha val="0"/>
              </a:srgbClr>
            </a:solidFill>
            <a:ln>
              <a:noFill/>
            </a:ln>
          </p:spPr>
        </p:sp>
        <p:sp>
          <p:nvSpPr>
            <p:cNvPr id="895" name="Google Shape;895;g3465da649cc_0_708"/>
            <p:cNvSpPr txBox="1"/>
            <p:nvPr/>
          </p:nvSpPr>
          <p:spPr>
            <a:xfrm>
              <a:off x="0" y="-9525"/>
              <a:ext cx="3156600" cy="5025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404040"/>
                  </a:solidFill>
                  <a:latin typeface="Inter"/>
                  <a:ea typeface="Inter"/>
                  <a:cs typeface="Inter"/>
                  <a:sym typeface="Inter"/>
                </a:rPr>
                <a:t>CLOUD COMPUTING</a:t>
              </a:r>
              <a:endParaRPr sz="1200" b="0" i="0" u="none" strike="noStrike" cap="none">
                <a:solidFill>
                  <a:srgbClr val="000000"/>
                </a:solidFill>
                <a:latin typeface="Arial"/>
                <a:ea typeface="Arial"/>
                <a:cs typeface="Arial"/>
                <a:sym typeface="Arial"/>
              </a:endParaRPr>
            </a:p>
          </p:txBody>
        </p:sp>
      </p:grpSp>
      <p:sp>
        <p:nvSpPr>
          <p:cNvPr id="896" name="Google Shape;896;g3465da649cc_0_708"/>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b="-8"/>
            </a:stretch>
          </a:blipFill>
          <a:ln>
            <a:noFill/>
          </a:ln>
        </p:spPr>
      </p:sp>
      <p:cxnSp>
        <p:nvCxnSpPr>
          <p:cNvPr id="897" name="Google Shape;897;g3465da649cc_0_708"/>
          <p:cNvCxnSpPr/>
          <p:nvPr/>
        </p:nvCxnSpPr>
        <p:spPr>
          <a:xfrm>
            <a:off x="1647250" y="8527867"/>
            <a:ext cx="12900" cy="432300"/>
          </a:xfrm>
          <a:prstGeom prst="straightConnector1">
            <a:avLst/>
          </a:prstGeom>
          <a:noFill/>
          <a:ln w="9525" cap="rnd" cmpd="sng">
            <a:solidFill>
              <a:srgbClr val="808080"/>
            </a:solidFill>
            <a:prstDash val="solid"/>
            <a:round/>
            <a:headEnd type="none" w="sm" len="sm"/>
            <a:tailEnd type="none" w="sm" len="sm"/>
          </a:ln>
        </p:spPr>
      </p:cxnSp>
      <p:grpSp>
        <p:nvGrpSpPr>
          <p:cNvPr id="898" name="Google Shape;898;g3465da649cc_0_708"/>
          <p:cNvGrpSpPr/>
          <p:nvPr/>
        </p:nvGrpSpPr>
        <p:grpSpPr>
          <a:xfrm>
            <a:off x="872534" y="8351050"/>
            <a:ext cx="846442" cy="699635"/>
            <a:chOff x="0" y="0"/>
            <a:chExt cx="1269600" cy="1049400"/>
          </a:xfrm>
        </p:grpSpPr>
        <p:sp>
          <p:nvSpPr>
            <p:cNvPr id="899" name="Google Shape;899;g3465da649cc_0_708"/>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900" name="Google Shape;900;g3465da649cc_0_708"/>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19968"/>
                </a:lnSpc>
                <a:spcBef>
                  <a:spcPts val="0"/>
                </a:spcBef>
                <a:spcAft>
                  <a:spcPts val="0"/>
                </a:spcAft>
                <a:buClr>
                  <a:srgbClr val="000000"/>
                </a:buClr>
                <a:buSzPts val="2800"/>
                <a:buFont typeface="Arial"/>
                <a:buNone/>
              </a:pPr>
              <a:r>
                <a:rPr lang="en-US" sz="2800" b="0" i="0" u="none" strike="noStrike" cap="none" dirty="0">
                  <a:solidFill>
                    <a:srgbClr val="666666"/>
                  </a:solidFill>
                  <a:latin typeface="Inter"/>
                  <a:ea typeface="Inter"/>
                  <a:cs typeface="Inter"/>
                  <a:sym typeface="Inter"/>
                </a:rPr>
                <a:t>14</a:t>
              </a:r>
              <a:endParaRPr sz="1200" b="0" i="0" u="none" strike="noStrike" cap="none" dirty="0">
                <a:solidFill>
                  <a:srgbClr val="000000"/>
                </a:solidFill>
                <a:latin typeface="Arial"/>
                <a:ea typeface="Arial"/>
                <a:cs typeface="Arial"/>
                <a:sym typeface="Arial"/>
              </a:endParaRPr>
            </a:p>
          </p:txBody>
        </p:sp>
      </p:grpSp>
      <p:grpSp>
        <p:nvGrpSpPr>
          <p:cNvPr id="901" name="Google Shape;901;g3465da649cc_0_708"/>
          <p:cNvGrpSpPr/>
          <p:nvPr/>
        </p:nvGrpSpPr>
        <p:grpSpPr>
          <a:xfrm>
            <a:off x="1769555" y="8560966"/>
            <a:ext cx="5353468" cy="296215"/>
            <a:chOff x="0" y="-9525"/>
            <a:chExt cx="8029800" cy="444300"/>
          </a:xfrm>
        </p:grpSpPr>
        <p:sp>
          <p:nvSpPr>
            <p:cNvPr id="902" name="Google Shape;902;g3465da649cc_0_708"/>
            <p:cNvSpPr/>
            <p:nvPr/>
          </p:nvSpPr>
          <p:spPr>
            <a:xfrm>
              <a:off x="0" y="0"/>
              <a:ext cx="8029800" cy="434687"/>
            </a:xfrm>
            <a:custGeom>
              <a:avLst/>
              <a:gdLst/>
              <a:ahLst/>
              <a:cxnLst/>
              <a:rect l="l" t="t" r="r" b="b"/>
              <a:pathLst>
                <a:path w="8029800" h="434687" extrusionOk="0">
                  <a:moveTo>
                    <a:pt x="0" y="0"/>
                  </a:moveTo>
                  <a:lnTo>
                    <a:pt x="8029800" y="0"/>
                  </a:lnTo>
                  <a:lnTo>
                    <a:pt x="8029800" y="434687"/>
                  </a:lnTo>
                  <a:lnTo>
                    <a:pt x="0" y="434687"/>
                  </a:lnTo>
                  <a:close/>
                </a:path>
              </a:pathLst>
            </a:custGeom>
            <a:solidFill>
              <a:srgbClr val="000000">
                <a:alpha val="0"/>
              </a:srgbClr>
            </a:solidFill>
            <a:ln>
              <a:noFill/>
            </a:ln>
          </p:spPr>
        </p:sp>
        <p:sp>
          <p:nvSpPr>
            <p:cNvPr id="903" name="Google Shape;903;g3465da649cc_0_708"/>
            <p:cNvSpPr txBox="1"/>
            <p:nvPr/>
          </p:nvSpPr>
          <p:spPr>
            <a:xfrm>
              <a:off x="0" y="-9525"/>
              <a:ext cx="8029800" cy="444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300"/>
                <a:buFont typeface="Arial"/>
                <a:buNone/>
              </a:pPr>
              <a:r>
                <a:rPr lang="en-US" sz="1300" b="0" i="0" u="none" strike="noStrike" cap="none" dirty="0">
                  <a:solidFill>
                    <a:srgbClr val="808080"/>
                  </a:solidFill>
                  <a:latin typeface="Inter"/>
                  <a:ea typeface="Inter"/>
                  <a:cs typeface="Inter"/>
                  <a:sym typeface="Inter"/>
                </a:rPr>
                <a:t>RETAIL DX Profile - Software Development For Retail</a:t>
              </a:r>
              <a:endParaRPr sz="1200" b="0" i="0" u="none" strike="noStrike" cap="none" dirty="0">
                <a:solidFill>
                  <a:srgbClr val="000000"/>
                </a:solidFill>
                <a:latin typeface="Arial"/>
                <a:ea typeface="Arial"/>
                <a:cs typeface="Arial"/>
                <a:sym typeface="Arial"/>
              </a:endParaRPr>
            </a:p>
          </p:txBody>
        </p:sp>
      </p:grpSp>
      <p:pic>
        <p:nvPicPr>
          <p:cNvPr id="904" name="Google Shape;904;g3465da649cc_0_708" title="Logo_VTI (2).png"/>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14701375" y="281474"/>
            <a:ext cx="1205820" cy="6446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cxnSp>
        <p:nvCxnSpPr>
          <p:cNvPr id="913" name="Google Shape;913;g3465da649cc_0_838"/>
          <p:cNvCxnSpPr/>
          <p:nvPr/>
        </p:nvCxnSpPr>
        <p:spPr>
          <a:xfrm>
            <a:off x="906402" y="445572"/>
            <a:ext cx="0" cy="371400"/>
          </a:xfrm>
          <a:prstGeom prst="straightConnector1">
            <a:avLst/>
          </a:prstGeom>
          <a:noFill/>
          <a:ln w="47625" cap="rnd" cmpd="sng">
            <a:solidFill>
              <a:srgbClr val="0050AE"/>
            </a:solidFill>
            <a:prstDash val="solid"/>
            <a:round/>
            <a:headEnd type="none" w="sm" len="sm"/>
            <a:tailEnd type="none" w="sm" len="sm"/>
          </a:ln>
        </p:spPr>
      </p:cxnSp>
      <p:grpSp>
        <p:nvGrpSpPr>
          <p:cNvPr id="914" name="Google Shape;914;g3465da649cc_0_838"/>
          <p:cNvGrpSpPr/>
          <p:nvPr/>
        </p:nvGrpSpPr>
        <p:grpSpPr>
          <a:xfrm>
            <a:off x="1173733" y="394023"/>
            <a:ext cx="9181259" cy="474574"/>
            <a:chOff x="0" y="0"/>
            <a:chExt cx="13771200" cy="711825"/>
          </a:xfrm>
        </p:grpSpPr>
        <p:sp>
          <p:nvSpPr>
            <p:cNvPr id="915" name="Google Shape;915;g3465da649cc_0_838"/>
            <p:cNvSpPr/>
            <p:nvPr/>
          </p:nvSpPr>
          <p:spPr>
            <a:xfrm>
              <a:off x="0" y="0"/>
              <a:ext cx="13771184" cy="711777"/>
            </a:xfrm>
            <a:custGeom>
              <a:avLst/>
              <a:gdLst/>
              <a:ahLst/>
              <a:cxnLst/>
              <a:rect l="l" t="t" r="r" b="b"/>
              <a:pathLst>
                <a:path w="13771184" h="711777" extrusionOk="0">
                  <a:moveTo>
                    <a:pt x="0" y="0"/>
                  </a:moveTo>
                  <a:lnTo>
                    <a:pt x="13771184" y="0"/>
                  </a:lnTo>
                  <a:lnTo>
                    <a:pt x="13771184" y="711777"/>
                  </a:lnTo>
                  <a:lnTo>
                    <a:pt x="0" y="711777"/>
                  </a:lnTo>
                  <a:close/>
                </a:path>
              </a:pathLst>
            </a:custGeom>
            <a:solidFill>
              <a:srgbClr val="000000">
                <a:alpha val="0"/>
              </a:srgbClr>
            </a:solidFill>
            <a:ln>
              <a:noFill/>
            </a:ln>
          </p:spPr>
        </p:sp>
        <p:sp>
          <p:nvSpPr>
            <p:cNvPr id="916" name="Google Shape;916;g3465da649cc_0_838"/>
            <p:cNvSpPr txBox="1"/>
            <p:nvPr/>
          </p:nvSpPr>
          <p:spPr>
            <a:xfrm>
              <a:off x="0" y="9525"/>
              <a:ext cx="13771200" cy="702300"/>
            </a:xfrm>
            <a:prstGeom prst="rect">
              <a:avLst/>
            </a:prstGeom>
            <a:noFill/>
            <a:ln>
              <a:noFill/>
            </a:ln>
          </p:spPr>
          <p:txBody>
            <a:bodyPr spcFirstLastPara="1" wrap="square" lIns="0" tIns="0" rIns="0" bIns="0" anchor="t" anchorCtr="0">
              <a:noAutofit/>
            </a:bodyPr>
            <a:lstStyle/>
            <a:p>
              <a:pPr marL="0" marR="0" lvl="0" indent="0" algn="l" rtl="0">
                <a:lnSpc>
                  <a:spcPct val="120008"/>
                </a:lnSpc>
                <a:spcBef>
                  <a:spcPts val="0"/>
                </a:spcBef>
                <a:spcAft>
                  <a:spcPts val="0"/>
                </a:spcAft>
                <a:buClr>
                  <a:srgbClr val="000000"/>
                </a:buClr>
                <a:buSzPts val="3000"/>
                <a:buFont typeface="Arial"/>
                <a:buNone/>
              </a:pPr>
              <a:r>
                <a:rPr lang="en-US" sz="3000" b="1" i="0" u="none" strike="noStrike" cap="none">
                  <a:solidFill>
                    <a:srgbClr val="0050AE"/>
                  </a:solidFill>
                  <a:latin typeface="Inter"/>
                  <a:ea typeface="Inter"/>
                  <a:cs typeface="Inter"/>
                  <a:sym typeface="Inter"/>
                </a:rPr>
                <a:t>ONE-STOP IT SERVICE FOR RETAILERS</a:t>
              </a:r>
              <a:endParaRPr sz="3000" b="0" i="0" u="none" strike="noStrike" cap="none">
                <a:solidFill>
                  <a:srgbClr val="000000"/>
                </a:solidFill>
                <a:latin typeface="Arial"/>
                <a:ea typeface="Arial"/>
                <a:cs typeface="Arial"/>
                <a:sym typeface="Arial"/>
              </a:endParaRPr>
            </a:p>
          </p:txBody>
        </p:sp>
      </p:grpSp>
      <p:cxnSp>
        <p:nvCxnSpPr>
          <p:cNvPr id="917" name="Google Shape;917;g3465da649cc_0_838"/>
          <p:cNvCxnSpPr/>
          <p:nvPr/>
        </p:nvCxnSpPr>
        <p:spPr>
          <a:xfrm>
            <a:off x="3617572" y="4040888"/>
            <a:ext cx="0" cy="771600"/>
          </a:xfrm>
          <a:prstGeom prst="straightConnector1">
            <a:avLst/>
          </a:prstGeom>
          <a:noFill/>
          <a:ln w="38100" cap="flat" cmpd="sng">
            <a:solidFill>
              <a:srgbClr val="0078FF"/>
            </a:solidFill>
            <a:prstDash val="solid"/>
            <a:round/>
            <a:headEnd type="none" w="sm" len="sm"/>
            <a:tailEnd type="oval" w="lg" len="lg"/>
          </a:ln>
        </p:spPr>
      </p:cxnSp>
      <p:cxnSp>
        <p:nvCxnSpPr>
          <p:cNvPr id="918" name="Google Shape;918;g3465da649cc_0_838"/>
          <p:cNvCxnSpPr/>
          <p:nvPr/>
        </p:nvCxnSpPr>
        <p:spPr>
          <a:xfrm>
            <a:off x="7906474" y="4029428"/>
            <a:ext cx="0" cy="771600"/>
          </a:xfrm>
          <a:prstGeom prst="straightConnector1">
            <a:avLst/>
          </a:prstGeom>
          <a:noFill/>
          <a:ln w="38100" cap="flat" cmpd="sng">
            <a:solidFill>
              <a:srgbClr val="0078FF"/>
            </a:solidFill>
            <a:prstDash val="solid"/>
            <a:round/>
            <a:headEnd type="none" w="sm" len="sm"/>
            <a:tailEnd type="oval" w="lg" len="lg"/>
          </a:ln>
        </p:spPr>
      </p:cxnSp>
      <p:cxnSp>
        <p:nvCxnSpPr>
          <p:cNvPr id="919" name="Google Shape;919;g3465da649cc_0_838"/>
          <p:cNvCxnSpPr/>
          <p:nvPr/>
        </p:nvCxnSpPr>
        <p:spPr>
          <a:xfrm>
            <a:off x="11973743" y="4040888"/>
            <a:ext cx="0" cy="771600"/>
          </a:xfrm>
          <a:prstGeom prst="straightConnector1">
            <a:avLst/>
          </a:prstGeom>
          <a:noFill/>
          <a:ln w="38100" cap="flat" cmpd="sng">
            <a:solidFill>
              <a:srgbClr val="0078FF"/>
            </a:solidFill>
            <a:prstDash val="solid"/>
            <a:round/>
            <a:headEnd type="none" w="sm" len="sm"/>
            <a:tailEnd type="oval" w="lg" len="lg"/>
          </a:ln>
        </p:spPr>
      </p:cxnSp>
      <p:sp>
        <p:nvSpPr>
          <p:cNvPr id="920" name="Google Shape;920;g3465da649cc_0_838"/>
          <p:cNvSpPr/>
          <p:nvPr/>
        </p:nvSpPr>
        <p:spPr>
          <a:xfrm>
            <a:off x="1769555" y="1753369"/>
            <a:ext cx="12550309" cy="2572813"/>
          </a:xfrm>
          <a:custGeom>
            <a:avLst/>
            <a:gdLst/>
            <a:ahLst/>
            <a:cxnLst/>
            <a:rect l="l" t="t" r="r" b="b"/>
            <a:pathLst>
              <a:path w="14101471" h="2890801" extrusionOk="0">
                <a:moveTo>
                  <a:pt x="0" y="0"/>
                </a:moveTo>
                <a:lnTo>
                  <a:pt x="14101471" y="0"/>
                </a:lnTo>
                <a:lnTo>
                  <a:pt x="14101471" y="2890802"/>
                </a:lnTo>
                <a:lnTo>
                  <a:pt x="0" y="2890802"/>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sp>
      <p:sp>
        <p:nvSpPr>
          <p:cNvPr id="921" name="Google Shape;921;g3465da649cc_0_838"/>
          <p:cNvSpPr/>
          <p:nvPr/>
        </p:nvSpPr>
        <p:spPr>
          <a:xfrm>
            <a:off x="3407228" y="1926021"/>
            <a:ext cx="1036304" cy="999601"/>
          </a:xfrm>
          <a:custGeom>
            <a:avLst/>
            <a:gdLst/>
            <a:ahLst/>
            <a:cxnLst/>
            <a:rect l="l" t="t" r="r" b="b"/>
            <a:pathLst>
              <a:path w="1164386" h="1123147" extrusionOk="0">
                <a:moveTo>
                  <a:pt x="0" y="0"/>
                </a:moveTo>
                <a:lnTo>
                  <a:pt x="1164386" y="0"/>
                </a:lnTo>
                <a:lnTo>
                  <a:pt x="1164386" y="1123147"/>
                </a:lnTo>
                <a:lnTo>
                  <a:pt x="0" y="1123147"/>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sp>
        <p:nvSpPr>
          <p:cNvPr id="922" name="Google Shape;922;g3465da649cc_0_838"/>
          <p:cNvSpPr/>
          <p:nvPr/>
        </p:nvSpPr>
        <p:spPr>
          <a:xfrm>
            <a:off x="7501437" y="2050508"/>
            <a:ext cx="1254692" cy="784183"/>
          </a:xfrm>
          <a:custGeom>
            <a:avLst/>
            <a:gdLst/>
            <a:ahLst/>
            <a:cxnLst/>
            <a:rect l="l" t="t" r="r" b="b"/>
            <a:pathLst>
              <a:path w="1409766" h="881104" extrusionOk="0">
                <a:moveTo>
                  <a:pt x="0" y="0"/>
                </a:moveTo>
                <a:lnTo>
                  <a:pt x="1409766" y="0"/>
                </a:lnTo>
                <a:lnTo>
                  <a:pt x="1409766" y="881104"/>
                </a:lnTo>
                <a:lnTo>
                  <a:pt x="0" y="881104"/>
                </a:lnTo>
                <a:lnTo>
                  <a:pt x="0" y="0"/>
                </a:lnTo>
                <a:close/>
              </a:path>
            </a:pathLst>
          </a:custGeom>
          <a:blipFill rotWithShape="1">
            <a:blip r:embed="rId5">
              <a:alphaModFix/>
            </a:blip>
            <a:stretch>
              <a:fillRect/>
            </a:stretch>
          </a:blipFill>
          <a:ln>
            <a:noFill/>
          </a:ln>
        </p:spPr>
      </p:sp>
      <p:sp>
        <p:nvSpPr>
          <p:cNvPr id="923" name="Google Shape;923;g3465da649cc_0_838"/>
          <p:cNvSpPr/>
          <p:nvPr/>
        </p:nvSpPr>
        <p:spPr>
          <a:xfrm>
            <a:off x="11692903" y="2134876"/>
            <a:ext cx="790486" cy="790486"/>
          </a:xfrm>
          <a:custGeom>
            <a:avLst/>
            <a:gdLst/>
            <a:ahLst/>
            <a:cxnLst/>
            <a:rect l="l" t="t" r="r" b="b"/>
            <a:pathLst>
              <a:path w="888186" h="888186" extrusionOk="0">
                <a:moveTo>
                  <a:pt x="0" y="0"/>
                </a:moveTo>
                <a:lnTo>
                  <a:pt x="888186" y="0"/>
                </a:lnTo>
                <a:lnTo>
                  <a:pt x="888186" y="888186"/>
                </a:lnTo>
                <a:lnTo>
                  <a:pt x="0" y="888186"/>
                </a:lnTo>
                <a:lnTo>
                  <a:pt x="0" y="0"/>
                </a:lnTo>
                <a:close/>
              </a:path>
            </a:pathLst>
          </a:custGeom>
          <a:blipFill rotWithShape="1">
            <a:blip r:embed="rId6">
              <a:alphaModFix/>
            </a:blip>
            <a:stretch>
              <a:fillRect/>
            </a:stretch>
          </a:blipFill>
          <a:ln>
            <a:noFill/>
          </a:ln>
        </p:spPr>
      </p:sp>
      <p:sp>
        <p:nvSpPr>
          <p:cNvPr id="924" name="Google Shape;924;g3465da649cc_0_838"/>
          <p:cNvSpPr/>
          <p:nvPr/>
        </p:nvSpPr>
        <p:spPr>
          <a:xfrm>
            <a:off x="12350317" y="2036044"/>
            <a:ext cx="350500" cy="350500"/>
          </a:xfrm>
          <a:custGeom>
            <a:avLst/>
            <a:gdLst/>
            <a:ahLst/>
            <a:cxnLst/>
            <a:rect l="l" t="t" r="r" b="b"/>
            <a:pathLst>
              <a:path w="393820" h="393820" extrusionOk="0">
                <a:moveTo>
                  <a:pt x="0" y="0"/>
                </a:moveTo>
                <a:lnTo>
                  <a:pt x="393820" y="0"/>
                </a:lnTo>
                <a:lnTo>
                  <a:pt x="393820" y="393820"/>
                </a:lnTo>
                <a:lnTo>
                  <a:pt x="0" y="393820"/>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grpSp>
        <p:nvGrpSpPr>
          <p:cNvPr id="925" name="Google Shape;925;g3465da649cc_0_838"/>
          <p:cNvGrpSpPr/>
          <p:nvPr/>
        </p:nvGrpSpPr>
        <p:grpSpPr>
          <a:xfrm>
            <a:off x="2574494" y="3124533"/>
            <a:ext cx="2700610" cy="957050"/>
            <a:chOff x="0" y="-19050"/>
            <a:chExt cx="4050713" cy="1435503"/>
          </a:xfrm>
        </p:grpSpPr>
        <p:sp>
          <p:nvSpPr>
            <p:cNvPr id="926" name="Google Shape;926;g3465da649cc_0_838"/>
            <p:cNvSpPr/>
            <p:nvPr/>
          </p:nvSpPr>
          <p:spPr>
            <a:xfrm>
              <a:off x="0" y="0"/>
              <a:ext cx="4050713" cy="1416453"/>
            </a:xfrm>
            <a:custGeom>
              <a:avLst/>
              <a:gdLst/>
              <a:ahLst/>
              <a:cxnLst/>
              <a:rect l="l" t="t" r="r" b="b"/>
              <a:pathLst>
                <a:path w="4050713" h="1416453" extrusionOk="0">
                  <a:moveTo>
                    <a:pt x="0" y="0"/>
                  </a:moveTo>
                  <a:lnTo>
                    <a:pt x="4050713" y="0"/>
                  </a:lnTo>
                  <a:lnTo>
                    <a:pt x="4050713" y="1416453"/>
                  </a:lnTo>
                  <a:lnTo>
                    <a:pt x="0" y="1416453"/>
                  </a:lnTo>
                  <a:close/>
                </a:path>
              </a:pathLst>
            </a:custGeom>
            <a:solidFill>
              <a:srgbClr val="000000">
                <a:alpha val="0"/>
              </a:srgbClr>
            </a:solidFill>
            <a:ln>
              <a:noFill/>
            </a:ln>
          </p:spPr>
        </p:sp>
        <p:sp>
          <p:nvSpPr>
            <p:cNvPr id="927" name="Google Shape;927;g3465da649cc_0_838"/>
            <p:cNvSpPr txBox="1"/>
            <p:nvPr/>
          </p:nvSpPr>
          <p:spPr>
            <a:xfrm>
              <a:off x="0" y="-19050"/>
              <a:ext cx="4050600" cy="1435500"/>
            </a:xfrm>
            <a:prstGeom prst="rect">
              <a:avLst/>
            </a:prstGeom>
            <a:noFill/>
            <a:ln>
              <a:noFill/>
            </a:ln>
          </p:spPr>
          <p:txBody>
            <a:bodyPr spcFirstLastPara="1" wrap="square" lIns="0" tIns="0" rIns="0" bIns="0" anchor="t" anchorCtr="0">
              <a:noAutofit/>
            </a:bodyPr>
            <a:lstStyle/>
            <a:p>
              <a:pPr marL="0" marR="0" lvl="0" indent="0" algn="ctr" rtl="0">
                <a:lnSpc>
                  <a:spcPct val="125026"/>
                </a:lnSpc>
                <a:spcBef>
                  <a:spcPts val="0"/>
                </a:spcBef>
                <a:spcAft>
                  <a:spcPts val="0"/>
                </a:spcAft>
                <a:buClr>
                  <a:srgbClr val="000000"/>
                </a:buClr>
                <a:buSzPts val="2500"/>
                <a:buFont typeface="Arial"/>
                <a:buNone/>
              </a:pPr>
              <a:r>
                <a:rPr lang="en-US" sz="2500" b="1" i="0" u="none" strike="noStrike" cap="none">
                  <a:solidFill>
                    <a:srgbClr val="FFFFFF"/>
                  </a:solidFill>
                  <a:latin typeface="Inter"/>
                  <a:ea typeface="Inter"/>
                  <a:cs typeface="Inter"/>
                  <a:sym typeface="Inter"/>
                </a:rPr>
                <a:t>RETAIL CONSULTING</a:t>
              </a:r>
              <a:endParaRPr sz="1200" b="0" i="0" u="none" strike="noStrike" cap="none">
                <a:solidFill>
                  <a:srgbClr val="000000"/>
                </a:solidFill>
                <a:latin typeface="Arial"/>
                <a:ea typeface="Arial"/>
                <a:cs typeface="Arial"/>
                <a:sym typeface="Arial"/>
              </a:endParaRPr>
            </a:p>
          </p:txBody>
        </p:sp>
      </p:grpSp>
      <p:grpSp>
        <p:nvGrpSpPr>
          <p:cNvPr id="928" name="Google Shape;928;g3465da649cc_0_838"/>
          <p:cNvGrpSpPr/>
          <p:nvPr/>
        </p:nvGrpSpPr>
        <p:grpSpPr>
          <a:xfrm>
            <a:off x="6777763" y="3124533"/>
            <a:ext cx="2700610" cy="957050"/>
            <a:chOff x="0" y="-19050"/>
            <a:chExt cx="4050713" cy="1435503"/>
          </a:xfrm>
        </p:grpSpPr>
        <p:sp>
          <p:nvSpPr>
            <p:cNvPr id="929" name="Google Shape;929;g3465da649cc_0_838"/>
            <p:cNvSpPr/>
            <p:nvPr/>
          </p:nvSpPr>
          <p:spPr>
            <a:xfrm>
              <a:off x="0" y="0"/>
              <a:ext cx="4050713" cy="1416453"/>
            </a:xfrm>
            <a:custGeom>
              <a:avLst/>
              <a:gdLst/>
              <a:ahLst/>
              <a:cxnLst/>
              <a:rect l="l" t="t" r="r" b="b"/>
              <a:pathLst>
                <a:path w="4050713" h="1416453" extrusionOk="0">
                  <a:moveTo>
                    <a:pt x="0" y="0"/>
                  </a:moveTo>
                  <a:lnTo>
                    <a:pt x="4050713" y="0"/>
                  </a:lnTo>
                  <a:lnTo>
                    <a:pt x="4050713" y="1416453"/>
                  </a:lnTo>
                  <a:lnTo>
                    <a:pt x="0" y="1416453"/>
                  </a:lnTo>
                  <a:close/>
                </a:path>
              </a:pathLst>
            </a:custGeom>
            <a:solidFill>
              <a:srgbClr val="000000">
                <a:alpha val="0"/>
              </a:srgbClr>
            </a:solidFill>
            <a:ln>
              <a:noFill/>
            </a:ln>
          </p:spPr>
        </p:sp>
        <p:sp>
          <p:nvSpPr>
            <p:cNvPr id="930" name="Google Shape;930;g3465da649cc_0_838"/>
            <p:cNvSpPr txBox="1"/>
            <p:nvPr/>
          </p:nvSpPr>
          <p:spPr>
            <a:xfrm>
              <a:off x="0" y="-19050"/>
              <a:ext cx="4050600" cy="1435500"/>
            </a:xfrm>
            <a:prstGeom prst="rect">
              <a:avLst/>
            </a:prstGeom>
            <a:noFill/>
            <a:ln>
              <a:noFill/>
            </a:ln>
          </p:spPr>
          <p:txBody>
            <a:bodyPr spcFirstLastPara="1" wrap="square" lIns="0" tIns="0" rIns="0" bIns="0" anchor="t" anchorCtr="0">
              <a:noAutofit/>
            </a:bodyPr>
            <a:lstStyle/>
            <a:p>
              <a:pPr marL="0" marR="0" lvl="0" indent="0" algn="ctr" rtl="0">
                <a:lnSpc>
                  <a:spcPct val="125026"/>
                </a:lnSpc>
                <a:spcBef>
                  <a:spcPts val="0"/>
                </a:spcBef>
                <a:spcAft>
                  <a:spcPts val="0"/>
                </a:spcAft>
                <a:buClr>
                  <a:srgbClr val="000000"/>
                </a:buClr>
                <a:buSzPts val="2500"/>
                <a:buFont typeface="Arial"/>
                <a:buNone/>
              </a:pPr>
              <a:r>
                <a:rPr lang="en-US" sz="2500" b="1" i="0" u="none" strike="noStrike" cap="none">
                  <a:solidFill>
                    <a:srgbClr val="FFFFFF"/>
                  </a:solidFill>
                  <a:latin typeface="Inter"/>
                  <a:ea typeface="Inter"/>
                  <a:cs typeface="Inter"/>
                  <a:sym typeface="Inter"/>
                </a:rPr>
                <a:t>SOFTWARE DEVELOPMENT</a:t>
              </a:r>
              <a:endParaRPr sz="1200" b="0" i="0" u="none" strike="noStrike" cap="none">
                <a:solidFill>
                  <a:srgbClr val="000000"/>
                </a:solidFill>
                <a:latin typeface="Arial"/>
                <a:ea typeface="Arial"/>
                <a:cs typeface="Arial"/>
                <a:sym typeface="Arial"/>
              </a:endParaRPr>
            </a:p>
          </p:txBody>
        </p:sp>
      </p:grpSp>
      <p:grpSp>
        <p:nvGrpSpPr>
          <p:cNvPr id="931" name="Google Shape;931;g3465da649cc_0_838"/>
          <p:cNvGrpSpPr/>
          <p:nvPr/>
        </p:nvGrpSpPr>
        <p:grpSpPr>
          <a:xfrm>
            <a:off x="10863337" y="3124533"/>
            <a:ext cx="2700610" cy="957050"/>
            <a:chOff x="0" y="-19050"/>
            <a:chExt cx="4050713" cy="1435503"/>
          </a:xfrm>
        </p:grpSpPr>
        <p:sp>
          <p:nvSpPr>
            <p:cNvPr id="932" name="Google Shape;932;g3465da649cc_0_838"/>
            <p:cNvSpPr/>
            <p:nvPr/>
          </p:nvSpPr>
          <p:spPr>
            <a:xfrm>
              <a:off x="0" y="0"/>
              <a:ext cx="4050713" cy="1416453"/>
            </a:xfrm>
            <a:custGeom>
              <a:avLst/>
              <a:gdLst/>
              <a:ahLst/>
              <a:cxnLst/>
              <a:rect l="l" t="t" r="r" b="b"/>
              <a:pathLst>
                <a:path w="4050713" h="1416453" extrusionOk="0">
                  <a:moveTo>
                    <a:pt x="0" y="0"/>
                  </a:moveTo>
                  <a:lnTo>
                    <a:pt x="4050713" y="0"/>
                  </a:lnTo>
                  <a:lnTo>
                    <a:pt x="4050713" y="1416453"/>
                  </a:lnTo>
                  <a:lnTo>
                    <a:pt x="0" y="1416453"/>
                  </a:lnTo>
                  <a:close/>
                </a:path>
              </a:pathLst>
            </a:custGeom>
            <a:solidFill>
              <a:srgbClr val="000000">
                <a:alpha val="0"/>
              </a:srgbClr>
            </a:solidFill>
            <a:ln>
              <a:noFill/>
            </a:ln>
          </p:spPr>
        </p:sp>
        <p:sp>
          <p:nvSpPr>
            <p:cNvPr id="933" name="Google Shape;933;g3465da649cc_0_838"/>
            <p:cNvSpPr txBox="1"/>
            <p:nvPr/>
          </p:nvSpPr>
          <p:spPr>
            <a:xfrm>
              <a:off x="0" y="-19050"/>
              <a:ext cx="4050600" cy="1435500"/>
            </a:xfrm>
            <a:prstGeom prst="rect">
              <a:avLst/>
            </a:prstGeom>
            <a:noFill/>
            <a:ln>
              <a:noFill/>
            </a:ln>
          </p:spPr>
          <p:txBody>
            <a:bodyPr spcFirstLastPara="1" wrap="square" lIns="0" tIns="0" rIns="0" bIns="0" anchor="t" anchorCtr="0">
              <a:noAutofit/>
            </a:bodyPr>
            <a:lstStyle/>
            <a:p>
              <a:pPr marL="0" marR="0" lvl="0" indent="0" algn="ctr" rtl="0">
                <a:lnSpc>
                  <a:spcPct val="125026"/>
                </a:lnSpc>
                <a:spcBef>
                  <a:spcPts val="0"/>
                </a:spcBef>
                <a:spcAft>
                  <a:spcPts val="0"/>
                </a:spcAft>
                <a:buClr>
                  <a:srgbClr val="000000"/>
                </a:buClr>
                <a:buSzPts val="2500"/>
                <a:buFont typeface="Arial"/>
                <a:buNone/>
              </a:pPr>
              <a:r>
                <a:rPr lang="en-US" sz="2500" b="1" i="0" u="none" strike="noStrike" cap="none">
                  <a:solidFill>
                    <a:srgbClr val="FFFFFF"/>
                  </a:solidFill>
                  <a:latin typeface="Inter"/>
                  <a:ea typeface="Inter"/>
                  <a:cs typeface="Inter"/>
                  <a:sym typeface="Inter"/>
                </a:rPr>
                <a:t>OPERATION &amp; MAINTENANCE</a:t>
              </a:r>
              <a:endParaRPr sz="1200" b="0" i="0" u="none" strike="noStrike" cap="none">
                <a:solidFill>
                  <a:srgbClr val="000000"/>
                </a:solidFill>
                <a:latin typeface="Arial"/>
                <a:ea typeface="Arial"/>
                <a:cs typeface="Arial"/>
                <a:sym typeface="Arial"/>
              </a:endParaRPr>
            </a:p>
          </p:txBody>
        </p:sp>
      </p:grpSp>
      <p:cxnSp>
        <p:nvCxnSpPr>
          <p:cNvPr id="934" name="Google Shape;934;g3465da649cc_0_838"/>
          <p:cNvCxnSpPr/>
          <p:nvPr/>
        </p:nvCxnSpPr>
        <p:spPr>
          <a:xfrm>
            <a:off x="5435920" y="1753369"/>
            <a:ext cx="937800" cy="1284900"/>
          </a:xfrm>
          <a:prstGeom prst="straightConnector1">
            <a:avLst/>
          </a:prstGeom>
          <a:noFill/>
          <a:ln w="38100" cap="flat" cmpd="sng">
            <a:solidFill>
              <a:srgbClr val="0078FF"/>
            </a:solidFill>
            <a:prstDash val="solid"/>
            <a:round/>
            <a:headEnd type="none" w="sm" len="sm"/>
            <a:tailEnd type="none" w="sm" len="sm"/>
          </a:ln>
        </p:spPr>
      </p:cxnSp>
      <p:cxnSp>
        <p:nvCxnSpPr>
          <p:cNvPr id="935" name="Google Shape;935;g3465da649cc_0_838"/>
          <p:cNvCxnSpPr/>
          <p:nvPr/>
        </p:nvCxnSpPr>
        <p:spPr>
          <a:xfrm rot="10800000" flipH="1">
            <a:off x="5435920" y="3038071"/>
            <a:ext cx="937800" cy="1284900"/>
          </a:xfrm>
          <a:prstGeom prst="straightConnector1">
            <a:avLst/>
          </a:prstGeom>
          <a:noFill/>
          <a:ln w="38100" cap="flat" cmpd="sng">
            <a:solidFill>
              <a:srgbClr val="0078FF"/>
            </a:solidFill>
            <a:prstDash val="solid"/>
            <a:round/>
            <a:headEnd type="none" w="sm" len="sm"/>
            <a:tailEnd type="none" w="sm" len="sm"/>
          </a:ln>
        </p:spPr>
      </p:cxnSp>
      <p:cxnSp>
        <p:nvCxnSpPr>
          <p:cNvPr id="936" name="Google Shape;936;g3465da649cc_0_838"/>
          <p:cNvCxnSpPr/>
          <p:nvPr/>
        </p:nvCxnSpPr>
        <p:spPr>
          <a:xfrm>
            <a:off x="9470295" y="1753369"/>
            <a:ext cx="937800" cy="1284900"/>
          </a:xfrm>
          <a:prstGeom prst="straightConnector1">
            <a:avLst/>
          </a:prstGeom>
          <a:noFill/>
          <a:ln w="38100" cap="flat" cmpd="sng">
            <a:solidFill>
              <a:srgbClr val="0078FF"/>
            </a:solidFill>
            <a:prstDash val="solid"/>
            <a:round/>
            <a:headEnd type="none" w="sm" len="sm"/>
            <a:tailEnd type="none" w="sm" len="sm"/>
          </a:ln>
        </p:spPr>
      </p:cxnSp>
      <p:cxnSp>
        <p:nvCxnSpPr>
          <p:cNvPr id="937" name="Google Shape;937;g3465da649cc_0_838"/>
          <p:cNvCxnSpPr/>
          <p:nvPr/>
        </p:nvCxnSpPr>
        <p:spPr>
          <a:xfrm rot="10800000" flipH="1">
            <a:off x="9470295" y="3038071"/>
            <a:ext cx="937800" cy="1284900"/>
          </a:xfrm>
          <a:prstGeom prst="straightConnector1">
            <a:avLst/>
          </a:prstGeom>
          <a:noFill/>
          <a:ln w="38100" cap="flat" cmpd="sng">
            <a:solidFill>
              <a:srgbClr val="0078FF"/>
            </a:solidFill>
            <a:prstDash val="solid"/>
            <a:round/>
            <a:headEnd type="none" w="sm" len="sm"/>
            <a:tailEnd type="none" w="sm" len="sm"/>
          </a:ln>
        </p:spPr>
      </p:cxnSp>
      <p:grpSp>
        <p:nvGrpSpPr>
          <p:cNvPr id="938" name="Google Shape;938;g3465da649cc_0_838"/>
          <p:cNvGrpSpPr/>
          <p:nvPr/>
        </p:nvGrpSpPr>
        <p:grpSpPr>
          <a:xfrm>
            <a:off x="1565745" y="4918174"/>
            <a:ext cx="4054603" cy="1469073"/>
            <a:chOff x="0" y="-19050"/>
            <a:chExt cx="6081600" cy="2203500"/>
          </a:xfrm>
        </p:grpSpPr>
        <p:sp>
          <p:nvSpPr>
            <p:cNvPr id="939" name="Google Shape;939;g3465da649cc_0_838"/>
            <p:cNvSpPr/>
            <p:nvPr/>
          </p:nvSpPr>
          <p:spPr>
            <a:xfrm>
              <a:off x="0" y="0"/>
              <a:ext cx="6081540" cy="2184342"/>
            </a:xfrm>
            <a:custGeom>
              <a:avLst/>
              <a:gdLst/>
              <a:ahLst/>
              <a:cxnLst/>
              <a:rect l="l" t="t" r="r" b="b"/>
              <a:pathLst>
                <a:path w="6081540" h="2184342" extrusionOk="0">
                  <a:moveTo>
                    <a:pt x="0" y="0"/>
                  </a:moveTo>
                  <a:lnTo>
                    <a:pt x="6081540" y="0"/>
                  </a:lnTo>
                  <a:lnTo>
                    <a:pt x="6081540" y="2184342"/>
                  </a:lnTo>
                  <a:lnTo>
                    <a:pt x="0" y="2184342"/>
                  </a:lnTo>
                  <a:close/>
                </a:path>
              </a:pathLst>
            </a:custGeom>
            <a:solidFill>
              <a:srgbClr val="000000">
                <a:alpha val="0"/>
              </a:srgbClr>
            </a:solidFill>
            <a:ln>
              <a:noFill/>
            </a:ln>
          </p:spPr>
        </p:sp>
        <p:sp>
          <p:nvSpPr>
            <p:cNvPr id="940" name="Google Shape;940;g3465da649cc_0_838"/>
            <p:cNvSpPr txBox="1"/>
            <p:nvPr/>
          </p:nvSpPr>
          <p:spPr>
            <a:xfrm>
              <a:off x="0" y="-19050"/>
              <a:ext cx="6081600" cy="2203500"/>
            </a:xfrm>
            <a:prstGeom prst="rect">
              <a:avLst/>
            </a:prstGeom>
            <a:noFill/>
            <a:ln>
              <a:noFill/>
            </a:ln>
          </p:spPr>
          <p:txBody>
            <a:bodyPr spcFirstLastPara="1" wrap="square" lIns="0" tIns="0" rIns="0" bIns="0" anchor="t" anchorCtr="0">
              <a:noAutofit/>
            </a:bodyPr>
            <a:lstStyle/>
            <a:p>
              <a:pPr marL="0" marR="0" lvl="0" indent="0" algn="l" rtl="0">
                <a:lnSpc>
                  <a:spcPct val="124974"/>
                </a:lnSpc>
                <a:spcBef>
                  <a:spcPts val="0"/>
                </a:spcBef>
                <a:spcAft>
                  <a:spcPts val="0"/>
                </a:spcAft>
                <a:buClr>
                  <a:srgbClr val="000000"/>
                </a:buClr>
                <a:buSzPts val="1500"/>
                <a:buFont typeface="Arial"/>
                <a:buNone/>
              </a:pPr>
              <a:r>
                <a:rPr lang="en-US" sz="1500" b="0" i="0" u="none" strike="noStrike" cap="none">
                  <a:solidFill>
                    <a:srgbClr val="4D4D4F"/>
                  </a:solidFill>
                  <a:latin typeface="Inter"/>
                  <a:ea typeface="Inter"/>
                  <a:cs typeface="Inter"/>
                  <a:sym typeface="Inter"/>
                </a:rPr>
                <a:t>Offer expert consulting and support for advanced technology implementation in the retail sector, helping businesses drive sales and maximize revenue growth.</a:t>
              </a:r>
              <a:endParaRPr sz="1500" b="0" i="0" u="none" strike="noStrike" cap="none">
                <a:solidFill>
                  <a:srgbClr val="000000"/>
                </a:solidFill>
                <a:latin typeface="Arial"/>
                <a:ea typeface="Arial"/>
                <a:cs typeface="Arial"/>
                <a:sym typeface="Arial"/>
              </a:endParaRPr>
            </a:p>
          </p:txBody>
        </p:sp>
      </p:grpSp>
      <p:grpSp>
        <p:nvGrpSpPr>
          <p:cNvPr id="941" name="Google Shape;941;g3465da649cc_0_838"/>
          <p:cNvGrpSpPr/>
          <p:nvPr/>
        </p:nvGrpSpPr>
        <p:grpSpPr>
          <a:xfrm>
            <a:off x="5789438" y="4894175"/>
            <a:ext cx="4175009" cy="1493075"/>
            <a:chOff x="0" y="-19050"/>
            <a:chExt cx="6262200" cy="2239500"/>
          </a:xfrm>
        </p:grpSpPr>
        <p:sp>
          <p:nvSpPr>
            <p:cNvPr id="942" name="Google Shape;942;g3465da649cc_0_838"/>
            <p:cNvSpPr/>
            <p:nvPr/>
          </p:nvSpPr>
          <p:spPr>
            <a:xfrm>
              <a:off x="0" y="0"/>
              <a:ext cx="6262099" cy="2220341"/>
            </a:xfrm>
            <a:custGeom>
              <a:avLst/>
              <a:gdLst/>
              <a:ahLst/>
              <a:cxnLst/>
              <a:rect l="l" t="t" r="r" b="b"/>
              <a:pathLst>
                <a:path w="6262099" h="2220341" extrusionOk="0">
                  <a:moveTo>
                    <a:pt x="0" y="0"/>
                  </a:moveTo>
                  <a:lnTo>
                    <a:pt x="6262099" y="0"/>
                  </a:lnTo>
                  <a:lnTo>
                    <a:pt x="6262099" y="2220341"/>
                  </a:lnTo>
                  <a:lnTo>
                    <a:pt x="0" y="2220341"/>
                  </a:lnTo>
                  <a:close/>
                </a:path>
              </a:pathLst>
            </a:custGeom>
            <a:solidFill>
              <a:srgbClr val="000000">
                <a:alpha val="0"/>
              </a:srgbClr>
            </a:solidFill>
            <a:ln>
              <a:noFill/>
            </a:ln>
          </p:spPr>
        </p:sp>
        <p:sp>
          <p:nvSpPr>
            <p:cNvPr id="943" name="Google Shape;943;g3465da649cc_0_838"/>
            <p:cNvSpPr txBox="1"/>
            <p:nvPr/>
          </p:nvSpPr>
          <p:spPr>
            <a:xfrm>
              <a:off x="0" y="-19050"/>
              <a:ext cx="6262200" cy="2239500"/>
            </a:xfrm>
            <a:prstGeom prst="rect">
              <a:avLst/>
            </a:prstGeom>
            <a:noFill/>
            <a:ln>
              <a:noFill/>
            </a:ln>
          </p:spPr>
          <p:txBody>
            <a:bodyPr spcFirstLastPara="1" wrap="square" lIns="0" tIns="0" rIns="0" bIns="0" anchor="t" anchorCtr="0">
              <a:noAutofit/>
            </a:bodyPr>
            <a:lstStyle/>
            <a:p>
              <a:pPr marL="0" marR="0" lvl="0" indent="0" algn="l" rtl="0">
                <a:lnSpc>
                  <a:spcPct val="124974"/>
                </a:lnSpc>
                <a:spcBef>
                  <a:spcPts val="0"/>
                </a:spcBef>
                <a:spcAft>
                  <a:spcPts val="0"/>
                </a:spcAft>
                <a:buClr>
                  <a:srgbClr val="000000"/>
                </a:buClr>
                <a:buSzPts val="1500"/>
                <a:buFont typeface="Arial"/>
                <a:buNone/>
              </a:pPr>
              <a:r>
                <a:rPr lang="en-US" sz="1500" b="0" i="0" u="none" strike="noStrike" cap="none">
                  <a:solidFill>
                    <a:srgbClr val="4D4D4F"/>
                  </a:solidFill>
                  <a:latin typeface="Inter"/>
                  <a:ea typeface="Inter"/>
                  <a:cs typeface="Inter"/>
                  <a:sym typeface="Inter"/>
                </a:rPr>
                <a:t>Integrate advanced technologies such as AI/ML, IoT, and Cloud Computing into customer infrastructure to build comprehensive platforms, applications, and business systems.</a:t>
              </a:r>
              <a:endParaRPr sz="1500" b="0" i="0" u="none" strike="noStrike" cap="none">
                <a:solidFill>
                  <a:srgbClr val="000000"/>
                </a:solidFill>
                <a:latin typeface="Arial"/>
                <a:ea typeface="Arial"/>
                <a:cs typeface="Arial"/>
                <a:sym typeface="Arial"/>
              </a:endParaRPr>
            </a:p>
          </p:txBody>
        </p:sp>
      </p:grpSp>
      <p:grpSp>
        <p:nvGrpSpPr>
          <p:cNvPr id="944" name="Google Shape;944;g3465da649cc_0_838"/>
          <p:cNvGrpSpPr/>
          <p:nvPr/>
        </p:nvGrpSpPr>
        <p:grpSpPr>
          <a:xfrm>
            <a:off x="10136488" y="4918174"/>
            <a:ext cx="4154408" cy="1198060"/>
            <a:chOff x="0" y="-19050"/>
            <a:chExt cx="6231300" cy="1797000"/>
          </a:xfrm>
        </p:grpSpPr>
        <p:sp>
          <p:nvSpPr>
            <p:cNvPr id="945" name="Google Shape;945;g3465da649cc_0_838"/>
            <p:cNvSpPr/>
            <p:nvPr/>
          </p:nvSpPr>
          <p:spPr>
            <a:xfrm>
              <a:off x="0" y="0"/>
              <a:ext cx="6231260" cy="1777942"/>
            </a:xfrm>
            <a:custGeom>
              <a:avLst/>
              <a:gdLst/>
              <a:ahLst/>
              <a:cxnLst/>
              <a:rect l="l" t="t" r="r" b="b"/>
              <a:pathLst>
                <a:path w="6231260" h="1777942" extrusionOk="0">
                  <a:moveTo>
                    <a:pt x="0" y="0"/>
                  </a:moveTo>
                  <a:lnTo>
                    <a:pt x="6231260" y="0"/>
                  </a:lnTo>
                  <a:lnTo>
                    <a:pt x="6231260" y="1777942"/>
                  </a:lnTo>
                  <a:lnTo>
                    <a:pt x="0" y="1777942"/>
                  </a:lnTo>
                  <a:close/>
                </a:path>
              </a:pathLst>
            </a:custGeom>
            <a:solidFill>
              <a:srgbClr val="000000">
                <a:alpha val="0"/>
              </a:srgbClr>
            </a:solidFill>
            <a:ln>
              <a:noFill/>
            </a:ln>
          </p:spPr>
        </p:sp>
        <p:sp>
          <p:nvSpPr>
            <p:cNvPr id="946" name="Google Shape;946;g3465da649cc_0_838"/>
            <p:cNvSpPr txBox="1"/>
            <p:nvPr/>
          </p:nvSpPr>
          <p:spPr>
            <a:xfrm>
              <a:off x="0" y="-19050"/>
              <a:ext cx="6231300" cy="1797000"/>
            </a:xfrm>
            <a:prstGeom prst="rect">
              <a:avLst/>
            </a:prstGeom>
            <a:noFill/>
            <a:ln>
              <a:noFill/>
            </a:ln>
          </p:spPr>
          <p:txBody>
            <a:bodyPr spcFirstLastPara="1" wrap="square" lIns="0" tIns="0" rIns="0" bIns="0" anchor="t" anchorCtr="0">
              <a:noAutofit/>
            </a:bodyPr>
            <a:lstStyle/>
            <a:p>
              <a:pPr marL="0" marR="0" lvl="0" indent="0" algn="l" rtl="0">
                <a:lnSpc>
                  <a:spcPct val="124974"/>
                </a:lnSpc>
                <a:spcBef>
                  <a:spcPts val="0"/>
                </a:spcBef>
                <a:spcAft>
                  <a:spcPts val="0"/>
                </a:spcAft>
                <a:buClr>
                  <a:srgbClr val="000000"/>
                </a:buClr>
                <a:buSzPts val="1500"/>
                <a:buFont typeface="Arial"/>
                <a:buNone/>
              </a:pPr>
              <a:r>
                <a:rPr lang="en-US" sz="1500" b="0" i="0" u="none" strike="noStrike" cap="none">
                  <a:solidFill>
                    <a:srgbClr val="4D4D4F"/>
                  </a:solidFill>
                  <a:latin typeface="Inter"/>
                  <a:ea typeface="Inter"/>
                  <a:cs typeface="Inter"/>
                  <a:sym typeface="Inter"/>
                </a:rPr>
                <a:t>Provide operation and maintenance services to ensure stable system performance, streamline daily operations, and minimize downtime.</a:t>
              </a:r>
              <a:endParaRPr sz="1500" b="0" i="0" u="none" strike="noStrike" cap="none">
                <a:solidFill>
                  <a:srgbClr val="000000"/>
                </a:solidFill>
                <a:latin typeface="Arial"/>
                <a:ea typeface="Arial"/>
                <a:cs typeface="Arial"/>
                <a:sym typeface="Arial"/>
              </a:endParaRPr>
            </a:p>
          </p:txBody>
        </p:sp>
      </p:grpSp>
      <p:sp>
        <p:nvSpPr>
          <p:cNvPr id="947" name="Google Shape;947;g3465da649cc_0_838"/>
          <p:cNvSpPr/>
          <p:nvPr/>
        </p:nvSpPr>
        <p:spPr>
          <a:xfrm>
            <a:off x="8000" y="6945900"/>
            <a:ext cx="16232442" cy="1190454"/>
          </a:xfrm>
          <a:custGeom>
            <a:avLst/>
            <a:gdLst/>
            <a:ahLst/>
            <a:cxnLst/>
            <a:rect l="l" t="t" r="r" b="b"/>
            <a:pathLst>
              <a:path w="27396526" h="1783452" extrusionOk="0">
                <a:moveTo>
                  <a:pt x="0" y="0"/>
                </a:moveTo>
                <a:lnTo>
                  <a:pt x="27396526" y="0"/>
                </a:lnTo>
                <a:lnTo>
                  <a:pt x="27396526" y="1783452"/>
                </a:lnTo>
                <a:lnTo>
                  <a:pt x="0" y="1783452"/>
                </a:lnTo>
                <a:close/>
              </a:path>
            </a:pathLst>
          </a:custGeom>
          <a:solidFill>
            <a:srgbClr val="EEF3FA"/>
          </a:solidFill>
          <a:ln>
            <a:noFill/>
          </a:ln>
        </p:spPr>
      </p:sp>
      <p:sp>
        <p:nvSpPr>
          <p:cNvPr id="948" name="Google Shape;948;g3465da649cc_0_838"/>
          <p:cNvSpPr/>
          <p:nvPr/>
        </p:nvSpPr>
        <p:spPr>
          <a:xfrm>
            <a:off x="3352205" y="7140165"/>
            <a:ext cx="743752" cy="743752"/>
          </a:xfrm>
          <a:custGeom>
            <a:avLst/>
            <a:gdLst/>
            <a:ahLst/>
            <a:cxnLst/>
            <a:rect l="l" t="t" r="r" b="b"/>
            <a:pathLst>
              <a:path w="835676" h="835676" extrusionOk="0">
                <a:moveTo>
                  <a:pt x="0" y="0"/>
                </a:moveTo>
                <a:lnTo>
                  <a:pt x="835676" y="0"/>
                </a:lnTo>
                <a:lnTo>
                  <a:pt x="835676" y="835676"/>
                </a:lnTo>
                <a:lnTo>
                  <a:pt x="0" y="835676"/>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sp>
        <p:nvSpPr>
          <p:cNvPr id="949" name="Google Shape;949;g3465da649cc_0_838"/>
          <p:cNvSpPr/>
          <p:nvPr/>
        </p:nvSpPr>
        <p:spPr>
          <a:xfrm>
            <a:off x="7501437" y="7140165"/>
            <a:ext cx="743752" cy="743752"/>
          </a:xfrm>
          <a:custGeom>
            <a:avLst/>
            <a:gdLst/>
            <a:ahLst/>
            <a:cxnLst/>
            <a:rect l="l" t="t" r="r" b="b"/>
            <a:pathLst>
              <a:path w="835676" h="835676" extrusionOk="0">
                <a:moveTo>
                  <a:pt x="0" y="0"/>
                </a:moveTo>
                <a:lnTo>
                  <a:pt x="835676" y="0"/>
                </a:lnTo>
                <a:lnTo>
                  <a:pt x="835676" y="835676"/>
                </a:lnTo>
                <a:lnTo>
                  <a:pt x="0" y="835676"/>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sp>
        <p:nvSpPr>
          <p:cNvPr id="950" name="Google Shape;950;g3465da649cc_0_838"/>
          <p:cNvSpPr/>
          <p:nvPr/>
        </p:nvSpPr>
        <p:spPr>
          <a:xfrm>
            <a:off x="11756355" y="7096267"/>
            <a:ext cx="743752" cy="743752"/>
          </a:xfrm>
          <a:custGeom>
            <a:avLst/>
            <a:gdLst/>
            <a:ahLst/>
            <a:cxnLst/>
            <a:rect l="l" t="t" r="r" b="b"/>
            <a:pathLst>
              <a:path w="835676" h="835676" extrusionOk="0">
                <a:moveTo>
                  <a:pt x="0" y="0"/>
                </a:moveTo>
                <a:lnTo>
                  <a:pt x="835676" y="0"/>
                </a:lnTo>
                <a:lnTo>
                  <a:pt x="835676" y="835676"/>
                </a:lnTo>
                <a:lnTo>
                  <a:pt x="0" y="835676"/>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grpSp>
        <p:nvGrpSpPr>
          <p:cNvPr id="951" name="Google Shape;951;g3465da649cc_0_838"/>
          <p:cNvGrpSpPr/>
          <p:nvPr/>
        </p:nvGrpSpPr>
        <p:grpSpPr>
          <a:xfrm>
            <a:off x="4214611" y="7177162"/>
            <a:ext cx="2725136" cy="656233"/>
            <a:chOff x="0" y="-19050"/>
            <a:chExt cx="4087500" cy="984300"/>
          </a:xfrm>
        </p:grpSpPr>
        <p:sp>
          <p:nvSpPr>
            <p:cNvPr id="952" name="Google Shape;952;g3465da649cc_0_838"/>
            <p:cNvSpPr/>
            <p:nvPr/>
          </p:nvSpPr>
          <p:spPr>
            <a:xfrm>
              <a:off x="0" y="0"/>
              <a:ext cx="4087451" cy="965142"/>
            </a:xfrm>
            <a:custGeom>
              <a:avLst/>
              <a:gdLst/>
              <a:ahLst/>
              <a:cxnLst/>
              <a:rect l="l" t="t" r="r" b="b"/>
              <a:pathLst>
                <a:path w="4087451" h="965142" extrusionOk="0">
                  <a:moveTo>
                    <a:pt x="0" y="0"/>
                  </a:moveTo>
                  <a:lnTo>
                    <a:pt x="4087451" y="0"/>
                  </a:lnTo>
                  <a:lnTo>
                    <a:pt x="4087451" y="965142"/>
                  </a:lnTo>
                  <a:lnTo>
                    <a:pt x="0" y="965142"/>
                  </a:lnTo>
                  <a:close/>
                </a:path>
              </a:pathLst>
            </a:custGeom>
            <a:solidFill>
              <a:srgbClr val="000000">
                <a:alpha val="0"/>
              </a:srgbClr>
            </a:solidFill>
            <a:ln>
              <a:noFill/>
            </a:ln>
          </p:spPr>
        </p:sp>
        <p:sp>
          <p:nvSpPr>
            <p:cNvPr id="953" name="Google Shape;953;g3465da649cc_0_838"/>
            <p:cNvSpPr txBox="1"/>
            <p:nvPr/>
          </p:nvSpPr>
          <p:spPr>
            <a:xfrm>
              <a:off x="0" y="-19050"/>
              <a:ext cx="4087500" cy="984300"/>
            </a:xfrm>
            <a:prstGeom prst="rect">
              <a:avLst/>
            </a:prstGeom>
            <a:noFill/>
            <a:ln>
              <a:noFill/>
            </a:ln>
          </p:spPr>
          <p:txBody>
            <a:bodyPr spcFirstLastPara="1" wrap="square" lIns="0" tIns="0" rIns="0" bIns="0" anchor="t" anchorCtr="0">
              <a:noAutofit/>
            </a:bodyPr>
            <a:lstStyle/>
            <a:p>
              <a:pPr marL="0" marR="0" lvl="0" indent="0" algn="l" rtl="0">
                <a:lnSpc>
                  <a:spcPct val="124974"/>
                </a:lnSpc>
                <a:spcBef>
                  <a:spcPts val="0"/>
                </a:spcBef>
                <a:spcAft>
                  <a:spcPts val="0"/>
                </a:spcAft>
                <a:buClr>
                  <a:srgbClr val="000000"/>
                </a:buClr>
                <a:buSzPts val="1700"/>
                <a:buFont typeface="Arial"/>
                <a:buNone/>
              </a:pPr>
              <a:r>
                <a:rPr lang="en-US" sz="1700" b="0" i="0" u="none" strike="noStrike" cap="none">
                  <a:solidFill>
                    <a:srgbClr val="4D4D4F"/>
                  </a:solidFill>
                  <a:latin typeface="Inter"/>
                  <a:ea typeface="Inter"/>
                  <a:cs typeface="Inter"/>
                  <a:sym typeface="Inter"/>
                </a:rPr>
                <a:t>Software for Seamless CX</a:t>
              </a:r>
              <a:endParaRPr sz="1200" b="0" i="0" u="none" strike="noStrike" cap="none">
                <a:solidFill>
                  <a:srgbClr val="000000"/>
                </a:solidFill>
                <a:latin typeface="Arial"/>
                <a:ea typeface="Arial"/>
                <a:cs typeface="Arial"/>
                <a:sym typeface="Arial"/>
              </a:endParaRPr>
            </a:p>
            <a:p>
              <a:pPr marL="0" marR="0" lvl="0" indent="0" algn="l" rtl="0">
                <a:lnSpc>
                  <a:spcPct val="124974"/>
                </a:lnSpc>
                <a:spcBef>
                  <a:spcPts val="0"/>
                </a:spcBef>
                <a:spcAft>
                  <a:spcPts val="0"/>
                </a:spcAft>
                <a:buClr>
                  <a:srgbClr val="000000"/>
                </a:buClr>
                <a:buSzPts val="1700"/>
                <a:buFont typeface="Arial"/>
                <a:buNone/>
              </a:pPr>
              <a:r>
                <a:rPr lang="en-US" sz="1700" b="0" i="0" u="none" strike="noStrike" cap="none">
                  <a:solidFill>
                    <a:srgbClr val="4D4D4F"/>
                  </a:solidFill>
                  <a:latin typeface="Inter"/>
                  <a:ea typeface="Inter"/>
                  <a:cs typeface="Inter"/>
                  <a:sym typeface="Inter"/>
                </a:rPr>
                <a:t>(Customer Experience)</a:t>
              </a:r>
              <a:endParaRPr sz="1200" b="0" i="0" u="none" strike="noStrike" cap="none">
                <a:solidFill>
                  <a:srgbClr val="000000"/>
                </a:solidFill>
                <a:latin typeface="Arial"/>
                <a:ea typeface="Arial"/>
                <a:cs typeface="Arial"/>
                <a:sym typeface="Arial"/>
              </a:endParaRPr>
            </a:p>
          </p:txBody>
        </p:sp>
      </p:grpSp>
      <p:grpSp>
        <p:nvGrpSpPr>
          <p:cNvPr id="954" name="Google Shape;954;g3465da649cc_0_838"/>
          <p:cNvGrpSpPr/>
          <p:nvPr/>
        </p:nvGrpSpPr>
        <p:grpSpPr>
          <a:xfrm>
            <a:off x="8362794" y="7177162"/>
            <a:ext cx="2316316" cy="656233"/>
            <a:chOff x="0" y="-19050"/>
            <a:chExt cx="3474300" cy="984300"/>
          </a:xfrm>
        </p:grpSpPr>
        <p:sp>
          <p:nvSpPr>
            <p:cNvPr id="955" name="Google Shape;955;g3465da649cc_0_838"/>
            <p:cNvSpPr/>
            <p:nvPr/>
          </p:nvSpPr>
          <p:spPr>
            <a:xfrm>
              <a:off x="0" y="0"/>
              <a:ext cx="3474254" cy="965142"/>
            </a:xfrm>
            <a:custGeom>
              <a:avLst/>
              <a:gdLst/>
              <a:ahLst/>
              <a:cxnLst/>
              <a:rect l="l" t="t" r="r" b="b"/>
              <a:pathLst>
                <a:path w="3474254" h="965142" extrusionOk="0">
                  <a:moveTo>
                    <a:pt x="0" y="0"/>
                  </a:moveTo>
                  <a:lnTo>
                    <a:pt x="3474254" y="0"/>
                  </a:lnTo>
                  <a:lnTo>
                    <a:pt x="3474254" y="965142"/>
                  </a:lnTo>
                  <a:lnTo>
                    <a:pt x="0" y="965142"/>
                  </a:lnTo>
                  <a:close/>
                </a:path>
              </a:pathLst>
            </a:custGeom>
            <a:solidFill>
              <a:srgbClr val="000000">
                <a:alpha val="0"/>
              </a:srgbClr>
            </a:solidFill>
            <a:ln>
              <a:noFill/>
            </a:ln>
          </p:spPr>
        </p:sp>
        <p:sp>
          <p:nvSpPr>
            <p:cNvPr id="956" name="Google Shape;956;g3465da649cc_0_838"/>
            <p:cNvSpPr txBox="1"/>
            <p:nvPr/>
          </p:nvSpPr>
          <p:spPr>
            <a:xfrm>
              <a:off x="0" y="-19050"/>
              <a:ext cx="3474300" cy="984300"/>
            </a:xfrm>
            <a:prstGeom prst="rect">
              <a:avLst/>
            </a:prstGeom>
            <a:noFill/>
            <a:ln>
              <a:noFill/>
            </a:ln>
          </p:spPr>
          <p:txBody>
            <a:bodyPr spcFirstLastPara="1" wrap="square" lIns="0" tIns="0" rIns="0" bIns="0" anchor="t" anchorCtr="0">
              <a:noAutofit/>
            </a:bodyPr>
            <a:lstStyle/>
            <a:p>
              <a:pPr marL="0" marR="0" lvl="0" indent="0" algn="l" rtl="0">
                <a:lnSpc>
                  <a:spcPct val="124974"/>
                </a:lnSpc>
                <a:spcBef>
                  <a:spcPts val="0"/>
                </a:spcBef>
                <a:spcAft>
                  <a:spcPts val="0"/>
                </a:spcAft>
                <a:buClr>
                  <a:srgbClr val="000000"/>
                </a:buClr>
                <a:buSzPts val="1700"/>
                <a:buFont typeface="Arial"/>
                <a:buNone/>
              </a:pPr>
              <a:r>
                <a:rPr lang="en-US" sz="1700" b="0" i="0" u="none" strike="noStrike" cap="none">
                  <a:solidFill>
                    <a:srgbClr val="4D4D4F"/>
                  </a:solidFill>
                  <a:latin typeface="Inter"/>
                  <a:ea typeface="Inter"/>
                  <a:cs typeface="Inter"/>
                  <a:sym typeface="Inter"/>
                </a:rPr>
                <a:t>Software for Smart In-store Operations</a:t>
              </a:r>
              <a:endParaRPr sz="1200" b="0" i="0" u="none" strike="noStrike" cap="none">
                <a:solidFill>
                  <a:srgbClr val="000000"/>
                </a:solidFill>
                <a:latin typeface="Arial"/>
                <a:ea typeface="Arial"/>
                <a:cs typeface="Arial"/>
                <a:sym typeface="Arial"/>
              </a:endParaRPr>
            </a:p>
          </p:txBody>
        </p:sp>
      </p:grpSp>
      <p:grpSp>
        <p:nvGrpSpPr>
          <p:cNvPr id="957" name="Google Shape;957;g3465da649cc_0_838"/>
          <p:cNvGrpSpPr/>
          <p:nvPr/>
        </p:nvGrpSpPr>
        <p:grpSpPr>
          <a:xfrm>
            <a:off x="12617711" y="7133264"/>
            <a:ext cx="2316316" cy="656233"/>
            <a:chOff x="0" y="-19050"/>
            <a:chExt cx="3474300" cy="984300"/>
          </a:xfrm>
        </p:grpSpPr>
        <p:sp>
          <p:nvSpPr>
            <p:cNvPr id="958" name="Google Shape;958;g3465da649cc_0_838"/>
            <p:cNvSpPr/>
            <p:nvPr/>
          </p:nvSpPr>
          <p:spPr>
            <a:xfrm>
              <a:off x="0" y="0"/>
              <a:ext cx="3474254" cy="965142"/>
            </a:xfrm>
            <a:custGeom>
              <a:avLst/>
              <a:gdLst/>
              <a:ahLst/>
              <a:cxnLst/>
              <a:rect l="l" t="t" r="r" b="b"/>
              <a:pathLst>
                <a:path w="3474254" h="965142" extrusionOk="0">
                  <a:moveTo>
                    <a:pt x="0" y="0"/>
                  </a:moveTo>
                  <a:lnTo>
                    <a:pt x="3474254" y="0"/>
                  </a:lnTo>
                  <a:lnTo>
                    <a:pt x="3474254" y="965142"/>
                  </a:lnTo>
                  <a:lnTo>
                    <a:pt x="0" y="965142"/>
                  </a:lnTo>
                  <a:close/>
                </a:path>
              </a:pathLst>
            </a:custGeom>
            <a:solidFill>
              <a:srgbClr val="000000">
                <a:alpha val="0"/>
              </a:srgbClr>
            </a:solidFill>
            <a:ln>
              <a:noFill/>
            </a:ln>
          </p:spPr>
        </p:sp>
        <p:sp>
          <p:nvSpPr>
            <p:cNvPr id="959" name="Google Shape;959;g3465da649cc_0_838"/>
            <p:cNvSpPr txBox="1"/>
            <p:nvPr/>
          </p:nvSpPr>
          <p:spPr>
            <a:xfrm>
              <a:off x="0" y="-19050"/>
              <a:ext cx="3474300" cy="984300"/>
            </a:xfrm>
            <a:prstGeom prst="rect">
              <a:avLst/>
            </a:prstGeom>
            <a:noFill/>
            <a:ln>
              <a:noFill/>
            </a:ln>
          </p:spPr>
          <p:txBody>
            <a:bodyPr spcFirstLastPara="1" wrap="square" lIns="0" tIns="0" rIns="0" bIns="0" anchor="t" anchorCtr="0">
              <a:noAutofit/>
            </a:bodyPr>
            <a:lstStyle/>
            <a:p>
              <a:pPr marL="0" marR="0" lvl="0" indent="0" algn="l" rtl="0">
                <a:lnSpc>
                  <a:spcPct val="124974"/>
                </a:lnSpc>
                <a:spcBef>
                  <a:spcPts val="0"/>
                </a:spcBef>
                <a:spcAft>
                  <a:spcPts val="0"/>
                </a:spcAft>
                <a:buClr>
                  <a:srgbClr val="000000"/>
                </a:buClr>
                <a:buSzPts val="1700"/>
                <a:buFont typeface="Arial"/>
                <a:buNone/>
              </a:pPr>
              <a:r>
                <a:rPr lang="en-US" sz="1700" b="0" i="0" u="none" strike="noStrike" cap="none">
                  <a:solidFill>
                    <a:srgbClr val="4D4D4F"/>
                  </a:solidFill>
                  <a:latin typeface="Inter"/>
                  <a:ea typeface="Inter"/>
                  <a:cs typeface="Inter"/>
                  <a:sym typeface="Inter"/>
                </a:rPr>
                <a:t>Software for Agile Business Operations</a:t>
              </a:r>
              <a:endParaRPr sz="1200" b="0" i="0" u="none" strike="noStrike" cap="none">
                <a:solidFill>
                  <a:srgbClr val="000000"/>
                </a:solidFill>
                <a:latin typeface="Arial"/>
                <a:ea typeface="Arial"/>
                <a:cs typeface="Arial"/>
                <a:sym typeface="Arial"/>
              </a:endParaRPr>
            </a:p>
          </p:txBody>
        </p:sp>
      </p:grpSp>
      <p:grpSp>
        <p:nvGrpSpPr>
          <p:cNvPr id="960" name="Google Shape;960;g3465da649cc_0_838"/>
          <p:cNvGrpSpPr/>
          <p:nvPr/>
        </p:nvGrpSpPr>
        <p:grpSpPr>
          <a:xfrm>
            <a:off x="1500300" y="7184461"/>
            <a:ext cx="1505543" cy="642923"/>
            <a:chOff x="0" y="-9525"/>
            <a:chExt cx="2654811" cy="1133703"/>
          </a:xfrm>
        </p:grpSpPr>
        <p:sp>
          <p:nvSpPr>
            <p:cNvPr id="961" name="Google Shape;961;g3465da649cc_0_838"/>
            <p:cNvSpPr/>
            <p:nvPr/>
          </p:nvSpPr>
          <p:spPr>
            <a:xfrm>
              <a:off x="0" y="0"/>
              <a:ext cx="2654811" cy="1124178"/>
            </a:xfrm>
            <a:custGeom>
              <a:avLst/>
              <a:gdLst/>
              <a:ahLst/>
              <a:cxnLst/>
              <a:rect l="l" t="t" r="r" b="b"/>
              <a:pathLst>
                <a:path w="2654811" h="1124178" extrusionOk="0">
                  <a:moveTo>
                    <a:pt x="0" y="0"/>
                  </a:moveTo>
                  <a:lnTo>
                    <a:pt x="2654811" y="0"/>
                  </a:lnTo>
                  <a:lnTo>
                    <a:pt x="2654811" y="1124178"/>
                  </a:lnTo>
                  <a:lnTo>
                    <a:pt x="0" y="1124178"/>
                  </a:lnTo>
                  <a:close/>
                </a:path>
              </a:pathLst>
            </a:custGeom>
            <a:solidFill>
              <a:srgbClr val="000000">
                <a:alpha val="0"/>
              </a:srgbClr>
            </a:solidFill>
            <a:ln>
              <a:noFill/>
            </a:ln>
          </p:spPr>
        </p:sp>
        <p:sp>
          <p:nvSpPr>
            <p:cNvPr id="962" name="Google Shape;962;g3465da649cc_0_838"/>
            <p:cNvSpPr txBox="1"/>
            <p:nvPr/>
          </p:nvSpPr>
          <p:spPr>
            <a:xfrm>
              <a:off x="0" y="-9525"/>
              <a:ext cx="2654700" cy="11337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700"/>
                <a:buFont typeface="Arial"/>
                <a:buNone/>
              </a:pPr>
              <a:r>
                <a:rPr lang="en-US" sz="1700" b="1" i="0" u="none" strike="noStrike" cap="none">
                  <a:solidFill>
                    <a:srgbClr val="006BB9"/>
                  </a:solidFill>
                  <a:latin typeface="Inter"/>
                  <a:ea typeface="Inter"/>
                  <a:cs typeface="Inter"/>
                  <a:sym typeface="Inter"/>
                </a:rPr>
                <a:t>WE OFFER RETAILERS</a:t>
              </a:r>
              <a:endParaRPr sz="1200" b="0" i="0" u="none" strike="noStrike" cap="none">
                <a:solidFill>
                  <a:srgbClr val="000000"/>
                </a:solidFill>
                <a:latin typeface="Arial"/>
                <a:ea typeface="Arial"/>
                <a:cs typeface="Arial"/>
                <a:sym typeface="Arial"/>
              </a:endParaRPr>
            </a:p>
          </p:txBody>
        </p:sp>
      </p:grpSp>
      <p:cxnSp>
        <p:nvCxnSpPr>
          <p:cNvPr id="963" name="Google Shape;963;g3465da649cc_0_838"/>
          <p:cNvCxnSpPr/>
          <p:nvPr/>
        </p:nvCxnSpPr>
        <p:spPr>
          <a:xfrm>
            <a:off x="2738763" y="7181202"/>
            <a:ext cx="126000" cy="325200"/>
          </a:xfrm>
          <a:prstGeom prst="straightConnector1">
            <a:avLst/>
          </a:prstGeom>
          <a:noFill/>
          <a:ln w="28575" cap="flat" cmpd="sng">
            <a:solidFill>
              <a:srgbClr val="0078FF"/>
            </a:solidFill>
            <a:prstDash val="solid"/>
            <a:round/>
            <a:headEnd type="none" w="sm" len="sm"/>
            <a:tailEnd type="none" w="sm" len="sm"/>
          </a:ln>
        </p:spPr>
      </p:cxnSp>
      <p:cxnSp>
        <p:nvCxnSpPr>
          <p:cNvPr id="964" name="Google Shape;964;g3465da649cc_0_838"/>
          <p:cNvCxnSpPr/>
          <p:nvPr/>
        </p:nvCxnSpPr>
        <p:spPr>
          <a:xfrm rot="10800000" flipH="1">
            <a:off x="2738763" y="7504144"/>
            <a:ext cx="126000" cy="327300"/>
          </a:xfrm>
          <a:prstGeom prst="straightConnector1">
            <a:avLst/>
          </a:prstGeom>
          <a:noFill/>
          <a:ln w="28575" cap="flat" cmpd="sng">
            <a:solidFill>
              <a:srgbClr val="0078FF"/>
            </a:solidFill>
            <a:prstDash val="solid"/>
            <a:round/>
            <a:headEnd type="none" w="sm" len="sm"/>
            <a:tailEnd type="none" w="sm" len="sm"/>
          </a:ln>
        </p:spPr>
      </p:cxnSp>
      <p:cxnSp>
        <p:nvCxnSpPr>
          <p:cNvPr id="965" name="Google Shape;965;g3465da649cc_0_838"/>
          <p:cNvCxnSpPr/>
          <p:nvPr/>
        </p:nvCxnSpPr>
        <p:spPr>
          <a:xfrm>
            <a:off x="2860049" y="7188847"/>
            <a:ext cx="126000" cy="332400"/>
          </a:xfrm>
          <a:prstGeom prst="straightConnector1">
            <a:avLst/>
          </a:prstGeom>
          <a:noFill/>
          <a:ln w="47625" cap="flat" cmpd="sng">
            <a:solidFill>
              <a:srgbClr val="0078FF"/>
            </a:solidFill>
            <a:prstDash val="solid"/>
            <a:round/>
            <a:headEnd type="none" w="sm" len="sm"/>
            <a:tailEnd type="none" w="sm" len="sm"/>
          </a:ln>
        </p:spPr>
      </p:cxnSp>
      <p:cxnSp>
        <p:nvCxnSpPr>
          <p:cNvPr id="966" name="Google Shape;966;g3465da649cc_0_838"/>
          <p:cNvCxnSpPr/>
          <p:nvPr/>
        </p:nvCxnSpPr>
        <p:spPr>
          <a:xfrm rot="10800000" flipH="1">
            <a:off x="2860049" y="7504290"/>
            <a:ext cx="126000" cy="334800"/>
          </a:xfrm>
          <a:prstGeom prst="straightConnector1">
            <a:avLst/>
          </a:prstGeom>
          <a:noFill/>
          <a:ln w="47625" cap="flat" cmpd="sng">
            <a:solidFill>
              <a:srgbClr val="0078FF"/>
            </a:solidFill>
            <a:prstDash val="solid"/>
            <a:round/>
            <a:headEnd type="none" w="sm" len="sm"/>
            <a:tailEnd type="none" w="sm" len="sm"/>
          </a:ln>
        </p:spPr>
      </p:cxnSp>
      <p:sp>
        <p:nvSpPr>
          <p:cNvPr id="967" name="Google Shape;967;g3465da649cc_0_838"/>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b="-8"/>
            </a:stretch>
          </a:blipFill>
          <a:ln>
            <a:noFill/>
          </a:ln>
        </p:spPr>
      </p:sp>
      <p:cxnSp>
        <p:nvCxnSpPr>
          <p:cNvPr id="968" name="Google Shape;968;g3465da649cc_0_838"/>
          <p:cNvCxnSpPr/>
          <p:nvPr/>
        </p:nvCxnSpPr>
        <p:spPr>
          <a:xfrm>
            <a:off x="1647250" y="8527867"/>
            <a:ext cx="12900" cy="432300"/>
          </a:xfrm>
          <a:prstGeom prst="straightConnector1">
            <a:avLst/>
          </a:prstGeom>
          <a:noFill/>
          <a:ln w="9525" cap="rnd" cmpd="sng">
            <a:solidFill>
              <a:srgbClr val="808080"/>
            </a:solidFill>
            <a:prstDash val="solid"/>
            <a:round/>
            <a:headEnd type="none" w="sm" len="sm"/>
            <a:tailEnd type="none" w="sm" len="sm"/>
          </a:ln>
        </p:spPr>
      </p:cxnSp>
      <p:grpSp>
        <p:nvGrpSpPr>
          <p:cNvPr id="969" name="Google Shape;969;g3465da649cc_0_838"/>
          <p:cNvGrpSpPr/>
          <p:nvPr/>
        </p:nvGrpSpPr>
        <p:grpSpPr>
          <a:xfrm>
            <a:off x="872534" y="8351050"/>
            <a:ext cx="846442" cy="699635"/>
            <a:chOff x="0" y="0"/>
            <a:chExt cx="1269600" cy="1049400"/>
          </a:xfrm>
        </p:grpSpPr>
        <p:sp>
          <p:nvSpPr>
            <p:cNvPr id="970" name="Google Shape;970;g3465da649cc_0_838"/>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971" name="Google Shape;971;g3465da649cc_0_838"/>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19968"/>
                </a:lnSpc>
                <a:spcBef>
                  <a:spcPts val="0"/>
                </a:spcBef>
                <a:spcAft>
                  <a:spcPts val="0"/>
                </a:spcAft>
                <a:buClr>
                  <a:srgbClr val="000000"/>
                </a:buClr>
                <a:buSzPts val="2800"/>
                <a:buFont typeface="Arial"/>
                <a:buNone/>
              </a:pPr>
              <a:r>
                <a:rPr lang="en-US" sz="2800" b="0" i="0" u="none" strike="noStrike" cap="none" dirty="0">
                  <a:solidFill>
                    <a:srgbClr val="666666"/>
                  </a:solidFill>
                  <a:latin typeface="Inter"/>
                  <a:ea typeface="Inter"/>
                  <a:cs typeface="Inter"/>
                  <a:sym typeface="Inter"/>
                </a:rPr>
                <a:t>15</a:t>
              </a:r>
              <a:endParaRPr sz="1200" b="0" i="0" u="none" strike="noStrike" cap="none" dirty="0">
                <a:solidFill>
                  <a:srgbClr val="000000"/>
                </a:solidFill>
                <a:latin typeface="Arial"/>
                <a:ea typeface="Arial"/>
                <a:cs typeface="Arial"/>
                <a:sym typeface="Arial"/>
              </a:endParaRPr>
            </a:p>
          </p:txBody>
        </p:sp>
      </p:grpSp>
      <p:grpSp>
        <p:nvGrpSpPr>
          <p:cNvPr id="972" name="Google Shape;972;g3465da649cc_0_838"/>
          <p:cNvGrpSpPr/>
          <p:nvPr/>
        </p:nvGrpSpPr>
        <p:grpSpPr>
          <a:xfrm>
            <a:off x="1769555" y="8560966"/>
            <a:ext cx="5353468" cy="296215"/>
            <a:chOff x="0" y="-9525"/>
            <a:chExt cx="8029800" cy="444300"/>
          </a:xfrm>
        </p:grpSpPr>
        <p:sp>
          <p:nvSpPr>
            <p:cNvPr id="973" name="Google Shape;973;g3465da649cc_0_838"/>
            <p:cNvSpPr/>
            <p:nvPr/>
          </p:nvSpPr>
          <p:spPr>
            <a:xfrm>
              <a:off x="0" y="0"/>
              <a:ext cx="8029800" cy="434687"/>
            </a:xfrm>
            <a:custGeom>
              <a:avLst/>
              <a:gdLst/>
              <a:ahLst/>
              <a:cxnLst/>
              <a:rect l="l" t="t" r="r" b="b"/>
              <a:pathLst>
                <a:path w="8029800" h="434687" extrusionOk="0">
                  <a:moveTo>
                    <a:pt x="0" y="0"/>
                  </a:moveTo>
                  <a:lnTo>
                    <a:pt x="8029800" y="0"/>
                  </a:lnTo>
                  <a:lnTo>
                    <a:pt x="8029800" y="434687"/>
                  </a:lnTo>
                  <a:lnTo>
                    <a:pt x="0" y="434687"/>
                  </a:lnTo>
                  <a:close/>
                </a:path>
              </a:pathLst>
            </a:custGeom>
            <a:solidFill>
              <a:srgbClr val="000000">
                <a:alpha val="0"/>
              </a:srgbClr>
            </a:solidFill>
            <a:ln>
              <a:noFill/>
            </a:ln>
          </p:spPr>
        </p:sp>
        <p:sp>
          <p:nvSpPr>
            <p:cNvPr id="974" name="Google Shape;974;g3465da649cc_0_838"/>
            <p:cNvSpPr txBox="1"/>
            <p:nvPr/>
          </p:nvSpPr>
          <p:spPr>
            <a:xfrm>
              <a:off x="0" y="-9525"/>
              <a:ext cx="8029800" cy="444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300"/>
                <a:buFont typeface="Arial"/>
                <a:buNone/>
              </a:pPr>
              <a:r>
                <a:rPr lang="en-US" sz="1300" b="0" i="0" u="none" strike="noStrike" cap="none" dirty="0">
                  <a:solidFill>
                    <a:srgbClr val="808080"/>
                  </a:solidFill>
                  <a:latin typeface="Inter"/>
                  <a:ea typeface="Inter"/>
                  <a:cs typeface="Inter"/>
                  <a:sym typeface="Inter"/>
                </a:rPr>
                <a:t>RETAIL DX Profile - Software Development For Retail</a:t>
              </a:r>
              <a:endParaRPr sz="1200" b="0" i="0" u="none" strike="noStrike" cap="none" dirty="0">
                <a:solidFill>
                  <a:srgbClr val="000000"/>
                </a:solidFill>
                <a:latin typeface="Arial"/>
                <a:ea typeface="Arial"/>
                <a:cs typeface="Arial"/>
                <a:sym typeface="Arial"/>
              </a:endParaRPr>
            </a:p>
          </p:txBody>
        </p:sp>
      </p:grpSp>
      <p:pic>
        <p:nvPicPr>
          <p:cNvPr id="975" name="Google Shape;975;g3465da649cc_0_838" title="Logo_VTI (2).png"/>
          <p:cNvPicPr preferRelativeResize="0"/>
          <p:nvPr/>
        </p:nvPicPr>
        <p:blipFill rotWithShape="1">
          <a:blip r:embed="rId12" cstate="email">
            <a:alphaModFix/>
            <a:extLst>
              <a:ext uri="{28A0092B-C50C-407E-A947-70E740481C1C}">
                <a14:useLocalDpi xmlns:a14="http://schemas.microsoft.com/office/drawing/2010/main"/>
              </a:ext>
            </a:extLst>
          </a:blip>
          <a:srcRect/>
          <a:stretch/>
        </p:blipFill>
        <p:spPr>
          <a:xfrm>
            <a:off x="14701375" y="281474"/>
            <a:ext cx="1205820" cy="6446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3A57B5"/>
        </a:solidFill>
        <a:effectLst/>
      </p:bgPr>
    </p:bg>
    <p:spTree>
      <p:nvGrpSpPr>
        <p:cNvPr id="1" name="Shape 979"/>
        <p:cNvGrpSpPr/>
        <p:nvPr/>
      </p:nvGrpSpPr>
      <p:grpSpPr>
        <a:xfrm>
          <a:off x="0" y="0"/>
          <a:ext cx="0" cy="0"/>
          <a:chOff x="0" y="0"/>
          <a:chExt cx="0" cy="0"/>
        </a:xfrm>
      </p:grpSpPr>
      <p:pic>
        <p:nvPicPr>
          <p:cNvPr id="980" name="Google Shape;980;p14" title="[2025_EN] Retail Landscape Bản.png"/>
          <p:cNvPicPr preferRelativeResize="0"/>
          <p:nvPr/>
        </p:nvPicPr>
        <p:blipFill rotWithShape="1">
          <a:blip r:embed="rId3" cstate="email">
            <a:alphaModFix/>
            <a:extLst>
              <a:ext uri="{28A0092B-C50C-407E-A947-70E740481C1C}">
                <a14:useLocalDpi xmlns:a14="http://schemas.microsoft.com/office/drawing/2010/main"/>
              </a:ext>
            </a:extLst>
          </a:blip>
          <a:srcRect l="799" t="29" r="1706" b="19"/>
          <a:stretch/>
        </p:blipFill>
        <p:spPr>
          <a:xfrm>
            <a:off x="0" y="212950"/>
            <a:ext cx="16256002" cy="89310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grpSp>
        <p:nvGrpSpPr>
          <p:cNvPr id="989" name="Google Shape;989;g3465da649cc_0_986"/>
          <p:cNvGrpSpPr/>
          <p:nvPr/>
        </p:nvGrpSpPr>
        <p:grpSpPr>
          <a:xfrm>
            <a:off x="1067500" y="3761412"/>
            <a:ext cx="4326666" cy="383501"/>
            <a:chOff x="0" y="-104775"/>
            <a:chExt cx="6489675" cy="575222"/>
          </a:xfrm>
        </p:grpSpPr>
        <p:sp>
          <p:nvSpPr>
            <p:cNvPr id="990" name="Google Shape;990;g3465da649cc_0_986"/>
            <p:cNvSpPr/>
            <p:nvPr/>
          </p:nvSpPr>
          <p:spPr>
            <a:xfrm>
              <a:off x="0" y="0"/>
              <a:ext cx="6489675" cy="470447"/>
            </a:xfrm>
            <a:custGeom>
              <a:avLst/>
              <a:gdLst/>
              <a:ahLst/>
              <a:cxnLst/>
              <a:rect l="l" t="t" r="r" b="b"/>
              <a:pathLst>
                <a:path w="6489675" h="470447" extrusionOk="0">
                  <a:moveTo>
                    <a:pt x="0" y="0"/>
                  </a:moveTo>
                  <a:lnTo>
                    <a:pt x="6489675" y="0"/>
                  </a:lnTo>
                  <a:lnTo>
                    <a:pt x="6489675" y="470447"/>
                  </a:lnTo>
                  <a:lnTo>
                    <a:pt x="0" y="470447"/>
                  </a:lnTo>
                  <a:close/>
                </a:path>
              </a:pathLst>
            </a:custGeom>
            <a:solidFill>
              <a:srgbClr val="000000">
                <a:alpha val="0"/>
              </a:srgbClr>
            </a:solidFill>
            <a:ln>
              <a:noFill/>
            </a:ln>
          </p:spPr>
        </p:sp>
        <p:sp>
          <p:nvSpPr>
            <p:cNvPr id="991" name="Google Shape;991;g3465da649cc_0_986"/>
            <p:cNvSpPr txBox="1"/>
            <p:nvPr/>
          </p:nvSpPr>
          <p:spPr>
            <a:xfrm>
              <a:off x="0" y="-104775"/>
              <a:ext cx="6489600" cy="575100"/>
            </a:xfrm>
            <a:prstGeom prst="rect">
              <a:avLst/>
            </a:prstGeom>
            <a:noFill/>
            <a:ln>
              <a:noFill/>
            </a:ln>
          </p:spPr>
          <p:txBody>
            <a:bodyPr spcFirstLastPara="1" wrap="square" lIns="0" tIns="0" rIns="0" bIns="0" anchor="t" anchorCtr="0">
              <a:noAutofit/>
            </a:bodyPr>
            <a:lstStyle/>
            <a:p>
              <a:pPr marL="0" marR="0" lvl="0" indent="0" algn="ctr"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SEAMLESS CUSTOMER EXPERIENCE (CX)</a:t>
              </a:r>
              <a:endParaRPr sz="1200" b="0" i="0" u="none" strike="noStrike" cap="none">
                <a:solidFill>
                  <a:srgbClr val="000000"/>
                </a:solidFill>
                <a:latin typeface="Arial"/>
                <a:ea typeface="Arial"/>
                <a:cs typeface="Arial"/>
                <a:sym typeface="Arial"/>
              </a:endParaRPr>
            </a:p>
          </p:txBody>
        </p:sp>
      </p:grpSp>
      <p:grpSp>
        <p:nvGrpSpPr>
          <p:cNvPr id="992" name="Google Shape;992;g3465da649cc_0_986"/>
          <p:cNvGrpSpPr/>
          <p:nvPr/>
        </p:nvGrpSpPr>
        <p:grpSpPr>
          <a:xfrm>
            <a:off x="1067500" y="4141296"/>
            <a:ext cx="4326666" cy="1044052"/>
            <a:chOff x="0" y="-104775"/>
            <a:chExt cx="6489675" cy="1566000"/>
          </a:xfrm>
        </p:grpSpPr>
        <p:sp>
          <p:nvSpPr>
            <p:cNvPr id="993" name="Google Shape;993;g3465da649cc_0_986"/>
            <p:cNvSpPr/>
            <p:nvPr/>
          </p:nvSpPr>
          <p:spPr>
            <a:xfrm>
              <a:off x="0" y="0"/>
              <a:ext cx="6489675" cy="1461135"/>
            </a:xfrm>
            <a:custGeom>
              <a:avLst/>
              <a:gdLst/>
              <a:ahLst/>
              <a:cxnLst/>
              <a:rect l="l" t="t" r="r" b="b"/>
              <a:pathLst>
                <a:path w="6489675" h="1461135" extrusionOk="0">
                  <a:moveTo>
                    <a:pt x="0" y="0"/>
                  </a:moveTo>
                  <a:lnTo>
                    <a:pt x="6489675" y="0"/>
                  </a:lnTo>
                  <a:lnTo>
                    <a:pt x="6489675" y="1461135"/>
                  </a:lnTo>
                  <a:lnTo>
                    <a:pt x="0" y="1461135"/>
                  </a:lnTo>
                  <a:close/>
                </a:path>
              </a:pathLst>
            </a:custGeom>
            <a:solidFill>
              <a:srgbClr val="000000">
                <a:alpha val="0"/>
              </a:srgbClr>
            </a:solidFill>
            <a:ln>
              <a:noFill/>
            </a:ln>
          </p:spPr>
        </p:sp>
        <p:sp>
          <p:nvSpPr>
            <p:cNvPr id="994" name="Google Shape;994;g3465da649cc_0_986"/>
            <p:cNvSpPr txBox="1"/>
            <p:nvPr/>
          </p:nvSpPr>
          <p:spPr>
            <a:xfrm>
              <a:off x="0" y="-104775"/>
              <a:ext cx="6489600" cy="15660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0" i="0" u="none" strike="noStrike" cap="none">
                  <a:solidFill>
                    <a:srgbClr val="3D3D3D"/>
                  </a:solidFill>
                  <a:latin typeface="Inter"/>
                  <a:ea typeface="Inter"/>
                  <a:cs typeface="Inter"/>
                  <a:sym typeface="Inter"/>
                </a:rPr>
                <a:t>Deliver a seamless, personalized shopping experience with AI-driven insights and omnichannel integration.</a:t>
              </a:r>
              <a:endParaRPr sz="1200" b="0" i="0" u="none" strike="noStrike" cap="none">
                <a:solidFill>
                  <a:srgbClr val="000000"/>
                </a:solidFill>
                <a:latin typeface="Arial"/>
                <a:ea typeface="Arial"/>
                <a:cs typeface="Arial"/>
                <a:sym typeface="Arial"/>
              </a:endParaRPr>
            </a:p>
          </p:txBody>
        </p:sp>
      </p:grpSp>
      <p:sp>
        <p:nvSpPr>
          <p:cNvPr id="995" name="Google Shape;995;g3465da649cc_0_986"/>
          <p:cNvSpPr/>
          <p:nvPr/>
        </p:nvSpPr>
        <p:spPr>
          <a:xfrm>
            <a:off x="1100688" y="1279859"/>
            <a:ext cx="4272642" cy="1992605"/>
          </a:xfrm>
          <a:custGeom>
            <a:avLst/>
            <a:gdLst/>
            <a:ahLst/>
            <a:cxnLst/>
            <a:rect l="l" t="t" r="r" b="b"/>
            <a:pathLst>
              <a:path w="744687" h="347295" extrusionOk="0">
                <a:moveTo>
                  <a:pt x="16106" y="0"/>
                </a:moveTo>
                <a:lnTo>
                  <a:pt x="728581" y="0"/>
                </a:lnTo>
                <a:cubicBezTo>
                  <a:pt x="737476" y="0"/>
                  <a:pt x="744687" y="7211"/>
                  <a:pt x="744687" y="16106"/>
                </a:cubicBezTo>
                <a:lnTo>
                  <a:pt x="744687" y="331189"/>
                </a:lnTo>
                <a:cubicBezTo>
                  <a:pt x="744687" y="340084"/>
                  <a:pt x="737476" y="347295"/>
                  <a:pt x="728581" y="347295"/>
                </a:cubicBezTo>
                <a:lnTo>
                  <a:pt x="16106" y="347295"/>
                </a:lnTo>
                <a:cubicBezTo>
                  <a:pt x="7211" y="347295"/>
                  <a:pt x="0" y="340084"/>
                  <a:pt x="0" y="331189"/>
                </a:cubicBezTo>
                <a:lnTo>
                  <a:pt x="0" y="16106"/>
                </a:lnTo>
                <a:cubicBezTo>
                  <a:pt x="0" y="7211"/>
                  <a:pt x="7211" y="0"/>
                  <a:pt x="16106" y="0"/>
                </a:cubicBez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96" name="Google Shape;996;g3465da649cc_0_986"/>
          <p:cNvGrpSpPr/>
          <p:nvPr/>
        </p:nvGrpSpPr>
        <p:grpSpPr>
          <a:xfrm>
            <a:off x="2669487" y="2691560"/>
            <a:ext cx="1085494" cy="1123656"/>
            <a:chOff x="0" y="-28575"/>
            <a:chExt cx="812800" cy="841375"/>
          </a:xfrm>
        </p:grpSpPr>
        <p:sp>
          <p:nvSpPr>
            <p:cNvPr id="997" name="Google Shape;997;g3465da649cc_0_98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8" name="Google Shape;998;g3465da649cc_0_986"/>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999" name="Google Shape;999;g3465da649cc_0_986"/>
          <p:cNvSpPr/>
          <p:nvPr/>
        </p:nvSpPr>
        <p:spPr>
          <a:xfrm>
            <a:off x="2870114" y="2930348"/>
            <a:ext cx="685090" cy="685090"/>
          </a:xfrm>
          <a:custGeom>
            <a:avLst/>
            <a:gdLst/>
            <a:ahLst/>
            <a:cxnLst/>
            <a:rect l="l" t="t" r="r" b="b"/>
            <a:pathLst>
              <a:path w="769764" h="769764" extrusionOk="0">
                <a:moveTo>
                  <a:pt x="0" y="0"/>
                </a:moveTo>
                <a:lnTo>
                  <a:pt x="769764" y="0"/>
                </a:lnTo>
                <a:lnTo>
                  <a:pt x="769764" y="769765"/>
                </a:lnTo>
                <a:lnTo>
                  <a:pt x="0" y="769765"/>
                </a:lnTo>
                <a:lnTo>
                  <a:pt x="0" y="0"/>
                </a:lnTo>
                <a:close/>
              </a:path>
            </a:pathLst>
          </a:custGeom>
          <a:blipFill rotWithShape="1">
            <a:blip r:embed="rId4">
              <a:alphaModFix/>
            </a:blip>
            <a:stretch>
              <a:fillRect/>
            </a:stretch>
          </a:blipFill>
          <a:ln>
            <a:noFill/>
          </a:ln>
        </p:spPr>
      </p:sp>
      <p:cxnSp>
        <p:nvCxnSpPr>
          <p:cNvPr id="1000" name="Google Shape;1000;g3465da649cc_0_986"/>
          <p:cNvCxnSpPr/>
          <p:nvPr/>
        </p:nvCxnSpPr>
        <p:spPr>
          <a:xfrm>
            <a:off x="906402" y="445572"/>
            <a:ext cx="0" cy="371400"/>
          </a:xfrm>
          <a:prstGeom prst="straightConnector1">
            <a:avLst/>
          </a:prstGeom>
          <a:noFill/>
          <a:ln w="47625" cap="rnd" cmpd="sng">
            <a:solidFill>
              <a:srgbClr val="0050AE"/>
            </a:solidFill>
            <a:prstDash val="solid"/>
            <a:round/>
            <a:headEnd type="none" w="sm" len="sm"/>
            <a:tailEnd type="none" w="sm" len="sm"/>
          </a:ln>
        </p:spPr>
      </p:cxnSp>
      <p:grpSp>
        <p:nvGrpSpPr>
          <p:cNvPr id="1001" name="Google Shape;1001;g3465da649cc_0_986"/>
          <p:cNvGrpSpPr/>
          <p:nvPr/>
        </p:nvGrpSpPr>
        <p:grpSpPr>
          <a:xfrm>
            <a:off x="1173733" y="394023"/>
            <a:ext cx="9181259" cy="474574"/>
            <a:chOff x="0" y="0"/>
            <a:chExt cx="13771200" cy="711825"/>
          </a:xfrm>
        </p:grpSpPr>
        <p:sp>
          <p:nvSpPr>
            <p:cNvPr id="1002" name="Google Shape;1002;g3465da649cc_0_986"/>
            <p:cNvSpPr/>
            <p:nvPr/>
          </p:nvSpPr>
          <p:spPr>
            <a:xfrm>
              <a:off x="0" y="0"/>
              <a:ext cx="13771184" cy="711777"/>
            </a:xfrm>
            <a:custGeom>
              <a:avLst/>
              <a:gdLst/>
              <a:ahLst/>
              <a:cxnLst/>
              <a:rect l="l" t="t" r="r" b="b"/>
              <a:pathLst>
                <a:path w="13771184" h="711777" extrusionOk="0">
                  <a:moveTo>
                    <a:pt x="0" y="0"/>
                  </a:moveTo>
                  <a:lnTo>
                    <a:pt x="13771184" y="0"/>
                  </a:lnTo>
                  <a:lnTo>
                    <a:pt x="13771184" y="711777"/>
                  </a:lnTo>
                  <a:lnTo>
                    <a:pt x="0" y="711777"/>
                  </a:lnTo>
                  <a:close/>
                </a:path>
              </a:pathLst>
            </a:custGeom>
            <a:solidFill>
              <a:srgbClr val="000000">
                <a:alpha val="0"/>
              </a:srgbClr>
            </a:solidFill>
            <a:ln>
              <a:noFill/>
            </a:ln>
          </p:spPr>
        </p:sp>
        <p:sp>
          <p:nvSpPr>
            <p:cNvPr id="1003" name="Google Shape;1003;g3465da649cc_0_986"/>
            <p:cNvSpPr txBox="1"/>
            <p:nvPr/>
          </p:nvSpPr>
          <p:spPr>
            <a:xfrm>
              <a:off x="0" y="9525"/>
              <a:ext cx="13771200" cy="702300"/>
            </a:xfrm>
            <a:prstGeom prst="rect">
              <a:avLst/>
            </a:prstGeom>
            <a:noFill/>
            <a:ln>
              <a:noFill/>
            </a:ln>
          </p:spPr>
          <p:txBody>
            <a:bodyPr spcFirstLastPara="1" wrap="square" lIns="0" tIns="0" rIns="0" bIns="0" anchor="t" anchorCtr="0">
              <a:noAutofit/>
            </a:bodyPr>
            <a:lstStyle/>
            <a:p>
              <a:pPr marL="0" marR="0" lvl="0" indent="0" algn="l" rtl="0">
                <a:lnSpc>
                  <a:spcPct val="120008"/>
                </a:lnSpc>
                <a:spcBef>
                  <a:spcPts val="0"/>
                </a:spcBef>
                <a:spcAft>
                  <a:spcPts val="0"/>
                </a:spcAft>
                <a:buClr>
                  <a:srgbClr val="000000"/>
                </a:buClr>
                <a:buSzPts val="2200"/>
                <a:buFont typeface="Arial"/>
                <a:buNone/>
              </a:pPr>
              <a:r>
                <a:rPr lang="en-US" sz="2200" b="1" i="0" u="none" strike="noStrike" cap="none">
                  <a:solidFill>
                    <a:srgbClr val="0050AE"/>
                  </a:solidFill>
                  <a:latin typeface="Inter"/>
                  <a:ea typeface="Inter"/>
                  <a:cs typeface="Inter"/>
                  <a:sym typeface="Inter"/>
                </a:rPr>
                <a:t>ONE-STOP IT SERVICE FOR RETAILERS</a:t>
              </a:r>
              <a:endParaRPr sz="1200" b="0" i="0" u="none" strike="noStrike" cap="none">
                <a:solidFill>
                  <a:srgbClr val="000000"/>
                </a:solidFill>
                <a:latin typeface="Arial"/>
                <a:ea typeface="Arial"/>
                <a:cs typeface="Arial"/>
                <a:sym typeface="Arial"/>
              </a:endParaRPr>
            </a:p>
          </p:txBody>
        </p:sp>
      </p:grpSp>
      <p:sp>
        <p:nvSpPr>
          <p:cNvPr id="1004" name="Google Shape;1004;g3465da649cc_0_986"/>
          <p:cNvSpPr/>
          <p:nvPr/>
        </p:nvSpPr>
        <p:spPr>
          <a:xfrm>
            <a:off x="1259879" y="6993090"/>
            <a:ext cx="2944237" cy="938476"/>
          </a:xfrm>
          <a:custGeom>
            <a:avLst/>
            <a:gdLst/>
            <a:ahLst/>
            <a:cxnLst/>
            <a:rect l="l" t="t" r="r" b="b"/>
            <a:pathLst>
              <a:path w="3308131" h="1054467" extrusionOk="0">
                <a:moveTo>
                  <a:pt x="0" y="0"/>
                </a:moveTo>
                <a:lnTo>
                  <a:pt x="3308131" y="0"/>
                </a:lnTo>
                <a:lnTo>
                  <a:pt x="3308131" y="1054466"/>
                </a:lnTo>
                <a:lnTo>
                  <a:pt x="0" y="1054466"/>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sp>
        <p:nvSpPr>
          <p:cNvPr id="1005" name="Google Shape;1005;g3465da649cc_0_986"/>
          <p:cNvSpPr/>
          <p:nvPr/>
        </p:nvSpPr>
        <p:spPr>
          <a:xfrm>
            <a:off x="6826330" y="6993090"/>
            <a:ext cx="2057697" cy="1018560"/>
          </a:xfrm>
          <a:custGeom>
            <a:avLst/>
            <a:gdLst/>
            <a:ahLst/>
            <a:cxnLst/>
            <a:rect l="l" t="t" r="r" b="b"/>
            <a:pathLst>
              <a:path w="2312019" h="1144449" extrusionOk="0">
                <a:moveTo>
                  <a:pt x="0" y="0"/>
                </a:moveTo>
                <a:lnTo>
                  <a:pt x="2312018" y="0"/>
                </a:lnTo>
                <a:lnTo>
                  <a:pt x="2312018" y="1144449"/>
                </a:lnTo>
                <a:lnTo>
                  <a:pt x="0" y="1144449"/>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006" name="Google Shape;1006;g3465da649cc_0_986"/>
          <p:cNvSpPr/>
          <p:nvPr/>
        </p:nvSpPr>
        <p:spPr>
          <a:xfrm>
            <a:off x="11292089" y="6908392"/>
            <a:ext cx="1103362" cy="1103362"/>
          </a:xfrm>
          <a:custGeom>
            <a:avLst/>
            <a:gdLst/>
            <a:ahLst/>
            <a:cxnLst/>
            <a:rect l="l" t="t" r="r" b="b"/>
            <a:pathLst>
              <a:path w="1239733" h="1239733" extrusionOk="0">
                <a:moveTo>
                  <a:pt x="0" y="0"/>
                </a:moveTo>
                <a:lnTo>
                  <a:pt x="1239733" y="0"/>
                </a:lnTo>
                <a:lnTo>
                  <a:pt x="1239733" y="1239734"/>
                </a:lnTo>
                <a:lnTo>
                  <a:pt x="0" y="1239734"/>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grpSp>
        <p:nvGrpSpPr>
          <p:cNvPr id="1007" name="Google Shape;1007;g3465da649cc_0_986"/>
          <p:cNvGrpSpPr/>
          <p:nvPr/>
        </p:nvGrpSpPr>
        <p:grpSpPr>
          <a:xfrm>
            <a:off x="5964775" y="3761412"/>
            <a:ext cx="4326666" cy="383619"/>
            <a:chOff x="0" y="-104775"/>
            <a:chExt cx="6489675" cy="575400"/>
          </a:xfrm>
        </p:grpSpPr>
        <p:sp>
          <p:nvSpPr>
            <p:cNvPr id="1008" name="Google Shape;1008;g3465da649cc_0_986"/>
            <p:cNvSpPr/>
            <p:nvPr/>
          </p:nvSpPr>
          <p:spPr>
            <a:xfrm>
              <a:off x="0" y="0"/>
              <a:ext cx="6489675" cy="470535"/>
            </a:xfrm>
            <a:custGeom>
              <a:avLst/>
              <a:gdLst/>
              <a:ahLst/>
              <a:cxnLst/>
              <a:rect l="l" t="t" r="r" b="b"/>
              <a:pathLst>
                <a:path w="6489675" h="470535" extrusionOk="0">
                  <a:moveTo>
                    <a:pt x="0" y="0"/>
                  </a:moveTo>
                  <a:lnTo>
                    <a:pt x="6489675" y="0"/>
                  </a:lnTo>
                  <a:lnTo>
                    <a:pt x="6489675" y="470535"/>
                  </a:lnTo>
                  <a:lnTo>
                    <a:pt x="0" y="470535"/>
                  </a:lnTo>
                  <a:close/>
                </a:path>
              </a:pathLst>
            </a:custGeom>
            <a:solidFill>
              <a:srgbClr val="000000">
                <a:alpha val="0"/>
              </a:srgbClr>
            </a:solidFill>
            <a:ln>
              <a:noFill/>
            </a:ln>
          </p:spPr>
        </p:sp>
        <p:sp>
          <p:nvSpPr>
            <p:cNvPr id="1009" name="Google Shape;1009;g3465da649cc_0_986"/>
            <p:cNvSpPr txBox="1"/>
            <p:nvPr/>
          </p:nvSpPr>
          <p:spPr>
            <a:xfrm>
              <a:off x="0" y="-104775"/>
              <a:ext cx="6489600" cy="575400"/>
            </a:xfrm>
            <a:prstGeom prst="rect">
              <a:avLst/>
            </a:prstGeom>
            <a:noFill/>
            <a:ln>
              <a:noFill/>
            </a:ln>
          </p:spPr>
          <p:txBody>
            <a:bodyPr spcFirstLastPara="1" wrap="square" lIns="0" tIns="0" rIns="0" bIns="0" anchor="t" anchorCtr="0">
              <a:noAutofit/>
            </a:bodyPr>
            <a:lstStyle/>
            <a:p>
              <a:pPr marL="0" marR="0" lvl="0" indent="0" algn="ctr"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SMART IN-STORE OPERATIONS</a:t>
              </a:r>
              <a:endParaRPr sz="1200" b="0" i="0" u="none" strike="noStrike" cap="none">
                <a:solidFill>
                  <a:srgbClr val="000000"/>
                </a:solidFill>
                <a:latin typeface="Arial"/>
                <a:ea typeface="Arial"/>
                <a:cs typeface="Arial"/>
                <a:sym typeface="Arial"/>
              </a:endParaRPr>
            </a:p>
          </p:txBody>
        </p:sp>
      </p:grpSp>
      <p:grpSp>
        <p:nvGrpSpPr>
          <p:cNvPr id="1010" name="Google Shape;1010;g3465da649cc_0_986"/>
          <p:cNvGrpSpPr/>
          <p:nvPr/>
        </p:nvGrpSpPr>
        <p:grpSpPr>
          <a:xfrm>
            <a:off x="5964775" y="4141296"/>
            <a:ext cx="4306048" cy="722036"/>
            <a:chOff x="0" y="-104775"/>
            <a:chExt cx="6458749" cy="1083000"/>
          </a:xfrm>
        </p:grpSpPr>
        <p:sp>
          <p:nvSpPr>
            <p:cNvPr id="1011" name="Google Shape;1011;g3465da649cc_0_986"/>
            <p:cNvSpPr/>
            <p:nvPr/>
          </p:nvSpPr>
          <p:spPr>
            <a:xfrm>
              <a:off x="0" y="0"/>
              <a:ext cx="6458749" cy="978218"/>
            </a:xfrm>
            <a:custGeom>
              <a:avLst/>
              <a:gdLst/>
              <a:ahLst/>
              <a:cxnLst/>
              <a:rect l="l" t="t" r="r" b="b"/>
              <a:pathLst>
                <a:path w="6458749" h="978218" extrusionOk="0">
                  <a:moveTo>
                    <a:pt x="0" y="0"/>
                  </a:moveTo>
                  <a:lnTo>
                    <a:pt x="6458749" y="0"/>
                  </a:lnTo>
                  <a:lnTo>
                    <a:pt x="6458749" y="978218"/>
                  </a:lnTo>
                  <a:lnTo>
                    <a:pt x="0" y="978218"/>
                  </a:lnTo>
                  <a:close/>
                </a:path>
              </a:pathLst>
            </a:custGeom>
            <a:solidFill>
              <a:srgbClr val="000000">
                <a:alpha val="0"/>
              </a:srgbClr>
            </a:solidFill>
            <a:ln>
              <a:noFill/>
            </a:ln>
          </p:spPr>
        </p:sp>
        <p:sp>
          <p:nvSpPr>
            <p:cNvPr id="1012" name="Google Shape;1012;g3465da649cc_0_986"/>
            <p:cNvSpPr txBox="1"/>
            <p:nvPr/>
          </p:nvSpPr>
          <p:spPr>
            <a:xfrm>
              <a:off x="0" y="-104775"/>
              <a:ext cx="6458700" cy="10830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0" i="0" u="none" strike="noStrike" cap="none">
                  <a:solidFill>
                    <a:srgbClr val="3D3D3D"/>
                  </a:solidFill>
                  <a:latin typeface="Inter"/>
                  <a:ea typeface="Inter"/>
                  <a:cs typeface="Inter"/>
                  <a:sym typeface="Inter"/>
                </a:rPr>
                <a:t>Optimize in-store efficiency with AI-powered management, automation, and analytics.</a:t>
              </a:r>
              <a:endParaRPr sz="1200" b="0" i="0" u="none" strike="noStrike" cap="none">
                <a:solidFill>
                  <a:srgbClr val="000000"/>
                </a:solidFill>
                <a:latin typeface="Arial"/>
                <a:ea typeface="Arial"/>
                <a:cs typeface="Arial"/>
                <a:sym typeface="Arial"/>
              </a:endParaRPr>
            </a:p>
          </p:txBody>
        </p:sp>
      </p:grpSp>
      <p:sp>
        <p:nvSpPr>
          <p:cNvPr id="1013" name="Google Shape;1013;g3465da649cc_0_986"/>
          <p:cNvSpPr/>
          <p:nvPr/>
        </p:nvSpPr>
        <p:spPr>
          <a:xfrm>
            <a:off x="5964775" y="1274839"/>
            <a:ext cx="4272642" cy="1992605"/>
          </a:xfrm>
          <a:custGeom>
            <a:avLst/>
            <a:gdLst/>
            <a:ahLst/>
            <a:cxnLst/>
            <a:rect l="l" t="t" r="r" b="b"/>
            <a:pathLst>
              <a:path w="744687" h="347295" extrusionOk="0">
                <a:moveTo>
                  <a:pt x="16106" y="0"/>
                </a:moveTo>
                <a:lnTo>
                  <a:pt x="728581" y="0"/>
                </a:lnTo>
                <a:cubicBezTo>
                  <a:pt x="737476" y="0"/>
                  <a:pt x="744687" y="7211"/>
                  <a:pt x="744687" y="16106"/>
                </a:cubicBezTo>
                <a:lnTo>
                  <a:pt x="744687" y="331189"/>
                </a:lnTo>
                <a:cubicBezTo>
                  <a:pt x="744687" y="340084"/>
                  <a:pt x="737476" y="347295"/>
                  <a:pt x="728581" y="347295"/>
                </a:cubicBezTo>
                <a:lnTo>
                  <a:pt x="16106" y="347295"/>
                </a:lnTo>
                <a:cubicBezTo>
                  <a:pt x="7211" y="347295"/>
                  <a:pt x="0" y="340084"/>
                  <a:pt x="0" y="331189"/>
                </a:cubicBezTo>
                <a:lnTo>
                  <a:pt x="0" y="16106"/>
                </a:lnTo>
                <a:cubicBezTo>
                  <a:pt x="0" y="7211"/>
                  <a:pt x="7211" y="0"/>
                  <a:pt x="16106" y="0"/>
                </a:cubicBez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14" name="Google Shape;1014;g3465da649cc_0_986"/>
          <p:cNvGrpSpPr/>
          <p:nvPr/>
        </p:nvGrpSpPr>
        <p:grpSpPr>
          <a:xfrm>
            <a:off x="10858492" y="3761412"/>
            <a:ext cx="4326666" cy="383619"/>
            <a:chOff x="0" y="-104775"/>
            <a:chExt cx="6489675" cy="575400"/>
          </a:xfrm>
        </p:grpSpPr>
        <p:sp>
          <p:nvSpPr>
            <p:cNvPr id="1015" name="Google Shape;1015;g3465da649cc_0_986"/>
            <p:cNvSpPr/>
            <p:nvPr/>
          </p:nvSpPr>
          <p:spPr>
            <a:xfrm>
              <a:off x="0" y="0"/>
              <a:ext cx="6489675" cy="470535"/>
            </a:xfrm>
            <a:custGeom>
              <a:avLst/>
              <a:gdLst/>
              <a:ahLst/>
              <a:cxnLst/>
              <a:rect l="l" t="t" r="r" b="b"/>
              <a:pathLst>
                <a:path w="6489675" h="470535" extrusionOk="0">
                  <a:moveTo>
                    <a:pt x="0" y="0"/>
                  </a:moveTo>
                  <a:lnTo>
                    <a:pt x="6489675" y="0"/>
                  </a:lnTo>
                  <a:lnTo>
                    <a:pt x="6489675" y="470535"/>
                  </a:lnTo>
                  <a:lnTo>
                    <a:pt x="0" y="470535"/>
                  </a:lnTo>
                  <a:close/>
                </a:path>
              </a:pathLst>
            </a:custGeom>
            <a:solidFill>
              <a:srgbClr val="000000">
                <a:alpha val="0"/>
              </a:srgbClr>
            </a:solidFill>
            <a:ln>
              <a:noFill/>
            </a:ln>
          </p:spPr>
        </p:sp>
        <p:sp>
          <p:nvSpPr>
            <p:cNvPr id="1016" name="Google Shape;1016;g3465da649cc_0_986"/>
            <p:cNvSpPr txBox="1"/>
            <p:nvPr/>
          </p:nvSpPr>
          <p:spPr>
            <a:xfrm>
              <a:off x="0" y="-104775"/>
              <a:ext cx="6489600" cy="575400"/>
            </a:xfrm>
            <a:prstGeom prst="rect">
              <a:avLst/>
            </a:prstGeom>
            <a:noFill/>
            <a:ln>
              <a:noFill/>
            </a:ln>
          </p:spPr>
          <p:txBody>
            <a:bodyPr spcFirstLastPara="1" wrap="square" lIns="0" tIns="0" rIns="0" bIns="0" anchor="t" anchorCtr="0">
              <a:noAutofit/>
            </a:bodyPr>
            <a:lstStyle/>
            <a:p>
              <a:pPr marL="0" marR="0" lvl="0" indent="0" algn="ctr"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AGILE BUSINESS OPERATIONS</a:t>
              </a:r>
              <a:endParaRPr sz="1200" b="0" i="0" u="none" strike="noStrike" cap="none">
                <a:solidFill>
                  <a:srgbClr val="000000"/>
                </a:solidFill>
                <a:latin typeface="Arial"/>
                <a:ea typeface="Arial"/>
                <a:cs typeface="Arial"/>
                <a:sym typeface="Arial"/>
              </a:endParaRPr>
            </a:p>
          </p:txBody>
        </p:sp>
      </p:grpSp>
      <p:grpSp>
        <p:nvGrpSpPr>
          <p:cNvPr id="1017" name="Google Shape;1017;g3465da649cc_0_986"/>
          <p:cNvGrpSpPr/>
          <p:nvPr/>
        </p:nvGrpSpPr>
        <p:grpSpPr>
          <a:xfrm>
            <a:off x="10858492" y="4141296"/>
            <a:ext cx="4326666" cy="1044052"/>
            <a:chOff x="0" y="-104775"/>
            <a:chExt cx="6489675" cy="1566000"/>
          </a:xfrm>
        </p:grpSpPr>
        <p:sp>
          <p:nvSpPr>
            <p:cNvPr id="1018" name="Google Shape;1018;g3465da649cc_0_986"/>
            <p:cNvSpPr/>
            <p:nvPr/>
          </p:nvSpPr>
          <p:spPr>
            <a:xfrm>
              <a:off x="0" y="0"/>
              <a:ext cx="6489675" cy="1461135"/>
            </a:xfrm>
            <a:custGeom>
              <a:avLst/>
              <a:gdLst/>
              <a:ahLst/>
              <a:cxnLst/>
              <a:rect l="l" t="t" r="r" b="b"/>
              <a:pathLst>
                <a:path w="6489675" h="1461135" extrusionOk="0">
                  <a:moveTo>
                    <a:pt x="0" y="0"/>
                  </a:moveTo>
                  <a:lnTo>
                    <a:pt x="6489675" y="0"/>
                  </a:lnTo>
                  <a:lnTo>
                    <a:pt x="6489675" y="1461135"/>
                  </a:lnTo>
                  <a:lnTo>
                    <a:pt x="0" y="1461135"/>
                  </a:lnTo>
                  <a:close/>
                </a:path>
              </a:pathLst>
            </a:custGeom>
            <a:solidFill>
              <a:srgbClr val="000000">
                <a:alpha val="0"/>
              </a:srgbClr>
            </a:solidFill>
            <a:ln>
              <a:noFill/>
            </a:ln>
          </p:spPr>
        </p:sp>
        <p:sp>
          <p:nvSpPr>
            <p:cNvPr id="1019" name="Google Shape;1019;g3465da649cc_0_986"/>
            <p:cNvSpPr txBox="1"/>
            <p:nvPr/>
          </p:nvSpPr>
          <p:spPr>
            <a:xfrm>
              <a:off x="0" y="-104775"/>
              <a:ext cx="6489600" cy="15660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0" i="0" u="none" strike="noStrike" cap="none">
                  <a:solidFill>
                    <a:srgbClr val="3D3D3D"/>
                  </a:solidFill>
                  <a:latin typeface="Inter"/>
                  <a:ea typeface="Inter"/>
                  <a:cs typeface="Inter"/>
                  <a:sym typeface="Inter"/>
                </a:rPr>
                <a:t>Leverage from AI and automation to top advanced technology, VTI offer tailored systems that streamline retail business operations. </a:t>
              </a:r>
              <a:endParaRPr sz="1200" b="0" i="0" u="none" strike="noStrike" cap="none">
                <a:solidFill>
                  <a:srgbClr val="000000"/>
                </a:solidFill>
                <a:latin typeface="Arial"/>
                <a:ea typeface="Arial"/>
                <a:cs typeface="Arial"/>
                <a:sym typeface="Arial"/>
              </a:endParaRPr>
            </a:p>
          </p:txBody>
        </p:sp>
      </p:grpSp>
      <p:sp>
        <p:nvSpPr>
          <p:cNvPr id="1020" name="Google Shape;1020;g3465da649cc_0_986"/>
          <p:cNvSpPr/>
          <p:nvPr/>
        </p:nvSpPr>
        <p:spPr>
          <a:xfrm>
            <a:off x="10858492" y="1269820"/>
            <a:ext cx="4272642" cy="1992605"/>
          </a:xfrm>
          <a:custGeom>
            <a:avLst/>
            <a:gdLst/>
            <a:ahLst/>
            <a:cxnLst/>
            <a:rect l="l" t="t" r="r" b="b"/>
            <a:pathLst>
              <a:path w="744687" h="347295" extrusionOk="0">
                <a:moveTo>
                  <a:pt x="16106" y="0"/>
                </a:moveTo>
                <a:lnTo>
                  <a:pt x="728581" y="0"/>
                </a:lnTo>
                <a:cubicBezTo>
                  <a:pt x="737476" y="0"/>
                  <a:pt x="744687" y="7211"/>
                  <a:pt x="744687" y="16106"/>
                </a:cubicBezTo>
                <a:lnTo>
                  <a:pt x="744687" y="331189"/>
                </a:lnTo>
                <a:cubicBezTo>
                  <a:pt x="744687" y="340084"/>
                  <a:pt x="737476" y="347295"/>
                  <a:pt x="728581" y="347295"/>
                </a:cubicBezTo>
                <a:lnTo>
                  <a:pt x="16106" y="347295"/>
                </a:lnTo>
                <a:cubicBezTo>
                  <a:pt x="7211" y="347295"/>
                  <a:pt x="0" y="340084"/>
                  <a:pt x="0" y="331189"/>
                </a:cubicBezTo>
                <a:lnTo>
                  <a:pt x="0" y="16106"/>
                </a:lnTo>
                <a:cubicBezTo>
                  <a:pt x="0" y="7211"/>
                  <a:pt x="7211" y="0"/>
                  <a:pt x="16106" y="0"/>
                </a:cubicBez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21" name="Google Shape;1021;g3465da649cc_0_986"/>
          <p:cNvGrpSpPr/>
          <p:nvPr/>
        </p:nvGrpSpPr>
        <p:grpSpPr>
          <a:xfrm>
            <a:off x="12452069" y="2691560"/>
            <a:ext cx="1085494" cy="1123656"/>
            <a:chOff x="0" y="-28575"/>
            <a:chExt cx="812800" cy="841375"/>
          </a:xfrm>
        </p:grpSpPr>
        <p:sp>
          <p:nvSpPr>
            <p:cNvPr id="1022" name="Google Shape;1022;g3465da649cc_0_98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3" name="Google Shape;1023;g3465da649cc_0_986"/>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024" name="Google Shape;1024;g3465da649cc_0_986"/>
          <p:cNvGrpSpPr/>
          <p:nvPr/>
        </p:nvGrpSpPr>
        <p:grpSpPr>
          <a:xfrm>
            <a:off x="1259882" y="5874880"/>
            <a:ext cx="12953519" cy="1049943"/>
            <a:chOff x="-1174929" y="0"/>
            <a:chExt cx="19429308" cy="1574836"/>
          </a:xfrm>
        </p:grpSpPr>
        <p:sp>
          <p:nvSpPr>
            <p:cNvPr id="1025" name="Google Shape;1025;g3465da649cc_0_986"/>
            <p:cNvSpPr/>
            <p:nvPr/>
          </p:nvSpPr>
          <p:spPr>
            <a:xfrm>
              <a:off x="0" y="0"/>
              <a:ext cx="18254379" cy="1296268"/>
            </a:xfrm>
            <a:custGeom>
              <a:avLst/>
              <a:gdLst/>
              <a:ahLst/>
              <a:cxnLst/>
              <a:rect l="l" t="t" r="r" b="b"/>
              <a:pathLst>
                <a:path w="18254379" h="1296268" extrusionOk="0">
                  <a:moveTo>
                    <a:pt x="0" y="0"/>
                  </a:moveTo>
                  <a:lnTo>
                    <a:pt x="18254379" y="0"/>
                  </a:lnTo>
                  <a:lnTo>
                    <a:pt x="18254379" y="1296268"/>
                  </a:lnTo>
                  <a:lnTo>
                    <a:pt x="0" y="1296268"/>
                  </a:lnTo>
                  <a:close/>
                </a:path>
              </a:pathLst>
            </a:custGeom>
            <a:solidFill>
              <a:srgbClr val="000000">
                <a:alpha val="0"/>
              </a:srgbClr>
            </a:solidFill>
            <a:ln>
              <a:noFill/>
            </a:ln>
          </p:spPr>
        </p:sp>
        <p:sp>
          <p:nvSpPr>
            <p:cNvPr id="1026" name="Google Shape;1026;g3465da649cc_0_986"/>
            <p:cNvSpPr txBox="1"/>
            <p:nvPr/>
          </p:nvSpPr>
          <p:spPr>
            <a:xfrm>
              <a:off x="-1174929" y="268936"/>
              <a:ext cx="18254400" cy="13059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000000"/>
                </a:buClr>
                <a:buSzPts val="2900"/>
                <a:buFont typeface="Arial"/>
                <a:buNone/>
              </a:pPr>
              <a:r>
                <a:rPr lang="en-US" sz="2900" b="1" i="0" u="none" strike="noStrike" cap="none">
                  <a:solidFill>
                    <a:srgbClr val="0050AE"/>
                  </a:solidFill>
                  <a:latin typeface="Inter"/>
                  <a:ea typeface="Inter"/>
                  <a:cs typeface="Inter"/>
                  <a:sym typeface="Inter"/>
                </a:rPr>
                <a:t>Tailored systems are designed to meet businesses' needs</a:t>
              </a:r>
              <a:endParaRPr sz="1200" b="0" i="0" u="none" strike="noStrike" cap="none">
                <a:solidFill>
                  <a:srgbClr val="0050AE"/>
                </a:solidFill>
                <a:latin typeface="Arial"/>
                <a:ea typeface="Arial"/>
                <a:cs typeface="Arial"/>
                <a:sym typeface="Arial"/>
              </a:endParaRPr>
            </a:p>
          </p:txBody>
        </p:sp>
      </p:grpSp>
      <p:grpSp>
        <p:nvGrpSpPr>
          <p:cNvPr id="1027" name="Google Shape;1027;g3465da649cc_0_986"/>
          <p:cNvGrpSpPr/>
          <p:nvPr/>
        </p:nvGrpSpPr>
        <p:grpSpPr>
          <a:xfrm>
            <a:off x="8709476" y="7275026"/>
            <a:ext cx="1581940" cy="383619"/>
            <a:chOff x="0" y="-104775"/>
            <a:chExt cx="1854343" cy="575400"/>
          </a:xfrm>
        </p:grpSpPr>
        <p:sp>
          <p:nvSpPr>
            <p:cNvPr id="1028" name="Google Shape;1028;g3465da649cc_0_986"/>
            <p:cNvSpPr/>
            <p:nvPr/>
          </p:nvSpPr>
          <p:spPr>
            <a:xfrm>
              <a:off x="0" y="0"/>
              <a:ext cx="1854343" cy="470535"/>
            </a:xfrm>
            <a:custGeom>
              <a:avLst/>
              <a:gdLst/>
              <a:ahLst/>
              <a:cxnLst/>
              <a:rect l="l" t="t" r="r" b="b"/>
              <a:pathLst>
                <a:path w="1854343" h="470535" extrusionOk="0">
                  <a:moveTo>
                    <a:pt x="0" y="0"/>
                  </a:moveTo>
                  <a:lnTo>
                    <a:pt x="1854343" y="0"/>
                  </a:lnTo>
                  <a:lnTo>
                    <a:pt x="1854343" y="470535"/>
                  </a:lnTo>
                  <a:lnTo>
                    <a:pt x="0" y="470535"/>
                  </a:lnTo>
                  <a:close/>
                </a:path>
              </a:pathLst>
            </a:custGeom>
            <a:solidFill>
              <a:srgbClr val="000000">
                <a:alpha val="0"/>
              </a:srgbClr>
            </a:solidFill>
            <a:ln>
              <a:noFill/>
            </a:ln>
          </p:spPr>
        </p:sp>
        <p:sp>
          <p:nvSpPr>
            <p:cNvPr id="1029" name="Google Shape;1029;g3465da649cc_0_986"/>
            <p:cNvSpPr txBox="1"/>
            <p:nvPr/>
          </p:nvSpPr>
          <p:spPr>
            <a:xfrm>
              <a:off x="0" y="-104775"/>
              <a:ext cx="1854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0" i="0" u="none" strike="noStrike" cap="none">
                  <a:solidFill>
                    <a:srgbClr val="3D3D3D"/>
                  </a:solidFill>
                  <a:latin typeface="Inter"/>
                  <a:ea typeface="Inter"/>
                  <a:cs typeface="Inter"/>
                  <a:sym typeface="Inter"/>
                </a:rPr>
                <a:t>based system</a:t>
              </a:r>
              <a:endParaRPr sz="1200" b="0" i="0" u="none" strike="noStrike" cap="none">
                <a:solidFill>
                  <a:srgbClr val="000000"/>
                </a:solidFill>
                <a:latin typeface="Arial"/>
                <a:ea typeface="Arial"/>
                <a:cs typeface="Arial"/>
                <a:sym typeface="Arial"/>
              </a:endParaRPr>
            </a:p>
          </p:txBody>
        </p:sp>
      </p:grpSp>
      <p:grpSp>
        <p:nvGrpSpPr>
          <p:cNvPr id="1030" name="Google Shape;1030;g3465da649cc_0_986"/>
          <p:cNvGrpSpPr/>
          <p:nvPr/>
        </p:nvGrpSpPr>
        <p:grpSpPr>
          <a:xfrm>
            <a:off x="4369773" y="7275025"/>
            <a:ext cx="1487676" cy="383619"/>
            <a:chOff x="0" y="-104791"/>
            <a:chExt cx="2231403" cy="575400"/>
          </a:xfrm>
        </p:grpSpPr>
        <p:sp>
          <p:nvSpPr>
            <p:cNvPr id="1031" name="Google Shape;1031;g3465da649cc_0_986"/>
            <p:cNvSpPr/>
            <p:nvPr/>
          </p:nvSpPr>
          <p:spPr>
            <a:xfrm>
              <a:off x="0" y="0"/>
              <a:ext cx="1854343" cy="470535"/>
            </a:xfrm>
            <a:custGeom>
              <a:avLst/>
              <a:gdLst/>
              <a:ahLst/>
              <a:cxnLst/>
              <a:rect l="l" t="t" r="r" b="b"/>
              <a:pathLst>
                <a:path w="1854343" h="470535" extrusionOk="0">
                  <a:moveTo>
                    <a:pt x="0" y="0"/>
                  </a:moveTo>
                  <a:lnTo>
                    <a:pt x="1854343" y="0"/>
                  </a:lnTo>
                  <a:lnTo>
                    <a:pt x="1854343" y="470535"/>
                  </a:lnTo>
                  <a:lnTo>
                    <a:pt x="0" y="470535"/>
                  </a:lnTo>
                  <a:close/>
                </a:path>
              </a:pathLst>
            </a:custGeom>
            <a:solidFill>
              <a:srgbClr val="000000">
                <a:alpha val="0"/>
              </a:srgbClr>
            </a:solidFill>
            <a:ln>
              <a:noFill/>
            </a:ln>
          </p:spPr>
        </p:sp>
        <p:sp>
          <p:nvSpPr>
            <p:cNvPr id="1032" name="Google Shape;1032;g3465da649cc_0_986"/>
            <p:cNvSpPr txBox="1"/>
            <p:nvPr/>
          </p:nvSpPr>
          <p:spPr>
            <a:xfrm>
              <a:off x="3" y="-104791"/>
              <a:ext cx="22314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0" i="0" u="none" strike="noStrike" cap="none">
                  <a:solidFill>
                    <a:srgbClr val="3D3D3D"/>
                  </a:solidFill>
                  <a:latin typeface="Inter"/>
                  <a:ea typeface="Inter"/>
                  <a:cs typeface="Inter"/>
                  <a:sym typeface="Inter"/>
                </a:rPr>
                <a:t>based system</a:t>
              </a:r>
              <a:endParaRPr sz="1200" b="0" i="0" u="none" strike="noStrike" cap="none">
                <a:solidFill>
                  <a:srgbClr val="000000"/>
                </a:solidFill>
                <a:latin typeface="Arial"/>
                <a:ea typeface="Arial"/>
                <a:cs typeface="Arial"/>
                <a:sym typeface="Arial"/>
              </a:endParaRPr>
            </a:p>
          </p:txBody>
        </p:sp>
      </p:grpSp>
      <p:grpSp>
        <p:nvGrpSpPr>
          <p:cNvPr id="1033" name="Google Shape;1033;g3465da649cc_0_986"/>
          <p:cNvGrpSpPr/>
          <p:nvPr/>
        </p:nvGrpSpPr>
        <p:grpSpPr>
          <a:xfrm>
            <a:off x="12563407" y="7275035"/>
            <a:ext cx="2778339" cy="383619"/>
            <a:chOff x="0" y="-104775"/>
            <a:chExt cx="4167300" cy="575400"/>
          </a:xfrm>
        </p:grpSpPr>
        <p:sp>
          <p:nvSpPr>
            <p:cNvPr id="1034" name="Google Shape;1034;g3465da649cc_0_986"/>
            <p:cNvSpPr/>
            <p:nvPr/>
          </p:nvSpPr>
          <p:spPr>
            <a:xfrm>
              <a:off x="0" y="0"/>
              <a:ext cx="4167289" cy="470535"/>
            </a:xfrm>
            <a:custGeom>
              <a:avLst/>
              <a:gdLst/>
              <a:ahLst/>
              <a:cxnLst/>
              <a:rect l="l" t="t" r="r" b="b"/>
              <a:pathLst>
                <a:path w="4167289" h="470535" extrusionOk="0">
                  <a:moveTo>
                    <a:pt x="0" y="0"/>
                  </a:moveTo>
                  <a:lnTo>
                    <a:pt x="4167289" y="0"/>
                  </a:lnTo>
                  <a:lnTo>
                    <a:pt x="4167289" y="470535"/>
                  </a:lnTo>
                  <a:lnTo>
                    <a:pt x="0" y="470535"/>
                  </a:lnTo>
                  <a:close/>
                </a:path>
              </a:pathLst>
            </a:custGeom>
            <a:solidFill>
              <a:srgbClr val="000000">
                <a:alpha val="0"/>
              </a:srgbClr>
            </a:solidFill>
            <a:ln>
              <a:noFill/>
            </a:ln>
          </p:spPr>
        </p:sp>
        <p:sp>
          <p:nvSpPr>
            <p:cNvPr id="1035" name="Google Shape;1035;g3465da649cc_0_986"/>
            <p:cNvSpPr txBox="1"/>
            <p:nvPr/>
          </p:nvSpPr>
          <p:spPr>
            <a:xfrm>
              <a:off x="0" y="-104775"/>
              <a:ext cx="4167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0" i="0" u="none" strike="noStrike" cap="none">
                  <a:solidFill>
                    <a:srgbClr val="3D3D3D"/>
                  </a:solidFill>
                  <a:latin typeface="Inter"/>
                  <a:ea typeface="Inter"/>
                  <a:cs typeface="Inter"/>
                  <a:sym typeface="Inter"/>
                </a:rPr>
                <a:t>built completely from scratch</a:t>
              </a:r>
              <a:endParaRPr sz="1200" b="0" i="0" u="none" strike="noStrike" cap="none">
                <a:solidFill>
                  <a:srgbClr val="000000"/>
                </a:solidFill>
                <a:latin typeface="Arial"/>
                <a:ea typeface="Arial"/>
                <a:cs typeface="Arial"/>
                <a:sym typeface="Arial"/>
              </a:endParaRPr>
            </a:p>
          </p:txBody>
        </p:sp>
      </p:grpSp>
      <p:grpSp>
        <p:nvGrpSpPr>
          <p:cNvPr id="1036" name="Google Shape;1036;g3465da649cc_0_986"/>
          <p:cNvGrpSpPr/>
          <p:nvPr/>
        </p:nvGrpSpPr>
        <p:grpSpPr>
          <a:xfrm>
            <a:off x="7558353" y="2691560"/>
            <a:ext cx="1085494" cy="1123656"/>
            <a:chOff x="0" y="-28575"/>
            <a:chExt cx="812800" cy="841375"/>
          </a:xfrm>
        </p:grpSpPr>
        <p:sp>
          <p:nvSpPr>
            <p:cNvPr id="1037" name="Google Shape;1037;g3465da649cc_0_98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8" name="Google Shape;1038;g3465da649cc_0_986"/>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039" name="Google Shape;1039;g3465da649cc_0_986"/>
          <p:cNvSpPr/>
          <p:nvPr/>
        </p:nvSpPr>
        <p:spPr>
          <a:xfrm>
            <a:off x="7773559" y="2876288"/>
            <a:ext cx="655894" cy="677926"/>
          </a:xfrm>
          <a:custGeom>
            <a:avLst/>
            <a:gdLst/>
            <a:ahLst/>
            <a:cxnLst/>
            <a:rect l="l" t="t" r="r" b="b"/>
            <a:pathLst>
              <a:path w="736959" h="761715" extrusionOk="0">
                <a:moveTo>
                  <a:pt x="0" y="0"/>
                </a:moveTo>
                <a:lnTo>
                  <a:pt x="736960" y="0"/>
                </a:lnTo>
                <a:lnTo>
                  <a:pt x="736960" y="761715"/>
                </a:lnTo>
                <a:lnTo>
                  <a:pt x="0" y="761715"/>
                </a:lnTo>
                <a:lnTo>
                  <a:pt x="0" y="0"/>
                </a:lnTo>
                <a:close/>
              </a:path>
            </a:pathLst>
          </a:custGeom>
          <a:blipFill rotWithShape="1">
            <a:blip r:embed="rId10">
              <a:alphaModFix/>
            </a:blip>
            <a:stretch>
              <a:fillRect/>
            </a:stretch>
          </a:blipFill>
          <a:ln>
            <a:noFill/>
          </a:ln>
        </p:spPr>
      </p:sp>
      <p:sp>
        <p:nvSpPr>
          <p:cNvPr id="1040" name="Google Shape;1040;g3465da649cc_0_986"/>
          <p:cNvSpPr/>
          <p:nvPr/>
        </p:nvSpPr>
        <p:spPr>
          <a:xfrm>
            <a:off x="12563407" y="2876288"/>
            <a:ext cx="836946" cy="677926"/>
          </a:xfrm>
          <a:custGeom>
            <a:avLst/>
            <a:gdLst/>
            <a:ahLst/>
            <a:cxnLst/>
            <a:rect l="l" t="t" r="r" b="b"/>
            <a:pathLst>
              <a:path w="940389" h="761715" extrusionOk="0">
                <a:moveTo>
                  <a:pt x="0" y="0"/>
                </a:moveTo>
                <a:lnTo>
                  <a:pt x="940390" y="0"/>
                </a:lnTo>
                <a:lnTo>
                  <a:pt x="940390" y="761715"/>
                </a:lnTo>
                <a:lnTo>
                  <a:pt x="0" y="761715"/>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sp>
        <p:nvSpPr>
          <p:cNvPr id="1041" name="Google Shape;1041;g3465da649cc_0_986"/>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b="-8"/>
            </a:stretch>
          </a:blipFill>
          <a:ln>
            <a:noFill/>
          </a:ln>
        </p:spPr>
      </p:sp>
      <p:cxnSp>
        <p:nvCxnSpPr>
          <p:cNvPr id="1042" name="Google Shape;1042;g3465da649cc_0_986"/>
          <p:cNvCxnSpPr/>
          <p:nvPr/>
        </p:nvCxnSpPr>
        <p:spPr>
          <a:xfrm>
            <a:off x="1647250" y="8527867"/>
            <a:ext cx="12900" cy="432300"/>
          </a:xfrm>
          <a:prstGeom prst="straightConnector1">
            <a:avLst/>
          </a:prstGeom>
          <a:noFill/>
          <a:ln w="9525" cap="rnd" cmpd="sng">
            <a:solidFill>
              <a:srgbClr val="808080"/>
            </a:solidFill>
            <a:prstDash val="solid"/>
            <a:round/>
            <a:headEnd type="none" w="sm" len="sm"/>
            <a:tailEnd type="none" w="sm" len="sm"/>
          </a:ln>
        </p:spPr>
      </p:cxnSp>
      <p:grpSp>
        <p:nvGrpSpPr>
          <p:cNvPr id="1043" name="Google Shape;1043;g3465da649cc_0_986"/>
          <p:cNvGrpSpPr/>
          <p:nvPr/>
        </p:nvGrpSpPr>
        <p:grpSpPr>
          <a:xfrm>
            <a:off x="872534" y="8351050"/>
            <a:ext cx="846442" cy="699635"/>
            <a:chOff x="0" y="0"/>
            <a:chExt cx="1269600" cy="1049400"/>
          </a:xfrm>
        </p:grpSpPr>
        <p:sp>
          <p:nvSpPr>
            <p:cNvPr id="1044" name="Google Shape;1044;g3465da649cc_0_986"/>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045" name="Google Shape;1045;g3465da649cc_0_986"/>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19968"/>
                </a:lnSpc>
                <a:spcBef>
                  <a:spcPts val="0"/>
                </a:spcBef>
                <a:spcAft>
                  <a:spcPts val="0"/>
                </a:spcAft>
                <a:buClr>
                  <a:srgbClr val="000000"/>
                </a:buClr>
                <a:buSzPts val="2800"/>
                <a:buFont typeface="Arial"/>
                <a:buNone/>
              </a:pPr>
              <a:r>
                <a:rPr lang="en-US" sz="2800" b="0" i="0" u="none" strike="noStrike" cap="none" dirty="0">
                  <a:solidFill>
                    <a:srgbClr val="666666"/>
                  </a:solidFill>
                  <a:latin typeface="Inter"/>
                  <a:ea typeface="Inter"/>
                  <a:cs typeface="Inter"/>
                  <a:sym typeface="Inter"/>
                </a:rPr>
                <a:t>16</a:t>
              </a:r>
              <a:endParaRPr sz="1200" b="0" i="0" u="none" strike="noStrike" cap="none" dirty="0">
                <a:solidFill>
                  <a:srgbClr val="000000"/>
                </a:solidFill>
                <a:latin typeface="Arial"/>
                <a:ea typeface="Arial"/>
                <a:cs typeface="Arial"/>
                <a:sym typeface="Arial"/>
              </a:endParaRPr>
            </a:p>
          </p:txBody>
        </p:sp>
      </p:grpSp>
      <p:grpSp>
        <p:nvGrpSpPr>
          <p:cNvPr id="1046" name="Google Shape;1046;g3465da649cc_0_986"/>
          <p:cNvGrpSpPr/>
          <p:nvPr/>
        </p:nvGrpSpPr>
        <p:grpSpPr>
          <a:xfrm>
            <a:off x="1769555" y="8560966"/>
            <a:ext cx="5353468" cy="296215"/>
            <a:chOff x="0" y="-9525"/>
            <a:chExt cx="8029800" cy="444300"/>
          </a:xfrm>
        </p:grpSpPr>
        <p:sp>
          <p:nvSpPr>
            <p:cNvPr id="1047" name="Google Shape;1047;g3465da649cc_0_986"/>
            <p:cNvSpPr/>
            <p:nvPr/>
          </p:nvSpPr>
          <p:spPr>
            <a:xfrm>
              <a:off x="0" y="0"/>
              <a:ext cx="8029800" cy="434687"/>
            </a:xfrm>
            <a:custGeom>
              <a:avLst/>
              <a:gdLst/>
              <a:ahLst/>
              <a:cxnLst/>
              <a:rect l="l" t="t" r="r" b="b"/>
              <a:pathLst>
                <a:path w="8029800" h="434687" extrusionOk="0">
                  <a:moveTo>
                    <a:pt x="0" y="0"/>
                  </a:moveTo>
                  <a:lnTo>
                    <a:pt x="8029800" y="0"/>
                  </a:lnTo>
                  <a:lnTo>
                    <a:pt x="8029800" y="434687"/>
                  </a:lnTo>
                  <a:lnTo>
                    <a:pt x="0" y="434687"/>
                  </a:lnTo>
                  <a:close/>
                </a:path>
              </a:pathLst>
            </a:custGeom>
            <a:solidFill>
              <a:srgbClr val="000000">
                <a:alpha val="0"/>
              </a:srgbClr>
            </a:solidFill>
            <a:ln>
              <a:noFill/>
            </a:ln>
          </p:spPr>
        </p:sp>
        <p:sp>
          <p:nvSpPr>
            <p:cNvPr id="1048" name="Google Shape;1048;g3465da649cc_0_986"/>
            <p:cNvSpPr txBox="1"/>
            <p:nvPr/>
          </p:nvSpPr>
          <p:spPr>
            <a:xfrm>
              <a:off x="0" y="-9525"/>
              <a:ext cx="8029800" cy="444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300"/>
                <a:buFont typeface="Arial"/>
                <a:buNone/>
              </a:pPr>
              <a:r>
                <a:rPr lang="en-US" sz="1300" b="0" i="0" u="none" strike="noStrike" cap="none" dirty="0">
                  <a:solidFill>
                    <a:srgbClr val="808080"/>
                  </a:solidFill>
                  <a:latin typeface="Inter"/>
                  <a:ea typeface="Inter"/>
                  <a:cs typeface="Inter"/>
                  <a:sym typeface="Inter"/>
                </a:rPr>
                <a:t>RETAIL DX Profile - Software Development For Retail</a:t>
              </a:r>
              <a:endParaRPr sz="1200" b="0" i="0" u="none" strike="noStrike" cap="none" dirty="0">
                <a:solidFill>
                  <a:srgbClr val="000000"/>
                </a:solidFill>
                <a:latin typeface="Arial"/>
                <a:ea typeface="Arial"/>
                <a:cs typeface="Arial"/>
                <a:sym typeface="Arial"/>
              </a:endParaRPr>
            </a:p>
          </p:txBody>
        </p:sp>
      </p:grpSp>
      <p:pic>
        <p:nvPicPr>
          <p:cNvPr id="1049" name="Google Shape;1049;g3465da649cc_0_986" title="Logo_VTI (2).png"/>
          <p:cNvPicPr preferRelativeResize="0"/>
          <p:nvPr/>
        </p:nvPicPr>
        <p:blipFill rotWithShape="1">
          <a:blip r:embed="rId13" cstate="email">
            <a:alphaModFix/>
            <a:extLst>
              <a:ext uri="{28A0092B-C50C-407E-A947-70E740481C1C}">
                <a14:useLocalDpi xmlns:a14="http://schemas.microsoft.com/office/drawing/2010/main"/>
              </a:ext>
            </a:extLst>
          </a:blip>
          <a:srcRect/>
          <a:stretch/>
        </p:blipFill>
        <p:spPr>
          <a:xfrm>
            <a:off x="14701375" y="281474"/>
            <a:ext cx="1205820" cy="6446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cxnSp>
        <p:nvCxnSpPr>
          <p:cNvPr id="1058" name="Google Shape;1058;g3465da649cc_0_1054"/>
          <p:cNvCxnSpPr/>
          <p:nvPr/>
        </p:nvCxnSpPr>
        <p:spPr>
          <a:xfrm>
            <a:off x="906402" y="445572"/>
            <a:ext cx="0" cy="371400"/>
          </a:xfrm>
          <a:prstGeom prst="straightConnector1">
            <a:avLst/>
          </a:prstGeom>
          <a:noFill/>
          <a:ln w="47625" cap="rnd" cmpd="sng">
            <a:solidFill>
              <a:srgbClr val="0050AE"/>
            </a:solidFill>
            <a:prstDash val="solid"/>
            <a:round/>
            <a:headEnd type="none" w="sm" len="sm"/>
            <a:tailEnd type="none" w="sm" len="sm"/>
          </a:ln>
        </p:spPr>
      </p:cxnSp>
      <p:grpSp>
        <p:nvGrpSpPr>
          <p:cNvPr id="1059" name="Google Shape;1059;g3465da649cc_0_1054"/>
          <p:cNvGrpSpPr/>
          <p:nvPr/>
        </p:nvGrpSpPr>
        <p:grpSpPr>
          <a:xfrm>
            <a:off x="1173725" y="394023"/>
            <a:ext cx="12886644" cy="474575"/>
            <a:chOff x="-12" y="0"/>
            <a:chExt cx="19329000" cy="711827"/>
          </a:xfrm>
        </p:grpSpPr>
        <p:sp>
          <p:nvSpPr>
            <p:cNvPr id="1060" name="Google Shape;1060;g3465da649cc_0_1054"/>
            <p:cNvSpPr/>
            <p:nvPr/>
          </p:nvSpPr>
          <p:spPr>
            <a:xfrm>
              <a:off x="0" y="0"/>
              <a:ext cx="13771184" cy="711777"/>
            </a:xfrm>
            <a:custGeom>
              <a:avLst/>
              <a:gdLst/>
              <a:ahLst/>
              <a:cxnLst/>
              <a:rect l="l" t="t" r="r" b="b"/>
              <a:pathLst>
                <a:path w="13771184" h="711777" extrusionOk="0">
                  <a:moveTo>
                    <a:pt x="0" y="0"/>
                  </a:moveTo>
                  <a:lnTo>
                    <a:pt x="13771184" y="0"/>
                  </a:lnTo>
                  <a:lnTo>
                    <a:pt x="13771184" y="711777"/>
                  </a:lnTo>
                  <a:lnTo>
                    <a:pt x="0" y="711777"/>
                  </a:lnTo>
                  <a:close/>
                </a:path>
              </a:pathLst>
            </a:custGeom>
            <a:solidFill>
              <a:srgbClr val="000000">
                <a:alpha val="0"/>
              </a:srgbClr>
            </a:solidFill>
            <a:ln>
              <a:noFill/>
            </a:ln>
          </p:spPr>
        </p:sp>
        <p:sp>
          <p:nvSpPr>
            <p:cNvPr id="1061" name="Google Shape;1061;g3465da649cc_0_1054"/>
            <p:cNvSpPr txBox="1"/>
            <p:nvPr/>
          </p:nvSpPr>
          <p:spPr>
            <a:xfrm>
              <a:off x="-12" y="9527"/>
              <a:ext cx="19329000" cy="702300"/>
            </a:xfrm>
            <a:prstGeom prst="rect">
              <a:avLst/>
            </a:prstGeom>
            <a:noFill/>
            <a:ln>
              <a:noFill/>
            </a:ln>
          </p:spPr>
          <p:txBody>
            <a:bodyPr spcFirstLastPara="1" wrap="square" lIns="0" tIns="0" rIns="0" bIns="0" anchor="t" anchorCtr="0">
              <a:noAutofit/>
            </a:bodyPr>
            <a:lstStyle/>
            <a:p>
              <a:pPr marL="0" marR="0" lvl="0" indent="0" algn="l" rtl="0">
                <a:lnSpc>
                  <a:spcPct val="120008"/>
                </a:lnSpc>
                <a:spcBef>
                  <a:spcPts val="0"/>
                </a:spcBef>
                <a:spcAft>
                  <a:spcPts val="0"/>
                </a:spcAft>
                <a:buClr>
                  <a:srgbClr val="000000"/>
                </a:buClr>
                <a:buSzPts val="3000"/>
                <a:buFont typeface="Arial"/>
                <a:buNone/>
              </a:pPr>
              <a:r>
                <a:rPr lang="en-US" sz="3000" b="1" i="0" u="none" strike="noStrike" cap="none">
                  <a:solidFill>
                    <a:srgbClr val="0050AE"/>
                  </a:solidFill>
                  <a:latin typeface="Inter"/>
                  <a:ea typeface="Inter"/>
                  <a:cs typeface="Inter"/>
                  <a:sym typeface="Inter"/>
                </a:rPr>
                <a:t>SOFTWARE SOLUTION FOR SEAMLESS CUSTOMER EXPERIENCE</a:t>
              </a:r>
              <a:endParaRPr sz="3000" b="0" i="0" u="none" strike="noStrike" cap="none">
                <a:solidFill>
                  <a:srgbClr val="000000"/>
                </a:solidFill>
                <a:latin typeface="Arial"/>
                <a:ea typeface="Arial"/>
                <a:cs typeface="Arial"/>
                <a:sym typeface="Arial"/>
              </a:endParaRPr>
            </a:p>
          </p:txBody>
        </p:sp>
      </p:grpSp>
      <p:grpSp>
        <p:nvGrpSpPr>
          <p:cNvPr id="1062" name="Google Shape;1062;g3465da649cc_0_1054"/>
          <p:cNvGrpSpPr/>
          <p:nvPr/>
        </p:nvGrpSpPr>
        <p:grpSpPr>
          <a:xfrm>
            <a:off x="516690" y="4542894"/>
            <a:ext cx="774761" cy="774761"/>
            <a:chOff x="0" y="0"/>
            <a:chExt cx="812800" cy="812800"/>
          </a:xfrm>
        </p:grpSpPr>
        <p:sp>
          <p:nvSpPr>
            <p:cNvPr id="1063" name="Google Shape;1063;g3465da649cc_0_105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cmpd="sng">
              <a:solidFill>
                <a:srgbClr val="45D0FC"/>
              </a:solidFill>
              <a:prstDash val="solid"/>
              <a:miter lim="8000"/>
              <a:headEnd type="none" w="sm" len="sm"/>
              <a:tailEnd type="none" w="sm" len="sm"/>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4" name="Google Shape;1064;g3465da649cc_0_1054"/>
            <p:cNvSpPr txBox="1"/>
            <p:nvPr/>
          </p:nvSpPr>
          <p:spPr>
            <a:xfrm>
              <a:off x="76200" y="38100"/>
              <a:ext cx="660300" cy="698400"/>
            </a:xfrm>
            <a:prstGeom prst="rect">
              <a:avLst/>
            </a:prstGeom>
            <a:noFill/>
            <a:ln>
              <a:noFill/>
            </a:ln>
          </p:spPr>
          <p:txBody>
            <a:bodyPr spcFirstLastPara="1" wrap="square" lIns="45150" tIns="45150" rIns="45150" bIns="45150" anchor="ctr" anchorCtr="0">
              <a:noAutofit/>
            </a:bodyPr>
            <a:lstStyle/>
            <a:p>
              <a:pPr marL="0" marR="0" lvl="0" indent="0" algn="ctr" rtl="0">
                <a:lnSpc>
                  <a:spcPct val="147722"/>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065" name="Google Shape;1065;g3465da649cc_0_1054"/>
          <p:cNvSpPr/>
          <p:nvPr/>
        </p:nvSpPr>
        <p:spPr>
          <a:xfrm>
            <a:off x="5815863" y="1414534"/>
            <a:ext cx="4663440" cy="2828674"/>
          </a:xfrm>
          <a:custGeom>
            <a:avLst/>
            <a:gdLst/>
            <a:ahLst/>
            <a:cxnLst/>
            <a:rect l="l" t="t" r="r" b="b"/>
            <a:pathLst>
              <a:path w="812800" h="493015" extrusionOk="0">
                <a:moveTo>
                  <a:pt x="14757" y="0"/>
                </a:moveTo>
                <a:lnTo>
                  <a:pt x="798043" y="0"/>
                </a:lnTo>
                <a:cubicBezTo>
                  <a:pt x="806193" y="0"/>
                  <a:pt x="812800" y="6607"/>
                  <a:pt x="812800" y="14757"/>
                </a:cubicBezTo>
                <a:lnTo>
                  <a:pt x="812800" y="478258"/>
                </a:lnTo>
                <a:cubicBezTo>
                  <a:pt x="812800" y="486408"/>
                  <a:pt x="806193" y="493015"/>
                  <a:pt x="798043" y="493015"/>
                </a:cubicBezTo>
                <a:lnTo>
                  <a:pt x="14757" y="493015"/>
                </a:lnTo>
                <a:cubicBezTo>
                  <a:pt x="10843" y="493015"/>
                  <a:pt x="7090" y="491460"/>
                  <a:pt x="4322" y="488693"/>
                </a:cubicBezTo>
                <a:cubicBezTo>
                  <a:pt x="1555" y="485925"/>
                  <a:pt x="0" y="482172"/>
                  <a:pt x="0" y="478258"/>
                </a:cubicBezTo>
                <a:lnTo>
                  <a:pt x="0" y="14757"/>
                </a:lnTo>
                <a:cubicBezTo>
                  <a:pt x="0" y="6607"/>
                  <a:pt x="6607" y="0"/>
                  <a:pt x="14757" y="0"/>
                </a:cubicBez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6" name="Google Shape;1066;g3465da649cc_0_1054"/>
          <p:cNvSpPr/>
          <p:nvPr/>
        </p:nvSpPr>
        <p:spPr>
          <a:xfrm>
            <a:off x="607635" y="1414534"/>
            <a:ext cx="4663440" cy="2828674"/>
          </a:xfrm>
          <a:custGeom>
            <a:avLst/>
            <a:gdLst/>
            <a:ahLst/>
            <a:cxnLst/>
            <a:rect l="l" t="t" r="r" b="b"/>
            <a:pathLst>
              <a:path w="812800" h="493015" extrusionOk="0">
                <a:moveTo>
                  <a:pt x="14757" y="0"/>
                </a:moveTo>
                <a:lnTo>
                  <a:pt x="798043" y="0"/>
                </a:lnTo>
                <a:cubicBezTo>
                  <a:pt x="806193" y="0"/>
                  <a:pt x="812800" y="6607"/>
                  <a:pt x="812800" y="14757"/>
                </a:cubicBezTo>
                <a:lnTo>
                  <a:pt x="812800" y="478258"/>
                </a:lnTo>
                <a:cubicBezTo>
                  <a:pt x="812800" y="486408"/>
                  <a:pt x="806193" y="493015"/>
                  <a:pt x="798043" y="493015"/>
                </a:cubicBezTo>
                <a:lnTo>
                  <a:pt x="14757" y="493015"/>
                </a:lnTo>
                <a:cubicBezTo>
                  <a:pt x="10843" y="493015"/>
                  <a:pt x="7090" y="491460"/>
                  <a:pt x="4322" y="488693"/>
                </a:cubicBezTo>
                <a:cubicBezTo>
                  <a:pt x="1555" y="485925"/>
                  <a:pt x="0" y="482172"/>
                  <a:pt x="0" y="478258"/>
                </a:cubicBezTo>
                <a:lnTo>
                  <a:pt x="0" y="14757"/>
                </a:lnTo>
                <a:cubicBezTo>
                  <a:pt x="0" y="6607"/>
                  <a:pt x="6607" y="0"/>
                  <a:pt x="14757" y="0"/>
                </a:cubicBez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67" name="Google Shape;1067;g3465da649cc_0_1054"/>
          <p:cNvGrpSpPr/>
          <p:nvPr/>
        </p:nvGrpSpPr>
        <p:grpSpPr>
          <a:xfrm>
            <a:off x="1408884" y="4656591"/>
            <a:ext cx="3862393" cy="383619"/>
            <a:chOff x="0" y="-104775"/>
            <a:chExt cx="5793300" cy="575400"/>
          </a:xfrm>
        </p:grpSpPr>
        <p:sp>
          <p:nvSpPr>
            <p:cNvPr id="1068" name="Google Shape;1068;g3465da649cc_0_1054"/>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069" name="Google Shape;1069;g3465da649cc_0_1054"/>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DIGITAL SIGNAGE</a:t>
              </a:r>
              <a:endParaRPr sz="1200" b="0" i="0" u="none" strike="noStrike" cap="none">
                <a:solidFill>
                  <a:srgbClr val="000000"/>
                </a:solidFill>
                <a:latin typeface="Arial"/>
                <a:ea typeface="Arial"/>
                <a:cs typeface="Arial"/>
                <a:sym typeface="Arial"/>
              </a:endParaRPr>
            </a:p>
          </p:txBody>
        </p:sp>
      </p:grpSp>
      <p:grpSp>
        <p:nvGrpSpPr>
          <p:cNvPr id="1070" name="Google Shape;1070;g3465da649cc_0_1054"/>
          <p:cNvGrpSpPr/>
          <p:nvPr/>
        </p:nvGrpSpPr>
        <p:grpSpPr>
          <a:xfrm>
            <a:off x="1408884" y="5297979"/>
            <a:ext cx="3862393" cy="1037652"/>
            <a:chOff x="0" y="-95250"/>
            <a:chExt cx="5793300" cy="1556400"/>
          </a:xfrm>
        </p:grpSpPr>
        <p:sp>
          <p:nvSpPr>
            <p:cNvPr id="1071" name="Google Shape;1071;g3465da649cc_0_1054"/>
            <p:cNvSpPr/>
            <p:nvPr/>
          </p:nvSpPr>
          <p:spPr>
            <a:xfrm>
              <a:off x="0" y="0"/>
              <a:ext cx="5793286" cy="1461135"/>
            </a:xfrm>
            <a:custGeom>
              <a:avLst/>
              <a:gdLst/>
              <a:ahLst/>
              <a:cxnLst/>
              <a:rect l="l" t="t" r="r" b="b"/>
              <a:pathLst>
                <a:path w="5793286" h="1461135" extrusionOk="0">
                  <a:moveTo>
                    <a:pt x="0" y="0"/>
                  </a:moveTo>
                  <a:lnTo>
                    <a:pt x="5793286" y="0"/>
                  </a:lnTo>
                  <a:lnTo>
                    <a:pt x="5793286" y="1461135"/>
                  </a:lnTo>
                  <a:lnTo>
                    <a:pt x="0" y="1461135"/>
                  </a:lnTo>
                  <a:close/>
                </a:path>
              </a:pathLst>
            </a:custGeom>
            <a:solidFill>
              <a:srgbClr val="000000">
                <a:alpha val="0"/>
              </a:srgbClr>
            </a:solidFill>
            <a:ln>
              <a:noFill/>
            </a:ln>
          </p:spPr>
        </p:sp>
        <p:sp>
          <p:nvSpPr>
            <p:cNvPr id="1072" name="Google Shape;1072;g3465da649cc_0_1054"/>
            <p:cNvSpPr txBox="1"/>
            <p:nvPr/>
          </p:nvSpPr>
          <p:spPr>
            <a:xfrm>
              <a:off x="0" y="-95250"/>
              <a:ext cx="5793300" cy="15564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Personalized advertising to engage customers in-store, leveraging AI technology</a:t>
              </a:r>
              <a:endParaRPr sz="1200" b="0" i="0" u="none" strike="noStrike" cap="none">
                <a:solidFill>
                  <a:srgbClr val="000000"/>
                </a:solidFill>
                <a:latin typeface="Arial"/>
                <a:ea typeface="Arial"/>
                <a:cs typeface="Arial"/>
                <a:sym typeface="Arial"/>
              </a:endParaRPr>
            </a:p>
          </p:txBody>
        </p:sp>
      </p:grpSp>
      <p:grpSp>
        <p:nvGrpSpPr>
          <p:cNvPr id="1073" name="Google Shape;1073;g3465da649cc_0_1054"/>
          <p:cNvGrpSpPr/>
          <p:nvPr/>
        </p:nvGrpSpPr>
        <p:grpSpPr>
          <a:xfrm>
            <a:off x="6635520" y="4491491"/>
            <a:ext cx="3024351" cy="713836"/>
            <a:chOff x="0" y="-104775"/>
            <a:chExt cx="4536300" cy="1070700"/>
          </a:xfrm>
        </p:grpSpPr>
        <p:sp>
          <p:nvSpPr>
            <p:cNvPr id="1074" name="Google Shape;1074;g3465da649cc_0_1054"/>
            <p:cNvSpPr/>
            <p:nvPr/>
          </p:nvSpPr>
          <p:spPr>
            <a:xfrm>
              <a:off x="0" y="0"/>
              <a:ext cx="4536190" cy="965835"/>
            </a:xfrm>
            <a:custGeom>
              <a:avLst/>
              <a:gdLst/>
              <a:ahLst/>
              <a:cxnLst/>
              <a:rect l="l" t="t" r="r" b="b"/>
              <a:pathLst>
                <a:path w="4536190" h="965835" extrusionOk="0">
                  <a:moveTo>
                    <a:pt x="0" y="0"/>
                  </a:moveTo>
                  <a:lnTo>
                    <a:pt x="4536190" y="0"/>
                  </a:lnTo>
                  <a:lnTo>
                    <a:pt x="4536190" y="965835"/>
                  </a:lnTo>
                  <a:lnTo>
                    <a:pt x="0" y="965835"/>
                  </a:lnTo>
                  <a:close/>
                </a:path>
              </a:pathLst>
            </a:custGeom>
            <a:solidFill>
              <a:srgbClr val="000000">
                <a:alpha val="0"/>
              </a:srgbClr>
            </a:solidFill>
            <a:ln>
              <a:noFill/>
            </a:ln>
          </p:spPr>
        </p:sp>
        <p:sp>
          <p:nvSpPr>
            <p:cNvPr id="1075" name="Google Shape;1075;g3465da649cc_0_1054"/>
            <p:cNvSpPr txBox="1"/>
            <p:nvPr/>
          </p:nvSpPr>
          <p:spPr>
            <a:xfrm>
              <a:off x="0" y="-104775"/>
              <a:ext cx="4536300" cy="10707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CUSTOMER LOYALTY APPLICATION DEVELOPMENT</a:t>
              </a:r>
              <a:endParaRPr sz="1200" b="0" i="0" u="none" strike="noStrike" cap="none">
                <a:solidFill>
                  <a:srgbClr val="000000"/>
                </a:solidFill>
                <a:latin typeface="Arial"/>
                <a:ea typeface="Arial"/>
                <a:cs typeface="Arial"/>
                <a:sym typeface="Arial"/>
              </a:endParaRPr>
            </a:p>
          </p:txBody>
        </p:sp>
      </p:grpSp>
      <p:grpSp>
        <p:nvGrpSpPr>
          <p:cNvPr id="1076" name="Google Shape;1076;g3465da649cc_0_1054"/>
          <p:cNvGrpSpPr/>
          <p:nvPr/>
        </p:nvGrpSpPr>
        <p:grpSpPr>
          <a:xfrm>
            <a:off x="6643187" y="5297979"/>
            <a:ext cx="3854793" cy="1656283"/>
            <a:chOff x="0" y="-95250"/>
            <a:chExt cx="5781900" cy="2484300"/>
          </a:xfrm>
        </p:grpSpPr>
        <p:sp>
          <p:nvSpPr>
            <p:cNvPr id="1077" name="Google Shape;1077;g3465da649cc_0_1054"/>
            <p:cNvSpPr/>
            <p:nvPr/>
          </p:nvSpPr>
          <p:spPr>
            <a:xfrm>
              <a:off x="0" y="0"/>
              <a:ext cx="5781785" cy="2388986"/>
            </a:xfrm>
            <a:custGeom>
              <a:avLst/>
              <a:gdLst/>
              <a:ahLst/>
              <a:cxnLst/>
              <a:rect l="l" t="t" r="r" b="b"/>
              <a:pathLst>
                <a:path w="5781785" h="2388986" extrusionOk="0">
                  <a:moveTo>
                    <a:pt x="0" y="0"/>
                  </a:moveTo>
                  <a:lnTo>
                    <a:pt x="5781785" y="0"/>
                  </a:lnTo>
                  <a:lnTo>
                    <a:pt x="5781785" y="2388986"/>
                  </a:lnTo>
                  <a:lnTo>
                    <a:pt x="0" y="2388986"/>
                  </a:lnTo>
                  <a:close/>
                </a:path>
              </a:pathLst>
            </a:custGeom>
            <a:solidFill>
              <a:srgbClr val="000000">
                <a:alpha val="0"/>
              </a:srgbClr>
            </a:solidFill>
            <a:ln>
              <a:noFill/>
            </a:ln>
          </p:spPr>
        </p:sp>
        <p:sp>
          <p:nvSpPr>
            <p:cNvPr id="1078" name="Google Shape;1078;g3465da649cc_0_1054"/>
            <p:cNvSpPr txBox="1"/>
            <p:nvPr/>
          </p:nvSpPr>
          <p:spPr>
            <a:xfrm>
              <a:off x="0" y="-95250"/>
              <a:ext cx="5781900" cy="24843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Develop loyalty applications/systems with</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E-voucher/ Point/ Coupon Management System</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Compensation Management for better customer engagement &amp; loyalty.</a:t>
              </a:r>
              <a:endParaRPr sz="1200" b="0" i="0" u="none" strike="noStrike" cap="none">
                <a:solidFill>
                  <a:srgbClr val="000000"/>
                </a:solidFill>
                <a:latin typeface="Arial"/>
                <a:ea typeface="Arial"/>
                <a:cs typeface="Arial"/>
                <a:sym typeface="Arial"/>
              </a:endParaRPr>
            </a:p>
          </p:txBody>
        </p:sp>
      </p:grpSp>
      <p:sp>
        <p:nvSpPr>
          <p:cNvPr id="1079" name="Google Shape;1079;g3465da649cc_0_1054"/>
          <p:cNvSpPr/>
          <p:nvPr/>
        </p:nvSpPr>
        <p:spPr>
          <a:xfrm>
            <a:off x="11072586" y="1392488"/>
            <a:ext cx="4663440" cy="2828674"/>
          </a:xfrm>
          <a:custGeom>
            <a:avLst/>
            <a:gdLst/>
            <a:ahLst/>
            <a:cxnLst/>
            <a:rect l="l" t="t" r="r" b="b"/>
            <a:pathLst>
              <a:path w="812800" h="493015" extrusionOk="0">
                <a:moveTo>
                  <a:pt x="14757" y="0"/>
                </a:moveTo>
                <a:lnTo>
                  <a:pt x="798043" y="0"/>
                </a:lnTo>
                <a:cubicBezTo>
                  <a:pt x="806193" y="0"/>
                  <a:pt x="812800" y="6607"/>
                  <a:pt x="812800" y="14757"/>
                </a:cubicBezTo>
                <a:lnTo>
                  <a:pt x="812800" y="478258"/>
                </a:lnTo>
                <a:cubicBezTo>
                  <a:pt x="812800" y="486408"/>
                  <a:pt x="806193" y="493015"/>
                  <a:pt x="798043" y="493015"/>
                </a:cubicBezTo>
                <a:lnTo>
                  <a:pt x="14757" y="493015"/>
                </a:lnTo>
                <a:cubicBezTo>
                  <a:pt x="10843" y="493015"/>
                  <a:pt x="7090" y="491460"/>
                  <a:pt x="4322" y="488693"/>
                </a:cubicBezTo>
                <a:cubicBezTo>
                  <a:pt x="1555" y="485925"/>
                  <a:pt x="0" y="482172"/>
                  <a:pt x="0" y="478258"/>
                </a:cubicBezTo>
                <a:lnTo>
                  <a:pt x="0" y="14757"/>
                </a:lnTo>
                <a:cubicBezTo>
                  <a:pt x="0" y="6607"/>
                  <a:pt x="6607" y="0"/>
                  <a:pt x="14757" y="0"/>
                </a:cubicBez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80" name="Google Shape;1080;g3465da649cc_0_1054"/>
          <p:cNvGrpSpPr/>
          <p:nvPr/>
        </p:nvGrpSpPr>
        <p:grpSpPr>
          <a:xfrm>
            <a:off x="11877120" y="4551798"/>
            <a:ext cx="3862393" cy="713836"/>
            <a:chOff x="0" y="-104775"/>
            <a:chExt cx="5793300" cy="1070700"/>
          </a:xfrm>
        </p:grpSpPr>
        <p:sp>
          <p:nvSpPr>
            <p:cNvPr id="1081" name="Google Shape;1081;g3465da649cc_0_1054"/>
            <p:cNvSpPr/>
            <p:nvPr/>
          </p:nvSpPr>
          <p:spPr>
            <a:xfrm>
              <a:off x="0" y="0"/>
              <a:ext cx="5793285" cy="965835"/>
            </a:xfrm>
            <a:custGeom>
              <a:avLst/>
              <a:gdLst/>
              <a:ahLst/>
              <a:cxnLst/>
              <a:rect l="l" t="t" r="r" b="b"/>
              <a:pathLst>
                <a:path w="5793285" h="965835" extrusionOk="0">
                  <a:moveTo>
                    <a:pt x="0" y="0"/>
                  </a:moveTo>
                  <a:lnTo>
                    <a:pt x="5793285" y="0"/>
                  </a:lnTo>
                  <a:lnTo>
                    <a:pt x="5793285" y="965835"/>
                  </a:lnTo>
                  <a:lnTo>
                    <a:pt x="0" y="965835"/>
                  </a:lnTo>
                  <a:close/>
                </a:path>
              </a:pathLst>
            </a:custGeom>
            <a:solidFill>
              <a:srgbClr val="000000">
                <a:alpha val="0"/>
              </a:srgbClr>
            </a:solidFill>
            <a:ln>
              <a:noFill/>
            </a:ln>
          </p:spPr>
        </p:sp>
        <p:sp>
          <p:nvSpPr>
            <p:cNvPr id="1082" name="Google Shape;1082;g3465da649cc_0_1054"/>
            <p:cNvSpPr txBox="1"/>
            <p:nvPr/>
          </p:nvSpPr>
          <p:spPr>
            <a:xfrm>
              <a:off x="0" y="-104775"/>
              <a:ext cx="5793300" cy="10707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OMO - SEAMLESS OMNI-CHANNEL PURCHASING EXPERIENCE</a:t>
              </a:r>
              <a:endParaRPr sz="1200" b="0" i="0" u="none" strike="noStrike" cap="none">
                <a:solidFill>
                  <a:srgbClr val="000000"/>
                </a:solidFill>
                <a:latin typeface="Arial"/>
                <a:ea typeface="Arial"/>
                <a:cs typeface="Arial"/>
                <a:sym typeface="Arial"/>
              </a:endParaRPr>
            </a:p>
          </p:txBody>
        </p:sp>
      </p:grpSp>
      <p:grpSp>
        <p:nvGrpSpPr>
          <p:cNvPr id="1083" name="Google Shape;1083;g3465da649cc_0_1054"/>
          <p:cNvGrpSpPr/>
          <p:nvPr/>
        </p:nvGrpSpPr>
        <p:grpSpPr>
          <a:xfrm>
            <a:off x="11877120" y="5297979"/>
            <a:ext cx="4045002" cy="2621531"/>
            <a:chOff x="0" y="-95250"/>
            <a:chExt cx="6067200" cy="3932100"/>
          </a:xfrm>
        </p:grpSpPr>
        <p:sp>
          <p:nvSpPr>
            <p:cNvPr id="1084" name="Google Shape;1084;g3465da649cc_0_1054"/>
            <p:cNvSpPr/>
            <p:nvPr/>
          </p:nvSpPr>
          <p:spPr>
            <a:xfrm>
              <a:off x="0" y="0"/>
              <a:ext cx="6067068" cy="3836786"/>
            </a:xfrm>
            <a:custGeom>
              <a:avLst/>
              <a:gdLst/>
              <a:ahLst/>
              <a:cxnLst/>
              <a:rect l="l" t="t" r="r" b="b"/>
              <a:pathLst>
                <a:path w="6067068" h="3836786" extrusionOk="0">
                  <a:moveTo>
                    <a:pt x="0" y="0"/>
                  </a:moveTo>
                  <a:lnTo>
                    <a:pt x="6067068" y="0"/>
                  </a:lnTo>
                  <a:lnTo>
                    <a:pt x="6067068" y="3836786"/>
                  </a:lnTo>
                  <a:lnTo>
                    <a:pt x="0" y="3836786"/>
                  </a:lnTo>
                  <a:close/>
                </a:path>
              </a:pathLst>
            </a:custGeom>
            <a:solidFill>
              <a:srgbClr val="000000">
                <a:alpha val="0"/>
              </a:srgbClr>
            </a:solidFill>
            <a:ln>
              <a:noFill/>
            </a:ln>
          </p:spPr>
        </p:sp>
        <p:sp>
          <p:nvSpPr>
            <p:cNvPr id="1085" name="Google Shape;1085;g3465da649cc_0_1054"/>
            <p:cNvSpPr txBox="1"/>
            <p:nvPr/>
          </p:nvSpPr>
          <p:spPr>
            <a:xfrm>
              <a:off x="0" y="-95250"/>
              <a:ext cx="6067200" cy="39321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Enable seamless shopping experiences across online and offline channels, streamlining transactions and ordering for convenience with</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E-commerce Service</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AI-based product recommendation system</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Scan&amp;Go</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Order&amp;Eat</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Online Delivery</a:t>
              </a:r>
              <a:endParaRPr sz="1200" b="0" i="0" u="none" strike="noStrike" cap="none">
                <a:solidFill>
                  <a:srgbClr val="000000"/>
                </a:solidFill>
                <a:latin typeface="Arial"/>
                <a:ea typeface="Arial"/>
                <a:cs typeface="Arial"/>
                <a:sym typeface="Arial"/>
              </a:endParaRPr>
            </a:p>
          </p:txBody>
        </p:sp>
      </p:grpSp>
      <p:sp>
        <p:nvSpPr>
          <p:cNvPr id="1086" name="Google Shape;1086;g3465da649cc_0_1054"/>
          <p:cNvSpPr/>
          <p:nvPr/>
        </p:nvSpPr>
        <p:spPr>
          <a:xfrm>
            <a:off x="687778" y="4628320"/>
            <a:ext cx="433080" cy="604619"/>
          </a:xfrm>
          <a:custGeom>
            <a:avLst/>
            <a:gdLst/>
            <a:ahLst/>
            <a:cxnLst/>
            <a:rect l="l" t="t" r="r" b="b"/>
            <a:pathLst>
              <a:path w="486607" h="679347" extrusionOk="0">
                <a:moveTo>
                  <a:pt x="0" y="0"/>
                </a:moveTo>
                <a:lnTo>
                  <a:pt x="486607" y="0"/>
                </a:lnTo>
                <a:lnTo>
                  <a:pt x="486607" y="679347"/>
                </a:lnTo>
                <a:lnTo>
                  <a:pt x="0" y="679347"/>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grpSp>
        <p:nvGrpSpPr>
          <p:cNvPr id="1087" name="Google Shape;1087;g3465da649cc_0_1054"/>
          <p:cNvGrpSpPr/>
          <p:nvPr/>
        </p:nvGrpSpPr>
        <p:grpSpPr>
          <a:xfrm>
            <a:off x="5724531" y="4542894"/>
            <a:ext cx="774761" cy="774761"/>
            <a:chOff x="0" y="0"/>
            <a:chExt cx="812800" cy="812800"/>
          </a:xfrm>
        </p:grpSpPr>
        <p:sp>
          <p:nvSpPr>
            <p:cNvPr id="1088" name="Google Shape;1088;g3465da649cc_0_105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cmpd="sng">
              <a:solidFill>
                <a:srgbClr val="45D0FC"/>
              </a:solidFill>
              <a:prstDash val="solid"/>
              <a:miter lim="8000"/>
              <a:headEnd type="none" w="sm" len="sm"/>
              <a:tailEnd type="none" w="sm" len="sm"/>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9" name="Google Shape;1089;g3465da649cc_0_1054"/>
            <p:cNvSpPr txBox="1"/>
            <p:nvPr/>
          </p:nvSpPr>
          <p:spPr>
            <a:xfrm>
              <a:off x="76200" y="38100"/>
              <a:ext cx="660300" cy="698400"/>
            </a:xfrm>
            <a:prstGeom prst="rect">
              <a:avLst/>
            </a:prstGeom>
            <a:noFill/>
            <a:ln>
              <a:noFill/>
            </a:ln>
          </p:spPr>
          <p:txBody>
            <a:bodyPr spcFirstLastPara="1" wrap="square" lIns="45150" tIns="45150" rIns="45150" bIns="45150" anchor="ctr" anchorCtr="0">
              <a:noAutofit/>
            </a:bodyPr>
            <a:lstStyle/>
            <a:p>
              <a:pPr marL="0" marR="0" lvl="0" indent="0" algn="ctr" rtl="0">
                <a:lnSpc>
                  <a:spcPct val="147722"/>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090" name="Google Shape;1090;g3465da649cc_0_1054"/>
          <p:cNvGrpSpPr/>
          <p:nvPr/>
        </p:nvGrpSpPr>
        <p:grpSpPr>
          <a:xfrm>
            <a:off x="5768624" y="4649549"/>
            <a:ext cx="635812" cy="546679"/>
            <a:chOff x="0" y="0"/>
            <a:chExt cx="953671" cy="819978"/>
          </a:xfrm>
        </p:grpSpPr>
        <p:sp>
          <p:nvSpPr>
            <p:cNvPr id="1091" name="Google Shape;1091;g3465da649cc_0_1054"/>
            <p:cNvSpPr/>
            <p:nvPr/>
          </p:nvSpPr>
          <p:spPr>
            <a:xfrm rot="4522386">
              <a:off x="670092" y="28116"/>
              <a:ext cx="255463" cy="255463"/>
            </a:xfrm>
            <a:custGeom>
              <a:avLst/>
              <a:gdLst/>
              <a:ahLst/>
              <a:cxnLst/>
              <a:rect l="l" t="t" r="r" b="b"/>
              <a:pathLst>
                <a:path w="255487" h="255487" extrusionOk="0">
                  <a:moveTo>
                    <a:pt x="0" y="0"/>
                  </a:moveTo>
                  <a:lnTo>
                    <a:pt x="255488" y="0"/>
                  </a:lnTo>
                  <a:lnTo>
                    <a:pt x="255488" y="255487"/>
                  </a:lnTo>
                  <a:lnTo>
                    <a:pt x="0" y="255487"/>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1092" name="Google Shape;1092;g3465da649cc_0_1054"/>
            <p:cNvSpPr/>
            <p:nvPr/>
          </p:nvSpPr>
          <p:spPr>
            <a:xfrm>
              <a:off x="0" y="143328"/>
              <a:ext cx="676650" cy="676650"/>
            </a:xfrm>
            <a:custGeom>
              <a:avLst/>
              <a:gdLst/>
              <a:ahLst/>
              <a:cxnLst/>
              <a:rect l="l" t="t" r="r" b="b"/>
              <a:pathLst>
                <a:path w="676650" h="676650" extrusionOk="0">
                  <a:moveTo>
                    <a:pt x="0" y="0"/>
                  </a:moveTo>
                  <a:lnTo>
                    <a:pt x="676650" y="0"/>
                  </a:lnTo>
                  <a:lnTo>
                    <a:pt x="676650" y="676651"/>
                  </a:lnTo>
                  <a:lnTo>
                    <a:pt x="0" y="676651"/>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sp>
          <p:nvSpPr>
            <p:cNvPr id="1093" name="Google Shape;1093;g3465da649cc_0_1054"/>
            <p:cNvSpPr/>
            <p:nvPr/>
          </p:nvSpPr>
          <p:spPr>
            <a:xfrm rot="5839219">
              <a:off x="681029" y="198881"/>
              <a:ext cx="255655" cy="255655"/>
            </a:xfrm>
            <a:custGeom>
              <a:avLst/>
              <a:gdLst/>
              <a:ahLst/>
              <a:cxnLst/>
              <a:rect l="l" t="t" r="r" b="b"/>
              <a:pathLst>
                <a:path w="255487" h="255487" extrusionOk="0">
                  <a:moveTo>
                    <a:pt x="0" y="0"/>
                  </a:moveTo>
                  <a:lnTo>
                    <a:pt x="255487" y="0"/>
                  </a:lnTo>
                  <a:lnTo>
                    <a:pt x="255487" y="255487"/>
                  </a:lnTo>
                  <a:lnTo>
                    <a:pt x="0" y="255487"/>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grpSp>
      <p:grpSp>
        <p:nvGrpSpPr>
          <p:cNvPr id="1094" name="Google Shape;1094;g3465da649cc_0_1054"/>
          <p:cNvGrpSpPr/>
          <p:nvPr/>
        </p:nvGrpSpPr>
        <p:grpSpPr>
          <a:xfrm>
            <a:off x="10930862" y="4572000"/>
            <a:ext cx="774761" cy="774761"/>
            <a:chOff x="0" y="0"/>
            <a:chExt cx="812800" cy="812800"/>
          </a:xfrm>
        </p:grpSpPr>
        <p:sp>
          <p:nvSpPr>
            <p:cNvPr id="1095" name="Google Shape;1095;g3465da649cc_0_105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cmpd="sng">
              <a:solidFill>
                <a:srgbClr val="45D0FC"/>
              </a:solidFill>
              <a:prstDash val="solid"/>
              <a:miter lim="8000"/>
              <a:headEnd type="none" w="sm" len="sm"/>
              <a:tailEnd type="none" w="sm" len="sm"/>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6" name="Google Shape;1096;g3465da649cc_0_1054"/>
            <p:cNvSpPr txBox="1"/>
            <p:nvPr/>
          </p:nvSpPr>
          <p:spPr>
            <a:xfrm>
              <a:off x="76200" y="38100"/>
              <a:ext cx="660300" cy="698400"/>
            </a:xfrm>
            <a:prstGeom prst="rect">
              <a:avLst/>
            </a:prstGeom>
            <a:noFill/>
            <a:ln>
              <a:noFill/>
            </a:ln>
          </p:spPr>
          <p:txBody>
            <a:bodyPr spcFirstLastPara="1" wrap="square" lIns="45150" tIns="45150" rIns="45150" bIns="45150" anchor="ctr" anchorCtr="0">
              <a:noAutofit/>
            </a:bodyPr>
            <a:lstStyle/>
            <a:p>
              <a:pPr marL="0" marR="0" lvl="0" indent="0" algn="ctr" rtl="0">
                <a:lnSpc>
                  <a:spcPct val="147722"/>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097" name="Google Shape;1097;g3465da649cc_0_1054"/>
          <p:cNvSpPr/>
          <p:nvPr/>
        </p:nvSpPr>
        <p:spPr>
          <a:xfrm>
            <a:off x="11044893" y="4686031"/>
            <a:ext cx="547336" cy="547336"/>
          </a:xfrm>
          <a:custGeom>
            <a:avLst/>
            <a:gdLst/>
            <a:ahLst/>
            <a:cxnLst/>
            <a:rect l="l" t="t" r="r" b="b"/>
            <a:pathLst>
              <a:path w="614984" h="614984" extrusionOk="0">
                <a:moveTo>
                  <a:pt x="0" y="0"/>
                </a:moveTo>
                <a:lnTo>
                  <a:pt x="614984" y="0"/>
                </a:lnTo>
                <a:lnTo>
                  <a:pt x="614984" y="614984"/>
                </a:lnTo>
                <a:lnTo>
                  <a:pt x="0" y="614984"/>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1098" name="Google Shape;1098;g3465da649cc_0_1054"/>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b="-8"/>
            </a:stretch>
          </a:blipFill>
          <a:ln>
            <a:noFill/>
          </a:ln>
        </p:spPr>
      </p:sp>
      <p:cxnSp>
        <p:nvCxnSpPr>
          <p:cNvPr id="1099" name="Google Shape;1099;g3465da649cc_0_1054"/>
          <p:cNvCxnSpPr/>
          <p:nvPr/>
        </p:nvCxnSpPr>
        <p:spPr>
          <a:xfrm>
            <a:off x="1647250" y="8527867"/>
            <a:ext cx="12900" cy="432300"/>
          </a:xfrm>
          <a:prstGeom prst="straightConnector1">
            <a:avLst/>
          </a:prstGeom>
          <a:noFill/>
          <a:ln w="9525" cap="rnd" cmpd="sng">
            <a:solidFill>
              <a:srgbClr val="808080"/>
            </a:solidFill>
            <a:prstDash val="solid"/>
            <a:round/>
            <a:headEnd type="none" w="sm" len="sm"/>
            <a:tailEnd type="none" w="sm" len="sm"/>
          </a:ln>
        </p:spPr>
      </p:cxnSp>
      <p:grpSp>
        <p:nvGrpSpPr>
          <p:cNvPr id="1100" name="Google Shape;1100;g3465da649cc_0_1054"/>
          <p:cNvGrpSpPr/>
          <p:nvPr/>
        </p:nvGrpSpPr>
        <p:grpSpPr>
          <a:xfrm>
            <a:off x="872534" y="8351050"/>
            <a:ext cx="846442" cy="699635"/>
            <a:chOff x="0" y="0"/>
            <a:chExt cx="1269600" cy="1049400"/>
          </a:xfrm>
        </p:grpSpPr>
        <p:sp>
          <p:nvSpPr>
            <p:cNvPr id="1101" name="Google Shape;1101;g3465da649cc_0_1054"/>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102" name="Google Shape;1102;g3465da649cc_0_1054"/>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19968"/>
                </a:lnSpc>
                <a:spcBef>
                  <a:spcPts val="0"/>
                </a:spcBef>
                <a:spcAft>
                  <a:spcPts val="0"/>
                </a:spcAft>
                <a:buClr>
                  <a:srgbClr val="000000"/>
                </a:buClr>
                <a:buSzPts val="2800"/>
                <a:buFont typeface="Arial"/>
                <a:buNone/>
              </a:pPr>
              <a:r>
                <a:rPr lang="en-US" sz="2800" b="0" i="0" u="none" strike="noStrike" cap="none" dirty="0">
                  <a:solidFill>
                    <a:srgbClr val="666666"/>
                  </a:solidFill>
                  <a:latin typeface="Inter"/>
                  <a:ea typeface="Inter"/>
                  <a:cs typeface="Inter"/>
                  <a:sym typeface="Inter"/>
                </a:rPr>
                <a:t>17</a:t>
              </a:r>
              <a:endParaRPr sz="1200" b="0" i="0" u="none" strike="noStrike" cap="none" dirty="0">
                <a:solidFill>
                  <a:srgbClr val="000000"/>
                </a:solidFill>
                <a:latin typeface="Arial"/>
                <a:ea typeface="Arial"/>
                <a:cs typeface="Arial"/>
                <a:sym typeface="Arial"/>
              </a:endParaRPr>
            </a:p>
          </p:txBody>
        </p:sp>
      </p:grpSp>
      <p:grpSp>
        <p:nvGrpSpPr>
          <p:cNvPr id="1103" name="Google Shape;1103;g3465da649cc_0_1054"/>
          <p:cNvGrpSpPr/>
          <p:nvPr/>
        </p:nvGrpSpPr>
        <p:grpSpPr>
          <a:xfrm>
            <a:off x="1769555" y="8560966"/>
            <a:ext cx="5353468" cy="296215"/>
            <a:chOff x="0" y="-9525"/>
            <a:chExt cx="8029800" cy="444300"/>
          </a:xfrm>
        </p:grpSpPr>
        <p:sp>
          <p:nvSpPr>
            <p:cNvPr id="1104" name="Google Shape;1104;g3465da649cc_0_1054"/>
            <p:cNvSpPr/>
            <p:nvPr/>
          </p:nvSpPr>
          <p:spPr>
            <a:xfrm>
              <a:off x="0" y="0"/>
              <a:ext cx="8029800" cy="434687"/>
            </a:xfrm>
            <a:custGeom>
              <a:avLst/>
              <a:gdLst/>
              <a:ahLst/>
              <a:cxnLst/>
              <a:rect l="l" t="t" r="r" b="b"/>
              <a:pathLst>
                <a:path w="8029800" h="434687" extrusionOk="0">
                  <a:moveTo>
                    <a:pt x="0" y="0"/>
                  </a:moveTo>
                  <a:lnTo>
                    <a:pt x="8029800" y="0"/>
                  </a:lnTo>
                  <a:lnTo>
                    <a:pt x="8029800" y="434687"/>
                  </a:lnTo>
                  <a:lnTo>
                    <a:pt x="0" y="434687"/>
                  </a:lnTo>
                  <a:close/>
                </a:path>
              </a:pathLst>
            </a:custGeom>
            <a:solidFill>
              <a:srgbClr val="000000">
                <a:alpha val="0"/>
              </a:srgbClr>
            </a:solidFill>
            <a:ln>
              <a:noFill/>
            </a:ln>
          </p:spPr>
        </p:sp>
        <p:sp>
          <p:nvSpPr>
            <p:cNvPr id="1105" name="Google Shape;1105;g3465da649cc_0_1054"/>
            <p:cNvSpPr txBox="1"/>
            <p:nvPr/>
          </p:nvSpPr>
          <p:spPr>
            <a:xfrm>
              <a:off x="0" y="-9525"/>
              <a:ext cx="8029800" cy="444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300"/>
                <a:buFont typeface="Arial"/>
                <a:buNone/>
              </a:pPr>
              <a:r>
                <a:rPr lang="en-US" sz="1300" b="0" i="0" u="none" strike="noStrike" cap="none" dirty="0">
                  <a:solidFill>
                    <a:srgbClr val="808080"/>
                  </a:solidFill>
                  <a:latin typeface="Inter"/>
                  <a:ea typeface="Inter"/>
                  <a:cs typeface="Inter"/>
                  <a:sym typeface="Inter"/>
                </a:rPr>
                <a:t>RETAIL DX Profile - Software Development For Retail</a:t>
              </a:r>
              <a:endParaRPr sz="1200" b="0" i="0" u="none" strike="noStrike" cap="none" dirty="0">
                <a:solidFill>
                  <a:srgbClr val="000000"/>
                </a:solidFill>
                <a:latin typeface="Arial"/>
                <a:ea typeface="Arial"/>
                <a:cs typeface="Arial"/>
                <a:sym typeface="Arial"/>
              </a:endParaRPr>
            </a:p>
          </p:txBody>
        </p:sp>
      </p:grpSp>
      <p:pic>
        <p:nvPicPr>
          <p:cNvPr id="1106" name="Google Shape;1106;g3465da649cc_0_1054" title="Logo_VTI (2).png"/>
          <p:cNvPicPr preferRelativeResize="0"/>
          <p:nvPr/>
        </p:nvPicPr>
        <p:blipFill rotWithShape="1">
          <a:blip r:embed="rId12" cstate="email">
            <a:alphaModFix/>
            <a:extLst>
              <a:ext uri="{28A0092B-C50C-407E-A947-70E740481C1C}">
                <a14:useLocalDpi xmlns:a14="http://schemas.microsoft.com/office/drawing/2010/main"/>
              </a:ext>
            </a:extLst>
          </a:blip>
          <a:srcRect/>
          <a:stretch/>
        </p:blipFill>
        <p:spPr>
          <a:xfrm>
            <a:off x="14701375" y="281474"/>
            <a:ext cx="1205820" cy="6446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cxnSp>
        <p:nvCxnSpPr>
          <p:cNvPr id="1115" name="Google Shape;1115;g3465da649cc_0_1110"/>
          <p:cNvCxnSpPr/>
          <p:nvPr/>
        </p:nvCxnSpPr>
        <p:spPr>
          <a:xfrm>
            <a:off x="906402" y="445572"/>
            <a:ext cx="0" cy="371400"/>
          </a:xfrm>
          <a:prstGeom prst="straightConnector1">
            <a:avLst/>
          </a:prstGeom>
          <a:noFill/>
          <a:ln w="47625" cap="rnd" cmpd="sng">
            <a:solidFill>
              <a:srgbClr val="0050AE"/>
            </a:solidFill>
            <a:prstDash val="solid"/>
            <a:round/>
            <a:headEnd type="none" w="sm" len="sm"/>
            <a:tailEnd type="none" w="sm" len="sm"/>
          </a:ln>
        </p:spPr>
      </p:cxnSp>
      <p:grpSp>
        <p:nvGrpSpPr>
          <p:cNvPr id="1116" name="Google Shape;1116;g3465da649cc_0_1110"/>
          <p:cNvGrpSpPr/>
          <p:nvPr/>
        </p:nvGrpSpPr>
        <p:grpSpPr>
          <a:xfrm>
            <a:off x="1173733" y="394023"/>
            <a:ext cx="9181259" cy="474574"/>
            <a:chOff x="0" y="0"/>
            <a:chExt cx="13771200" cy="711825"/>
          </a:xfrm>
        </p:grpSpPr>
        <p:sp>
          <p:nvSpPr>
            <p:cNvPr id="1117" name="Google Shape;1117;g3465da649cc_0_1110"/>
            <p:cNvSpPr/>
            <p:nvPr/>
          </p:nvSpPr>
          <p:spPr>
            <a:xfrm>
              <a:off x="0" y="0"/>
              <a:ext cx="13771184" cy="711777"/>
            </a:xfrm>
            <a:custGeom>
              <a:avLst/>
              <a:gdLst/>
              <a:ahLst/>
              <a:cxnLst/>
              <a:rect l="l" t="t" r="r" b="b"/>
              <a:pathLst>
                <a:path w="13771184" h="711777" extrusionOk="0">
                  <a:moveTo>
                    <a:pt x="0" y="0"/>
                  </a:moveTo>
                  <a:lnTo>
                    <a:pt x="13771184" y="0"/>
                  </a:lnTo>
                  <a:lnTo>
                    <a:pt x="13771184" y="711777"/>
                  </a:lnTo>
                  <a:lnTo>
                    <a:pt x="0" y="711777"/>
                  </a:lnTo>
                  <a:close/>
                </a:path>
              </a:pathLst>
            </a:custGeom>
            <a:solidFill>
              <a:srgbClr val="000000">
                <a:alpha val="0"/>
              </a:srgbClr>
            </a:solidFill>
            <a:ln>
              <a:noFill/>
            </a:ln>
          </p:spPr>
        </p:sp>
        <p:sp>
          <p:nvSpPr>
            <p:cNvPr id="1118" name="Google Shape;1118;g3465da649cc_0_1110"/>
            <p:cNvSpPr txBox="1"/>
            <p:nvPr/>
          </p:nvSpPr>
          <p:spPr>
            <a:xfrm>
              <a:off x="0" y="9525"/>
              <a:ext cx="13771200" cy="702300"/>
            </a:xfrm>
            <a:prstGeom prst="rect">
              <a:avLst/>
            </a:prstGeom>
            <a:noFill/>
            <a:ln>
              <a:noFill/>
            </a:ln>
          </p:spPr>
          <p:txBody>
            <a:bodyPr spcFirstLastPara="1" wrap="square" lIns="0" tIns="0" rIns="0" bIns="0" anchor="t" anchorCtr="0">
              <a:noAutofit/>
            </a:bodyPr>
            <a:lstStyle/>
            <a:p>
              <a:pPr marL="0" marR="0" lvl="0" indent="0" algn="l" rtl="0">
                <a:lnSpc>
                  <a:spcPct val="120008"/>
                </a:lnSpc>
                <a:spcBef>
                  <a:spcPts val="0"/>
                </a:spcBef>
                <a:spcAft>
                  <a:spcPts val="0"/>
                </a:spcAft>
                <a:buClr>
                  <a:srgbClr val="000000"/>
                </a:buClr>
                <a:buSzPts val="3000"/>
                <a:buFont typeface="Arial"/>
                <a:buNone/>
              </a:pPr>
              <a:r>
                <a:rPr lang="en-US" sz="3000" b="1" i="0" u="none" strike="noStrike" cap="none">
                  <a:solidFill>
                    <a:srgbClr val="0050AE"/>
                  </a:solidFill>
                  <a:latin typeface="Inter"/>
                  <a:ea typeface="Inter"/>
                  <a:cs typeface="Inter"/>
                  <a:sym typeface="Inter"/>
                </a:rPr>
                <a:t>SOFTWARE FOR SMART IN-STORE OPERATIONS</a:t>
              </a:r>
              <a:endParaRPr sz="3000" b="0" i="0" u="none" strike="noStrike" cap="none">
                <a:solidFill>
                  <a:srgbClr val="000000"/>
                </a:solidFill>
                <a:latin typeface="Arial"/>
                <a:ea typeface="Arial"/>
                <a:cs typeface="Arial"/>
                <a:sym typeface="Arial"/>
              </a:endParaRPr>
            </a:p>
          </p:txBody>
        </p:sp>
      </p:grpSp>
      <p:grpSp>
        <p:nvGrpSpPr>
          <p:cNvPr id="1119" name="Google Shape;1119;g3465da649cc_0_1110"/>
          <p:cNvGrpSpPr/>
          <p:nvPr/>
        </p:nvGrpSpPr>
        <p:grpSpPr>
          <a:xfrm>
            <a:off x="3352532" y="1228107"/>
            <a:ext cx="3862393" cy="383619"/>
            <a:chOff x="0" y="-104775"/>
            <a:chExt cx="5793300" cy="575400"/>
          </a:xfrm>
        </p:grpSpPr>
        <p:sp>
          <p:nvSpPr>
            <p:cNvPr id="1120" name="Google Shape;1120;g3465da649cc_0_111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121" name="Google Shape;1121;g3465da649cc_0_111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IN-STORE MANAGEMENT </a:t>
              </a:r>
              <a:endParaRPr sz="1200" b="0" i="0" u="none" strike="noStrike" cap="none">
                <a:solidFill>
                  <a:srgbClr val="000000"/>
                </a:solidFill>
                <a:latin typeface="Arial"/>
                <a:ea typeface="Arial"/>
                <a:cs typeface="Arial"/>
                <a:sym typeface="Arial"/>
              </a:endParaRPr>
            </a:p>
          </p:txBody>
        </p:sp>
      </p:grpSp>
      <p:grpSp>
        <p:nvGrpSpPr>
          <p:cNvPr id="1122" name="Google Shape;1122;g3465da649cc_0_1110"/>
          <p:cNvGrpSpPr/>
          <p:nvPr/>
        </p:nvGrpSpPr>
        <p:grpSpPr>
          <a:xfrm>
            <a:off x="3352532" y="1686018"/>
            <a:ext cx="4348863" cy="2299739"/>
            <a:chOff x="0" y="-95250"/>
            <a:chExt cx="6522969" cy="3449436"/>
          </a:xfrm>
        </p:grpSpPr>
        <p:sp>
          <p:nvSpPr>
            <p:cNvPr id="1123" name="Google Shape;1123;g3465da649cc_0_1110"/>
            <p:cNvSpPr/>
            <p:nvPr/>
          </p:nvSpPr>
          <p:spPr>
            <a:xfrm>
              <a:off x="0" y="0"/>
              <a:ext cx="6522969" cy="3354186"/>
            </a:xfrm>
            <a:custGeom>
              <a:avLst/>
              <a:gdLst/>
              <a:ahLst/>
              <a:cxnLst/>
              <a:rect l="l" t="t" r="r" b="b"/>
              <a:pathLst>
                <a:path w="6522969" h="3354186" extrusionOk="0">
                  <a:moveTo>
                    <a:pt x="0" y="0"/>
                  </a:moveTo>
                  <a:lnTo>
                    <a:pt x="6522969" y="0"/>
                  </a:lnTo>
                  <a:lnTo>
                    <a:pt x="6522969" y="3354186"/>
                  </a:lnTo>
                  <a:lnTo>
                    <a:pt x="0" y="3354186"/>
                  </a:lnTo>
                  <a:close/>
                </a:path>
              </a:pathLst>
            </a:custGeom>
            <a:solidFill>
              <a:srgbClr val="000000">
                <a:alpha val="0"/>
              </a:srgbClr>
            </a:solidFill>
            <a:ln>
              <a:noFill/>
            </a:ln>
          </p:spPr>
        </p:sp>
        <p:sp>
          <p:nvSpPr>
            <p:cNvPr id="1124" name="Google Shape;1124;g3465da649cc_0_1110"/>
            <p:cNvSpPr txBox="1"/>
            <p:nvPr/>
          </p:nvSpPr>
          <p:spPr>
            <a:xfrm>
              <a:off x="0" y="-95250"/>
              <a:ext cx="6522900" cy="34494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Oversee store operation from staffing, inventory, sales, to promotions with IT technology.</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Work-shift Management</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Product/ Inventory Management</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Sales/ Revenue Management</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Accounting Management (invoice management)</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Store’s Promotion Campaign Management</a:t>
              </a:r>
              <a:endParaRPr sz="1200" b="0" i="0" u="none" strike="noStrike" cap="none">
                <a:solidFill>
                  <a:srgbClr val="000000"/>
                </a:solidFill>
                <a:latin typeface="Arial"/>
                <a:ea typeface="Arial"/>
                <a:cs typeface="Arial"/>
                <a:sym typeface="Arial"/>
              </a:endParaRPr>
            </a:p>
          </p:txBody>
        </p:sp>
      </p:grpSp>
      <p:grpSp>
        <p:nvGrpSpPr>
          <p:cNvPr id="1125" name="Google Shape;1125;g3465da649cc_0_1110"/>
          <p:cNvGrpSpPr/>
          <p:nvPr/>
        </p:nvGrpSpPr>
        <p:grpSpPr>
          <a:xfrm>
            <a:off x="3352532" y="4813258"/>
            <a:ext cx="3862393" cy="383619"/>
            <a:chOff x="0" y="-104775"/>
            <a:chExt cx="5793300" cy="575400"/>
          </a:xfrm>
        </p:grpSpPr>
        <p:sp>
          <p:nvSpPr>
            <p:cNvPr id="1126" name="Google Shape;1126;g3465da649cc_0_111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127" name="Google Shape;1127;g3465da649cc_0_111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IN-STORE DATA ANALYTICS</a:t>
              </a:r>
              <a:endParaRPr sz="1200" b="0" i="0" u="none" strike="noStrike" cap="none">
                <a:solidFill>
                  <a:srgbClr val="000000"/>
                </a:solidFill>
                <a:latin typeface="Arial"/>
                <a:ea typeface="Arial"/>
                <a:cs typeface="Arial"/>
                <a:sym typeface="Arial"/>
              </a:endParaRPr>
            </a:p>
          </p:txBody>
        </p:sp>
      </p:grpSp>
      <p:grpSp>
        <p:nvGrpSpPr>
          <p:cNvPr id="1128" name="Google Shape;1128;g3465da649cc_0_1110"/>
          <p:cNvGrpSpPr/>
          <p:nvPr/>
        </p:nvGrpSpPr>
        <p:grpSpPr>
          <a:xfrm>
            <a:off x="3352532" y="5271170"/>
            <a:ext cx="4348863" cy="1977990"/>
            <a:chOff x="0" y="-95250"/>
            <a:chExt cx="6522969" cy="2966836"/>
          </a:xfrm>
        </p:grpSpPr>
        <p:sp>
          <p:nvSpPr>
            <p:cNvPr id="1129" name="Google Shape;1129;g3465da649cc_0_1110"/>
            <p:cNvSpPr/>
            <p:nvPr/>
          </p:nvSpPr>
          <p:spPr>
            <a:xfrm>
              <a:off x="0" y="0"/>
              <a:ext cx="6522969" cy="2871586"/>
            </a:xfrm>
            <a:custGeom>
              <a:avLst/>
              <a:gdLst/>
              <a:ahLst/>
              <a:cxnLst/>
              <a:rect l="l" t="t" r="r" b="b"/>
              <a:pathLst>
                <a:path w="6522969" h="2871586" extrusionOk="0">
                  <a:moveTo>
                    <a:pt x="0" y="0"/>
                  </a:moveTo>
                  <a:lnTo>
                    <a:pt x="6522969" y="0"/>
                  </a:lnTo>
                  <a:lnTo>
                    <a:pt x="6522969" y="2871586"/>
                  </a:lnTo>
                  <a:lnTo>
                    <a:pt x="0" y="2871586"/>
                  </a:lnTo>
                  <a:close/>
                </a:path>
              </a:pathLst>
            </a:custGeom>
            <a:solidFill>
              <a:srgbClr val="000000">
                <a:alpha val="0"/>
              </a:srgbClr>
            </a:solidFill>
            <a:ln>
              <a:noFill/>
            </a:ln>
          </p:spPr>
        </p:sp>
        <p:sp>
          <p:nvSpPr>
            <p:cNvPr id="1130" name="Google Shape;1130;g3465da649cc_0_1110"/>
            <p:cNvSpPr txBox="1"/>
            <p:nvPr/>
          </p:nvSpPr>
          <p:spPr>
            <a:xfrm>
              <a:off x="0" y="-95250"/>
              <a:ext cx="6522900" cy="29667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Analyze customer/staff behaviors, foot traffic, and store layout using heatmap insights.</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Customer behavior analysis</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Staff behavior analysis</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Heatmap for store layout analysis</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Automatics persona generation</a:t>
              </a:r>
              <a:endParaRPr sz="1200" b="0" i="0" u="none" strike="noStrike" cap="none">
                <a:solidFill>
                  <a:srgbClr val="000000"/>
                </a:solidFill>
                <a:latin typeface="Arial"/>
                <a:ea typeface="Arial"/>
                <a:cs typeface="Arial"/>
                <a:sym typeface="Arial"/>
              </a:endParaRPr>
            </a:p>
          </p:txBody>
        </p:sp>
      </p:grpSp>
      <p:grpSp>
        <p:nvGrpSpPr>
          <p:cNvPr id="1131" name="Google Shape;1131;g3465da649cc_0_1110"/>
          <p:cNvGrpSpPr/>
          <p:nvPr/>
        </p:nvGrpSpPr>
        <p:grpSpPr>
          <a:xfrm>
            <a:off x="11167244" y="1228107"/>
            <a:ext cx="3862393" cy="383619"/>
            <a:chOff x="0" y="-104775"/>
            <a:chExt cx="5793300" cy="575400"/>
          </a:xfrm>
        </p:grpSpPr>
        <p:sp>
          <p:nvSpPr>
            <p:cNvPr id="1132" name="Google Shape;1132;g3465da649cc_0_111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133" name="Google Shape;1133;g3465da649cc_0_111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POS SYSTEM</a:t>
              </a:r>
              <a:endParaRPr sz="1200" b="0" i="0" u="none" strike="noStrike" cap="none">
                <a:solidFill>
                  <a:srgbClr val="000000"/>
                </a:solidFill>
                <a:latin typeface="Arial"/>
                <a:ea typeface="Arial"/>
                <a:cs typeface="Arial"/>
                <a:sym typeface="Arial"/>
              </a:endParaRPr>
            </a:p>
          </p:txBody>
        </p:sp>
      </p:grpSp>
      <p:grpSp>
        <p:nvGrpSpPr>
          <p:cNvPr id="1134" name="Google Shape;1134;g3465da649cc_0_1110"/>
          <p:cNvGrpSpPr/>
          <p:nvPr/>
        </p:nvGrpSpPr>
        <p:grpSpPr>
          <a:xfrm>
            <a:off x="11167244" y="1686018"/>
            <a:ext cx="3862393" cy="1334491"/>
            <a:chOff x="0" y="-95250"/>
            <a:chExt cx="5793300" cy="2001636"/>
          </a:xfrm>
        </p:grpSpPr>
        <p:sp>
          <p:nvSpPr>
            <p:cNvPr id="1135" name="Google Shape;1135;g3465da649cc_0_1110"/>
            <p:cNvSpPr/>
            <p:nvPr/>
          </p:nvSpPr>
          <p:spPr>
            <a:xfrm>
              <a:off x="0" y="0"/>
              <a:ext cx="5793286" cy="1906386"/>
            </a:xfrm>
            <a:custGeom>
              <a:avLst/>
              <a:gdLst/>
              <a:ahLst/>
              <a:cxnLst/>
              <a:rect l="l" t="t" r="r" b="b"/>
              <a:pathLst>
                <a:path w="5793286" h="1906386" extrusionOk="0">
                  <a:moveTo>
                    <a:pt x="0" y="0"/>
                  </a:moveTo>
                  <a:lnTo>
                    <a:pt x="5793286" y="0"/>
                  </a:lnTo>
                  <a:lnTo>
                    <a:pt x="5793286" y="1906386"/>
                  </a:lnTo>
                  <a:lnTo>
                    <a:pt x="0" y="1906386"/>
                  </a:lnTo>
                  <a:close/>
                </a:path>
              </a:pathLst>
            </a:custGeom>
            <a:solidFill>
              <a:srgbClr val="000000">
                <a:alpha val="0"/>
              </a:srgbClr>
            </a:solidFill>
            <a:ln>
              <a:noFill/>
            </a:ln>
          </p:spPr>
        </p:sp>
        <p:sp>
          <p:nvSpPr>
            <p:cNvPr id="1136" name="Google Shape;1136;g3465da649cc_0_1110"/>
            <p:cNvSpPr txBox="1"/>
            <p:nvPr/>
          </p:nvSpPr>
          <p:spPr>
            <a:xfrm>
              <a:off x="0" y="-95250"/>
              <a:ext cx="5793300" cy="20016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(Server-based &amp; Cloud-based) </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Automate invoice processing</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Enable invoice template adjustments</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Integrate with cashless payment systems</a:t>
              </a:r>
              <a:endParaRPr sz="1200" b="0" i="0" u="none" strike="noStrike" cap="none">
                <a:solidFill>
                  <a:srgbClr val="000000"/>
                </a:solidFill>
                <a:latin typeface="Arial"/>
                <a:ea typeface="Arial"/>
                <a:cs typeface="Arial"/>
                <a:sym typeface="Arial"/>
              </a:endParaRPr>
            </a:p>
          </p:txBody>
        </p:sp>
      </p:grpSp>
      <p:grpSp>
        <p:nvGrpSpPr>
          <p:cNvPr id="1137" name="Google Shape;1137;g3465da649cc_0_1110"/>
          <p:cNvGrpSpPr/>
          <p:nvPr/>
        </p:nvGrpSpPr>
        <p:grpSpPr>
          <a:xfrm>
            <a:off x="11209578" y="3670258"/>
            <a:ext cx="3862393" cy="383619"/>
            <a:chOff x="0" y="-104775"/>
            <a:chExt cx="5793300" cy="575400"/>
          </a:xfrm>
        </p:grpSpPr>
        <p:sp>
          <p:nvSpPr>
            <p:cNvPr id="1138" name="Google Shape;1138;g3465da649cc_0_111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139" name="Google Shape;1139;g3465da649cc_0_111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ON-SHELF QUANTITY TRACKING</a:t>
              </a:r>
              <a:endParaRPr sz="1200" b="0" i="0" u="none" strike="noStrike" cap="none">
                <a:solidFill>
                  <a:srgbClr val="000000"/>
                </a:solidFill>
                <a:latin typeface="Arial"/>
                <a:ea typeface="Arial"/>
                <a:cs typeface="Arial"/>
                <a:sym typeface="Arial"/>
              </a:endParaRPr>
            </a:p>
          </p:txBody>
        </p:sp>
      </p:grpSp>
      <p:grpSp>
        <p:nvGrpSpPr>
          <p:cNvPr id="1140" name="Google Shape;1140;g3465da649cc_0_1110"/>
          <p:cNvGrpSpPr/>
          <p:nvPr/>
        </p:nvGrpSpPr>
        <p:grpSpPr>
          <a:xfrm>
            <a:off x="11209578" y="4128170"/>
            <a:ext cx="3702385" cy="699035"/>
            <a:chOff x="0" y="-95250"/>
            <a:chExt cx="5553300" cy="1048500"/>
          </a:xfrm>
        </p:grpSpPr>
        <p:sp>
          <p:nvSpPr>
            <p:cNvPr id="1141" name="Google Shape;1141;g3465da649cc_0_1110"/>
            <p:cNvSpPr/>
            <p:nvPr/>
          </p:nvSpPr>
          <p:spPr>
            <a:xfrm>
              <a:off x="0" y="0"/>
              <a:ext cx="5553228" cy="953193"/>
            </a:xfrm>
            <a:custGeom>
              <a:avLst/>
              <a:gdLst/>
              <a:ahLst/>
              <a:cxnLst/>
              <a:rect l="l" t="t" r="r" b="b"/>
              <a:pathLst>
                <a:path w="5553228" h="953193" extrusionOk="0">
                  <a:moveTo>
                    <a:pt x="0" y="0"/>
                  </a:moveTo>
                  <a:lnTo>
                    <a:pt x="5553228" y="0"/>
                  </a:lnTo>
                  <a:lnTo>
                    <a:pt x="5553228" y="953193"/>
                  </a:lnTo>
                  <a:lnTo>
                    <a:pt x="0" y="953193"/>
                  </a:lnTo>
                  <a:close/>
                </a:path>
              </a:pathLst>
            </a:custGeom>
            <a:solidFill>
              <a:srgbClr val="000000">
                <a:alpha val="0"/>
              </a:srgbClr>
            </a:solidFill>
            <a:ln>
              <a:noFill/>
            </a:ln>
          </p:spPr>
        </p:sp>
        <p:sp>
          <p:nvSpPr>
            <p:cNvPr id="1142" name="Google Shape;1142;g3465da649cc_0_1110"/>
            <p:cNvSpPr txBox="1"/>
            <p:nvPr/>
          </p:nvSpPr>
          <p:spPr>
            <a:xfrm>
              <a:off x="0" y="-95250"/>
              <a:ext cx="5553300" cy="10485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Monitor stock levels in real-time to prevent shortages using </a:t>
              </a:r>
              <a:r>
                <a:rPr lang="en-US" sz="1400" b="1" i="0" u="none" strike="noStrike" cap="none">
                  <a:solidFill>
                    <a:srgbClr val="3D3D3D"/>
                  </a:solidFill>
                  <a:latin typeface="Inter"/>
                  <a:ea typeface="Inter"/>
                  <a:cs typeface="Inter"/>
                  <a:sym typeface="Inter"/>
                </a:rPr>
                <a:t>AI Camera</a:t>
              </a:r>
              <a:endParaRPr sz="1200" b="0" i="0" u="none" strike="noStrike" cap="none">
                <a:solidFill>
                  <a:srgbClr val="000000"/>
                </a:solidFill>
                <a:latin typeface="Arial"/>
                <a:ea typeface="Arial"/>
                <a:cs typeface="Arial"/>
                <a:sym typeface="Arial"/>
              </a:endParaRPr>
            </a:p>
          </p:txBody>
        </p:sp>
      </p:grpSp>
      <p:grpSp>
        <p:nvGrpSpPr>
          <p:cNvPr id="1143" name="Google Shape;1143;g3465da649cc_0_1110"/>
          <p:cNvGrpSpPr/>
          <p:nvPr/>
        </p:nvGrpSpPr>
        <p:grpSpPr>
          <a:xfrm>
            <a:off x="11209578" y="5844331"/>
            <a:ext cx="3862393" cy="383619"/>
            <a:chOff x="0" y="-104775"/>
            <a:chExt cx="5793300" cy="575400"/>
          </a:xfrm>
        </p:grpSpPr>
        <p:sp>
          <p:nvSpPr>
            <p:cNvPr id="1144" name="Google Shape;1144;g3465da649cc_0_111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145" name="Google Shape;1145;g3465da649cc_0_111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UNMANNED STORE</a:t>
              </a:r>
              <a:endParaRPr sz="1200" b="0" i="0" u="none" strike="noStrike" cap="none">
                <a:solidFill>
                  <a:srgbClr val="000000"/>
                </a:solidFill>
                <a:latin typeface="Arial"/>
                <a:ea typeface="Arial"/>
                <a:cs typeface="Arial"/>
                <a:sym typeface="Arial"/>
              </a:endParaRPr>
            </a:p>
          </p:txBody>
        </p:sp>
      </p:grpSp>
      <p:grpSp>
        <p:nvGrpSpPr>
          <p:cNvPr id="1146" name="Google Shape;1146;g3465da649cc_0_1110"/>
          <p:cNvGrpSpPr/>
          <p:nvPr/>
        </p:nvGrpSpPr>
        <p:grpSpPr>
          <a:xfrm>
            <a:off x="11209578" y="6302243"/>
            <a:ext cx="3862393" cy="1037652"/>
            <a:chOff x="0" y="-95250"/>
            <a:chExt cx="5793300" cy="1556400"/>
          </a:xfrm>
        </p:grpSpPr>
        <p:sp>
          <p:nvSpPr>
            <p:cNvPr id="1147" name="Google Shape;1147;g3465da649cc_0_1110"/>
            <p:cNvSpPr/>
            <p:nvPr/>
          </p:nvSpPr>
          <p:spPr>
            <a:xfrm>
              <a:off x="0" y="0"/>
              <a:ext cx="5793286" cy="1461135"/>
            </a:xfrm>
            <a:custGeom>
              <a:avLst/>
              <a:gdLst/>
              <a:ahLst/>
              <a:cxnLst/>
              <a:rect l="l" t="t" r="r" b="b"/>
              <a:pathLst>
                <a:path w="5793286" h="1461135" extrusionOk="0">
                  <a:moveTo>
                    <a:pt x="0" y="0"/>
                  </a:moveTo>
                  <a:lnTo>
                    <a:pt x="5793286" y="0"/>
                  </a:lnTo>
                  <a:lnTo>
                    <a:pt x="5793286" y="1461135"/>
                  </a:lnTo>
                  <a:lnTo>
                    <a:pt x="0" y="1461135"/>
                  </a:lnTo>
                  <a:close/>
                </a:path>
              </a:pathLst>
            </a:custGeom>
            <a:solidFill>
              <a:srgbClr val="000000">
                <a:alpha val="0"/>
              </a:srgbClr>
            </a:solidFill>
            <a:ln>
              <a:noFill/>
            </a:ln>
          </p:spPr>
        </p:sp>
        <p:sp>
          <p:nvSpPr>
            <p:cNvPr id="1148" name="Google Shape;1148;g3465da649cc_0_1110"/>
            <p:cNvSpPr txBox="1"/>
            <p:nvPr/>
          </p:nvSpPr>
          <p:spPr>
            <a:xfrm>
              <a:off x="0" y="-95250"/>
              <a:ext cx="5793300" cy="15564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Enable cashier-less checkouts with AI-driven automation (face recognition system, AI payment system, etc.)</a:t>
              </a:r>
              <a:endParaRPr sz="1200" b="0" i="0" u="none" strike="noStrike" cap="none">
                <a:solidFill>
                  <a:srgbClr val="000000"/>
                </a:solidFill>
                <a:latin typeface="Arial"/>
                <a:ea typeface="Arial"/>
                <a:cs typeface="Arial"/>
                <a:sym typeface="Arial"/>
              </a:endParaRPr>
            </a:p>
          </p:txBody>
        </p:sp>
      </p:grpSp>
      <p:sp>
        <p:nvSpPr>
          <p:cNvPr id="1149" name="Google Shape;1149;g3465da649cc_0_1110"/>
          <p:cNvSpPr/>
          <p:nvPr/>
        </p:nvSpPr>
        <p:spPr>
          <a:xfrm>
            <a:off x="872535" y="1276716"/>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50" name="Google Shape;1150;g3465da649cc_0_1110"/>
          <p:cNvGrpSpPr/>
          <p:nvPr/>
        </p:nvGrpSpPr>
        <p:grpSpPr>
          <a:xfrm>
            <a:off x="1647250" y="2284304"/>
            <a:ext cx="668040" cy="691526"/>
            <a:chOff x="0" y="-28575"/>
            <a:chExt cx="812800" cy="841375"/>
          </a:xfrm>
        </p:grpSpPr>
        <p:sp>
          <p:nvSpPr>
            <p:cNvPr id="1151" name="Google Shape;1151;g3465da649cc_0_11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2" name="Google Shape;1152;g3465da649cc_0_111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153" name="Google Shape;1153;g3465da649cc_0_1110"/>
          <p:cNvSpPr/>
          <p:nvPr/>
        </p:nvSpPr>
        <p:spPr>
          <a:xfrm>
            <a:off x="872535" y="4883111"/>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54" name="Google Shape;1154;g3465da649cc_0_1110"/>
          <p:cNvGrpSpPr/>
          <p:nvPr/>
        </p:nvGrpSpPr>
        <p:grpSpPr>
          <a:xfrm>
            <a:off x="1647250" y="5890699"/>
            <a:ext cx="668040" cy="691526"/>
            <a:chOff x="0" y="-28575"/>
            <a:chExt cx="812800" cy="841375"/>
          </a:xfrm>
        </p:grpSpPr>
        <p:sp>
          <p:nvSpPr>
            <p:cNvPr id="1155" name="Google Shape;1155;g3465da649cc_0_11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6" name="Google Shape;1156;g3465da649cc_0_111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157" name="Google Shape;1157;g3465da649cc_0_1110"/>
          <p:cNvSpPr/>
          <p:nvPr/>
        </p:nvSpPr>
        <p:spPr>
          <a:xfrm>
            <a:off x="1756790" y="6025409"/>
            <a:ext cx="449507" cy="446136"/>
          </a:xfrm>
          <a:custGeom>
            <a:avLst/>
            <a:gdLst/>
            <a:ahLst/>
            <a:cxnLst/>
            <a:rect l="l" t="t" r="r" b="b"/>
            <a:pathLst>
              <a:path w="505064" h="501276" extrusionOk="0">
                <a:moveTo>
                  <a:pt x="0" y="0"/>
                </a:moveTo>
                <a:lnTo>
                  <a:pt x="505064" y="0"/>
                </a:lnTo>
                <a:lnTo>
                  <a:pt x="505064" y="501275"/>
                </a:lnTo>
                <a:lnTo>
                  <a:pt x="0" y="501275"/>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sp>
        <p:nvSpPr>
          <p:cNvPr id="1158" name="Google Shape;1158;g3465da649cc_0_1110"/>
          <p:cNvSpPr/>
          <p:nvPr/>
        </p:nvSpPr>
        <p:spPr>
          <a:xfrm>
            <a:off x="8616423" y="1276716"/>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59" name="Google Shape;1159;g3465da649cc_0_1110"/>
          <p:cNvGrpSpPr/>
          <p:nvPr/>
        </p:nvGrpSpPr>
        <p:grpSpPr>
          <a:xfrm>
            <a:off x="9391139" y="2284304"/>
            <a:ext cx="668040" cy="691526"/>
            <a:chOff x="0" y="-28575"/>
            <a:chExt cx="812800" cy="841375"/>
          </a:xfrm>
        </p:grpSpPr>
        <p:sp>
          <p:nvSpPr>
            <p:cNvPr id="1160" name="Google Shape;1160;g3465da649cc_0_11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1" name="Google Shape;1161;g3465da649cc_0_111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162" name="Google Shape;1162;g3465da649cc_0_1110"/>
          <p:cNvSpPr/>
          <p:nvPr/>
        </p:nvSpPr>
        <p:spPr>
          <a:xfrm>
            <a:off x="8616423" y="3740111"/>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3" name="Google Shape;1163;g3465da649cc_0_1110"/>
          <p:cNvGrpSpPr/>
          <p:nvPr/>
        </p:nvGrpSpPr>
        <p:grpSpPr>
          <a:xfrm>
            <a:off x="9391139" y="4747699"/>
            <a:ext cx="668040" cy="691526"/>
            <a:chOff x="0" y="-28575"/>
            <a:chExt cx="812800" cy="841375"/>
          </a:xfrm>
        </p:grpSpPr>
        <p:sp>
          <p:nvSpPr>
            <p:cNvPr id="1164" name="Google Shape;1164;g3465da649cc_0_11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5" name="Google Shape;1165;g3465da649cc_0_111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166" name="Google Shape;1166;g3465da649cc_0_1110"/>
          <p:cNvSpPr/>
          <p:nvPr/>
        </p:nvSpPr>
        <p:spPr>
          <a:xfrm>
            <a:off x="8616423" y="5914185"/>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7" name="Google Shape;1167;g3465da649cc_0_1110"/>
          <p:cNvGrpSpPr/>
          <p:nvPr/>
        </p:nvGrpSpPr>
        <p:grpSpPr>
          <a:xfrm>
            <a:off x="9391139" y="6921772"/>
            <a:ext cx="668040" cy="691526"/>
            <a:chOff x="0" y="-28575"/>
            <a:chExt cx="812800" cy="841375"/>
          </a:xfrm>
        </p:grpSpPr>
        <p:sp>
          <p:nvSpPr>
            <p:cNvPr id="1168" name="Google Shape;1168;g3465da649cc_0_11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9" name="Google Shape;1169;g3465da649cc_0_111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170" name="Google Shape;1170;g3465da649cc_0_1110"/>
          <p:cNvSpPr/>
          <p:nvPr/>
        </p:nvSpPr>
        <p:spPr>
          <a:xfrm>
            <a:off x="9557274" y="7044899"/>
            <a:ext cx="336175" cy="469331"/>
          </a:xfrm>
          <a:custGeom>
            <a:avLst/>
            <a:gdLst/>
            <a:ahLst/>
            <a:cxnLst/>
            <a:rect l="l" t="t" r="r" b="b"/>
            <a:pathLst>
              <a:path w="377725" h="527338" extrusionOk="0">
                <a:moveTo>
                  <a:pt x="0" y="0"/>
                </a:moveTo>
                <a:lnTo>
                  <a:pt x="377725" y="0"/>
                </a:lnTo>
                <a:lnTo>
                  <a:pt x="377725" y="527338"/>
                </a:lnTo>
                <a:lnTo>
                  <a:pt x="0" y="527338"/>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sp>
        <p:nvSpPr>
          <p:cNvPr id="1171" name="Google Shape;1171;g3465da649cc_0_1110"/>
          <p:cNvSpPr/>
          <p:nvPr/>
        </p:nvSpPr>
        <p:spPr>
          <a:xfrm>
            <a:off x="8611588" y="3740111"/>
            <a:ext cx="548454" cy="383232"/>
          </a:xfrm>
          <a:custGeom>
            <a:avLst/>
            <a:gdLst/>
            <a:ahLst/>
            <a:cxnLst/>
            <a:rect l="l" t="t" r="r" b="b"/>
            <a:pathLst>
              <a:path w="616240" h="430598" extrusionOk="0">
                <a:moveTo>
                  <a:pt x="0" y="0"/>
                </a:moveTo>
                <a:lnTo>
                  <a:pt x="616240" y="0"/>
                </a:lnTo>
                <a:lnTo>
                  <a:pt x="616240" y="430598"/>
                </a:lnTo>
                <a:lnTo>
                  <a:pt x="0" y="430598"/>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1172" name="Google Shape;1172;g3465da649cc_0_1110"/>
          <p:cNvSpPr/>
          <p:nvPr/>
        </p:nvSpPr>
        <p:spPr>
          <a:xfrm>
            <a:off x="1775441" y="2443956"/>
            <a:ext cx="412158" cy="396187"/>
          </a:xfrm>
          <a:custGeom>
            <a:avLst/>
            <a:gdLst/>
            <a:ahLst/>
            <a:cxnLst/>
            <a:rect l="l" t="t" r="r" b="b"/>
            <a:pathLst>
              <a:path w="463099" h="445154" extrusionOk="0">
                <a:moveTo>
                  <a:pt x="0" y="0"/>
                </a:moveTo>
                <a:lnTo>
                  <a:pt x="463100" y="0"/>
                </a:lnTo>
                <a:lnTo>
                  <a:pt x="463100" y="445155"/>
                </a:lnTo>
                <a:lnTo>
                  <a:pt x="0" y="445155"/>
                </a:lnTo>
                <a:lnTo>
                  <a:pt x="0" y="0"/>
                </a:lnTo>
                <a:close/>
              </a:path>
            </a:pathLst>
          </a:custGeom>
          <a:blipFill rotWithShape="1">
            <a:blip r:embed="rId11">
              <a:alphaModFix/>
            </a:blip>
            <a:stretch>
              <a:fillRect/>
            </a:stretch>
          </a:blipFill>
          <a:ln>
            <a:noFill/>
          </a:ln>
        </p:spPr>
      </p:sp>
      <p:sp>
        <p:nvSpPr>
          <p:cNvPr id="1173" name="Google Shape;1173;g3465da649cc_0_1110"/>
          <p:cNvSpPr/>
          <p:nvPr/>
        </p:nvSpPr>
        <p:spPr>
          <a:xfrm>
            <a:off x="9525274" y="2413319"/>
            <a:ext cx="433363" cy="426863"/>
          </a:xfrm>
          <a:custGeom>
            <a:avLst/>
            <a:gdLst/>
            <a:ahLst/>
            <a:cxnLst/>
            <a:rect l="l" t="t" r="r" b="b"/>
            <a:pathLst>
              <a:path w="486925" h="479621" extrusionOk="0">
                <a:moveTo>
                  <a:pt x="0" y="0"/>
                </a:moveTo>
                <a:lnTo>
                  <a:pt x="486925" y="0"/>
                </a:lnTo>
                <a:lnTo>
                  <a:pt x="486925" y="479621"/>
                </a:lnTo>
                <a:lnTo>
                  <a:pt x="0" y="479621"/>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sp>
      <p:grpSp>
        <p:nvGrpSpPr>
          <p:cNvPr id="1174" name="Google Shape;1174;g3465da649cc_0_1110"/>
          <p:cNvGrpSpPr/>
          <p:nvPr/>
        </p:nvGrpSpPr>
        <p:grpSpPr>
          <a:xfrm>
            <a:off x="9488988" y="4861719"/>
            <a:ext cx="472350" cy="472977"/>
            <a:chOff x="0" y="0"/>
            <a:chExt cx="708490" cy="709430"/>
          </a:xfrm>
        </p:grpSpPr>
        <p:sp>
          <p:nvSpPr>
            <p:cNvPr id="1175" name="Google Shape;1175;g3465da649cc_0_1110"/>
            <p:cNvSpPr/>
            <p:nvPr/>
          </p:nvSpPr>
          <p:spPr>
            <a:xfrm>
              <a:off x="0" y="147066"/>
              <a:ext cx="708490" cy="562364"/>
            </a:xfrm>
            <a:custGeom>
              <a:avLst/>
              <a:gdLst/>
              <a:ahLst/>
              <a:cxnLst/>
              <a:rect l="l" t="t" r="r" b="b"/>
              <a:pathLst>
                <a:path w="708490" h="562364" extrusionOk="0">
                  <a:moveTo>
                    <a:pt x="0" y="0"/>
                  </a:moveTo>
                  <a:lnTo>
                    <a:pt x="708490" y="0"/>
                  </a:lnTo>
                  <a:lnTo>
                    <a:pt x="708490" y="562364"/>
                  </a:lnTo>
                  <a:lnTo>
                    <a:pt x="0" y="562364"/>
                  </a:lnTo>
                  <a:lnTo>
                    <a:pt x="0" y="0"/>
                  </a:lnTo>
                  <a:close/>
                </a:path>
              </a:pathLst>
            </a:custGeom>
            <a:blipFill rotWithShape="1">
              <a:blip r:embed="rId13" cstate="email">
                <a:alphaModFix/>
                <a:extLst>
                  <a:ext uri="{28A0092B-C50C-407E-A947-70E740481C1C}">
                    <a14:useLocalDpi xmlns:a14="http://schemas.microsoft.com/office/drawing/2010/main"/>
                  </a:ext>
                </a:extLst>
              </a:blip>
              <a:stretch>
                <a:fillRect/>
              </a:stretch>
            </a:blipFill>
            <a:ln>
              <a:noFill/>
            </a:ln>
          </p:spPr>
        </p:sp>
        <p:sp>
          <p:nvSpPr>
            <p:cNvPr id="1176" name="Google Shape;1176;g3465da649cc_0_1110"/>
            <p:cNvSpPr/>
            <p:nvPr/>
          </p:nvSpPr>
          <p:spPr>
            <a:xfrm>
              <a:off x="0" y="0"/>
              <a:ext cx="307410" cy="214803"/>
            </a:xfrm>
            <a:custGeom>
              <a:avLst/>
              <a:gdLst/>
              <a:ahLst/>
              <a:cxnLst/>
              <a:rect l="l" t="t" r="r" b="b"/>
              <a:pathLst>
                <a:path w="307410" h="214803" extrusionOk="0">
                  <a:moveTo>
                    <a:pt x="0" y="0"/>
                  </a:moveTo>
                  <a:lnTo>
                    <a:pt x="307410" y="0"/>
                  </a:lnTo>
                  <a:lnTo>
                    <a:pt x="307410" y="214803"/>
                  </a:lnTo>
                  <a:lnTo>
                    <a:pt x="0" y="214803"/>
                  </a:lnTo>
                  <a:lnTo>
                    <a:pt x="0" y="0"/>
                  </a:lnTo>
                  <a:close/>
                </a:path>
              </a:pathLst>
            </a:custGeom>
            <a:blipFill rotWithShape="1">
              <a:blip r:embed="rId14" cstate="email">
                <a:alphaModFix/>
                <a:extLst>
                  <a:ext uri="{28A0092B-C50C-407E-A947-70E740481C1C}">
                    <a14:useLocalDpi xmlns:a14="http://schemas.microsoft.com/office/drawing/2010/main"/>
                  </a:ext>
                </a:extLst>
              </a:blip>
              <a:stretch>
                <a:fillRect/>
              </a:stretch>
            </a:blipFill>
            <a:ln>
              <a:noFill/>
            </a:ln>
          </p:spPr>
        </p:sp>
      </p:grpSp>
      <p:sp>
        <p:nvSpPr>
          <p:cNvPr id="1177" name="Google Shape;1177;g3465da649cc_0_1110"/>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5" cstate="email">
              <a:alphaModFix/>
              <a:extLst>
                <a:ext uri="{28A0092B-C50C-407E-A947-70E740481C1C}">
                  <a14:useLocalDpi xmlns:a14="http://schemas.microsoft.com/office/drawing/2010/main"/>
                </a:ext>
              </a:extLst>
            </a:blip>
            <a:stretch>
              <a:fillRect b="-8"/>
            </a:stretch>
          </a:blipFill>
          <a:ln>
            <a:noFill/>
          </a:ln>
        </p:spPr>
      </p:sp>
      <p:cxnSp>
        <p:nvCxnSpPr>
          <p:cNvPr id="1178" name="Google Shape;1178;g3465da649cc_0_1110"/>
          <p:cNvCxnSpPr/>
          <p:nvPr/>
        </p:nvCxnSpPr>
        <p:spPr>
          <a:xfrm>
            <a:off x="1647250" y="8527867"/>
            <a:ext cx="12900" cy="432300"/>
          </a:xfrm>
          <a:prstGeom prst="straightConnector1">
            <a:avLst/>
          </a:prstGeom>
          <a:noFill/>
          <a:ln w="9525" cap="rnd" cmpd="sng">
            <a:solidFill>
              <a:srgbClr val="808080"/>
            </a:solidFill>
            <a:prstDash val="solid"/>
            <a:round/>
            <a:headEnd type="none" w="sm" len="sm"/>
            <a:tailEnd type="none" w="sm" len="sm"/>
          </a:ln>
        </p:spPr>
      </p:cxnSp>
      <p:grpSp>
        <p:nvGrpSpPr>
          <p:cNvPr id="1179" name="Google Shape;1179;g3465da649cc_0_1110"/>
          <p:cNvGrpSpPr/>
          <p:nvPr/>
        </p:nvGrpSpPr>
        <p:grpSpPr>
          <a:xfrm>
            <a:off x="872534" y="8351050"/>
            <a:ext cx="846442" cy="699635"/>
            <a:chOff x="0" y="0"/>
            <a:chExt cx="1269600" cy="1049400"/>
          </a:xfrm>
        </p:grpSpPr>
        <p:sp>
          <p:nvSpPr>
            <p:cNvPr id="1180" name="Google Shape;1180;g3465da649cc_0_1110"/>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181" name="Google Shape;1181;g3465da649cc_0_1110"/>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19968"/>
                </a:lnSpc>
                <a:spcBef>
                  <a:spcPts val="0"/>
                </a:spcBef>
                <a:spcAft>
                  <a:spcPts val="0"/>
                </a:spcAft>
                <a:buClr>
                  <a:srgbClr val="000000"/>
                </a:buClr>
                <a:buSzPts val="2800"/>
                <a:buFont typeface="Arial"/>
                <a:buNone/>
              </a:pPr>
              <a:r>
                <a:rPr lang="en-US" sz="2800" b="0" i="0" u="none" strike="noStrike" cap="none" dirty="0">
                  <a:solidFill>
                    <a:srgbClr val="666666"/>
                  </a:solidFill>
                  <a:latin typeface="Inter"/>
                  <a:ea typeface="Inter"/>
                  <a:cs typeface="Inter"/>
                  <a:sym typeface="Inter"/>
                </a:rPr>
                <a:t>18</a:t>
              </a:r>
              <a:endParaRPr sz="1200" b="0" i="0" u="none" strike="noStrike" cap="none" dirty="0">
                <a:solidFill>
                  <a:srgbClr val="000000"/>
                </a:solidFill>
                <a:latin typeface="Arial"/>
                <a:ea typeface="Arial"/>
                <a:cs typeface="Arial"/>
                <a:sym typeface="Arial"/>
              </a:endParaRPr>
            </a:p>
          </p:txBody>
        </p:sp>
      </p:grpSp>
      <p:grpSp>
        <p:nvGrpSpPr>
          <p:cNvPr id="1182" name="Google Shape;1182;g3465da649cc_0_1110"/>
          <p:cNvGrpSpPr/>
          <p:nvPr/>
        </p:nvGrpSpPr>
        <p:grpSpPr>
          <a:xfrm>
            <a:off x="1769555" y="8560966"/>
            <a:ext cx="5353468" cy="296215"/>
            <a:chOff x="0" y="-9525"/>
            <a:chExt cx="8029800" cy="444300"/>
          </a:xfrm>
        </p:grpSpPr>
        <p:sp>
          <p:nvSpPr>
            <p:cNvPr id="1183" name="Google Shape;1183;g3465da649cc_0_1110"/>
            <p:cNvSpPr/>
            <p:nvPr/>
          </p:nvSpPr>
          <p:spPr>
            <a:xfrm>
              <a:off x="0" y="0"/>
              <a:ext cx="8029800" cy="434687"/>
            </a:xfrm>
            <a:custGeom>
              <a:avLst/>
              <a:gdLst/>
              <a:ahLst/>
              <a:cxnLst/>
              <a:rect l="l" t="t" r="r" b="b"/>
              <a:pathLst>
                <a:path w="8029800" h="434687" extrusionOk="0">
                  <a:moveTo>
                    <a:pt x="0" y="0"/>
                  </a:moveTo>
                  <a:lnTo>
                    <a:pt x="8029800" y="0"/>
                  </a:lnTo>
                  <a:lnTo>
                    <a:pt x="8029800" y="434687"/>
                  </a:lnTo>
                  <a:lnTo>
                    <a:pt x="0" y="434687"/>
                  </a:lnTo>
                  <a:close/>
                </a:path>
              </a:pathLst>
            </a:custGeom>
            <a:solidFill>
              <a:srgbClr val="000000">
                <a:alpha val="0"/>
              </a:srgbClr>
            </a:solidFill>
            <a:ln>
              <a:noFill/>
            </a:ln>
          </p:spPr>
        </p:sp>
        <p:sp>
          <p:nvSpPr>
            <p:cNvPr id="1184" name="Google Shape;1184;g3465da649cc_0_1110"/>
            <p:cNvSpPr txBox="1"/>
            <p:nvPr/>
          </p:nvSpPr>
          <p:spPr>
            <a:xfrm>
              <a:off x="0" y="-9525"/>
              <a:ext cx="8029800" cy="444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300"/>
                <a:buFont typeface="Arial"/>
                <a:buNone/>
              </a:pPr>
              <a:r>
                <a:rPr lang="en-US" sz="1300" b="0" i="0" u="none" strike="noStrike" cap="none" dirty="0">
                  <a:solidFill>
                    <a:srgbClr val="808080"/>
                  </a:solidFill>
                  <a:latin typeface="Inter"/>
                  <a:ea typeface="Inter"/>
                  <a:cs typeface="Inter"/>
                  <a:sym typeface="Inter"/>
                </a:rPr>
                <a:t>RETAIL DX Profile - Software Development For Retail</a:t>
              </a:r>
              <a:endParaRPr sz="1200" b="0" i="0" u="none" strike="noStrike" cap="none" dirty="0">
                <a:solidFill>
                  <a:srgbClr val="000000"/>
                </a:solidFill>
                <a:latin typeface="Arial"/>
                <a:ea typeface="Arial"/>
                <a:cs typeface="Arial"/>
                <a:sym typeface="Arial"/>
              </a:endParaRPr>
            </a:p>
          </p:txBody>
        </p:sp>
      </p:grpSp>
      <p:pic>
        <p:nvPicPr>
          <p:cNvPr id="1185" name="Google Shape;1185;g3465da649cc_0_1110" title="Logo_VTI (2).png"/>
          <p:cNvPicPr preferRelativeResize="0"/>
          <p:nvPr/>
        </p:nvPicPr>
        <p:blipFill rotWithShape="1">
          <a:blip r:embed="rId16" cstate="email">
            <a:alphaModFix/>
            <a:extLst>
              <a:ext uri="{28A0092B-C50C-407E-A947-70E740481C1C}">
                <a14:useLocalDpi xmlns:a14="http://schemas.microsoft.com/office/drawing/2010/main"/>
              </a:ext>
            </a:extLst>
          </a:blip>
          <a:srcRect/>
          <a:stretch/>
        </p:blipFill>
        <p:spPr>
          <a:xfrm>
            <a:off x="14701375" y="281474"/>
            <a:ext cx="1205820" cy="6446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cxnSp>
        <p:nvCxnSpPr>
          <p:cNvPr id="1194" name="Google Shape;1194;g3499340675d_0_0"/>
          <p:cNvCxnSpPr/>
          <p:nvPr/>
        </p:nvCxnSpPr>
        <p:spPr>
          <a:xfrm>
            <a:off x="906402" y="445572"/>
            <a:ext cx="0" cy="371400"/>
          </a:xfrm>
          <a:prstGeom prst="straightConnector1">
            <a:avLst/>
          </a:prstGeom>
          <a:noFill/>
          <a:ln w="47625" cap="rnd" cmpd="sng">
            <a:solidFill>
              <a:srgbClr val="0050AE"/>
            </a:solidFill>
            <a:prstDash val="solid"/>
            <a:round/>
            <a:headEnd type="none" w="sm" len="sm"/>
            <a:tailEnd type="none" w="sm" len="sm"/>
          </a:ln>
        </p:spPr>
      </p:cxnSp>
      <p:grpSp>
        <p:nvGrpSpPr>
          <p:cNvPr id="1195" name="Google Shape;1195;g3499340675d_0_0"/>
          <p:cNvGrpSpPr/>
          <p:nvPr/>
        </p:nvGrpSpPr>
        <p:grpSpPr>
          <a:xfrm>
            <a:off x="1173733" y="394023"/>
            <a:ext cx="9181259" cy="474574"/>
            <a:chOff x="0" y="0"/>
            <a:chExt cx="13771200" cy="711825"/>
          </a:xfrm>
        </p:grpSpPr>
        <p:sp>
          <p:nvSpPr>
            <p:cNvPr id="1196" name="Google Shape;1196;g3499340675d_0_0"/>
            <p:cNvSpPr/>
            <p:nvPr/>
          </p:nvSpPr>
          <p:spPr>
            <a:xfrm>
              <a:off x="0" y="0"/>
              <a:ext cx="13771184" cy="711777"/>
            </a:xfrm>
            <a:custGeom>
              <a:avLst/>
              <a:gdLst/>
              <a:ahLst/>
              <a:cxnLst/>
              <a:rect l="l" t="t" r="r" b="b"/>
              <a:pathLst>
                <a:path w="13771184" h="711777" extrusionOk="0">
                  <a:moveTo>
                    <a:pt x="0" y="0"/>
                  </a:moveTo>
                  <a:lnTo>
                    <a:pt x="13771184" y="0"/>
                  </a:lnTo>
                  <a:lnTo>
                    <a:pt x="13771184" y="711777"/>
                  </a:lnTo>
                  <a:lnTo>
                    <a:pt x="0" y="711777"/>
                  </a:lnTo>
                  <a:close/>
                </a:path>
              </a:pathLst>
            </a:custGeom>
            <a:solidFill>
              <a:srgbClr val="000000">
                <a:alpha val="0"/>
              </a:srgbClr>
            </a:solidFill>
            <a:ln>
              <a:noFill/>
            </a:ln>
          </p:spPr>
        </p:sp>
        <p:sp>
          <p:nvSpPr>
            <p:cNvPr id="1197" name="Google Shape;1197;g3499340675d_0_0"/>
            <p:cNvSpPr txBox="1"/>
            <p:nvPr/>
          </p:nvSpPr>
          <p:spPr>
            <a:xfrm>
              <a:off x="0" y="9525"/>
              <a:ext cx="13771200" cy="702300"/>
            </a:xfrm>
            <a:prstGeom prst="rect">
              <a:avLst/>
            </a:prstGeom>
            <a:noFill/>
            <a:ln>
              <a:noFill/>
            </a:ln>
          </p:spPr>
          <p:txBody>
            <a:bodyPr spcFirstLastPara="1" wrap="square" lIns="0" tIns="0" rIns="0" bIns="0" anchor="t" anchorCtr="0">
              <a:noAutofit/>
            </a:bodyPr>
            <a:lstStyle/>
            <a:p>
              <a:pPr marL="0" marR="0" lvl="0" indent="0" algn="l" rtl="0">
                <a:lnSpc>
                  <a:spcPct val="120008"/>
                </a:lnSpc>
                <a:spcBef>
                  <a:spcPts val="0"/>
                </a:spcBef>
                <a:spcAft>
                  <a:spcPts val="0"/>
                </a:spcAft>
                <a:buClr>
                  <a:srgbClr val="000000"/>
                </a:buClr>
                <a:buSzPts val="2200"/>
                <a:buFont typeface="Arial"/>
                <a:buNone/>
              </a:pPr>
              <a:r>
                <a:rPr lang="en-US" sz="2200" b="1" i="0" u="none" strike="noStrike" cap="none">
                  <a:solidFill>
                    <a:srgbClr val="0050AE"/>
                  </a:solidFill>
                  <a:latin typeface="Inter"/>
                  <a:ea typeface="Inter"/>
                  <a:cs typeface="Inter"/>
                  <a:sym typeface="Inter"/>
                </a:rPr>
                <a:t>SOFTWARE FOR AGILE BUSINESS OPERATIONS</a:t>
              </a:r>
              <a:endParaRPr sz="1200" b="0" i="0" u="none" strike="noStrike" cap="none">
                <a:solidFill>
                  <a:srgbClr val="000000"/>
                </a:solidFill>
                <a:latin typeface="Arial"/>
                <a:ea typeface="Arial"/>
                <a:cs typeface="Arial"/>
                <a:sym typeface="Arial"/>
              </a:endParaRPr>
            </a:p>
          </p:txBody>
        </p:sp>
      </p:grpSp>
      <p:grpSp>
        <p:nvGrpSpPr>
          <p:cNvPr id="1198" name="Google Shape;1198;g3499340675d_0_0"/>
          <p:cNvGrpSpPr/>
          <p:nvPr/>
        </p:nvGrpSpPr>
        <p:grpSpPr>
          <a:xfrm>
            <a:off x="11047100" y="1198051"/>
            <a:ext cx="3862393" cy="383619"/>
            <a:chOff x="0" y="-104775"/>
            <a:chExt cx="5793300" cy="575400"/>
          </a:xfrm>
        </p:grpSpPr>
        <p:sp>
          <p:nvSpPr>
            <p:cNvPr id="1199" name="Google Shape;1199;g3499340675d_0_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200" name="Google Shape;1200;g3499340675d_0_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PROCUREMENT</a:t>
              </a:r>
              <a:endParaRPr sz="1200" b="0" i="0" u="none" strike="noStrike" cap="none">
                <a:solidFill>
                  <a:srgbClr val="000000"/>
                </a:solidFill>
                <a:latin typeface="Arial"/>
                <a:ea typeface="Arial"/>
                <a:cs typeface="Arial"/>
                <a:sym typeface="Arial"/>
              </a:endParaRPr>
            </a:p>
          </p:txBody>
        </p:sp>
      </p:grpSp>
      <p:grpSp>
        <p:nvGrpSpPr>
          <p:cNvPr id="1201" name="Google Shape;1201;g3499340675d_0_0"/>
          <p:cNvGrpSpPr/>
          <p:nvPr/>
        </p:nvGrpSpPr>
        <p:grpSpPr>
          <a:xfrm>
            <a:off x="11047100" y="1655963"/>
            <a:ext cx="2586929" cy="721436"/>
            <a:chOff x="0" y="-95250"/>
            <a:chExt cx="3880200" cy="1082100"/>
          </a:xfrm>
        </p:grpSpPr>
        <p:sp>
          <p:nvSpPr>
            <p:cNvPr id="1202" name="Google Shape;1202;g3499340675d_0_0"/>
            <p:cNvSpPr/>
            <p:nvPr/>
          </p:nvSpPr>
          <p:spPr>
            <a:xfrm>
              <a:off x="0" y="0"/>
              <a:ext cx="3880196" cy="986711"/>
            </a:xfrm>
            <a:custGeom>
              <a:avLst/>
              <a:gdLst/>
              <a:ahLst/>
              <a:cxnLst/>
              <a:rect l="l" t="t" r="r" b="b"/>
              <a:pathLst>
                <a:path w="3880196" h="986711" extrusionOk="0">
                  <a:moveTo>
                    <a:pt x="0" y="0"/>
                  </a:moveTo>
                  <a:lnTo>
                    <a:pt x="3880196" y="0"/>
                  </a:lnTo>
                  <a:lnTo>
                    <a:pt x="3880196" y="986711"/>
                  </a:lnTo>
                  <a:lnTo>
                    <a:pt x="0" y="986711"/>
                  </a:lnTo>
                  <a:close/>
                </a:path>
              </a:pathLst>
            </a:custGeom>
            <a:solidFill>
              <a:srgbClr val="000000">
                <a:alpha val="0"/>
              </a:srgbClr>
            </a:solidFill>
            <a:ln>
              <a:noFill/>
            </a:ln>
          </p:spPr>
        </p:sp>
        <p:sp>
          <p:nvSpPr>
            <p:cNvPr id="1203" name="Google Shape;1203;g3499340675d_0_0"/>
            <p:cNvSpPr txBox="1"/>
            <p:nvPr/>
          </p:nvSpPr>
          <p:spPr>
            <a:xfrm>
              <a:off x="0" y="-95250"/>
              <a:ext cx="3880200" cy="10821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Purchasing Management</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Suppliers Management</a:t>
              </a:r>
              <a:endParaRPr sz="1200" b="0" i="0" u="none" strike="noStrike" cap="none">
                <a:solidFill>
                  <a:srgbClr val="000000"/>
                </a:solidFill>
                <a:latin typeface="Arial"/>
                <a:ea typeface="Arial"/>
                <a:cs typeface="Arial"/>
                <a:sym typeface="Arial"/>
              </a:endParaRPr>
            </a:p>
          </p:txBody>
        </p:sp>
      </p:grpSp>
      <p:grpSp>
        <p:nvGrpSpPr>
          <p:cNvPr id="1204" name="Google Shape;1204;g3499340675d_0_0"/>
          <p:cNvGrpSpPr/>
          <p:nvPr/>
        </p:nvGrpSpPr>
        <p:grpSpPr>
          <a:xfrm>
            <a:off x="3484233" y="1655960"/>
            <a:ext cx="2544591" cy="699035"/>
            <a:chOff x="0" y="-95250"/>
            <a:chExt cx="3816696" cy="1048500"/>
          </a:xfrm>
        </p:grpSpPr>
        <p:sp>
          <p:nvSpPr>
            <p:cNvPr id="1205" name="Google Shape;1205;g3499340675d_0_0"/>
            <p:cNvSpPr/>
            <p:nvPr/>
          </p:nvSpPr>
          <p:spPr>
            <a:xfrm>
              <a:off x="0" y="0"/>
              <a:ext cx="3816696" cy="953193"/>
            </a:xfrm>
            <a:custGeom>
              <a:avLst/>
              <a:gdLst/>
              <a:ahLst/>
              <a:cxnLst/>
              <a:rect l="l" t="t" r="r" b="b"/>
              <a:pathLst>
                <a:path w="3816696" h="953193" extrusionOk="0">
                  <a:moveTo>
                    <a:pt x="0" y="0"/>
                  </a:moveTo>
                  <a:lnTo>
                    <a:pt x="3816696" y="0"/>
                  </a:lnTo>
                  <a:lnTo>
                    <a:pt x="3816696" y="953193"/>
                  </a:lnTo>
                  <a:lnTo>
                    <a:pt x="0" y="953193"/>
                  </a:lnTo>
                  <a:close/>
                </a:path>
              </a:pathLst>
            </a:custGeom>
            <a:solidFill>
              <a:srgbClr val="000000">
                <a:alpha val="0"/>
              </a:srgbClr>
            </a:solidFill>
            <a:ln>
              <a:noFill/>
            </a:ln>
          </p:spPr>
        </p:sp>
        <p:sp>
          <p:nvSpPr>
            <p:cNvPr id="1206" name="Google Shape;1206;g3499340675d_0_0"/>
            <p:cNvSpPr txBox="1"/>
            <p:nvPr/>
          </p:nvSpPr>
          <p:spPr>
            <a:xfrm>
              <a:off x="0" y="-95250"/>
              <a:ext cx="3816600" cy="10485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Sales Management</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AI-based Sales Forecast</a:t>
              </a:r>
              <a:endParaRPr sz="1200" b="0" i="0" u="none" strike="noStrike" cap="none">
                <a:solidFill>
                  <a:srgbClr val="000000"/>
                </a:solidFill>
                <a:latin typeface="Arial"/>
                <a:ea typeface="Arial"/>
                <a:cs typeface="Arial"/>
                <a:sym typeface="Arial"/>
              </a:endParaRPr>
            </a:p>
          </p:txBody>
        </p:sp>
      </p:grpSp>
      <p:sp>
        <p:nvSpPr>
          <p:cNvPr id="1207" name="Google Shape;1207;g3499340675d_0_0"/>
          <p:cNvSpPr/>
          <p:nvPr/>
        </p:nvSpPr>
        <p:spPr>
          <a:xfrm>
            <a:off x="8496277" y="1246661"/>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08" name="Google Shape;1208;g3499340675d_0_0"/>
          <p:cNvGrpSpPr/>
          <p:nvPr/>
        </p:nvGrpSpPr>
        <p:grpSpPr>
          <a:xfrm>
            <a:off x="9270993" y="2254248"/>
            <a:ext cx="668040" cy="691526"/>
            <a:chOff x="0" y="-28575"/>
            <a:chExt cx="812800" cy="841375"/>
          </a:xfrm>
        </p:grpSpPr>
        <p:sp>
          <p:nvSpPr>
            <p:cNvPr id="1209" name="Google Shape;1209;g3499340675d_0_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0" name="Google Shape;1210;g3499340675d_0_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211" name="Google Shape;1211;g3499340675d_0_0"/>
          <p:cNvSpPr/>
          <p:nvPr/>
        </p:nvSpPr>
        <p:spPr>
          <a:xfrm>
            <a:off x="9398006" y="2377274"/>
            <a:ext cx="414518" cy="427889"/>
          </a:xfrm>
          <a:custGeom>
            <a:avLst/>
            <a:gdLst/>
            <a:ahLst/>
            <a:cxnLst/>
            <a:rect l="l" t="t" r="r" b="b"/>
            <a:pathLst>
              <a:path w="465750" h="480774" extrusionOk="0">
                <a:moveTo>
                  <a:pt x="0" y="0"/>
                </a:moveTo>
                <a:lnTo>
                  <a:pt x="465749" y="0"/>
                </a:lnTo>
                <a:lnTo>
                  <a:pt x="465749" y="480774"/>
                </a:lnTo>
                <a:lnTo>
                  <a:pt x="0" y="480774"/>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sp>
        <p:nvSpPr>
          <p:cNvPr id="1212" name="Google Shape;1212;g3499340675d_0_0"/>
          <p:cNvSpPr/>
          <p:nvPr/>
        </p:nvSpPr>
        <p:spPr>
          <a:xfrm>
            <a:off x="891077" y="1267902"/>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13" name="Google Shape;1213;g3499340675d_0_0"/>
          <p:cNvGrpSpPr/>
          <p:nvPr/>
        </p:nvGrpSpPr>
        <p:grpSpPr>
          <a:xfrm>
            <a:off x="1665793" y="2275490"/>
            <a:ext cx="668040" cy="691526"/>
            <a:chOff x="0" y="-28575"/>
            <a:chExt cx="812800" cy="841375"/>
          </a:xfrm>
        </p:grpSpPr>
        <p:sp>
          <p:nvSpPr>
            <p:cNvPr id="1214" name="Google Shape;1214;g3499340675d_0_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5" name="Google Shape;1215;g3499340675d_0_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216" name="Google Shape;1216;g3499340675d_0_0"/>
          <p:cNvSpPr/>
          <p:nvPr/>
        </p:nvSpPr>
        <p:spPr>
          <a:xfrm>
            <a:off x="1755870" y="2456745"/>
            <a:ext cx="488481" cy="352928"/>
          </a:xfrm>
          <a:custGeom>
            <a:avLst/>
            <a:gdLst/>
            <a:ahLst/>
            <a:cxnLst/>
            <a:rect l="l" t="t" r="r" b="b"/>
            <a:pathLst>
              <a:path w="548855" h="396548" extrusionOk="0">
                <a:moveTo>
                  <a:pt x="0" y="0"/>
                </a:moveTo>
                <a:lnTo>
                  <a:pt x="548855" y="0"/>
                </a:lnTo>
                <a:lnTo>
                  <a:pt x="548855" y="396547"/>
                </a:lnTo>
                <a:lnTo>
                  <a:pt x="0" y="396547"/>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grpSp>
        <p:nvGrpSpPr>
          <p:cNvPr id="1217" name="Google Shape;1217;g3499340675d_0_0"/>
          <p:cNvGrpSpPr/>
          <p:nvPr/>
        </p:nvGrpSpPr>
        <p:grpSpPr>
          <a:xfrm>
            <a:off x="11089431" y="3085931"/>
            <a:ext cx="3862393" cy="383619"/>
            <a:chOff x="0" y="-104775"/>
            <a:chExt cx="5793300" cy="575400"/>
          </a:xfrm>
        </p:grpSpPr>
        <p:sp>
          <p:nvSpPr>
            <p:cNvPr id="1218" name="Google Shape;1218;g3499340675d_0_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219" name="Google Shape;1219;g3499340675d_0_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SUPPLY CHAIN - LOGISTICS </a:t>
              </a:r>
              <a:endParaRPr sz="1200" b="0" i="0" u="none" strike="noStrike" cap="none">
                <a:solidFill>
                  <a:srgbClr val="000000"/>
                </a:solidFill>
                <a:latin typeface="Arial"/>
                <a:ea typeface="Arial"/>
                <a:cs typeface="Arial"/>
                <a:sym typeface="Arial"/>
              </a:endParaRPr>
            </a:p>
          </p:txBody>
        </p:sp>
      </p:grpSp>
      <p:grpSp>
        <p:nvGrpSpPr>
          <p:cNvPr id="1220" name="Google Shape;1220;g3499340675d_0_0"/>
          <p:cNvGrpSpPr/>
          <p:nvPr/>
        </p:nvGrpSpPr>
        <p:grpSpPr>
          <a:xfrm>
            <a:off x="3484233" y="1198048"/>
            <a:ext cx="3862393" cy="383619"/>
            <a:chOff x="0" y="-104775"/>
            <a:chExt cx="5793300" cy="575400"/>
          </a:xfrm>
        </p:grpSpPr>
        <p:sp>
          <p:nvSpPr>
            <p:cNvPr id="1221" name="Google Shape;1221;g3499340675d_0_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222" name="Google Shape;1222;g3499340675d_0_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SALES</a:t>
              </a:r>
              <a:endParaRPr sz="1200" b="0" i="0" u="none" strike="noStrike" cap="none">
                <a:solidFill>
                  <a:srgbClr val="000000"/>
                </a:solidFill>
                <a:latin typeface="Arial"/>
                <a:ea typeface="Arial"/>
                <a:cs typeface="Arial"/>
                <a:sym typeface="Arial"/>
              </a:endParaRPr>
            </a:p>
          </p:txBody>
        </p:sp>
      </p:grpSp>
      <p:grpSp>
        <p:nvGrpSpPr>
          <p:cNvPr id="1223" name="Google Shape;1223;g3499340675d_0_0"/>
          <p:cNvGrpSpPr/>
          <p:nvPr/>
        </p:nvGrpSpPr>
        <p:grpSpPr>
          <a:xfrm>
            <a:off x="11089431" y="3543842"/>
            <a:ext cx="3862393" cy="699035"/>
            <a:chOff x="0" y="-95250"/>
            <a:chExt cx="5793300" cy="1048500"/>
          </a:xfrm>
        </p:grpSpPr>
        <p:sp>
          <p:nvSpPr>
            <p:cNvPr id="1224" name="Google Shape;1224;g3499340675d_0_0"/>
            <p:cNvSpPr/>
            <p:nvPr/>
          </p:nvSpPr>
          <p:spPr>
            <a:xfrm>
              <a:off x="0" y="0"/>
              <a:ext cx="5793286" cy="953193"/>
            </a:xfrm>
            <a:custGeom>
              <a:avLst/>
              <a:gdLst/>
              <a:ahLst/>
              <a:cxnLst/>
              <a:rect l="l" t="t" r="r" b="b"/>
              <a:pathLst>
                <a:path w="5793286" h="953193" extrusionOk="0">
                  <a:moveTo>
                    <a:pt x="0" y="0"/>
                  </a:moveTo>
                  <a:lnTo>
                    <a:pt x="5793286" y="0"/>
                  </a:lnTo>
                  <a:lnTo>
                    <a:pt x="5793286" y="953193"/>
                  </a:lnTo>
                  <a:lnTo>
                    <a:pt x="0" y="953193"/>
                  </a:lnTo>
                  <a:close/>
                </a:path>
              </a:pathLst>
            </a:custGeom>
            <a:solidFill>
              <a:srgbClr val="000000">
                <a:alpha val="0"/>
              </a:srgbClr>
            </a:solidFill>
            <a:ln>
              <a:noFill/>
            </a:ln>
          </p:spPr>
        </p:sp>
        <p:sp>
          <p:nvSpPr>
            <p:cNvPr id="1225" name="Google Shape;1225;g3499340675d_0_0"/>
            <p:cNvSpPr txBox="1"/>
            <p:nvPr/>
          </p:nvSpPr>
          <p:spPr>
            <a:xfrm>
              <a:off x="0" y="-95250"/>
              <a:ext cx="5793300" cy="10485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Warehouse Management System (WMS)</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Delivery Management System</a:t>
              </a:r>
              <a:endParaRPr sz="1400" b="0" i="0" u="none" strike="noStrike" cap="none">
                <a:solidFill>
                  <a:srgbClr val="3D3D3D"/>
                </a:solidFill>
                <a:latin typeface="Inter"/>
                <a:ea typeface="Inter"/>
                <a:cs typeface="Inter"/>
                <a:sym typeface="Inter"/>
              </a:endParaRPr>
            </a:p>
            <a:p>
              <a:pPr marL="0" marR="0" lvl="0" indent="0" algn="l" rtl="0">
                <a:lnSpc>
                  <a:spcPct val="180050"/>
                </a:lnSpc>
                <a:spcBef>
                  <a:spcPts val="0"/>
                </a:spcBef>
                <a:spcAft>
                  <a:spcPts val="0"/>
                </a:spcAft>
                <a:buClr>
                  <a:schemeClr val="dk1"/>
                </a:buClr>
                <a:buSzPts val="1400"/>
                <a:buFont typeface="Arial"/>
                <a:buNone/>
              </a:pPr>
              <a:r>
                <a:rPr lang="en-US" sz="1400" b="0" i="0" u="none" strike="noStrike" cap="none">
                  <a:solidFill>
                    <a:srgbClr val="3D3D3D"/>
                  </a:solidFill>
                  <a:latin typeface="Inter"/>
                  <a:ea typeface="Inter"/>
                  <a:cs typeface="Inter"/>
                  <a:sym typeface="Inter"/>
                </a:rPr>
                <a:t>▶ Receipt/ Shipping Management</a:t>
              </a:r>
              <a:endParaRPr sz="1400" b="0" i="0" u="none" strike="noStrike" cap="none">
                <a:solidFill>
                  <a:srgbClr val="3D3D3D"/>
                </a:solidFill>
                <a:latin typeface="Inter"/>
                <a:ea typeface="Inter"/>
                <a:cs typeface="Inter"/>
                <a:sym typeface="Inter"/>
              </a:endParaRPr>
            </a:p>
          </p:txBody>
        </p:sp>
      </p:grpSp>
      <p:sp>
        <p:nvSpPr>
          <p:cNvPr id="1226" name="Google Shape;1226;g3499340675d_0_0"/>
          <p:cNvSpPr/>
          <p:nvPr/>
        </p:nvSpPr>
        <p:spPr>
          <a:xfrm>
            <a:off x="8496277" y="3155784"/>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27" name="Google Shape;1227;g3499340675d_0_0"/>
          <p:cNvGrpSpPr/>
          <p:nvPr/>
        </p:nvGrpSpPr>
        <p:grpSpPr>
          <a:xfrm>
            <a:off x="9270991" y="4163371"/>
            <a:ext cx="668040" cy="691526"/>
            <a:chOff x="0" y="-28575"/>
            <a:chExt cx="812800" cy="841375"/>
          </a:xfrm>
        </p:grpSpPr>
        <p:sp>
          <p:nvSpPr>
            <p:cNvPr id="1228" name="Google Shape;1228;g3499340675d_0_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9" name="Google Shape;1229;g3499340675d_0_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230" name="Google Shape;1230;g3499340675d_0_0"/>
          <p:cNvSpPr/>
          <p:nvPr/>
        </p:nvSpPr>
        <p:spPr>
          <a:xfrm>
            <a:off x="9385639" y="4285266"/>
            <a:ext cx="472388" cy="471798"/>
          </a:xfrm>
          <a:custGeom>
            <a:avLst/>
            <a:gdLst/>
            <a:ahLst/>
            <a:cxnLst/>
            <a:rect l="l" t="t" r="r" b="b"/>
            <a:pathLst>
              <a:path w="530773" h="530110" extrusionOk="0">
                <a:moveTo>
                  <a:pt x="0" y="0"/>
                </a:moveTo>
                <a:lnTo>
                  <a:pt x="530773" y="0"/>
                </a:lnTo>
                <a:lnTo>
                  <a:pt x="530773" y="530110"/>
                </a:lnTo>
                <a:lnTo>
                  <a:pt x="0" y="530110"/>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grpSp>
        <p:nvGrpSpPr>
          <p:cNvPr id="1231" name="Google Shape;1231;g3499340675d_0_0"/>
          <p:cNvGrpSpPr/>
          <p:nvPr/>
        </p:nvGrpSpPr>
        <p:grpSpPr>
          <a:xfrm>
            <a:off x="3465686" y="5047106"/>
            <a:ext cx="3862393" cy="383619"/>
            <a:chOff x="0" y="-104775"/>
            <a:chExt cx="5793300" cy="575400"/>
          </a:xfrm>
        </p:grpSpPr>
        <p:sp>
          <p:nvSpPr>
            <p:cNvPr id="1232" name="Google Shape;1232;g3499340675d_0_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233" name="Google Shape;1233;g3499340675d_0_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MARKETING</a:t>
              </a:r>
              <a:endParaRPr sz="1200" b="0" i="0" u="none" strike="noStrike" cap="none">
                <a:solidFill>
                  <a:srgbClr val="000000"/>
                </a:solidFill>
                <a:latin typeface="Arial"/>
                <a:ea typeface="Arial"/>
                <a:cs typeface="Arial"/>
                <a:sym typeface="Arial"/>
              </a:endParaRPr>
            </a:p>
          </p:txBody>
        </p:sp>
      </p:grpSp>
      <p:grpSp>
        <p:nvGrpSpPr>
          <p:cNvPr id="1234" name="Google Shape;1234;g3499340675d_0_0"/>
          <p:cNvGrpSpPr/>
          <p:nvPr/>
        </p:nvGrpSpPr>
        <p:grpSpPr>
          <a:xfrm>
            <a:off x="3465686" y="5505017"/>
            <a:ext cx="4223666" cy="1334491"/>
            <a:chOff x="0" y="-95250"/>
            <a:chExt cx="6335182" cy="2001636"/>
          </a:xfrm>
        </p:grpSpPr>
        <p:sp>
          <p:nvSpPr>
            <p:cNvPr id="1235" name="Google Shape;1235;g3499340675d_0_0"/>
            <p:cNvSpPr/>
            <p:nvPr/>
          </p:nvSpPr>
          <p:spPr>
            <a:xfrm>
              <a:off x="0" y="0"/>
              <a:ext cx="6335182" cy="1906386"/>
            </a:xfrm>
            <a:custGeom>
              <a:avLst/>
              <a:gdLst/>
              <a:ahLst/>
              <a:cxnLst/>
              <a:rect l="l" t="t" r="r" b="b"/>
              <a:pathLst>
                <a:path w="6335182" h="1906386" extrusionOk="0">
                  <a:moveTo>
                    <a:pt x="0" y="0"/>
                  </a:moveTo>
                  <a:lnTo>
                    <a:pt x="6335182" y="0"/>
                  </a:lnTo>
                  <a:lnTo>
                    <a:pt x="6335182" y="1906386"/>
                  </a:lnTo>
                  <a:lnTo>
                    <a:pt x="0" y="1906386"/>
                  </a:lnTo>
                  <a:close/>
                </a:path>
              </a:pathLst>
            </a:custGeom>
            <a:solidFill>
              <a:srgbClr val="000000">
                <a:alpha val="0"/>
              </a:srgbClr>
            </a:solidFill>
            <a:ln>
              <a:noFill/>
            </a:ln>
          </p:spPr>
        </p:sp>
        <p:sp>
          <p:nvSpPr>
            <p:cNvPr id="1236" name="Google Shape;1236;g3499340675d_0_0"/>
            <p:cNvSpPr txBox="1"/>
            <p:nvPr/>
          </p:nvSpPr>
          <p:spPr>
            <a:xfrm>
              <a:off x="0" y="-95250"/>
              <a:ext cx="6335100" cy="20016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AI-based behavior analysis &amp; forecast</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Master campaign management</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Loyalty/ Engagement program: Personal data utilization promotion service</a:t>
              </a:r>
              <a:endParaRPr sz="1200" b="0" i="0" u="none" strike="noStrike" cap="none">
                <a:solidFill>
                  <a:srgbClr val="000000"/>
                </a:solidFill>
                <a:latin typeface="Arial"/>
                <a:ea typeface="Arial"/>
                <a:cs typeface="Arial"/>
                <a:sym typeface="Arial"/>
              </a:endParaRPr>
            </a:p>
          </p:txBody>
        </p:sp>
      </p:grpSp>
      <p:sp>
        <p:nvSpPr>
          <p:cNvPr id="1237" name="Google Shape;1237;g3499340675d_0_0"/>
          <p:cNvSpPr/>
          <p:nvPr/>
        </p:nvSpPr>
        <p:spPr>
          <a:xfrm>
            <a:off x="872530" y="5116959"/>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38" name="Google Shape;1238;g3499340675d_0_0"/>
          <p:cNvGrpSpPr/>
          <p:nvPr/>
        </p:nvGrpSpPr>
        <p:grpSpPr>
          <a:xfrm>
            <a:off x="1647246" y="6124546"/>
            <a:ext cx="668040" cy="691526"/>
            <a:chOff x="0" y="-28575"/>
            <a:chExt cx="812800" cy="841375"/>
          </a:xfrm>
        </p:grpSpPr>
        <p:sp>
          <p:nvSpPr>
            <p:cNvPr id="1239" name="Google Shape;1239;g3499340675d_0_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0" name="Google Shape;1240;g3499340675d_0_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241" name="Google Shape;1241;g3499340675d_0_0"/>
          <p:cNvSpPr/>
          <p:nvPr/>
        </p:nvSpPr>
        <p:spPr>
          <a:xfrm>
            <a:off x="1747974" y="6223761"/>
            <a:ext cx="517214" cy="517214"/>
          </a:xfrm>
          <a:custGeom>
            <a:avLst/>
            <a:gdLst/>
            <a:ahLst/>
            <a:cxnLst/>
            <a:rect l="l" t="t" r="r" b="b"/>
            <a:pathLst>
              <a:path w="581139" h="581139" extrusionOk="0">
                <a:moveTo>
                  <a:pt x="0" y="0"/>
                </a:moveTo>
                <a:lnTo>
                  <a:pt x="581140" y="0"/>
                </a:lnTo>
                <a:lnTo>
                  <a:pt x="581140" y="581140"/>
                </a:lnTo>
                <a:lnTo>
                  <a:pt x="0" y="581140"/>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1242" name="Google Shape;1242;g3499340675d_0_0"/>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b="-8"/>
            </a:stretch>
          </a:blipFill>
          <a:ln>
            <a:noFill/>
          </a:ln>
        </p:spPr>
      </p:sp>
      <p:cxnSp>
        <p:nvCxnSpPr>
          <p:cNvPr id="1243" name="Google Shape;1243;g3499340675d_0_0"/>
          <p:cNvCxnSpPr/>
          <p:nvPr/>
        </p:nvCxnSpPr>
        <p:spPr>
          <a:xfrm>
            <a:off x="1647250" y="8527867"/>
            <a:ext cx="12900" cy="432300"/>
          </a:xfrm>
          <a:prstGeom prst="straightConnector1">
            <a:avLst/>
          </a:prstGeom>
          <a:noFill/>
          <a:ln w="9525" cap="rnd" cmpd="sng">
            <a:solidFill>
              <a:srgbClr val="808080"/>
            </a:solidFill>
            <a:prstDash val="solid"/>
            <a:round/>
            <a:headEnd type="none" w="sm" len="sm"/>
            <a:tailEnd type="none" w="sm" len="sm"/>
          </a:ln>
        </p:spPr>
      </p:cxnSp>
      <p:grpSp>
        <p:nvGrpSpPr>
          <p:cNvPr id="1244" name="Google Shape;1244;g3499340675d_0_0"/>
          <p:cNvGrpSpPr/>
          <p:nvPr/>
        </p:nvGrpSpPr>
        <p:grpSpPr>
          <a:xfrm>
            <a:off x="872534" y="8351050"/>
            <a:ext cx="846442" cy="699635"/>
            <a:chOff x="0" y="0"/>
            <a:chExt cx="1269600" cy="1049400"/>
          </a:xfrm>
        </p:grpSpPr>
        <p:sp>
          <p:nvSpPr>
            <p:cNvPr id="1245" name="Google Shape;1245;g3499340675d_0_0"/>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246" name="Google Shape;1246;g3499340675d_0_0"/>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19968"/>
                </a:lnSpc>
                <a:spcBef>
                  <a:spcPts val="0"/>
                </a:spcBef>
                <a:spcAft>
                  <a:spcPts val="0"/>
                </a:spcAft>
                <a:buClr>
                  <a:srgbClr val="000000"/>
                </a:buClr>
                <a:buSzPts val="2800"/>
                <a:buFont typeface="Arial"/>
                <a:buNone/>
              </a:pPr>
              <a:r>
                <a:rPr lang="en-US" sz="2800" b="0" i="0" u="none" strike="noStrike" cap="none" dirty="0">
                  <a:solidFill>
                    <a:srgbClr val="666666"/>
                  </a:solidFill>
                  <a:latin typeface="Inter"/>
                  <a:ea typeface="Inter"/>
                  <a:cs typeface="Inter"/>
                  <a:sym typeface="Inter"/>
                </a:rPr>
                <a:t>19</a:t>
              </a:r>
              <a:endParaRPr sz="1200" b="0" i="0" u="none" strike="noStrike" cap="none" dirty="0">
                <a:solidFill>
                  <a:srgbClr val="000000"/>
                </a:solidFill>
                <a:latin typeface="Arial"/>
                <a:ea typeface="Arial"/>
                <a:cs typeface="Arial"/>
                <a:sym typeface="Arial"/>
              </a:endParaRPr>
            </a:p>
          </p:txBody>
        </p:sp>
      </p:grpSp>
      <p:grpSp>
        <p:nvGrpSpPr>
          <p:cNvPr id="1247" name="Google Shape;1247;g3499340675d_0_0"/>
          <p:cNvGrpSpPr/>
          <p:nvPr/>
        </p:nvGrpSpPr>
        <p:grpSpPr>
          <a:xfrm>
            <a:off x="1769555" y="8560966"/>
            <a:ext cx="5353468" cy="296215"/>
            <a:chOff x="0" y="-9525"/>
            <a:chExt cx="8029800" cy="444300"/>
          </a:xfrm>
        </p:grpSpPr>
        <p:sp>
          <p:nvSpPr>
            <p:cNvPr id="1248" name="Google Shape;1248;g3499340675d_0_0"/>
            <p:cNvSpPr/>
            <p:nvPr/>
          </p:nvSpPr>
          <p:spPr>
            <a:xfrm>
              <a:off x="0" y="0"/>
              <a:ext cx="8029800" cy="434687"/>
            </a:xfrm>
            <a:custGeom>
              <a:avLst/>
              <a:gdLst/>
              <a:ahLst/>
              <a:cxnLst/>
              <a:rect l="l" t="t" r="r" b="b"/>
              <a:pathLst>
                <a:path w="8029800" h="434687" extrusionOk="0">
                  <a:moveTo>
                    <a:pt x="0" y="0"/>
                  </a:moveTo>
                  <a:lnTo>
                    <a:pt x="8029800" y="0"/>
                  </a:lnTo>
                  <a:lnTo>
                    <a:pt x="8029800" y="434687"/>
                  </a:lnTo>
                  <a:lnTo>
                    <a:pt x="0" y="434687"/>
                  </a:lnTo>
                  <a:close/>
                </a:path>
              </a:pathLst>
            </a:custGeom>
            <a:solidFill>
              <a:srgbClr val="000000">
                <a:alpha val="0"/>
              </a:srgbClr>
            </a:solidFill>
            <a:ln>
              <a:noFill/>
            </a:ln>
          </p:spPr>
        </p:sp>
        <p:sp>
          <p:nvSpPr>
            <p:cNvPr id="1249" name="Google Shape;1249;g3499340675d_0_0"/>
            <p:cNvSpPr txBox="1"/>
            <p:nvPr/>
          </p:nvSpPr>
          <p:spPr>
            <a:xfrm>
              <a:off x="0" y="-9525"/>
              <a:ext cx="8029800" cy="444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300"/>
                <a:buFont typeface="Arial"/>
                <a:buNone/>
              </a:pPr>
              <a:r>
                <a:rPr lang="en-US" sz="1300" b="0" i="0" u="none" strike="noStrike" cap="none" dirty="0">
                  <a:solidFill>
                    <a:srgbClr val="808080"/>
                  </a:solidFill>
                  <a:latin typeface="Inter"/>
                  <a:ea typeface="Inter"/>
                  <a:cs typeface="Inter"/>
                  <a:sym typeface="Inter"/>
                </a:rPr>
                <a:t>RETAIL DX Profile - Software Development For Retail</a:t>
              </a:r>
              <a:endParaRPr sz="1200" b="0" i="0" u="none" strike="noStrike" cap="none" dirty="0">
                <a:solidFill>
                  <a:srgbClr val="000000"/>
                </a:solidFill>
                <a:latin typeface="Arial"/>
                <a:ea typeface="Arial"/>
                <a:cs typeface="Arial"/>
                <a:sym typeface="Arial"/>
              </a:endParaRPr>
            </a:p>
          </p:txBody>
        </p:sp>
      </p:grpSp>
      <p:grpSp>
        <p:nvGrpSpPr>
          <p:cNvPr id="1250" name="Google Shape;1250;g3499340675d_0_0"/>
          <p:cNvGrpSpPr/>
          <p:nvPr/>
        </p:nvGrpSpPr>
        <p:grpSpPr>
          <a:xfrm>
            <a:off x="3424427" y="3084476"/>
            <a:ext cx="3862393" cy="383619"/>
            <a:chOff x="0" y="-104775"/>
            <a:chExt cx="5793300" cy="575400"/>
          </a:xfrm>
        </p:grpSpPr>
        <p:sp>
          <p:nvSpPr>
            <p:cNvPr id="1251" name="Google Shape;1251;g3499340675d_0_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252" name="Google Shape;1252;g3499340675d_0_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PRODUCT - R&amp;D</a:t>
              </a:r>
              <a:endParaRPr sz="1200" b="0" i="0" u="none" strike="noStrike" cap="none">
                <a:solidFill>
                  <a:srgbClr val="000000"/>
                </a:solidFill>
                <a:latin typeface="Arial"/>
                <a:ea typeface="Arial"/>
                <a:cs typeface="Arial"/>
                <a:sym typeface="Arial"/>
              </a:endParaRPr>
            </a:p>
          </p:txBody>
        </p:sp>
      </p:grpSp>
      <p:grpSp>
        <p:nvGrpSpPr>
          <p:cNvPr id="1253" name="Google Shape;1253;g3499340675d_0_0"/>
          <p:cNvGrpSpPr/>
          <p:nvPr/>
        </p:nvGrpSpPr>
        <p:grpSpPr>
          <a:xfrm>
            <a:off x="3424427" y="3542388"/>
            <a:ext cx="3656983" cy="1012741"/>
            <a:chOff x="0" y="-95250"/>
            <a:chExt cx="5485200" cy="1519036"/>
          </a:xfrm>
        </p:grpSpPr>
        <p:sp>
          <p:nvSpPr>
            <p:cNvPr id="1254" name="Google Shape;1254;g3499340675d_0_0"/>
            <p:cNvSpPr/>
            <p:nvPr/>
          </p:nvSpPr>
          <p:spPr>
            <a:xfrm>
              <a:off x="0" y="0"/>
              <a:ext cx="5485144" cy="1423786"/>
            </a:xfrm>
            <a:custGeom>
              <a:avLst/>
              <a:gdLst/>
              <a:ahLst/>
              <a:cxnLst/>
              <a:rect l="l" t="t" r="r" b="b"/>
              <a:pathLst>
                <a:path w="5485144" h="1423786" extrusionOk="0">
                  <a:moveTo>
                    <a:pt x="0" y="0"/>
                  </a:moveTo>
                  <a:lnTo>
                    <a:pt x="5485144" y="0"/>
                  </a:lnTo>
                  <a:lnTo>
                    <a:pt x="5485144" y="1423786"/>
                  </a:lnTo>
                  <a:lnTo>
                    <a:pt x="0" y="1423786"/>
                  </a:lnTo>
                  <a:close/>
                </a:path>
              </a:pathLst>
            </a:custGeom>
            <a:solidFill>
              <a:srgbClr val="000000">
                <a:alpha val="0"/>
              </a:srgbClr>
            </a:solidFill>
            <a:ln>
              <a:noFill/>
            </a:ln>
          </p:spPr>
        </p:sp>
        <p:sp>
          <p:nvSpPr>
            <p:cNvPr id="1255" name="Google Shape;1255;g3499340675d_0_0"/>
            <p:cNvSpPr txBox="1"/>
            <p:nvPr/>
          </p:nvSpPr>
          <p:spPr>
            <a:xfrm>
              <a:off x="0" y="-95250"/>
              <a:ext cx="5485200" cy="15189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Product Management</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New product recommendations using an AI-powered system</a:t>
              </a:r>
              <a:endParaRPr sz="1200" b="0" i="0" u="none" strike="noStrike" cap="none">
                <a:solidFill>
                  <a:srgbClr val="000000"/>
                </a:solidFill>
                <a:latin typeface="Arial"/>
                <a:ea typeface="Arial"/>
                <a:cs typeface="Arial"/>
                <a:sym typeface="Arial"/>
              </a:endParaRPr>
            </a:p>
          </p:txBody>
        </p:sp>
      </p:grpSp>
      <p:sp>
        <p:nvSpPr>
          <p:cNvPr id="1256" name="Google Shape;1256;g3499340675d_0_0"/>
          <p:cNvSpPr/>
          <p:nvPr/>
        </p:nvSpPr>
        <p:spPr>
          <a:xfrm>
            <a:off x="873605" y="3133086"/>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57" name="Google Shape;1257;g3499340675d_0_0"/>
          <p:cNvGrpSpPr/>
          <p:nvPr/>
        </p:nvGrpSpPr>
        <p:grpSpPr>
          <a:xfrm>
            <a:off x="1648321" y="4140673"/>
            <a:ext cx="668040" cy="691526"/>
            <a:chOff x="0" y="-28575"/>
            <a:chExt cx="812800" cy="841375"/>
          </a:xfrm>
        </p:grpSpPr>
        <p:sp>
          <p:nvSpPr>
            <p:cNvPr id="1258" name="Google Shape;1258;g3499340675d_0_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9" name="Google Shape;1259;g3499340675d_0_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260" name="Google Shape;1260;g3499340675d_0_0"/>
          <p:cNvSpPr/>
          <p:nvPr/>
        </p:nvSpPr>
        <p:spPr>
          <a:xfrm>
            <a:off x="1764850" y="4284495"/>
            <a:ext cx="435511" cy="427889"/>
          </a:xfrm>
          <a:custGeom>
            <a:avLst/>
            <a:gdLst/>
            <a:ahLst/>
            <a:cxnLst/>
            <a:rect l="l" t="t" r="r" b="b"/>
            <a:pathLst>
              <a:path w="489338" h="480774" extrusionOk="0">
                <a:moveTo>
                  <a:pt x="0" y="0"/>
                </a:moveTo>
                <a:lnTo>
                  <a:pt x="489337" y="0"/>
                </a:lnTo>
                <a:lnTo>
                  <a:pt x="489337" y="480774"/>
                </a:lnTo>
                <a:lnTo>
                  <a:pt x="0" y="480774"/>
                </a:lnTo>
                <a:lnTo>
                  <a:pt x="0" y="0"/>
                </a:lnTo>
                <a:close/>
              </a:path>
            </a:pathLst>
          </a:custGeom>
          <a:blipFill rotWithShape="1">
            <a:blip r:embed="rId13" cstate="email">
              <a:alphaModFix/>
              <a:extLst>
                <a:ext uri="{28A0092B-C50C-407E-A947-70E740481C1C}">
                  <a14:useLocalDpi xmlns:a14="http://schemas.microsoft.com/office/drawing/2010/main"/>
                </a:ext>
              </a:extLst>
            </a:blip>
            <a:stretch>
              <a:fillRect/>
            </a:stretch>
          </a:blipFill>
          <a:ln>
            <a:noFill/>
          </a:ln>
        </p:spPr>
      </p:sp>
      <p:grpSp>
        <p:nvGrpSpPr>
          <p:cNvPr id="1261" name="Google Shape;1261;g3499340675d_0_0"/>
          <p:cNvGrpSpPr/>
          <p:nvPr/>
        </p:nvGrpSpPr>
        <p:grpSpPr>
          <a:xfrm>
            <a:off x="11089436" y="5075973"/>
            <a:ext cx="3862393" cy="383619"/>
            <a:chOff x="0" y="-104775"/>
            <a:chExt cx="5793300" cy="575400"/>
          </a:xfrm>
        </p:grpSpPr>
        <p:sp>
          <p:nvSpPr>
            <p:cNvPr id="1262" name="Google Shape;1262;g3499340675d_0_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263" name="Google Shape;1263;g3499340675d_0_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ACCOUNTING &amp; FINANCE</a:t>
              </a:r>
              <a:endParaRPr sz="1200" b="0" i="0" u="none" strike="noStrike" cap="none">
                <a:solidFill>
                  <a:srgbClr val="000000"/>
                </a:solidFill>
                <a:latin typeface="Arial"/>
                <a:ea typeface="Arial"/>
                <a:cs typeface="Arial"/>
                <a:sym typeface="Arial"/>
              </a:endParaRPr>
            </a:p>
          </p:txBody>
        </p:sp>
      </p:grpSp>
      <p:grpSp>
        <p:nvGrpSpPr>
          <p:cNvPr id="1264" name="Google Shape;1264;g3499340675d_0_0"/>
          <p:cNvGrpSpPr/>
          <p:nvPr/>
        </p:nvGrpSpPr>
        <p:grpSpPr>
          <a:xfrm>
            <a:off x="11089436" y="5533885"/>
            <a:ext cx="4166470" cy="699035"/>
            <a:chOff x="0" y="-95250"/>
            <a:chExt cx="6249393" cy="1048500"/>
          </a:xfrm>
        </p:grpSpPr>
        <p:sp>
          <p:nvSpPr>
            <p:cNvPr id="1265" name="Google Shape;1265;g3499340675d_0_0"/>
            <p:cNvSpPr/>
            <p:nvPr/>
          </p:nvSpPr>
          <p:spPr>
            <a:xfrm>
              <a:off x="0" y="0"/>
              <a:ext cx="6249393" cy="953193"/>
            </a:xfrm>
            <a:custGeom>
              <a:avLst/>
              <a:gdLst/>
              <a:ahLst/>
              <a:cxnLst/>
              <a:rect l="l" t="t" r="r" b="b"/>
              <a:pathLst>
                <a:path w="6249393" h="953193" extrusionOk="0">
                  <a:moveTo>
                    <a:pt x="0" y="0"/>
                  </a:moveTo>
                  <a:lnTo>
                    <a:pt x="6249393" y="0"/>
                  </a:lnTo>
                  <a:lnTo>
                    <a:pt x="6249393" y="953193"/>
                  </a:lnTo>
                  <a:lnTo>
                    <a:pt x="0" y="953193"/>
                  </a:lnTo>
                  <a:close/>
                </a:path>
              </a:pathLst>
            </a:custGeom>
            <a:solidFill>
              <a:srgbClr val="000000">
                <a:alpha val="0"/>
              </a:srgbClr>
            </a:solidFill>
            <a:ln>
              <a:noFill/>
            </a:ln>
          </p:spPr>
        </p:sp>
        <p:sp>
          <p:nvSpPr>
            <p:cNvPr id="1266" name="Google Shape;1266;g3499340675d_0_0"/>
            <p:cNvSpPr txBox="1"/>
            <p:nvPr/>
          </p:nvSpPr>
          <p:spPr>
            <a:xfrm>
              <a:off x="0" y="-95250"/>
              <a:ext cx="6249300" cy="10485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Budgets &amp; expenses/ invoices management</a:t>
              </a:r>
              <a:endParaRPr sz="1200" b="0" i="0" u="none" strike="noStrike" cap="none">
                <a:solidFill>
                  <a:srgbClr val="000000"/>
                </a:solidFill>
                <a:latin typeface="Arial"/>
                <a:ea typeface="Arial"/>
                <a:cs typeface="Arial"/>
                <a:sym typeface="Arial"/>
              </a:endParaRPr>
            </a:p>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Revenue report management (Profit and loss)</a:t>
              </a:r>
              <a:endParaRPr sz="1200" b="0" i="0" u="none" strike="noStrike" cap="none">
                <a:solidFill>
                  <a:srgbClr val="000000"/>
                </a:solidFill>
                <a:latin typeface="Arial"/>
                <a:ea typeface="Arial"/>
                <a:cs typeface="Arial"/>
                <a:sym typeface="Arial"/>
              </a:endParaRPr>
            </a:p>
          </p:txBody>
        </p:sp>
      </p:grpSp>
      <p:sp>
        <p:nvSpPr>
          <p:cNvPr id="1267" name="Google Shape;1267;g3499340675d_0_0"/>
          <p:cNvSpPr/>
          <p:nvPr/>
        </p:nvSpPr>
        <p:spPr>
          <a:xfrm>
            <a:off x="8496280" y="5145827"/>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14"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68" name="Google Shape;1268;g3499340675d_0_0"/>
          <p:cNvGrpSpPr/>
          <p:nvPr/>
        </p:nvGrpSpPr>
        <p:grpSpPr>
          <a:xfrm>
            <a:off x="9270996" y="6153415"/>
            <a:ext cx="668040" cy="691526"/>
            <a:chOff x="0" y="-28575"/>
            <a:chExt cx="812800" cy="841375"/>
          </a:xfrm>
        </p:grpSpPr>
        <p:sp>
          <p:nvSpPr>
            <p:cNvPr id="1269" name="Google Shape;1269;g3499340675d_0_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0" name="Google Shape;1270;g3499340675d_0_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271" name="Google Shape;1271;g3499340675d_0_0"/>
          <p:cNvGrpSpPr/>
          <p:nvPr/>
        </p:nvGrpSpPr>
        <p:grpSpPr>
          <a:xfrm>
            <a:off x="11089436" y="6986739"/>
            <a:ext cx="3862393" cy="383619"/>
            <a:chOff x="0" y="-104775"/>
            <a:chExt cx="5793300" cy="575400"/>
          </a:xfrm>
        </p:grpSpPr>
        <p:sp>
          <p:nvSpPr>
            <p:cNvPr id="1272" name="Google Shape;1272;g3499340675d_0_0"/>
            <p:cNvSpPr/>
            <p:nvPr/>
          </p:nvSpPr>
          <p:spPr>
            <a:xfrm>
              <a:off x="0" y="0"/>
              <a:ext cx="5793285" cy="470535"/>
            </a:xfrm>
            <a:custGeom>
              <a:avLst/>
              <a:gdLst/>
              <a:ahLst/>
              <a:cxnLst/>
              <a:rect l="l" t="t" r="r" b="b"/>
              <a:pathLst>
                <a:path w="5793285" h="470535" extrusionOk="0">
                  <a:moveTo>
                    <a:pt x="0" y="0"/>
                  </a:moveTo>
                  <a:lnTo>
                    <a:pt x="5793285" y="0"/>
                  </a:lnTo>
                  <a:lnTo>
                    <a:pt x="5793285" y="470535"/>
                  </a:lnTo>
                  <a:lnTo>
                    <a:pt x="0" y="470535"/>
                  </a:lnTo>
                  <a:close/>
                </a:path>
              </a:pathLst>
            </a:custGeom>
            <a:solidFill>
              <a:srgbClr val="000000">
                <a:alpha val="0"/>
              </a:srgbClr>
            </a:solidFill>
            <a:ln>
              <a:noFill/>
            </a:ln>
          </p:spPr>
        </p:sp>
        <p:sp>
          <p:nvSpPr>
            <p:cNvPr id="1273" name="Google Shape;1273;g3499340675d_0_0"/>
            <p:cNvSpPr txBox="1"/>
            <p:nvPr/>
          </p:nvSpPr>
          <p:spPr>
            <a:xfrm>
              <a:off x="0" y="-104775"/>
              <a:ext cx="5793300" cy="575400"/>
            </a:xfrm>
            <a:prstGeom prst="rect">
              <a:avLst/>
            </a:prstGeom>
            <a:noFill/>
            <a:ln>
              <a:noFill/>
            </a:ln>
          </p:spPr>
          <p:txBody>
            <a:bodyPr spcFirstLastPara="1" wrap="square" lIns="0" tIns="0" rIns="0" bIns="0" anchor="t" anchorCtr="0">
              <a:noAutofit/>
            </a:bodyPr>
            <a:lstStyle/>
            <a:p>
              <a:pPr marL="0" marR="0" lvl="0" indent="0" algn="l" rtl="0">
                <a:lnSpc>
                  <a:spcPct val="180000"/>
                </a:lnSpc>
                <a:spcBef>
                  <a:spcPts val="0"/>
                </a:spcBef>
                <a:spcAft>
                  <a:spcPts val="0"/>
                </a:spcAft>
                <a:buClr>
                  <a:srgbClr val="000000"/>
                </a:buClr>
                <a:buSzPts val="1500"/>
                <a:buFont typeface="Arial"/>
                <a:buNone/>
              </a:pPr>
              <a:r>
                <a:rPr lang="en-US" sz="1500" b="1" i="0" u="none" strike="noStrike" cap="none">
                  <a:solidFill>
                    <a:srgbClr val="000000"/>
                  </a:solidFill>
                  <a:latin typeface="Inter"/>
                  <a:ea typeface="Inter"/>
                  <a:cs typeface="Inter"/>
                  <a:sym typeface="Inter"/>
                </a:rPr>
                <a:t>HR &amp; ADMIN</a:t>
              </a:r>
              <a:endParaRPr sz="1200" b="0" i="0" u="none" strike="noStrike" cap="none">
                <a:solidFill>
                  <a:srgbClr val="000000"/>
                </a:solidFill>
                <a:latin typeface="Arial"/>
                <a:ea typeface="Arial"/>
                <a:cs typeface="Arial"/>
                <a:sym typeface="Arial"/>
              </a:endParaRPr>
            </a:p>
          </p:txBody>
        </p:sp>
      </p:grpSp>
      <p:grpSp>
        <p:nvGrpSpPr>
          <p:cNvPr id="1274" name="Google Shape;1274;g3499340675d_0_0"/>
          <p:cNvGrpSpPr/>
          <p:nvPr/>
        </p:nvGrpSpPr>
        <p:grpSpPr>
          <a:xfrm>
            <a:off x="11089436" y="7444651"/>
            <a:ext cx="4393420" cy="477224"/>
            <a:chOff x="0" y="-95250"/>
            <a:chExt cx="6589800" cy="715800"/>
          </a:xfrm>
        </p:grpSpPr>
        <p:sp>
          <p:nvSpPr>
            <p:cNvPr id="1275" name="Google Shape;1275;g3499340675d_0_0"/>
            <p:cNvSpPr/>
            <p:nvPr/>
          </p:nvSpPr>
          <p:spPr>
            <a:xfrm>
              <a:off x="0" y="0"/>
              <a:ext cx="6589699" cy="620419"/>
            </a:xfrm>
            <a:custGeom>
              <a:avLst/>
              <a:gdLst/>
              <a:ahLst/>
              <a:cxnLst/>
              <a:rect l="l" t="t" r="r" b="b"/>
              <a:pathLst>
                <a:path w="6589699" h="620419" extrusionOk="0">
                  <a:moveTo>
                    <a:pt x="0" y="0"/>
                  </a:moveTo>
                  <a:lnTo>
                    <a:pt x="6589699" y="0"/>
                  </a:lnTo>
                  <a:lnTo>
                    <a:pt x="6589699" y="620419"/>
                  </a:lnTo>
                  <a:lnTo>
                    <a:pt x="0" y="620419"/>
                  </a:lnTo>
                  <a:close/>
                </a:path>
              </a:pathLst>
            </a:custGeom>
            <a:solidFill>
              <a:srgbClr val="000000">
                <a:alpha val="0"/>
              </a:srgbClr>
            </a:solidFill>
            <a:ln>
              <a:noFill/>
            </a:ln>
          </p:spPr>
        </p:sp>
        <p:sp>
          <p:nvSpPr>
            <p:cNvPr id="1276" name="Google Shape;1276;g3499340675d_0_0"/>
            <p:cNvSpPr txBox="1"/>
            <p:nvPr/>
          </p:nvSpPr>
          <p:spPr>
            <a:xfrm>
              <a:off x="0" y="-95250"/>
              <a:ext cx="6589800" cy="715800"/>
            </a:xfrm>
            <a:prstGeom prst="rect">
              <a:avLst/>
            </a:prstGeom>
            <a:noFill/>
            <a:ln>
              <a:noFill/>
            </a:ln>
          </p:spPr>
          <p:txBody>
            <a:bodyPr spcFirstLastPara="1" wrap="square" lIns="0" tIns="0" rIns="0" bIns="0" anchor="t" anchorCtr="0">
              <a:noAutofit/>
            </a:bodyPr>
            <a:lstStyle/>
            <a:p>
              <a:pPr marL="0" marR="0" lvl="0" indent="0" algn="l" rtl="0">
                <a:lnSpc>
                  <a:spcPct val="180050"/>
                </a:lnSpc>
                <a:spcBef>
                  <a:spcPts val="0"/>
                </a:spcBef>
                <a:spcAft>
                  <a:spcPts val="0"/>
                </a:spcAft>
                <a:buClr>
                  <a:srgbClr val="000000"/>
                </a:buClr>
                <a:buSzPts val="1400"/>
                <a:buFont typeface="Arial"/>
                <a:buNone/>
              </a:pPr>
              <a:r>
                <a:rPr lang="en-US" sz="1400" b="0" i="0" u="none" strike="noStrike" cap="none">
                  <a:solidFill>
                    <a:srgbClr val="3D3D3D"/>
                  </a:solidFill>
                  <a:latin typeface="Inter"/>
                  <a:ea typeface="Inter"/>
                  <a:cs typeface="Inter"/>
                  <a:sym typeface="Inter"/>
                </a:rPr>
                <a:t>▶ Payroll &amp; Staffing</a:t>
              </a:r>
              <a:endParaRPr sz="1200" b="0" i="0" u="none" strike="noStrike" cap="none">
                <a:solidFill>
                  <a:srgbClr val="000000"/>
                </a:solidFill>
                <a:latin typeface="Arial"/>
                <a:ea typeface="Arial"/>
                <a:cs typeface="Arial"/>
                <a:sym typeface="Arial"/>
              </a:endParaRPr>
            </a:p>
          </p:txBody>
        </p:sp>
      </p:grpSp>
      <p:sp>
        <p:nvSpPr>
          <p:cNvPr id="1277" name="Google Shape;1277;g3499340675d_0_0"/>
          <p:cNvSpPr/>
          <p:nvPr/>
        </p:nvSpPr>
        <p:spPr>
          <a:xfrm>
            <a:off x="8496280" y="7056593"/>
            <a:ext cx="2251456" cy="1365652"/>
          </a:xfrm>
          <a:custGeom>
            <a:avLst/>
            <a:gdLst/>
            <a:ahLst/>
            <a:cxnLst/>
            <a:rect l="l" t="t" r="r" b="b"/>
            <a:pathLst>
              <a:path w="812800" h="493015" extrusionOk="0">
                <a:moveTo>
                  <a:pt x="30578" y="0"/>
                </a:moveTo>
                <a:lnTo>
                  <a:pt x="782222" y="0"/>
                </a:lnTo>
                <a:cubicBezTo>
                  <a:pt x="790332" y="0"/>
                  <a:pt x="798109" y="3222"/>
                  <a:pt x="803844" y="8956"/>
                </a:cubicBezTo>
                <a:cubicBezTo>
                  <a:pt x="809578" y="14691"/>
                  <a:pt x="812800" y="22468"/>
                  <a:pt x="812800" y="30578"/>
                </a:cubicBezTo>
                <a:lnTo>
                  <a:pt x="812800" y="462437"/>
                </a:lnTo>
                <a:cubicBezTo>
                  <a:pt x="812800" y="479325"/>
                  <a:pt x="799110" y="493015"/>
                  <a:pt x="782222" y="493015"/>
                </a:cubicBezTo>
                <a:lnTo>
                  <a:pt x="30578" y="493015"/>
                </a:lnTo>
                <a:cubicBezTo>
                  <a:pt x="22468" y="493015"/>
                  <a:pt x="14691" y="489793"/>
                  <a:pt x="8956" y="484059"/>
                </a:cubicBezTo>
                <a:cubicBezTo>
                  <a:pt x="3222" y="478324"/>
                  <a:pt x="0" y="470547"/>
                  <a:pt x="0" y="462437"/>
                </a:cubicBezTo>
                <a:lnTo>
                  <a:pt x="0" y="30578"/>
                </a:lnTo>
                <a:cubicBezTo>
                  <a:pt x="0" y="22468"/>
                  <a:pt x="3222" y="14691"/>
                  <a:pt x="8956" y="8956"/>
                </a:cubicBezTo>
                <a:cubicBezTo>
                  <a:pt x="14691" y="3222"/>
                  <a:pt x="22468" y="0"/>
                  <a:pt x="30578" y="0"/>
                </a:cubicBezTo>
                <a:close/>
              </a:path>
            </a:pathLst>
          </a:custGeom>
          <a:blipFill rotWithShape="1">
            <a:blip r:embed="rId15"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78" name="Google Shape;1278;g3499340675d_0_0"/>
          <p:cNvGrpSpPr/>
          <p:nvPr/>
        </p:nvGrpSpPr>
        <p:grpSpPr>
          <a:xfrm>
            <a:off x="9270996" y="8064181"/>
            <a:ext cx="668040" cy="691526"/>
            <a:chOff x="0" y="-28575"/>
            <a:chExt cx="812800" cy="841375"/>
          </a:xfrm>
        </p:grpSpPr>
        <p:sp>
          <p:nvSpPr>
            <p:cNvPr id="1279" name="Google Shape;1279;g3499340675d_0_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0" name="Google Shape;1280;g3499340675d_0_0"/>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281" name="Google Shape;1281;g3499340675d_0_0"/>
          <p:cNvSpPr/>
          <p:nvPr/>
        </p:nvSpPr>
        <p:spPr>
          <a:xfrm>
            <a:off x="9421251" y="6273531"/>
            <a:ext cx="401084" cy="475359"/>
          </a:xfrm>
          <a:custGeom>
            <a:avLst/>
            <a:gdLst/>
            <a:ahLst/>
            <a:cxnLst/>
            <a:rect l="l" t="t" r="r" b="b"/>
            <a:pathLst>
              <a:path w="450656" h="534111" extrusionOk="0">
                <a:moveTo>
                  <a:pt x="0" y="0"/>
                </a:moveTo>
                <a:lnTo>
                  <a:pt x="450656" y="0"/>
                </a:lnTo>
                <a:lnTo>
                  <a:pt x="450656" y="534111"/>
                </a:lnTo>
                <a:lnTo>
                  <a:pt x="0" y="534111"/>
                </a:lnTo>
                <a:lnTo>
                  <a:pt x="0" y="0"/>
                </a:lnTo>
                <a:close/>
              </a:path>
            </a:pathLst>
          </a:custGeom>
          <a:blipFill rotWithShape="1">
            <a:blip r:embed="rId16" cstate="email">
              <a:alphaModFix/>
              <a:extLst>
                <a:ext uri="{28A0092B-C50C-407E-A947-70E740481C1C}">
                  <a14:useLocalDpi xmlns:a14="http://schemas.microsoft.com/office/drawing/2010/main"/>
                </a:ext>
              </a:extLst>
            </a:blip>
            <a:stretch>
              <a:fillRect/>
            </a:stretch>
          </a:blipFill>
          <a:ln>
            <a:noFill/>
          </a:ln>
        </p:spPr>
      </p:sp>
      <p:sp>
        <p:nvSpPr>
          <p:cNvPr id="1282" name="Google Shape;1282;g3499340675d_0_0"/>
          <p:cNvSpPr/>
          <p:nvPr/>
        </p:nvSpPr>
        <p:spPr>
          <a:xfrm>
            <a:off x="9350751" y="8217020"/>
            <a:ext cx="509150" cy="409829"/>
          </a:xfrm>
          <a:custGeom>
            <a:avLst/>
            <a:gdLst/>
            <a:ahLst/>
            <a:cxnLst/>
            <a:rect l="l" t="t" r="r" b="b"/>
            <a:pathLst>
              <a:path w="572079" h="460482" extrusionOk="0">
                <a:moveTo>
                  <a:pt x="0" y="0"/>
                </a:moveTo>
                <a:lnTo>
                  <a:pt x="572079" y="0"/>
                </a:lnTo>
                <a:lnTo>
                  <a:pt x="572079" y="460482"/>
                </a:lnTo>
                <a:lnTo>
                  <a:pt x="0" y="460482"/>
                </a:lnTo>
                <a:lnTo>
                  <a:pt x="0" y="0"/>
                </a:lnTo>
                <a:close/>
              </a:path>
            </a:pathLst>
          </a:custGeom>
          <a:blipFill rotWithShape="1">
            <a:blip r:embed="rId17" cstate="email">
              <a:alphaModFix/>
              <a:extLst>
                <a:ext uri="{28A0092B-C50C-407E-A947-70E740481C1C}">
                  <a14:useLocalDpi xmlns:a14="http://schemas.microsoft.com/office/drawing/2010/main"/>
                </a:ext>
              </a:extLst>
            </a:blip>
            <a:stretch>
              <a:fillRect/>
            </a:stretch>
          </a:blipFill>
          <a:ln>
            <a:noFill/>
          </a:ln>
        </p:spPr>
      </p:sp>
      <p:pic>
        <p:nvPicPr>
          <p:cNvPr id="1283" name="Google Shape;1283;g3499340675d_0_0" title="Logo_VTI (2).png"/>
          <p:cNvPicPr preferRelativeResize="0"/>
          <p:nvPr/>
        </p:nvPicPr>
        <p:blipFill rotWithShape="1">
          <a:blip r:embed="rId18" cstate="email">
            <a:alphaModFix/>
            <a:extLst>
              <a:ext uri="{28A0092B-C50C-407E-A947-70E740481C1C}">
                <a14:useLocalDpi xmlns:a14="http://schemas.microsoft.com/office/drawing/2010/main"/>
              </a:ext>
            </a:extLst>
          </a:blip>
          <a:srcRect/>
          <a:stretch/>
        </p:blipFill>
        <p:spPr>
          <a:xfrm>
            <a:off x="14701375" y="281474"/>
            <a:ext cx="1205820" cy="6446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287"/>
        <p:cNvGrpSpPr/>
        <p:nvPr/>
      </p:nvGrpSpPr>
      <p:grpSpPr>
        <a:xfrm>
          <a:off x="0" y="0"/>
          <a:ext cx="0" cy="0"/>
          <a:chOff x="0" y="0"/>
          <a:chExt cx="0" cy="0"/>
        </a:xfrm>
      </p:grpSpPr>
      <p:pic>
        <p:nvPicPr>
          <p:cNvPr id="1288" name="Google Shape;1288;p1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3164687"/>
            <a:ext cx="16256000" cy="5979312"/>
          </a:xfrm>
          <a:prstGeom prst="rect">
            <a:avLst/>
          </a:prstGeom>
          <a:noFill/>
          <a:ln>
            <a:noFill/>
          </a:ln>
        </p:spPr>
      </p:pic>
      <p:sp>
        <p:nvSpPr>
          <p:cNvPr id="1289" name="Google Shape;1289;p19"/>
          <p:cNvSpPr txBox="1"/>
          <p:nvPr/>
        </p:nvSpPr>
        <p:spPr>
          <a:xfrm>
            <a:off x="977101" y="5543150"/>
            <a:ext cx="6870900" cy="8286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8000"/>
              <a:buFont typeface="Arial"/>
              <a:buNone/>
            </a:pPr>
            <a:r>
              <a:rPr lang="en-US" sz="5300" b="1" i="0" u="none" strike="noStrike" cap="none">
                <a:solidFill>
                  <a:srgbClr val="FFFFFF"/>
                </a:solidFill>
                <a:latin typeface="Inter"/>
                <a:ea typeface="Inter"/>
                <a:cs typeface="Inter"/>
                <a:sym typeface="Inter"/>
              </a:rPr>
              <a:t>CASE STUDY</a:t>
            </a:r>
            <a:endParaRPr sz="5300" b="0" i="0" u="none" strike="noStrike" cap="none">
              <a:solidFill>
                <a:srgbClr val="000000"/>
              </a:solidFill>
              <a:latin typeface="Inter"/>
              <a:ea typeface="Inter"/>
              <a:cs typeface="Inter"/>
              <a:sym typeface="Inter"/>
            </a:endParaRPr>
          </a:p>
        </p:txBody>
      </p:sp>
      <p:sp>
        <p:nvSpPr>
          <p:cNvPr id="1290" name="Google Shape;1290;p19"/>
          <p:cNvSpPr/>
          <p:nvPr/>
        </p:nvSpPr>
        <p:spPr>
          <a:xfrm>
            <a:off x="10300843" y="7941691"/>
            <a:ext cx="4493895" cy="517525"/>
          </a:xfrm>
          <a:custGeom>
            <a:avLst/>
            <a:gdLst/>
            <a:ahLst/>
            <a:cxnLst/>
            <a:rect l="l" t="t" r="r" b="b"/>
            <a:pathLst>
              <a:path w="4493894" h="517525" extrusionOk="0">
                <a:moveTo>
                  <a:pt x="345605" y="198132"/>
                </a:moveTo>
                <a:lnTo>
                  <a:pt x="318770" y="171284"/>
                </a:lnTo>
                <a:lnTo>
                  <a:pt x="172808" y="317246"/>
                </a:lnTo>
                <a:lnTo>
                  <a:pt x="26847" y="171284"/>
                </a:lnTo>
                <a:lnTo>
                  <a:pt x="0" y="198132"/>
                </a:lnTo>
                <a:lnTo>
                  <a:pt x="145961" y="344093"/>
                </a:lnTo>
                <a:lnTo>
                  <a:pt x="0" y="490054"/>
                </a:lnTo>
                <a:lnTo>
                  <a:pt x="26847" y="516902"/>
                </a:lnTo>
                <a:lnTo>
                  <a:pt x="172808" y="370954"/>
                </a:lnTo>
                <a:lnTo>
                  <a:pt x="318770" y="516915"/>
                </a:lnTo>
                <a:lnTo>
                  <a:pt x="345605" y="490054"/>
                </a:lnTo>
                <a:lnTo>
                  <a:pt x="199656" y="344093"/>
                </a:lnTo>
                <a:lnTo>
                  <a:pt x="345605" y="198132"/>
                </a:lnTo>
                <a:close/>
              </a:path>
              <a:path w="4493894" h="517525" extrusionOk="0">
                <a:moveTo>
                  <a:pt x="3824528" y="241935"/>
                </a:moveTo>
                <a:lnTo>
                  <a:pt x="3823030" y="234530"/>
                </a:lnTo>
                <a:lnTo>
                  <a:pt x="3818953" y="228498"/>
                </a:lnTo>
                <a:lnTo>
                  <a:pt x="3812921" y="224421"/>
                </a:lnTo>
                <a:lnTo>
                  <a:pt x="3805529" y="222935"/>
                </a:lnTo>
                <a:lnTo>
                  <a:pt x="3798125" y="224421"/>
                </a:lnTo>
                <a:lnTo>
                  <a:pt x="3792093" y="228498"/>
                </a:lnTo>
                <a:lnTo>
                  <a:pt x="3788016" y="234530"/>
                </a:lnTo>
                <a:lnTo>
                  <a:pt x="3786530" y="241935"/>
                </a:lnTo>
                <a:lnTo>
                  <a:pt x="3788016" y="249326"/>
                </a:lnTo>
                <a:lnTo>
                  <a:pt x="3792093" y="255358"/>
                </a:lnTo>
                <a:lnTo>
                  <a:pt x="3798125" y="259435"/>
                </a:lnTo>
                <a:lnTo>
                  <a:pt x="3805529" y="260934"/>
                </a:lnTo>
                <a:lnTo>
                  <a:pt x="3812921" y="259435"/>
                </a:lnTo>
                <a:lnTo>
                  <a:pt x="3818953" y="255358"/>
                </a:lnTo>
                <a:lnTo>
                  <a:pt x="3823030" y="249326"/>
                </a:lnTo>
                <a:lnTo>
                  <a:pt x="3824528" y="241935"/>
                </a:lnTo>
                <a:close/>
              </a:path>
              <a:path w="4493894" h="517525" extrusionOk="0">
                <a:moveTo>
                  <a:pt x="4047452" y="241935"/>
                </a:moveTo>
                <a:lnTo>
                  <a:pt x="4045966" y="234530"/>
                </a:lnTo>
                <a:lnTo>
                  <a:pt x="4041889" y="228498"/>
                </a:lnTo>
                <a:lnTo>
                  <a:pt x="4035844" y="224421"/>
                </a:lnTo>
                <a:lnTo>
                  <a:pt x="4028440" y="222935"/>
                </a:lnTo>
                <a:lnTo>
                  <a:pt x="4021048" y="224421"/>
                </a:lnTo>
                <a:lnTo>
                  <a:pt x="4015016" y="228498"/>
                </a:lnTo>
                <a:lnTo>
                  <a:pt x="4010939" y="234530"/>
                </a:lnTo>
                <a:lnTo>
                  <a:pt x="4009440" y="241935"/>
                </a:lnTo>
                <a:lnTo>
                  <a:pt x="4010939" y="249326"/>
                </a:lnTo>
                <a:lnTo>
                  <a:pt x="4015016" y="255358"/>
                </a:lnTo>
                <a:lnTo>
                  <a:pt x="4021048" y="259435"/>
                </a:lnTo>
                <a:lnTo>
                  <a:pt x="4028440" y="260934"/>
                </a:lnTo>
                <a:lnTo>
                  <a:pt x="4035844" y="259435"/>
                </a:lnTo>
                <a:lnTo>
                  <a:pt x="4041889" y="255358"/>
                </a:lnTo>
                <a:lnTo>
                  <a:pt x="4045966" y="249326"/>
                </a:lnTo>
                <a:lnTo>
                  <a:pt x="4047452" y="241935"/>
                </a:lnTo>
                <a:close/>
              </a:path>
              <a:path w="4493894" h="517525" extrusionOk="0">
                <a:moveTo>
                  <a:pt x="4047452" y="19011"/>
                </a:moveTo>
                <a:lnTo>
                  <a:pt x="4045966" y="11607"/>
                </a:lnTo>
                <a:lnTo>
                  <a:pt x="4041889" y="5562"/>
                </a:lnTo>
                <a:lnTo>
                  <a:pt x="4035844" y="1498"/>
                </a:lnTo>
                <a:lnTo>
                  <a:pt x="4028440" y="0"/>
                </a:lnTo>
                <a:lnTo>
                  <a:pt x="4021048" y="1498"/>
                </a:lnTo>
                <a:lnTo>
                  <a:pt x="4015016" y="5562"/>
                </a:lnTo>
                <a:lnTo>
                  <a:pt x="4010939" y="11607"/>
                </a:lnTo>
                <a:lnTo>
                  <a:pt x="4009440" y="19011"/>
                </a:lnTo>
                <a:lnTo>
                  <a:pt x="4010939" y="26403"/>
                </a:lnTo>
                <a:lnTo>
                  <a:pt x="4015016" y="32448"/>
                </a:lnTo>
                <a:lnTo>
                  <a:pt x="4021048" y="36512"/>
                </a:lnTo>
                <a:lnTo>
                  <a:pt x="4028440" y="38011"/>
                </a:lnTo>
                <a:lnTo>
                  <a:pt x="4035844" y="36512"/>
                </a:lnTo>
                <a:lnTo>
                  <a:pt x="4041889" y="32448"/>
                </a:lnTo>
                <a:lnTo>
                  <a:pt x="4045966" y="26403"/>
                </a:lnTo>
                <a:lnTo>
                  <a:pt x="4047452" y="19011"/>
                </a:lnTo>
                <a:close/>
              </a:path>
              <a:path w="4493894" h="517525" extrusionOk="0">
                <a:moveTo>
                  <a:pt x="4270375" y="241935"/>
                </a:moveTo>
                <a:lnTo>
                  <a:pt x="4268889" y="234530"/>
                </a:lnTo>
                <a:lnTo>
                  <a:pt x="4264812" y="228498"/>
                </a:lnTo>
                <a:lnTo>
                  <a:pt x="4258767" y="224421"/>
                </a:lnTo>
                <a:lnTo>
                  <a:pt x="4251363" y="222935"/>
                </a:lnTo>
                <a:lnTo>
                  <a:pt x="4243971" y="224421"/>
                </a:lnTo>
                <a:lnTo>
                  <a:pt x="4237926" y="228498"/>
                </a:lnTo>
                <a:lnTo>
                  <a:pt x="4233862" y="234530"/>
                </a:lnTo>
                <a:lnTo>
                  <a:pt x="4232364" y="241935"/>
                </a:lnTo>
                <a:lnTo>
                  <a:pt x="4233862" y="249326"/>
                </a:lnTo>
                <a:lnTo>
                  <a:pt x="4237926" y="255358"/>
                </a:lnTo>
                <a:lnTo>
                  <a:pt x="4243971" y="259435"/>
                </a:lnTo>
                <a:lnTo>
                  <a:pt x="4251363" y="260934"/>
                </a:lnTo>
                <a:lnTo>
                  <a:pt x="4258767" y="259435"/>
                </a:lnTo>
                <a:lnTo>
                  <a:pt x="4264812" y="255358"/>
                </a:lnTo>
                <a:lnTo>
                  <a:pt x="4268889" y="249326"/>
                </a:lnTo>
                <a:lnTo>
                  <a:pt x="4270375" y="241935"/>
                </a:lnTo>
                <a:close/>
              </a:path>
              <a:path w="4493894" h="517525" extrusionOk="0">
                <a:moveTo>
                  <a:pt x="4270375" y="19011"/>
                </a:moveTo>
                <a:lnTo>
                  <a:pt x="4268889" y="11607"/>
                </a:lnTo>
                <a:lnTo>
                  <a:pt x="4264812" y="5562"/>
                </a:lnTo>
                <a:lnTo>
                  <a:pt x="4258767" y="1498"/>
                </a:lnTo>
                <a:lnTo>
                  <a:pt x="4251363" y="0"/>
                </a:lnTo>
                <a:lnTo>
                  <a:pt x="4243971" y="1498"/>
                </a:lnTo>
                <a:lnTo>
                  <a:pt x="4237926" y="5562"/>
                </a:lnTo>
                <a:lnTo>
                  <a:pt x="4233862" y="11607"/>
                </a:lnTo>
                <a:lnTo>
                  <a:pt x="4232364" y="19011"/>
                </a:lnTo>
                <a:lnTo>
                  <a:pt x="4233862" y="26403"/>
                </a:lnTo>
                <a:lnTo>
                  <a:pt x="4237926" y="32448"/>
                </a:lnTo>
                <a:lnTo>
                  <a:pt x="4243971" y="36512"/>
                </a:lnTo>
                <a:lnTo>
                  <a:pt x="4251363" y="38011"/>
                </a:lnTo>
                <a:lnTo>
                  <a:pt x="4258767" y="36512"/>
                </a:lnTo>
                <a:lnTo>
                  <a:pt x="4264812" y="32448"/>
                </a:lnTo>
                <a:lnTo>
                  <a:pt x="4268889" y="26403"/>
                </a:lnTo>
                <a:lnTo>
                  <a:pt x="4270375" y="19011"/>
                </a:lnTo>
                <a:close/>
              </a:path>
              <a:path w="4493894" h="517525" extrusionOk="0">
                <a:moveTo>
                  <a:pt x="4493298" y="241935"/>
                </a:moveTo>
                <a:lnTo>
                  <a:pt x="4491799" y="234530"/>
                </a:lnTo>
                <a:lnTo>
                  <a:pt x="4487735" y="228498"/>
                </a:lnTo>
                <a:lnTo>
                  <a:pt x="4481690" y="224421"/>
                </a:lnTo>
                <a:lnTo>
                  <a:pt x="4474286" y="222935"/>
                </a:lnTo>
                <a:lnTo>
                  <a:pt x="4466895" y="224421"/>
                </a:lnTo>
                <a:lnTo>
                  <a:pt x="4460849" y="228498"/>
                </a:lnTo>
                <a:lnTo>
                  <a:pt x="4456773" y="234530"/>
                </a:lnTo>
                <a:lnTo>
                  <a:pt x="4455287" y="241935"/>
                </a:lnTo>
                <a:lnTo>
                  <a:pt x="4456773" y="249326"/>
                </a:lnTo>
                <a:lnTo>
                  <a:pt x="4460849" y="255358"/>
                </a:lnTo>
                <a:lnTo>
                  <a:pt x="4466895" y="259435"/>
                </a:lnTo>
                <a:lnTo>
                  <a:pt x="4474286" y="260934"/>
                </a:lnTo>
                <a:lnTo>
                  <a:pt x="4481690" y="259435"/>
                </a:lnTo>
                <a:lnTo>
                  <a:pt x="4487735" y="255358"/>
                </a:lnTo>
                <a:lnTo>
                  <a:pt x="4491799" y="249326"/>
                </a:lnTo>
                <a:lnTo>
                  <a:pt x="4493298" y="241935"/>
                </a:lnTo>
                <a:close/>
              </a:path>
              <a:path w="4493894" h="517525" extrusionOk="0">
                <a:moveTo>
                  <a:pt x="4493298" y="19011"/>
                </a:moveTo>
                <a:lnTo>
                  <a:pt x="4491799" y="11607"/>
                </a:lnTo>
                <a:lnTo>
                  <a:pt x="4487735" y="5562"/>
                </a:lnTo>
                <a:lnTo>
                  <a:pt x="4481690" y="1498"/>
                </a:lnTo>
                <a:lnTo>
                  <a:pt x="4474286" y="0"/>
                </a:lnTo>
                <a:lnTo>
                  <a:pt x="4466895" y="1498"/>
                </a:lnTo>
                <a:lnTo>
                  <a:pt x="4460849" y="5562"/>
                </a:lnTo>
                <a:lnTo>
                  <a:pt x="4456773" y="11607"/>
                </a:lnTo>
                <a:lnTo>
                  <a:pt x="4455287" y="19011"/>
                </a:lnTo>
                <a:lnTo>
                  <a:pt x="4456773" y="26403"/>
                </a:lnTo>
                <a:lnTo>
                  <a:pt x="4460849" y="32448"/>
                </a:lnTo>
                <a:lnTo>
                  <a:pt x="4466895" y="36512"/>
                </a:lnTo>
                <a:lnTo>
                  <a:pt x="4474286" y="38011"/>
                </a:lnTo>
                <a:lnTo>
                  <a:pt x="4481690" y="36512"/>
                </a:lnTo>
                <a:lnTo>
                  <a:pt x="4487735" y="32448"/>
                </a:lnTo>
                <a:lnTo>
                  <a:pt x="4491799" y="26403"/>
                </a:lnTo>
                <a:lnTo>
                  <a:pt x="4493298" y="19011"/>
                </a:lnTo>
                <a:close/>
              </a:path>
            </a:pathLst>
          </a:custGeom>
          <a:solidFill>
            <a:srgbClr val="007AB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1" name="Google Shape;1291;p19"/>
          <p:cNvGrpSpPr/>
          <p:nvPr/>
        </p:nvGrpSpPr>
        <p:grpSpPr>
          <a:xfrm>
            <a:off x="7096864" y="0"/>
            <a:ext cx="8593760" cy="7756829"/>
            <a:chOff x="7096864" y="0"/>
            <a:chExt cx="8593760" cy="7756829"/>
          </a:xfrm>
        </p:grpSpPr>
        <p:sp>
          <p:nvSpPr>
            <p:cNvPr id="1292" name="Google Shape;1292;p19"/>
            <p:cNvSpPr/>
            <p:nvPr/>
          </p:nvSpPr>
          <p:spPr>
            <a:xfrm>
              <a:off x="14533207" y="7495844"/>
              <a:ext cx="260985" cy="260985"/>
            </a:xfrm>
            <a:custGeom>
              <a:avLst/>
              <a:gdLst/>
              <a:ahLst/>
              <a:cxnLst/>
              <a:rect l="l" t="t" r="r" b="b"/>
              <a:pathLst>
                <a:path w="260984" h="260984" extrusionOk="0">
                  <a:moveTo>
                    <a:pt x="38011" y="241935"/>
                  </a:moveTo>
                  <a:lnTo>
                    <a:pt x="36525" y="234530"/>
                  </a:lnTo>
                  <a:lnTo>
                    <a:pt x="32448" y="228485"/>
                  </a:lnTo>
                  <a:lnTo>
                    <a:pt x="26403" y="224421"/>
                  </a:lnTo>
                  <a:lnTo>
                    <a:pt x="18999" y="222923"/>
                  </a:lnTo>
                  <a:lnTo>
                    <a:pt x="11607" y="224421"/>
                  </a:lnTo>
                  <a:lnTo>
                    <a:pt x="5562" y="228485"/>
                  </a:lnTo>
                  <a:lnTo>
                    <a:pt x="1498" y="234530"/>
                  </a:lnTo>
                  <a:lnTo>
                    <a:pt x="0" y="241935"/>
                  </a:lnTo>
                  <a:lnTo>
                    <a:pt x="1498" y="249326"/>
                  </a:lnTo>
                  <a:lnTo>
                    <a:pt x="5562" y="255371"/>
                  </a:lnTo>
                  <a:lnTo>
                    <a:pt x="11607" y="259448"/>
                  </a:lnTo>
                  <a:lnTo>
                    <a:pt x="18999" y="260934"/>
                  </a:lnTo>
                  <a:lnTo>
                    <a:pt x="26403" y="259448"/>
                  </a:lnTo>
                  <a:lnTo>
                    <a:pt x="32448" y="255371"/>
                  </a:lnTo>
                  <a:lnTo>
                    <a:pt x="36525" y="249326"/>
                  </a:lnTo>
                  <a:lnTo>
                    <a:pt x="38011" y="241935"/>
                  </a:lnTo>
                  <a:close/>
                </a:path>
                <a:path w="260984" h="260984" extrusionOk="0">
                  <a:moveTo>
                    <a:pt x="260934" y="241935"/>
                  </a:moveTo>
                  <a:lnTo>
                    <a:pt x="259435" y="234530"/>
                  </a:lnTo>
                  <a:lnTo>
                    <a:pt x="255371" y="228485"/>
                  </a:lnTo>
                  <a:lnTo>
                    <a:pt x="249326" y="224421"/>
                  </a:lnTo>
                  <a:lnTo>
                    <a:pt x="241922" y="222923"/>
                  </a:lnTo>
                  <a:lnTo>
                    <a:pt x="234530" y="224421"/>
                  </a:lnTo>
                  <a:lnTo>
                    <a:pt x="228485" y="228485"/>
                  </a:lnTo>
                  <a:lnTo>
                    <a:pt x="224409" y="234530"/>
                  </a:lnTo>
                  <a:lnTo>
                    <a:pt x="222923" y="241935"/>
                  </a:lnTo>
                  <a:lnTo>
                    <a:pt x="224409" y="249326"/>
                  </a:lnTo>
                  <a:lnTo>
                    <a:pt x="228485" y="255371"/>
                  </a:lnTo>
                  <a:lnTo>
                    <a:pt x="234530" y="259448"/>
                  </a:lnTo>
                  <a:lnTo>
                    <a:pt x="241922" y="260934"/>
                  </a:lnTo>
                  <a:lnTo>
                    <a:pt x="249326" y="259448"/>
                  </a:lnTo>
                  <a:lnTo>
                    <a:pt x="255371" y="255371"/>
                  </a:lnTo>
                  <a:lnTo>
                    <a:pt x="259435" y="249326"/>
                  </a:lnTo>
                  <a:lnTo>
                    <a:pt x="260934" y="241935"/>
                  </a:lnTo>
                  <a:close/>
                </a:path>
                <a:path w="260984" h="260984" extrusionOk="0">
                  <a:moveTo>
                    <a:pt x="260934" y="18999"/>
                  </a:moveTo>
                  <a:lnTo>
                    <a:pt x="259435" y="11607"/>
                  </a:lnTo>
                  <a:lnTo>
                    <a:pt x="255371" y="5575"/>
                  </a:lnTo>
                  <a:lnTo>
                    <a:pt x="249326" y="1498"/>
                  </a:lnTo>
                  <a:lnTo>
                    <a:pt x="241922" y="0"/>
                  </a:lnTo>
                  <a:lnTo>
                    <a:pt x="234530" y="1498"/>
                  </a:lnTo>
                  <a:lnTo>
                    <a:pt x="228485" y="5575"/>
                  </a:lnTo>
                  <a:lnTo>
                    <a:pt x="224409" y="11607"/>
                  </a:lnTo>
                  <a:lnTo>
                    <a:pt x="222923" y="18999"/>
                  </a:lnTo>
                  <a:lnTo>
                    <a:pt x="224409" y="26403"/>
                  </a:lnTo>
                  <a:lnTo>
                    <a:pt x="228485" y="32448"/>
                  </a:lnTo>
                  <a:lnTo>
                    <a:pt x="234530" y="36525"/>
                  </a:lnTo>
                  <a:lnTo>
                    <a:pt x="241922" y="38011"/>
                  </a:lnTo>
                  <a:lnTo>
                    <a:pt x="249326" y="36525"/>
                  </a:lnTo>
                  <a:lnTo>
                    <a:pt x="255371" y="32448"/>
                  </a:lnTo>
                  <a:lnTo>
                    <a:pt x="259435" y="26403"/>
                  </a:lnTo>
                  <a:lnTo>
                    <a:pt x="260934" y="18999"/>
                  </a:lnTo>
                  <a:close/>
                </a:path>
              </a:pathLst>
            </a:custGeom>
            <a:solidFill>
              <a:srgbClr val="007AB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3" name="Google Shape;1293;p19"/>
            <p:cNvSpPr/>
            <p:nvPr/>
          </p:nvSpPr>
          <p:spPr>
            <a:xfrm>
              <a:off x="9423044" y="4592078"/>
              <a:ext cx="1990725" cy="1990725"/>
            </a:xfrm>
            <a:custGeom>
              <a:avLst/>
              <a:gdLst/>
              <a:ahLst/>
              <a:cxnLst/>
              <a:rect l="l" t="t" r="r" b="b"/>
              <a:pathLst>
                <a:path w="1990725" h="1990725" extrusionOk="0">
                  <a:moveTo>
                    <a:pt x="476554" y="143332"/>
                  </a:moveTo>
                  <a:lnTo>
                    <a:pt x="439381" y="167119"/>
                  </a:lnTo>
                  <a:lnTo>
                    <a:pt x="403059" y="192735"/>
                  </a:lnTo>
                  <a:lnTo>
                    <a:pt x="192722" y="403072"/>
                  </a:lnTo>
                  <a:lnTo>
                    <a:pt x="167106" y="439394"/>
                  </a:lnTo>
                  <a:lnTo>
                    <a:pt x="143306" y="476567"/>
                  </a:lnTo>
                  <a:lnTo>
                    <a:pt x="476554" y="143332"/>
                  </a:lnTo>
                  <a:close/>
                </a:path>
                <a:path w="1990725" h="1990725" extrusionOk="0">
                  <a:moveTo>
                    <a:pt x="840359" y="10134"/>
                  </a:moveTo>
                  <a:lnTo>
                    <a:pt x="811301" y="15100"/>
                  </a:lnTo>
                  <a:lnTo>
                    <a:pt x="15087" y="811326"/>
                  </a:lnTo>
                  <a:lnTo>
                    <a:pt x="10121" y="840371"/>
                  </a:lnTo>
                  <a:lnTo>
                    <a:pt x="840359" y="10134"/>
                  </a:lnTo>
                  <a:close/>
                </a:path>
                <a:path w="1990725" h="1990725" extrusionOk="0">
                  <a:moveTo>
                    <a:pt x="1079436" y="1651"/>
                  </a:moveTo>
                  <a:lnTo>
                    <a:pt x="1057008" y="0"/>
                  </a:lnTo>
                  <a:lnTo>
                    <a:pt x="0" y="1056995"/>
                  </a:lnTo>
                  <a:lnTo>
                    <a:pt x="1638" y="1079449"/>
                  </a:lnTo>
                  <a:lnTo>
                    <a:pt x="1079436" y="1651"/>
                  </a:lnTo>
                  <a:close/>
                </a:path>
                <a:path w="1990725" h="1990725" extrusionOk="0">
                  <a:moveTo>
                    <a:pt x="1274025" y="37693"/>
                  </a:moveTo>
                  <a:lnTo>
                    <a:pt x="1255229" y="32385"/>
                  </a:lnTo>
                  <a:lnTo>
                    <a:pt x="32372" y="1255242"/>
                  </a:lnTo>
                  <a:lnTo>
                    <a:pt x="37668" y="1274025"/>
                  </a:lnTo>
                  <a:lnTo>
                    <a:pt x="1274025" y="37693"/>
                  </a:lnTo>
                  <a:close/>
                </a:path>
                <a:path w="1990725" h="1990725" extrusionOk="0">
                  <a:moveTo>
                    <a:pt x="1439862" y="102438"/>
                  </a:moveTo>
                  <a:lnTo>
                    <a:pt x="1423631" y="94576"/>
                  </a:lnTo>
                  <a:lnTo>
                    <a:pt x="94564" y="1423644"/>
                  </a:lnTo>
                  <a:lnTo>
                    <a:pt x="102412" y="1439875"/>
                  </a:lnTo>
                  <a:lnTo>
                    <a:pt x="1439862" y="102438"/>
                  </a:lnTo>
                  <a:close/>
                </a:path>
                <a:path w="1990725" h="1990725" extrusionOk="0">
                  <a:moveTo>
                    <a:pt x="1583194" y="189725"/>
                  </a:moveTo>
                  <a:lnTo>
                    <a:pt x="1569148" y="179679"/>
                  </a:lnTo>
                  <a:lnTo>
                    <a:pt x="179679" y="1569148"/>
                  </a:lnTo>
                  <a:lnTo>
                    <a:pt x="189725" y="1583169"/>
                  </a:lnTo>
                  <a:lnTo>
                    <a:pt x="1583194" y="189725"/>
                  </a:lnTo>
                  <a:close/>
                </a:path>
                <a:path w="1990725" h="1990725" extrusionOk="0">
                  <a:moveTo>
                    <a:pt x="1706753" y="296773"/>
                  </a:moveTo>
                  <a:lnTo>
                    <a:pt x="1694726" y="284721"/>
                  </a:lnTo>
                  <a:lnTo>
                    <a:pt x="284708" y="1694726"/>
                  </a:lnTo>
                  <a:lnTo>
                    <a:pt x="296760" y="1706765"/>
                  </a:lnTo>
                  <a:lnTo>
                    <a:pt x="1706753" y="296773"/>
                  </a:lnTo>
                  <a:close/>
                </a:path>
                <a:path w="1990725" h="1990725" extrusionOk="0">
                  <a:moveTo>
                    <a:pt x="1811578" y="422516"/>
                  </a:moveTo>
                  <a:lnTo>
                    <a:pt x="1801533" y="408482"/>
                  </a:lnTo>
                  <a:lnTo>
                    <a:pt x="408470" y="1801558"/>
                  </a:lnTo>
                  <a:lnTo>
                    <a:pt x="422490" y="1811604"/>
                  </a:lnTo>
                  <a:lnTo>
                    <a:pt x="1811578" y="422516"/>
                  </a:lnTo>
                  <a:close/>
                </a:path>
                <a:path w="1990725" h="1990725" extrusionOk="0">
                  <a:moveTo>
                    <a:pt x="1843430" y="1519643"/>
                  </a:moveTo>
                  <a:lnTo>
                    <a:pt x="1519631" y="1843430"/>
                  </a:lnTo>
                  <a:lnTo>
                    <a:pt x="1539240" y="1830959"/>
                  </a:lnTo>
                  <a:lnTo>
                    <a:pt x="1558607" y="1817979"/>
                  </a:lnTo>
                  <a:lnTo>
                    <a:pt x="1596631" y="1790509"/>
                  </a:lnTo>
                  <a:lnTo>
                    <a:pt x="1790509" y="1596644"/>
                  </a:lnTo>
                  <a:lnTo>
                    <a:pt x="1817966" y="1558620"/>
                  </a:lnTo>
                  <a:lnTo>
                    <a:pt x="1843430" y="1519643"/>
                  </a:lnTo>
                  <a:close/>
                </a:path>
                <a:path w="1990725" h="1990725" extrusionOk="0">
                  <a:moveTo>
                    <a:pt x="1896491" y="568236"/>
                  </a:moveTo>
                  <a:lnTo>
                    <a:pt x="1888667" y="551980"/>
                  </a:lnTo>
                  <a:lnTo>
                    <a:pt x="551967" y="1888680"/>
                  </a:lnTo>
                  <a:lnTo>
                    <a:pt x="568223" y="1896503"/>
                  </a:lnTo>
                  <a:lnTo>
                    <a:pt x="1896491" y="568236"/>
                  </a:lnTo>
                  <a:close/>
                </a:path>
                <a:path w="1990725" h="1990725" extrusionOk="0">
                  <a:moveTo>
                    <a:pt x="1958403" y="736917"/>
                  </a:moveTo>
                  <a:lnTo>
                    <a:pt x="1953145" y="718108"/>
                  </a:lnTo>
                  <a:lnTo>
                    <a:pt x="718083" y="1953158"/>
                  </a:lnTo>
                  <a:lnTo>
                    <a:pt x="736892" y="1958416"/>
                  </a:lnTo>
                  <a:lnTo>
                    <a:pt x="1958403" y="736917"/>
                  </a:lnTo>
                  <a:close/>
                </a:path>
                <a:path w="1990725" h="1990725" extrusionOk="0">
                  <a:moveTo>
                    <a:pt x="1979764" y="1152690"/>
                  </a:moveTo>
                  <a:lnTo>
                    <a:pt x="1152677" y="1979764"/>
                  </a:lnTo>
                  <a:lnTo>
                    <a:pt x="1181811" y="1974735"/>
                  </a:lnTo>
                  <a:lnTo>
                    <a:pt x="1974723" y="1181823"/>
                  </a:lnTo>
                  <a:lnTo>
                    <a:pt x="1979764" y="1152690"/>
                  </a:lnTo>
                  <a:close/>
                </a:path>
                <a:path w="1990725" h="1990725" extrusionOk="0">
                  <a:moveTo>
                    <a:pt x="1990445" y="935507"/>
                  </a:moveTo>
                  <a:lnTo>
                    <a:pt x="1988845" y="913003"/>
                  </a:lnTo>
                  <a:lnTo>
                    <a:pt x="913003" y="1988845"/>
                  </a:lnTo>
                  <a:lnTo>
                    <a:pt x="935494" y="1990445"/>
                  </a:lnTo>
                  <a:lnTo>
                    <a:pt x="1990445" y="935507"/>
                  </a:lnTo>
                  <a:close/>
                </a:path>
              </a:pathLst>
            </a:custGeom>
            <a:solidFill>
              <a:srgbClr val="15376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4" name="Google Shape;1294;p19"/>
            <p:cNvSpPr/>
            <p:nvPr/>
          </p:nvSpPr>
          <p:spPr>
            <a:xfrm>
              <a:off x="8880273" y="2765428"/>
              <a:ext cx="5847080" cy="4991100"/>
            </a:xfrm>
            <a:custGeom>
              <a:avLst/>
              <a:gdLst/>
              <a:ahLst/>
              <a:cxnLst/>
              <a:rect l="l" t="t" r="r" b="b"/>
              <a:pathLst>
                <a:path w="5847080" h="4991100" extrusionOk="0">
                  <a:moveTo>
                    <a:pt x="2232656" y="0"/>
                  </a:moveTo>
                  <a:lnTo>
                    <a:pt x="2191070" y="9558"/>
                  </a:lnTo>
                  <a:lnTo>
                    <a:pt x="104764" y="789973"/>
                  </a:lnTo>
                  <a:lnTo>
                    <a:pt x="65284" y="811163"/>
                  </a:lnTo>
                  <a:lnTo>
                    <a:pt x="34705" y="840507"/>
                  </a:lnTo>
                  <a:lnTo>
                    <a:pt x="13390" y="875845"/>
                  </a:lnTo>
                  <a:lnTo>
                    <a:pt x="1701" y="915015"/>
                  </a:lnTo>
                  <a:lnTo>
                    <a:pt x="0" y="955856"/>
                  </a:lnTo>
                  <a:lnTo>
                    <a:pt x="8649" y="996207"/>
                  </a:lnTo>
                  <a:lnTo>
                    <a:pt x="28011" y="1033907"/>
                  </a:lnTo>
                  <a:lnTo>
                    <a:pt x="58447" y="1066795"/>
                  </a:lnTo>
                  <a:lnTo>
                    <a:pt x="4773030" y="4954315"/>
                  </a:lnTo>
                  <a:lnTo>
                    <a:pt x="4809238" y="4976891"/>
                  </a:lnTo>
                  <a:lnTo>
                    <a:pt x="4849389" y="4989113"/>
                  </a:lnTo>
                  <a:lnTo>
                    <a:pt x="4891331" y="4990620"/>
                  </a:lnTo>
                  <a:lnTo>
                    <a:pt x="4932911" y="4981049"/>
                  </a:lnTo>
                  <a:lnTo>
                    <a:pt x="5469803" y="4780186"/>
                  </a:lnTo>
                  <a:lnTo>
                    <a:pt x="5507457" y="4760107"/>
                  </a:lnTo>
                  <a:lnTo>
                    <a:pt x="5538112" y="4731435"/>
                  </a:lnTo>
                  <a:lnTo>
                    <a:pt x="5560377" y="4695855"/>
                  </a:lnTo>
                  <a:lnTo>
                    <a:pt x="5572864" y="4655053"/>
                  </a:lnTo>
                  <a:lnTo>
                    <a:pt x="5845126" y="3022302"/>
                  </a:lnTo>
                  <a:lnTo>
                    <a:pt x="5846554" y="2979699"/>
                  </a:lnTo>
                  <a:lnTo>
                    <a:pt x="5837060" y="2938857"/>
                  </a:lnTo>
                  <a:lnTo>
                    <a:pt x="5817410" y="2901816"/>
                  </a:lnTo>
                  <a:lnTo>
                    <a:pt x="5788370" y="2870614"/>
                  </a:lnTo>
                  <a:lnTo>
                    <a:pt x="3857652" y="1278643"/>
                  </a:lnTo>
                  <a:lnTo>
                    <a:pt x="2350950" y="36317"/>
                  </a:lnTo>
                  <a:lnTo>
                    <a:pt x="2314749" y="13735"/>
                  </a:lnTo>
                  <a:lnTo>
                    <a:pt x="2274601" y="1511"/>
                  </a:lnTo>
                  <a:lnTo>
                    <a:pt x="2232656" y="0"/>
                  </a:lnTo>
                  <a:close/>
                </a:path>
              </a:pathLst>
            </a:custGeom>
            <a:solidFill>
              <a:srgbClr val="0066A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5" name="Google Shape;1295;p19"/>
            <p:cNvSpPr/>
            <p:nvPr/>
          </p:nvSpPr>
          <p:spPr>
            <a:xfrm>
              <a:off x="7096864" y="0"/>
              <a:ext cx="6078220" cy="3458845"/>
            </a:xfrm>
            <a:custGeom>
              <a:avLst/>
              <a:gdLst/>
              <a:ahLst/>
              <a:cxnLst/>
              <a:rect l="l" t="t" r="r" b="b"/>
              <a:pathLst>
                <a:path w="6078219" h="3458845" extrusionOk="0">
                  <a:moveTo>
                    <a:pt x="6078225" y="0"/>
                  </a:moveTo>
                  <a:lnTo>
                    <a:pt x="4258379" y="0"/>
                  </a:lnTo>
                  <a:lnTo>
                    <a:pt x="198876" y="1518840"/>
                  </a:lnTo>
                  <a:lnTo>
                    <a:pt x="161229" y="1538919"/>
                  </a:lnTo>
                  <a:lnTo>
                    <a:pt x="130577" y="1567590"/>
                  </a:lnTo>
                  <a:lnTo>
                    <a:pt x="108309" y="1603170"/>
                  </a:lnTo>
                  <a:lnTo>
                    <a:pt x="95816" y="1643973"/>
                  </a:lnTo>
                  <a:lnTo>
                    <a:pt x="1429" y="2209961"/>
                  </a:lnTo>
                  <a:lnTo>
                    <a:pt x="0" y="2252560"/>
                  </a:lnTo>
                  <a:lnTo>
                    <a:pt x="9489" y="2293402"/>
                  </a:lnTo>
                  <a:lnTo>
                    <a:pt x="29134" y="2330446"/>
                  </a:lnTo>
                  <a:lnTo>
                    <a:pt x="58173" y="2361650"/>
                  </a:lnTo>
                  <a:lnTo>
                    <a:pt x="1344657" y="3422405"/>
                  </a:lnTo>
                  <a:lnTo>
                    <a:pt x="1380858" y="3444981"/>
                  </a:lnTo>
                  <a:lnTo>
                    <a:pt x="1421007" y="3457204"/>
                  </a:lnTo>
                  <a:lnTo>
                    <a:pt x="1462951" y="3458715"/>
                  </a:lnTo>
                  <a:lnTo>
                    <a:pt x="1504538" y="3449151"/>
                  </a:lnTo>
                  <a:lnTo>
                    <a:pt x="5681453" y="1886441"/>
                  </a:lnTo>
                  <a:lnTo>
                    <a:pt x="5719099" y="1866355"/>
                  </a:lnTo>
                  <a:lnTo>
                    <a:pt x="5749748" y="1837680"/>
                  </a:lnTo>
                  <a:lnTo>
                    <a:pt x="5772015" y="1802099"/>
                  </a:lnTo>
                  <a:lnTo>
                    <a:pt x="5784514" y="1761296"/>
                  </a:lnTo>
                  <a:lnTo>
                    <a:pt x="6078225" y="0"/>
                  </a:lnTo>
                  <a:close/>
                </a:path>
              </a:pathLst>
            </a:custGeom>
            <a:solidFill>
              <a:srgbClr val="094D9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6" name="Google Shape;1296;p19"/>
            <p:cNvSpPr/>
            <p:nvPr/>
          </p:nvSpPr>
          <p:spPr>
            <a:xfrm>
              <a:off x="12785499" y="0"/>
              <a:ext cx="2905125" cy="5285740"/>
            </a:xfrm>
            <a:custGeom>
              <a:avLst/>
              <a:gdLst/>
              <a:ahLst/>
              <a:cxnLst/>
              <a:rect l="l" t="t" r="r" b="b"/>
              <a:pathLst>
                <a:path w="2905125" h="5285740" extrusionOk="0">
                  <a:moveTo>
                    <a:pt x="2905019" y="0"/>
                  </a:moveTo>
                  <a:lnTo>
                    <a:pt x="612501" y="0"/>
                  </a:lnTo>
                  <a:lnTo>
                    <a:pt x="1408" y="3675250"/>
                  </a:lnTo>
                  <a:lnTo>
                    <a:pt x="0" y="3717828"/>
                  </a:lnTo>
                  <a:lnTo>
                    <a:pt x="9498" y="3758648"/>
                  </a:lnTo>
                  <a:lnTo>
                    <a:pt x="29140" y="3795672"/>
                  </a:lnTo>
                  <a:lnTo>
                    <a:pt x="58164" y="3826863"/>
                  </a:lnTo>
                  <a:lnTo>
                    <a:pt x="1783040" y="5249085"/>
                  </a:lnTo>
                  <a:lnTo>
                    <a:pt x="1821138" y="5272704"/>
                  </a:lnTo>
                  <a:lnTo>
                    <a:pt x="1861854" y="5284522"/>
                  </a:lnTo>
                  <a:lnTo>
                    <a:pt x="1903131" y="5285310"/>
                  </a:lnTo>
                  <a:lnTo>
                    <a:pt x="1942914" y="5275836"/>
                  </a:lnTo>
                  <a:lnTo>
                    <a:pt x="1979146" y="5256870"/>
                  </a:lnTo>
                  <a:lnTo>
                    <a:pt x="2009772" y="5229181"/>
                  </a:lnTo>
                  <a:lnTo>
                    <a:pt x="2032735" y="5193538"/>
                  </a:lnTo>
                  <a:lnTo>
                    <a:pt x="2045981" y="5150711"/>
                  </a:lnTo>
                  <a:lnTo>
                    <a:pt x="2905019" y="0"/>
                  </a:lnTo>
                  <a:close/>
                </a:path>
              </a:pathLst>
            </a:custGeom>
            <a:solidFill>
              <a:srgbClr val="1F80C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97" name="Google Shape;1297;p19"/>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7096867" y="0"/>
              <a:ext cx="8593652" cy="7756050"/>
            </a:xfrm>
            <a:prstGeom prst="rect">
              <a:avLst/>
            </a:prstGeom>
            <a:noFill/>
            <a:ln>
              <a:noFill/>
            </a:ln>
          </p:spPr>
        </p:pic>
      </p:grpSp>
      <p:grpSp>
        <p:nvGrpSpPr>
          <p:cNvPr id="1298" name="Google Shape;1298;p19"/>
          <p:cNvGrpSpPr/>
          <p:nvPr/>
        </p:nvGrpSpPr>
        <p:grpSpPr>
          <a:xfrm>
            <a:off x="990848" y="614933"/>
            <a:ext cx="1272317" cy="478968"/>
            <a:chOff x="990848" y="614933"/>
            <a:chExt cx="1272317" cy="478968"/>
          </a:xfrm>
        </p:grpSpPr>
        <p:sp>
          <p:nvSpPr>
            <p:cNvPr id="1299" name="Google Shape;1299;p19"/>
            <p:cNvSpPr/>
            <p:nvPr/>
          </p:nvSpPr>
          <p:spPr>
            <a:xfrm>
              <a:off x="1505610" y="748461"/>
              <a:ext cx="757555" cy="345440"/>
            </a:xfrm>
            <a:custGeom>
              <a:avLst/>
              <a:gdLst/>
              <a:ahLst/>
              <a:cxnLst/>
              <a:rect l="l" t="t" r="r" b="b"/>
              <a:pathLst>
                <a:path w="757555" h="345440" extrusionOk="0">
                  <a:moveTo>
                    <a:pt x="371513" y="6946"/>
                  </a:moveTo>
                  <a:lnTo>
                    <a:pt x="366890" y="0"/>
                  </a:lnTo>
                  <a:lnTo>
                    <a:pt x="288442" y="0"/>
                  </a:lnTo>
                  <a:lnTo>
                    <a:pt x="284975" y="2311"/>
                  </a:lnTo>
                  <a:lnTo>
                    <a:pt x="186613" y="237451"/>
                  </a:lnTo>
                  <a:lnTo>
                    <a:pt x="91071" y="2349"/>
                  </a:lnTo>
                  <a:lnTo>
                    <a:pt x="87579" y="0"/>
                  </a:lnTo>
                  <a:lnTo>
                    <a:pt x="4622" y="0"/>
                  </a:lnTo>
                  <a:lnTo>
                    <a:pt x="0" y="7073"/>
                  </a:lnTo>
                  <a:lnTo>
                    <a:pt x="147027" y="342849"/>
                  </a:lnTo>
                  <a:lnTo>
                    <a:pt x="150469" y="345097"/>
                  </a:lnTo>
                  <a:lnTo>
                    <a:pt x="226949" y="345097"/>
                  </a:lnTo>
                  <a:lnTo>
                    <a:pt x="230416" y="342785"/>
                  </a:lnTo>
                  <a:lnTo>
                    <a:pt x="368871" y="13246"/>
                  </a:lnTo>
                  <a:lnTo>
                    <a:pt x="371513" y="6946"/>
                  </a:lnTo>
                  <a:close/>
                </a:path>
                <a:path w="757555" h="345440" extrusionOk="0">
                  <a:moveTo>
                    <a:pt x="655193" y="4343"/>
                  </a:moveTo>
                  <a:lnTo>
                    <a:pt x="650913" y="63"/>
                  </a:lnTo>
                  <a:lnTo>
                    <a:pt x="393357" y="63"/>
                  </a:lnTo>
                  <a:lnTo>
                    <a:pt x="389826" y="2463"/>
                  </a:lnTo>
                  <a:lnTo>
                    <a:pt x="365848" y="63500"/>
                  </a:lnTo>
                  <a:lnTo>
                    <a:pt x="370459" y="70281"/>
                  </a:lnTo>
                  <a:lnTo>
                    <a:pt x="460781" y="70281"/>
                  </a:lnTo>
                  <a:lnTo>
                    <a:pt x="461010" y="340423"/>
                  </a:lnTo>
                  <a:lnTo>
                    <a:pt x="465277" y="344703"/>
                  </a:lnTo>
                  <a:lnTo>
                    <a:pt x="541464" y="344703"/>
                  </a:lnTo>
                  <a:lnTo>
                    <a:pt x="545744" y="340423"/>
                  </a:lnTo>
                  <a:lnTo>
                    <a:pt x="545744" y="70281"/>
                  </a:lnTo>
                  <a:lnTo>
                    <a:pt x="645642" y="70281"/>
                  </a:lnTo>
                  <a:lnTo>
                    <a:pt x="650913" y="70281"/>
                  </a:lnTo>
                  <a:lnTo>
                    <a:pt x="655193" y="66001"/>
                  </a:lnTo>
                  <a:lnTo>
                    <a:pt x="655193" y="4343"/>
                  </a:lnTo>
                  <a:close/>
                </a:path>
                <a:path w="757555" h="345440" extrusionOk="0">
                  <a:moveTo>
                    <a:pt x="757428" y="4279"/>
                  </a:moveTo>
                  <a:lnTo>
                    <a:pt x="753148" y="0"/>
                  </a:lnTo>
                  <a:lnTo>
                    <a:pt x="675792" y="0"/>
                  </a:lnTo>
                  <a:lnTo>
                    <a:pt x="671512" y="4279"/>
                  </a:lnTo>
                  <a:lnTo>
                    <a:pt x="671512" y="340817"/>
                  </a:lnTo>
                  <a:lnTo>
                    <a:pt x="675792" y="345097"/>
                  </a:lnTo>
                  <a:lnTo>
                    <a:pt x="747877" y="345097"/>
                  </a:lnTo>
                  <a:lnTo>
                    <a:pt x="753148" y="345097"/>
                  </a:lnTo>
                  <a:lnTo>
                    <a:pt x="757428" y="340817"/>
                  </a:lnTo>
                  <a:lnTo>
                    <a:pt x="757428" y="4279"/>
                  </a:lnTo>
                  <a:close/>
                </a:path>
              </a:pathLst>
            </a:custGeom>
            <a:solidFill>
              <a:srgbClr val="0050A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0" name="Google Shape;1300;p19"/>
            <p:cNvSpPr/>
            <p:nvPr/>
          </p:nvSpPr>
          <p:spPr>
            <a:xfrm>
              <a:off x="1056953" y="762241"/>
              <a:ext cx="284480" cy="331469"/>
            </a:xfrm>
            <a:custGeom>
              <a:avLst/>
              <a:gdLst/>
              <a:ahLst/>
              <a:cxnLst/>
              <a:rect l="l" t="t" r="r" b="b"/>
              <a:pathLst>
                <a:path w="284480" h="331469" extrusionOk="0">
                  <a:moveTo>
                    <a:pt x="146608" y="0"/>
                  </a:moveTo>
                  <a:lnTo>
                    <a:pt x="4597" y="0"/>
                  </a:lnTo>
                  <a:lnTo>
                    <a:pt x="0" y="7950"/>
                  </a:lnTo>
                  <a:lnTo>
                    <a:pt x="185318" y="329158"/>
                  </a:lnTo>
                  <a:lnTo>
                    <a:pt x="188467" y="330974"/>
                  </a:lnTo>
                  <a:lnTo>
                    <a:pt x="229082" y="330974"/>
                  </a:lnTo>
                  <a:lnTo>
                    <a:pt x="232232" y="329158"/>
                  </a:lnTo>
                  <a:lnTo>
                    <a:pt x="284378" y="238760"/>
                  </a:lnTo>
                  <a:lnTo>
                    <a:pt x="284378" y="235115"/>
                  </a:lnTo>
                  <a:lnTo>
                    <a:pt x="208978" y="104444"/>
                  </a:lnTo>
                  <a:lnTo>
                    <a:pt x="149771" y="1816"/>
                  </a:lnTo>
                  <a:lnTo>
                    <a:pt x="146608" y="0"/>
                  </a:lnTo>
                  <a:close/>
                </a:path>
              </a:pathLst>
            </a:custGeom>
            <a:solidFill>
              <a:srgbClr val="006BC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1" name="Google Shape;1301;p19"/>
            <p:cNvSpPr/>
            <p:nvPr/>
          </p:nvSpPr>
          <p:spPr>
            <a:xfrm>
              <a:off x="990848" y="614945"/>
              <a:ext cx="400050" cy="133984"/>
            </a:xfrm>
            <a:custGeom>
              <a:avLst/>
              <a:gdLst/>
              <a:ahLst/>
              <a:cxnLst/>
              <a:rect l="l" t="t" r="r" b="b"/>
              <a:pathLst>
                <a:path w="400050" h="133984" extrusionOk="0">
                  <a:moveTo>
                    <a:pt x="395185" y="0"/>
                  </a:moveTo>
                  <a:lnTo>
                    <a:pt x="141986" y="12"/>
                  </a:lnTo>
                  <a:lnTo>
                    <a:pt x="23444" y="25"/>
                  </a:lnTo>
                  <a:lnTo>
                    <a:pt x="20294" y="1841"/>
                  </a:lnTo>
                  <a:lnTo>
                    <a:pt x="0" y="37045"/>
                  </a:lnTo>
                  <a:lnTo>
                    <a:pt x="0" y="40678"/>
                  </a:lnTo>
                  <a:lnTo>
                    <a:pt x="52501" y="131686"/>
                  </a:lnTo>
                  <a:lnTo>
                    <a:pt x="55664" y="133515"/>
                  </a:lnTo>
                  <a:lnTo>
                    <a:pt x="325272" y="133489"/>
                  </a:lnTo>
                  <a:lnTo>
                    <a:pt x="328422" y="131673"/>
                  </a:lnTo>
                  <a:lnTo>
                    <a:pt x="399783" y="7950"/>
                  </a:lnTo>
                  <a:lnTo>
                    <a:pt x="395185" y="0"/>
                  </a:lnTo>
                  <a:close/>
                </a:path>
              </a:pathLst>
            </a:custGeom>
            <a:solidFill>
              <a:srgbClr val="0050A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2" name="Google Shape;1302;p19"/>
            <p:cNvSpPr/>
            <p:nvPr/>
          </p:nvSpPr>
          <p:spPr>
            <a:xfrm>
              <a:off x="1274542" y="614933"/>
              <a:ext cx="266065" cy="362584"/>
            </a:xfrm>
            <a:custGeom>
              <a:avLst/>
              <a:gdLst/>
              <a:ahLst/>
              <a:cxnLst/>
              <a:rect l="l" t="t" r="r" b="b"/>
              <a:pathLst>
                <a:path w="266065" h="362584" extrusionOk="0">
                  <a:moveTo>
                    <a:pt x="242557" y="0"/>
                  </a:moveTo>
                  <a:lnTo>
                    <a:pt x="239140" y="0"/>
                  </a:lnTo>
                  <a:lnTo>
                    <a:pt x="137718" y="0"/>
                  </a:lnTo>
                  <a:lnTo>
                    <a:pt x="134556" y="1828"/>
                  </a:lnTo>
                  <a:lnTo>
                    <a:pt x="0" y="235356"/>
                  </a:lnTo>
                  <a:lnTo>
                    <a:pt x="0" y="239001"/>
                  </a:lnTo>
                  <a:lnTo>
                    <a:pt x="71221" y="362419"/>
                  </a:lnTo>
                  <a:lnTo>
                    <a:pt x="80416" y="362419"/>
                  </a:lnTo>
                  <a:lnTo>
                    <a:pt x="266014" y="40652"/>
                  </a:lnTo>
                  <a:lnTo>
                    <a:pt x="266014" y="37020"/>
                  </a:lnTo>
                  <a:lnTo>
                    <a:pt x="245706" y="1816"/>
                  </a:lnTo>
                  <a:lnTo>
                    <a:pt x="242557" y="0"/>
                  </a:lnTo>
                  <a:close/>
                </a:path>
              </a:pathLst>
            </a:custGeom>
            <a:solidFill>
              <a:srgbClr val="0391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303" name="Google Shape;1303;p19"/>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989787" y="1161643"/>
            <a:ext cx="1271963" cy="91202"/>
          </a:xfrm>
          <a:prstGeom prst="rect">
            <a:avLst/>
          </a:prstGeom>
          <a:noFill/>
          <a:ln>
            <a:noFill/>
          </a:ln>
        </p:spPr>
      </p:pic>
      <p:sp>
        <p:nvSpPr>
          <p:cNvPr id="1304" name="Google Shape;1304;p19"/>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b="-8"/>
            </a:stretch>
          </a:blipFill>
          <a:ln>
            <a:noFill/>
          </a:ln>
        </p:spPr>
      </p:sp>
      <p:grpSp>
        <p:nvGrpSpPr>
          <p:cNvPr id="1305" name="Google Shape;1305;p19"/>
          <p:cNvGrpSpPr/>
          <p:nvPr/>
        </p:nvGrpSpPr>
        <p:grpSpPr>
          <a:xfrm>
            <a:off x="872534" y="8351050"/>
            <a:ext cx="846442" cy="699635"/>
            <a:chOff x="0" y="0"/>
            <a:chExt cx="1269600" cy="1049400"/>
          </a:xfrm>
        </p:grpSpPr>
        <p:sp>
          <p:nvSpPr>
            <p:cNvPr id="1306" name="Google Shape;1306;p19"/>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307" name="Google Shape;1307;p19"/>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19968"/>
                </a:lnSpc>
                <a:spcBef>
                  <a:spcPts val="0"/>
                </a:spcBef>
                <a:spcAft>
                  <a:spcPts val="0"/>
                </a:spcAft>
                <a:buClr>
                  <a:srgbClr val="000000"/>
                </a:buClr>
                <a:buSzPts val="2800"/>
                <a:buFont typeface="Arial"/>
                <a:buNone/>
              </a:pPr>
              <a:r>
                <a:rPr lang="en-US" sz="2800" b="0" i="0" u="none" strike="noStrike" cap="none">
                  <a:solidFill>
                    <a:schemeClr val="lt1"/>
                  </a:solidFill>
                  <a:latin typeface="Inter"/>
                  <a:ea typeface="Inter"/>
                  <a:cs typeface="Inter"/>
                  <a:sym typeface="Inter"/>
                </a:rPr>
                <a:t>20</a:t>
              </a:r>
              <a:endParaRPr sz="1200" b="0" i="0" u="none" strike="noStrike" cap="none">
                <a:solidFill>
                  <a:schemeClr val="lt1"/>
                </a:solidFill>
                <a:latin typeface="Arial"/>
                <a:ea typeface="Arial"/>
                <a:cs typeface="Arial"/>
                <a:sym typeface="Arial"/>
              </a:endParaRPr>
            </a:p>
          </p:txBody>
        </p:sp>
      </p:grpSp>
      <p:cxnSp>
        <p:nvCxnSpPr>
          <p:cNvPr id="1308" name="Google Shape;1308;p19"/>
          <p:cNvCxnSpPr/>
          <p:nvPr/>
        </p:nvCxnSpPr>
        <p:spPr>
          <a:xfrm>
            <a:off x="1647250" y="8527867"/>
            <a:ext cx="12900" cy="432300"/>
          </a:xfrm>
          <a:prstGeom prst="straightConnector1">
            <a:avLst/>
          </a:prstGeom>
          <a:noFill/>
          <a:ln w="9525" cap="rnd" cmpd="sng">
            <a:solidFill>
              <a:schemeClr val="lt1"/>
            </a:solidFill>
            <a:prstDash val="solid"/>
            <a:round/>
            <a:headEnd type="none" w="sm" len="sm"/>
            <a:tailEnd type="none" w="sm" len="sm"/>
          </a:ln>
        </p:spPr>
      </p:cxnSp>
      <p:grpSp>
        <p:nvGrpSpPr>
          <p:cNvPr id="1309" name="Google Shape;1309;p19"/>
          <p:cNvGrpSpPr/>
          <p:nvPr/>
        </p:nvGrpSpPr>
        <p:grpSpPr>
          <a:xfrm>
            <a:off x="1769555" y="8560966"/>
            <a:ext cx="5353468" cy="296215"/>
            <a:chOff x="0" y="-9525"/>
            <a:chExt cx="8029800" cy="444300"/>
          </a:xfrm>
        </p:grpSpPr>
        <p:sp>
          <p:nvSpPr>
            <p:cNvPr id="1310" name="Google Shape;1310;p19"/>
            <p:cNvSpPr/>
            <p:nvPr/>
          </p:nvSpPr>
          <p:spPr>
            <a:xfrm>
              <a:off x="0" y="0"/>
              <a:ext cx="8029800" cy="434687"/>
            </a:xfrm>
            <a:custGeom>
              <a:avLst/>
              <a:gdLst/>
              <a:ahLst/>
              <a:cxnLst/>
              <a:rect l="l" t="t" r="r" b="b"/>
              <a:pathLst>
                <a:path w="8029800" h="434687" extrusionOk="0">
                  <a:moveTo>
                    <a:pt x="0" y="0"/>
                  </a:moveTo>
                  <a:lnTo>
                    <a:pt x="8029800" y="0"/>
                  </a:lnTo>
                  <a:lnTo>
                    <a:pt x="8029800" y="434687"/>
                  </a:lnTo>
                  <a:lnTo>
                    <a:pt x="0" y="434687"/>
                  </a:lnTo>
                  <a:close/>
                </a:path>
              </a:pathLst>
            </a:custGeom>
            <a:solidFill>
              <a:srgbClr val="000000">
                <a:alpha val="0"/>
              </a:srgbClr>
            </a:solidFill>
            <a:ln>
              <a:noFill/>
            </a:ln>
          </p:spPr>
        </p:sp>
        <p:sp>
          <p:nvSpPr>
            <p:cNvPr id="1311" name="Google Shape;1311;p19"/>
            <p:cNvSpPr txBox="1"/>
            <p:nvPr/>
          </p:nvSpPr>
          <p:spPr>
            <a:xfrm>
              <a:off x="0" y="-9525"/>
              <a:ext cx="8029800" cy="444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300"/>
                <a:buFont typeface="Arial"/>
                <a:buNone/>
              </a:pPr>
              <a:r>
                <a:rPr lang="en-US" sz="1300" b="0" i="0" u="none" strike="noStrike" cap="none" dirty="0">
                  <a:solidFill>
                    <a:schemeClr val="lt1"/>
                  </a:solidFill>
                  <a:latin typeface="Inter"/>
                  <a:ea typeface="Inter"/>
                  <a:cs typeface="Inter"/>
                  <a:sym typeface="Inter"/>
                </a:rPr>
                <a:t>RETAIL DX Profile - Software Development For Retail</a:t>
              </a:r>
              <a:endParaRPr sz="1200" b="0" i="0" u="none" strike="noStrike" cap="none" dirty="0">
                <a:solidFill>
                  <a:schemeClr val="lt1"/>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sp>
        <p:nvSpPr>
          <p:cNvPr id="1268" name="Google Shape;1268;p29"/>
          <p:cNvSpPr/>
          <p:nvPr/>
        </p:nvSpPr>
        <p:spPr>
          <a:xfrm rot="5400000">
            <a:off x="411095" y="2288858"/>
            <a:ext cx="9155430" cy="4577715"/>
          </a:xfrm>
          <a:custGeom>
            <a:avLst/>
            <a:gdLst/>
            <a:ahLst/>
            <a:cxnLst/>
            <a:rect l="l" t="t" r="r" b="b"/>
            <a:pathLst>
              <a:path w="10287000" h="5143500" extrusionOk="0">
                <a:moveTo>
                  <a:pt x="0" y="0"/>
                </a:moveTo>
                <a:lnTo>
                  <a:pt x="10287000" y="0"/>
                </a:lnTo>
                <a:lnTo>
                  <a:pt x="10287000" y="5143500"/>
                </a:lnTo>
                <a:lnTo>
                  <a:pt x="0" y="5143500"/>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sp>
      <p:cxnSp>
        <p:nvCxnSpPr>
          <p:cNvPr id="1269" name="Google Shape;1269;p29"/>
          <p:cNvCxnSpPr/>
          <p:nvPr/>
        </p:nvCxnSpPr>
        <p:spPr>
          <a:xfrm>
            <a:off x="4696563" y="2145476"/>
            <a:ext cx="5186100"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1270" name="Google Shape;1270;p29"/>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4" cstate="email">
              <a:alphaModFix amt="46000"/>
              <a:extLst>
                <a:ext uri="{28A0092B-C50C-407E-A947-70E740481C1C}">
                  <a14:useLocalDpi xmlns:a14="http://schemas.microsoft.com/office/drawing/2010/main"/>
                </a:ext>
              </a:extLst>
            </a:blip>
            <a:stretch>
              <a:fillRect/>
            </a:stretch>
          </a:blipFill>
          <a:ln>
            <a:noFill/>
          </a:ln>
        </p:spPr>
      </p:sp>
      <p:sp>
        <p:nvSpPr>
          <p:cNvPr id="1271" name="Google Shape;1271;p29"/>
          <p:cNvSpPr txBox="1"/>
          <p:nvPr/>
        </p:nvSpPr>
        <p:spPr>
          <a:xfrm>
            <a:off x="4627239" y="4253556"/>
            <a:ext cx="4890300" cy="738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Customer Challenges &amp; Requirements</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000"/>
              <a:buFont typeface="Arial"/>
              <a:buNone/>
            </a:pPr>
            <a:endParaRPr sz="2000" b="1" i="0" u="none" strike="noStrike" cap="none">
              <a:solidFill>
                <a:srgbClr val="3A3A3A"/>
              </a:solidFill>
              <a:latin typeface="Inter"/>
              <a:ea typeface="Inter"/>
              <a:cs typeface="Inter"/>
              <a:sym typeface="Inter"/>
            </a:endParaRPr>
          </a:p>
        </p:txBody>
      </p:sp>
      <p:cxnSp>
        <p:nvCxnSpPr>
          <p:cNvPr id="1272" name="Google Shape;1272;p29"/>
          <p:cNvCxnSpPr/>
          <p:nvPr/>
        </p:nvCxnSpPr>
        <p:spPr>
          <a:xfrm rot="10800000" flipH="1">
            <a:off x="4627239" y="4669629"/>
            <a:ext cx="5186100" cy="13200"/>
          </a:xfrm>
          <a:prstGeom prst="straightConnector1">
            <a:avLst/>
          </a:prstGeom>
          <a:noFill/>
          <a:ln w="19050" cap="flat" cmpd="sng">
            <a:solidFill>
              <a:srgbClr val="3A3A3A">
                <a:alpha val="28627"/>
              </a:srgbClr>
            </a:solidFill>
            <a:prstDash val="solid"/>
            <a:round/>
            <a:headEnd type="none" w="sm" len="sm"/>
            <a:tailEnd type="none" w="sm" len="sm"/>
          </a:ln>
        </p:spPr>
      </p:cxnSp>
      <p:grpSp>
        <p:nvGrpSpPr>
          <p:cNvPr id="1273" name="Google Shape;1273;p29"/>
          <p:cNvGrpSpPr/>
          <p:nvPr/>
        </p:nvGrpSpPr>
        <p:grpSpPr>
          <a:xfrm>
            <a:off x="4935772" y="6191168"/>
            <a:ext cx="210844" cy="612746"/>
            <a:chOff x="0" y="-28575"/>
            <a:chExt cx="631081" cy="1834019"/>
          </a:xfrm>
        </p:grpSpPr>
        <p:sp>
          <p:nvSpPr>
            <p:cNvPr id="1274" name="Google Shape;1274;p29"/>
            <p:cNvSpPr/>
            <p:nvPr/>
          </p:nvSpPr>
          <p:spPr>
            <a:xfrm>
              <a:off x="0" y="0"/>
              <a:ext cx="631081" cy="1805444"/>
            </a:xfrm>
            <a:custGeom>
              <a:avLst/>
              <a:gdLst/>
              <a:ahLst/>
              <a:cxnLst/>
              <a:rect l="l" t="t" r="r" b="b"/>
              <a:pathLst>
                <a:path w="631081" h="1805444" extrusionOk="0">
                  <a:moveTo>
                    <a:pt x="315541" y="1805444"/>
                  </a:moveTo>
                  <a:lnTo>
                    <a:pt x="0" y="1399044"/>
                  </a:lnTo>
                  <a:lnTo>
                    <a:pt x="203200" y="1399044"/>
                  </a:lnTo>
                  <a:lnTo>
                    <a:pt x="203200" y="0"/>
                  </a:lnTo>
                  <a:lnTo>
                    <a:pt x="427881" y="0"/>
                  </a:lnTo>
                  <a:lnTo>
                    <a:pt x="427881" y="1399044"/>
                  </a:lnTo>
                  <a:lnTo>
                    <a:pt x="631081" y="1399044"/>
                  </a:lnTo>
                  <a:lnTo>
                    <a:pt x="315541" y="1805444"/>
                  </a:lnTo>
                  <a:close/>
                </a:path>
              </a:pathLst>
            </a:custGeom>
            <a:solidFill>
              <a:srgbClr val="E76413"/>
            </a:solidFill>
            <a:ln>
              <a:noFill/>
            </a:ln>
          </p:spPr>
        </p:sp>
        <p:sp>
          <p:nvSpPr>
            <p:cNvPr id="1275" name="Google Shape;1275;p29"/>
            <p:cNvSpPr txBox="1"/>
            <p:nvPr/>
          </p:nvSpPr>
          <p:spPr>
            <a:xfrm>
              <a:off x="203200" y="-28575"/>
              <a:ext cx="224700" cy="17325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276" name="Google Shape;1276;p29"/>
          <p:cNvGrpSpPr/>
          <p:nvPr/>
        </p:nvGrpSpPr>
        <p:grpSpPr>
          <a:xfrm>
            <a:off x="10537923" y="6213282"/>
            <a:ext cx="210844" cy="612746"/>
            <a:chOff x="0" y="-28575"/>
            <a:chExt cx="631081" cy="1834019"/>
          </a:xfrm>
        </p:grpSpPr>
        <p:sp>
          <p:nvSpPr>
            <p:cNvPr id="1277" name="Google Shape;1277;p29"/>
            <p:cNvSpPr/>
            <p:nvPr/>
          </p:nvSpPr>
          <p:spPr>
            <a:xfrm>
              <a:off x="0" y="0"/>
              <a:ext cx="631081" cy="1805444"/>
            </a:xfrm>
            <a:custGeom>
              <a:avLst/>
              <a:gdLst/>
              <a:ahLst/>
              <a:cxnLst/>
              <a:rect l="l" t="t" r="r" b="b"/>
              <a:pathLst>
                <a:path w="631081" h="1805444" extrusionOk="0">
                  <a:moveTo>
                    <a:pt x="315541" y="1805444"/>
                  </a:moveTo>
                  <a:lnTo>
                    <a:pt x="0" y="1399044"/>
                  </a:lnTo>
                  <a:lnTo>
                    <a:pt x="203200" y="1399044"/>
                  </a:lnTo>
                  <a:lnTo>
                    <a:pt x="203200" y="0"/>
                  </a:lnTo>
                  <a:lnTo>
                    <a:pt x="427881" y="0"/>
                  </a:lnTo>
                  <a:lnTo>
                    <a:pt x="427881" y="1399044"/>
                  </a:lnTo>
                  <a:lnTo>
                    <a:pt x="631081" y="1399044"/>
                  </a:lnTo>
                  <a:lnTo>
                    <a:pt x="315541" y="1805444"/>
                  </a:lnTo>
                  <a:close/>
                </a:path>
              </a:pathLst>
            </a:custGeom>
            <a:solidFill>
              <a:srgbClr val="E76413"/>
            </a:solidFill>
            <a:ln>
              <a:noFill/>
            </a:ln>
          </p:spPr>
        </p:sp>
        <p:sp>
          <p:nvSpPr>
            <p:cNvPr id="1278" name="Google Shape;1278;p29"/>
            <p:cNvSpPr txBox="1"/>
            <p:nvPr/>
          </p:nvSpPr>
          <p:spPr>
            <a:xfrm>
              <a:off x="203200" y="-28575"/>
              <a:ext cx="224700" cy="17325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279" name="Google Shape;1279;p29"/>
          <p:cNvGrpSpPr/>
          <p:nvPr/>
        </p:nvGrpSpPr>
        <p:grpSpPr>
          <a:xfrm>
            <a:off x="4935772" y="8266425"/>
            <a:ext cx="210844" cy="612746"/>
            <a:chOff x="0" y="-28575"/>
            <a:chExt cx="631081" cy="1834019"/>
          </a:xfrm>
        </p:grpSpPr>
        <p:sp>
          <p:nvSpPr>
            <p:cNvPr id="1280" name="Google Shape;1280;p29"/>
            <p:cNvSpPr/>
            <p:nvPr/>
          </p:nvSpPr>
          <p:spPr>
            <a:xfrm>
              <a:off x="0" y="0"/>
              <a:ext cx="631081" cy="1805444"/>
            </a:xfrm>
            <a:custGeom>
              <a:avLst/>
              <a:gdLst/>
              <a:ahLst/>
              <a:cxnLst/>
              <a:rect l="l" t="t" r="r" b="b"/>
              <a:pathLst>
                <a:path w="631081" h="1805444" extrusionOk="0">
                  <a:moveTo>
                    <a:pt x="315541" y="1805444"/>
                  </a:moveTo>
                  <a:lnTo>
                    <a:pt x="0" y="1399044"/>
                  </a:lnTo>
                  <a:lnTo>
                    <a:pt x="203200" y="1399044"/>
                  </a:lnTo>
                  <a:lnTo>
                    <a:pt x="203200" y="0"/>
                  </a:lnTo>
                  <a:lnTo>
                    <a:pt x="427881" y="0"/>
                  </a:lnTo>
                  <a:lnTo>
                    <a:pt x="427881" y="1399044"/>
                  </a:lnTo>
                  <a:lnTo>
                    <a:pt x="631081" y="1399044"/>
                  </a:lnTo>
                  <a:lnTo>
                    <a:pt x="315541" y="1805444"/>
                  </a:lnTo>
                  <a:close/>
                </a:path>
              </a:pathLst>
            </a:custGeom>
            <a:solidFill>
              <a:srgbClr val="E76413"/>
            </a:solidFill>
            <a:ln>
              <a:noFill/>
            </a:ln>
          </p:spPr>
        </p:sp>
        <p:sp>
          <p:nvSpPr>
            <p:cNvPr id="1281" name="Google Shape;1281;p29"/>
            <p:cNvSpPr txBox="1"/>
            <p:nvPr/>
          </p:nvSpPr>
          <p:spPr>
            <a:xfrm>
              <a:off x="203200" y="-28575"/>
              <a:ext cx="224700" cy="17325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282" name="Google Shape;1282;p29"/>
          <p:cNvSpPr/>
          <p:nvPr/>
        </p:nvSpPr>
        <p:spPr>
          <a:xfrm>
            <a:off x="13126321" y="2869550"/>
            <a:ext cx="1465494" cy="910149"/>
          </a:xfrm>
          <a:custGeom>
            <a:avLst/>
            <a:gdLst/>
            <a:ahLst/>
            <a:cxnLst/>
            <a:rect l="l" t="t" r="r" b="b"/>
            <a:pathLst>
              <a:path w="1646622" h="1022639" extrusionOk="0">
                <a:moveTo>
                  <a:pt x="0" y="0"/>
                </a:moveTo>
                <a:lnTo>
                  <a:pt x="1646622" y="0"/>
                </a:lnTo>
                <a:lnTo>
                  <a:pt x="1646622" y="1022639"/>
                </a:lnTo>
                <a:lnTo>
                  <a:pt x="0" y="1022639"/>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grpSp>
        <p:nvGrpSpPr>
          <p:cNvPr id="1283" name="Google Shape;1283;p29"/>
          <p:cNvGrpSpPr/>
          <p:nvPr/>
        </p:nvGrpSpPr>
        <p:grpSpPr>
          <a:xfrm>
            <a:off x="10537923" y="8266425"/>
            <a:ext cx="210844" cy="612746"/>
            <a:chOff x="0" y="-28575"/>
            <a:chExt cx="631081" cy="1834019"/>
          </a:xfrm>
        </p:grpSpPr>
        <p:sp>
          <p:nvSpPr>
            <p:cNvPr id="1284" name="Google Shape;1284;p29"/>
            <p:cNvSpPr/>
            <p:nvPr/>
          </p:nvSpPr>
          <p:spPr>
            <a:xfrm>
              <a:off x="0" y="0"/>
              <a:ext cx="631081" cy="1805444"/>
            </a:xfrm>
            <a:custGeom>
              <a:avLst/>
              <a:gdLst/>
              <a:ahLst/>
              <a:cxnLst/>
              <a:rect l="l" t="t" r="r" b="b"/>
              <a:pathLst>
                <a:path w="631081" h="1805444" extrusionOk="0">
                  <a:moveTo>
                    <a:pt x="315541" y="1805444"/>
                  </a:moveTo>
                  <a:lnTo>
                    <a:pt x="0" y="1399044"/>
                  </a:lnTo>
                  <a:lnTo>
                    <a:pt x="203200" y="1399044"/>
                  </a:lnTo>
                  <a:lnTo>
                    <a:pt x="203200" y="0"/>
                  </a:lnTo>
                  <a:lnTo>
                    <a:pt x="427881" y="0"/>
                  </a:lnTo>
                  <a:lnTo>
                    <a:pt x="427881" y="1399044"/>
                  </a:lnTo>
                  <a:lnTo>
                    <a:pt x="631081" y="1399044"/>
                  </a:lnTo>
                  <a:lnTo>
                    <a:pt x="315541" y="1805444"/>
                  </a:lnTo>
                  <a:close/>
                </a:path>
              </a:pathLst>
            </a:custGeom>
            <a:solidFill>
              <a:srgbClr val="E76413"/>
            </a:solidFill>
            <a:ln>
              <a:noFill/>
            </a:ln>
          </p:spPr>
        </p:sp>
        <p:sp>
          <p:nvSpPr>
            <p:cNvPr id="1285" name="Google Shape;1285;p29"/>
            <p:cNvSpPr txBox="1"/>
            <p:nvPr/>
          </p:nvSpPr>
          <p:spPr>
            <a:xfrm>
              <a:off x="203200" y="-28575"/>
              <a:ext cx="224700" cy="17325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286" name="Google Shape;1286;p29"/>
          <p:cNvSpPr/>
          <p:nvPr/>
        </p:nvSpPr>
        <p:spPr>
          <a:xfrm>
            <a:off x="5257928" y="5410574"/>
            <a:ext cx="537790" cy="545287"/>
          </a:xfrm>
          <a:custGeom>
            <a:avLst/>
            <a:gdLst/>
            <a:ahLst/>
            <a:cxnLst/>
            <a:rect l="l" t="t" r="r" b="b"/>
            <a:pathLst>
              <a:path w="604258" h="612682" extrusionOk="0">
                <a:moveTo>
                  <a:pt x="0" y="0"/>
                </a:moveTo>
                <a:lnTo>
                  <a:pt x="604258" y="0"/>
                </a:lnTo>
                <a:lnTo>
                  <a:pt x="604258" y="612683"/>
                </a:lnTo>
                <a:lnTo>
                  <a:pt x="0" y="612683"/>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287" name="Google Shape;1287;p29"/>
          <p:cNvSpPr/>
          <p:nvPr/>
        </p:nvSpPr>
        <p:spPr>
          <a:xfrm>
            <a:off x="10858229" y="5516043"/>
            <a:ext cx="625868" cy="545287"/>
          </a:xfrm>
          <a:custGeom>
            <a:avLst/>
            <a:gdLst/>
            <a:ahLst/>
            <a:cxnLst/>
            <a:rect l="l" t="t" r="r" b="b"/>
            <a:pathLst>
              <a:path w="703222" h="612682" extrusionOk="0">
                <a:moveTo>
                  <a:pt x="0" y="0"/>
                </a:moveTo>
                <a:lnTo>
                  <a:pt x="703222" y="0"/>
                </a:lnTo>
                <a:lnTo>
                  <a:pt x="703222" y="612682"/>
                </a:lnTo>
                <a:lnTo>
                  <a:pt x="0" y="612682"/>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1288" name="Google Shape;1288;p29"/>
          <p:cNvSpPr/>
          <p:nvPr/>
        </p:nvSpPr>
        <p:spPr>
          <a:xfrm>
            <a:off x="5257928" y="7457993"/>
            <a:ext cx="652519" cy="650887"/>
          </a:xfrm>
          <a:custGeom>
            <a:avLst/>
            <a:gdLst/>
            <a:ahLst/>
            <a:cxnLst/>
            <a:rect l="l" t="t" r="r" b="b"/>
            <a:pathLst>
              <a:path w="733167" h="731334" extrusionOk="0">
                <a:moveTo>
                  <a:pt x="0" y="0"/>
                </a:moveTo>
                <a:lnTo>
                  <a:pt x="733167" y="0"/>
                </a:lnTo>
                <a:lnTo>
                  <a:pt x="733167" y="731334"/>
                </a:lnTo>
                <a:lnTo>
                  <a:pt x="0" y="731334"/>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sp>
        <p:nvSpPr>
          <p:cNvPr id="1289" name="Google Shape;1289;p29"/>
          <p:cNvSpPr/>
          <p:nvPr/>
        </p:nvSpPr>
        <p:spPr>
          <a:xfrm>
            <a:off x="6049991" y="7605418"/>
            <a:ext cx="407061" cy="355670"/>
          </a:xfrm>
          <a:custGeom>
            <a:avLst/>
            <a:gdLst/>
            <a:ahLst/>
            <a:cxnLst/>
            <a:rect l="l" t="t" r="r" b="b"/>
            <a:pathLst>
              <a:path w="457372" h="399629" extrusionOk="0">
                <a:moveTo>
                  <a:pt x="0" y="0"/>
                </a:moveTo>
                <a:lnTo>
                  <a:pt x="457372" y="0"/>
                </a:lnTo>
                <a:lnTo>
                  <a:pt x="457372" y="399629"/>
                </a:lnTo>
                <a:lnTo>
                  <a:pt x="0" y="399629"/>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sp>
        <p:nvSpPr>
          <p:cNvPr id="1290" name="Google Shape;1290;p29"/>
          <p:cNvSpPr/>
          <p:nvPr/>
        </p:nvSpPr>
        <p:spPr>
          <a:xfrm>
            <a:off x="10869403" y="7558408"/>
            <a:ext cx="547596" cy="550348"/>
          </a:xfrm>
          <a:custGeom>
            <a:avLst/>
            <a:gdLst/>
            <a:ahLst/>
            <a:cxnLst/>
            <a:rect l="l" t="t" r="r" b="b"/>
            <a:pathLst>
              <a:path w="615276" h="618368" extrusionOk="0">
                <a:moveTo>
                  <a:pt x="0" y="0"/>
                </a:moveTo>
                <a:lnTo>
                  <a:pt x="615275" y="0"/>
                </a:lnTo>
                <a:lnTo>
                  <a:pt x="615275" y="618367"/>
                </a:lnTo>
                <a:lnTo>
                  <a:pt x="0" y="618367"/>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1291" name="Google Shape;1291;p29"/>
          <p:cNvSpPr/>
          <p:nvPr/>
        </p:nvSpPr>
        <p:spPr>
          <a:xfrm>
            <a:off x="10811966" y="1866711"/>
            <a:ext cx="1981121" cy="2244896"/>
          </a:xfrm>
          <a:custGeom>
            <a:avLst/>
            <a:gdLst/>
            <a:ahLst/>
            <a:cxnLst/>
            <a:rect l="l" t="t" r="r" b="b"/>
            <a:pathLst>
              <a:path w="2225979" h="2522355" extrusionOk="0">
                <a:moveTo>
                  <a:pt x="0" y="0"/>
                </a:moveTo>
                <a:lnTo>
                  <a:pt x="2225978" y="0"/>
                </a:lnTo>
                <a:lnTo>
                  <a:pt x="2225978" y="2522355"/>
                </a:lnTo>
                <a:lnTo>
                  <a:pt x="0" y="2522355"/>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sp>
        <p:nvSpPr>
          <p:cNvPr id="1292" name="Google Shape;1292;p29"/>
          <p:cNvSpPr txBox="1"/>
          <p:nvPr/>
        </p:nvSpPr>
        <p:spPr>
          <a:xfrm>
            <a:off x="4627239" y="661693"/>
            <a:ext cx="115596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600"/>
              <a:buFont typeface="Arial"/>
              <a:buNone/>
            </a:pPr>
            <a:r>
              <a:rPr lang="en-US" sz="2600" b="0" i="0" u="none" strike="noStrike" cap="none">
                <a:solidFill>
                  <a:srgbClr val="004AAD"/>
                </a:solidFill>
                <a:latin typeface="Inter"/>
                <a:ea typeface="Inter"/>
                <a:cs typeface="Inter"/>
                <a:sym typeface="Inter"/>
              </a:rPr>
              <a:t>CASE STUDY | </a:t>
            </a:r>
            <a:r>
              <a:rPr lang="en-US" sz="2600" b="1" i="0" u="none" strike="noStrike" cap="none">
                <a:solidFill>
                  <a:srgbClr val="004AAD"/>
                </a:solidFill>
                <a:latin typeface="Inter"/>
                <a:ea typeface="Inter"/>
                <a:cs typeface="Inter"/>
                <a:sym typeface="Inter"/>
              </a:rPr>
              <a:t>PROCUREMENT MANAGEMENT SYSTEM IN RETAIL - FOR SMARTER INVENTORY CONTROL (1/4)</a:t>
            </a:r>
            <a:endParaRPr sz="1200" b="0" i="0" u="none" strike="noStrike" cap="none">
              <a:solidFill>
                <a:srgbClr val="000000"/>
              </a:solidFill>
              <a:latin typeface="Arial"/>
              <a:ea typeface="Arial"/>
              <a:cs typeface="Arial"/>
              <a:sym typeface="Arial"/>
            </a:endParaRPr>
          </a:p>
        </p:txBody>
      </p:sp>
      <p:sp>
        <p:nvSpPr>
          <p:cNvPr id="1293" name="Google Shape;1293;p29"/>
          <p:cNvSpPr txBox="1"/>
          <p:nvPr/>
        </p:nvSpPr>
        <p:spPr>
          <a:xfrm>
            <a:off x="4696563" y="1716201"/>
            <a:ext cx="33105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Overview</a:t>
            </a:r>
            <a:endParaRPr sz="1200" b="0" i="0" u="none" strike="noStrike" cap="none">
              <a:solidFill>
                <a:srgbClr val="000000"/>
              </a:solidFill>
              <a:latin typeface="Arial"/>
              <a:ea typeface="Arial"/>
              <a:cs typeface="Arial"/>
              <a:sym typeface="Arial"/>
            </a:endParaRPr>
          </a:p>
        </p:txBody>
      </p:sp>
      <p:sp>
        <p:nvSpPr>
          <p:cNvPr id="1294" name="Google Shape;1294;p29"/>
          <p:cNvSpPr txBox="1"/>
          <p:nvPr/>
        </p:nvSpPr>
        <p:spPr>
          <a:xfrm>
            <a:off x="4696555" y="2260400"/>
            <a:ext cx="5689200" cy="17364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This case study showcases the successful implementation of a cloud-based Procurement Management System for a leading Japanese retail chain. VTI developed the solution to automate goods procurement workflows, enhance inventory accuracy, and improve scalability. By leveraging cloud technology and automation, the new system optimizes goods importing, reduces operational costs, and streamlines supplier management, ensuring seamless and efficient retail operations.</a:t>
            </a:r>
            <a:endParaRPr sz="1200" b="0" i="0" u="none" strike="noStrike" cap="none">
              <a:solidFill>
                <a:srgbClr val="000000"/>
              </a:solidFill>
              <a:latin typeface="Arial"/>
              <a:ea typeface="Arial"/>
              <a:cs typeface="Arial"/>
              <a:sym typeface="Arial"/>
            </a:endParaRPr>
          </a:p>
        </p:txBody>
      </p:sp>
      <p:sp>
        <p:nvSpPr>
          <p:cNvPr id="1295" name="Google Shape;1295;p29"/>
          <p:cNvSpPr txBox="1"/>
          <p:nvPr/>
        </p:nvSpPr>
        <p:spPr>
          <a:xfrm>
            <a:off x="4633418" y="4697116"/>
            <a:ext cx="10714500" cy="519900"/>
          </a:xfrm>
          <a:prstGeom prst="rect">
            <a:avLst/>
          </a:prstGeom>
          <a:noFill/>
          <a:ln>
            <a:noFill/>
          </a:ln>
        </p:spPr>
        <p:txBody>
          <a:bodyPr spcFirstLastPara="1" wrap="square" lIns="0" tIns="0" rIns="0" bIns="0" anchor="t" anchorCtr="0">
            <a:spAutoFit/>
          </a:bodyPr>
          <a:lstStyle/>
          <a:p>
            <a:pPr marL="0" marR="0" lvl="0" indent="0" algn="just" rtl="0">
              <a:lnSpc>
                <a:spcPct val="31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The existing system could no longer support the company's procurement needs. Employees managed goods import data using separate Excel files and emails, leading to several operational challenges </a:t>
            </a:r>
            <a:endParaRPr sz="1200" b="0" i="0" u="none" strike="noStrike" cap="none">
              <a:solidFill>
                <a:srgbClr val="000000"/>
              </a:solidFill>
              <a:latin typeface="Arial"/>
              <a:ea typeface="Arial"/>
              <a:cs typeface="Arial"/>
              <a:sym typeface="Arial"/>
            </a:endParaRPr>
          </a:p>
        </p:txBody>
      </p:sp>
      <p:sp>
        <p:nvSpPr>
          <p:cNvPr id="1296" name="Google Shape;1296;p29"/>
          <p:cNvSpPr txBox="1"/>
          <p:nvPr/>
        </p:nvSpPr>
        <p:spPr>
          <a:xfrm>
            <a:off x="5257928" y="6160159"/>
            <a:ext cx="4259700" cy="702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0041AA"/>
                </a:solidFill>
                <a:latin typeface="Inter"/>
                <a:ea typeface="Inter"/>
                <a:cs typeface="Inter"/>
                <a:sym typeface="Inter"/>
              </a:rPr>
              <a:t>High risk of stock/goods discrepancies</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3A3A3A"/>
                </a:solidFill>
                <a:latin typeface="Inter"/>
                <a:ea typeface="Inter"/>
                <a:cs typeface="Inter"/>
                <a:sym typeface="Inter"/>
              </a:rPr>
              <a:t>D</a:t>
            </a:r>
            <a:r>
              <a:rPr lang="en-US" sz="1200" b="0" i="0" u="none" strike="noStrike" cap="none">
                <a:solidFill>
                  <a:srgbClr val="3A3A3A"/>
                </a:solidFill>
                <a:latin typeface="Inter"/>
                <a:ea typeface="Inter"/>
                <a:cs typeface="Inter"/>
                <a:sym typeface="Inter"/>
              </a:rPr>
              <a:t>ue to inventory and goods import data being calculated and uploaded manually to the system from multiple files.</a:t>
            </a:r>
            <a:endParaRPr sz="1200" b="0" i="0" u="none" strike="noStrike" cap="none">
              <a:solidFill>
                <a:srgbClr val="000000"/>
              </a:solidFill>
              <a:latin typeface="Arial"/>
              <a:ea typeface="Arial"/>
              <a:cs typeface="Arial"/>
              <a:sym typeface="Arial"/>
            </a:endParaRPr>
          </a:p>
        </p:txBody>
      </p:sp>
      <p:sp>
        <p:nvSpPr>
          <p:cNvPr id="1297" name="Google Shape;1297;p29"/>
          <p:cNvSpPr txBox="1"/>
          <p:nvPr/>
        </p:nvSpPr>
        <p:spPr>
          <a:xfrm>
            <a:off x="10858229" y="6175315"/>
            <a:ext cx="46956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0041AA"/>
                </a:solidFill>
                <a:latin typeface="Inter"/>
                <a:ea typeface="Inter"/>
                <a:cs typeface="Inter"/>
                <a:sym typeface="Inter"/>
              </a:rPr>
              <a:t>Inefficient workflows and inability to utilize historical data</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As the inventory management/ importing data is uncentralized, it was hard to reuse historical data/documents for different reports when needed, resulting in time and resources consuming </a:t>
            </a:r>
            <a:endParaRPr sz="1200" b="0" i="0" u="none" strike="noStrike" cap="none">
              <a:solidFill>
                <a:srgbClr val="000000"/>
              </a:solidFill>
              <a:latin typeface="Arial"/>
              <a:ea typeface="Arial"/>
              <a:cs typeface="Arial"/>
              <a:sym typeface="Arial"/>
            </a:endParaRPr>
          </a:p>
        </p:txBody>
      </p:sp>
      <p:sp>
        <p:nvSpPr>
          <p:cNvPr id="1298" name="Google Shape;1298;p29"/>
          <p:cNvSpPr txBox="1"/>
          <p:nvPr/>
        </p:nvSpPr>
        <p:spPr>
          <a:xfrm>
            <a:off x="5244605" y="8214460"/>
            <a:ext cx="3535200" cy="44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0041AA"/>
                </a:solidFill>
                <a:latin typeface="Inter"/>
                <a:ea typeface="Inter"/>
                <a:cs typeface="Inter"/>
                <a:sym typeface="Inter"/>
              </a:rPr>
              <a:t>Fragmented data and high operational costs</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 Due to lack of system integration.</a:t>
            </a:r>
            <a:endParaRPr sz="1200" b="0" i="0" u="none" strike="noStrike" cap="none">
              <a:solidFill>
                <a:srgbClr val="000000"/>
              </a:solidFill>
              <a:latin typeface="Arial"/>
              <a:ea typeface="Arial"/>
              <a:cs typeface="Arial"/>
              <a:sym typeface="Arial"/>
            </a:endParaRPr>
          </a:p>
        </p:txBody>
      </p:sp>
      <p:sp>
        <p:nvSpPr>
          <p:cNvPr id="1299" name="Google Shape;1299;p29"/>
          <p:cNvSpPr txBox="1"/>
          <p:nvPr/>
        </p:nvSpPr>
        <p:spPr>
          <a:xfrm>
            <a:off x="10869403" y="8224810"/>
            <a:ext cx="3499800" cy="702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0041AA"/>
                </a:solidFill>
                <a:latin typeface="Inter"/>
                <a:ea typeface="Inter"/>
                <a:cs typeface="Inter"/>
                <a:sym typeface="Inter"/>
              </a:rPr>
              <a:t>Limited scalability</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makes it difficult to add new features, and utilize new technology to adapt to business growth.</a:t>
            </a:r>
            <a:endParaRPr sz="1200" b="0" i="0" u="none" strike="noStrike" cap="none">
              <a:solidFill>
                <a:srgbClr val="000000"/>
              </a:solidFill>
              <a:latin typeface="Arial"/>
              <a:ea typeface="Arial"/>
              <a:cs typeface="Arial"/>
              <a:sym typeface="Arial"/>
            </a:endParaRPr>
          </a:p>
        </p:txBody>
      </p:sp>
      <p:sp>
        <p:nvSpPr>
          <p:cNvPr id="1300" name="Google Shape;1300;p29"/>
          <p:cNvSpPr txBox="1"/>
          <p:nvPr/>
        </p:nvSpPr>
        <p:spPr>
          <a:xfrm>
            <a:off x="13126312" y="2188489"/>
            <a:ext cx="2221500" cy="440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300"/>
              <a:buFont typeface="Arial"/>
              <a:buNone/>
            </a:pPr>
            <a:r>
              <a:rPr lang="en-US" sz="1300" b="1" i="0" u="none" strike="noStrike" cap="none">
                <a:solidFill>
                  <a:srgbClr val="0054CE"/>
                </a:solidFill>
                <a:latin typeface="Inter"/>
                <a:ea typeface="Inter"/>
                <a:cs typeface="Inter"/>
                <a:sym typeface="Inter"/>
              </a:rPr>
              <a:t>Procurement Management System</a:t>
            </a:r>
            <a:endParaRPr sz="1200" b="0" i="0" u="none" strike="noStrike" cap="none">
              <a:solidFill>
                <a:srgbClr val="000000"/>
              </a:solidFill>
              <a:latin typeface="Arial"/>
              <a:ea typeface="Arial"/>
              <a:cs typeface="Arial"/>
              <a:sym typeface="Arial"/>
            </a:endParaRPr>
          </a:p>
        </p:txBody>
      </p:sp>
      <p:grpSp>
        <p:nvGrpSpPr>
          <p:cNvPr id="1301" name="Google Shape;1301;p29"/>
          <p:cNvGrpSpPr/>
          <p:nvPr/>
        </p:nvGrpSpPr>
        <p:grpSpPr>
          <a:xfrm>
            <a:off x="-22109" y="-225021"/>
            <a:ext cx="4312685" cy="9369027"/>
            <a:chOff x="0" y="-66675"/>
            <a:chExt cx="2748684" cy="2776008"/>
          </a:xfrm>
        </p:grpSpPr>
        <p:sp>
          <p:nvSpPr>
            <p:cNvPr id="1302" name="Google Shape;1302;p29"/>
            <p:cNvSpPr/>
            <p:nvPr/>
          </p:nvSpPr>
          <p:spPr>
            <a:xfrm>
              <a:off x="0" y="0"/>
              <a:ext cx="2748684" cy="2709333"/>
            </a:xfrm>
            <a:custGeom>
              <a:avLst/>
              <a:gdLst/>
              <a:ahLst/>
              <a:cxnLst/>
              <a:rect l="l" t="t" r="r" b="b"/>
              <a:pathLst>
                <a:path w="2748684" h="2709333" extrusionOk="0">
                  <a:moveTo>
                    <a:pt x="0" y="0"/>
                  </a:moveTo>
                  <a:lnTo>
                    <a:pt x="2748684" y="0"/>
                  </a:lnTo>
                  <a:lnTo>
                    <a:pt x="2748684" y="2709333"/>
                  </a:lnTo>
                  <a:lnTo>
                    <a:pt x="0" y="2709333"/>
                  </a:lnTo>
                  <a:close/>
                </a:path>
              </a:pathLst>
            </a:custGeom>
            <a:solidFill>
              <a:srgbClr val="003A86"/>
            </a:solidFill>
            <a:ln>
              <a:noFill/>
            </a:ln>
          </p:spPr>
        </p:sp>
        <p:sp>
          <p:nvSpPr>
            <p:cNvPr id="1303" name="Google Shape;1303;p29"/>
            <p:cNvSpPr txBox="1"/>
            <p:nvPr/>
          </p:nvSpPr>
          <p:spPr>
            <a:xfrm>
              <a:off x="0" y="-66675"/>
              <a:ext cx="2748600" cy="2775900"/>
            </a:xfrm>
            <a:prstGeom prst="rect">
              <a:avLst/>
            </a:prstGeom>
            <a:noFill/>
            <a:ln>
              <a:noFill/>
            </a:ln>
          </p:spPr>
          <p:txBody>
            <a:bodyPr spcFirstLastPara="1" wrap="square" lIns="45150" tIns="45150" rIns="45150" bIns="45150" anchor="ctr" anchorCtr="0">
              <a:noAutofit/>
            </a:bodyPr>
            <a:lstStyle/>
            <a:p>
              <a:pPr marL="0" marR="0" lvl="0" indent="0" algn="ctr" rtl="0">
                <a:lnSpc>
                  <a:spcPct val="16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304" name="Google Shape;1304;p29"/>
          <p:cNvSpPr/>
          <p:nvPr/>
        </p:nvSpPr>
        <p:spPr>
          <a:xfrm>
            <a:off x="648689" y="3304219"/>
            <a:ext cx="495765" cy="472836"/>
          </a:xfrm>
          <a:custGeom>
            <a:avLst/>
            <a:gdLst/>
            <a:ahLst/>
            <a:cxnLst/>
            <a:rect l="l" t="t" r="r" b="b"/>
            <a:pathLst>
              <a:path w="557039" h="531276" extrusionOk="0">
                <a:moveTo>
                  <a:pt x="0" y="0"/>
                </a:moveTo>
                <a:lnTo>
                  <a:pt x="557039" y="0"/>
                </a:lnTo>
                <a:lnTo>
                  <a:pt x="557039" y="531276"/>
                </a:lnTo>
                <a:lnTo>
                  <a:pt x="0" y="531276"/>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sp>
      <p:sp>
        <p:nvSpPr>
          <p:cNvPr id="1305" name="Google Shape;1305;p29"/>
          <p:cNvSpPr/>
          <p:nvPr/>
        </p:nvSpPr>
        <p:spPr>
          <a:xfrm>
            <a:off x="648689" y="4199684"/>
            <a:ext cx="495765" cy="495765"/>
          </a:xfrm>
          <a:custGeom>
            <a:avLst/>
            <a:gdLst/>
            <a:ahLst/>
            <a:cxnLst/>
            <a:rect l="l" t="t" r="r" b="b"/>
            <a:pathLst>
              <a:path w="557039" h="557039" extrusionOk="0">
                <a:moveTo>
                  <a:pt x="0" y="0"/>
                </a:moveTo>
                <a:lnTo>
                  <a:pt x="557039" y="0"/>
                </a:lnTo>
                <a:lnTo>
                  <a:pt x="557039" y="557039"/>
                </a:lnTo>
                <a:lnTo>
                  <a:pt x="0" y="557039"/>
                </a:lnTo>
                <a:lnTo>
                  <a:pt x="0" y="0"/>
                </a:lnTo>
                <a:close/>
              </a:path>
            </a:pathLst>
          </a:custGeom>
          <a:blipFill rotWithShape="1">
            <a:blip r:embed="rId13" cstate="email">
              <a:alphaModFix/>
              <a:extLst>
                <a:ext uri="{28A0092B-C50C-407E-A947-70E740481C1C}">
                  <a14:useLocalDpi xmlns:a14="http://schemas.microsoft.com/office/drawing/2010/main"/>
                </a:ext>
              </a:extLst>
            </a:blip>
            <a:stretch>
              <a:fillRect/>
            </a:stretch>
          </a:blipFill>
          <a:ln>
            <a:noFill/>
          </a:ln>
        </p:spPr>
      </p:sp>
      <p:sp>
        <p:nvSpPr>
          <p:cNvPr id="1306" name="Google Shape;1306;p29"/>
          <p:cNvSpPr/>
          <p:nvPr/>
        </p:nvSpPr>
        <p:spPr>
          <a:xfrm>
            <a:off x="541124" y="5084296"/>
            <a:ext cx="711164" cy="728380"/>
          </a:xfrm>
          <a:custGeom>
            <a:avLst/>
            <a:gdLst/>
            <a:ahLst/>
            <a:cxnLst/>
            <a:rect l="l" t="t" r="r" b="b"/>
            <a:pathLst>
              <a:path w="799061" h="818405" extrusionOk="0">
                <a:moveTo>
                  <a:pt x="0" y="0"/>
                </a:moveTo>
                <a:lnTo>
                  <a:pt x="799061" y="0"/>
                </a:lnTo>
                <a:lnTo>
                  <a:pt x="799061" y="818405"/>
                </a:lnTo>
                <a:lnTo>
                  <a:pt x="0" y="818405"/>
                </a:lnTo>
                <a:lnTo>
                  <a:pt x="0" y="0"/>
                </a:lnTo>
                <a:close/>
              </a:path>
            </a:pathLst>
          </a:custGeom>
          <a:blipFill rotWithShape="1">
            <a:blip r:embed="rId14" cstate="email">
              <a:alphaModFix/>
              <a:extLst>
                <a:ext uri="{28A0092B-C50C-407E-A947-70E740481C1C}">
                  <a14:useLocalDpi xmlns:a14="http://schemas.microsoft.com/office/drawing/2010/main"/>
                </a:ext>
              </a:extLst>
            </a:blip>
            <a:stretch>
              <a:fillRect/>
            </a:stretch>
          </a:blipFill>
          <a:ln>
            <a:noFill/>
          </a:ln>
        </p:spPr>
      </p:sp>
      <p:sp>
        <p:nvSpPr>
          <p:cNvPr id="1307" name="Google Shape;1307;p29"/>
          <p:cNvSpPr txBox="1"/>
          <p:nvPr/>
        </p:nvSpPr>
        <p:spPr>
          <a:xfrm>
            <a:off x="1389334" y="3287556"/>
            <a:ext cx="16656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Headquartered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in Japan</a:t>
            </a:r>
            <a:endParaRPr sz="1200" b="0" i="0" u="none" strike="noStrike" cap="none">
              <a:solidFill>
                <a:srgbClr val="000000"/>
              </a:solidFill>
              <a:latin typeface="Arial"/>
              <a:ea typeface="Arial"/>
              <a:cs typeface="Arial"/>
              <a:sym typeface="Arial"/>
            </a:endParaRPr>
          </a:p>
        </p:txBody>
      </p:sp>
      <p:sp>
        <p:nvSpPr>
          <p:cNvPr id="1308" name="Google Shape;1308;p29"/>
          <p:cNvSpPr txBox="1"/>
          <p:nvPr/>
        </p:nvSpPr>
        <p:spPr>
          <a:xfrm>
            <a:off x="1389333" y="4165822"/>
            <a:ext cx="27885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Over</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45 years </a:t>
            </a:r>
            <a:r>
              <a:rPr lang="en-US" sz="1500" b="0" i="0" u="none" strike="noStrike" cap="none">
                <a:solidFill>
                  <a:schemeClr val="lt1"/>
                </a:solidFill>
                <a:latin typeface="Inter"/>
                <a:ea typeface="Inter"/>
                <a:cs typeface="Inter"/>
                <a:sym typeface="Inter"/>
              </a:rPr>
              <a:t>in the retail industry</a:t>
            </a:r>
            <a:endParaRPr sz="1200" b="0" i="0" u="none" strike="noStrike" cap="none">
              <a:solidFill>
                <a:schemeClr val="lt1"/>
              </a:solidFill>
              <a:latin typeface="Inter"/>
              <a:ea typeface="Inter"/>
              <a:cs typeface="Inter"/>
              <a:sym typeface="Inter"/>
            </a:endParaRPr>
          </a:p>
        </p:txBody>
      </p:sp>
      <p:sp>
        <p:nvSpPr>
          <p:cNvPr id="1309" name="Google Shape;1309;p29"/>
          <p:cNvSpPr txBox="1"/>
          <p:nvPr/>
        </p:nvSpPr>
        <p:spPr>
          <a:xfrm>
            <a:off x="1392947" y="5218719"/>
            <a:ext cx="26253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2000+ stores in Japan</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Thousands of stores worldwide</a:t>
            </a:r>
            <a:endParaRPr sz="1200" b="0" i="0" u="none" strike="noStrike" cap="none">
              <a:solidFill>
                <a:srgbClr val="000000"/>
              </a:solidFill>
              <a:latin typeface="Arial"/>
              <a:ea typeface="Arial"/>
              <a:cs typeface="Arial"/>
              <a:sym typeface="Arial"/>
            </a:endParaRPr>
          </a:p>
        </p:txBody>
      </p:sp>
      <p:sp>
        <p:nvSpPr>
          <p:cNvPr id="1310" name="Google Shape;1310;p29"/>
          <p:cNvSpPr txBox="1"/>
          <p:nvPr/>
        </p:nvSpPr>
        <p:spPr>
          <a:xfrm>
            <a:off x="561124" y="2154620"/>
            <a:ext cx="3339600" cy="665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0" i="0" u="none" strike="noStrike" cap="none">
                <a:solidFill>
                  <a:srgbClr val="FFFFFF"/>
                </a:solidFill>
                <a:latin typeface="Inter"/>
                <a:ea typeface="Inter"/>
                <a:cs typeface="Inter"/>
                <a:sym typeface="Inter"/>
              </a:rPr>
              <a:t>A Japanese leading convenience store chains</a:t>
            </a:r>
            <a:endParaRPr sz="1200" b="0" i="0" u="none" strike="noStrike" cap="none">
              <a:solidFill>
                <a:srgbClr val="000000"/>
              </a:solidFill>
              <a:latin typeface="Arial"/>
              <a:ea typeface="Arial"/>
              <a:cs typeface="Arial"/>
              <a:sym typeface="Arial"/>
            </a:endParaRPr>
          </a:p>
        </p:txBody>
      </p:sp>
      <p:grpSp>
        <p:nvGrpSpPr>
          <p:cNvPr id="1311" name="Google Shape;1311;p29"/>
          <p:cNvGrpSpPr/>
          <p:nvPr/>
        </p:nvGrpSpPr>
        <p:grpSpPr>
          <a:xfrm>
            <a:off x="1395688" y="647442"/>
            <a:ext cx="922772" cy="955213"/>
            <a:chOff x="0" y="-28575"/>
            <a:chExt cx="812800" cy="841375"/>
          </a:xfrm>
        </p:grpSpPr>
        <p:sp>
          <p:nvSpPr>
            <p:cNvPr id="1312" name="Google Shape;1312;p2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3" name="Google Shape;1313;p29"/>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314" name="Google Shape;1314;p29"/>
          <p:cNvSpPr txBox="1"/>
          <p:nvPr/>
        </p:nvSpPr>
        <p:spPr>
          <a:xfrm>
            <a:off x="1635974" y="925024"/>
            <a:ext cx="442200" cy="40005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dirty="0">
                <a:solidFill>
                  <a:schemeClr val="dk2"/>
                </a:solidFill>
                <a:latin typeface="Inter"/>
                <a:ea typeface="Inter"/>
                <a:cs typeface="Inter"/>
                <a:sym typeface="Inter"/>
              </a:rPr>
              <a:t>0</a:t>
            </a:r>
            <a:r>
              <a:rPr lang="en-US" sz="2600" b="1" dirty="0">
                <a:solidFill>
                  <a:schemeClr val="dk2"/>
                </a:solidFill>
                <a:latin typeface="Inter"/>
                <a:ea typeface="Inter"/>
                <a:cs typeface="Inter"/>
                <a:sym typeface="Inter"/>
              </a:rPr>
              <a:t>1</a:t>
            </a:r>
            <a:endParaRPr sz="1800" b="0" i="0" u="none" strike="noStrike" cap="none" dirty="0">
              <a:solidFill>
                <a:schemeClr val="dk2"/>
              </a:solidFill>
              <a:latin typeface="Arial"/>
              <a:ea typeface="Arial"/>
              <a:cs typeface="Arial"/>
              <a:sym typeface="Arial"/>
            </a:endParaRPr>
          </a:p>
        </p:txBody>
      </p:sp>
      <p:sp>
        <p:nvSpPr>
          <p:cNvPr id="1315" name="Google Shape;1315;p29"/>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5" cstate="email">
              <a:alphaModFix/>
              <a:extLst>
                <a:ext uri="{28A0092B-C50C-407E-A947-70E740481C1C}">
                  <a14:useLocalDpi xmlns:a14="http://schemas.microsoft.com/office/drawing/2010/main"/>
                </a:ext>
              </a:extLst>
            </a:blip>
            <a:stretch>
              <a:fillRect b="-5"/>
            </a:stretch>
          </a:blipFill>
          <a:ln>
            <a:noFill/>
          </a:ln>
        </p:spPr>
      </p:sp>
      <p:grpSp>
        <p:nvGrpSpPr>
          <p:cNvPr id="1316" name="Google Shape;1316;p29"/>
          <p:cNvGrpSpPr/>
          <p:nvPr/>
        </p:nvGrpSpPr>
        <p:grpSpPr>
          <a:xfrm>
            <a:off x="872534" y="8351050"/>
            <a:ext cx="846442" cy="699635"/>
            <a:chOff x="0" y="0"/>
            <a:chExt cx="1269600" cy="1049400"/>
          </a:xfrm>
        </p:grpSpPr>
        <p:sp>
          <p:nvSpPr>
            <p:cNvPr id="1317" name="Google Shape;1317;p29"/>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318" name="Google Shape;1318;p29"/>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b="0" i="0" u="none" strike="noStrike" cap="none" dirty="0">
                  <a:solidFill>
                    <a:schemeClr val="lt1"/>
                  </a:solidFill>
                  <a:latin typeface="Inter"/>
                  <a:ea typeface="Inter"/>
                  <a:cs typeface="Inter"/>
                  <a:sym typeface="Inter"/>
                </a:rPr>
                <a:t>21</a:t>
              </a:r>
              <a:endParaRPr sz="1200" b="0" i="0" u="none" strike="noStrike" cap="none" dirty="0">
                <a:solidFill>
                  <a:schemeClr val="lt1"/>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22"/>
        <p:cNvGrpSpPr/>
        <p:nvPr/>
      </p:nvGrpSpPr>
      <p:grpSpPr>
        <a:xfrm>
          <a:off x="0" y="0"/>
          <a:ext cx="0" cy="0"/>
          <a:chOff x="0" y="0"/>
          <a:chExt cx="0" cy="0"/>
        </a:xfrm>
      </p:grpSpPr>
      <p:sp>
        <p:nvSpPr>
          <p:cNvPr id="1323" name="Google Shape;1323;p30"/>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3" cstate="email">
              <a:alphaModFix amt="46000"/>
              <a:extLst>
                <a:ext uri="{28A0092B-C50C-407E-A947-70E740481C1C}">
                  <a14:useLocalDpi xmlns:a14="http://schemas.microsoft.com/office/drawing/2010/main"/>
                </a:ext>
              </a:extLst>
            </a:blip>
            <a:stretch>
              <a:fillRect/>
            </a:stretch>
          </a:blipFill>
          <a:ln>
            <a:noFill/>
          </a:ln>
        </p:spPr>
      </p:sp>
      <p:sp>
        <p:nvSpPr>
          <p:cNvPr id="1324" name="Google Shape;1324;p30"/>
          <p:cNvSpPr/>
          <p:nvPr/>
        </p:nvSpPr>
        <p:spPr>
          <a:xfrm>
            <a:off x="4485165" y="6960540"/>
            <a:ext cx="442101" cy="472836"/>
          </a:xfrm>
          <a:custGeom>
            <a:avLst/>
            <a:gdLst/>
            <a:ahLst/>
            <a:cxnLst/>
            <a:rect l="l" t="t" r="r" b="b"/>
            <a:pathLst>
              <a:path w="496743" h="531276" extrusionOk="0">
                <a:moveTo>
                  <a:pt x="0" y="0"/>
                </a:moveTo>
                <a:lnTo>
                  <a:pt x="496743" y="0"/>
                </a:lnTo>
                <a:lnTo>
                  <a:pt x="496743" y="531275"/>
                </a:lnTo>
                <a:lnTo>
                  <a:pt x="0" y="531275"/>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cxnSp>
        <p:nvCxnSpPr>
          <p:cNvPr id="1325" name="Google Shape;1325;p30"/>
          <p:cNvCxnSpPr/>
          <p:nvPr/>
        </p:nvCxnSpPr>
        <p:spPr>
          <a:xfrm rot="10800000" flipH="1">
            <a:off x="4762226" y="2254617"/>
            <a:ext cx="5186100" cy="13200"/>
          </a:xfrm>
          <a:prstGeom prst="straightConnector1">
            <a:avLst/>
          </a:prstGeom>
          <a:noFill/>
          <a:ln w="19050" cap="flat" cmpd="sng">
            <a:solidFill>
              <a:srgbClr val="3A3A3A">
                <a:alpha val="28627"/>
              </a:srgbClr>
            </a:solidFill>
            <a:prstDash val="solid"/>
            <a:round/>
            <a:headEnd type="none" w="sm" len="sm"/>
            <a:tailEnd type="none" w="sm" len="sm"/>
          </a:ln>
        </p:spPr>
      </p:cxnSp>
      <p:sp>
        <p:nvSpPr>
          <p:cNvPr id="1326" name="Google Shape;1326;p30"/>
          <p:cNvSpPr txBox="1"/>
          <p:nvPr/>
        </p:nvSpPr>
        <p:spPr>
          <a:xfrm>
            <a:off x="4696489" y="6736800"/>
            <a:ext cx="5462100" cy="16695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600"/>
              <a:buFont typeface="Arial"/>
              <a:buNone/>
            </a:pPr>
            <a:r>
              <a:rPr lang="en-US" sz="1600" b="1" i="0" u="none" strike="noStrike" cap="none">
                <a:solidFill>
                  <a:srgbClr val="3A3A3A"/>
                </a:solidFill>
                <a:latin typeface="Inter"/>
                <a:ea typeface="Inter"/>
                <a:cs typeface="Inter"/>
                <a:sym typeface="Inter"/>
              </a:rPr>
              <a:t>Technology Used</a:t>
            </a:r>
            <a:endParaRPr sz="1200" b="0" i="0" u="none" strike="noStrike" cap="none">
              <a:solidFill>
                <a:srgbClr val="000000"/>
              </a:solidFill>
              <a:latin typeface="Arial"/>
              <a:ea typeface="Arial"/>
              <a:cs typeface="Arial"/>
              <a:sym typeface="Arial"/>
            </a:endParaRPr>
          </a:p>
          <a:p>
            <a:pPr marL="0" marR="0" lvl="0" indent="0" algn="just" rtl="0">
              <a:lnSpc>
                <a:spcPct val="109000"/>
              </a:lnSpc>
              <a:spcBef>
                <a:spcPts val="0"/>
              </a:spcBef>
              <a:spcAft>
                <a:spcPts val="0"/>
              </a:spcAft>
              <a:buClr>
                <a:srgbClr val="000000"/>
              </a:buClr>
              <a:buSzPts val="1600"/>
              <a:buFont typeface="Arial"/>
              <a:buNone/>
            </a:pPr>
            <a:endParaRPr sz="1600" b="1" i="0" u="none" strike="noStrike" cap="none">
              <a:solidFill>
                <a:srgbClr val="3A3A3A"/>
              </a:solidFill>
              <a:latin typeface="Inter"/>
              <a:ea typeface="Inter"/>
              <a:cs typeface="Inter"/>
              <a:sym typeface="Inter"/>
            </a:endParaRPr>
          </a:p>
          <a:p>
            <a:pPr marL="0" marR="0" lvl="0" indent="0" algn="just" rtl="0">
              <a:lnSpc>
                <a:spcPct val="39000"/>
              </a:lnSpc>
              <a:spcBef>
                <a:spcPts val="0"/>
              </a:spcBef>
              <a:spcAft>
                <a:spcPts val="0"/>
              </a:spcAft>
              <a:buClr>
                <a:srgbClr val="000000"/>
              </a:buClr>
              <a:buSzPts val="1600"/>
              <a:buFont typeface="Arial"/>
              <a:buNone/>
            </a:pPr>
            <a:endParaRPr sz="1600" b="1" i="0" u="none" strike="noStrike" cap="none">
              <a:solidFill>
                <a:srgbClr val="3A3A3A"/>
              </a:solidFill>
              <a:latin typeface="Inter"/>
              <a:ea typeface="Inter"/>
              <a:cs typeface="Inter"/>
              <a:sym typeface="Inter"/>
            </a:endParaRPr>
          </a:p>
          <a:p>
            <a:pPr marL="266700" marR="0" lvl="1" indent="-127000" algn="just" rtl="0">
              <a:lnSpc>
                <a:spcPct val="140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Infrastructure: </a:t>
            </a:r>
            <a:r>
              <a:rPr lang="en-US" sz="1200" b="0" i="0" u="none" strike="noStrike" cap="none">
                <a:solidFill>
                  <a:srgbClr val="3A3A3A"/>
                </a:solidFill>
                <a:latin typeface="Inter"/>
                <a:ea typeface="Inter"/>
                <a:cs typeface="Inter"/>
                <a:sym typeface="Inter"/>
              </a:rPr>
              <a:t>AWS Services</a:t>
            </a:r>
            <a:endParaRPr sz="12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Cloud-based infrastructure (AWS) for lower costs and better scalability.</a:t>
            </a:r>
            <a:endParaRPr sz="1200" b="0" i="0" u="none" strike="noStrike" cap="none">
              <a:solidFill>
                <a:srgbClr val="000000"/>
              </a:solidFill>
              <a:latin typeface="Arial"/>
              <a:ea typeface="Arial"/>
              <a:cs typeface="Arial"/>
              <a:sym typeface="Arial"/>
            </a:endParaRPr>
          </a:p>
          <a:p>
            <a:pPr marL="266700" marR="0" lvl="1" indent="-127000" algn="just" rtl="0">
              <a:lnSpc>
                <a:spcPct val="140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Serverless framework to ensure high performance with minimal infrastructure costs</a:t>
            </a:r>
            <a:endParaRPr sz="1200" b="0" i="0" u="none" strike="noStrike" cap="none">
              <a:solidFill>
                <a:srgbClr val="000000"/>
              </a:solidFill>
              <a:latin typeface="Arial"/>
              <a:ea typeface="Arial"/>
              <a:cs typeface="Arial"/>
              <a:sym typeface="Arial"/>
            </a:endParaRPr>
          </a:p>
        </p:txBody>
      </p:sp>
      <p:sp>
        <p:nvSpPr>
          <p:cNvPr id="1327" name="Google Shape;1327;p30"/>
          <p:cNvSpPr txBox="1"/>
          <p:nvPr/>
        </p:nvSpPr>
        <p:spPr>
          <a:xfrm>
            <a:off x="4762204" y="1838543"/>
            <a:ext cx="45594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VTI’s Approach</a:t>
            </a:r>
            <a:endParaRPr sz="1200" b="0" i="0" u="none" strike="noStrike" cap="none">
              <a:solidFill>
                <a:srgbClr val="000000"/>
              </a:solidFill>
              <a:latin typeface="Arial"/>
              <a:ea typeface="Arial"/>
              <a:cs typeface="Arial"/>
              <a:sym typeface="Arial"/>
            </a:endParaRPr>
          </a:p>
        </p:txBody>
      </p:sp>
      <p:sp>
        <p:nvSpPr>
          <p:cNvPr id="1328" name="Google Shape;1328;p30"/>
          <p:cNvSpPr txBox="1"/>
          <p:nvPr/>
        </p:nvSpPr>
        <p:spPr>
          <a:xfrm>
            <a:off x="4740666" y="2398632"/>
            <a:ext cx="1255800" cy="184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VTI delivered </a:t>
            </a:r>
            <a:endParaRPr sz="1200" b="0" i="0" u="none" strike="noStrike" cap="none">
              <a:solidFill>
                <a:srgbClr val="000000"/>
              </a:solidFill>
              <a:latin typeface="Arial"/>
              <a:ea typeface="Arial"/>
              <a:cs typeface="Arial"/>
              <a:sym typeface="Arial"/>
            </a:endParaRPr>
          </a:p>
        </p:txBody>
      </p:sp>
      <p:grpSp>
        <p:nvGrpSpPr>
          <p:cNvPr id="1329" name="Google Shape;1329;p30"/>
          <p:cNvGrpSpPr/>
          <p:nvPr/>
        </p:nvGrpSpPr>
        <p:grpSpPr>
          <a:xfrm>
            <a:off x="6184104" y="3065381"/>
            <a:ext cx="8048785" cy="3101550"/>
            <a:chOff x="0" y="-28575"/>
            <a:chExt cx="12072574" cy="4652092"/>
          </a:xfrm>
        </p:grpSpPr>
        <p:sp>
          <p:nvSpPr>
            <p:cNvPr id="1330" name="Google Shape;1330;p30" descr="preencoded.png"/>
            <p:cNvSpPr/>
            <p:nvPr/>
          </p:nvSpPr>
          <p:spPr>
            <a:xfrm rot="631368">
              <a:off x="3995947" y="454936"/>
              <a:ext cx="3437430" cy="3437430"/>
            </a:xfrm>
            <a:custGeom>
              <a:avLst/>
              <a:gdLst/>
              <a:ahLst/>
              <a:cxnLst/>
              <a:rect l="l" t="t" r="r" b="b"/>
              <a:pathLst>
                <a:path w="3439817" h="3439817" extrusionOk="0">
                  <a:moveTo>
                    <a:pt x="0" y="0"/>
                  </a:moveTo>
                  <a:lnTo>
                    <a:pt x="3439817" y="0"/>
                  </a:lnTo>
                  <a:lnTo>
                    <a:pt x="3439817" y="3439817"/>
                  </a:lnTo>
                  <a:lnTo>
                    <a:pt x="0" y="3439817"/>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sp>
          <p:nvSpPr>
            <p:cNvPr id="1331" name="Google Shape;1331;p30" descr="preencoded.png"/>
            <p:cNvSpPr/>
            <p:nvPr/>
          </p:nvSpPr>
          <p:spPr>
            <a:xfrm rot="631368">
              <a:off x="3968701" y="422242"/>
              <a:ext cx="3467626" cy="3467626"/>
            </a:xfrm>
            <a:custGeom>
              <a:avLst/>
              <a:gdLst/>
              <a:ahLst/>
              <a:cxnLst/>
              <a:rect l="l" t="t" r="r" b="b"/>
              <a:pathLst>
                <a:path w="3470034" h="3470034" extrusionOk="0">
                  <a:moveTo>
                    <a:pt x="0" y="0"/>
                  </a:moveTo>
                  <a:lnTo>
                    <a:pt x="3470034" y="0"/>
                  </a:lnTo>
                  <a:lnTo>
                    <a:pt x="3470034" y="3470035"/>
                  </a:lnTo>
                  <a:lnTo>
                    <a:pt x="0" y="3470035"/>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332" name="Google Shape;1332;p30" descr="preencoded.png"/>
            <p:cNvSpPr/>
            <p:nvPr/>
          </p:nvSpPr>
          <p:spPr>
            <a:xfrm rot="631368">
              <a:off x="3995947" y="454936"/>
              <a:ext cx="3437430" cy="3437430"/>
            </a:xfrm>
            <a:custGeom>
              <a:avLst/>
              <a:gdLst/>
              <a:ahLst/>
              <a:cxnLst/>
              <a:rect l="l" t="t" r="r" b="b"/>
              <a:pathLst>
                <a:path w="3439817" h="3439817" extrusionOk="0">
                  <a:moveTo>
                    <a:pt x="0" y="0"/>
                  </a:moveTo>
                  <a:lnTo>
                    <a:pt x="3439817" y="0"/>
                  </a:lnTo>
                  <a:lnTo>
                    <a:pt x="3439817" y="3439817"/>
                  </a:lnTo>
                  <a:lnTo>
                    <a:pt x="0" y="3439817"/>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1333" name="Google Shape;1333;p30" descr="preencoded.png"/>
            <p:cNvSpPr/>
            <p:nvPr/>
          </p:nvSpPr>
          <p:spPr>
            <a:xfrm rot="631368">
              <a:off x="3968701" y="422242"/>
              <a:ext cx="3467626" cy="3467626"/>
            </a:xfrm>
            <a:custGeom>
              <a:avLst/>
              <a:gdLst/>
              <a:ahLst/>
              <a:cxnLst/>
              <a:rect l="l" t="t" r="r" b="b"/>
              <a:pathLst>
                <a:path w="3470034" h="3470034" extrusionOk="0">
                  <a:moveTo>
                    <a:pt x="0" y="0"/>
                  </a:moveTo>
                  <a:lnTo>
                    <a:pt x="3470034" y="0"/>
                  </a:lnTo>
                  <a:lnTo>
                    <a:pt x="3470034" y="3470035"/>
                  </a:lnTo>
                  <a:lnTo>
                    <a:pt x="0" y="3470035"/>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sp>
          <p:nvSpPr>
            <p:cNvPr id="1334" name="Google Shape;1334;p30" descr="preencoded.png"/>
            <p:cNvSpPr/>
            <p:nvPr/>
          </p:nvSpPr>
          <p:spPr>
            <a:xfrm rot="631368">
              <a:off x="4026372" y="491443"/>
              <a:ext cx="3403711" cy="3403711"/>
            </a:xfrm>
            <a:custGeom>
              <a:avLst/>
              <a:gdLst/>
              <a:ahLst/>
              <a:cxnLst/>
              <a:rect l="l" t="t" r="r" b="b"/>
              <a:pathLst>
                <a:path w="3406075" h="3406075" extrusionOk="0">
                  <a:moveTo>
                    <a:pt x="0" y="0"/>
                  </a:moveTo>
                  <a:lnTo>
                    <a:pt x="3406075" y="0"/>
                  </a:lnTo>
                  <a:lnTo>
                    <a:pt x="3406075" y="3406075"/>
                  </a:lnTo>
                  <a:lnTo>
                    <a:pt x="0" y="3406075"/>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cxnSp>
          <p:nvCxnSpPr>
            <p:cNvPr id="1335" name="Google Shape;1335;p30"/>
            <p:cNvCxnSpPr/>
            <p:nvPr/>
          </p:nvCxnSpPr>
          <p:spPr>
            <a:xfrm rot="10800000" flipH="1">
              <a:off x="6923556" y="223727"/>
              <a:ext cx="470400" cy="731400"/>
            </a:xfrm>
            <a:prstGeom prst="straightConnector1">
              <a:avLst/>
            </a:prstGeom>
            <a:noFill/>
            <a:ln w="35175" cap="flat" cmpd="sng">
              <a:solidFill>
                <a:srgbClr val="182567"/>
              </a:solidFill>
              <a:prstDash val="solid"/>
              <a:round/>
              <a:headEnd type="none" w="sm" len="sm"/>
              <a:tailEnd type="none" w="sm" len="sm"/>
            </a:ln>
          </p:spPr>
        </p:cxnSp>
        <p:cxnSp>
          <p:nvCxnSpPr>
            <p:cNvPr id="1336" name="Google Shape;1336;p30"/>
            <p:cNvCxnSpPr/>
            <p:nvPr/>
          </p:nvCxnSpPr>
          <p:spPr>
            <a:xfrm rot="10800000" flipH="1">
              <a:off x="7262734" y="1960740"/>
              <a:ext cx="478200" cy="738900"/>
            </a:xfrm>
            <a:prstGeom prst="straightConnector1">
              <a:avLst/>
            </a:prstGeom>
            <a:noFill/>
            <a:ln w="35175" cap="flat" cmpd="sng">
              <a:solidFill>
                <a:srgbClr val="182567"/>
              </a:solidFill>
              <a:prstDash val="solid"/>
              <a:round/>
              <a:headEnd type="none" w="sm" len="sm"/>
              <a:tailEnd type="none" w="sm" len="sm"/>
            </a:ln>
          </p:spPr>
        </p:cxnSp>
        <p:cxnSp>
          <p:nvCxnSpPr>
            <p:cNvPr id="1337" name="Google Shape;1337;p30"/>
            <p:cNvCxnSpPr/>
            <p:nvPr/>
          </p:nvCxnSpPr>
          <p:spPr>
            <a:xfrm>
              <a:off x="5882312" y="3860937"/>
              <a:ext cx="1056900" cy="417900"/>
            </a:xfrm>
            <a:prstGeom prst="straightConnector1">
              <a:avLst/>
            </a:prstGeom>
            <a:noFill/>
            <a:ln w="35175" cap="flat" cmpd="sng">
              <a:solidFill>
                <a:srgbClr val="182567"/>
              </a:solidFill>
              <a:prstDash val="solid"/>
              <a:round/>
              <a:headEnd type="none" w="sm" len="sm"/>
              <a:tailEnd type="none" w="sm" len="sm"/>
            </a:ln>
          </p:spPr>
        </p:cxnSp>
        <p:cxnSp>
          <p:nvCxnSpPr>
            <p:cNvPr id="1338" name="Google Shape;1338;p30"/>
            <p:cNvCxnSpPr/>
            <p:nvPr/>
          </p:nvCxnSpPr>
          <p:spPr>
            <a:xfrm>
              <a:off x="4160757" y="209260"/>
              <a:ext cx="446400" cy="705300"/>
            </a:xfrm>
            <a:prstGeom prst="straightConnector1">
              <a:avLst/>
            </a:prstGeom>
            <a:noFill/>
            <a:ln w="35175" cap="flat" cmpd="sng">
              <a:solidFill>
                <a:srgbClr val="182567"/>
              </a:solidFill>
              <a:prstDash val="solid"/>
              <a:round/>
              <a:headEnd type="none" w="sm" len="sm"/>
              <a:tailEnd type="none" w="sm" len="sm"/>
            </a:ln>
          </p:spPr>
        </p:cxnSp>
        <p:cxnSp>
          <p:nvCxnSpPr>
            <p:cNvPr id="1339" name="Google Shape;1339;p30"/>
            <p:cNvCxnSpPr/>
            <p:nvPr/>
          </p:nvCxnSpPr>
          <p:spPr>
            <a:xfrm>
              <a:off x="7726095" y="1960770"/>
              <a:ext cx="298200" cy="0"/>
            </a:xfrm>
            <a:prstGeom prst="straightConnector1">
              <a:avLst/>
            </a:prstGeom>
            <a:noFill/>
            <a:ln w="35175" cap="flat" cmpd="sng">
              <a:solidFill>
                <a:srgbClr val="182567"/>
              </a:solidFill>
              <a:prstDash val="solid"/>
              <a:round/>
              <a:headEnd type="none" w="sm" len="sm"/>
              <a:tailEnd type="none" w="sm" len="sm"/>
            </a:ln>
          </p:spPr>
        </p:cxnSp>
        <p:cxnSp>
          <p:nvCxnSpPr>
            <p:cNvPr id="1340" name="Google Shape;1340;p30"/>
            <p:cNvCxnSpPr/>
            <p:nvPr/>
          </p:nvCxnSpPr>
          <p:spPr>
            <a:xfrm>
              <a:off x="6939165" y="4296446"/>
              <a:ext cx="801900" cy="0"/>
            </a:xfrm>
            <a:prstGeom prst="straightConnector1">
              <a:avLst/>
            </a:prstGeom>
            <a:noFill/>
            <a:ln w="35175" cap="flat" cmpd="sng">
              <a:solidFill>
                <a:srgbClr val="182567"/>
              </a:solidFill>
              <a:prstDash val="solid"/>
              <a:round/>
              <a:headEnd type="none" w="sm" len="sm"/>
              <a:tailEnd type="none" w="sm" len="sm"/>
            </a:ln>
          </p:spPr>
        </p:cxnSp>
        <p:cxnSp>
          <p:nvCxnSpPr>
            <p:cNvPr id="1341" name="Google Shape;1341;p30"/>
            <p:cNvCxnSpPr/>
            <p:nvPr/>
          </p:nvCxnSpPr>
          <p:spPr>
            <a:xfrm>
              <a:off x="3832295" y="228064"/>
              <a:ext cx="328500" cy="0"/>
            </a:xfrm>
            <a:prstGeom prst="straightConnector1">
              <a:avLst/>
            </a:prstGeom>
            <a:noFill/>
            <a:ln w="35175" cap="flat" cmpd="sng">
              <a:solidFill>
                <a:srgbClr val="182567"/>
              </a:solidFill>
              <a:prstDash val="solid"/>
              <a:round/>
              <a:headEnd type="none" w="sm" len="sm"/>
              <a:tailEnd type="none" w="sm" len="sm"/>
            </a:ln>
          </p:spPr>
        </p:cxnSp>
        <p:cxnSp>
          <p:nvCxnSpPr>
            <p:cNvPr id="1342" name="Google Shape;1342;p30"/>
            <p:cNvCxnSpPr/>
            <p:nvPr/>
          </p:nvCxnSpPr>
          <p:spPr>
            <a:xfrm>
              <a:off x="7393833" y="245663"/>
              <a:ext cx="298200" cy="0"/>
            </a:xfrm>
            <a:prstGeom prst="straightConnector1">
              <a:avLst/>
            </a:prstGeom>
            <a:noFill/>
            <a:ln w="35175" cap="flat" cmpd="sng">
              <a:solidFill>
                <a:srgbClr val="182567"/>
              </a:solidFill>
              <a:prstDash val="solid"/>
              <a:round/>
              <a:headEnd type="none" w="sm" len="sm"/>
              <a:tailEnd type="none" w="sm" len="sm"/>
            </a:ln>
          </p:spPr>
        </p:cxnSp>
        <p:cxnSp>
          <p:nvCxnSpPr>
            <p:cNvPr id="1343" name="Google Shape;1343;p30"/>
            <p:cNvCxnSpPr/>
            <p:nvPr/>
          </p:nvCxnSpPr>
          <p:spPr>
            <a:xfrm>
              <a:off x="3833305" y="2516107"/>
              <a:ext cx="546000" cy="704700"/>
            </a:xfrm>
            <a:prstGeom prst="straightConnector1">
              <a:avLst/>
            </a:prstGeom>
            <a:noFill/>
            <a:ln w="35175" cap="flat" cmpd="sng">
              <a:solidFill>
                <a:srgbClr val="182567"/>
              </a:solidFill>
              <a:prstDash val="solid"/>
              <a:round/>
              <a:headEnd type="none" w="sm" len="sm"/>
              <a:tailEnd type="none" w="sm" len="sm"/>
            </a:ln>
          </p:spPr>
        </p:cxnSp>
        <p:cxnSp>
          <p:nvCxnSpPr>
            <p:cNvPr id="1344" name="Google Shape;1344;p30"/>
            <p:cNvCxnSpPr/>
            <p:nvPr/>
          </p:nvCxnSpPr>
          <p:spPr>
            <a:xfrm>
              <a:off x="3504844" y="2534911"/>
              <a:ext cx="328500" cy="0"/>
            </a:xfrm>
            <a:prstGeom prst="straightConnector1">
              <a:avLst/>
            </a:prstGeom>
            <a:noFill/>
            <a:ln w="35175" cap="flat" cmpd="sng">
              <a:solidFill>
                <a:srgbClr val="182567"/>
              </a:solidFill>
              <a:prstDash val="solid"/>
              <a:round/>
              <a:headEnd type="none" w="sm" len="sm"/>
              <a:tailEnd type="none" w="sm" len="sm"/>
            </a:ln>
          </p:spPr>
        </p:cxnSp>
        <p:sp>
          <p:nvSpPr>
            <p:cNvPr id="1345" name="Google Shape;1345;p30"/>
            <p:cNvSpPr txBox="1"/>
            <p:nvPr/>
          </p:nvSpPr>
          <p:spPr>
            <a:xfrm>
              <a:off x="6075870" y="907502"/>
              <a:ext cx="632400" cy="484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00"/>
                <a:buFont typeface="Arial"/>
                <a:buNone/>
              </a:pPr>
              <a:r>
                <a:rPr lang="en-US" sz="2100" b="1" i="0" u="none" strike="noStrike" cap="none">
                  <a:solidFill>
                    <a:srgbClr val="EEEEEE"/>
                  </a:solidFill>
                  <a:latin typeface="Inter"/>
                  <a:ea typeface="Inter"/>
                  <a:cs typeface="Inter"/>
                  <a:sym typeface="Inter"/>
                </a:rPr>
                <a:t>1</a:t>
              </a:r>
              <a:endParaRPr sz="1200" b="0" i="0" u="none" strike="noStrike" cap="none">
                <a:solidFill>
                  <a:srgbClr val="000000"/>
                </a:solidFill>
                <a:latin typeface="Arial"/>
                <a:ea typeface="Arial"/>
                <a:cs typeface="Arial"/>
                <a:sym typeface="Arial"/>
              </a:endParaRPr>
            </a:p>
          </p:txBody>
        </p:sp>
        <p:sp>
          <p:nvSpPr>
            <p:cNvPr id="1346" name="Google Shape;1346;p30"/>
            <p:cNvSpPr txBox="1"/>
            <p:nvPr/>
          </p:nvSpPr>
          <p:spPr>
            <a:xfrm>
              <a:off x="6523886" y="2226181"/>
              <a:ext cx="632400" cy="484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00"/>
                <a:buFont typeface="Arial"/>
                <a:buNone/>
              </a:pPr>
              <a:r>
                <a:rPr lang="en-US" sz="2100" b="1" i="0" u="none" strike="noStrike" cap="none">
                  <a:solidFill>
                    <a:srgbClr val="EEEEEE"/>
                  </a:solidFill>
                  <a:latin typeface="Inter"/>
                  <a:ea typeface="Inter"/>
                  <a:cs typeface="Inter"/>
                  <a:sym typeface="Inter"/>
                </a:rPr>
                <a:t>2</a:t>
              </a:r>
              <a:endParaRPr sz="1200" b="0" i="0" u="none" strike="noStrike" cap="none">
                <a:solidFill>
                  <a:srgbClr val="000000"/>
                </a:solidFill>
                <a:latin typeface="Arial"/>
                <a:ea typeface="Arial"/>
                <a:cs typeface="Arial"/>
                <a:sym typeface="Arial"/>
              </a:endParaRPr>
            </a:p>
          </p:txBody>
        </p:sp>
        <p:sp>
          <p:nvSpPr>
            <p:cNvPr id="1347" name="Google Shape;1347;p30"/>
            <p:cNvSpPr txBox="1"/>
            <p:nvPr/>
          </p:nvSpPr>
          <p:spPr>
            <a:xfrm>
              <a:off x="5389804" y="3173199"/>
              <a:ext cx="632400" cy="484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00"/>
                <a:buFont typeface="Arial"/>
                <a:buNone/>
              </a:pPr>
              <a:r>
                <a:rPr lang="en-US" sz="2100" b="1" i="0" u="none" strike="noStrike" cap="none">
                  <a:solidFill>
                    <a:srgbClr val="EEEEEE"/>
                  </a:solidFill>
                  <a:latin typeface="Inter"/>
                  <a:ea typeface="Inter"/>
                  <a:cs typeface="Inter"/>
                  <a:sym typeface="Inter"/>
                </a:rPr>
                <a:t>3</a:t>
              </a:r>
              <a:endParaRPr sz="1200" b="0" i="0" u="none" strike="noStrike" cap="none">
                <a:solidFill>
                  <a:srgbClr val="000000"/>
                </a:solidFill>
                <a:latin typeface="Arial"/>
                <a:ea typeface="Arial"/>
                <a:cs typeface="Arial"/>
                <a:sym typeface="Arial"/>
              </a:endParaRPr>
            </a:p>
          </p:txBody>
        </p:sp>
        <p:sp>
          <p:nvSpPr>
            <p:cNvPr id="1348" name="Google Shape;1348;p30"/>
            <p:cNvSpPr txBox="1"/>
            <p:nvPr/>
          </p:nvSpPr>
          <p:spPr>
            <a:xfrm>
              <a:off x="4235384" y="2226181"/>
              <a:ext cx="632400" cy="484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00"/>
                <a:buFont typeface="Arial"/>
                <a:buNone/>
              </a:pPr>
              <a:r>
                <a:rPr lang="en-US" sz="2100" b="1" i="0" u="none" strike="noStrike" cap="none">
                  <a:solidFill>
                    <a:srgbClr val="EEEEEE"/>
                  </a:solidFill>
                  <a:latin typeface="Inter"/>
                  <a:ea typeface="Inter"/>
                  <a:cs typeface="Inter"/>
                  <a:sym typeface="Inter"/>
                </a:rPr>
                <a:t>4</a:t>
              </a:r>
              <a:endParaRPr sz="1200" b="0" i="0" u="none" strike="noStrike" cap="none">
                <a:solidFill>
                  <a:srgbClr val="000000"/>
                </a:solidFill>
                <a:latin typeface="Arial"/>
                <a:ea typeface="Arial"/>
                <a:cs typeface="Arial"/>
                <a:sym typeface="Arial"/>
              </a:endParaRPr>
            </a:p>
          </p:txBody>
        </p:sp>
        <p:sp>
          <p:nvSpPr>
            <p:cNvPr id="1349" name="Google Shape;1349;p30"/>
            <p:cNvSpPr txBox="1"/>
            <p:nvPr/>
          </p:nvSpPr>
          <p:spPr>
            <a:xfrm>
              <a:off x="4757364" y="907502"/>
              <a:ext cx="632400" cy="484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00"/>
                <a:buFont typeface="Arial"/>
                <a:buNone/>
              </a:pPr>
              <a:r>
                <a:rPr lang="en-US" sz="2100" b="1" i="0" u="none" strike="noStrike" cap="none">
                  <a:solidFill>
                    <a:srgbClr val="EEEEEE"/>
                  </a:solidFill>
                  <a:latin typeface="Inter"/>
                  <a:ea typeface="Inter"/>
                  <a:cs typeface="Inter"/>
                  <a:sym typeface="Inter"/>
                </a:rPr>
                <a:t>5</a:t>
              </a:r>
              <a:endParaRPr sz="1200" b="0" i="0" u="none" strike="noStrike" cap="none">
                <a:solidFill>
                  <a:srgbClr val="000000"/>
                </a:solidFill>
                <a:latin typeface="Arial"/>
                <a:ea typeface="Arial"/>
                <a:cs typeface="Arial"/>
                <a:sym typeface="Arial"/>
              </a:endParaRPr>
            </a:p>
          </p:txBody>
        </p:sp>
        <p:sp>
          <p:nvSpPr>
            <p:cNvPr id="1350" name="Google Shape;1350;p30"/>
            <p:cNvSpPr txBox="1"/>
            <p:nvPr/>
          </p:nvSpPr>
          <p:spPr>
            <a:xfrm>
              <a:off x="7867762" y="-28575"/>
              <a:ext cx="3129300" cy="8313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3A3A3A"/>
                  </a:solidFill>
                  <a:latin typeface="Inter"/>
                  <a:ea typeface="Inter"/>
                  <a:cs typeface="Inter"/>
                  <a:sym typeface="Inter"/>
                </a:rPr>
                <a:t>Requirement definition &amp; Planning </a:t>
              </a:r>
              <a:endParaRPr sz="1200" b="0" i="0" u="none" strike="noStrike" cap="none">
                <a:solidFill>
                  <a:srgbClr val="000000"/>
                </a:solidFill>
                <a:latin typeface="Arial"/>
                <a:ea typeface="Arial"/>
                <a:cs typeface="Arial"/>
                <a:sym typeface="Arial"/>
              </a:endParaRPr>
            </a:p>
          </p:txBody>
        </p:sp>
        <p:sp>
          <p:nvSpPr>
            <p:cNvPr id="1351" name="Google Shape;1351;p30"/>
            <p:cNvSpPr txBox="1"/>
            <p:nvPr/>
          </p:nvSpPr>
          <p:spPr>
            <a:xfrm>
              <a:off x="8187574" y="1735285"/>
              <a:ext cx="3885000" cy="346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3A3A3A"/>
                  </a:solidFill>
                  <a:latin typeface="Inter"/>
                  <a:ea typeface="Inter"/>
                  <a:cs typeface="Inter"/>
                  <a:sym typeface="Inter"/>
                </a:rPr>
                <a:t>Basic &amp; Detailed Design</a:t>
              </a:r>
              <a:endParaRPr sz="1200" b="0" i="0" u="none" strike="noStrike" cap="none">
                <a:solidFill>
                  <a:srgbClr val="000000"/>
                </a:solidFill>
                <a:latin typeface="Arial"/>
                <a:ea typeface="Arial"/>
                <a:cs typeface="Arial"/>
                <a:sym typeface="Arial"/>
              </a:endParaRPr>
            </a:p>
          </p:txBody>
        </p:sp>
        <p:sp>
          <p:nvSpPr>
            <p:cNvPr id="1352" name="Google Shape;1352;p30"/>
            <p:cNvSpPr txBox="1"/>
            <p:nvPr/>
          </p:nvSpPr>
          <p:spPr>
            <a:xfrm>
              <a:off x="8187574" y="3792217"/>
              <a:ext cx="2971200" cy="8313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3A3A3A"/>
                  </a:solidFill>
                  <a:latin typeface="Inter"/>
                  <a:ea typeface="Inter"/>
                  <a:cs typeface="Inter"/>
                  <a:sym typeface="Inter"/>
                </a:rPr>
                <a:t>System Development</a:t>
              </a:r>
              <a:endParaRPr sz="1200" b="0" i="0" u="none" strike="noStrike" cap="none">
                <a:solidFill>
                  <a:srgbClr val="000000"/>
                </a:solidFill>
                <a:latin typeface="Arial"/>
                <a:ea typeface="Arial"/>
                <a:cs typeface="Arial"/>
                <a:sym typeface="Arial"/>
              </a:endParaRPr>
            </a:p>
          </p:txBody>
        </p:sp>
        <p:sp>
          <p:nvSpPr>
            <p:cNvPr id="1353" name="Google Shape;1353;p30"/>
            <p:cNvSpPr txBox="1"/>
            <p:nvPr/>
          </p:nvSpPr>
          <p:spPr>
            <a:xfrm>
              <a:off x="1376331" y="114700"/>
              <a:ext cx="2128500" cy="346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a:buNone/>
              </a:pPr>
              <a:r>
                <a:rPr lang="en-US" sz="1500" b="1" i="0" u="none" strike="noStrike" cap="none">
                  <a:solidFill>
                    <a:srgbClr val="3A3A3A"/>
                  </a:solidFill>
                  <a:latin typeface="Inter"/>
                  <a:ea typeface="Inter"/>
                  <a:cs typeface="Inter"/>
                  <a:sym typeface="Inter"/>
                </a:rPr>
                <a:t>Maintenance</a:t>
              </a:r>
              <a:endParaRPr sz="1200" b="0" i="0" u="none" strike="noStrike" cap="none">
                <a:solidFill>
                  <a:srgbClr val="000000"/>
                </a:solidFill>
                <a:latin typeface="Arial"/>
                <a:ea typeface="Arial"/>
                <a:cs typeface="Arial"/>
                <a:sym typeface="Arial"/>
              </a:endParaRPr>
            </a:p>
          </p:txBody>
        </p:sp>
        <p:sp>
          <p:nvSpPr>
            <p:cNvPr id="1354" name="Google Shape;1354;p30"/>
            <p:cNvSpPr txBox="1"/>
            <p:nvPr/>
          </p:nvSpPr>
          <p:spPr>
            <a:xfrm>
              <a:off x="0" y="2299846"/>
              <a:ext cx="3416700" cy="22866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a:buNone/>
              </a:pPr>
              <a:r>
                <a:rPr lang="en-US" sz="1500" b="1" i="0" u="none" strike="noStrike" cap="none">
                  <a:solidFill>
                    <a:srgbClr val="3A3A3A"/>
                  </a:solidFill>
                  <a:latin typeface="Inter"/>
                  <a:ea typeface="Inter"/>
                  <a:cs typeface="Inter"/>
                  <a:sym typeface="Inter"/>
                </a:rPr>
                <a:t>Testing</a:t>
              </a:r>
              <a:endParaRPr sz="1200" b="0" i="0" u="none" strike="noStrike" cap="none">
                <a:solidFill>
                  <a:srgbClr val="000000"/>
                </a:solidFill>
                <a:latin typeface="Arial"/>
                <a:ea typeface="Arial"/>
                <a:cs typeface="Arial"/>
                <a:sym typeface="Arial"/>
              </a:endParaRPr>
            </a:p>
            <a:p>
              <a:pPr marL="317500" marR="0" lvl="1" indent="-158750" algn="r" rtl="0">
                <a:lnSpc>
                  <a:spcPct val="140000"/>
                </a:lnSpc>
                <a:spcBef>
                  <a:spcPts val="0"/>
                </a:spcBef>
                <a:spcAft>
                  <a:spcPts val="0"/>
                </a:spcAft>
                <a:buClr>
                  <a:srgbClr val="3A3A3A"/>
                </a:buClr>
                <a:buSzPts val="1500"/>
                <a:buFont typeface="Arial"/>
                <a:buChar char="•"/>
              </a:pPr>
              <a:r>
                <a:rPr lang="en-US" sz="1500" b="0" i="0" u="none" strike="noStrike" cap="none">
                  <a:solidFill>
                    <a:srgbClr val="3A3A3A"/>
                  </a:solidFill>
                  <a:latin typeface="Inter"/>
                  <a:ea typeface="Inter"/>
                  <a:cs typeface="Inter"/>
                  <a:sym typeface="Inter"/>
                </a:rPr>
                <a:t>Unit Testing (UT)</a:t>
              </a:r>
              <a:endParaRPr sz="1200" b="0" i="0" u="none" strike="noStrike" cap="none">
                <a:solidFill>
                  <a:srgbClr val="000000"/>
                </a:solidFill>
                <a:latin typeface="Arial"/>
                <a:ea typeface="Arial"/>
                <a:cs typeface="Arial"/>
                <a:sym typeface="Arial"/>
              </a:endParaRPr>
            </a:p>
            <a:p>
              <a:pPr marL="317500" marR="0" lvl="1" indent="-158750" algn="r" rtl="0">
                <a:lnSpc>
                  <a:spcPct val="140000"/>
                </a:lnSpc>
                <a:spcBef>
                  <a:spcPts val="0"/>
                </a:spcBef>
                <a:spcAft>
                  <a:spcPts val="0"/>
                </a:spcAft>
                <a:buClr>
                  <a:srgbClr val="3A3A3A"/>
                </a:buClr>
                <a:buSzPts val="1500"/>
                <a:buFont typeface="Arial"/>
                <a:buChar char="•"/>
              </a:pPr>
              <a:r>
                <a:rPr lang="en-US" sz="1500" b="0" i="0" u="none" strike="noStrike" cap="none">
                  <a:solidFill>
                    <a:srgbClr val="3A3A3A"/>
                  </a:solidFill>
                  <a:latin typeface="Inter"/>
                  <a:ea typeface="Inter"/>
                  <a:cs typeface="Inter"/>
                  <a:sym typeface="Inter"/>
                </a:rPr>
                <a:t>Integration Testing (IT)</a:t>
              </a:r>
              <a:endParaRPr sz="1200" b="0" i="0" u="none" strike="noStrike" cap="none">
                <a:solidFill>
                  <a:srgbClr val="000000"/>
                </a:solidFill>
                <a:latin typeface="Arial"/>
                <a:ea typeface="Arial"/>
                <a:cs typeface="Arial"/>
                <a:sym typeface="Arial"/>
              </a:endParaRPr>
            </a:p>
            <a:p>
              <a:pPr marL="317500" marR="0" lvl="1" indent="-158750" algn="r" rtl="0">
                <a:lnSpc>
                  <a:spcPct val="140000"/>
                </a:lnSpc>
                <a:spcBef>
                  <a:spcPts val="0"/>
                </a:spcBef>
                <a:spcAft>
                  <a:spcPts val="0"/>
                </a:spcAft>
                <a:buClr>
                  <a:srgbClr val="3A3A3A"/>
                </a:buClr>
                <a:buSzPts val="1500"/>
                <a:buFont typeface="Arial"/>
                <a:buChar char="•"/>
              </a:pPr>
              <a:r>
                <a:rPr lang="en-US" sz="1500" b="0" i="0" u="none" strike="noStrike" cap="none">
                  <a:solidFill>
                    <a:srgbClr val="3A3A3A"/>
                  </a:solidFill>
                  <a:latin typeface="Inter"/>
                  <a:ea typeface="Inter"/>
                  <a:cs typeface="Inter"/>
                  <a:sym typeface="Inter"/>
                </a:rPr>
                <a:t>System Testing (ST) </a:t>
              </a:r>
              <a:endParaRPr sz="1200" b="0" i="0" u="none" strike="noStrike" cap="none">
                <a:solidFill>
                  <a:srgbClr val="000000"/>
                </a:solidFill>
                <a:latin typeface="Arial"/>
                <a:ea typeface="Arial"/>
                <a:cs typeface="Arial"/>
                <a:sym typeface="Arial"/>
              </a:endParaRPr>
            </a:p>
          </p:txBody>
        </p:sp>
      </p:grpSp>
      <p:sp>
        <p:nvSpPr>
          <p:cNvPr id="1355" name="Google Shape;1355;p30"/>
          <p:cNvSpPr txBox="1"/>
          <p:nvPr/>
        </p:nvSpPr>
        <p:spPr>
          <a:xfrm>
            <a:off x="5790285" y="2390165"/>
            <a:ext cx="39351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300"/>
              <a:buFont typeface="Arial"/>
              <a:buNone/>
            </a:pPr>
            <a:r>
              <a:rPr lang="en-US" sz="1300" b="1" i="0" u="none" strike="noStrike" cap="none">
                <a:solidFill>
                  <a:srgbClr val="004AAD"/>
                </a:solidFill>
                <a:latin typeface="Inter"/>
                <a:ea typeface="Inter"/>
                <a:cs typeface="Inter"/>
                <a:sym typeface="Inter"/>
              </a:rPr>
              <a:t>One-Stop - Full-cycle Development service</a:t>
            </a:r>
            <a:r>
              <a:rPr lang="en-US" sz="1300" b="0" i="0" u="none" strike="noStrike" cap="none">
                <a:solidFill>
                  <a:srgbClr val="004AAD"/>
                </a:solidFill>
                <a:latin typeface="Inter"/>
                <a:ea typeface="Inter"/>
                <a:cs typeface="Inter"/>
                <a:sym typeface="Inter"/>
              </a:rPr>
              <a:t>:  </a:t>
            </a:r>
            <a:endParaRPr sz="1200" b="0" i="0" u="none" strike="noStrike" cap="none">
              <a:solidFill>
                <a:srgbClr val="000000"/>
              </a:solidFill>
              <a:latin typeface="Arial"/>
              <a:ea typeface="Arial"/>
              <a:cs typeface="Arial"/>
              <a:sym typeface="Arial"/>
            </a:endParaRPr>
          </a:p>
        </p:txBody>
      </p:sp>
      <p:sp>
        <p:nvSpPr>
          <p:cNvPr id="1356" name="Google Shape;1356;p30"/>
          <p:cNvSpPr txBox="1"/>
          <p:nvPr/>
        </p:nvSpPr>
        <p:spPr>
          <a:xfrm>
            <a:off x="4637220" y="661693"/>
            <a:ext cx="115596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600"/>
              <a:buFont typeface="Arial"/>
              <a:buNone/>
            </a:pPr>
            <a:r>
              <a:rPr lang="en-US" sz="2600" b="0" i="0" u="none" strike="noStrike" cap="none">
                <a:solidFill>
                  <a:srgbClr val="004AAD"/>
                </a:solidFill>
                <a:latin typeface="Inter"/>
                <a:ea typeface="Inter"/>
                <a:cs typeface="Inter"/>
                <a:sym typeface="Inter"/>
              </a:rPr>
              <a:t>CASE STUDY | </a:t>
            </a:r>
            <a:r>
              <a:rPr lang="en-US" sz="2600" b="1" i="0" u="none" strike="noStrike" cap="none">
                <a:solidFill>
                  <a:srgbClr val="004AAD"/>
                </a:solidFill>
                <a:latin typeface="Inter"/>
                <a:ea typeface="Inter"/>
                <a:cs typeface="Inter"/>
                <a:sym typeface="Inter"/>
              </a:rPr>
              <a:t>PROCUREMENT MANAGEMENT SYSTEM IN RETAIL - FOR SMARTER INVENTORY CONTROL (2/4)</a:t>
            </a:r>
            <a:endParaRPr sz="1200" b="0" i="0" u="none" strike="noStrike" cap="none">
              <a:solidFill>
                <a:srgbClr val="000000"/>
              </a:solidFill>
              <a:latin typeface="Arial"/>
              <a:ea typeface="Arial"/>
              <a:cs typeface="Arial"/>
              <a:sym typeface="Arial"/>
            </a:endParaRPr>
          </a:p>
        </p:txBody>
      </p:sp>
      <p:sp>
        <p:nvSpPr>
          <p:cNvPr id="1357" name="Google Shape;1357;p30"/>
          <p:cNvSpPr/>
          <p:nvPr/>
        </p:nvSpPr>
        <p:spPr>
          <a:xfrm>
            <a:off x="6524302" y="6705539"/>
            <a:ext cx="924586" cy="345146"/>
          </a:xfrm>
          <a:custGeom>
            <a:avLst/>
            <a:gdLst/>
            <a:ahLst/>
            <a:cxnLst/>
            <a:rect l="l" t="t" r="r" b="b"/>
            <a:pathLst>
              <a:path w="1038861" h="387804" extrusionOk="0">
                <a:moveTo>
                  <a:pt x="0" y="0"/>
                </a:moveTo>
                <a:lnTo>
                  <a:pt x="1038862" y="0"/>
                </a:lnTo>
                <a:lnTo>
                  <a:pt x="1038862" y="387804"/>
                </a:lnTo>
                <a:lnTo>
                  <a:pt x="0" y="387804"/>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1358" name="Google Shape;1358;p30"/>
          <p:cNvSpPr txBox="1"/>
          <p:nvPr/>
        </p:nvSpPr>
        <p:spPr>
          <a:xfrm>
            <a:off x="10961364" y="6736803"/>
            <a:ext cx="3862200" cy="1315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600"/>
              <a:buFont typeface="Arial"/>
              <a:buNone/>
            </a:pPr>
            <a:r>
              <a:rPr lang="en-US" sz="1600" b="1" i="0" u="none" strike="noStrike" cap="none">
                <a:solidFill>
                  <a:srgbClr val="3A3A3A"/>
                </a:solidFill>
                <a:latin typeface="Inter"/>
                <a:ea typeface="Inter"/>
                <a:cs typeface="Inter"/>
                <a:sym typeface="Inter"/>
              </a:rPr>
              <a:t>Project Scales</a:t>
            </a:r>
            <a:endParaRPr sz="1200" b="0" i="0" u="none" strike="noStrike" cap="none">
              <a:solidFill>
                <a:srgbClr val="000000"/>
              </a:solidFill>
              <a:latin typeface="Arial"/>
              <a:ea typeface="Arial"/>
              <a:cs typeface="Arial"/>
              <a:sym typeface="Arial"/>
            </a:endParaRPr>
          </a:p>
          <a:p>
            <a:pPr marL="0" marR="0" lvl="0" indent="0" algn="just" rtl="0">
              <a:lnSpc>
                <a:spcPct val="109000"/>
              </a:lnSpc>
              <a:spcBef>
                <a:spcPts val="0"/>
              </a:spcBef>
              <a:spcAft>
                <a:spcPts val="0"/>
              </a:spcAft>
              <a:buClr>
                <a:srgbClr val="000000"/>
              </a:buClr>
              <a:buSzPts val="1600"/>
              <a:buFont typeface="Arial"/>
              <a:buNone/>
            </a:pPr>
            <a:endParaRPr sz="1600" b="1" i="0" u="none" strike="noStrike" cap="none">
              <a:solidFill>
                <a:srgbClr val="3A3A3A"/>
              </a:solidFill>
              <a:latin typeface="Inter"/>
              <a:ea typeface="Inter"/>
              <a:cs typeface="Inter"/>
              <a:sym typeface="Inter"/>
            </a:endParaRPr>
          </a:p>
          <a:p>
            <a:pPr marL="266700" marR="0" lvl="1" indent="-127000" algn="just" rtl="0">
              <a:lnSpc>
                <a:spcPct val="140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Team Size: </a:t>
            </a:r>
            <a:r>
              <a:rPr lang="en-US" sz="1200" b="0" i="0" u="none" strike="noStrike" cap="none">
                <a:solidFill>
                  <a:srgbClr val="3A3A3A"/>
                </a:solidFill>
                <a:latin typeface="Inter"/>
                <a:ea typeface="Inter"/>
                <a:cs typeface="Inter"/>
                <a:sym typeface="Inter"/>
              </a:rPr>
              <a:t>Up to 30 personnel</a:t>
            </a:r>
            <a:endParaRPr sz="1200" b="0" i="0" u="none" strike="noStrike" cap="none">
              <a:solidFill>
                <a:srgbClr val="000000"/>
              </a:solidFill>
              <a:latin typeface="Arial"/>
              <a:ea typeface="Arial"/>
              <a:cs typeface="Arial"/>
              <a:sym typeface="Arial"/>
            </a:endParaRPr>
          </a:p>
          <a:p>
            <a:pPr marL="266700" marR="0" lvl="1" indent="-127000" algn="just" rtl="0">
              <a:lnSpc>
                <a:spcPct val="140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Working Model: </a:t>
            </a:r>
            <a:r>
              <a:rPr lang="en-US" sz="1200" b="0" i="0" u="none" strike="noStrike" cap="none">
                <a:solidFill>
                  <a:srgbClr val="3A3A3A"/>
                </a:solidFill>
                <a:latin typeface="Inter"/>
                <a:ea typeface="Inter"/>
                <a:cs typeface="Inter"/>
                <a:sym typeface="Inter"/>
              </a:rPr>
              <a:t>Hybrid (Onsite + Offshore)</a:t>
            </a:r>
            <a:endParaRPr sz="1200" b="0" i="0" u="none" strike="noStrike" cap="none">
              <a:solidFill>
                <a:srgbClr val="000000"/>
              </a:solidFill>
              <a:latin typeface="Arial"/>
              <a:ea typeface="Arial"/>
              <a:cs typeface="Arial"/>
              <a:sym typeface="Arial"/>
            </a:endParaRPr>
          </a:p>
          <a:p>
            <a:pPr marL="266700" marR="0" lvl="1" indent="-127000" algn="just" rtl="0">
              <a:lnSpc>
                <a:spcPct val="140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Duration: </a:t>
            </a:r>
            <a:r>
              <a:rPr lang="en-US" sz="1200" b="0" i="0" u="none" strike="noStrike" cap="none">
                <a:solidFill>
                  <a:srgbClr val="3A3A3A"/>
                </a:solidFill>
                <a:latin typeface="Inter"/>
                <a:ea typeface="Inter"/>
                <a:cs typeface="Inter"/>
                <a:sym typeface="Inter"/>
              </a:rPr>
              <a:t>6+ months</a:t>
            </a:r>
            <a:endParaRPr sz="1200" b="0" i="0" u="none" strike="noStrike" cap="none">
              <a:solidFill>
                <a:srgbClr val="000000"/>
              </a:solidFill>
              <a:latin typeface="Arial"/>
              <a:ea typeface="Arial"/>
              <a:cs typeface="Arial"/>
              <a:sym typeface="Arial"/>
            </a:endParaRPr>
          </a:p>
        </p:txBody>
      </p:sp>
      <p:sp>
        <p:nvSpPr>
          <p:cNvPr id="1359" name="Google Shape;1359;p30"/>
          <p:cNvSpPr/>
          <p:nvPr/>
        </p:nvSpPr>
        <p:spPr>
          <a:xfrm>
            <a:off x="7649994" y="6650643"/>
            <a:ext cx="732747" cy="455075"/>
          </a:xfrm>
          <a:custGeom>
            <a:avLst/>
            <a:gdLst/>
            <a:ahLst/>
            <a:cxnLst/>
            <a:rect l="l" t="t" r="r" b="b"/>
            <a:pathLst>
              <a:path w="823311" h="511320" extrusionOk="0">
                <a:moveTo>
                  <a:pt x="0" y="0"/>
                </a:moveTo>
                <a:lnTo>
                  <a:pt x="823311" y="0"/>
                </a:lnTo>
                <a:lnTo>
                  <a:pt x="823311" y="511320"/>
                </a:lnTo>
                <a:lnTo>
                  <a:pt x="0" y="511320"/>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sp>
        <p:nvSpPr>
          <p:cNvPr id="1360" name="Google Shape;1360;p30"/>
          <p:cNvSpPr/>
          <p:nvPr/>
        </p:nvSpPr>
        <p:spPr>
          <a:xfrm rot="5400000">
            <a:off x="411095" y="2288858"/>
            <a:ext cx="9155430" cy="4577715"/>
          </a:xfrm>
          <a:custGeom>
            <a:avLst/>
            <a:gdLst/>
            <a:ahLst/>
            <a:cxnLst/>
            <a:rect l="l" t="t" r="r" b="b"/>
            <a:pathLst>
              <a:path w="10287000" h="5143500" extrusionOk="0">
                <a:moveTo>
                  <a:pt x="0" y="0"/>
                </a:moveTo>
                <a:lnTo>
                  <a:pt x="10287000" y="0"/>
                </a:lnTo>
                <a:lnTo>
                  <a:pt x="10287000" y="5143500"/>
                </a:lnTo>
                <a:lnTo>
                  <a:pt x="0" y="5143500"/>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sp>
      <p:grpSp>
        <p:nvGrpSpPr>
          <p:cNvPr id="1361" name="Google Shape;1361;p30"/>
          <p:cNvGrpSpPr/>
          <p:nvPr/>
        </p:nvGrpSpPr>
        <p:grpSpPr>
          <a:xfrm>
            <a:off x="-22109" y="-225021"/>
            <a:ext cx="4312685" cy="9369027"/>
            <a:chOff x="0" y="-66675"/>
            <a:chExt cx="2748684" cy="2776008"/>
          </a:xfrm>
        </p:grpSpPr>
        <p:sp>
          <p:nvSpPr>
            <p:cNvPr id="1362" name="Google Shape;1362;p30"/>
            <p:cNvSpPr/>
            <p:nvPr/>
          </p:nvSpPr>
          <p:spPr>
            <a:xfrm>
              <a:off x="0" y="0"/>
              <a:ext cx="2748684" cy="2709333"/>
            </a:xfrm>
            <a:custGeom>
              <a:avLst/>
              <a:gdLst/>
              <a:ahLst/>
              <a:cxnLst/>
              <a:rect l="l" t="t" r="r" b="b"/>
              <a:pathLst>
                <a:path w="2748684" h="2709333" extrusionOk="0">
                  <a:moveTo>
                    <a:pt x="0" y="0"/>
                  </a:moveTo>
                  <a:lnTo>
                    <a:pt x="2748684" y="0"/>
                  </a:lnTo>
                  <a:lnTo>
                    <a:pt x="2748684" y="2709333"/>
                  </a:lnTo>
                  <a:lnTo>
                    <a:pt x="0" y="2709333"/>
                  </a:lnTo>
                  <a:close/>
                </a:path>
              </a:pathLst>
            </a:custGeom>
            <a:solidFill>
              <a:srgbClr val="003A86"/>
            </a:solidFill>
            <a:ln>
              <a:noFill/>
            </a:ln>
          </p:spPr>
        </p:sp>
        <p:sp>
          <p:nvSpPr>
            <p:cNvPr id="1363" name="Google Shape;1363;p30"/>
            <p:cNvSpPr txBox="1"/>
            <p:nvPr/>
          </p:nvSpPr>
          <p:spPr>
            <a:xfrm>
              <a:off x="0" y="-66675"/>
              <a:ext cx="2748600" cy="2775900"/>
            </a:xfrm>
            <a:prstGeom prst="rect">
              <a:avLst/>
            </a:prstGeom>
            <a:noFill/>
            <a:ln>
              <a:noFill/>
            </a:ln>
          </p:spPr>
          <p:txBody>
            <a:bodyPr spcFirstLastPara="1" wrap="square" lIns="45150" tIns="45150" rIns="45150" bIns="45150" anchor="ctr" anchorCtr="0">
              <a:noAutofit/>
            </a:bodyPr>
            <a:lstStyle/>
            <a:p>
              <a:pPr marL="0" marR="0" lvl="0" indent="0" algn="ctr" rtl="0">
                <a:lnSpc>
                  <a:spcPct val="16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364" name="Google Shape;1364;p30"/>
          <p:cNvSpPr/>
          <p:nvPr/>
        </p:nvSpPr>
        <p:spPr>
          <a:xfrm>
            <a:off x="648689" y="3304219"/>
            <a:ext cx="495765" cy="472836"/>
          </a:xfrm>
          <a:custGeom>
            <a:avLst/>
            <a:gdLst/>
            <a:ahLst/>
            <a:cxnLst/>
            <a:rect l="l" t="t" r="r" b="b"/>
            <a:pathLst>
              <a:path w="557039" h="531276" extrusionOk="0">
                <a:moveTo>
                  <a:pt x="0" y="0"/>
                </a:moveTo>
                <a:lnTo>
                  <a:pt x="557039" y="0"/>
                </a:lnTo>
                <a:lnTo>
                  <a:pt x="557039" y="531276"/>
                </a:lnTo>
                <a:lnTo>
                  <a:pt x="0" y="531276"/>
                </a:lnTo>
                <a:lnTo>
                  <a:pt x="0" y="0"/>
                </a:lnTo>
                <a:close/>
              </a:path>
            </a:pathLst>
          </a:custGeom>
          <a:blipFill rotWithShape="1">
            <a:blip r:embed="rId13" cstate="email">
              <a:alphaModFix/>
              <a:extLst>
                <a:ext uri="{28A0092B-C50C-407E-A947-70E740481C1C}">
                  <a14:useLocalDpi xmlns:a14="http://schemas.microsoft.com/office/drawing/2010/main"/>
                </a:ext>
              </a:extLst>
            </a:blip>
            <a:stretch>
              <a:fillRect/>
            </a:stretch>
          </a:blipFill>
          <a:ln>
            <a:noFill/>
          </a:ln>
        </p:spPr>
      </p:sp>
      <p:sp>
        <p:nvSpPr>
          <p:cNvPr id="1365" name="Google Shape;1365;p30"/>
          <p:cNvSpPr/>
          <p:nvPr/>
        </p:nvSpPr>
        <p:spPr>
          <a:xfrm>
            <a:off x="648689" y="4199684"/>
            <a:ext cx="495765" cy="495765"/>
          </a:xfrm>
          <a:custGeom>
            <a:avLst/>
            <a:gdLst/>
            <a:ahLst/>
            <a:cxnLst/>
            <a:rect l="l" t="t" r="r" b="b"/>
            <a:pathLst>
              <a:path w="557039" h="557039" extrusionOk="0">
                <a:moveTo>
                  <a:pt x="0" y="0"/>
                </a:moveTo>
                <a:lnTo>
                  <a:pt x="557039" y="0"/>
                </a:lnTo>
                <a:lnTo>
                  <a:pt x="557039" y="557039"/>
                </a:lnTo>
                <a:lnTo>
                  <a:pt x="0" y="557039"/>
                </a:lnTo>
                <a:lnTo>
                  <a:pt x="0" y="0"/>
                </a:lnTo>
                <a:close/>
              </a:path>
            </a:pathLst>
          </a:custGeom>
          <a:blipFill rotWithShape="1">
            <a:blip r:embed="rId14" cstate="email">
              <a:alphaModFix/>
              <a:extLst>
                <a:ext uri="{28A0092B-C50C-407E-A947-70E740481C1C}">
                  <a14:useLocalDpi xmlns:a14="http://schemas.microsoft.com/office/drawing/2010/main"/>
                </a:ext>
              </a:extLst>
            </a:blip>
            <a:stretch>
              <a:fillRect/>
            </a:stretch>
          </a:blipFill>
          <a:ln>
            <a:noFill/>
          </a:ln>
        </p:spPr>
      </p:sp>
      <p:sp>
        <p:nvSpPr>
          <p:cNvPr id="1366" name="Google Shape;1366;p30"/>
          <p:cNvSpPr/>
          <p:nvPr/>
        </p:nvSpPr>
        <p:spPr>
          <a:xfrm>
            <a:off x="541124" y="5084296"/>
            <a:ext cx="711164" cy="728380"/>
          </a:xfrm>
          <a:custGeom>
            <a:avLst/>
            <a:gdLst/>
            <a:ahLst/>
            <a:cxnLst/>
            <a:rect l="l" t="t" r="r" b="b"/>
            <a:pathLst>
              <a:path w="799061" h="818405" extrusionOk="0">
                <a:moveTo>
                  <a:pt x="0" y="0"/>
                </a:moveTo>
                <a:lnTo>
                  <a:pt x="799061" y="0"/>
                </a:lnTo>
                <a:lnTo>
                  <a:pt x="799061" y="818405"/>
                </a:lnTo>
                <a:lnTo>
                  <a:pt x="0" y="818405"/>
                </a:lnTo>
                <a:lnTo>
                  <a:pt x="0" y="0"/>
                </a:lnTo>
                <a:close/>
              </a:path>
            </a:pathLst>
          </a:custGeom>
          <a:blipFill rotWithShape="1">
            <a:blip r:embed="rId15" cstate="email">
              <a:alphaModFix/>
              <a:extLst>
                <a:ext uri="{28A0092B-C50C-407E-A947-70E740481C1C}">
                  <a14:useLocalDpi xmlns:a14="http://schemas.microsoft.com/office/drawing/2010/main"/>
                </a:ext>
              </a:extLst>
            </a:blip>
            <a:stretch>
              <a:fillRect/>
            </a:stretch>
          </a:blipFill>
          <a:ln>
            <a:noFill/>
          </a:ln>
        </p:spPr>
      </p:sp>
      <p:sp>
        <p:nvSpPr>
          <p:cNvPr id="1367" name="Google Shape;1367;p30"/>
          <p:cNvSpPr txBox="1"/>
          <p:nvPr/>
        </p:nvSpPr>
        <p:spPr>
          <a:xfrm>
            <a:off x="1389334" y="3287556"/>
            <a:ext cx="16656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Headquartered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in Japan</a:t>
            </a:r>
            <a:endParaRPr sz="1200" b="0" i="0" u="none" strike="noStrike" cap="none">
              <a:solidFill>
                <a:srgbClr val="000000"/>
              </a:solidFill>
              <a:latin typeface="Arial"/>
              <a:ea typeface="Arial"/>
              <a:cs typeface="Arial"/>
              <a:sym typeface="Arial"/>
            </a:endParaRPr>
          </a:p>
        </p:txBody>
      </p:sp>
      <p:sp>
        <p:nvSpPr>
          <p:cNvPr id="1368" name="Google Shape;1368;p30"/>
          <p:cNvSpPr txBox="1"/>
          <p:nvPr/>
        </p:nvSpPr>
        <p:spPr>
          <a:xfrm>
            <a:off x="1389333" y="4165822"/>
            <a:ext cx="27885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Over</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45 years </a:t>
            </a:r>
            <a:r>
              <a:rPr lang="en-US" sz="1500" b="0" i="0" u="none" strike="noStrike" cap="none">
                <a:solidFill>
                  <a:schemeClr val="lt1"/>
                </a:solidFill>
                <a:latin typeface="Inter"/>
                <a:ea typeface="Inter"/>
                <a:cs typeface="Inter"/>
                <a:sym typeface="Inter"/>
              </a:rPr>
              <a:t>in the retail industry</a:t>
            </a:r>
            <a:endParaRPr sz="1200" b="0" i="0" u="none" strike="noStrike" cap="none">
              <a:solidFill>
                <a:schemeClr val="lt1"/>
              </a:solidFill>
              <a:latin typeface="Inter"/>
              <a:ea typeface="Inter"/>
              <a:cs typeface="Inter"/>
              <a:sym typeface="Inter"/>
            </a:endParaRPr>
          </a:p>
        </p:txBody>
      </p:sp>
      <p:sp>
        <p:nvSpPr>
          <p:cNvPr id="1369" name="Google Shape;1369;p30"/>
          <p:cNvSpPr txBox="1"/>
          <p:nvPr/>
        </p:nvSpPr>
        <p:spPr>
          <a:xfrm>
            <a:off x="1392947" y="5218719"/>
            <a:ext cx="26253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2000+ stores in Japan</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Thousands of stores worldwide</a:t>
            </a:r>
            <a:endParaRPr sz="1200" b="0" i="0" u="none" strike="noStrike" cap="none">
              <a:solidFill>
                <a:srgbClr val="000000"/>
              </a:solidFill>
              <a:latin typeface="Arial"/>
              <a:ea typeface="Arial"/>
              <a:cs typeface="Arial"/>
              <a:sym typeface="Arial"/>
            </a:endParaRPr>
          </a:p>
        </p:txBody>
      </p:sp>
      <p:sp>
        <p:nvSpPr>
          <p:cNvPr id="1370" name="Google Shape;1370;p30"/>
          <p:cNvSpPr txBox="1"/>
          <p:nvPr/>
        </p:nvSpPr>
        <p:spPr>
          <a:xfrm>
            <a:off x="561124" y="2154620"/>
            <a:ext cx="3339600" cy="665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0" i="0" u="none" strike="noStrike" cap="none">
                <a:solidFill>
                  <a:srgbClr val="FFFFFF"/>
                </a:solidFill>
                <a:latin typeface="Inter"/>
                <a:ea typeface="Inter"/>
                <a:cs typeface="Inter"/>
                <a:sym typeface="Inter"/>
              </a:rPr>
              <a:t>A Japanese leading convenience store chains</a:t>
            </a:r>
            <a:endParaRPr sz="1200" b="0" i="0" u="none" strike="noStrike" cap="none">
              <a:solidFill>
                <a:srgbClr val="000000"/>
              </a:solidFill>
              <a:latin typeface="Arial"/>
              <a:ea typeface="Arial"/>
              <a:cs typeface="Arial"/>
              <a:sym typeface="Arial"/>
            </a:endParaRPr>
          </a:p>
        </p:txBody>
      </p:sp>
      <p:sp>
        <p:nvSpPr>
          <p:cNvPr id="1371" name="Google Shape;1371;p30"/>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6" cstate="email">
              <a:alphaModFix/>
              <a:extLst>
                <a:ext uri="{28A0092B-C50C-407E-A947-70E740481C1C}">
                  <a14:useLocalDpi xmlns:a14="http://schemas.microsoft.com/office/drawing/2010/main"/>
                </a:ext>
              </a:extLst>
            </a:blip>
            <a:stretch>
              <a:fillRect b="-5"/>
            </a:stretch>
          </a:blipFill>
          <a:ln>
            <a:noFill/>
          </a:ln>
        </p:spPr>
      </p:sp>
      <p:grpSp>
        <p:nvGrpSpPr>
          <p:cNvPr id="1372" name="Google Shape;1372;p30"/>
          <p:cNvGrpSpPr/>
          <p:nvPr/>
        </p:nvGrpSpPr>
        <p:grpSpPr>
          <a:xfrm>
            <a:off x="872534" y="8351050"/>
            <a:ext cx="846442" cy="699635"/>
            <a:chOff x="0" y="0"/>
            <a:chExt cx="1269600" cy="1049400"/>
          </a:xfrm>
        </p:grpSpPr>
        <p:sp>
          <p:nvSpPr>
            <p:cNvPr id="1373" name="Google Shape;1373;p30"/>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374" name="Google Shape;1374;p30"/>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b="0" i="0" u="none" strike="noStrike" cap="none" dirty="0">
                  <a:solidFill>
                    <a:schemeClr val="lt1"/>
                  </a:solidFill>
                  <a:latin typeface="Inter"/>
                  <a:ea typeface="Inter"/>
                  <a:cs typeface="Inter"/>
                  <a:sym typeface="Inter"/>
                </a:rPr>
                <a:t>22</a:t>
              </a:r>
              <a:endParaRPr sz="1200" b="0" i="0" u="none" strike="noStrike" cap="none" dirty="0">
                <a:solidFill>
                  <a:schemeClr val="lt1"/>
                </a:solidFill>
                <a:latin typeface="Arial"/>
                <a:ea typeface="Arial"/>
                <a:cs typeface="Arial"/>
                <a:sym typeface="Arial"/>
              </a:endParaRPr>
            </a:p>
          </p:txBody>
        </p:sp>
      </p:grpSp>
      <p:grpSp>
        <p:nvGrpSpPr>
          <p:cNvPr id="2" name="Google Shape;1311;p29">
            <a:extLst>
              <a:ext uri="{FF2B5EF4-FFF2-40B4-BE49-F238E27FC236}">
                <a16:creationId xmlns:a16="http://schemas.microsoft.com/office/drawing/2014/main" id="{09D4CB05-27F7-277A-8FCF-71E22811E770}"/>
              </a:ext>
            </a:extLst>
          </p:cNvPr>
          <p:cNvGrpSpPr/>
          <p:nvPr/>
        </p:nvGrpSpPr>
        <p:grpSpPr>
          <a:xfrm>
            <a:off x="1395688" y="647442"/>
            <a:ext cx="922772" cy="955213"/>
            <a:chOff x="0" y="-28575"/>
            <a:chExt cx="812800" cy="841375"/>
          </a:xfrm>
        </p:grpSpPr>
        <p:sp>
          <p:nvSpPr>
            <p:cNvPr id="3" name="Google Shape;1312;p29">
              <a:extLst>
                <a:ext uri="{FF2B5EF4-FFF2-40B4-BE49-F238E27FC236}">
                  <a16:creationId xmlns:a16="http://schemas.microsoft.com/office/drawing/2014/main" id="{637C8BB2-F631-FAED-6B2C-7C342DC801E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Google Shape;1313;p29">
              <a:extLst>
                <a:ext uri="{FF2B5EF4-FFF2-40B4-BE49-F238E27FC236}">
                  <a16:creationId xmlns:a16="http://schemas.microsoft.com/office/drawing/2014/main" id="{5636246A-1F37-489C-0B92-600E4670AB84}"/>
                </a:ext>
              </a:extLst>
            </p:cNvPr>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5" name="Google Shape;1314;p29">
            <a:extLst>
              <a:ext uri="{FF2B5EF4-FFF2-40B4-BE49-F238E27FC236}">
                <a16:creationId xmlns:a16="http://schemas.microsoft.com/office/drawing/2014/main" id="{3F05607F-0B1F-D637-03B8-6F78C323C04B}"/>
              </a:ext>
            </a:extLst>
          </p:cNvPr>
          <p:cNvSpPr txBox="1"/>
          <p:nvPr/>
        </p:nvSpPr>
        <p:spPr>
          <a:xfrm>
            <a:off x="1635974" y="925024"/>
            <a:ext cx="442200" cy="40005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dirty="0">
                <a:solidFill>
                  <a:schemeClr val="dk2"/>
                </a:solidFill>
                <a:latin typeface="Inter"/>
                <a:ea typeface="Inter"/>
                <a:cs typeface="Inter"/>
                <a:sym typeface="Inter"/>
              </a:rPr>
              <a:t>0</a:t>
            </a:r>
            <a:r>
              <a:rPr lang="en-US" sz="2600" b="1" dirty="0">
                <a:solidFill>
                  <a:schemeClr val="dk2"/>
                </a:solidFill>
                <a:latin typeface="Inter"/>
                <a:ea typeface="Inter"/>
                <a:cs typeface="Inter"/>
                <a:sym typeface="Inter"/>
              </a:rPr>
              <a:t>1</a:t>
            </a:r>
            <a:endParaRPr sz="1800" b="0" i="0" u="none" strike="noStrike" cap="none" dirty="0">
              <a:solidFill>
                <a:schemeClr val="dk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78"/>
        <p:cNvGrpSpPr/>
        <p:nvPr/>
      </p:nvGrpSpPr>
      <p:grpSpPr>
        <a:xfrm>
          <a:off x="0" y="0"/>
          <a:ext cx="0" cy="0"/>
          <a:chOff x="0" y="0"/>
          <a:chExt cx="0" cy="0"/>
        </a:xfrm>
      </p:grpSpPr>
      <p:sp>
        <p:nvSpPr>
          <p:cNvPr id="1379" name="Google Shape;1379;p31"/>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3" cstate="email">
              <a:alphaModFix amt="46000"/>
              <a:extLst>
                <a:ext uri="{28A0092B-C50C-407E-A947-70E740481C1C}">
                  <a14:useLocalDpi xmlns:a14="http://schemas.microsoft.com/office/drawing/2010/main"/>
                </a:ext>
              </a:extLst>
            </a:blip>
            <a:stretch>
              <a:fillRect/>
            </a:stretch>
          </a:blipFill>
          <a:ln>
            <a:noFill/>
          </a:ln>
        </p:spPr>
      </p:sp>
      <p:grpSp>
        <p:nvGrpSpPr>
          <p:cNvPr id="1380" name="Google Shape;1380;p31"/>
          <p:cNvGrpSpPr/>
          <p:nvPr/>
        </p:nvGrpSpPr>
        <p:grpSpPr>
          <a:xfrm>
            <a:off x="-255740" y="342242"/>
            <a:ext cx="4488607" cy="1245853"/>
            <a:chOff x="0" y="-28575"/>
            <a:chExt cx="812800" cy="225600"/>
          </a:xfrm>
        </p:grpSpPr>
        <p:sp>
          <p:nvSpPr>
            <p:cNvPr id="1381" name="Google Shape;1381;p31"/>
            <p:cNvSpPr/>
            <p:nvPr/>
          </p:nvSpPr>
          <p:spPr>
            <a:xfrm>
              <a:off x="0" y="0"/>
              <a:ext cx="812800" cy="197009"/>
            </a:xfrm>
            <a:custGeom>
              <a:avLst/>
              <a:gdLst/>
              <a:ahLst/>
              <a:cxnLst/>
              <a:rect l="l" t="t" r="r" b="b"/>
              <a:pathLst>
                <a:path w="812800" h="197009" extrusionOk="0">
                  <a:moveTo>
                    <a:pt x="0" y="0"/>
                  </a:moveTo>
                  <a:lnTo>
                    <a:pt x="812800" y="0"/>
                  </a:lnTo>
                  <a:lnTo>
                    <a:pt x="812800" y="197009"/>
                  </a:lnTo>
                  <a:lnTo>
                    <a:pt x="0" y="197009"/>
                  </a:lnTo>
                  <a:close/>
                </a:path>
              </a:pathLst>
            </a:custGeom>
            <a:solidFill>
              <a:srgbClr val="003A86"/>
            </a:solidFill>
            <a:ln>
              <a:noFill/>
            </a:ln>
          </p:spPr>
        </p:sp>
        <p:sp>
          <p:nvSpPr>
            <p:cNvPr id="1382" name="Google Shape;1382;p31"/>
            <p:cNvSpPr txBox="1"/>
            <p:nvPr/>
          </p:nvSpPr>
          <p:spPr>
            <a:xfrm>
              <a:off x="0" y="-28575"/>
              <a:ext cx="812700" cy="2256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383" name="Google Shape;1383;p31"/>
          <p:cNvGrpSpPr/>
          <p:nvPr/>
        </p:nvGrpSpPr>
        <p:grpSpPr>
          <a:xfrm>
            <a:off x="2722007" y="5543355"/>
            <a:ext cx="304763" cy="181683"/>
            <a:chOff x="0" y="-28575"/>
            <a:chExt cx="90300" cy="53832"/>
          </a:xfrm>
        </p:grpSpPr>
        <p:sp>
          <p:nvSpPr>
            <p:cNvPr id="1384" name="Google Shape;1384;p31"/>
            <p:cNvSpPr/>
            <p:nvPr/>
          </p:nvSpPr>
          <p:spPr>
            <a:xfrm>
              <a:off x="0" y="0"/>
              <a:ext cx="90171" cy="25257"/>
            </a:xfrm>
            <a:custGeom>
              <a:avLst/>
              <a:gdLst/>
              <a:ahLst/>
              <a:cxnLst/>
              <a:rect l="l" t="t" r="r" b="b"/>
              <a:pathLst>
                <a:path w="90171" h="25257" extrusionOk="0">
                  <a:moveTo>
                    <a:pt x="0" y="0"/>
                  </a:moveTo>
                  <a:lnTo>
                    <a:pt x="90171" y="0"/>
                  </a:lnTo>
                  <a:lnTo>
                    <a:pt x="90171" y="25257"/>
                  </a:lnTo>
                  <a:lnTo>
                    <a:pt x="0" y="25257"/>
                  </a:lnTo>
                  <a:close/>
                </a:path>
              </a:pathLst>
            </a:custGeom>
            <a:solidFill>
              <a:srgbClr val="FFFFFF"/>
            </a:solidFill>
            <a:ln>
              <a:noFill/>
            </a:ln>
          </p:spPr>
        </p:sp>
        <p:sp>
          <p:nvSpPr>
            <p:cNvPr id="1385" name="Google Shape;1385;p31"/>
            <p:cNvSpPr txBox="1"/>
            <p:nvPr/>
          </p:nvSpPr>
          <p:spPr>
            <a:xfrm>
              <a:off x="0" y="-28575"/>
              <a:ext cx="90300" cy="53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386" name="Google Shape;1386;p31"/>
          <p:cNvSpPr txBox="1"/>
          <p:nvPr/>
        </p:nvSpPr>
        <p:spPr>
          <a:xfrm>
            <a:off x="475866" y="648915"/>
            <a:ext cx="3565500" cy="812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200"/>
              <a:buFont typeface="Arial"/>
              <a:buNone/>
            </a:pPr>
            <a:r>
              <a:rPr lang="en-US" sz="2200" b="1" i="0" u="none" strike="noStrike" cap="none">
                <a:solidFill>
                  <a:srgbClr val="EEEEEE"/>
                </a:solidFill>
                <a:latin typeface="Inter"/>
                <a:ea typeface="Inter"/>
                <a:cs typeface="Inter"/>
                <a:sym typeface="Inter"/>
              </a:rPr>
              <a:t>Procurement Management System</a:t>
            </a:r>
            <a:endParaRPr sz="1200" b="0" i="0" u="none" strike="noStrike" cap="none">
              <a:solidFill>
                <a:srgbClr val="000000"/>
              </a:solidFill>
              <a:latin typeface="Arial"/>
              <a:ea typeface="Arial"/>
              <a:cs typeface="Arial"/>
              <a:sym typeface="Arial"/>
            </a:endParaRPr>
          </a:p>
        </p:txBody>
      </p:sp>
      <p:sp>
        <p:nvSpPr>
          <p:cNvPr id="1387" name="Google Shape;1387;p31"/>
          <p:cNvSpPr txBox="1"/>
          <p:nvPr/>
        </p:nvSpPr>
        <p:spPr>
          <a:xfrm>
            <a:off x="4628364" y="569750"/>
            <a:ext cx="115596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600"/>
              <a:buFont typeface="Arial"/>
              <a:buNone/>
            </a:pPr>
            <a:r>
              <a:rPr lang="en-US" sz="2600" b="0" i="0" u="none" strike="noStrike" cap="none">
                <a:solidFill>
                  <a:srgbClr val="004AAD"/>
                </a:solidFill>
                <a:latin typeface="Inter"/>
                <a:ea typeface="Inter"/>
                <a:cs typeface="Inter"/>
                <a:sym typeface="Inter"/>
              </a:rPr>
              <a:t>CASE STUDY |</a:t>
            </a:r>
            <a:r>
              <a:rPr lang="en-US" sz="2600" b="1" i="0" u="none" strike="noStrike" cap="none">
                <a:solidFill>
                  <a:srgbClr val="004AAD"/>
                </a:solidFill>
                <a:latin typeface="Inter"/>
                <a:ea typeface="Inter"/>
                <a:cs typeface="Inter"/>
                <a:sym typeface="Inter"/>
              </a:rPr>
              <a:t> PROCUREMENT MANAGEMENT SYSTEM IN RETAIL - FOR SMARTER INVENTORY CONTROL  (3/4)</a:t>
            </a:r>
            <a:endParaRPr sz="1200" b="0" i="0" u="none" strike="noStrike" cap="none">
              <a:solidFill>
                <a:srgbClr val="000000"/>
              </a:solidFill>
              <a:latin typeface="Arial"/>
              <a:ea typeface="Arial"/>
              <a:cs typeface="Arial"/>
              <a:sym typeface="Arial"/>
            </a:endParaRPr>
          </a:p>
        </p:txBody>
      </p:sp>
      <p:grpSp>
        <p:nvGrpSpPr>
          <p:cNvPr id="1388" name="Google Shape;1388;p31"/>
          <p:cNvGrpSpPr/>
          <p:nvPr/>
        </p:nvGrpSpPr>
        <p:grpSpPr>
          <a:xfrm>
            <a:off x="3820636" y="1973068"/>
            <a:ext cx="5949643" cy="6047314"/>
            <a:chOff x="0" y="-9525"/>
            <a:chExt cx="1925700" cy="1957313"/>
          </a:xfrm>
        </p:grpSpPr>
        <p:sp>
          <p:nvSpPr>
            <p:cNvPr id="1389" name="Google Shape;1389;p31"/>
            <p:cNvSpPr/>
            <p:nvPr/>
          </p:nvSpPr>
          <p:spPr>
            <a:xfrm>
              <a:off x="0" y="0"/>
              <a:ext cx="1925690" cy="1947788"/>
            </a:xfrm>
            <a:custGeom>
              <a:avLst/>
              <a:gdLst/>
              <a:ahLst/>
              <a:cxnLst/>
              <a:rect l="l" t="t" r="r" b="b"/>
              <a:pathLst>
                <a:path w="1925690" h="1947788" extrusionOk="0">
                  <a:moveTo>
                    <a:pt x="0" y="0"/>
                  </a:moveTo>
                  <a:lnTo>
                    <a:pt x="1925690" y="0"/>
                  </a:lnTo>
                  <a:lnTo>
                    <a:pt x="1925690" y="1947788"/>
                  </a:lnTo>
                  <a:lnTo>
                    <a:pt x="0" y="1947788"/>
                  </a:lnTo>
                  <a:close/>
                </a:path>
              </a:pathLst>
            </a:custGeom>
            <a:solidFill>
              <a:srgbClr val="000000">
                <a:alpha val="0"/>
              </a:srgbClr>
            </a:solidFill>
            <a:ln w="9525" cap="sq" cmpd="sng">
              <a:solidFill>
                <a:srgbClr val="000000"/>
              </a:solidFill>
              <a:prstDash val="dash"/>
              <a:miter lim="8000"/>
              <a:headEnd type="none" w="sm" len="sm"/>
              <a:tailEnd type="none" w="sm" len="sm"/>
            </a:ln>
          </p:spPr>
        </p:sp>
        <p:sp>
          <p:nvSpPr>
            <p:cNvPr id="1390" name="Google Shape;1390;p31"/>
            <p:cNvSpPr txBox="1"/>
            <p:nvPr/>
          </p:nvSpPr>
          <p:spPr>
            <a:xfrm>
              <a:off x="0" y="-9525"/>
              <a:ext cx="1925700" cy="19572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391" name="Google Shape;1391;p31"/>
          <p:cNvGrpSpPr/>
          <p:nvPr/>
        </p:nvGrpSpPr>
        <p:grpSpPr>
          <a:xfrm>
            <a:off x="348697" y="1973068"/>
            <a:ext cx="2016891" cy="6047314"/>
            <a:chOff x="0" y="-9525"/>
            <a:chExt cx="652800" cy="1957313"/>
          </a:xfrm>
        </p:grpSpPr>
        <p:sp>
          <p:nvSpPr>
            <p:cNvPr id="1392" name="Google Shape;1392;p31"/>
            <p:cNvSpPr/>
            <p:nvPr/>
          </p:nvSpPr>
          <p:spPr>
            <a:xfrm>
              <a:off x="0" y="0"/>
              <a:ext cx="652666" cy="1947788"/>
            </a:xfrm>
            <a:custGeom>
              <a:avLst/>
              <a:gdLst/>
              <a:ahLst/>
              <a:cxnLst/>
              <a:rect l="l" t="t" r="r" b="b"/>
              <a:pathLst>
                <a:path w="652666" h="1947788" extrusionOk="0">
                  <a:moveTo>
                    <a:pt x="0" y="0"/>
                  </a:moveTo>
                  <a:lnTo>
                    <a:pt x="652666" y="0"/>
                  </a:lnTo>
                  <a:lnTo>
                    <a:pt x="652666" y="1947788"/>
                  </a:lnTo>
                  <a:lnTo>
                    <a:pt x="0" y="1947788"/>
                  </a:lnTo>
                  <a:close/>
                </a:path>
              </a:pathLst>
            </a:custGeom>
            <a:solidFill>
              <a:srgbClr val="ACC2E3">
                <a:alpha val="18823"/>
              </a:srgbClr>
            </a:solidFill>
            <a:ln w="19050" cap="sq" cmpd="sng">
              <a:solidFill>
                <a:srgbClr val="000000">
                  <a:alpha val="18823"/>
                </a:srgbClr>
              </a:solidFill>
              <a:prstDash val="dash"/>
              <a:miter lim="8000"/>
              <a:headEnd type="none" w="sm" len="sm"/>
              <a:tailEnd type="none" w="sm" len="sm"/>
            </a:ln>
          </p:spPr>
        </p:sp>
        <p:sp>
          <p:nvSpPr>
            <p:cNvPr id="1393" name="Google Shape;1393;p31"/>
            <p:cNvSpPr txBox="1"/>
            <p:nvPr/>
          </p:nvSpPr>
          <p:spPr>
            <a:xfrm>
              <a:off x="0" y="-9525"/>
              <a:ext cx="652800" cy="19572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394" name="Google Shape;1394;p31"/>
          <p:cNvSpPr/>
          <p:nvPr/>
        </p:nvSpPr>
        <p:spPr>
          <a:xfrm>
            <a:off x="433566" y="4864596"/>
            <a:ext cx="438821" cy="438821"/>
          </a:xfrm>
          <a:custGeom>
            <a:avLst/>
            <a:gdLst/>
            <a:ahLst/>
            <a:cxnLst/>
            <a:rect l="l" t="t" r="r" b="b"/>
            <a:pathLst>
              <a:path w="493057" h="493057" extrusionOk="0">
                <a:moveTo>
                  <a:pt x="0" y="0"/>
                </a:moveTo>
                <a:lnTo>
                  <a:pt x="493058" y="0"/>
                </a:lnTo>
                <a:lnTo>
                  <a:pt x="493058" y="493058"/>
                </a:lnTo>
                <a:lnTo>
                  <a:pt x="0" y="493058"/>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sp>
        <p:nvSpPr>
          <p:cNvPr id="1395" name="Google Shape;1395;p31"/>
          <p:cNvSpPr/>
          <p:nvPr/>
        </p:nvSpPr>
        <p:spPr>
          <a:xfrm>
            <a:off x="1135748" y="4864596"/>
            <a:ext cx="438821" cy="438821"/>
          </a:xfrm>
          <a:custGeom>
            <a:avLst/>
            <a:gdLst/>
            <a:ahLst/>
            <a:cxnLst/>
            <a:rect l="l" t="t" r="r" b="b"/>
            <a:pathLst>
              <a:path w="493057" h="493057" extrusionOk="0">
                <a:moveTo>
                  <a:pt x="0" y="0"/>
                </a:moveTo>
                <a:lnTo>
                  <a:pt x="493058" y="0"/>
                </a:lnTo>
                <a:lnTo>
                  <a:pt x="493058" y="493058"/>
                </a:lnTo>
                <a:lnTo>
                  <a:pt x="0" y="493058"/>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sp>
        <p:nvSpPr>
          <p:cNvPr id="1396" name="Google Shape;1396;p31"/>
          <p:cNvSpPr/>
          <p:nvPr/>
        </p:nvSpPr>
        <p:spPr>
          <a:xfrm>
            <a:off x="1842046" y="4864596"/>
            <a:ext cx="438821" cy="438821"/>
          </a:xfrm>
          <a:custGeom>
            <a:avLst/>
            <a:gdLst/>
            <a:ahLst/>
            <a:cxnLst/>
            <a:rect l="l" t="t" r="r" b="b"/>
            <a:pathLst>
              <a:path w="493057" h="493057" extrusionOk="0">
                <a:moveTo>
                  <a:pt x="0" y="0"/>
                </a:moveTo>
                <a:lnTo>
                  <a:pt x="493057" y="0"/>
                </a:lnTo>
                <a:lnTo>
                  <a:pt x="493057" y="493058"/>
                </a:lnTo>
                <a:lnTo>
                  <a:pt x="0" y="493058"/>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sp>
        <p:nvSpPr>
          <p:cNvPr id="1397" name="Google Shape;1397;p31"/>
          <p:cNvSpPr/>
          <p:nvPr/>
        </p:nvSpPr>
        <p:spPr>
          <a:xfrm>
            <a:off x="994688" y="3576560"/>
            <a:ext cx="721294" cy="687934"/>
          </a:xfrm>
          <a:custGeom>
            <a:avLst/>
            <a:gdLst/>
            <a:ahLst/>
            <a:cxnLst/>
            <a:rect l="l" t="t" r="r" b="b"/>
            <a:pathLst>
              <a:path w="810443" h="772960" extrusionOk="0">
                <a:moveTo>
                  <a:pt x="0" y="0"/>
                </a:moveTo>
                <a:lnTo>
                  <a:pt x="810443" y="0"/>
                </a:lnTo>
                <a:lnTo>
                  <a:pt x="810443" y="772960"/>
                </a:lnTo>
                <a:lnTo>
                  <a:pt x="0" y="772960"/>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cxnSp>
        <p:nvCxnSpPr>
          <p:cNvPr id="1398" name="Google Shape;1398;p31"/>
          <p:cNvCxnSpPr/>
          <p:nvPr/>
        </p:nvCxnSpPr>
        <p:spPr>
          <a:xfrm>
            <a:off x="1354884" y="4263636"/>
            <a:ext cx="2100" cy="286200"/>
          </a:xfrm>
          <a:prstGeom prst="straightConnector1">
            <a:avLst/>
          </a:prstGeom>
          <a:noFill/>
          <a:ln w="19050" cap="flat" cmpd="sng">
            <a:solidFill>
              <a:srgbClr val="000000"/>
            </a:solidFill>
            <a:prstDash val="solid"/>
            <a:round/>
            <a:headEnd type="none" w="sm" len="sm"/>
            <a:tailEnd type="none" w="sm" len="sm"/>
          </a:ln>
        </p:spPr>
      </p:cxnSp>
      <p:cxnSp>
        <p:nvCxnSpPr>
          <p:cNvPr id="1399" name="Google Shape;1399;p31"/>
          <p:cNvCxnSpPr/>
          <p:nvPr/>
        </p:nvCxnSpPr>
        <p:spPr>
          <a:xfrm rot="10800000">
            <a:off x="650112" y="4549902"/>
            <a:ext cx="1412100" cy="0"/>
          </a:xfrm>
          <a:prstGeom prst="straightConnector1">
            <a:avLst/>
          </a:prstGeom>
          <a:noFill/>
          <a:ln w="19050" cap="flat" cmpd="sng">
            <a:solidFill>
              <a:srgbClr val="000000"/>
            </a:solidFill>
            <a:prstDash val="solid"/>
            <a:round/>
            <a:headEnd type="none" w="sm" len="sm"/>
            <a:tailEnd type="none" w="sm" len="sm"/>
          </a:ln>
        </p:spPr>
      </p:cxnSp>
      <p:cxnSp>
        <p:nvCxnSpPr>
          <p:cNvPr id="1400" name="Google Shape;1400;p31"/>
          <p:cNvCxnSpPr/>
          <p:nvPr/>
        </p:nvCxnSpPr>
        <p:spPr>
          <a:xfrm>
            <a:off x="660586" y="4549958"/>
            <a:ext cx="2100" cy="286200"/>
          </a:xfrm>
          <a:prstGeom prst="straightConnector1">
            <a:avLst/>
          </a:prstGeom>
          <a:noFill/>
          <a:ln w="19050" cap="flat" cmpd="sng">
            <a:solidFill>
              <a:srgbClr val="000000"/>
            </a:solidFill>
            <a:prstDash val="solid"/>
            <a:round/>
            <a:headEnd type="none" w="sm" len="sm"/>
            <a:tailEnd type="none" w="sm" len="sm"/>
          </a:ln>
        </p:spPr>
      </p:cxnSp>
      <p:cxnSp>
        <p:nvCxnSpPr>
          <p:cNvPr id="1401" name="Google Shape;1401;p31"/>
          <p:cNvCxnSpPr/>
          <p:nvPr/>
        </p:nvCxnSpPr>
        <p:spPr>
          <a:xfrm>
            <a:off x="1355914" y="4550015"/>
            <a:ext cx="2100" cy="286200"/>
          </a:xfrm>
          <a:prstGeom prst="straightConnector1">
            <a:avLst/>
          </a:prstGeom>
          <a:noFill/>
          <a:ln w="19050" cap="flat" cmpd="sng">
            <a:solidFill>
              <a:srgbClr val="000000"/>
            </a:solidFill>
            <a:prstDash val="solid"/>
            <a:round/>
            <a:headEnd type="none" w="sm" len="sm"/>
            <a:tailEnd type="none" w="sm" len="sm"/>
          </a:ln>
        </p:spPr>
      </p:cxnSp>
      <p:cxnSp>
        <p:nvCxnSpPr>
          <p:cNvPr id="1402" name="Google Shape;1402;p31"/>
          <p:cNvCxnSpPr/>
          <p:nvPr/>
        </p:nvCxnSpPr>
        <p:spPr>
          <a:xfrm>
            <a:off x="2060154" y="4549902"/>
            <a:ext cx="2100" cy="286200"/>
          </a:xfrm>
          <a:prstGeom prst="straightConnector1">
            <a:avLst/>
          </a:prstGeom>
          <a:noFill/>
          <a:ln w="19050" cap="flat" cmpd="sng">
            <a:solidFill>
              <a:srgbClr val="000000"/>
            </a:solidFill>
            <a:prstDash val="solid"/>
            <a:round/>
            <a:headEnd type="none" w="sm" len="sm"/>
            <a:tailEnd type="none" w="sm" len="sm"/>
          </a:ln>
        </p:spPr>
      </p:cxnSp>
      <p:grpSp>
        <p:nvGrpSpPr>
          <p:cNvPr id="1403" name="Google Shape;1403;p31"/>
          <p:cNvGrpSpPr/>
          <p:nvPr/>
        </p:nvGrpSpPr>
        <p:grpSpPr>
          <a:xfrm>
            <a:off x="11209567" y="1973068"/>
            <a:ext cx="2242123" cy="6047314"/>
            <a:chOff x="0" y="-9525"/>
            <a:chExt cx="725700" cy="1957313"/>
          </a:xfrm>
        </p:grpSpPr>
        <p:sp>
          <p:nvSpPr>
            <p:cNvPr id="1404" name="Google Shape;1404;p31"/>
            <p:cNvSpPr/>
            <p:nvPr/>
          </p:nvSpPr>
          <p:spPr>
            <a:xfrm>
              <a:off x="0" y="0"/>
              <a:ext cx="725648" cy="1947788"/>
            </a:xfrm>
            <a:custGeom>
              <a:avLst/>
              <a:gdLst/>
              <a:ahLst/>
              <a:cxnLst/>
              <a:rect l="l" t="t" r="r" b="b"/>
              <a:pathLst>
                <a:path w="725648" h="1947788" extrusionOk="0">
                  <a:moveTo>
                    <a:pt x="0" y="0"/>
                  </a:moveTo>
                  <a:lnTo>
                    <a:pt x="725648" y="0"/>
                  </a:lnTo>
                  <a:lnTo>
                    <a:pt x="725648" y="1947788"/>
                  </a:lnTo>
                  <a:lnTo>
                    <a:pt x="0" y="1947788"/>
                  </a:lnTo>
                  <a:close/>
                </a:path>
              </a:pathLst>
            </a:custGeom>
            <a:solidFill>
              <a:srgbClr val="ACC2E3">
                <a:alpha val="18823"/>
              </a:srgbClr>
            </a:solidFill>
            <a:ln w="19050" cap="sq" cmpd="sng">
              <a:solidFill>
                <a:srgbClr val="000000">
                  <a:alpha val="18823"/>
                </a:srgbClr>
              </a:solidFill>
              <a:prstDash val="dash"/>
              <a:miter lim="8000"/>
              <a:headEnd type="none" w="sm" len="sm"/>
              <a:tailEnd type="none" w="sm" len="sm"/>
            </a:ln>
          </p:spPr>
        </p:sp>
        <p:sp>
          <p:nvSpPr>
            <p:cNvPr id="1405" name="Google Shape;1405;p31"/>
            <p:cNvSpPr txBox="1"/>
            <p:nvPr/>
          </p:nvSpPr>
          <p:spPr>
            <a:xfrm>
              <a:off x="0" y="-9525"/>
              <a:ext cx="725700" cy="19572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406" name="Google Shape;1406;p31"/>
          <p:cNvSpPr/>
          <p:nvPr/>
        </p:nvSpPr>
        <p:spPr>
          <a:xfrm>
            <a:off x="11467402" y="3576560"/>
            <a:ext cx="1728468" cy="1728468"/>
          </a:xfrm>
          <a:custGeom>
            <a:avLst/>
            <a:gdLst/>
            <a:ahLst/>
            <a:cxnLst/>
            <a:rect l="l" t="t" r="r" b="b"/>
            <a:pathLst>
              <a:path w="1942099" h="1942099" extrusionOk="0">
                <a:moveTo>
                  <a:pt x="0" y="0"/>
                </a:moveTo>
                <a:lnTo>
                  <a:pt x="1942099" y="0"/>
                </a:lnTo>
                <a:lnTo>
                  <a:pt x="1942099" y="1942099"/>
                </a:lnTo>
                <a:lnTo>
                  <a:pt x="0" y="1942099"/>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407" name="Google Shape;1407;p31"/>
          <p:cNvSpPr txBox="1"/>
          <p:nvPr/>
        </p:nvSpPr>
        <p:spPr>
          <a:xfrm>
            <a:off x="326993" y="5711977"/>
            <a:ext cx="2137200" cy="23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234F"/>
                </a:solidFill>
                <a:latin typeface="Inter"/>
                <a:ea typeface="Inter"/>
                <a:cs typeface="Inter"/>
                <a:sym typeface="Inter"/>
              </a:rPr>
              <a:t>Client</a:t>
            </a:r>
            <a:endParaRPr sz="1200" b="0" i="0" u="none" strike="noStrike" cap="none">
              <a:solidFill>
                <a:srgbClr val="000000"/>
              </a:solidFill>
              <a:latin typeface="Arial"/>
              <a:ea typeface="Arial"/>
              <a:cs typeface="Arial"/>
              <a:sym typeface="Arial"/>
            </a:endParaRPr>
          </a:p>
        </p:txBody>
      </p:sp>
      <p:sp>
        <p:nvSpPr>
          <p:cNvPr id="1408" name="Google Shape;1408;p31"/>
          <p:cNvSpPr txBox="1"/>
          <p:nvPr/>
        </p:nvSpPr>
        <p:spPr>
          <a:xfrm>
            <a:off x="11261884" y="5711977"/>
            <a:ext cx="2137200" cy="23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234F"/>
                </a:solidFill>
                <a:latin typeface="Inter"/>
                <a:ea typeface="Inter"/>
                <a:cs typeface="Inter"/>
                <a:sym typeface="Inter"/>
              </a:rPr>
              <a:t>Suppliers</a:t>
            </a:r>
            <a:endParaRPr sz="1200" b="0" i="0" u="none" strike="noStrike" cap="none">
              <a:solidFill>
                <a:srgbClr val="000000"/>
              </a:solidFill>
              <a:latin typeface="Arial"/>
              <a:ea typeface="Arial"/>
              <a:cs typeface="Arial"/>
              <a:sym typeface="Arial"/>
            </a:endParaRPr>
          </a:p>
        </p:txBody>
      </p:sp>
      <p:grpSp>
        <p:nvGrpSpPr>
          <p:cNvPr id="1409" name="Google Shape;1409;p31"/>
          <p:cNvGrpSpPr/>
          <p:nvPr/>
        </p:nvGrpSpPr>
        <p:grpSpPr>
          <a:xfrm>
            <a:off x="3964778" y="2990379"/>
            <a:ext cx="5661383" cy="2773855"/>
            <a:chOff x="0" y="-9525"/>
            <a:chExt cx="1832400" cy="972600"/>
          </a:xfrm>
        </p:grpSpPr>
        <p:sp>
          <p:nvSpPr>
            <p:cNvPr id="1410" name="Google Shape;1410;p31"/>
            <p:cNvSpPr/>
            <p:nvPr/>
          </p:nvSpPr>
          <p:spPr>
            <a:xfrm>
              <a:off x="0" y="0"/>
              <a:ext cx="1832385" cy="963010"/>
            </a:xfrm>
            <a:custGeom>
              <a:avLst/>
              <a:gdLst/>
              <a:ahLst/>
              <a:cxnLst/>
              <a:rect l="l" t="t" r="r" b="b"/>
              <a:pathLst>
                <a:path w="1832385" h="963010" extrusionOk="0">
                  <a:moveTo>
                    <a:pt x="0" y="0"/>
                  </a:moveTo>
                  <a:lnTo>
                    <a:pt x="1832385" y="0"/>
                  </a:lnTo>
                  <a:lnTo>
                    <a:pt x="1832385" y="963010"/>
                  </a:lnTo>
                  <a:lnTo>
                    <a:pt x="0" y="963010"/>
                  </a:lnTo>
                  <a:close/>
                </a:path>
              </a:pathLst>
            </a:custGeom>
            <a:solidFill>
              <a:srgbClr val="ACC2E3">
                <a:alpha val="18823"/>
              </a:srgbClr>
            </a:solidFill>
            <a:ln w="9525" cap="sq" cmpd="sng">
              <a:solidFill>
                <a:srgbClr val="000000">
                  <a:alpha val="18823"/>
                </a:srgbClr>
              </a:solidFill>
              <a:prstDash val="dash"/>
              <a:miter lim="8000"/>
              <a:headEnd type="none" w="sm" len="sm"/>
              <a:tailEnd type="none" w="sm" len="sm"/>
            </a:ln>
          </p:spPr>
        </p:sp>
        <p:sp>
          <p:nvSpPr>
            <p:cNvPr id="1411" name="Google Shape;1411;p31"/>
            <p:cNvSpPr txBox="1"/>
            <p:nvPr/>
          </p:nvSpPr>
          <p:spPr>
            <a:xfrm>
              <a:off x="0" y="-9525"/>
              <a:ext cx="1832400" cy="9726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412" name="Google Shape;1412;p31"/>
          <p:cNvSpPr txBox="1"/>
          <p:nvPr/>
        </p:nvSpPr>
        <p:spPr>
          <a:xfrm>
            <a:off x="5726791" y="3182386"/>
            <a:ext cx="2137200" cy="23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234F"/>
                </a:solidFill>
                <a:latin typeface="Inter"/>
                <a:ea typeface="Inter"/>
                <a:cs typeface="Inter"/>
                <a:sym typeface="Inter"/>
              </a:rPr>
              <a:t>Key Features</a:t>
            </a:r>
            <a:endParaRPr sz="1200" b="0" i="0" u="none" strike="noStrike" cap="none">
              <a:solidFill>
                <a:srgbClr val="000000"/>
              </a:solidFill>
              <a:latin typeface="Arial"/>
              <a:ea typeface="Arial"/>
              <a:cs typeface="Arial"/>
              <a:sym typeface="Arial"/>
            </a:endParaRPr>
          </a:p>
        </p:txBody>
      </p:sp>
      <p:grpSp>
        <p:nvGrpSpPr>
          <p:cNvPr id="1413" name="Google Shape;1413;p31"/>
          <p:cNvGrpSpPr/>
          <p:nvPr/>
        </p:nvGrpSpPr>
        <p:grpSpPr>
          <a:xfrm>
            <a:off x="4207532" y="3576449"/>
            <a:ext cx="1554511" cy="1814238"/>
            <a:chOff x="0" y="-9525"/>
            <a:chExt cx="503143" cy="587208"/>
          </a:xfrm>
        </p:grpSpPr>
        <p:sp>
          <p:nvSpPr>
            <p:cNvPr id="1414" name="Google Shape;1414;p31"/>
            <p:cNvSpPr/>
            <p:nvPr/>
          </p:nvSpPr>
          <p:spPr>
            <a:xfrm>
              <a:off x="0" y="0"/>
              <a:ext cx="503143" cy="577683"/>
            </a:xfrm>
            <a:custGeom>
              <a:avLst/>
              <a:gdLst/>
              <a:ahLst/>
              <a:cxnLst/>
              <a:rect l="l" t="t" r="r" b="b"/>
              <a:pathLst>
                <a:path w="503143" h="577683" extrusionOk="0">
                  <a:moveTo>
                    <a:pt x="0" y="0"/>
                  </a:moveTo>
                  <a:lnTo>
                    <a:pt x="503143" y="0"/>
                  </a:lnTo>
                  <a:lnTo>
                    <a:pt x="503143" y="577683"/>
                  </a:lnTo>
                  <a:lnTo>
                    <a:pt x="0" y="577683"/>
                  </a:lnTo>
                  <a:close/>
                </a:path>
              </a:pathLst>
            </a:custGeom>
            <a:solidFill>
              <a:srgbClr val="000000">
                <a:alpha val="0"/>
              </a:srgbClr>
            </a:solidFill>
            <a:ln w="9525" cap="sq" cmpd="sng">
              <a:solidFill>
                <a:srgbClr val="000000"/>
              </a:solidFill>
              <a:prstDash val="dash"/>
              <a:miter lim="8000"/>
              <a:headEnd type="none" w="sm" len="sm"/>
              <a:tailEnd type="none" w="sm" len="sm"/>
            </a:ln>
          </p:spPr>
        </p:sp>
        <p:sp>
          <p:nvSpPr>
            <p:cNvPr id="1415" name="Google Shape;1415;p31"/>
            <p:cNvSpPr txBox="1"/>
            <p:nvPr/>
          </p:nvSpPr>
          <p:spPr>
            <a:xfrm>
              <a:off x="0" y="-9525"/>
              <a:ext cx="503100" cy="5871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416" name="Google Shape;1416;p31"/>
          <p:cNvGrpSpPr/>
          <p:nvPr/>
        </p:nvGrpSpPr>
        <p:grpSpPr>
          <a:xfrm>
            <a:off x="5960943" y="3577427"/>
            <a:ext cx="1554511" cy="1814238"/>
            <a:chOff x="0" y="-9525"/>
            <a:chExt cx="503143" cy="587208"/>
          </a:xfrm>
        </p:grpSpPr>
        <p:sp>
          <p:nvSpPr>
            <p:cNvPr id="1417" name="Google Shape;1417;p31"/>
            <p:cNvSpPr/>
            <p:nvPr/>
          </p:nvSpPr>
          <p:spPr>
            <a:xfrm>
              <a:off x="0" y="0"/>
              <a:ext cx="503143" cy="577683"/>
            </a:xfrm>
            <a:custGeom>
              <a:avLst/>
              <a:gdLst/>
              <a:ahLst/>
              <a:cxnLst/>
              <a:rect l="l" t="t" r="r" b="b"/>
              <a:pathLst>
                <a:path w="503143" h="577683" extrusionOk="0">
                  <a:moveTo>
                    <a:pt x="0" y="0"/>
                  </a:moveTo>
                  <a:lnTo>
                    <a:pt x="503143" y="0"/>
                  </a:lnTo>
                  <a:lnTo>
                    <a:pt x="503143" y="577683"/>
                  </a:lnTo>
                  <a:lnTo>
                    <a:pt x="0" y="577683"/>
                  </a:lnTo>
                  <a:close/>
                </a:path>
              </a:pathLst>
            </a:custGeom>
            <a:solidFill>
              <a:srgbClr val="000000">
                <a:alpha val="0"/>
              </a:srgbClr>
            </a:solidFill>
            <a:ln w="9525" cap="sq" cmpd="sng">
              <a:solidFill>
                <a:srgbClr val="000000"/>
              </a:solidFill>
              <a:prstDash val="dash"/>
              <a:miter lim="8000"/>
              <a:headEnd type="none" w="sm" len="sm"/>
              <a:tailEnd type="none" w="sm" len="sm"/>
            </a:ln>
          </p:spPr>
        </p:sp>
        <p:sp>
          <p:nvSpPr>
            <p:cNvPr id="1418" name="Google Shape;1418;p31"/>
            <p:cNvSpPr txBox="1"/>
            <p:nvPr/>
          </p:nvSpPr>
          <p:spPr>
            <a:xfrm>
              <a:off x="0" y="-9525"/>
              <a:ext cx="503100" cy="5871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419" name="Google Shape;1419;p31"/>
          <p:cNvSpPr txBox="1"/>
          <p:nvPr/>
        </p:nvSpPr>
        <p:spPr>
          <a:xfrm>
            <a:off x="4254169" y="3714458"/>
            <a:ext cx="1461300" cy="1591800"/>
          </a:xfrm>
          <a:prstGeom prst="rect">
            <a:avLst/>
          </a:prstGeom>
          <a:noFill/>
          <a:ln>
            <a:noFill/>
          </a:ln>
        </p:spPr>
        <p:txBody>
          <a:bodyPr spcFirstLastPara="1" wrap="square" lIns="0" tIns="0" rIns="0" bIns="0" anchor="t" anchorCtr="0">
            <a:spAutoFit/>
          </a:bodyPr>
          <a:lstStyle/>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Orders Management</a:t>
            </a:r>
            <a:endParaRPr sz="1100" b="0" i="0" u="none" strike="noStrike" cap="none">
              <a:solidFill>
                <a:srgbClr val="000000"/>
              </a:solidFill>
              <a:latin typeface="Arial"/>
              <a:ea typeface="Arial"/>
              <a:cs typeface="Arial"/>
              <a:sym typeface="Arial"/>
            </a:endParaRPr>
          </a:p>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Logistics Management</a:t>
            </a:r>
            <a:endParaRPr sz="1100" b="0" i="0" u="none" strike="noStrike" cap="none">
              <a:solidFill>
                <a:srgbClr val="000000"/>
              </a:solidFill>
              <a:latin typeface="Arial"/>
              <a:ea typeface="Arial"/>
              <a:cs typeface="Arial"/>
              <a:sym typeface="Arial"/>
            </a:endParaRPr>
          </a:p>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Sales Management</a:t>
            </a:r>
            <a:endParaRPr sz="1100" b="0" i="0" u="none" strike="noStrike" cap="none">
              <a:solidFill>
                <a:srgbClr val="000000"/>
              </a:solidFill>
              <a:latin typeface="Arial"/>
              <a:ea typeface="Arial"/>
              <a:cs typeface="Arial"/>
              <a:sym typeface="Arial"/>
            </a:endParaRPr>
          </a:p>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Order Request Management</a:t>
            </a:r>
            <a:endParaRPr sz="1100" b="0" i="0" u="none" strike="noStrike" cap="none">
              <a:solidFill>
                <a:srgbClr val="000000"/>
              </a:solidFill>
              <a:latin typeface="Arial"/>
              <a:ea typeface="Arial"/>
              <a:cs typeface="Arial"/>
              <a:sym typeface="Arial"/>
            </a:endParaRPr>
          </a:p>
        </p:txBody>
      </p:sp>
      <p:sp>
        <p:nvSpPr>
          <p:cNvPr id="1420" name="Google Shape;1420;p31"/>
          <p:cNvSpPr txBox="1"/>
          <p:nvPr/>
        </p:nvSpPr>
        <p:spPr>
          <a:xfrm>
            <a:off x="5986316" y="3713480"/>
            <a:ext cx="1461300" cy="1591800"/>
          </a:xfrm>
          <a:prstGeom prst="rect">
            <a:avLst/>
          </a:prstGeom>
          <a:noFill/>
          <a:ln>
            <a:noFill/>
          </a:ln>
        </p:spPr>
        <p:txBody>
          <a:bodyPr spcFirstLastPara="1" wrap="square" lIns="0" tIns="0" rIns="0" bIns="0" anchor="t" anchorCtr="0">
            <a:spAutoFit/>
          </a:bodyPr>
          <a:lstStyle/>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Price Quote  Management</a:t>
            </a:r>
            <a:endParaRPr sz="1100" b="0" i="0" u="none" strike="noStrike" cap="none">
              <a:solidFill>
                <a:srgbClr val="000000"/>
              </a:solidFill>
              <a:latin typeface="Arial"/>
              <a:ea typeface="Arial"/>
              <a:cs typeface="Arial"/>
              <a:sym typeface="Arial"/>
            </a:endParaRPr>
          </a:p>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Statistical management</a:t>
            </a:r>
            <a:endParaRPr sz="1100" b="0" i="0" u="none" strike="noStrike" cap="none">
              <a:solidFill>
                <a:srgbClr val="000000"/>
              </a:solidFill>
              <a:latin typeface="Arial"/>
              <a:ea typeface="Arial"/>
              <a:cs typeface="Arial"/>
              <a:sym typeface="Arial"/>
            </a:endParaRPr>
          </a:p>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Inventory Management</a:t>
            </a:r>
            <a:endParaRPr sz="1100" b="0" i="0" u="none" strike="noStrike" cap="none">
              <a:solidFill>
                <a:srgbClr val="000000"/>
              </a:solidFill>
              <a:latin typeface="Arial"/>
              <a:ea typeface="Arial"/>
              <a:cs typeface="Arial"/>
              <a:sym typeface="Arial"/>
            </a:endParaRPr>
          </a:p>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Production Management</a:t>
            </a:r>
            <a:endParaRPr sz="1100" b="0" i="0" u="none" strike="noStrike" cap="none">
              <a:solidFill>
                <a:srgbClr val="000000"/>
              </a:solidFill>
              <a:latin typeface="Arial"/>
              <a:ea typeface="Arial"/>
              <a:cs typeface="Arial"/>
              <a:sym typeface="Arial"/>
            </a:endParaRPr>
          </a:p>
        </p:txBody>
      </p:sp>
      <p:grpSp>
        <p:nvGrpSpPr>
          <p:cNvPr id="1421" name="Google Shape;1421;p31"/>
          <p:cNvGrpSpPr/>
          <p:nvPr/>
        </p:nvGrpSpPr>
        <p:grpSpPr>
          <a:xfrm>
            <a:off x="7736200" y="3576444"/>
            <a:ext cx="1554511" cy="2065357"/>
            <a:chOff x="0" y="-9525"/>
            <a:chExt cx="503143" cy="776100"/>
          </a:xfrm>
        </p:grpSpPr>
        <p:sp>
          <p:nvSpPr>
            <p:cNvPr id="1422" name="Google Shape;1422;p31"/>
            <p:cNvSpPr/>
            <p:nvPr/>
          </p:nvSpPr>
          <p:spPr>
            <a:xfrm>
              <a:off x="0" y="0"/>
              <a:ext cx="503143" cy="766491"/>
            </a:xfrm>
            <a:custGeom>
              <a:avLst/>
              <a:gdLst/>
              <a:ahLst/>
              <a:cxnLst/>
              <a:rect l="l" t="t" r="r" b="b"/>
              <a:pathLst>
                <a:path w="503143" h="766491" extrusionOk="0">
                  <a:moveTo>
                    <a:pt x="0" y="0"/>
                  </a:moveTo>
                  <a:lnTo>
                    <a:pt x="503143" y="0"/>
                  </a:lnTo>
                  <a:lnTo>
                    <a:pt x="503143" y="766491"/>
                  </a:lnTo>
                  <a:lnTo>
                    <a:pt x="0" y="766491"/>
                  </a:lnTo>
                  <a:close/>
                </a:path>
              </a:pathLst>
            </a:custGeom>
            <a:solidFill>
              <a:srgbClr val="000000">
                <a:alpha val="0"/>
              </a:srgbClr>
            </a:solidFill>
            <a:ln w="9525" cap="sq" cmpd="sng">
              <a:solidFill>
                <a:srgbClr val="000000"/>
              </a:solidFill>
              <a:prstDash val="dash"/>
              <a:miter lim="8000"/>
              <a:headEnd type="none" w="sm" len="sm"/>
              <a:tailEnd type="none" w="sm" len="sm"/>
            </a:ln>
          </p:spPr>
        </p:sp>
        <p:sp>
          <p:nvSpPr>
            <p:cNvPr id="1423" name="Google Shape;1423;p31"/>
            <p:cNvSpPr txBox="1"/>
            <p:nvPr/>
          </p:nvSpPr>
          <p:spPr>
            <a:xfrm>
              <a:off x="0" y="-9525"/>
              <a:ext cx="503100" cy="7761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424" name="Google Shape;1424;p31"/>
          <p:cNvSpPr txBox="1"/>
          <p:nvPr/>
        </p:nvSpPr>
        <p:spPr>
          <a:xfrm>
            <a:off x="7782828" y="3713480"/>
            <a:ext cx="1461300" cy="1794900"/>
          </a:xfrm>
          <a:prstGeom prst="rect">
            <a:avLst/>
          </a:prstGeom>
          <a:noFill/>
          <a:ln>
            <a:noFill/>
          </a:ln>
        </p:spPr>
        <p:txBody>
          <a:bodyPr spcFirstLastPara="1" wrap="square" lIns="0" tIns="0" rIns="0" bIns="0" anchor="t" anchorCtr="0">
            <a:spAutoFit/>
          </a:bodyPr>
          <a:lstStyle/>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Order Management</a:t>
            </a:r>
            <a:endParaRPr sz="1100" b="0" i="0" u="none" strike="noStrike" cap="none">
              <a:solidFill>
                <a:srgbClr val="000000"/>
              </a:solidFill>
              <a:latin typeface="Arial"/>
              <a:ea typeface="Arial"/>
              <a:cs typeface="Arial"/>
              <a:sym typeface="Arial"/>
            </a:endParaRPr>
          </a:p>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Incoming Goods Management</a:t>
            </a:r>
            <a:endParaRPr sz="1100" b="0" i="0" u="none" strike="noStrike" cap="none">
              <a:solidFill>
                <a:srgbClr val="000000"/>
              </a:solidFill>
              <a:latin typeface="Arial"/>
              <a:ea typeface="Arial"/>
              <a:cs typeface="Arial"/>
              <a:sym typeface="Arial"/>
            </a:endParaRPr>
          </a:p>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Payment Management</a:t>
            </a:r>
            <a:endParaRPr sz="1100" b="0" i="0" u="none" strike="noStrike" cap="none">
              <a:solidFill>
                <a:srgbClr val="000000"/>
              </a:solidFill>
              <a:latin typeface="Arial"/>
              <a:ea typeface="Arial"/>
              <a:cs typeface="Arial"/>
              <a:sym typeface="Arial"/>
            </a:endParaRPr>
          </a:p>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Purchase Management</a:t>
            </a:r>
            <a:endParaRPr sz="1100" b="0" i="0" u="none" strike="noStrike" cap="none">
              <a:solidFill>
                <a:srgbClr val="000000"/>
              </a:solidFill>
              <a:latin typeface="Arial"/>
              <a:ea typeface="Arial"/>
              <a:cs typeface="Arial"/>
              <a:sym typeface="Arial"/>
            </a:endParaRPr>
          </a:p>
          <a:p>
            <a:pPr marL="292100" marR="0" lvl="1" indent="-133350" algn="l" rtl="0">
              <a:lnSpc>
                <a:spcPct val="120000"/>
              </a:lnSpc>
              <a:spcBef>
                <a:spcPts val="0"/>
              </a:spcBef>
              <a:spcAft>
                <a:spcPts val="0"/>
              </a:spcAft>
              <a:buClr>
                <a:srgbClr val="00234F"/>
              </a:buClr>
              <a:buSzPts val="1100"/>
              <a:buFont typeface="Arial"/>
              <a:buChar char="•"/>
            </a:pPr>
            <a:r>
              <a:rPr lang="en-US" sz="1100" b="0" i="0" u="none" strike="noStrike" cap="none">
                <a:solidFill>
                  <a:srgbClr val="00234F"/>
                </a:solidFill>
                <a:latin typeface="Inter"/>
                <a:ea typeface="Inter"/>
                <a:cs typeface="Inter"/>
                <a:sym typeface="Inter"/>
              </a:rPr>
              <a:t>External Linkage</a:t>
            </a:r>
            <a:endParaRPr sz="1100" b="0" i="0" u="none" strike="noStrike" cap="none">
              <a:solidFill>
                <a:srgbClr val="000000"/>
              </a:solidFill>
              <a:latin typeface="Arial"/>
              <a:ea typeface="Arial"/>
              <a:cs typeface="Arial"/>
              <a:sym typeface="Arial"/>
            </a:endParaRPr>
          </a:p>
        </p:txBody>
      </p:sp>
      <p:grpSp>
        <p:nvGrpSpPr>
          <p:cNvPr id="1425" name="Google Shape;1425;p31"/>
          <p:cNvGrpSpPr/>
          <p:nvPr/>
        </p:nvGrpSpPr>
        <p:grpSpPr>
          <a:xfrm>
            <a:off x="3967359" y="5824444"/>
            <a:ext cx="5661383" cy="2015037"/>
            <a:chOff x="0" y="-9525"/>
            <a:chExt cx="1832400" cy="652200"/>
          </a:xfrm>
        </p:grpSpPr>
        <p:sp>
          <p:nvSpPr>
            <p:cNvPr id="1426" name="Google Shape;1426;p31"/>
            <p:cNvSpPr/>
            <p:nvPr/>
          </p:nvSpPr>
          <p:spPr>
            <a:xfrm>
              <a:off x="0" y="0"/>
              <a:ext cx="1832385" cy="642593"/>
            </a:xfrm>
            <a:custGeom>
              <a:avLst/>
              <a:gdLst/>
              <a:ahLst/>
              <a:cxnLst/>
              <a:rect l="l" t="t" r="r" b="b"/>
              <a:pathLst>
                <a:path w="1832385" h="642593" extrusionOk="0">
                  <a:moveTo>
                    <a:pt x="0" y="0"/>
                  </a:moveTo>
                  <a:lnTo>
                    <a:pt x="1832385" y="0"/>
                  </a:lnTo>
                  <a:lnTo>
                    <a:pt x="1832385" y="642593"/>
                  </a:lnTo>
                  <a:lnTo>
                    <a:pt x="0" y="642593"/>
                  </a:lnTo>
                  <a:close/>
                </a:path>
              </a:pathLst>
            </a:custGeom>
            <a:solidFill>
              <a:srgbClr val="ACC2E3">
                <a:alpha val="18823"/>
              </a:srgbClr>
            </a:solidFill>
            <a:ln w="9525" cap="sq" cmpd="sng">
              <a:solidFill>
                <a:srgbClr val="000000">
                  <a:alpha val="18823"/>
                </a:srgbClr>
              </a:solidFill>
              <a:prstDash val="dash"/>
              <a:miter lim="8000"/>
              <a:headEnd type="none" w="sm" len="sm"/>
              <a:tailEnd type="none" w="sm" len="sm"/>
            </a:ln>
          </p:spPr>
        </p:sp>
        <p:sp>
          <p:nvSpPr>
            <p:cNvPr id="1427" name="Google Shape;1427;p31"/>
            <p:cNvSpPr txBox="1"/>
            <p:nvPr/>
          </p:nvSpPr>
          <p:spPr>
            <a:xfrm>
              <a:off x="0" y="-9525"/>
              <a:ext cx="1832400" cy="6522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428" name="Google Shape;1428;p31"/>
          <p:cNvSpPr txBox="1"/>
          <p:nvPr/>
        </p:nvSpPr>
        <p:spPr>
          <a:xfrm>
            <a:off x="5669531" y="6051564"/>
            <a:ext cx="2137200" cy="23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234F"/>
                </a:solidFill>
                <a:latin typeface="Inter"/>
                <a:ea typeface="Inter"/>
                <a:cs typeface="Inter"/>
                <a:sym typeface="Inter"/>
              </a:rPr>
              <a:t>Additional Features</a:t>
            </a:r>
            <a:endParaRPr sz="1200" b="0" i="0" u="none" strike="noStrike" cap="none">
              <a:solidFill>
                <a:srgbClr val="000000"/>
              </a:solidFill>
              <a:latin typeface="Arial"/>
              <a:ea typeface="Arial"/>
              <a:cs typeface="Arial"/>
              <a:sym typeface="Arial"/>
            </a:endParaRPr>
          </a:p>
        </p:txBody>
      </p:sp>
      <p:grpSp>
        <p:nvGrpSpPr>
          <p:cNvPr id="1429" name="Google Shape;1429;p31"/>
          <p:cNvGrpSpPr/>
          <p:nvPr/>
        </p:nvGrpSpPr>
        <p:grpSpPr>
          <a:xfrm>
            <a:off x="4207532" y="6384758"/>
            <a:ext cx="1554511" cy="559836"/>
            <a:chOff x="0" y="-9525"/>
            <a:chExt cx="503143" cy="181200"/>
          </a:xfrm>
        </p:grpSpPr>
        <p:sp>
          <p:nvSpPr>
            <p:cNvPr id="1430" name="Google Shape;1430;p31"/>
            <p:cNvSpPr/>
            <p:nvPr/>
          </p:nvSpPr>
          <p:spPr>
            <a:xfrm>
              <a:off x="0" y="0"/>
              <a:ext cx="503143" cy="171541"/>
            </a:xfrm>
            <a:custGeom>
              <a:avLst/>
              <a:gdLst/>
              <a:ahLst/>
              <a:cxnLst/>
              <a:rect l="l" t="t" r="r" b="b"/>
              <a:pathLst>
                <a:path w="503143" h="171541" extrusionOk="0">
                  <a:moveTo>
                    <a:pt x="0" y="0"/>
                  </a:moveTo>
                  <a:lnTo>
                    <a:pt x="503143" y="0"/>
                  </a:lnTo>
                  <a:lnTo>
                    <a:pt x="503143" y="171541"/>
                  </a:lnTo>
                  <a:lnTo>
                    <a:pt x="0" y="171541"/>
                  </a:lnTo>
                  <a:close/>
                </a:path>
              </a:pathLst>
            </a:custGeom>
            <a:solidFill>
              <a:srgbClr val="000000">
                <a:alpha val="0"/>
              </a:srgbClr>
            </a:solidFill>
            <a:ln w="9525" cap="sq" cmpd="sng">
              <a:solidFill>
                <a:srgbClr val="000000"/>
              </a:solidFill>
              <a:prstDash val="dash"/>
              <a:miter lim="8000"/>
              <a:headEnd type="none" w="sm" len="sm"/>
              <a:tailEnd type="none" w="sm" len="sm"/>
            </a:ln>
          </p:spPr>
        </p:sp>
        <p:sp>
          <p:nvSpPr>
            <p:cNvPr id="1431" name="Google Shape;1431;p31"/>
            <p:cNvSpPr txBox="1"/>
            <p:nvPr/>
          </p:nvSpPr>
          <p:spPr>
            <a:xfrm>
              <a:off x="0" y="-9525"/>
              <a:ext cx="503100" cy="1812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432" name="Google Shape;1432;p31"/>
          <p:cNvGrpSpPr/>
          <p:nvPr/>
        </p:nvGrpSpPr>
        <p:grpSpPr>
          <a:xfrm>
            <a:off x="5960943" y="6385048"/>
            <a:ext cx="1554511" cy="559836"/>
            <a:chOff x="0" y="-9525"/>
            <a:chExt cx="503143" cy="181200"/>
          </a:xfrm>
        </p:grpSpPr>
        <p:sp>
          <p:nvSpPr>
            <p:cNvPr id="1433" name="Google Shape;1433;p31"/>
            <p:cNvSpPr/>
            <p:nvPr/>
          </p:nvSpPr>
          <p:spPr>
            <a:xfrm>
              <a:off x="0" y="0"/>
              <a:ext cx="503143" cy="171541"/>
            </a:xfrm>
            <a:custGeom>
              <a:avLst/>
              <a:gdLst/>
              <a:ahLst/>
              <a:cxnLst/>
              <a:rect l="l" t="t" r="r" b="b"/>
              <a:pathLst>
                <a:path w="503143" h="171541" extrusionOk="0">
                  <a:moveTo>
                    <a:pt x="0" y="0"/>
                  </a:moveTo>
                  <a:lnTo>
                    <a:pt x="503143" y="0"/>
                  </a:lnTo>
                  <a:lnTo>
                    <a:pt x="503143" y="171541"/>
                  </a:lnTo>
                  <a:lnTo>
                    <a:pt x="0" y="171541"/>
                  </a:lnTo>
                  <a:close/>
                </a:path>
              </a:pathLst>
            </a:custGeom>
            <a:solidFill>
              <a:srgbClr val="000000">
                <a:alpha val="0"/>
              </a:srgbClr>
            </a:solidFill>
            <a:ln w="9525" cap="sq" cmpd="sng">
              <a:solidFill>
                <a:srgbClr val="000000"/>
              </a:solidFill>
              <a:prstDash val="dash"/>
              <a:miter lim="8000"/>
              <a:headEnd type="none" w="sm" len="sm"/>
              <a:tailEnd type="none" w="sm" len="sm"/>
            </a:ln>
          </p:spPr>
        </p:sp>
        <p:sp>
          <p:nvSpPr>
            <p:cNvPr id="1434" name="Google Shape;1434;p31"/>
            <p:cNvSpPr txBox="1"/>
            <p:nvPr/>
          </p:nvSpPr>
          <p:spPr>
            <a:xfrm>
              <a:off x="0" y="-9525"/>
              <a:ext cx="503100" cy="1812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435" name="Google Shape;1435;p31"/>
          <p:cNvGrpSpPr/>
          <p:nvPr/>
        </p:nvGrpSpPr>
        <p:grpSpPr>
          <a:xfrm>
            <a:off x="7736191" y="6384758"/>
            <a:ext cx="1554511" cy="567251"/>
            <a:chOff x="0" y="-9525"/>
            <a:chExt cx="503143" cy="183600"/>
          </a:xfrm>
        </p:grpSpPr>
        <p:sp>
          <p:nvSpPr>
            <p:cNvPr id="1436" name="Google Shape;1436;p31"/>
            <p:cNvSpPr/>
            <p:nvPr/>
          </p:nvSpPr>
          <p:spPr>
            <a:xfrm>
              <a:off x="0" y="0"/>
              <a:ext cx="503143" cy="173927"/>
            </a:xfrm>
            <a:custGeom>
              <a:avLst/>
              <a:gdLst/>
              <a:ahLst/>
              <a:cxnLst/>
              <a:rect l="l" t="t" r="r" b="b"/>
              <a:pathLst>
                <a:path w="503143" h="173927" extrusionOk="0">
                  <a:moveTo>
                    <a:pt x="0" y="0"/>
                  </a:moveTo>
                  <a:lnTo>
                    <a:pt x="503143" y="0"/>
                  </a:lnTo>
                  <a:lnTo>
                    <a:pt x="503143" y="173927"/>
                  </a:lnTo>
                  <a:lnTo>
                    <a:pt x="0" y="173927"/>
                  </a:lnTo>
                  <a:close/>
                </a:path>
              </a:pathLst>
            </a:custGeom>
            <a:solidFill>
              <a:srgbClr val="000000">
                <a:alpha val="0"/>
              </a:srgbClr>
            </a:solidFill>
            <a:ln w="9525" cap="sq" cmpd="sng">
              <a:solidFill>
                <a:srgbClr val="000000"/>
              </a:solidFill>
              <a:prstDash val="dash"/>
              <a:miter lim="8000"/>
              <a:headEnd type="none" w="sm" len="sm"/>
              <a:tailEnd type="none" w="sm" len="sm"/>
            </a:ln>
          </p:spPr>
        </p:sp>
        <p:sp>
          <p:nvSpPr>
            <p:cNvPr id="1437" name="Google Shape;1437;p31"/>
            <p:cNvSpPr txBox="1"/>
            <p:nvPr/>
          </p:nvSpPr>
          <p:spPr>
            <a:xfrm>
              <a:off x="0" y="-9525"/>
              <a:ext cx="503100" cy="1836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438" name="Google Shape;1438;p31"/>
          <p:cNvGrpSpPr/>
          <p:nvPr/>
        </p:nvGrpSpPr>
        <p:grpSpPr>
          <a:xfrm>
            <a:off x="4207532" y="7064021"/>
            <a:ext cx="1554511" cy="559836"/>
            <a:chOff x="0" y="-9525"/>
            <a:chExt cx="503143" cy="181200"/>
          </a:xfrm>
        </p:grpSpPr>
        <p:sp>
          <p:nvSpPr>
            <p:cNvPr id="1439" name="Google Shape;1439;p31"/>
            <p:cNvSpPr/>
            <p:nvPr/>
          </p:nvSpPr>
          <p:spPr>
            <a:xfrm>
              <a:off x="0" y="0"/>
              <a:ext cx="503143" cy="171541"/>
            </a:xfrm>
            <a:custGeom>
              <a:avLst/>
              <a:gdLst/>
              <a:ahLst/>
              <a:cxnLst/>
              <a:rect l="l" t="t" r="r" b="b"/>
              <a:pathLst>
                <a:path w="503143" h="171541" extrusionOk="0">
                  <a:moveTo>
                    <a:pt x="0" y="0"/>
                  </a:moveTo>
                  <a:lnTo>
                    <a:pt x="503143" y="0"/>
                  </a:lnTo>
                  <a:lnTo>
                    <a:pt x="503143" y="171541"/>
                  </a:lnTo>
                  <a:lnTo>
                    <a:pt x="0" y="171541"/>
                  </a:lnTo>
                  <a:close/>
                </a:path>
              </a:pathLst>
            </a:custGeom>
            <a:solidFill>
              <a:srgbClr val="000000">
                <a:alpha val="0"/>
              </a:srgbClr>
            </a:solidFill>
            <a:ln w="9525" cap="sq" cmpd="sng">
              <a:solidFill>
                <a:srgbClr val="000000"/>
              </a:solidFill>
              <a:prstDash val="dash"/>
              <a:miter lim="8000"/>
              <a:headEnd type="none" w="sm" len="sm"/>
              <a:tailEnd type="none" w="sm" len="sm"/>
            </a:ln>
          </p:spPr>
        </p:sp>
        <p:sp>
          <p:nvSpPr>
            <p:cNvPr id="1440" name="Google Shape;1440;p31"/>
            <p:cNvSpPr txBox="1"/>
            <p:nvPr/>
          </p:nvSpPr>
          <p:spPr>
            <a:xfrm>
              <a:off x="0" y="-9525"/>
              <a:ext cx="503100" cy="1812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441" name="Google Shape;1441;p31"/>
          <p:cNvGrpSpPr/>
          <p:nvPr/>
        </p:nvGrpSpPr>
        <p:grpSpPr>
          <a:xfrm>
            <a:off x="5960943" y="7064312"/>
            <a:ext cx="1554511" cy="559836"/>
            <a:chOff x="0" y="-9525"/>
            <a:chExt cx="503143" cy="181200"/>
          </a:xfrm>
        </p:grpSpPr>
        <p:sp>
          <p:nvSpPr>
            <p:cNvPr id="1442" name="Google Shape;1442;p31"/>
            <p:cNvSpPr/>
            <p:nvPr/>
          </p:nvSpPr>
          <p:spPr>
            <a:xfrm>
              <a:off x="0" y="0"/>
              <a:ext cx="503143" cy="171541"/>
            </a:xfrm>
            <a:custGeom>
              <a:avLst/>
              <a:gdLst/>
              <a:ahLst/>
              <a:cxnLst/>
              <a:rect l="l" t="t" r="r" b="b"/>
              <a:pathLst>
                <a:path w="503143" h="171541" extrusionOk="0">
                  <a:moveTo>
                    <a:pt x="0" y="0"/>
                  </a:moveTo>
                  <a:lnTo>
                    <a:pt x="503143" y="0"/>
                  </a:lnTo>
                  <a:lnTo>
                    <a:pt x="503143" y="171541"/>
                  </a:lnTo>
                  <a:lnTo>
                    <a:pt x="0" y="171541"/>
                  </a:lnTo>
                  <a:close/>
                </a:path>
              </a:pathLst>
            </a:custGeom>
            <a:solidFill>
              <a:srgbClr val="000000">
                <a:alpha val="0"/>
              </a:srgbClr>
            </a:solidFill>
            <a:ln w="9525" cap="sq" cmpd="sng">
              <a:solidFill>
                <a:srgbClr val="000000"/>
              </a:solidFill>
              <a:prstDash val="dash"/>
              <a:miter lim="8000"/>
              <a:headEnd type="none" w="sm" len="sm"/>
              <a:tailEnd type="none" w="sm" len="sm"/>
            </a:ln>
          </p:spPr>
        </p:sp>
        <p:sp>
          <p:nvSpPr>
            <p:cNvPr id="1443" name="Google Shape;1443;p31"/>
            <p:cNvSpPr txBox="1"/>
            <p:nvPr/>
          </p:nvSpPr>
          <p:spPr>
            <a:xfrm>
              <a:off x="0" y="-9525"/>
              <a:ext cx="503100" cy="1812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444" name="Google Shape;1444;p31"/>
          <p:cNvGrpSpPr/>
          <p:nvPr/>
        </p:nvGrpSpPr>
        <p:grpSpPr>
          <a:xfrm>
            <a:off x="7736191" y="7064021"/>
            <a:ext cx="1554511" cy="567251"/>
            <a:chOff x="0" y="-9525"/>
            <a:chExt cx="503143" cy="183600"/>
          </a:xfrm>
        </p:grpSpPr>
        <p:sp>
          <p:nvSpPr>
            <p:cNvPr id="1445" name="Google Shape;1445;p31"/>
            <p:cNvSpPr/>
            <p:nvPr/>
          </p:nvSpPr>
          <p:spPr>
            <a:xfrm>
              <a:off x="0" y="0"/>
              <a:ext cx="503143" cy="173927"/>
            </a:xfrm>
            <a:custGeom>
              <a:avLst/>
              <a:gdLst/>
              <a:ahLst/>
              <a:cxnLst/>
              <a:rect l="l" t="t" r="r" b="b"/>
              <a:pathLst>
                <a:path w="503143" h="173927" extrusionOk="0">
                  <a:moveTo>
                    <a:pt x="0" y="0"/>
                  </a:moveTo>
                  <a:lnTo>
                    <a:pt x="503143" y="0"/>
                  </a:lnTo>
                  <a:lnTo>
                    <a:pt x="503143" y="173927"/>
                  </a:lnTo>
                  <a:lnTo>
                    <a:pt x="0" y="173927"/>
                  </a:lnTo>
                  <a:close/>
                </a:path>
              </a:pathLst>
            </a:custGeom>
            <a:solidFill>
              <a:srgbClr val="000000">
                <a:alpha val="0"/>
              </a:srgbClr>
            </a:solidFill>
            <a:ln w="9525" cap="sq" cmpd="sng">
              <a:solidFill>
                <a:srgbClr val="000000"/>
              </a:solidFill>
              <a:prstDash val="dash"/>
              <a:miter lim="8000"/>
              <a:headEnd type="none" w="sm" len="sm"/>
              <a:tailEnd type="none" w="sm" len="sm"/>
            </a:ln>
          </p:spPr>
        </p:sp>
        <p:sp>
          <p:nvSpPr>
            <p:cNvPr id="1446" name="Google Shape;1446;p31"/>
            <p:cNvSpPr txBox="1"/>
            <p:nvPr/>
          </p:nvSpPr>
          <p:spPr>
            <a:xfrm>
              <a:off x="0" y="-9525"/>
              <a:ext cx="503100" cy="183600"/>
            </a:xfrm>
            <a:prstGeom prst="rect">
              <a:avLst/>
            </a:prstGeom>
            <a:noFill/>
            <a:ln>
              <a:noFill/>
            </a:ln>
          </p:spPr>
          <p:txBody>
            <a:bodyPr spcFirstLastPara="1" wrap="square" lIns="45150" tIns="45150" rIns="45150" bIns="45150" anchor="ctr" anchorCtr="0">
              <a:noAutofit/>
            </a:bodyPr>
            <a:lstStyle/>
            <a:p>
              <a:pPr marL="0" marR="0" lvl="0" indent="0" algn="ctr" rtl="0">
                <a:lnSpc>
                  <a:spcPct val="6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447" name="Google Shape;1447;p31"/>
          <p:cNvSpPr txBox="1"/>
          <p:nvPr/>
        </p:nvSpPr>
        <p:spPr>
          <a:xfrm>
            <a:off x="4278969" y="6486668"/>
            <a:ext cx="1461300" cy="44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0" i="0" u="none" strike="noStrike" cap="none">
                <a:solidFill>
                  <a:srgbClr val="00234F"/>
                </a:solidFill>
                <a:latin typeface="Inter"/>
                <a:ea typeface="Inter"/>
                <a:cs typeface="Inter"/>
                <a:sym typeface="Inter"/>
              </a:rPr>
              <a:t>Demand Forecasting</a:t>
            </a:r>
            <a:endParaRPr sz="1200" b="0" i="0" u="none" strike="noStrike" cap="none">
              <a:solidFill>
                <a:srgbClr val="000000"/>
              </a:solidFill>
              <a:latin typeface="Arial"/>
              <a:ea typeface="Arial"/>
              <a:cs typeface="Arial"/>
              <a:sym typeface="Arial"/>
            </a:endParaRPr>
          </a:p>
        </p:txBody>
      </p:sp>
      <p:sp>
        <p:nvSpPr>
          <p:cNvPr id="1448" name="Google Shape;1448;p31"/>
          <p:cNvSpPr txBox="1"/>
          <p:nvPr/>
        </p:nvSpPr>
        <p:spPr>
          <a:xfrm>
            <a:off x="4254169" y="7165932"/>
            <a:ext cx="1461300" cy="44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0" i="0" u="none" strike="noStrike" cap="none">
                <a:solidFill>
                  <a:srgbClr val="00234F"/>
                </a:solidFill>
                <a:latin typeface="Inter"/>
                <a:ea typeface="Inter"/>
                <a:cs typeface="Inter"/>
                <a:sym typeface="Inter"/>
              </a:rPr>
              <a:t>Data Aggregation  Dashboard</a:t>
            </a:r>
            <a:endParaRPr sz="1200" b="0" i="0" u="none" strike="noStrike" cap="none">
              <a:solidFill>
                <a:srgbClr val="000000"/>
              </a:solidFill>
              <a:latin typeface="Arial"/>
              <a:ea typeface="Arial"/>
              <a:cs typeface="Arial"/>
              <a:sym typeface="Arial"/>
            </a:endParaRPr>
          </a:p>
        </p:txBody>
      </p:sp>
      <p:sp>
        <p:nvSpPr>
          <p:cNvPr id="1449" name="Google Shape;1449;p31"/>
          <p:cNvSpPr txBox="1"/>
          <p:nvPr/>
        </p:nvSpPr>
        <p:spPr>
          <a:xfrm>
            <a:off x="6018499" y="7162536"/>
            <a:ext cx="1461300" cy="44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0" i="0" u="none" strike="noStrike" cap="none">
                <a:solidFill>
                  <a:srgbClr val="00234F"/>
                </a:solidFill>
                <a:latin typeface="Inter"/>
                <a:ea typeface="Inter"/>
                <a:cs typeface="Inter"/>
                <a:sym typeface="Inter"/>
              </a:rPr>
              <a:t>Differences Comparison List</a:t>
            </a:r>
            <a:endParaRPr sz="1200" b="0" i="0" u="none" strike="noStrike" cap="none">
              <a:solidFill>
                <a:srgbClr val="000000"/>
              </a:solidFill>
              <a:latin typeface="Arial"/>
              <a:ea typeface="Arial"/>
              <a:cs typeface="Arial"/>
              <a:sym typeface="Arial"/>
            </a:endParaRPr>
          </a:p>
        </p:txBody>
      </p:sp>
      <p:sp>
        <p:nvSpPr>
          <p:cNvPr id="1450" name="Google Shape;1450;p31"/>
          <p:cNvSpPr txBox="1"/>
          <p:nvPr/>
        </p:nvSpPr>
        <p:spPr>
          <a:xfrm>
            <a:off x="6018499" y="6483273"/>
            <a:ext cx="1461300" cy="44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0" i="0" u="none" strike="noStrike" cap="none">
                <a:solidFill>
                  <a:srgbClr val="00234F"/>
                </a:solidFill>
                <a:latin typeface="Inter"/>
                <a:ea typeface="Inter"/>
                <a:cs typeface="Inter"/>
                <a:sym typeface="Inter"/>
              </a:rPr>
              <a:t>Out-of-stock Notification</a:t>
            </a:r>
            <a:endParaRPr sz="1200" b="0" i="0" u="none" strike="noStrike" cap="none">
              <a:solidFill>
                <a:srgbClr val="000000"/>
              </a:solidFill>
              <a:latin typeface="Arial"/>
              <a:ea typeface="Arial"/>
              <a:cs typeface="Arial"/>
              <a:sym typeface="Arial"/>
            </a:endParaRPr>
          </a:p>
        </p:txBody>
      </p:sp>
      <p:sp>
        <p:nvSpPr>
          <p:cNvPr id="1451" name="Google Shape;1451;p31"/>
          <p:cNvSpPr txBox="1"/>
          <p:nvPr/>
        </p:nvSpPr>
        <p:spPr>
          <a:xfrm>
            <a:off x="7782828" y="6482982"/>
            <a:ext cx="1461300" cy="44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0" i="0" u="none" strike="noStrike" cap="none">
                <a:solidFill>
                  <a:srgbClr val="00234F"/>
                </a:solidFill>
                <a:latin typeface="Inter"/>
                <a:ea typeface="Inter"/>
                <a:cs typeface="Inter"/>
                <a:sym typeface="Inter"/>
              </a:rPr>
              <a:t>General Data Output</a:t>
            </a:r>
            <a:endParaRPr sz="1200" b="0" i="0" u="none" strike="noStrike" cap="none">
              <a:solidFill>
                <a:srgbClr val="000000"/>
              </a:solidFill>
              <a:latin typeface="Arial"/>
              <a:ea typeface="Arial"/>
              <a:cs typeface="Arial"/>
              <a:sym typeface="Arial"/>
            </a:endParaRPr>
          </a:p>
        </p:txBody>
      </p:sp>
      <p:sp>
        <p:nvSpPr>
          <p:cNvPr id="1452" name="Google Shape;1452;p31"/>
          <p:cNvSpPr txBox="1"/>
          <p:nvPr/>
        </p:nvSpPr>
        <p:spPr>
          <a:xfrm>
            <a:off x="7806876" y="7165932"/>
            <a:ext cx="1461300" cy="20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0" i="0" u="none" strike="noStrike" cap="none">
                <a:solidFill>
                  <a:srgbClr val="00234F"/>
                </a:solidFill>
                <a:latin typeface="Inter"/>
                <a:ea typeface="Inter"/>
                <a:cs typeface="Inter"/>
                <a:sym typeface="Inter"/>
              </a:rPr>
              <a:t>General Data Input</a:t>
            </a:r>
            <a:endParaRPr sz="1200" b="0" i="0" u="none" strike="noStrike" cap="none">
              <a:solidFill>
                <a:srgbClr val="000000"/>
              </a:solidFill>
              <a:latin typeface="Arial"/>
              <a:ea typeface="Arial"/>
              <a:cs typeface="Arial"/>
              <a:sym typeface="Arial"/>
            </a:endParaRPr>
          </a:p>
        </p:txBody>
      </p:sp>
      <p:cxnSp>
        <p:nvCxnSpPr>
          <p:cNvPr id="1453" name="Google Shape;1453;p31"/>
          <p:cNvCxnSpPr/>
          <p:nvPr/>
        </p:nvCxnSpPr>
        <p:spPr>
          <a:xfrm rot="10800000">
            <a:off x="9825288" y="3560794"/>
            <a:ext cx="1329300" cy="0"/>
          </a:xfrm>
          <a:prstGeom prst="straightConnector1">
            <a:avLst/>
          </a:prstGeom>
          <a:noFill/>
          <a:ln w="28575" cap="flat" cmpd="sng">
            <a:solidFill>
              <a:srgbClr val="0041AA"/>
            </a:solidFill>
            <a:prstDash val="solid"/>
            <a:round/>
            <a:headEnd type="stealth" w="med" len="med"/>
            <a:tailEnd type="none" w="sm" len="sm"/>
          </a:ln>
        </p:spPr>
      </p:cxnSp>
      <p:cxnSp>
        <p:nvCxnSpPr>
          <p:cNvPr id="1454" name="Google Shape;1454;p31"/>
          <p:cNvCxnSpPr/>
          <p:nvPr/>
        </p:nvCxnSpPr>
        <p:spPr>
          <a:xfrm rot="10800000">
            <a:off x="9825288" y="7342682"/>
            <a:ext cx="1329300" cy="0"/>
          </a:xfrm>
          <a:prstGeom prst="straightConnector1">
            <a:avLst/>
          </a:prstGeom>
          <a:noFill/>
          <a:ln w="28575" cap="flat" cmpd="sng">
            <a:solidFill>
              <a:srgbClr val="0041AA"/>
            </a:solidFill>
            <a:prstDash val="solid"/>
            <a:round/>
            <a:headEnd type="stealth" w="med" len="med"/>
            <a:tailEnd type="none" w="sm" len="sm"/>
          </a:ln>
        </p:spPr>
      </p:cxnSp>
      <p:cxnSp>
        <p:nvCxnSpPr>
          <p:cNvPr id="1455" name="Google Shape;1455;p31"/>
          <p:cNvCxnSpPr/>
          <p:nvPr/>
        </p:nvCxnSpPr>
        <p:spPr>
          <a:xfrm rot="10800000">
            <a:off x="9825288" y="6891152"/>
            <a:ext cx="1329300" cy="0"/>
          </a:xfrm>
          <a:prstGeom prst="straightConnector1">
            <a:avLst/>
          </a:prstGeom>
          <a:noFill/>
          <a:ln w="28575" cap="flat" cmpd="sng">
            <a:solidFill>
              <a:srgbClr val="0041AA"/>
            </a:solidFill>
            <a:prstDash val="solid"/>
            <a:round/>
            <a:headEnd type="none" w="sm" len="sm"/>
            <a:tailEnd type="stealth" w="med" len="med"/>
          </a:ln>
        </p:spPr>
      </p:cxnSp>
      <p:cxnSp>
        <p:nvCxnSpPr>
          <p:cNvPr id="1456" name="Google Shape;1456;p31"/>
          <p:cNvCxnSpPr/>
          <p:nvPr/>
        </p:nvCxnSpPr>
        <p:spPr>
          <a:xfrm rot="10800000">
            <a:off x="2412505" y="3545028"/>
            <a:ext cx="1329300" cy="0"/>
          </a:xfrm>
          <a:prstGeom prst="straightConnector1">
            <a:avLst/>
          </a:prstGeom>
          <a:noFill/>
          <a:ln w="28575" cap="flat" cmpd="sng">
            <a:solidFill>
              <a:srgbClr val="0041AA"/>
            </a:solidFill>
            <a:prstDash val="solid"/>
            <a:round/>
            <a:headEnd type="stealth" w="med" len="med"/>
            <a:tailEnd type="none" w="sm" len="sm"/>
          </a:ln>
        </p:spPr>
      </p:cxnSp>
      <p:cxnSp>
        <p:nvCxnSpPr>
          <p:cNvPr id="1457" name="Google Shape;1457;p31"/>
          <p:cNvCxnSpPr/>
          <p:nvPr/>
        </p:nvCxnSpPr>
        <p:spPr>
          <a:xfrm rot="10800000">
            <a:off x="2412505" y="7326916"/>
            <a:ext cx="1329300" cy="0"/>
          </a:xfrm>
          <a:prstGeom prst="straightConnector1">
            <a:avLst/>
          </a:prstGeom>
          <a:noFill/>
          <a:ln w="28575" cap="flat" cmpd="sng">
            <a:solidFill>
              <a:srgbClr val="0041AA"/>
            </a:solidFill>
            <a:prstDash val="solid"/>
            <a:round/>
            <a:headEnd type="stealth" w="med" len="med"/>
            <a:tailEnd type="none" w="sm" len="sm"/>
          </a:ln>
        </p:spPr>
      </p:cxnSp>
      <p:cxnSp>
        <p:nvCxnSpPr>
          <p:cNvPr id="1458" name="Google Shape;1458;p31"/>
          <p:cNvCxnSpPr/>
          <p:nvPr/>
        </p:nvCxnSpPr>
        <p:spPr>
          <a:xfrm rot="10800000">
            <a:off x="2412505" y="6875387"/>
            <a:ext cx="1329300" cy="0"/>
          </a:xfrm>
          <a:prstGeom prst="straightConnector1">
            <a:avLst/>
          </a:prstGeom>
          <a:noFill/>
          <a:ln w="28575" cap="flat" cmpd="sng">
            <a:solidFill>
              <a:srgbClr val="0041AA"/>
            </a:solidFill>
            <a:prstDash val="solid"/>
            <a:round/>
            <a:headEnd type="none" w="sm" len="sm"/>
            <a:tailEnd type="stealth" w="med" len="med"/>
          </a:ln>
        </p:spPr>
      </p:cxnSp>
      <p:sp>
        <p:nvSpPr>
          <p:cNvPr id="1459" name="Google Shape;1459;p31"/>
          <p:cNvSpPr txBox="1"/>
          <p:nvPr/>
        </p:nvSpPr>
        <p:spPr>
          <a:xfrm>
            <a:off x="9825270" y="6568821"/>
            <a:ext cx="1373700" cy="23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234F"/>
                </a:solidFill>
                <a:latin typeface="Inter"/>
                <a:ea typeface="Inter"/>
                <a:cs typeface="Inter"/>
                <a:sym typeface="Inter"/>
              </a:rPr>
              <a:t>Invoice</a:t>
            </a:r>
            <a:endParaRPr sz="1200" b="0" i="0" u="none" strike="noStrike" cap="none">
              <a:solidFill>
                <a:srgbClr val="000000"/>
              </a:solidFill>
              <a:latin typeface="Arial"/>
              <a:ea typeface="Arial"/>
              <a:cs typeface="Arial"/>
              <a:sym typeface="Arial"/>
            </a:endParaRPr>
          </a:p>
        </p:txBody>
      </p:sp>
      <p:sp>
        <p:nvSpPr>
          <p:cNvPr id="1460" name="Google Shape;1460;p31"/>
          <p:cNvSpPr txBox="1"/>
          <p:nvPr/>
        </p:nvSpPr>
        <p:spPr>
          <a:xfrm>
            <a:off x="9780896" y="7447972"/>
            <a:ext cx="1373700" cy="23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234F"/>
                </a:solidFill>
                <a:latin typeface="Inter"/>
                <a:ea typeface="Inter"/>
                <a:cs typeface="Inter"/>
                <a:sym typeface="Inter"/>
              </a:rPr>
              <a:t>Payment</a:t>
            </a:r>
            <a:endParaRPr sz="1200" b="0" i="0" u="none" strike="noStrike" cap="none">
              <a:solidFill>
                <a:srgbClr val="000000"/>
              </a:solidFill>
              <a:latin typeface="Arial"/>
              <a:ea typeface="Arial"/>
              <a:cs typeface="Arial"/>
              <a:sym typeface="Arial"/>
            </a:endParaRPr>
          </a:p>
        </p:txBody>
      </p:sp>
      <p:sp>
        <p:nvSpPr>
          <p:cNvPr id="1461" name="Google Shape;1461;p31"/>
          <p:cNvSpPr/>
          <p:nvPr/>
        </p:nvSpPr>
        <p:spPr>
          <a:xfrm rot="-5400000">
            <a:off x="1245888" y="7858828"/>
            <a:ext cx="299989" cy="336122"/>
          </a:xfrm>
          <a:custGeom>
            <a:avLst/>
            <a:gdLst/>
            <a:ahLst/>
            <a:cxnLst/>
            <a:rect l="l" t="t" r="r" b="b"/>
            <a:pathLst>
              <a:path w="337066" h="377665" extrusionOk="0">
                <a:moveTo>
                  <a:pt x="0" y="0"/>
                </a:moveTo>
                <a:lnTo>
                  <a:pt x="337066" y="0"/>
                </a:lnTo>
                <a:lnTo>
                  <a:pt x="337066" y="377665"/>
                </a:lnTo>
                <a:lnTo>
                  <a:pt x="0" y="377665"/>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1462" name="Google Shape;1462;p31"/>
          <p:cNvSpPr txBox="1"/>
          <p:nvPr/>
        </p:nvSpPr>
        <p:spPr>
          <a:xfrm>
            <a:off x="2428253" y="6568821"/>
            <a:ext cx="1373700" cy="23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234F"/>
                </a:solidFill>
                <a:latin typeface="Inter"/>
                <a:ea typeface="Inter"/>
                <a:cs typeface="Inter"/>
                <a:sym typeface="Inter"/>
              </a:rPr>
              <a:t>Invoice</a:t>
            </a:r>
            <a:endParaRPr sz="1200" b="0" i="0" u="none" strike="noStrike" cap="none">
              <a:solidFill>
                <a:srgbClr val="000000"/>
              </a:solidFill>
              <a:latin typeface="Arial"/>
              <a:ea typeface="Arial"/>
              <a:cs typeface="Arial"/>
              <a:sym typeface="Arial"/>
            </a:endParaRPr>
          </a:p>
        </p:txBody>
      </p:sp>
      <p:sp>
        <p:nvSpPr>
          <p:cNvPr id="1463" name="Google Shape;1463;p31"/>
          <p:cNvSpPr txBox="1"/>
          <p:nvPr/>
        </p:nvSpPr>
        <p:spPr>
          <a:xfrm>
            <a:off x="2383879" y="7447972"/>
            <a:ext cx="1373700" cy="23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234F"/>
                </a:solidFill>
                <a:latin typeface="Inter"/>
                <a:ea typeface="Inter"/>
                <a:cs typeface="Inter"/>
                <a:sym typeface="Inter"/>
              </a:rPr>
              <a:t>Payment</a:t>
            </a:r>
            <a:endParaRPr sz="1200" b="0" i="0" u="none" strike="noStrike" cap="none">
              <a:solidFill>
                <a:srgbClr val="000000"/>
              </a:solidFill>
              <a:latin typeface="Arial"/>
              <a:ea typeface="Arial"/>
              <a:cs typeface="Arial"/>
              <a:sym typeface="Arial"/>
            </a:endParaRPr>
          </a:p>
        </p:txBody>
      </p:sp>
      <p:sp>
        <p:nvSpPr>
          <p:cNvPr id="1464" name="Google Shape;1464;p31"/>
          <p:cNvSpPr txBox="1"/>
          <p:nvPr/>
        </p:nvSpPr>
        <p:spPr>
          <a:xfrm>
            <a:off x="5669531" y="8324861"/>
            <a:ext cx="2773500" cy="23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234F"/>
                </a:solidFill>
                <a:latin typeface="Inter"/>
                <a:ea typeface="Inter"/>
                <a:cs typeface="Inter"/>
                <a:sym typeface="Inter"/>
              </a:rPr>
              <a:t>Products/ Goods Delivery</a:t>
            </a:r>
            <a:endParaRPr sz="1200" b="0" i="0" u="none" strike="noStrike" cap="none">
              <a:solidFill>
                <a:srgbClr val="000000"/>
              </a:solidFill>
              <a:latin typeface="Arial"/>
              <a:ea typeface="Arial"/>
              <a:cs typeface="Arial"/>
              <a:sym typeface="Arial"/>
            </a:endParaRPr>
          </a:p>
        </p:txBody>
      </p:sp>
      <p:sp>
        <p:nvSpPr>
          <p:cNvPr id="1465" name="Google Shape;1465;p31"/>
          <p:cNvSpPr txBox="1"/>
          <p:nvPr/>
        </p:nvSpPr>
        <p:spPr>
          <a:xfrm>
            <a:off x="2412487" y="3245580"/>
            <a:ext cx="1373700" cy="23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234F"/>
                </a:solidFill>
                <a:latin typeface="Inter"/>
                <a:ea typeface="Inter"/>
                <a:cs typeface="Inter"/>
                <a:sym typeface="Inter"/>
              </a:rPr>
              <a:t>Orders</a:t>
            </a:r>
            <a:endParaRPr sz="1200" b="0" i="0" u="none" strike="noStrike" cap="none">
              <a:solidFill>
                <a:srgbClr val="000000"/>
              </a:solidFill>
              <a:latin typeface="Arial"/>
              <a:ea typeface="Arial"/>
              <a:cs typeface="Arial"/>
              <a:sym typeface="Arial"/>
            </a:endParaRPr>
          </a:p>
        </p:txBody>
      </p:sp>
      <p:sp>
        <p:nvSpPr>
          <p:cNvPr id="1466" name="Google Shape;1466;p31"/>
          <p:cNvSpPr txBox="1"/>
          <p:nvPr/>
        </p:nvSpPr>
        <p:spPr>
          <a:xfrm>
            <a:off x="2406067" y="3748506"/>
            <a:ext cx="1373700" cy="44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0" i="0" u="none" strike="noStrike" cap="none">
                <a:solidFill>
                  <a:srgbClr val="00234F"/>
                </a:solidFill>
                <a:latin typeface="Inter"/>
                <a:ea typeface="Inter"/>
                <a:cs typeface="Inter"/>
                <a:sym typeface="Inter"/>
              </a:rPr>
              <a:t>via Fax, Phone, Internet</a:t>
            </a:r>
            <a:endParaRPr sz="1200" b="0" i="0" u="none" strike="noStrike" cap="none">
              <a:solidFill>
                <a:srgbClr val="000000"/>
              </a:solidFill>
              <a:latin typeface="Arial"/>
              <a:ea typeface="Arial"/>
              <a:cs typeface="Arial"/>
              <a:sym typeface="Arial"/>
            </a:endParaRPr>
          </a:p>
        </p:txBody>
      </p:sp>
      <p:sp>
        <p:nvSpPr>
          <p:cNvPr id="1467" name="Google Shape;1467;p31"/>
          <p:cNvSpPr txBox="1"/>
          <p:nvPr/>
        </p:nvSpPr>
        <p:spPr>
          <a:xfrm>
            <a:off x="9825270" y="3245580"/>
            <a:ext cx="1373700" cy="23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234F"/>
                </a:solidFill>
                <a:latin typeface="Inter"/>
                <a:ea typeface="Inter"/>
                <a:cs typeface="Inter"/>
                <a:sym typeface="Inter"/>
              </a:rPr>
              <a:t>Center Orders</a:t>
            </a:r>
            <a:endParaRPr sz="1200" b="0" i="0" u="none" strike="noStrike" cap="none">
              <a:solidFill>
                <a:srgbClr val="000000"/>
              </a:solidFill>
              <a:latin typeface="Arial"/>
              <a:ea typeface="Arial"/>
              <a:cs typeface="Arial"/>
              <a:sym typeface="Arial"/>
            </a:endParaRPr>
          </a:p>
        </p:txBody>
      </p:sp>
      <p:sp>
        <p:nvSpPr>
          <p:cNvPr id="1468" name="Google Shape;1468;p31"/>
          <p:cNvSpPr txBox="1"/>
          <p:nvPr/>
        </p:nvSpPr>
        <p:spPr>
          <a:xfrm>
            <a:off x="9803084" y="3748506"/>
            <a:ext cx="1373700" cy="44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0" i="0" u="none" strike="noStrike" cap="none">
                <a:solidFill>
                  <a:srgbClr val="00234F"/>
                </a:solidFill>
                <a:latin typeface="Inter"/>
                <a:ea typeface="Inter"/>
                <a:cs typeface="Inter"/>
                <a:sym typeface="Inter"/>
              </a:rPr>
              <a:t>send purchasing order</a:t>
            </a:r>
            <a:endParaRPr sz="1200" b="0" i="0" u="none" strike="noStrike" cap="none">
              <a:solidFill>
                <a:srgbClr val="000000"/>
              </a:solidFill>
              <a:latin typeface="Arial"/>
              <a:ea typeface="Arial"/>
              <a:cs typeface="Arial"/>
              <a:sym typeface="Arial"/>
            </a:endParaRPr>
          </a:p>
        </p:txBody>
      </p:sp>
      <p:sp>
        <p:nvSpPr>
          <p:cNvPr id="1469" name="Google Shape;1469;p31"/>
          <p:cNvSpPr txBox="1"/>
          <p:nvPr/>
        </p:nvSpPr>
        <p:spPr>
          <a:xfrm>
            <a:off x="5484272" y="2305404"/>
            <a:ext cx="2847600" cy="508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500"/>
              <a:buFont typeface="Arial"/>
              <a:buNone/>
            </a:pPr>
            <a:r>
              <a:rPr lang="en-US" sz="1500" b="1" i="0" u="none" strike="noStrike" cap="none">
                <a:solidFill>
                  <a:srgbClr val="0054CE"/>
                </a:solidFill>
                <a:latin typeface="Inter"/>
                <a:ea typeface="Inter"/>
                <a:cs typeface="Inter"/>
                <a:sym typeface="Inter"/>
              </a:rPr>
              <a:t>Procurement Management System</a:t>
            </a:r>
            <a:endParaRPr sz="1200" b="0" i="0" u="none" strike="noStrike" cap="none">
              <a:solidFill>
                <a:srgbClr val="000000"/>
              </a:solidFill>
              <a:latin typeface="Arial"/>
              <a:ea typeface="Arial"/>
              <a:cs typeface="Arial"/>
              <a:sym typeface="Arial"/>
            </a:endParaRPr>
          </a:p>
        </p:txBody>
      </p:sp>
      <p:sp>
        <p:nvSpPr>
          <p:cNvPr id="1470" name="Google Shape;1470;p31"/>
          <p:cNvSpPr/>
          <p:nvPr/>
        </p:nvSpPr>
        <p:spPr>
          <a:xfrm>
            <a:off x="3964775" y="2243159"/>
            <a:ext cx="811700" cy="504108"/>
          </a:xfrm>
          <a:custGeom>
            <a:avLst/>
            <a:gdLst/>
            <a:ahLst/>
            <a:cxnLst/>
            <a:rect l="l" t="t" r="r" b="b"/>
            <a:pathLst>
              <a:path w="912023" h="566414" extrusionOk="0">
                <a:moveTo>
                  <a:pt x="0" y="0"/>
                </a:moveTo>
                <a:lnTo>
                  <a:pt x="912023" y="0"/>
                </a:lnTo>
                <a:lnTo>
                  <a:pt x="912023" y="566414"/>
                </a:lnTo>
                <a:lnTo>
                  <a:pt x="0" y="566414"/>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sp>
        <p:nvSpPr>
          <p:cNvPr id="1471" name="Google Shape;1471;p31"/>
          <p:cNvSpPr/>
          <p:nvPr/>
        </p:nvSpPr>
        <p:spPr>
          <a:xfrm>
            <a:off x="13764813" y="3113394"/>
            <a:ext cx="233749" cy="210374"/>
          </a:xfrm>
          <a:custGeom>
            <a:avLst/>
            <a:gdLst/>
            <a:ahLst/>
            <a:cxnLst/>
            <a:rect l="l" t="t" r="r" b="b"/>
            <a:pathLst>
              <a:path w="262639" h="236375" extrusionOk="0">
                <a:moveTo>
                  <a:pt x="0" y="0"/>
                </a:moveTo>
                <a:lnTo>
                  <a:pt x="262639" y="0"/>
                </a:lnTo>
                <a:lnTo>
                  <a:pt x="262639" y="236375"/>
                </a:lnTo>
                <a:lnTo>
                  <a:pt x="0" y="236375"/>
                </a:lnTo>
                <a:lnTo>
                  <a:pt x="0" y="0"/>
                </a:lnTo>
                <a:close/>
              </a:path>
            </a:pathLst>
          </a:custGeom>
          <a:blipFill rotWithShape="1">
            <a:blip r:embed="rId9">
              <a:alphaModFix/>
            </a:blip>
            <a:stretch>
              <a:fillRect/>
            </a:stretch>
          </a:blipFill>
          <a:ln>
            <a:noFill/>
          </a:ln>
        </p:spPr>
      </p:sp>
      <p:sp>
        <p:nvSpPr>
          <p:cNvPr id="1472" name="Google Shape;1472;p31"/>
          <p:cNvSpPr/>
          <p:nvPr/>
        </p:nvSpPr>
        <p:spPr>
          <a:xfrm>
            <a:off x="13764813" y="3789807"/>
            <a:ext cx="233749" cy="210374"/>
          </a:xfrm>
          <a:custGeom>
            <a:avLst/>
            <a:gdLst/>
            <a:ahLst/>
            <a:cxnLst/>
            <a:rect l="l" t="t" r="r" b="b"/>
            <a:pathLst>
              <a:path w="262639" h="236375" extrusionOk="0">
                <a:moveTo>
                  <a:pt x="0" y="0"/>
                </a:moveTo>
                <a:lnTo>
                  <a:pt x="262639" y="0"/>
                </a:lnTo>
                <a:lnTo>
                  <a:pt x="262639" y="236376"/>
                </a:lnTo>
                <a:lnTo>
                  <a:pt x="0" y="236376"/>
                </a:lnTo>
                <a:lnTo>
                  <a:pt x="0" y="0"/>
                </a:lnTo>
                <a:close/>
              </a:path>
            </a:pathLst>
          </a:custGeom>
          <a:blipFill rotWithShape="1">
            <a:blip r:embed="rId9">
              <a:alphaModFix/>
            </a:blip>
            <a:stretch>
              <a:fillRect/>
            </a:stretch>
          </a:blipFill>
          <a:ln>
            <a:noFill/>
          </a:ln>
        </p:spPr>
      </p:sp>
      <p:sp>
        <p:nvSpPr>
          <p:cNvPr id="1473" name="Google Shape;1473;p31"/>
          <p:cNvSpPr/>
          <p:nvPr/>
        </p:nvSpPr>
        <p:spPr>
          <a:xfrm>
            <a:off x="13764813" y="5521482"/>
            <a:ext cx="233749" cy="210374"/>
          </a:xfrm>
          <a:custGeom>
            <a:avLst/>
            <a:gdLst/>
            <a:ahLst/>
            <a:cxnLst/>
            <a:rect l="l" t="t" r="r" b="b"/>
            <a:pathLst>
              <a:path w="262639" h="236375" extrusionOk="0">
                <a:moveTo>
                  <a:pt x="0" y="0"/>
                </a:moveTo>
                <a:lnTo>
                  <a:pt x="262639" y="0"/>
                </a:lnTo>
                <a:lnTo>
                  <a:pt x="262639" y="236375"/>
                </a:lnTo>
                <a:lnTo>
                  <a:pt x="0" y="236375"/>
                </a:lnTo>
                <a:lnTo>
                  <a:pt x="0" y="0"/>
                </a:lnTo>
                <a:close/>
              </a:path>
            </a:pathLst>
          </a:custGeom>
          <a:blipFill rotWithShape="1">
            <a:blip r:embed="rId9">
              <a:alphaModFix/>
            </a:blip>
            <a:stretch>
              <a:fillRect/>
            </a:stretch>
          </a:blipFill>
          <a:ln>
            <a:noFill/>
          </a:ln>
        </p:spPr>
      </p:sp>
      <p:sp>
        <p:nvSpPr>
          <p:cNvPr id="1474" name="Google Shape;1474;p31"/>
          <p:cNvSpPr txBox="1"/>
          <p:nvPr/>
        </p:nvSpPr>
        <p:spPr>
          <a:xfrm>
            <a:off x="14104253" y="3732995"/>
            <a:ext cx="1873500" cy="1508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400"/>
              <a:buFont typeface="Arial"/>
              <a:buNone/>
            </a:pPr>
            <a:r>
              <a:rPr lang="en-US" sz="1400" b="0" i="0" u="none" strike="noStrike" cap="none">
                <a:solidFill>
                  <a:srgbClr val="00234F"/>
                </a:solidFill>
                <a:latin typeface="Inter"/>
                <a:ea typeface="Inter"/>
                <a:cs typeface="Inter"/>
                <a:sym typeface="Inter"/>
              </a:rPr>
              <a:t>Inventory tracking (numbers of goods imported from suppliers) and stock control (in-stock and goods sell-out data)</a:t>
            </a:r>
            <a:endParaRPr sz="1200" b="0" i="0" u="none" strike="noStrike" cap="none">
              <a:solidFill>
                <a:srgbClr val="000000"/>
              </a:solidFill>
              <a:latin typeface="Arial"/>
              <a:ea typeface="Arial"/>
              <a:cs typeface="Arial"/>
              <a:sym typeface="Arial"/>
            </a:endParaRPr>
          </a:p>
        </p:txBody>
      </p:sp>
      <p:sp>
        <p:nvSpPr>
          <p:cNvPr id="1475" name="Google Shape;1475;p31"/>
          <p:cNvSpPr txBox="1"/>
          <p:nvPr/>
        </p:nvSpPr>
        <p:spPr>
          <a:xfrm>
            <a:off x="14104253" y="5485595"/>
            <a:ext cx="1873500" cy="12501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400"/>
              <a:buFont typeface="Arial"/>
              <a:buNone/>
            </a:pPr>
            <a:r>
              <a:rPr lang="en-US" sz="1400" b="0" i="0" u="none" strike="noStrike" cap="none">
                <a:solidFill>
                  <a:srgbClr val="00234F"/>
                </a:solidFill>
                <a:latin typeface="Inter"/>
                <a:ea typeface="Inter"/>
                <a:cs typeface="Inter"/>
                <a:sym typeface="Inter"/>
              </a:rPr>
              <a:t>Forecasting and stock replenishment recommendations for new periods of goods imports.</a:t>
            </a:r>
            <a:endParaRPr sz="1200" b="0" i="0" u="none" strike="noStrike" cap="none">
              <a:solidFill>
                <a:srgbClr val="000000"/>
              </a:solidFill>
              <a:latin typeface="Arial"/>
              <a:ea typeface="Arial"/>
              <a:cs typeface="Arial"/>
              <a:sym typeface="Arial"/>
            </a:endParaRPr>
          </a:p>
        </p:txBody>
      </p:sp>
      <p:sp>
        <p:nvSpPr>
          <p:cNvPr id="1476" name="Google Shape;1476;p31"/>
          <p:cNvSpPr txBox="1"/>
          <p:nvPr/>
        </p:nvSpPr>
        <p:spPr>
          <a:xfrm>
            <a:off x="14104253" y="3082636"/>
            <a:ext cx="1774200" cy="474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400"/>
              <a:buFont typeface="Arial"/>
              <a:buNone/>
            </a:pPr>
            <a:r>
              <a:rPr lang="en-US" sz="1400" b="0" i="0" u="none" strike="noStrike" cap="none">
                <a:solidFill>
                  <a:srgbClr val="00234F"/>
                </a:solidFill>
                <a:latin typeface="Inter"/>
                <a:ea typeface="Inter"/>
                <a:cs typeface="Inter"/>
                <a:sym typeface="Inter"/>
              </a:rPr>
              <a:t>Supplier (Maker) Management</a:t>
            </a:r>
            <a:endParaRPr sz="1200" b="0" i="0" u="none" strike="noStrike" cap="none">
              <a:solidFill>
                <a:srgbClr val="000000"/>
              </a:solidFill>
              <a:latin typeface="Arial"/>
              <a:ea typeface="Arial"/>
              <a:cs typeface="Arial"/>
              <a:sym typeface="Arial"/>
            </a:endParaRPr>
          </a:p>
        </p:txBody>
      </p:sp>
      <p:sp>
        <p:nvSpPr>
          <p:cNvPr id="1477" name="Google Shape;1477;p31"/>
          <p:cNvSpPr/>
          <p:nvPr/>
        </p:nvSpPr>
        <p:spPr>
          <a:xfrm>
            <a:off x="13764813" y="6994682"/>
            <a:ext cx="233749" cy="210374"/>
          </a:xfrm>
          <a:custGeom>
            <a:avLst/>
            <a:gdLst/>
            <a:ahLst/>
            <a:cxnLst/>
            <a:rect l="l" t="t" r="r" b="b"/>
            <a:pathLst>
              <a:path w="262639" h="236375" extrusionOk="0">
                <a:moveTo>
                  <a:pt x="0" y="0"/>
                </a:moveTo>
                <a:lnTo>
                  <a:pt x="262639" y="0"/>
                </a:lnTo>
                <a:lnTo>
                  <a:pt x="262639" y="236375"/>
                </a:lnTo>
                <a:lnTo>
                  <a:pt x="0" y="236375"/>
                </a:lnTo>
                <a:lnTo>
                  <a:pt x="0" y="0"/>
                </a:lnTo>
                <a:close/>
              </a:path>
            </a:pathLst>
          </a:custGeom>
          <a:blipFill rotWithShape="1">
            <a:blip r:embed="rId9">
              <a:alphaModFix/>
            </a:blip>
            <a:stretch>
              <a:fillRect/>
            </a:stretch>
          </a:blipFill>
          <a:ln>
            <a:noFill/>
          </a:ln>
        </p:spPr>
      </p:sp>
      <p:sp>
        <p:nvSpPr>
          <p:cNvPr id="1478" name="Google Shape;1478;p31"/>
          <p:cNvSpPr txBox="1"/>
          <p:nvPr/>
        </p:nvSpPr>
        <p:spPr>
          <a:xfrm>
            <a:off x="14104253" y="6958795"/>
            <a:ext cx="1873500" cy="732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400"/>
              <a:buFont typeface="Arial"/>
              <a:buNone/>
            </a:pPr>
            <a:r>
              <a:rPr lang="en-US" sz="1400" b="0" i="0" u="none" strike="noStrike" cap="none">
                <a:solidFill>
                  <a:srgbClr val="00234F"/>
                </a:solidFill>
                <a:latin typeface="Inter"/>
                <a:ea typeface="Inter"/>
                <a:cs typeface="Inter"/>
                <a:sym typeface="Inter"/>
              </a:rPr>
              <a:t>Real-time stock vs supplier invoice comparison</a:t>
            </a:r>
            <a:endParaRPr sz="1200" b="0" i="0" u="none" strike="noStrike" cap="none">
              <a:solidFill>
                <a:srgbClr val="000000"/>
              </a:solidFill>
              <a:latin typeface="Arial"/>
              <a:ea typeface="Arial"/>
              <a:cs typeface="Arial"/>
              <a:sym typeface="Arial"/>
            </a:endParaRPr>
          </a:p>
        </p:txBody>
      </p:sp>
      <p:cxnSp>
        <p:nvCxnSpPr>
          <p:cNvPr id="1479" name="Google Shape;1479;p31"/>
          <p:cNvCxnSpPr>
            <a:stCxn id="1405" idx="2"/>
            <a:endCxn id="1393" idx="2"/>
          </p:cNvCxnSpPr>
          <p:nvPr/>
        </p:nvCxnSpPr>
        <p:spPr>
          <a:xfrm rot="5400000">
            <a:off x="6843629" y="2533633"/>
            <a:ext cx="600" cy="10973400"/>
          </a:xfrm>
          <a:prstGeom prst="curvedConnector3">
            <a:avLst>
              <a:gd name="adj1" fmla="val 156057662"/>
            </a:avLst>
          </a:prstGeom>
          <a:noFill/>
          <a:ln w="28575" cap="flat" cmpd="sng">
            <a:solidFill>
              <a:srgbClr val="037BFF"/>
            </a:solidFill>
            <a:prstDash val="lgDash"/>
            <a:round/>
            <a:headEnd type="none" w="sm" len="sm"/>
            <a:tailEnd type="none" w="sm" len="sm"/>
          </a:ln>
        </p:spPr>
      </p:cxnSp>
      <p:sp>
        <p:nvSpPr>
          <p:cNvPr id="1480" name="Google Shape;1480;p31"/>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b="-5"/>
            </a:stretch>
          </a:blipFill>
          <a:ln>
            <a:noFill/>
          </a:ln>
        </p:spPr>
      </p:sp>
      <p:grpSp>
        <p:nvGrpSpPr>
          <p:cNvPr id="1481" name="Google Shape;1481;p31"/>
          <p:cNvGrpSpPr/>
          <p:nvPr/>
        </p:nvGrpSpPr>
        <p:grpSpPr>
          <a:xfrm>
            <a:off x="872534" y="8351050"/>
            <a:ext cx="846442" cy="699635"/>
            <a:chOff x="0" y="0"/>
            <a:chExt cx="1269600" cy="1049400"/>
          </a:xfrm>
        </p:grpSpPr>
        <p:sp>
          <p:nvSpPr>
            <p:cNvPr id="1482" name="Google Shape;1482;p31"/>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483" name="Google Shape;1483;p31"/>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dirty="0">
                  <a:solidFill>
                    <a:srgbClr val="585858"/>
                  </a:solidFill>
                  <a:latin typeface="Inter"/>
                  <a:ea typeface="Inter"/>
                  <a:sym typeface="Inter"/>
                </a:rPr>
                <a:t>23</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87"/>
        <p:cNvGrpSpPr/>
        <p:nvPr/>
      </p:nvGrpSpPr>
      <p:grpSpPr>
        <a:xfrm>
          <a:off x="0" y="0"/>
          <a:ext cx="0" cy="0"/>
          <a:chOff x="0" y="0"/>
          <a:chExt cx="0" cy="0"/>
        </a:xfrm>
      </p:grpSpPr>
      <p:sp>
        <p:nvSpPr>
          <p:cNvPr id="1488" name="Google Shape;1488;p32"/>
          <p:cNvSpPr txBox="1"/>
          <p:nvPr/>
        </p:nvSpPr>
        <p:spPr>
          <a:xfrm>
            <a:off x="4738820" y="691004"/>
            <a:ext cx="11298600" cy="923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a:t>
            </a:r>
            <a:r>
              <a:rPr lang="en-US" sz="2500" b="1" i="0" u="none" strike="noStrike" cap="none">
                <a:solidFill>
                  <a:srgbClr val="004AAD"/>
                </a:solidFill>
                <a:latin typeface="Inter"/>
                <a:ea typeface="Inter"/>
                <a:cs typeface="Inter"/>
                <a:sym typeface="Inter"/>
              </a:rPr>
              <a:t> PROCUREMENT MANAGEMENT SYSTEM IN RETAIL - FOR SMARTER INVENTORY CONTROL (4/4)</a:t>
            </a:r>
            <a:endParaRPr sz="1200" b="0" i="0" u="none" strike="noStrike" cap="none">
              <a:solidFill>
                <a:srgbClr val="000000"/>
              </a:solidFill>
              <a:latin typeface="Arial"/>
              <a:ea typeface="Arial"/>
              <a:cs typeface="Arial"/>
              <a:sym typeface="Arial"/>
            </a:endParaRPr>
          </a:p>
        </p:txBody>
      </p:sp>
      <p:cxnSp>
        <p:nvCxnSpPr>
          <p:cNvPr id="1489" name="Google Shape;1489;p32"/>
          <p:cNvCxnSpPr/>
          <p:nvPr/>
        </p:nvCxnSpPr>
        <p:spPr>
          <a:xfrm>
            <a:off x="4738896" y="2201980"/>
            <a:ext cx="6942900"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1490" name="Google Shape;1490;p32"/>
          <p:cNvSpPr/>
          <p:nvPr/>
        </p:nvSpPr>
        <p:spPr>
          <a:xfrm>
            <a:off x="4811508" y="3346552"/>
            <a:ext cx="684778" cy="107853"/>
          </a:xfrm>
          <a:custGeom>
            <a:avLst/>
            <a:gdLst/>
            <a:ahLst/>
            <a:cxnLst/>
            <a:rect l="l" t="t" r="r" b="b"/>
            <a:pathLst>
              <a:path w="769414" h="121183" extrusionOk="0">
                <a:moveTo>
                  <a:pt x="0" y="0"/>
                </a:moveTo>
                <a:lnTo>
                  <a:pt x="769413" y="0"/>
                </a:lnTo>
                <a:lnTo>
                  <a:pt x="769413" y="121182"/>
                </a:lnTo>
                <a:lnTo>
                  <a:pt x="0" y="121182"/>
                </a:lnTo>
                <a:lnTo>
                  <a:pt x="0" y="0"/>
                </a:lnTo>
                <a:close/>
              </a:path>
            </a:pathLst>
          </a:custGeom>
          <a:blipFill rotWithShape="1">
            <a:blip r:embed="rId3">
              <a:alphaModFix/>
            </a:blip>
            <a:stretch>
              <a:fillRect/>
            </a:stretch>
          </a:blipFill>
          <a:ln>
            <a:noFill/>
          </a:ln>
        </p:spPr>
      </p:sp>
      <p:sp>
        <p:nvSpPr>
          <p:cNvPr id="1491" name="Google Shape;1491;p32"/>
          <p:cNvSpPr/>
          <p:nvPr/>
        </p:nvSpPr>
        <p:spPr>
          <a:xfrm>
            <a:off x="4811508" y="2547503"/>
            <a:ext cx="715404" cy="710933"/>
          </a:xfrm>
          <a:custGeom>
            <a:avLst/>
            <a:gdLst/>
            <a:ahLst/>
            <a:cxnLst/>
            <a:rect l="l" t="t" r="r" b="b"/>
            <a:pathLst>
              <a:path w="803825" h="798801" extrusionOk="0">
                <a:moveTo>
                  <a:pt x="0" y="0"/>
                </a:moveTo>
                <a:lnTo>
                  <a:pt x="803824" y="0"/>
                </a:lnTo>
                <a:lnTo>
                  <a:pt x="803824" y="798801"/>
                </a:lnTo>
                <a:lnTo>
                  <a:pt x="0" y="798801"/>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sp>
        <p:nvSpPr>
          <p:cNvPr id="1492" name="Google Shape;1492;p32"/>
          <p:cNvSpPr/>
          <p:nvPr/>
        </p:nvSpPr>
        <p:spPr>
          <a:xfrm>
            <a:off x="13879939" y="4440453"/>
            <a:ext cx="1465494" cy="910149"/>
          </a:xfrm>
          <a:custGeom>
            <a:avLst/>
            <a:gdLst/>
            <a:ahLst/>
            <a:cxnLst/>
            <a:rect l="l" t="t" r="r" b="b"/>
            <a:pathLst>
              <a:path w="1646622" h="1022639" extrusionOk="0">
                <a:moveTo>
                  <a:pt x="0" y="0"/>
                </a:moveTo>
                <a:lnTo>
                  <a:pt x="1646623" y="0"/>
                </a:lnTo>
                <a:lnTo>
                  <a:pt x="1646623" y="1022640"/>
                </a:lnTo>
                <a:lnTo>
                  <a:pt x="0" y="1022640"/>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sp>
        <p:nvSpPr>
          <p:cNvPr id="1493" name="Google Shape;1493;p32"/>
          <p:cNvSpPr/>
          <p:nvPr/>
        </p:nvSpPr>
        <p:spPr>
          <a:xfrm>
            <a:off x="11565584" y="3437614"/>
            <a:ext cx="1981121" cy="2244896"/>
          </a:xfrm>
          <a:custGeom>
            <a:avLst/>
            <a:gdLst/>
            <a:ahLst/>
            <a:cxnLst/>
            <a:rect l="l" t="t" r="r" b="b"/>
            <a:pathLst>
              <a:path w="2225979" h="2522355" extrusionOk="0">
                <a:moveTo>
                  <a:pt x="0" y="0"/>
                </a:moveTo>
                <a:lnTo>
                  <a:pt x="2225978" y="0"/>
                </a:lnTo>
                <a:lnTo>
                  <a:pt x="2225978" y="2522356"/>
                </a:lnTo>
                <a:lnTo>
                  <a:pt x="0" y="2522356"/>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494" name="Google Shape;1494;p32"/>
          <p:cNvSpPr/>
          <p:nvPr/>
        </p:nvSpPr>
        <p:spPr>
          <a:xfrm>
            <a:off x="8493227" y="3323686"/>
            <a:ext cx="684778" cy="107853"/>
          </a:xfrm>
          <a:custGeom>
            <a:avLst/>
            <a:gdLst/>
            <a:ahLst/>
            <a:cxnLst/>
            <a:rect l="l" t="t" r="r" b="b"/>
            <a:pathLst>
              <a:path w="769414" h="121183" extrusionOk="0">
                <a:moveTo>
                  <a:pt x="0" y="0"/>
                </a:moveTo>
                <a:lnTo>
                  <a:pt x="769414" y="0"/>
                </a:lnTo>
                <a:lnTo>
                  <a:pt x="769414" y="121183"/>
                </a:lnTo>
                <a:lnTo>
                  <a:pt x="0" y="121183"/>
                </a:lnTo>
                <a:lnTo>
                  <a:pt x="0" y="0"/>
                </a:lnTo>
                <a:close/>
              </a:path>
            </a:pathLst>
          </a:custGeom>
          <a:blipFill rotWithShape="1">
            <a:blip r:embed="rId3">
              <a:alphaModFix/>
            </a:blip>
            <a:stretch>
              <a:fillRect/>
            </a:stretch>
          </a:blipFill>
          <a:ln>
            <a:noFill/>
          </a:ln>
        </p:spPr>
      </p:sp>
      <p:grpSp>
        <p:nvGrpSpPr>
          <p:cNvPr id="1495" name="Google Shape;1495;p32"/>
          <p:cNvGrpSpPr/>
          <p:nvPr/>
        </p:nvGrpSpPr>
        <p:grpSpPr>
          <a:xfrm>
            <a:off x="5759279" y="2669362"/>
            <a:ext cx="2471597" cy="572629"/>
            <a:chOff x="0" y="-139700"/>
            <a:chExt cx="3707210" cy="858900"/>
          </a:xfrm>
        </p:grpSpPr>
        <p:sp>
          <p:nvSpPr>
            <p:cNvPr id="1496" name="Google Shape;1496;p32"/>
            <p:cNvSpPr txBox="1"/>
            <p:nvPr/>
          </p:nvSpPr>
          <p:spPr>
            <a:xfrm>
              <a:off x="18410" y="-139700"/>
              <a:ext cx="3688800" cy="858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1" i="0" u="none" strike="noStrike" cap="none">
                  <a:solidFill>
                    <a:srgbClr val="004AAD"/>
                  </a:solidFill>
                  <a:latin typeface="Inter"/>
                  <a:ea typeface="Inter"/>
                  <a:cs typeface="Inter"/>
                  <a:sym typeface="Inter"/>
                </a:rPr>
                <a:t>   6 times (600%)</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on Initial &amp; Operational Expense</a:t>
              </a:r>
              <a:endParaRPr sz="1200" b="0" i="0" u="none" strike="noStrike" cap="none">
                <a:solidFill>
                  <a:srgbClr val="000000"/>
                </a:solidFill>
                <a:latin typeface="Arial"/>
                <a:ea typeface="Arial"/>
                <a:cs typeface="Arial"/>
                <a:sym typeface="Arial"/>
              </a:endParaRPr>
            </a:p>
          </p:txBody>
        </p:sp>
        <p:grpSp>
          <p:nvGrpSpPr>
            <p:cNvPr id="1497" name="Google Shape;1497;p32"/>
            <p:cNvGrpSpPr/>
            <p:nvPr/>
          </p:nvGrpSpPr>
          <p:grpSpPr>
            <a:xfrm>
              <a:off x="0" y="-7364"/>
              <a:ext cx="170872" cy="352513"/>
              <a:chOff x="0" y="-28575"/>
              <a:chExt cx="663064" cy="1367920"/>
            </a:xfrm>
          </p:grpSpPr>
          <p:sp>
            <p:nvSpPr>
              <p:cNvPr id="1498" name="Google Shape;1498;p32"/>
              <p:cNvSpPr/>
              <p:nvPr/>
            </p:nvSpPr>
            <p:spPr>
              <a:xfrm>
                <a:off x="0" y="0"/>
                <a:ext cx="663064" cy="1339345"/>
              </a:xfrm>
              <a:custGeom>
                <a:avLst/>
                <a:gdLst/>
                <a:ahLst/>
                <a:cxnLst/>
                <a:rect l="l" t="t" r="r" b="b"/>
                <a:pathLst>
                  <a:path w="663064" h="1339345" extrusionOk="0">
                    <a:moveTo>
                      <a:pt x="331532" y="1339345"/>
                    </a:moveTo>
                    <a:lnTo>
                      <a:pt x="0" y="932945"/>
                    </a:lnTo>
                    <a:lnTo>
                      <a:pt x="203200" y="932945"/>
                    </a:lnTo>
                    <a:lnTo>
                      <a:pt x="203200" y="0"/>
                    </a:lnTo>
                    <a:lnTo>
                      <a:pt x="459864" y="0"/>
                    </a:lnTo>
                    <a:lnTo>
                      <a:pt x="459864" y="932945"/>
                    </a:lnTo>
                    <a:lnTo>
                      <a:pt x="663064" y="932945"/>
                    </a:lnTo>
                    <a:lnTo>
                      <a:pt x="331532" y="1339345"/>
                    </a:lnTo>
                    <a:close/>
                  </a:path>
                </a:pathLst>
              </a:custGeom>
              <a:solidFill>
                <a:srgbClr val="0041AA"/>
              </a:solidFill>
              <a:ln>
                <a:noFill/>
              </a:ln>
            </p:spPr>
          </p:sp>
          <p:sp>
            <p:nvSpPr>
              <p:cNvPr id="1499" name="Google Shape;1499;p32"/>
              <p:cNvSpPr txBox="1"/>
              <p:nvPr/>
            </p:nvSpPr>
            <p:spPr>
              <a:xfrm>
                <a:off x="203200" y="-28575"/>
                <a:ext cx="256800" cy="1266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grpSp>
        <p:nvGrpSpPr>
          <p:cNvPr id="1500" name="Google Shape;1500;p32"/>
          <p:cNvGrpSpPr/>
          <p:nvPr/>
        </p:nvGrpSpPr>
        <p:grpSpPr>
          <a:xfrm>
            <a:off x="9396306" y="2671314"/>
            <a:ext cx="2368882" cy="831242"/>
            <a:chOff x="0" y="-38100"/>
            <a:chExt cx="3553145" cy="1246800"/>
          </a:xfrm>
        </p:grpSpPr>
        <p:sp>
          <p:nvSpPr>
            <p:cNvPr id="1501" name="Google Shape;1501;p32"/>
            <p:cNvSpPr txBox="1"/>
            <p:nvPr/>
          </p:nvSpPr>
          <p:spPr>
            <a:xfrm>
              <a:off x="17645" y="-38100"/>
              <a:ext cx="3535500" cy="1246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1" i="0" u="none" strike="noStrike" cap="none">
                  <a:solidFill>
                    <a:srgbClr val="004AAD"/>
                  </a:solidFill>
                  <a:latin typeface="Inter"/>
                  <a:ea typeface="Inter"/>
                  <a:cs typeface="Inter"/>
                  <a:sym typeface="Inter"/>
                </a:rPr>
                <a:t>   50%</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on Work Hours in  procurement-related tasks</a:t>
              </a:r>
              <a:endParaRPr sz="1200" b="0" i="0" u="none" strike="noStrike" cap="none">
                <a:solidFill>
                  <a:srgbClr val="000000"/>
                </a:solidFill>
                <a:latin typeface="Arial"/>
                <a:ea typeface="Arial"/>
                <a:cs typeface="Arial"/>
                <a:sym typeface="Arial"/>
              </a:endParaRPr>
            </a:p>
          </p:txBody>
        </p:sp>
        <p:grpSp>
          <p:nvGrpSpPr>
            <p:cNvPr id="1502" name="Google Shape;1502;p32"/>
            <p:cNvGrpSpPr/>
            <p:nvPr/>
          </p:nvGrpSpPr>
          <p:grpSpPr>
            <a:xfrm>
              <a:off x="0" y="-7364"/>
              <a:ext cx="163767" cy="352513"/>
              <a:chOff x="0" y="-28575"/>
              <a:chExt cx="635495" cy="1367920"/>
            </a:xfrm>
          </p:grpSpPr>
          <p:sp>
            <p:nvSpPr>
              <p:cNvPr id="1503" name="Google Shape;1503;p32"/>
              <p:cNvSpPr/>
              <p:nvPr/>
            </p:nvSpPr>
            <p:spPr>
              <a:xfrm>
                <a:off x="0" y="0"/>
                <a:ext cx="635495" cy="1339345"/>
              </a:xfrm>
              <a:custGeom>
                <a:avLst/>
                <a:gdLst/>
                <a:ahLst/>
                <a:cxnLst/>
                <a:rect l="l" t="t" r="r" b="b"/>
                <a:pathLst>
                  <a:path w="635495" h="1339345" extrusionOk="0">
                    <a:moveTo>
                      <a:pt x="317747" y="1339345"/>
                    </a:moveTo>
                    <a:lnTo>
                      <a:pt x="0" y="932945"/>
                    </a:lnTo>
                    <a:lnTo>
                      <a:pt x="203200" y="932945"/>
                    </a:lnTo>
                    <a:lnTo>
                      <a:pt x="203200" y="0"/>
                    </a:lnTo>
                    <a:lnTo>
                      <a:pt x="432295" y="0"/>
                    </a:lnTo>
                    <a:lnTo>
                      <a:pt x="432295" y="932945"/>
                    </a:lnTo>
                    <a:lnTo>
                      <a:pt x="635495" y="932945"/>
                    </a:lnTo>
                    <a:lnTo>
                      <a:pt x="317747" y="1339345"/>
                    </a:lnTo>
                    <a:close/>
                  </a:path>
                </a:pathLst>
              </a:custGeom>
              <a:solidFill>
                <a:srgbClr val="0041AA"/>
              </a:solidFill>
              <a:ln>
                <a:noFill/>
              </a:ln>
            </p:spPr>
          </p:sp>
          <p:sp>
            <p:nvSpPr>
              <p:cNvPr id="1504" name="Google Shape;1504;p32"/>
              <p:cNvSpPr txBox="1"/>
              <p:nvPr/>
            </p:nvSpPr>
            <p:spPr>
              <a:xfrm>
                <a:off x="203200" y="-28575"/>
                <a:ext cx="229200" cy="1266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sp>
        <p:nvSpPr>
          <p:cNvPr id="1505" name="Google Shape;1505;p32"/>
          <p:cNvSpPr/>
          <p:nvPr/>
        </p:nvSpPr>
        <p:spPr>
          <a:xfrm>
            <a:off x="8535560" y="2529946"/>
            <a:ext cx="715763" cy="728511"/>
          </a:xfrm>
          <a:custGeom>
            <a:avLst/>
            <a:gdLst/>
            <a:ahLst/>
            <a:cxnLst/>
            <a:rect l="l" t="t" r="r" b="b"/>
            <a:pathLst>
              <a:path w="804228" h="818552" extrusionOk="0">
                <a:moveTo>
                  <a:pt x="0" y="0"/>
                </a:moveTo>
                <a:lnTo>
                  <a:pt x="804228" y="0"/>
                </a:lnTo>
                <a:lnTo>
                  <a:pt x="804228" y="818553"/>
                </a:lnTo>
                <a:lnTo>
                  <a:pt x="0" y="818553"/>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1506" name="Google Shape;1506;p32"/>
          <p:cNvSpPr txBox="1"/>
          <p:nvPr/>
        </p:nvSpPr>
        <p:spPr>
          <a:xfrm>
            <a:off x="4738896" y="1772707"/>
            <a:ext cx="45594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Result</a:t>
            </a:r>
            <a:endParaRPr sz="1200" b="0" i="0" u="none" strike="noStrike" cap="none">
              <a:solidFill>
                <a:srgbClr val="000000"/>
              </a:solidFill>
              <a:latin typeface="Arial"/>
              <a:ea typeface="Arial"/>
              <a:cs typeface="Arial"/>
              <a:sym typeface="Arial"/>
            </a:endParaRPr>
          </a:p>
        </p:txBody>
      </p:sp>
      <p:sp>
        <p:nvSpPr>
          <p:cNvPr id="1507" name="Google Shape;1507;p32"/>
          <p:cNvSpPr txBox="1"/>
          <p:nvPr/>
        </p:nvSpPr>
        <p:spPr>
          <a:xfrm>
            <a:off x="4738896" y="3877603"/>
            <a:ext cx="6032700" cy="3051000"/>
          </a:xfrm>
          <a:prstGeom prst="rect">
            <a:avLst/>
          </a:prstGeom>
          <a:noFill/>
          <a:ln>
            <a:noFill/>
          </a:ln>
        </p:spPr>
        <p:txBody>
          <a:bodyPr spcFirstLastPara="1" wrap="square" lIns="0" tIns="0" rIns="0" bIns="0" anchor="t" anchorCtr="0">
            <a:spAutoFit/>
          </a:bodyPr>
          <a:lstStyle/>
          <a:p>
            <a:pPr marL="0" marR="0" lvl="0" indent="0" algn="l" rtl="0">
              <a:lnSpc>
                <a:spcPct val="39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266700" marR="0" lvl="1" indent="-127000" algn="just" rtl="0">
              <a:lnSpc>
                <a:spcPct val="140000"/>
              </a:lnSpc>
              <a:spcBef>
                <a:spcPts val="0"/>
              </a:spcBef>
              <a:spcAft>
                <a:spcPts val="0"/>
              </a:spcAft>
              <a:buClr>
                <a:srgbClr val="004AAD"/>
              </a:buClr>
              <a:buSzPts val="1200"/>
              <a:buFont typeface="Arial"/>
              <a:buChar char="•"/>
            </a:pPr>
            <a:r>
              <a:rPr lang="en-US" sz="1200" b="1" i="0" u="none" strike="noStrike" cap="none">
                <a:solidFill>
                  <a:srgbClr val="004AAD"/>
                </a:solidFill>
                <a:latin typeface="Inter"/>
                <a:ea typeface="Inter"/>
                <a:cs typeface="Inter"/>
                <a:sym typeface="Inter"/>
              </a:rPr>
              <a:t>Cost reduction:</a:t>
            </a:r>
            <a:r>
              <a:rPr lang="en-US" sz="1200" b="0" i="0" u="none" strike="noStrike" cap="none">
                <a:solidFill>
                  <a:srgbClr val="004AAD"/>
                </a:solidFill>
                <a:latin typeface="Inter"/>
                <a:ea typeface="Inter"/>
                <a:cs typeface="Inter"/>
                <a:sym typeface="Inter"/>
              </a:rPr>
              <a:t> </a:t>
            </a:r>
            <a:endParaRPr sz="12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Migrating to a Cloud-based system cut initial and operational expenses by 6 times.</a:t>
            </a:r>
            <a:endParaRPr sz="1200" b="0" i="0" u="none" strike="noStrike" cap="none">
              <a:solidFill>
                <a:srgbClr val="000000"/>
              </a:solidFill>
              <a:latin typeface="Arial"/>
              <a:ea typeface="Arial"/>
              <a:cs typeface="Arial"/>
              <a:sym typeface="Arial"/>
            </a:endParaRPr>
          </a:p>
          <a:p>
            <a:pPr marL="0" marR="0" lvl="0" indent="0" algn="just" rtl="0">
              <a:lnSpc>
                <a:spcPct val="50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a:p>
            <a:pPr marL="266700" marR="0" lvl="1" indent="-127000" algn="just" rtl="0">
              <a:lnSpc>
                <a:spcPct val="140000"/>
              </a:lnSpc>
              <a:spcBef>
                <a:spcPts val="0"/>
              </a:spcBef>
              <a:spcAft>
                <a:spcPts val="0"/>
              </a:spcAft>
              <a:buClr>
                <a:srgbClr val="004AAD"/>
              </a:buClr>
              <a:buSzPts val="1200"/>
              <a:buFont typeface="Arial"/>
              <a:buChar char="•"/>
            </a:pPr>
            <a:r>
              <a:rPr lang="en-US" sz="1200" b="1" i="0" u="none" strike="noStrike" cap="none">
                <a:solidFill>
                  <a:srgbClr val="004AAD"/>
                </a:solidFill>
                <a:latin typeface="Inter"/>
                <a:ea typeface="Inter"/>
                <a:cs typeface="Inter"/>
                <a:sym typeface="Inter"/>
              </a:rPr>
              <a:t>Increase Efficiency:</a:t>
            </a:r>
            <a:r>
              <a:rPr lang="en-US" sz="1200" b="0" i="0" u="none" strike="noStrike" cap="none">
                <a:solidFill>
                  <a:srgbClr val="3A3A3A"/>
                </a:solidFill>
                <a:latin typeface="Inter"/>
                <a:ea typeface="Inter"/>
                <a:cs typeface="Inter"/>
                <a:sym typeface="Inter"/>
              </a:rPr>
              <a:t> </a:t>
            </a:r>
            <a:endParaRPr sz="12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Automated workflows reduced procurement-related (inventory management, goods importing, stock replenishment forecast) work hours by 50%.</a:t>
            </a:r>
            <a:endParaRPr sz="1200" b="0" i="0" u="none" strike="noStrike" cap="none">
              <a:solidFill>
                <a:srgbClr val="000000"/>
              </a:solidFill>
              <a:latin typeface="Arial"/>
              <a:ea typeface="Arial"/>
              <a:cs typeface="Arial"/>
              <a:sym typeface="Arial"/>
            </a:endParaRPr>
          </a:p>
          <a:p>
            <a:pPr marL="0" marR="0" lvl="0" indent="0" algn="just" rtl="0">
              <a:lnSpc>
                <a:spcPct val="50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a:p>
            <a:pPr marL="266700" marR="0" lvl="1" indent="-127000" algn="just" rtl="0">
              <a:lnSpc>
                <a:spcPct val="140000"/>
              </a:lnSpc>
              <a:spcBef>
                <a:spcPts val="0"/>
              </a:spcBef>
              <a:spcAft>
                <a:spcPts val="0"/>
              </a:spcAft>
              <a:buClr>
                <a:srgbClr val="004AAD"/>
              </a:buClr>
              <a:buSzPts val="1200"/>
              <a:buFont typeface="Arial"/>
              <a:buChar char="•"/>
            </a:pPr>
            <a:r>
              <a:rPr lang="en-US" sz="1200" b="1" i="0" u="none" strike="noStrike" cap="none">
                <a:solidFill>
                  <a:srgbClr val="004AAD"/>
                </a:solidFill>
                <a:latin typeface="Inter"/>
                <a:ea typeface="Inter"/>
                <a:cs typeface="Inter"/>
                <a:sym typeface="Inter"/>
              </a:rPr>
              <a:t>Data accuracy:</a:t>
            </a:r>
            <a:r>
              <a:rPr lang="en-US" sz="1200" b="1" i="0" u="none" strike="noStrike" cap="none">
                <a:solidFill>
                  <a:srgbClr val="3A3A3A"/>
                </a:solidFill>
                <a:latin typeface="Inter"/>
                <a:ea typeface="Inter"/>
                <a:cs typeface="Inter"/>
                <a:sym typeface="Inter"/>
              </a:rPr>
              <a:t> </a:t>
            </a:r>
            <a:endParaRPr sz="12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Fewer manual errors improved inventory tracking and order accuracy.</a:t>
            </a:r>
            <a:endParaRPr sz="1200" b="0" i="0" u="none" strike="noStrike" cap="none">
              <a:solidFill>
                <a:srgbClr val="3A3A3A"/>
              </a:solidFill>
              <a:latin typeface="Inter"/>
              <a:ea typeface="Inter"/>
              <a:cs typeface="Inter"/>
              <a:sym typeface="Inter"/>
            </a:endParaRPr>
          </a:p>
          <a:p>
            <a:pPr marL="0" marR="0" lvl="0" indent="0" algn="just" rtl="0">
              <a:lnSpc>
                <a:spcPct val="140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a:p>
            <a:pPr marL="266700" marR="0" lvl="1" indent="-127000" algn="just" rtl="0">
              <a:lnSpc>
                <a:spcPct val="140000"/>
              </a:lnSpc>
              <a:spcBef>
                <a:spcPts val="0"/>
              </a:spcBef>
              <a:spcAft>
                <a:spcPts val="0"/>
              </a:spcAft>
              <a:buClr>
                <a:srgbClr val="004AAD"/>
              </a:buClr>
              <a:buSzPts val="1200"/>
              <a:buFont typeface="Arial"/>
              <a:buChar char="•"/>
            </a:pPr>
            <a:r>
              <a:rPr lang="en-US" sz="1200" b="1" i="0" u="none" strike="noStrike" cap="none">
                <a:solidFill>
                  <a:srgbClr val="004AAD"/>
                </a:solidFill>
                <a:latin typeface="Inter"/>
                <a:ea typeface="Inter"/>
                <a:cs typeface="Inter"/>
                <a:sym typeface="Inter"/>
              </a:rPr>
              <a:t>Increase effective order forecast: </a:t>
            </a:r>
            <a:endParaRPr sz="1200" b="1" i="0" u="none" strike="noStrike" cap="none">
              <a:solidFill>
                <a:srgbClr val="004AAD"/>
              </a:solidFill>
              <a:latin typeface="Inter"/>
              <a:ea typeface="Inter"/>
              <a:cs typeface="Inter"/>
              <a:sym typeface="Inter"/>
            </a:endParaRPr>
          </a:p>
          <a:p>
            <a:pPr marL="0" marR="0" lvl="0" indent="0" algn="just" rtl="0">
              <a:lnSpc>
                <a:spcPct val="140000"/>
              </a:lnSpc>
              <a:spcBef>
                <a:spcPts val="0"/>
              </a:spcBef>
              <a:spcAft>
                <a:spcPts val="0"/>
              </a:spcAft>
              <a:buClr>
                <a:schemeClr val="dk1"/>
              </a:buClr>
              <a:buSzPts val="1200"/>
              <a:buFont typeface="Arial"/>
              <a:buNone/>
            </a:pPr>
            <a:r>
              <a:rPr lang="en-US" sz="1200" b="0" i="0" u="none" strike="noStrike" cap="none">
                <a:solidFill>
                  <a:srgbClr val="3A3A3A"/>
                </a:solidFill>
                <a:latin typeface="Inter"/>
                <a:ea typeface="Inter"/>
                <a:cs typeface="Inter"/>
                <a:sym typeface="Inter"/>
              </a:rPr>
              <a:t>The system leverages past data to give suggestions on order forecasts for the next procurement period.</a:t>
            </a:r>
            <a:endParaRPr sz="1200" b="0" i="0" u="none" strike="noStrike" cap="none">
              <a:solidFill>
                <a:srgbClr val="3A3A3A"/>
              </a:solidFill>
              <a:latin typeface="Inter"/>
              <a:ea typeface="Inter"/>
              <a:cs typeface="Inter"/>
              <a:sym typeface="Inter"/>
            </a:endParaRPr>
          </a:p>
        </p:txBody>
      </p:sp>
      <p:sp>
        <p:nvSpPr>
          <p:cNvPr id="1508" name="Google Shape;1508;p32"/>
          <p:cNvSpPr txBox="1"/>
          <p:nvPr/>
        </p:nvSpPr>
        <p:spPr>
          <a:xfrm>
            <a:off x="13879934" y="3759400"/>
            <a:ext cx="2157600" cy="440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300"/>
              <a:buFont typeface="Arial"/>
              <a:buNone/>
            </a:pPr>
            <a:r>
              <a:rPr lang="en-US" sz="1300" b="1" i="0" u="none" strike="noStrike" cap="none">
                <a:solidFill>
                  <a:srgbClr val="0054CE"/>
                </a:solidFill>
                <a:latin typeface="Inter"/>
                <a:ea typeface="Inter"/>
                <a:cs typeface="Inter"/>
                <a:sym typeface="Inter"/>
              </a:rPr>
              <a:t>Procurement Management System</a:t>
            </a:r>
            <a:endParaRPr sz="1200" b="0" i="0" u="none" strike="noStrike" cap="none">
              <a:solidFill>
                <a:srgbClr val="000000"/>
              </a:solidFill>
              <a:latin typeface="Arial"/>
              <a:ea typeface="Arial"/>
              <a:cs typeface="Arial"/>
              <a:sym typeface="Arial"/>
            </a:endParaRPr>
          </a:p>
        </p:txBody>
      </p:sp>
      <p:sp>
        <p:nvSpPr>
          <p:cNvPr id="1509" name="Google Shape;1509;p32"/>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8" cstate="email">
              <a:alphaModFix amt="46000"/>
              <a:extLst>
                <a:ext uri="{28A0092B-C50C-407E-A947-70E740481C1C}">
                  <a14:useLocalDpi xmlns:a14="http://schemas.microsoft.com/office/drawing/2010/main"/>
                </a:ext>
              </a:extLst>
            </a:blip>
            <a:stretch>
              <a:fillRect/>
            </a:stretch>
          </a:blipFill>
          <a:ln>
            <a:noFill/>
          </a:ln>
        </p:spPr>
      </p:sp>
      <p:sp>
        <p:nvSpPr>
          <p:cNvPr id="1510" name="Google Shape;1510;p32"/>
          <p:cNvSpPr/>
          <p:nvPr/>
        </p:nvSpPr>
        <p:spPr>
          <a:xfrm rot="5400000">
            <a:off x="411095" y="2288858"/>
            <a:ext cx="9155430" cy="4577715"/>
          </a:xfrm>
          <a:custGeom>
            <a:avLst/>
            <a:gdLst/>
            <a:ahLst/>
            <a:cxnLst/>
            <a:rect l="l" t="t" r="r" b="b"/>
            <a:pathLst>
              <a:path w="10287000" h="5143500" extrusionOk="0">
                <a:moveTo>
                  <a:pt x="0" y="0"/>
                </a:moveTo>
                <a:lnTo>
                  <a:pt x="10287000" y="0"/>
                </a:lnTo>
                <a:lnTo>
                  <a:pt x="10287000" y="5143500"/>
                </a:lnTo>
                <a:lnTo>
                  <a:pt x="0" y="5143500"/>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grpSp>
        <p:nvGrpSpPr>
          <p:cNvPr id="1511" name="Google Shape;1511;p32"/>
          <p:cNvGrpSpPr/>
          <p:nvPr/>
        </p:nvGrpSpPr>
        <p:grpSpPr>
          <a:xfrm>
            <a:off x="-22109" y="-225021"/>
            <a:ext cx="4312685" cy="9369027"/>
            <a:chOff x="0" y="-66675"/>
            <a:chExt cx="2748684" cy="2776008"/>
          </a:xfrm>
        </p:grpSpPr>
        <p:sp>
          <p:nvSpPr>
            <p:cNvPr id="1512" name="Google Shape;1512;p32"/>
            <p:cNvSpPr/>
            <p:nvPr/>
          </p:nvSpPr>
          <p:spPr>
            <a:xfrm>
              <a:off x="0" y="0"/>
              <a:ext cx="2748684" cy="2709333"/>
            </a:xfrm>
            <a:custGeom>
              <a:avLst/>
              <a:gdLst/>
              <a:ahLst/>
              <a:cxnLst/>
              <a:rect l="l" t="t" r="r" b="b"/>
              <a:pathLst>
                <a:path w="2748684" h="2709333" extrusionOk="0">
                  <a:moveTo>
                    <a:pt x="0" y="0"/>
                  </a:moveTo>
                  <a:lnTo>
                    <a:pt x="2748684" y="0"/>
                  </a:lnTo>
                  <a:lnTo>
                    <a:pt x="2748684" y="2709333"/>
                  </a:lnTo>
                  <a:lnTo>
                    <a:pt x="0" y="2709333"/>
                  </a:lnTo>
                  <a:close/>
                </a:path>
              </a:pathLst>
            </a:custGeom>
            <a:solidFill>
              <a:srgbClr val="003A86"/>
            </a:solidFill>
            <a:ln>
              <a:noFill/>
            </a:ln>
          </p:spPr>
        </p:sp>
        <p:sp>
          <p:nvSpPr>
            <p:cNvPr id="1513" name="Google Shape;1513;p32"/>
            <p:cNvSpPr txBox="1"/>
            <p:nvPr/>
          </p:nvSpPr>
          <p:spPr>
            <a:xfrm>
              <a:off x="0" y="-66675"/>
              <a:ext cx="2748600" cy="2775900"/>
            </a:xfrm>
            <a:prstGeom prst="rect">
              <a:avLst/>
            </a:prstGeom>
            <a:noFill/>
            <a:ln>
              <a:noFill/>
            </a:ln>
          </p:spPr>
          <p:txBody>
            <a:bodyPr spcFirstLastPara="1" wrap="square" lIns="45150" tIns="45150" rIns="45150" bIns="45150" anchor="ctr" anchorCtr="0">
              <a:noAutofit/>
            </a:bodyPr>
            <a:lstStyle/>
            <a:p>
              <a:pPr marL="0" marR="0" lvl="0" indent="0" algn="ctr" rtl="0">
                <a:lnSpc>
                  <a:spcPct val="16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514" name="Google Shape;1514;p32"/>
          <p:cNvSpPr/>
          <p:nvPr/>
        </p:nvSpPr>
        <p:spPr>
          <a:xfrm>
            <a:off x="648689" y="3304219"/>
            <a:ext cx="495765" cy="472836"/>
          </a:xfrm>
          <a:custGeom>
            <a:avLst/>
            <a:gdLst/>
            <a:ahLst/>
            <a:cxnLst/>
            <a:rect l="l" t="t" r="r" b="b"/>
            <a:pathLst>
              <a:path w="557039" h="531276" extrusionOk="0">
                <a:moveTo>
                  <a:pt x="0" y="0"/>
                </a:moveTo>
                <a:lnTo>
                  <a:pt x="557039" y="0"/>
                </a:lnTo>
                <a:lnTo>
                  <a:pt x="557039" y="531276"/>
                </a:lnTo>
                <a:lnTo>
                  <a:pt x="0" y="531276"/>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1515" name="Google Shape;1515;p32"/>
          <p:cNvSpPr/>
          <p:nvPr/>
        </p:nvSpPr>
        <p:spPr>
          <a:xfrm>
            <a:off x="648689" y="4199684"/>
            <a:ext cx="495765" cy="495765"/>
          </a:xfrm>
          <a:custGeom>
            <a:avLst/>
            <a:gdLst/>
            <a:ahLst/>
            <a:cxnLst/>
            <a:rect l="l" t="t" r="r" b="b"/>
            <a:pathLst>
              <a:path w="557039" h="557039" extrusionOk="0">
                <a:moveTo>
                  <a:pt x="0" y="0"/>
                </a:moveTo>
                <a:lnTo>
                  <a:pt x="557039" y="0"/>
                </a:lnTo>
                <a:lnTo>
                  <a:pt x="557039" y="557039"/>
                </a:lnTo>
                <a:lnTo>
                  <a:pt x="0" y="557039"/>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sp>
        <p:nvSpPr>
          <p:cNvPr id="1516" name="Google Shape;1516;p32"/>
          <p:cNvSpPr/>
          <p:nvPr/>
        </p:nvSpPr>
        <p:spPr>
          <a:xfrm>
            <a:off x="541124" y="5084296"/>
            <a:ext cx="711164" cy="728380"/>
          </a:xfrm>
          <a:custGeom>
            <a:avLst/>
            <a:gdLst/>
            <a:ahLst/>
            <a:cxnLst/>
            <a:rect l="l" t="t" r="r" b="b"/>
            <a:pathLst>
              <a:path w="799061" h="818405" extrusionOk="0">
                <a:moveTo>
                  <a:pt x="0" y="0"/>
                </a:moveTo>
                <a:lnTo>
                  <a:pt x="799061" y="0"/>
                </a:lnTo>
                <a:lnTo>
                  <a:pt x="799061" y="818405"/>
                </a:lnTo>
                <a:lnTo>
                  <a:pt x="0" y="818405"/>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sp>
      <p:sp>
        <p:nvSpPr>
          <p:cNvPr id="1517" name="Google Shape;1517;p32"/>
          <p:cNvSpPr txBox="1"/>
          <p:nvPr/>
        </p:nvSpPr>
        <p:spPr>
          <a:xfrm>
            <a:off x="1389334" y="3287556"/>
            <a:ext cx="16656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Headquartered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in Japan</a:t>
            </a:r>
            <a:endParaRPr sz="1200" b="0" i="0" u="none" strike="noStrike" cap="none">
              <a:solidFill>
                <a:srgbClr val="000000"/>
              </a:solidFill>
              <a:latin typeface="Arial"/>
              <a:ea typeface="Arial"/>
              <a:cs typeface="Arial"/>
              <a:sym typeface="Arial"/>
            </a:endParaRPr>
          </a:p>
        </p:txBody>
      </p:sp>
      <p:sp>
        <p:nvSpPr>
          <p:cNvPr id="1518" name="Google Shape;1518;p32"/>
          <p:cNvSpPr txBox="1"/>
          <p:nvPr/>
        </p:nvSpPr>
        <p:spPr>
          <a:xfrm>
            <a:off x="1389333" y="4165822"/>
            <a:ext cx="27885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Over</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45 years </a:t>
            </a:r>
            <a:r>
              <a:rPr lang="en-US" sz="1500" b="0" i="0" u="none" strike="noStrike" cap="none">
                <a:solidFill>
                  <a:schemeClr val="lt1"/>
                </a:solidFill>
                <a:latin typeface="Inter"/>
                <a:ea typeface="Inter"/>
                <a:cs typeface="Inter"/>
                <a:sym typeface="Inter"/>
              </a:rPr>
              <a:t>in the retail industry</a:t>
            </a:r>
            <a:endParaRPr sz="1200" b="0" i="0" u="none" strike="noStrike" cap="none">
              <a:solidFill>
                <a:schemeClr val="lt1"/>
              </a:solidFill>
              <a:latin typeface="Inter"/>
              <a:ea typeface="Inter"/>
              <a:cs typeface="Inter"/>
              <a:sym typeface="Inter"/>
            </a:endParaRPr>
          </a:p>
        </p:txBody>
      </p:sp>
      <p:sp>
        <p:nvSpPr>
          <p:cNvPr id="1519" name="Google Shape;1519;p32"/>
          <p:cNvSpPr txBox="1"/>
          <p:nvPr/>
        </p:nvSpPr>
        <p:spPr>
          <a:xfrm>
            <a:off x="1392947" y="5218719"/>
            <a:ext cx="26253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2000+ stores in Japan</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Thousands of stores worldwide</a:t>
            </a:r>
            <a:endParaRPr sz="1200" b="0" i="0" u="none" strike="noStrike" cap="none">
              <a:solidFill>
                <a:srgbClr val="000000"/>
              </a:solidFill>
              <a:latin typeface="Arial"/>
              <a:ea typeface="Arial"/>
              <a:cs typeface="Arial"/>
              <a:sym typeface="Arial"/>
            </a:endParaRPr>
          </a:p>
        </p:txBody>
      </p:sp>
      <p:sp>
        <p:nvSpPr>
          <p:cNvPr id="1520" name="Google Shape;1520;p32"/>
          <p:cNvSpPr txBox="1"/>
          <p:nvPr/>
        </p:nvSpPr>
        <p:spPr>
          <a:xfrm>
            <a:off x="561124" y="2154620"/>
            <a:ext cx="3339600" cy="665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0" i="0" u="none" strike="noStrike" cap="none">
                <a:solidFill>
                  <a:srgbClr val="FFFFFF"/>
                </a:solidFill>
                <a:latin typeface="Inter"/>
                <a:ea typeface="Inter"/>
                <a:cs typeface="Inter"/>
                <a:sym typeface="Inter"/>
              </a:rPr>
              <a:t>A Japanese leading convenience store chains</a:t>
            </a:r>
            <a:endParaRPr sz="1200" b="0" i="0" u="none" strike="noStrike" cap="none">
              <a:solidFill>
                <a:srgbClr val="000000"/>
              </a:solidFill>
              <a:latin typeface="Arial"/>
              <a:ea typeface="Arial"/>
              <a:cs typeface="Arial"/>
              <a:sym typeface="Arial"/>
            </a:endParaRPr>
          </a:p>
        </p:txBody>
      </p:sp>
      <p:sp>
        <p:nvSpPr>
          <p:cNvPr id="1521" name="Google Shape;1521;p32"/>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3" cstate="email">
              <a:alphaModFix/>
              <a:extLst>
                <a:ext uri="{28A0092B-C50C-407E-A947-70E740481C1C}">
                  <a14:useLocalDpi xmlns:a14="http://schemas.microsoft.com/office/drawing/2010/main"/>
                </a:ext>
              </a:extLst>
            </a:blip>
            <a:stretch>
              <a:fillRect b="-5"/>
            </a:stretch>
          </a:blipFill>
          <a:ln>
            <a:noFill/>
          </a:ln>
        </p:spPr>
      </p:sp>
      <p:grpSp>
        <p:nvGrpSpPr>
          <p:cNvPr id="1522" name="Google Shape;1522;p32"/>
          <p:cNvGrpSpPr/>
          <p:nvPr/>
        </p:nvGrpSpPr>
        <p:grpSpPr>
          <a:xfrm>
            <a:off x="872534" y="8351050"/>
            <a:ext cx="846442" cy="699635"/>
            <a:chOff x="0" y="0"/>
            <a:chExt cx="1269600" cy="1049400"/>
          </a:xfrm>
        </p:grpSpPr>
        <p:sp>
          <p:nvSpPr>
            <p:cNvPr id="1523" name="Google Shape;1523;p32"/>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524" name="Google Shape;1524;p32"/>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dirty="0">
                  <a:solidFill>
                    <a:schemeClr val="lt1"/>
                  </a:solidFill>
                  <a:latin typeface="Inter"/>
                  <a:ea typeface="Inter"/>
                  <a:sym typeface="Inter"/>
                </a:rPr>
                <a:t>24</a:t>
              </a:r>
              <a:endParaRPr sz="1200" b="0" i="0" u="none" strike="noStrike" cap="none" dirty="0">
                <a:solidFill>
                  <a:schemeClr val="lt1"/>
                </a:solidFill>
                <a:latin typeface="Arial"/>
                <a:ea typeface="Arial"/>
                <a:cs typeface="Arial"/>
                <a:sym typeface="Arial"/>
              </a:endParaRPr>
            </a:p>
          </p:txBody>
        </p:sp>
      </p:grpSp>
      <p:grpSp>
        <p:nvGrpSpPr>
          <p:cNvPr id="2" name="Google Shape;1311;p29">
            <a:extLst>
              <a:ext uri="{FF2B5EF4-FFF2-40B4-BE49-F238E27FC236}">
                <a16:creationId xmlns:a16="http://schemas.microsoft.com/office/drawing/2014/main" id="{60CE092E-DFA1-85B6-2C16-F68A939DAAF0}"/>
              </a:ext>
            </a:extLst>
          </p:cNvPr>
          <p:cNvGrpSpPr/>
          <p:nvPr/>
        </p:nvGrpSpPr>
        <p:grpSpPr>
          <a:xfrm>
            <a:off x="1395688" y="647442"/>
            <a:ext cx="922772" cy="955213"/>
            <a:chOff x="0" y="-28575"/>
            <a:chExt cx="812800" cy="841375"/>
          </a:xfrm>
        </p:grpSpPr>
        <p:sp>
          <p:nvSpPr>
            <p:cNvPr id="3" name="Google Shape;1312;p29">
              <a:extLst>
                <a:ext uri="{FF2B5EF4-FFF2-40B4-BE49-F238E27FC236}">
                  <a16:creationId xmlns:a16="http://schemas.microsoft.com/office/drawing/2014/main" id="{CA8B3516-7436-94DE-2094-DFA02A5640E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Google Shape;1313;p29">
              <a:extLst>
                <a:ext uri="{FF2B5EF4-FFF2-40B4-BE49-F238E27FC236}">
                  <a16:creationId xmlns:a16="http://schemas.microsoft.com/office/drawing/2014/main" id="{27B01A7D-A549-11AF-E80F-1779ECCA085D}"/>
                </a:ext>
              </a:extLst>
            </p:cNvPr>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5" name="Google Shape;1314;p29">
            <a:extLst>
              <a:ext uri="{FF2B5EF4-FFF2-40B4-BE49-F238E27FC236}">
                <a16:creationId xmlns:a16="http://schemas.microsoft.com/office/drawing/2014/main" id="{EDC0A27A-5373-8FD4-F5F2-6631E9D4FE44}"/>
              </a:ext>
            </a:extLst>
          </p:cNvPr>
          <p:cNvSpPr txBox="1"/>
          <p:nvPr/>
        </p:nvSpPr>
        <p:spPr>
          <a:xfrm>
            <a:off x="1635974" y="925024"/>
            <a:ext cx="442200" cy="40005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dirty="0">
                <a:solidFill>
                  <a:schemeClr val="dk2"/>
                </a:solidFill>
                <a:latin typeface="Inter"/>
                <a:ea typeface="Inter"/>
                <a:cs typeface="Inter"/>
                <a:sym typeface="Inter"/>
              </a:rPr>
              <a:t>0</a:t>
            </a:r>
            <a:r>
              <a:rPr lang="en-US" sz="2600" b="1" dirty="0">
                <a:solidFill>
                  <a:schemeClr val="dk2"/>
                </a:solidFill>
                <a:latin typeface="Inter"/>
                <a:ea typeface="Inter"/>
                <a:cs typeface="Inter"/>
                <a:sym typeface="Inter"/>
              </a:rPr>
              <a:t>1</a:t>
            </a:r>
            <a:endParaRPr sz="1800" b="0" i="0" u="none" strike="noStrike" cap="none" dirty="0">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28"/>
        <p:cNvGrpSpPr/>
        <p:nvPr/>
      </p:nvGrpSpPr>
      <p:grpSpPr>
        <a:xfrm>
          <a:off x="0" y="0"/>
          <a:ext cx="0" cy="0"/>
          <a:chOff x="0" y="0"/>
          <a:chExt cx="0" cy="0"/>
        </a:xfrm>
      </p:grpSpPr>
      <p:sp>
        <p:nvSpPr>
          <p:cNvPr id="1529" name="Google Shape;1529;p22"/>
          <p:cNvSpPr/>
          <p:nvPr/>
        </p:nvSpPr>
        <p:spPr>
          <a:xfrm rot="5400000">
            <a:off x="275628" y="2288858"/>
            <a:ext cx="9155430" cy="4577715"/>
          </a:xfrm>
          <a:custGeom>
            <a:avLst/>
            <a:gdLst/>
            <a:ahLst/>
            <a:cxnLst/>
            <a:rect l="l" t="t" r="r" b="b"/>
            <a:pathLst>
              <a:path w="10287000" h="5143500" extrusionOk="0">
                <a:moveTo>
                  <a:pt x="0" y="0"/>
                </a:moveTo>
                <a:lnTo>
                  <a:pt x="10287000" y="0"/>
                </a:lnTo>
                <a:lnTo>
                  <a:pt x="10287000" y="5143500"/>
                </a:lnTo>
                <a:lnTo>
                  <a:pt x="0" y="5143500"/>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sp>
      <p:grpSp>
        <p:nvGrpSpPr>
          <p:cNvPr id="1530" name="Google Shape;1530;p22"/>
          <p:cNvGrpSpPr/>
          <p:nvPr/>
        </p:nvGrpSpPr>
        <p:grpSpPr>
          <a:xfrm>
            <a:off x="69" y="-225021"/>
            <a:ext cx="4154911" cy="9369027"/>
            <a:chOff x="0" y="-66675"/>
            <a:chExt cx="2748684" cy="2776008"/>
          </a:xfrm>
        </p:grpSpPr>
        <p:sp>
          <p:nvSpPr>
            <p:cNvPr id="1531" name="Google Shape;1531;p22"/>
            <p:cNvSpPr/>
            <p:nvPr/>
          </p:nvSpPr>
          <p:spPr>
            <a:xfrm>
              <a:off x="0" y="0"/>
              <a:ext cx="2748684" cy="2709333"/>
            </a:xfrm>
            <a:custGeom>
              <a:avLst/>
              <a:gdLst/>
              <a:ahLst/>
              <a:cxnLst/>
              <a:rect l="l" t="t" r="r" b="b"/>
              <a:pathLst>
                <a:path w="2748684" h="2709333" extrusionOk="0">
                  <a:moveTo>
                    <a:pt x="0" y="0"/>
                  </a:moveTo>
                  <a:lnTo>
                    <a:pt x="2748684" y="0"/>
                  </a:lnTo>
                  <a:lnTo>
                    <a:pt x="2748684" y="2709333"/>
                  </a:lnTo>
                  <a:lnTo>
                    <a:pt x="0" y="2709333"/>
                  </a:lnTo>
                  <a:close/>
                </a:path>
              </a:pathLst>
            </a:custGeom>
            <a:solidFill>
              <a:srgbClr val="003A86"/>
            </a:solidFill>
            <a:ln>
              <a:noFill/>
            </a:ln>
          </p:spPr>
        </p:sp>
        <p:sp>
          <p:nvSpPr>
            <p:cNvPr id="1532" name="Google Shape;1532;p22"/>
            <p:cNvSpPr txBox="1"/>
            <p:nvPr/>
          </p:nvSpPr>
          <p:spPr>
            <a:xfrm>
              <a:off x="0" y="-66675"/>
              <a:ext cx="2748600" cy="2775900"/>
            </a:xfrm>
            <a:prstGeom prst="rect">
              <a:avLst/>
            </a:prstGeom>
            <a:noFill/>
            <a:ln>
              <a:noFill/>
            </a:ln>
          </p:spPr>
          <p:txBody>
            <a:bodyPr spcFirstLastPara="1" wrap="square" lIns="45150" tIns="45150" rIns="45150" bIns="45150" anchor="ctr" anchorCtr="0">
              <a:noAutofit/>
            </a:bodyPr>
            <a:lstStyle/>
            <a:p>
              <a:pPr marL="0" marR="0" lvl="0" indent="0" algn="ctr" rtl="0">
                <a:lnSpc>
                  <a:spcPct val="16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533" name="Google Shape;1533;p22"/>
          <p:cNvSpPr/>
          <p:nvPr/>
        </p:nvSpPr>
        <p:spPr>
          <a:xfrm>
            <a:off x="411277" y="3304219"/>
            <a:ext cx="495765" cy="472836"/>
          </a:xfrm>
          <a:custGeom>
            <a:avLst/>
            <a:gdLst/>
            <a:ahLst/>
            <a:cxnLst/>
            <a:rect l="l" t="t" r="r" b="b"/>
            <a:pathLst>
              <a:path w="557039" h="531276" extrusionOk="0">
                <a:moveTo>
                  <a:pt x="0" y="0"/>
                </a:moveTo>
                <a:lnTo>
                  <a:pt x="557039" y="0"/>
                </a:lnTo>
                <a:lnTo>
                  <a:pt x="557039" y="531276"/>
                </a:lnTo>
                <a:lnTo>
                  <a:pt x="0" y="531276"/>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sp>
        <p:nvSpPr>
          <p:cNvPr id="1534" name="Google Shape;1534;p22"/>
          <p:cNvSpPr/>
          <p:nvPr/>
        </p:nvSpPr>
        <p:spPr>
          <a:xfrm>
            <a:off x="411277" y="6201531"/>
            <a:ext cx="442101" cy="472836"/>
          </a:xfrm>
          <a:custGeom>
            <a:avLst/>
            <a:gdLst/>
            <a:ahLst/>
            <a:cxnLst/>
            <a:rect l="l" t="t" r="r" b="b"/>
            <a:pathLst>
              <a:path w="496743" h="531276" extrusionOk="0">
                <a:moveTo>
                  <a:pt x="0" y="0"/>
                </a:moveTo>
                <a:lnTo>
                  <a:pt x="496743" y="0"/>
                </a:lnTo>
                <a:lnTo>
                  <a:pt x="496743" y="531275"/>
                </a:lnTo>
                <a:lnTo>
                  <a:pt x="0" y="531275"/>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sp>
        <p:nvSpPr>
          <p:cNvPr id="1535" name="Google Shape;1535;p22"/>
          <p:cNvSpPr/>
          <p:nvPr/>
        </p:nvSpPr>
        <p:spPr>
          <a:xfrm>
            <a:off x="411277" y="4199684"/>
            <a:ext cx="495765" cy="495765"/>
          </a:xfrm>
          <a:custGeom>
            <a:avLst/>
            <a:gdLst/>
            <a:ahLst/>
            <a:cxnLst/>
            <a:rect l="l" t="t" r="r" b="b"/>
            <a:pathLst>
              <a:path w="557039" h="557039" extrusionOk="0">
                <a:moveTo>
                  <a:pt x="0" y="0"/>
                </a:moveTo>
                <a:lnTo>
                  <a:pt x="557039" y="0"/>
                </a:lnTo>
                <a:lnTo>
                  <a:pt x="557039" y="557039"/>
                </a:lnTo>
                <a:lnTo>
                  <a:pt x="0" y="557039"/>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536" name="Google Shape;1536;p22"/>
          <p:cNvSpPr/>
          <p:nvPr/>
        </p:nvSpPr>
        <p:spPr>
          <a:xfrm>
            <a:off x="411277" y="5147167"/>
            <a:ext cx="495765" cy="495765"/>
          </a:xfrm>
          <a:custGeom>
            <a:avLst/>
            <a:gdLst/>
            <a:ahLst/>
            <a:cxnLst/>
            <a:rect l="l" t="t" r="r" b="b"/>
            <a:pathLst>
              <a:path w="557039" h="557039" extrusionOk="0">
                <a:moveTo>
                  <a:pt x="0" y="0"/>
                </a:moveTo>
                <a:lnTo>
                  <a:pt x="557039" y="0"/>
                </a:lnTo>
                <a:lnTo>
                  <a:pt x="557039" y="557039"/>
                </a:lnTo>
                <a:lnTo>
                  <a:pt x="0" y="557039"/>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1537" name="Google Shape;1537;p22"/>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8" cstate="email">
              <a:alphaModFix amt="46000"/>
              <a:extLst>
                <a:ext uri="{28A0092B-C50C-407E-A947-70E740481C1C}">
                  <a14:useLocalDpi xmlns:a14="http://schemas.microsoft.com/office/drawing/2010/main"/>
                </a:ext>
              </a:extLst>
            </a:blip>
            <a:stretch>
              <a:fillRect/>
            </a:stretch>
          </a:blipFill>
          <a:ln>
            <a:noFill/>
          </a:ln>
        </p:spPr>
      </p:sp>
      <p:sp>
        <p:nvSpPr>
          <p:cNvPr id="1538" name="Google Shape;1538;p22"/>
          <p:cNvSpPr txBox="1"/>
          <p:nvPr/>
        </p:nvSpPr>
        <p:spPr>
          <a:xfrm>
            <a:off x="411277" y="2369920"/>
            <a:ext cx="3339600" cy="665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800"/>
              <a:buFont typeface="Arial"/>
              <a:buNone/>
            </a:pPr>
            <a:r>
              <a:rPr lang="en-US" sz="1800" b="0" i="0" u="none" strike="noStrike" cap="none">
                <a:solidFill>
                  <a:srgbClr val="FFFFFF"/>
                </a:solidFill>
                <a:latin typeface="Inter"/>
                <a:ea typeface="Inter"/>
                <a:cs typeface="Inter"/>
                <a:sym typeface="Inter"/>
              </a:rPr>
              <a:t>Japanese leading supermarket /retail chains</a:t>
            </a:r>
            <a:endParaRPr sz="1200" b="0" i="0" u="none" strike="noStrike" cap="none">
              <a:solidFill>
                <a:srgbClr val="000000"/>
              </a:solidFill>
              <a:latin typeface="Arial"/>
              <a:ea typeface="Arial"/>
              <a:cs typeface="Arial"/>
              <a:sym typeface="Arial"/>
            </a:endParaRPr>
          </a:p>
        </p:txBody>
      </p:sp>
      <p:sp>
        <p:nvSpPr>
          <p:cNvPr id="1539" name="Google Shape;1539;p22"/>
          <p:cNvSpPr txBox="1"/>
          <p:nvPr/>
        </p:nvSpPr>
        <p:spPr>
          <a:xfrm>
            <a:off x="1132791" y="3247358"/>
            <a:ext cx="19620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Headquartered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in Tokyo, Japan</a:t>
            </a:r>
            <a:endParaRPr sz="1200" b="0" i="0" u="none" strike="noStrike" cap="none">
              <a:solidFill>
                <a:srgbClr val="000000"/>
              </a:solidFill>
              <a:latin typeface="Arial"/>
              <a:ea typeface="Arial"/>
              <a:cs typeface="Arial"/>
              <a:sym typeface="Arial"/>
            </a:endParaRPr>
          </a:p>
        </p:txBody>
      </p:sp>
      <p:sp>
        <p:nvSpPr>
          <p:cNvPr id="1540" name="Google Shape;1540;p22"/>
          <p:cNvSpPr txBox="1"/>
          <p:nvPr/>
        </p:nvSpPr>
        <p:spPr>
          <a:xfrm>
            <a:off x="1151916" y="4165817"/>
            <a:ext cx="14103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Founded in</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2014</a:t>
            </a:r>
            <a:endParaRPr sz="1200" b="0" i="0" u="none" strike="noStrike" cap="none">
              <a:solidFill>
                <a:srgbClr val="000000"/>
              </a:solidFill>
              <a:latin typeface="Arial"/>
              <a:ea typeface="Arial"/>
              <a:cs typeface="Arial"/>
              <a:sym typeface="Arial"/>
            </a:endParaRPr>
          </a:p>
        </p:txBody>
      </p:sp>
      <p:sp>
        <p:nvSpPr>
          <p:cNvPr id="1541" name="Google Shape;1541;p22"/>
          <p:cNvSpPr txBox="1"/>
          <p:nvPr/>
        </p:nvSpPr>
        <p:spPr>
          <a:xfrm>
            <a:off x="1185334" y="4988844"/>
            <a:ext cx="28584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0" i="0" u="none" strike="noStrike" cap="none">
                <a:solidFill>
                  <a:srgbClr val="FFFFFF"/>
                </a:solidFill>
                <a:latin typeface="Inter"/>
                <a:ea typeface="Inter"/>
                <a:cs typeface="Inter"/>
                <a:sym typeface="Inter"/>
              </a:rPr>
              <a:t>Operating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4 famous supermarket brands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over 650 stores across Japan</a:t>
            </a:r>
            <a:endParaRPr sz="1200" b="0" i="0" u="none" strike="noStrike" cap="none">
              <a:solidFill>
                <a:srgbClr val="000000"/>
              </a:solidFill>
              <a:latin typeface="Arial"/>
              <a:ea typeface="Arial"/>
              <a:cs typeface="Arial"/>
              <a:sym typeface="Arial"/>
            </a:endParaRPr>
          </a:p>
        </p:txBody>
      </p:sp>
      <p:sp>
        <p:nvSpPr>
          <p:cNvPr id="1542" name="Google Shape;1542;p22"/>
          <p:cNvSpPr txBox="1"/>
          <p:nvPr/>
        </p:nvSpPr>
        <p:spPr>
          <a:xfrm>
            <a:off x="1151916" y="6087111"/>
            <a:ext cx="2858400" cy="1222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Technologies used</a:t>
            </a:r>
            <a:endParaRPr sz="1200" b="0" i="0" u="none" strike="noStrike" cap="none">
              <a:solidFill>
                <a:srgbClr val="000000"/>
              </a:solidFill>
              <a:latin typeface="Arial"/>
              <a:ea typeface="Arial"/>
              <a:cs typeface="Arial"/>
              <a:sym typeface="Arial"/>
            </a:endParaRPr>
          </a:p>
          <a:p>
            <a:pPr marL="330200" marR="0" lvl="1" indent="-171450" algn="l" rtl="0">
              <a:lnSpc>
                <a:spcPct val="140000"/>
              </a:lnSpc>
              <a:spcBef>
                <a:spcPts val="0"/>
              </a:spcBef>
              <a:spcAft>
                <a:spcPts val="0"/>
              </a:spcAft>
              <a:buClr>
                <a:srgbClr val="FFF800"/>
              </a:buClr>
              <a:buSzPts val="1500"/>
              <a:buFont typeface="Arial"/>
              <a:buChar char="•"/>
            </a:pPr>
            <a:r>
              <a:rPr lang="en-US" sz="1500" b="1" i="0" u="none" strike="noStrike" cap="none">
                <a:solidFill>
                  <a:srgbClr val="FFF800"/>
                </a:solidFill>
                <a:latin typeface="Inter"/>
                <a:ea typeface="Inter"/>
                <a:cs typeface="Inter"/>
                <a:sym typeface="Inter"/>
              </a:rPr>
              <a:t>Cross-platform development: React Native </a:t>
            </a:r>
            <a:endParaRPr sz="1200" b="0" i="0" u="none" strike="noStrike" cap="none">
              <a:solidFill>
                <a:srgbClr val="000000"/>
              </a:solidFill>
              <a:latin typeface="Arial"/>
              <a:ea typeface="Arial"/>
              <a:cs typeface="Arial"/>
              <a:sym typeface="Arial"/>
            </a:endParaRPr>
          </a:p>
          <a:p>
            <a:pPr marL="330200" marR="0" lvl="1" indent="-171450" algn="l" rtl="0">
              <a:lnSpc>
                <a:spcPct val="140000"/>
              </a:lnSpc>
              <a:spcBef>
                <a:spcPts val="0"/>
              </a:spcBef>
              <a:spcAft>
                <a:spcPts val="0"/>
              </a:spcAft>
              <a:buClr>
                <a:srgbClr val="FFF800"/>
              </a:buClr>
              <a:buSzPts val="1500"/>
              <a:buFont typeface="Arial"/>
              <a:buChar char="•"/>
            </a:pPr>
            <a:r>
              <a:rPr lang="en-US" sz="1500" b="1" i="0" u="none" strike="noStrike" cap="none">
                <a:solidFill>
                  <a:srgbClr val="FFF800"/>
                </a:solidFill>
                <a:latin typeface="Inter"/>
                <a:ea typeface="Inter"/>
                <a:cs typeface="Inter"/>
                <a:sym typeface="Inter"/>
              </a:rPr>
              <a:t>Backend architecture: C#</a:t>
            </a:r>
            <a:endParaRPr sz="1200" b="0" i="0" u="none" strike="noStrike" cap="none">
              <a:solidFill>
                <a:srgbClr val="000000"/>
              </a:solidFill>
              <a:latin typeface="Arial"/>
              <a:ea typeface="Arial"/>
              <a:cs typeface="Arial"/>
              <a:sym typeface="Arial"/>
            </a:endParaRPr>
          </a:p>
        </p:txBody>
      </p:sp>
      <p:sp>
        <p:nvSpPr>
          <p:cNvPr id="1543" name="Google Shape;1543;p22"/>
          <p:cNvSpPr txBox="1"/>
          <p:nvPr/>
        </p:nvSpPr>
        <p:spPr>
          <a:xfrm>
            <a:off x="4627239" y="4253556"/>
            <a:ext cx="4890300" cy="738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Customer Challenges &amp; Requirements</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000"/>
              <a:buFont typeface="Arial"/>
              <a:buNone/>
            </a:pPr>
            <a:endParaRPr sz="2000" b="1" i="0" u="none" strike="noStrike" cap="none">
              <a:solidFill>
                <a:srgbClr val="3A3A3A"/>
              </a:solidFill>
              <a:latin typeface="Inter"/>
              <a:ea typeface="Inter"/>
              <a:cs typeface="Inter"/>
              <a:sym typeface="Inter"/>
            </a:endParaRPr>
          </a:p>
        </p:txBody>
      </p:sp>
      <p:cxnSp>
        <p:nvCxnSpPr>
          <p:cNvPr id="1544" name="Google Shape;1544;p22"/>
          <p:cNvCxnSpPr/>
          <p:nvPr/>
        </p:nvCxnSpPr>
        <p:spPr>
          <a:xfrm rot="10800000" flipH="1">
            <a:off x="4627239" y="4669629"/>
            <a:ext cx="5186100" cy="13200"/>
          </a:xfrm>
          <a:prstGeom prst="straightConnector1">
            <a:avLst/>
          </a:prstGeom>
          <a:noFill/>
          <a:ln w="19050" cap="flat" cmpd="sng">
            <a:solidFill>
              <a:srgbClr val="3A3A3A">
                <a:alpha val="28627"/>
              </a:srgbClr>
            </a:solidFill>
            <a:prstDash val="solid"/>
            <a:round/>
            <a:headEnd type="none" w="sm" len="sm"/>
            <a:tailEnd type="none" w="sm" len="sm"/>
          </a:ln>
        </p:spPr>
      </p:cxnSp>
      <p:cxnSp>
        <p:nvCxnSpPr>
          <p:cNvPr id="1545" name="Google Shape;1545;p22"/>
          <p:cNvCxnSpPr/>
          <p:nvPr/>
        </p:nvCxnSpPr>
        <p:spPr>
          <a:xfrm>
            <a:off x="4696563" y="2416409"/>
            <a:ext cx="5186100"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1546" name="Google Shape;1546;p22"/>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8" cstate="email">
              <a:alphaModFix amt="46000"/>
              <a:extLst>
                <a:ext uri="{28A0092B-C50C-407E-A947-70E740481C1C}">
                  <a14:useLocalDpi xmlns:a14="http://schemas.microsoft.com/office/drawing/2010/main"/>
                </a:ext>
              </a:extLst>
            </a:blip>
            <a:stretch>
              <a:fillRect/>
            </a:stretch>
          </a:blipFill>
          <a:ln>
            <a:noFill/>
          </a:ln>
        </p:spPr>
      </p:sp>
      <p:sp>
        <p:nvSpPr>
          <p:cNvPr id="1547" name="Google Shape;1547;p22"/>
          <p:cNvSpPr/>
          <p:nvPr/>
        </p:nvSpPr>
        <p:spPr>
          <a:xfrm>
            <a:off x="10779310" y="5135112"/>
            <a:ext cx="3363490" cy="1903159"/>
          </a:xfrm>
          <a:custGeom>
            <a:avLst/>
            <a:gdLst/>
            <a:ahLst/>
            <a:cxnLst/>
            <a:rect l="l" t="t" r="r" b="b"/>
            <a:pathLst>
              <a:path w="3779202" h="2138381" extrusionOk="0">
                <a:moveTo>
                  <a:pt x="0" y="0"/>
                </a:moveTo>
                <a:lnTo>
                  <a:pt x="3779202" y="0"/>
                </a:lnTo>
                <a:lnTo>
                  <a:pt x="3779202" y="2138381"/>
                </a:lnTo>
                <a:lnTo>
                  <a:pt x="0" y="2138381"/>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w="38100" cap="rnd" cmpd="sng">
            <a:solidFill>
              <a:srgbClr val="0041AA"/>
            </a:solidFill>
            <a:prstDash val="solid"/>
            <a:round/>
            <a:headEnd type="none" w="sm" len="sm"/>
            <a:tailEnd type="none" w="sm" len="sm"/>
          </a:ln>
        </p:spPr>
      </p:sp>
      <p:sp>
        <p:nvSpPr>
          <p:cNvPr id="1548" name="Google Shape;1548;p22"/>
          <p:cNvSpPr/>
          <p:nvPr/>
        </p:nvSpPr>
        <p:spPr>
          <a:xfrm>
            <a:off x="5691494" y="5184763"/>
            <a:ext cx="3525470" cy="1827598"/>
          </a:xfrm>
          <a:custGeom>
            <a:avLst/>
            <a:gdLst/>
            <a:ahLst/>
            <a:cxnLst/>
            <a:rect l="l" t="t" r="r" b="b"/>
            <a:pathLst>
              <a:path w="1281989" h="664581" extrusionOk="0">
                <a:moveTo>
                  <a:pt x="23411" y="0"/>
                </a:moveTo>
                <a:lnTo>
                  <a:pt x="1258579" y="0"/>
                </a:lnTo>
                <a:cubicBezTo>
                  <a:pt x="1264788" y="0"/>
                  <a:pt x="1270742" y="2466"/>
                  <a:pt x="1275133" y="6857"/>
                </a:cubicBezTo>
                <a:cubicBezTo>
                  <a:pt x="1279523" y="11247"/>
                  <a:pt x="1281989" y="17202"/>
                  <a:pt x="1281989" y="23411"/>
                </a:cubicBezTo>
                <a:lnTo>
                  <a:pt x="1281989" y="641170"/>
                </a:lnTo>
                <a:cubicBezTo>
                  <a:pt x="1281989" y="654100"/>
                  <a:pt x="1271508" y="664581"/>
                  <a:pt x="1258579" y="664581"/>
                </a:cubicBezTo>
                <a:lnTo>
                  <a:pt x="23411" y="664581"/>
                </a:lnTo>
                <a:cubicBezTo>
                  <a:pt x="17202" y="664581"/>
                  <a:pt x="11247" y="662114"/>
                  <a:pt x="6857" y="657724"/>
                </a:cubicBezTo>
                <a:cubicBezTo>
                  <a:pt x="2466" y="653334"/>
                  <a:pt x="0" y="647379"/>
                  <a:pt x="0" y="641170"/>
                </a:cubicBezTo>
                <a:lnTo>
                  <a:pt x="0" y="23411"/>
                </a:lnTo>
                <a:cubicBezTo>
                  <a:pt x="0" y="17202"/>
                  <a:pt x="2466" y="11247"/>
                  <a:pt x="6857" y="6857"/>
                </a:cubicBezTo>
                <a:cubicBezTo>
                  <a:pt x="11247" y="2466"/>
                  <a:pt x="17202" y="0"/>
                  <a:pt x="23411" y="0"/>
                </a:cubicBez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w="38100" cap="sq" cmpd="sng">
            <a:solidFill>
              <a:srgbClr val="0041AA"/>
            </a:solidFill>
            <a:prstDash val="solid"/>
            <a:miter lim="8000"/>
            <a:headEnd type="none" w="sm" len="sm"/>
            <a:tailEnd type="none" w="sm" len="sm"/>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9" name="Google Shape;1549;p22"/>
          <p:cNvSpPr/>
          <p:nvPr/>
        </p:nvSpPr>
        <p:spPr>
          <a:xfrm>
            <a:off x="9715182" y="5908549"/>
            <a:ext cx="565300" cy="441641"/>
          </a:xfrm>
          <a:custGeom>
            <a:avLst/>
            <a:gdLst/>
            <a:ahLst/>
            <a:cxnLst/>
            <a:rect l="l" t="t" r="r" b="b"/>
            <a:pathLst>
              <a:path w="635169" h="496226" extrusionOk="0">
                <a:moveTo>
                  <a:pt x="0" y="0"/>
                </a:moveTo>
                <a:lnTo>
                  <a:pt x="635169" y="0"/>
                </a:lnTo>
                <a:lnTo>
                  <a:pt x="635169" y="496225"/>
                </a:lnTo>
                <a:lnTo>
                  <a:pt x="0" y="496225"/>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grpSp>
        <p:nvGrpSpPr>
          <p:cNvPr id="1550" name="Google Shape;1550;p22"/>
          <p:cNvGrpSpPr/>
          <p:nvPr/>
        </p:nvGrpSpPr>
        <p:grpSpPr>
          <a:xfrm>
            <a:off x="5340236" y="7264495"/>
            <a:ext cx="788087" cy="643275"/>
            <a:chOff x="0" y="0"/>
            <a:chExt cx="1182071" cy="964865"/>
          </a:xfrm>
        </p:grpSpPr>
        <p:sp>
          <p:nvSpPr>
            <p:cNvPr id="1551" name="Google Shape;1551;p22"/>
            <p:cNvSpPr/>
            <p:nvPr/>
          </p:nvSpPr>
          <p:spPr>
            <a:xfrm>
              <a:off x="0" y="0"/>
              <a:ext cx="1182071" cy="964865"/>
            </a:xfrm>
            <a:custGeom>
              <a:avLst/>
              <a:gdLst/>
              <a:ahLst/>
              <a:cxnLst/>
              <a:rect l="l" t="t" r="r" b="b"/>
              <a:pathLst>
                <a:path w="1182071" h="964865" extrusionOk="0">
                  <a:moveTo>
                    <a:pt x="0" y="0"/>
                  </a:moveTo>
                  <a:lnTo>
                    <a:pt x="1182071" y="0"/>
                  </a:lnTo>
                  <a:lnTo>
                    <a:pt x="1182071" y="964865"/>
                  </a:lnTo>
                  <a:lnTo>
                    <a:pt x="0" y="964865"/>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sp>
        <p:sp>
          <p:nvSpPr>
            <p:cNvPr id="1552" name="Google Shape;1552;p22"/>
            <p:cNvSpPr/>
            <p:nvPr/>
          </p:nvSpPr>
          <p:spPr>
            <a:xfrm>
              <a:off x="292865" y="0"/>
              <a:ext cx="889205" cy="964865"/>
            </a:xfrm>
            <a:custGeom>
              <a:avLst/>
              <a:gdLst/>
              <a:ahLst/>
              <a:cxnLst/>
              <a:rect l="l" t="t" r="r" b="b"/>
              <a:pathLst>
                <a:path w="889205" h="964865" extrusionOk="0">
                  <a:moveTo>
                    <a:pt x="0" y="0"/>
                  </a:moveTo>
                  <a:lnTo>
                    <a:pt x="889206" y="0"/>
                  </a:lnTo>
                  <a:lnTo>
                    <a:pt x="889206" y="964865"/>
                  </a:lnTo>
                  <a:lnTo>
                    <a:pt x="0" y="964865"/>
                  </a:lnTo>
                  <a:lnTo>
                    <a:pt x="0" y="0"/>
                  </a:lnTo>
                  <a:close/>
                </a:path>
              </a:pathLst>
            </a:custGeom>
            <a:blipFill rotWithShape="1">
              <a:blip r:embed="rId13" cstate="email">
                <a:alphaModFix/>
                <a:extLst>
                  <a:ext uri="{28A0092B-C50C-407E-A947-70E740481C1C}">
                    <a14:useLocalDpi xmlns:a14="http://schemas.microsoft.com/office/drawing/2010/main"/>
                  </a:ext>
                </a:extLst>
              </a:blip>
              <a:stretch>
                <a:fillRect/>
              </a:stretch>
            </a:blipFill>
            <a:ln>
              <a:noFill/>
            </a:ln>
          </p:spPr>
        </p:sp>
      </p:grpSp>
      <p:sp>
        <p:nvSpPr>
          <p:cNvPr id="1553" name="Google Shape;1553;p22"/>
          <p:cNvSpPr/>
          <p:nvPr/>
        </p:nvSpPr>
        <p:spPr>
          <a:xfrm>
            <a:off x="8342045" y="7283835"/>
            <a:ext cx="652568" cy="625649"/>
          </a:xfrm>
          <a:custGeom>
            <a:avLst/>
            <a:gdLst/>
            <a:ahLst/>
            <a:cxnLst/>
            <a:rect l="l" t="t" r="r" b="b"/>
            <a:pathLst>
              <a:path w="733222" h="702976" extrusionOk="0">
                <a:moveTo>
                  <a:pt x="0" y="0"/>
                </a:moveTo>
                <a:lnTo>
                  <a:pt x="733222" y="0"/>
                </a:lnTo>
                <a:lnTo>
                  <a:pt x="733222" y="702977"/>
                </a:lnTo>
                <a:lnTo>
                  <a:pt x="0" y="702977"/>
                </a:lnTo>
                <a:lnTo>
                  <a:pt x="0" y="0"/>
                </a:lnTo>
                <a:close/>
              </a:path>
            </a:pathLst>
          </a:custGeom>
          <a:blipFill rotWithShape="1">
            <a:blip r:embed="rId14" cstate="email">
              <a:alphaModFix/>
              <a:extLst>
                <a:ext uri="{28A0092B-C50C-407E-A947-70E740481C1C}">
                  <a14:useLocalDpi xmlns:a14="http://schemas.microsoft.com/office/drawing/2010/main"/>
                </a:ext>
              </a:extLst>
            </a:blip>
            <a:stretch>
              <a:fillRect/>
            </a:stretch>
          </a:blipFill>
          <a:ln>
            <a:noFill/>
          </a:ln>
        </p:spPr>
      </p:sp>
      <p:sp>
        <p:nvSpPr>
          <p:cNvPr id="1554" name="Google Shape;1554;p22"/>
          <p:cNvSpPr/>
          <p:nvPr/>
        </p:nvSpPr>
        <p:spPr>
          <a:xfrm>
            <a:off x="11123976" y="7265460"/>
            <a:ext cx="1012727" cy="643082"/>
          </a:xfrm>
          <a:custGeom>
            <a:avLst/>
            <a:gdLst/>
            <a:ahLst/>
            <a:cxnLst/>
            <a:rect l="l" t="t" r="r" b="b"/>
            <a:pathLst>
              <a:path w="1137896" h="722564" extrusionOk="0">
                <a:moveTo>
                  <a:pt x="0" y="0"/>
                </a:moveTo>
                <a:lnTo>
                  <a:pt x="1137896" y="0"/>
                </a:lnTo>
                <a:lnTo>
                  <a:pt x="1137896" y="722564"/>
                </a:lnTo>
                <a:lnTo>
                  <a:pt x="0" y="722564"/>
                </a:lnTo>
                <a:lnTo>
                  <a:pt x="0" y="0"/>
                </a:lnTo>
                <a:close/>
              </a:path>
            </a:pathLst>
          </a:custGeom>
          <a:blipFill rotWithShape="1">
            <a:blip r:embed="rId15" cstate="email">
              <a:alphaModFix/>
              <a:extLst>
                <a:ext uri="{28A0092B-C50C-407E-A947-70E740481C1C}">
                  <a14:useLocalDpi xmlns:a14="http://schemas.microsoft.com/office/drawing/2010/main"/>
                </a:ext>
              </a:extLst>
            </a:blip>
            <a:stretch>
              <a:fillRect/>
            </a:stretch>
          </a:blipFill>
          <a:ln>
            <a:noFill/>
          </a:ln>
        </p:spPr>
      </p:sp>
      <p:sp>
        <p:nvSpPr>
          <p:cNvPr id="1555" name="Google Shape;1555;p22"/>
          <p:cNvSpPr/>
          <p:nvPr/>
        </p:nvSpPr>
        <p:spPr>
          <a:xfrm>
            <a:off x="14138601" y="7265460"/>
            <a:ext cx="576957" cy="604936"/>
          </a:xfrm>
          <a:custGeom>
            <a:avLst/>
            <a:gdLst/>
            <a:ahLst/>
            <a:cxnLst/>
            <a:rect l="l" t="t" r="r" b="b"/>
            <a:pathLst>
              <a:path w="648266" h="679703" extrusionOk="0">
                <a:moveTo>
                  <a:pt x="0" y="0"/>
                </a:moveTo>
                <a:lnTo>
                  <a:pt x="648267" y="0"/>
                </a:lnTo>
                <a:lnTo>
                  <a:pt x="648267" y="679703"/>
                </a:lnTo>
                <a:lnTo>
                  <a:pt x="0" y="679703"/>
                </a:lnTo>
                <a:lnTo>
                  <a:pt x="0" y="0"/>
                </a:lnTo>
                <a:close/>
              </a:path>
            </a:pathLst>
          </a:custGeom>
          <a:blipFill rotWithShape="1">
            <a:blip r:embed="rId16">
              <a:alphaModFix/>
            </a:blip>
            <a:stretch>
              <a:fillRect/>
            </a:stretch>
          </a:blipFill>
          <a:ln>
            <a:noFill/>
          </a:ln>
        </p:spPr>
      </p:sp>
      <p:grpSp>
        <p:nvGrpSpPr>
          <p:cNvPr id="1556" name="Google Shape;1556;p22"/>
          <p:cNvGrpSpPr/>
          <p:nvPr/>
        </p:nvGrpSpPr>
        <p:grpSpPr>
          <a:xfrm>
            <a:off x="4521816" y="8086711"/>
            <a:ext cx="210844" cy="615928"/>
            <a:chOff x="0" y="-38100"/>
            <a:chExt cx="631081" cy="1843544"/>
          </a:xfrm>
        </p:grpSpPr>
        <p:sp>
          <p:nvSpPr>
            <p:cNvPr id="1557" name="Google Shape;1557;p22"/>
            <p:cNvSpPr/>
            <p:nvPr/>
          </p:nvSpPr>
          <p:spPr>
            <a:xfrm>
              <a:off x="0" y="0"/>
              <a:ext cx="631081" cy="1805444"/>
            </a:xfrm>
            <a:custGeom>
              <a:avLst/>
              <a:gdLst/>
              <a:ahLst/>
              <a:cxnLst/>
              <a:rect l="l" t="t" r="r" b="b"/>
              <a:pathLst>
                <a:path w="631081" h="1805444" extrusionOk="0">
                  <a:moveTo>
                    <a:pt x="315541" y="1805444"/>
                  </a:moveTo>
                  <a:lnTo>
                    <a:pt x="0" y="1399044"/>
                  </a:lnTo>
                  <a:lnTo>
                    <a:pt x="203200" y="1399044"/>
                  </a:lnTo>
                  <a:lnTo>
                    <a:pt x="203200" y="0"/>
                  </a:lnTo>
                  <a:lnTo>
                    <a:pt x="427881" y="0"/>
                  </a:lnTo>
                  <a:lnTo>
                    <a:pt x="427881" y="1399044"/>
                  </a:lnTo>
                  <a:lnTo>
                    <a:pt x="631081" y="1399044"/>
                  </a:lnTo>
                  <a:lnTo>
                    <a:pt x="315541" y="1805444"/>
                  </a:lnTo>
                  <a:close/>
                </a:path>
              </a:pathLst>
            </a:custGeom>
            <a:solidFill>
              <a:srgbClr val="E76413"/>
            </a:solidFill>
            <a:ln>
              <a:noFill/>
            </a:ln>
          </p:spPr>
        </p:sp>
        <p:sp>
          <p:nvSpPr>
            <p:cNvPr id="1558" name="Google Shape;1558;p22"/>
            <p:cNvSpPr txBox="1"/>
            <p:nvPr/>
          </p:nvSpPr>
          <p:spPr>
            <a:xfrm>
              <a:off x="203200" y="-38100"/>
              <a:ext cx="224700" cy="174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sp>
        <p:nvSpPr>
          <p:cNvPr id="1559" name="Google Shape;1559;p22"/>
          <p:cNvSpPr txBox="1"/>
          <p:nvPr/>
        </p:nvSpPr>
        <p:spPr>
          <a:xfrm>
            <a:off x="4696475" y="644750"/>
            <a:ext cx="112824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600"/>
              <a:buFont typeface="Arial"/>
              <a:buNone/>
            </a:pPr>
            <a:r>
              <a:rPr lang="en-US" sz="2600" b="0" i="0" u="none" strike="noStrike" cap="none">
                <a:solidFill>
                  <a:srgbClr val="004AAD"/>
                </a:solidFill>
                <a:latin typeface="Inter"/>
                <a:ea typeface="Inter"/>
                <a:cs typeface="Inter"/>
                <a:sym typeface="Inter"/>
              </a:rPr>
              <a:t>CASE STUDY | </a:t>
            </a:r>
            <a:r>
              <a:rPr lang="en-US" sz="2600" b="1" i="0" u="none" strike="noStrike" cap="none">
                <a:solidFill>
                  <a:srgbClr val="004AAD"/>
                </a:solidFill>
                <a:latin typeface="Inter"/>
                <a:ea typeface="Inter"/>
                <a:cs typeface="Inter"/>
                <a:sym typeface="Inter"/>
              </a:rPr>
              <a:t>SCAN&amp;GO - RETAIL SMART MOBILE APPLICATION: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600"/>
              <a:buFont typeface="Arial"/>
              <a:buNone/>
            </a:pPr>
            <a:r>
              <a:rPr lang="en-US" sz="2600" b="1" i="0" u="none" strike="noStrike" cap="none">
                <a:solidFill>
                  <a:srgbClr val="004AAD"/>
                </a:solidFill>
                <a:latin typeface="Inter"/>
                <a:ea typeface="Inter"/>
                <a:cs typeface="Inter"/>
                <a:sym typeface="Inter"/>
              </a:rPr>
              <a:t>FROM LONG QUEUES TO SEAMLESS SUPERMARKET SHOPPING (1/7)</a:t>
            </a:r>
            <a:endParaRPr sz="1200" b="0" i="0" u="none" strike="noStrike" cap="none">
              <a:solidFill>
                <a:srgbClr val="000000"/>
              </a:solidFill>
              <a:latin typeface="Arial"/>
              <a:ea typeface="Arial"/>
              <a:cs typeface="Arial"/>
              <a:sym typeface="Arial"/>
            </a:endParaRPr>
          </a:p>
        </p:txBody>
      </p:sp>
      <p:sp>
        <p:nvSpPr>
          <p:cNvPr id="1560" name="Google Shape;1560;p22"/>
          <p:cNvSpPr txBox="1"/>
          <p:nvPr/>
        </p:nvSpPr>
        <p:spPr>
          <a:xfrm>
            <a:off x="4633418" y="4697116"/>
            <a:ext cx="10714500" cy="261300"/>
          </a:xfrm>
          <a:prstGeom prst="rect">
            <a:avLst/>
          </a:prstGeom>
          <a:noFill/>
          <a:ln>
            <a:noFill/>
          </a:ln>
        </p:spPr>
        <p:txBody>
          <a:bodyPr spcFirstLastPara="1" wrap="square" lIns="0" tIns="0" rIns="0" bIns="0" anchor="t" anchorCtr="0">
            <a:spAutoFit/>
          </a:bodyPr>
          <a:lstStyle/>
          <a:p>
            <a:pPr marL="0" marR="0" lvl="0" indent="0" algn="just" rtl="0">
              <a:lnSpc>
                <a:spcPct val="31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With growing customer demand and smartphone adoption, the company identified their need to </a:t>
            </a:r>
            <a:r>
              <a:rPr lang="en-US" sz="1200" b="1" i="0" u="none" strike="noStrike" cap="none">
                <a:solidFill>
                  <a:srgbClr val="3A3A3A"/>
                </a:solidFill>
                <a:latin typeface="Inter"/>
                <a:ea typeface="Inter"/>
                <a:cs typeface="Inter"/>
                <a:sym typeface="Inter"/>
              </a:rPr>
              <a:t>modernize shopping and checkout experience</a:t>
            </a:r>
            <a:endParaRPr sz="1200" b="0" i="0" u="none" strike="noStrike" cap="none">
              <a:solidFill>
                <a:srgbClr val="000000"/>
              </a:solidFill>
              <a:latin typeface="Arial"/>
              <a:ea typeface="Arial"/>
              <a:cs typeface="Arial"/>
              <a:sym typeface="Arial"/>
            </a:endParaRPr>
          </a:p>
        </p:txBody>
      </p:sp>
      <p:sp>
        <p:nvSpPr>
          <p:cNvPr id="1561" name="Google Shape;1561;p22"/>
          <p:cNvSpPr txBox="1"/>
          <p:nvPr/>
        </p:nvSpPr>
        <p:spPr>
          <a:xfrm>
            <a:off x="4696563" y="1987134"/>
            <a:ext cx="33105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Overview</a:t>
            </a:r>
            <a:endParaRPr sz="1200" b="0" i="0" u="none" strike="noStrike" cap="none">
              <a:solidFill>
                <a:srgbClr val="000000"/>
              </a:solidFill>
              <a:latin typeface="Arial"/>
              <a:ea typeface="Arial"/>
              <a:cs typeface="Arial"/>
              <a:sym typeface="Arial"/>
            </a:endParaRPr>
          </a:p>
        </p:txBody>
      </p:sp>
      <p:sp>
        <p:nvSpPr>
          <p:cNvPr id="1562" name="Google Shape;1562;p22"/>
          <p:cNvSpPr txBox="1"/>
          <p:nvPr/>
        </p:nvSpPr>
        <p:spPr>
          <a:xfrm>
            <a:off x="4696556" y="2531333"/>
            <a:ext cx="5361300" cy="9606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VTI developed a mobile solution Scan&amp;Go - A Retail Super App integrating self-checkout, online delivery, and loyalty programs, enhancing customer experience, operational efficiency, and engagement for a leading Japanese retail company across 500+ stores</a:t>
            </a:r>
            <a:endParaRPr sz="1200" b="0" i="0" u="none" strike="noStrike" cap="none">
              <a:solidFill>
                <a:srgbClr val="000000"/>
              </a:solidFill>
              <a:latin typeface="Arial"/>
              <a:ea typeface="Arial"/>
              <a:cs typeface="Arial"/>
              <a:sym typeface="Arial"/>
            </a:endParaRPr>
          </a:p>
        </p:txBody>
      </p:sp>
      <p:sp>
        <p:nvSpPr>
          <p:cNvPr id="1563" name="Google Shape;1563;p22"/>
          <p:cNvSpPr txBox="1"/>
          <p:nvPr/>
        </p:nvSpPr>
        <p:spPr>
          <a:xfrm>
            <a:off x="14536364" y="2516760"/>
            <a:ext cx="1762500" cy="572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1" i="0" u="none" strike="noStrike" cap="none">
                <a:solidFill>
                  <a:srgbClr val="004AAD"/>
                </a:solidFill>
                <a:latin typeface="Inter"/>
                <a:ea typeface="Inter"/>
                <a:cs typeface="Inter"/>
                <a:sym typeface="Inter"/>
              </a:rPr>
              <a:t>500+</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Stores apply</a:t>
            </a:r>
            <a:endParaRPr sz="1200" b="0" i="0" u="none" strike="noStrike" cap="none">
              <a:solidFill>
                <a:srgbClr val="000000"/>
              </a:solidFill>
              <a:latin typeface="Arial"/>
              <a:ea typeface="Arial"/>
              <a:cs typeface="Arial"/>
              <a:sym typeface="Arial"/>
            </a:endParaRPr>
          </a:p>
        </p:txBody>
      </p:sp>
      <p:sp>
        <p:nvSpPr>
          <p:cNvPr id="1564" name="Google Shape;1564;p22"/>
          <p:cNvSpPr txBox="1"/>
          <p:nvPr/>
        </p:nvSpPr>
        <p:spPr>
          <a:xfrm>
            <a:off x="14536364" y="3248844"/>
            <a:ext cx="922800" cy="572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1" i="0" u="none" strike="noStrike" cap="none">
                <a:solidFill>
                  <a:srgbClr val="004AAD"/>
                </a:solidFill>
                <a:latin typeface="Inter"/>
                <a:ea typeface="Inter"/>
                <a:cs typeface="Inter"/>
                <a:sym typeface="Inter"/>
              </a:rPr>
              <a:t>900K+</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Downloads</a:t>
            </a:r>
            <a:endParaRPr sz="1200" b="0" i="0" u="none" strike="noStrike" cap="none">
              <a:solidFill>
                <a:srgbClr val="000000"/>
              </a:solidFill>
              <a:latin typeface="Arial"/>
              <a:ea typeface="Arial"/>
              <a:cs typeface="Arial"/>
              <a:sym typeface="Arial"/>
            </a:endParaRPr>
          </a:p>
        </p:txBody>
      </p:sp>
      <p:sp>
        <p:nvSpPr>
          <p:cNvPr id="1565" name="Google Shape;1565;p22"/>
          <p:cNvSpPr txBox="1"/>
          <p:nvPr/>
        </p:nvSpPr>
        <p:spPr>
          <a:xfrm>
            <a:off x="4843972" y="8058884"/>
            <a:ext cx="2568600" cy="702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0041AA"/>
                </a:solidFill>
                <a:latin typeface="Inter"/>
                <a:ea typeface="Inter"/>
                <a:cs typeface="Inter"/>
                <a:sym typeface="Inter"/>
              </a:rPr>
              <a:t>Long checkout lines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to improve customer satisfaction and prevent missed sales</a:t>
            </a:r>
            <a:endParaRPr sz="1200" b="0" i="0" u="none" strike="noStrike" cap="none">
              <a:solidFill>
                <a:srgbClr val="000000"/>
              </a:solidFill>
              <a:latin typeface="Arial"/>
              <a:ea typeface="Arial"/>
              <a:cs typeface="Arial"/>
              <a:sym typeface="Arial"/>
            </a:endParaRPr>
          </a:p>
        </p:txBody>
      </p:sp>
      <p:sp>
        <p:nvSpPr>
          <p:cNvPr id="1566" name="Google Shape;1566;p22"/>
          <p:cNvSpPr txBox="1"/>
          <p:nvPr/>
        </p:nvSpPr>
        <p:spPr>
          <a:xfrm>
            <a:off x="7808744" y="8058884"/>
            <a:ext cx="2585400" cy="702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0041AA"/>
                </a:solidFill>
                <a:latin typeface="Inter"/>
                <a:ea typeface="Inter"/>
                <a:cs typeface="Inter"/>
                <a:sym typeface="Inter"/>
              </a:rPr>
              <a:t>Digital promotions &amp;</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0041AA"/>
                </a:solidFill>
                <a:latin typeface="Inter"/>
                <a:ea typeface="Inter"/>
                <a:cs typeface="Inter"/>
                <a:sym typeface="Inter"/>
              </a:rPr>
              <a:t>loyalty programs</a:t>
            </a:r>
            <a:r>
              <a:rPr lang="en-US" sz="1200" b="0" i="0" u="none" strike="noStrike" cap="none">
                <a:solidFill>
                  <a:srgbClr val="0041AA"/>
                </a:solidFill>
                <a:latin typeface="Inter"/>
                <a:ea typeface="Inter"/>
                <a:cs typeface="Inter"/>
                <a:sym typeface="Inter"/>
              </a:rPr>
              <a:t>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to enhance customer engagement</a:t>
            </a:r>
            <a:endParaRPr sz="1200" b="0" i="0" u="none" strike="noStrike" cap="none">
              <a:solidFill>
                <a:srgbClr val="000000"/>
              </a:solidFill>
              <a:latin typeface="Arial"/>
              <a:ea typeface="Arial"/>
              <a:cs typeface="Arial"/>
              <a:sym typeface="Arial"/>
            </a:endParaRPr>
          </a:p>
        </p:txBody>
      </p:sp>
      <p:sp>
        <p:nvSpPr>
          <p:cNvPr id="1567" name="Google Shape;1567;p22"/>
          <p:cNvSpPr txBox="1"/>
          <p:nvPr/>
        </p:nvSpPr>
        <p:spPr>
          <a:xfrm>
            <a:off x="10994194" y="8058884"/>
            <a:ext cx="1923600" cy="702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0041AA"/>
                </a:solidFill>
                <a:latin typeface="Inter"/>
                <a:ea typeface="Inter"/>
                <a:cs typeface="Inter"/>
                <a:sym typeface="Inter"/>
              </a:rPr>
              <a:t>Operational efficiency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to reduce cashier workforce costs</a:t>
            </a:r>
            <a:endParaRPr sz="1200" b="0" i="0" u="none" strike="noStrike" cap="none">
              <a:solidFill>
                <a:srgbClr val="000000"/>
              </a:solidFill>
              <a:latin typeface="Arial"/>
              <a:ea typeface="Arial"/>
              <a:cs typeface="Arial"/>
              <a:sym typeface="Arial"/>
            </a:endParaRPr>
          </a:p>
        </p:txBody>
      </p:sp>
      <p:sp>
        <p:nvSpPr>
          <p:cNvPr id="1568" name="Google Shape;1568;p22"/>
          <p:cNvSpPr txBox="1"/>
          <p:nvPr/>
        </p:nvSpPr>
        <p:spPr>
          <a:xfrm>
            <a:off x="13613085" y="8072840"/>
            <a:ext cx="2203500" cy="702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0041AA"/>
                </a:solidFill>
                <a:latin typeface="Inter"/>
                <a:ea typeface="Inter"/>
                <a:cs typeface="Inter"/>
                <a:sym typeface="Inter"/>
              </a:rPr>
              <a:t>Store foot traffic &amp; revenue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through seamless shopping experiences</a:t>
            </a:r>
            <a:endParaRPr sz="1200" b="0" i="0" u="none" strike="noStrike" cap="none">
              <a:solidFill>
                <a:srgbClr val="000000"/>
              </a:solidFill>
              <a:latin typeface="Arial"/>
              <a:ea typeface="Arial"/>
              <a:cs typeface="Arial"/>
              <a:sym typeface="Arial"/>
            </a:endParaRPr>
          </a:p>
        </p:txBody>
      </p:sp>
      <p:grpSp>
        <p:nvGrpSpPr>
          <p:cNvPr id="1569" name="Google Shape;1569;p22"/>
          <p:cNvGrpSpPr/>
          <p:nvPr/>
        </p:nvGrpSpPr>
        <p:grpSpPr>
          <a:xfrm rot="10800000">
            <a:off x="10673889" y="8099446"/>
            <a:ext cx="210844" cy="615928"/>
            <a:chOff x="0" y="-38100"/>
            <a:chExt cx="631081" cy="1843544"/>
          </a:xfrm>
        </p:grpSpPr>
        <p:sp>
          <p:nvSpPr>
            <p:cNvPr id="1570" name="Google Shape;1570;p22"/>
            <p:cNvSpPr/>
            <p:nvPr/>
          </p:nvSpPr>
          <p:spPr>
            <a:xfrm>
              <a:off x="0" y="0"/>
              <a:ext cx="631081" cy="1805444"/>
            </a:xfrm>
            <a:custGeom>
              <a:avLst/>
              <a:gdLst/>
              <a:ahLst/>
              <a:cxnLst/>
              <a:rect l="l" t="t" r="r" b="b"/>
              <a:pathLst>
                <a:path w="631081" h="1805444" extrusionOk="0">
                  <a:moveTo>
                    <a:pt x="315541" y="1805444"/>
                  </a:moveTo>
                  <a:lnTo>
                    <a:pt x="0" y="1399044"/>
                  </a:lnTo>
                  <a:lnTo>
                    <a:pt x="203200" y="1399044"/>
                  </a:lnTo>
                  <a:lnTo>
                    <a:pt x="203200" y="0"/>
                  </a:lnTo>
                  <a:lnTo>
                    <a:pt x="427881" y="0"/>
                  </a:lnTo>
                  <a:lnTo>
                    <a:pt x="427881" y="1399044"/>
                  </a:lnTo>
                  <a:lnTo>
                    <a:pt x="631081" y="1399044"/>
                  </a:lnTo>
                  <a:lnTo>
                    <a:pt x="315541" y="1805444"/>
                  </a:lnTo>
                  <a:close/>
                </a:path>
              </a:pathLst>
            </a:custGeom>
            <a:solidFill>
              <a:srgbClr val="41B93C"/>
            </a:solidFill>
            <a:ln>
              <a:noFill/>
            </a:ln>
          </p:spPr>
        </p:sp>
        <p:sp>
          <p:nvSpPr>
            <p:cNvPr id="1571" name="Google Shape;1571;p22"/>
            <p:cNvSpPr txBox="1"/>
            <p:nvPr/>
          </p:nvSpPr>
          <p:spPr>
            <a:xfrm>
              <a:off x="203200" y="-38100"/>
              <a:ext cx="224700" cy="174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572" name="Google Shape;1572;p22"/>
          <p:cNvGrpSpPr/>
          <p:nvPr/>
        </p:nvGrpSpPr>
        <p:grpSpPr>
          <a:xfrm rot="10800000">
            <a:off x="13281607" y="8084291"/>
            <a:ext cx="210844" cy="615928"/>
            <a:chOff x="0" y="-38100"/>
            <a:chExt cx="631081" cy="1843544"/>
          </a:xfrm>
        </p:grpSpPr>
        <p:sp>
          <p:nvSpPr>
            <p:cNvPr id="1573" name="Google Shape;1573;p22"/>
            <p:cNvSpPr/>
            <p:nvPr/>
          </p:nvSpPr>
          <p:spPr>
            <a:xfrm>
              <a:off x="0" y="0"/>
              <a:ext cx="631081" cy="1805444"/>
            </a:xfrm>
            <a:custGeom>
              <a:avLst/>
              <a:gdLst/>
              <a:ahLst/>
              <a:cxnLst/>
              <a:rect l="l" t="t" r="r" b="b"/>
              <a:pathLst>
                <a:path w="631081" h="1805444" extrusionOk="0">
                  <a:moveTo>
                    <a:pt x="315541" y="1805444"/>
                  </a:moveTo>
                  <a:lnTo>
                    <a:pt x="0" y="1399044"/>
                  </a:lnTo>
                  <a:lnTo>
                    <a:pt x="203200" y="1399044"/>
                  </a:lnTo>
                  <a:lnTo>
                    <a:pt x="203200" y="0"/>
                  </a:lnTo>
                  <a:lnTo>
                    <a:pt x="427881" y="0"/>
                  </a:lnTo>
                  <a:lnTo>
                    <a:pt x="427881" y="1399044"/>
                  </a:lnTo>
                  <a:lnTo>
                    <a:pt x="631081" y="1399044"/>
                  </a:lnTo>
                  <a:lnTo>
                    <a:pt x="315541" y="1805444"/>
                  </a:lnTo>
                  <a:close/>
                </a:path>
              </a:pathLst>
            </a:custGeom>
            <a:solidFill>
              <a:srgbClr val="41B93C"/>
            </a:solidFill>
            <a:ln>
              <a:noFill/>
            </a:ln>
          </p:spPr>
        </p:sp>
        <p:sp>
          <p:nvSpPr>
            <p:cNvPr id="1574" name="Google Shape;1574;p22"/>
            <p:cNvSpPr txBox="1"/>
            <p:nvPr/>
          </p:nvSpPr>
          <p:spPr>
            <a:xfrm>
              <a:off x="203200" y="-38100"/>
              <a:ext cx="224700" cy="174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575" name="Google Shape;1575;p22"/>
          <p:cNvGrpSpPr/>
          <p:nvPr/>
        </p:nvGrpSpPr>
        <p:grpSpPr>
          <a:xfrm rot="10800000">
            <a:off x="7522662" y="8084291"/>
            <a:ext cx="210844" cy="615928"/>
            <a:chOff x="0" y="-38100"/>
            <a:chExt cx="631081" cy="1843544"/>
          </a:xfrm>
        </p:grpSpPr>
        <p:sp>
          <p:nvSpPr>
            <p:cNvPr id="1576" name="Google Shape;1576;p22"/>
            <p:cNvSpPr/>
            <p:nvPr/>
          </p:nvSpPr>
          <p:spPr>
            <a:xfrm>
              <a:off x="0" y="0"/>
              <a:ext cx="631081" cy="1805444"/>
            </a:xfrm>
            <a:custGeom>
              <a:avLst/>
              <a:gdLst/>
              <a:ahLst/>
              <a:cxnLst/>
              <a:rect l="l" t="t" r="r" b="b"/>
              <a:pathLst>
                <a:path w="631081" h="1805444" extrusionOk="0">
                  <a:moveTo>
                    <a:pt x="315541" y="1805444"/>
                  </a:moveTo>
                  <a:lnTo>
                    <a:pt x="0" y="1399044"/>
                  </a:lnTo>
                  <a:lnTo>
                    <a:pt x="203200" y="1399044"/>
                  </a:lnTo>
                  <a:lnTo>
                    <a:pt x="203200" y="0"/>
                  </a:lnTo>
                  <a:lnTo>
                    <a:pt x="427881" y="0"/>
                  </a:lnTo>
                  <a:lnTo>
                    <a:pt x="427881" y="1399044"/>
                  </a:lnTo>
                  <a:lnTo>
                    <a:pt x="631081" y="1399044"/>
                  </a:lnTo>
                  <a:lnTo>
                    <a:pt x="315541" y="1805444"/>
                  </a:lnTo>
                  <a:close/>
                </a:path>
              </a:pathLst>
            </a:custGeom>
            <a:solidFill>
              <a:srgbClr val="41B93C"/>
            </a:solidFill>
            <a:ln>
              <a:noFill/>
            </a:ln>
          </p:spPr>
        </p:sp>
        <p:sp>
          <p:nvSpPr>
            <p:cNvPr id="1577" name="Google Shape;1577;p22"/>
            <p:cNvSpPr txBox="1"/>
            <p:nvPr/>
          </p:nvSpPr>
          <p:spPr>
            <a:xfrm>
              <a:off x="203200" y="-38100"/>
              <a:ext cx="224700" cy="174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578" name="Google Shape;1578;p22"/>
          <p:cNvGrpSpPr/>
          <p:nvPr/>
        </p:nvGrpSpPr>
        <p:grpSpPr>
          <a:xfrm>
            <a:off x="11659596" y="2029497"/>
            <a:ext cx="1201509" cy="2353633"/>
            <a:chOff x="0" y="0"/>
            <a:chExt cx="2924802" cy="5729388"/>
          </a:xfrm>
        </p:grpSpPr>
        <p:sp>
          <p:nvSpPr>
            <p:cNvPr id="1579" name="Google Shape;1579;p22"/>
            <p:cNvSpPr/>
            <p:nvPr/>
          </p:nvSpPr>
          <p:spPr>
            <a:xfrm>
              <a:off x="0" y="0"/>
              <a:ext cx="2924802" cy="5729388"/>
            </a:xfrm>
            <a:custGeom>
              <a:avLst/>
              <a:gdLst/>
              <a:ahLst/>
              <a:cxnLst/>
              <a:rect l="l" t="t" r="r" b="b"/>
              <a:pathLst>
                <a:path w="2924802" h="5729388" extrusionOk="0">
                  <a:moveTo>
                    <a:pt x="0" y="0"/>
                  </a:moveTo>
                  <a:lnTo>
                    <a:pt x="2924802" y="0"/>
                  </a:lnTo>
                  <a:lnTo>
                    <a:pt x="2924802" y="5729388"/>
                  </a:lnTo>
                  <a:lnTo>
                    <a:pt x="0" y="5729388"/>
                  </a:lnTo>
                  <a:lnTo>
                    <a:pt x="0" y="0"/>
                  </a:lnTo>
                  <a:close/>
                </a:path>
              </a:pathLst>
            </a:custGeom>
            <a:blipFill rotWithShape="1">
              <a:blip r:embed="rId17" cstate="email">
                <a:alphaModFix/>
                <a:extLst>
                  <a:ext uri="{28A0092B-C50C-407E-A947-70E740481C1C}">
                    <a14:useLocalDpi xmlns:a14="http://schemas.microsoft.com/office/drawing/2010/main"/>
                  </a:ext>
                </a:extLst>
              </a:blip>
              <a:stretch>
                <a:fillRect/>
              </a:stretch>
            </a:blipFill>
            <a:ln>
              <a:noFill/>
            </a:ln>
          </p:spPr>
        </p:sp>
        <p:grpSp>
          <p:nvGrpSpPr>
            <p:cNvPr id="1580" name="Google Shape;1580;p22"/>
            <p:cNvGrpSpPr/>
            <p:nvPr/>
          </p:nvGrpSpPr>
          <p:grpSpPr>
            <a:xfrm>
              <a:off x="654944" y="319321"/>
              <a:ext cx="850657" cy="423740"/>
              <a:chOff x="0" y="-38100"/>
              <a:chExt cx="168031" cy="83700"/>
            </a:xfrm>
          </p:grpSpPr>
          <p:sp>
            <p:nvSpPr>
              <p:cNvPr id="1581" name="Google Shape;1581;p22"/>
              <p:cNvSpPr/>
              <p:nvPr/>
            </p:nvSpPr>
            <p:spPr>
              <a:xfrm>
                <a:off x="0" y="0"/>
                <a:ext cx="168031" cy="45495"/>
              </a:xfrm>
              <a:custGeom>
                <a:avLst/>
                <a:gdLst/>
                <a:ahLst/>
                <a:cxnLst/>
                <a:rect l="l" t="t" r="r" b="b"/>
                <a:pathLst>
                  <a:path w="168031" h="45495" extrusionOk="0">
                    <a:moveTo>
                      <a:pt x="22748" y="0"/>
                    </a:moveTo>
                    <a:lnTo>
                      <a:pt x="145283" y="0"/>
                    </a:lnTo>
                    <a:cubicBezTo>
                      <a:pt x="157846" y="0"/>
                      <a:pt x="168031" y="10184"/>
                      <a:pt x="168031" y="22748"/>
                    </a:cubicBezTo>
                    <a:lnTo>
                      <a:pt x="168031" y="22748"/>
                    </a:lnTo>
                    <a:cubicBezTo>
                      <a:pt x="168031" y="35311"/>
                      <a:pt x="157846" y="45495"/>
                      <a:pt x="145283" y="45495"/>
                    </a:cubicBezTo>
                    <a:lnTo>
                      <a:pt x="22748" y="45495"/>
                    </a:lnTo>
                    <a:cubicBezTo>
                      <a:pt x="10184" y="45495"/>
                      <a:pt x="0" y="35311"/>
                      <a:pt x="0" y="22748"/>
                    </a:cubicBezTo>
                    <a:lnTo>
                      <a:pt x="0" y="22748"/>
                    </a:lnTo>
                    <a:cubicBezTo>
                      <a:pt x="0" y="10184"/>
                      <a:pt x="10184" y="0"/>
                      <a:pt x="22748" y="0"/>
                    </a:cubicBezTo>
                    <a:close/>
                  </a:path>
                </a:pathLst>
              </a:custGeom>
              <a:solidFill>
                <a:srgbClr val="FE542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2" name="Google Shape;1582;p22"/>
              <p:cNvSpPr txBox="1"/>
              <p:nvPr/>
            </p:nvSpPr>
            <p:spPr>
              <a:xfrm>
                <a:off x="0" y="-38100"/>
                <a:ext cx="168000" cy="83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583" name="Google Shape;1583;p22"/>
            <p:cNvGrpSpPr/>
            <p:nvPr/>
          </p:nvGrpSpPr>
          <p:grpSpPr>
            <a:xfrm>
              <a:off x="411814" y="246124"/>
              <a:ext cx="200475" cy="423740"/>
              <a:chOff x="0" y="-38100"/>
              <a:chExt cx="39600" cy="83700"/>
            </a:xfrm>
          </p:grpSpPr>
          <p:sp>
            <p:nvSpPr>
              <p:cNvPr id="1584" name="Google Shape;1584;p22"/>
              <p:cNvSpPr/>
              <p:nvPr/>
            </p:nvSpPr>
            <p:spPr>
              <a:xfrm>
                <a:off x="0" y="0"/>
                <a:ext cx="39567" cy="45495"/>
              </a:xfrm>
              <a:custGeom>
                <a:avLst/>
                <a:gdLst/>
                <a:ahLst/>
                <a:cxnLst/>
                <a:rect l="l" t="t" r="r" b="b"/>
                <a:pathLst>
                  <a:path w="39567" h="45495" extrusionOk="0">
                    <a:moveTo>
                      <a:pt x="19783" y="0"/>
                    </a:moveTo>
                    <a:lnTo>
                      <a:pt x="19783" y="0"/>
                    </a:lnTo>
                    <a:cubicBezTo>
                      <a:pt x="25030" y="0"/>
                      <a:pt x="30062" y="2084"/>
                      <a:pt x="33772" y="5794"/>
                    </a:cubicBezTo>
                    <a:cubicBezTo>
                      <a:pt x="37482" y="9505"/>
                      <a:pt x="39567" y="14536"/>
                      <a:pt x="39567" y="19783"/>
                    </a:cubicBezTo>
                    <a:lnTo>
                      <a:pt x="39567" y="25712"/>
                    </a:lnTo>
                    <a:cubicBezTo>
                      <a:pt x="39567" y="36638"/>
                      <a:pt x="30709" y="45495"/>
                      <a:pt x="19783" y="45495"/>
                    </a:cubicBezTo>
                    <a:lnTo>
                      <a:pt x="19783" y="45495"/>
                    </a:lnTo>
                    <a:cubicBezTo>
                      <a:pt x="14536" y="45495"/>
                      <a:pt x="9505" y="43411"/>
                      <a:pt x="5794" y="39701"/>
                    </a:cubicBezTo>
                    <a:cubicBezTo>
                      <a:pt x="2084" y="35991"/>
                      <a:pt x="0" y="30959"/>
                      <a:pt x="0" y="25712"/>
                    </a:cubicBezTo>
                    <a:lnTo>
                      <a:pt x="0" y="19783"/>
                    </a:lnTo>
                    <a:cubicBezTo>
                      <a:pt x="0" y="8857"/>
                      <a:pt x="8857" y="0"/>
                      <a:pt x="19783"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5" name="Google Shape;1585;p22"/>
              <p:cNvSpPr txBox="1"/>
              <p:nvPr/>
            </p:nvSpPr>
            <p:spPr>
              <a:xfrm>
                <a:off x="0" y="-38100"/>
                <a:ext cx="39600" cy="83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586" name="Google Shape;1586;p22"/>
            <p:cNvGrpSpPr/>
            <p:nvPr/>
          </p:nvGrpSpPr>
          <p:grpSpPr>
            <a:xfrm>
              <a:off x="477854" y="2556649"/>
              <a:ext cx="457144" cy="320751"/>
              <a:chOff x="0" y="-38100"/>
              <a:chExt cx="90300" cy="63357"/>
            </a:xfrm>
          </p:grpSpPr>
          <p:sp>
            <p:nvSpPr>
              <p:cNvPr id="1587" name="Google Shape;1587;p22"/>
              <p:cNvSpPr/>
              <p:nvPr/>
            </p:nvSpPr>
            <p:spPr>
              <a:xfrm>
                <a:off x="0" y="0"/>
                <a:ext cx="90171" cy="25257"/>
              </a:xfrm>
              <a:custGeom>
                <a:avLst/>
                <a:gdLst/>
                <a:ahLst/>
                <a:cxnLst/>
                <a:rect l="l" t="t" r="r" b="b"/>
                <a:pathLst>
                  <a:path w="90171" h="25257" extrusionOk="0">
                    <a:moveTo>
                      <a:pt x="12629" y="0"/>
                    </a:moveTo>
                    <a:lnTo>
                      <a:pt x="77542" y="0"/>
                    </a:lnTo>
                    <a:cubicBezTo>
                      <a:pt x="84517" y="0"/>
                      <a:pt x="90171" y="5654"/>
                      <a:pt x="90171" y="12629"/>
                    </a:cubicBezTo>
                    <a:lnTo>
                      <a:pt x="90171" y="12629"/>
                    </a:lnTo>
                    <a:cubicBezTo>
                      <a:pt x="90171" y="19603"/>
                      <a:pt x="84517" y="25257"/>
                      <a:pt x="77542" y="25257"/>
                    </a:cubicBezTo>
                    <a:lnTo>
                      <a:pt x="12629" y="25257"/>
                    </a:lnTo>
                    <a:cubicBezTo>
                      <a:pt x="5654" y="25257"/>
                      <a:pt x="0" y="19603"/>
                      <a:pt x="0" y="12629"/>
                    </a:cubicBezTo>
                    <a:lnTo>
                      <a:pt x="0" y="12629"/>
                    </a:lnTo>
                    <a:cubicBezTo>
                      <a:pt x="0" y="5654"/>
                      <a:pt x="5654" y="0"/>
                      <a:pt x="12629"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8" name="Google Shape;1588;p22"/>
              <p:cNvSpPr txBox="1"/>
              <p:nvPr/>
            </p:nvSpPr>
            <p:spPr>
              <a:xfrm>
                <a:off x="0" y="-38100"/>
                <a:ext cx="90300" cy="63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589" name="Google Shape;1589;p22"/>
            <p:cNvGrpSpPr/>
            <p:nvPr/>
          </p:nvGrpSpPr>
          <p:grpSpPr>
            <a:xfrm>
              <a:off x="452102" y="3502381"/>
              <a:ext cx="320456" cy="335644"/>
              <a:chOff x="0" y="-38100"/>
              <a:chExt cx="63300" cy="66300"/>
            </a:xfrm>
          </p:grpSpPr>
          <p:sp>
            <p:nvSpPr>
              <p:cNvPr id="1590" name="Google Shape;1590;p22"/>
              <p:cNvSpPr/>
              <p:nvPr/>
            </p:nvSpPr>
            <p:spPr>
              <a:xfrm>
                <a:off x="0" y="0"/>
                <a:ext cx="63217" cy="28165"/>
              </a:xfrm>
              <a:custGeom>
                <a:avLst/>
                <a:gdLst/>
                <a:ahLst/>
                <a:cxnLst/>
                <a:rect l="l" t="t" r="r" b="b"/>
                <a:pathLst>
                  <a:path w="63217" h="28165" extrusionOk="0">
                    <a:moveTo>
                      <a:pt x="0" y="0"/>
                    </a:moveTo>
                    <a:lnTo>
                      <a:pt x="63217" y="0"/>
                    </a:lnTo>
                    <a:lnTo>
                      <a:pt x="63217" y="28165"/>
                    </a:lnTo>
                    <a:lnTo>
                      <a:pt x="0" y="28165"/>
                    </a:lnTo>
                    <a:close/>
                  </a:path>
                </a:pathLst>
              </a:custGeom>
              <a:solidFill>
                <a:srgbClr val="FFFFFF"/>
              </a:solidFill>
              <a:ln>
                <a:noFill/>
              </a:ln>
            </p:spPr>
          </p:sp>
          <p:sp>
            <p:nvSpPr>
              <p:cNvPr id="1591" name="Google Shape;1591;p22"/>
              <p:cNvSpPr txBox="1"/>
              <p:nvPr/>
            </p:nvSpPr>
            <p:spPr>
              <a:xfrm>
                <a:off x="0" y="-38100"/>
                <a:ext cx="63300" cy="66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592" name="Google Shape;1592;p22"/>
            <p:cNvGrpSpPr/>
            <p:nvPr/>
          </p:nvGrpSpPr>
          <p:grpSpPr>
            <a:xfrm>
              <a:off x="1708329" y="2556657"/>
              <a:ext cx="457144" cy="333182"/>
              <a:chOff x="0" y="-38100"/>
              <a:chExt cx="90300" cy="65815"/>
            </a:xfrm>
          </p:grpSpPr>
          <p:sp>
            <p:nvSpPr>
              <p:cNvPr id="1593" name="Google Shape;1593;p22"/>
              <p:cNvSpPr/>
              <p:nvPr/>
            </p:nvSpPr>
            <p:spPr>
              <a:xfrm>
                <a:off x="0" y="0"/>
                <a:ext cx="90171" cy="27715"/>
              </a:xfrm>
              <a:custGeom>
                <a:avLst/>
                <a:gdLst/>
                <a:ahLst/>
                <a:cxnLst/>
                <a:rect l="l" t="t" r="r" b="b"/>
                <a:pathLst>
                  <a:path w="90171" h="27715" extrusionOk="0">
                    <a:moveTo>
                      <a:pt x="13857" y="0"/>
                    </a:moveTo>
                    <a:lnTo>
                      <a:pt x="76314" y="0"/>
                    </a:lnTo>
                    <a:cubicBezTo>
                      <a:pt x="79989" y="0"/>
                      <a:pt x="83513" y="1460"/>
                      <a:pt x="86112" y="4059"/>
                    </a:cubicBezTo>
                    <a:cubicBezTo>
                      <a:pt x="88711" y="6657"/>
                      <a:pt x="90171" y="10182"/>
                      <a:pt x="90171" y="13857"/>
                    </a:cubicBezTo>
                    <a:lnTo>
                      <a:pt x="90171" y="13857"/>
                    </a:lnTo>
                    <a:cubicBezTo>
                      <a:pt x="90171" y="21510"/>
                      <a:pt x="83967" y="27715"/>
                      <a:pt x="76314" y="27715"/>
                    </a:cubicBezTo>
                    <a:lnTo>
                      <a:pt x="13857" y="27715"/>
                    </a:lnTo>
                    <a:cubicBezTo>
                      <a:pt x="10182" y="27715"/>
                      <a:pt x="6657" y="26255"/>
                      <a:pt x="4059" y="23656"/>
                    </a:cubicBezTo>
                    <a:cubicBezTo>
                      <a:pt x="1460" y="21057"/>
                      <a:pt x="0" y="17532"/>
                      <a:pt x="0" y="13857"/>
                    </a:cubicBezTo>
                    <a:lnTo>
                      <a:pt x="0" y="13857"/>
                    </a:lnTo>
                    <a:cubicBezTo>
                      <a:pt x="0" y="10182"/>
                      <a:pt x="1460" y="6657"/>
                      <a:pt x="4059" y="4059"/>
                    </a:cubicBezTo>
                    <a:cubicBezTo>
                      <a:pt x="6657" y="1460"/>
                      <a:pt x="10182" y="0"/>
                      <a:pt x="13857"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4" name="Google Shape;1594;p22"/>
              <p:cNvSpPr txBox="1"/>
              <p:nvPr/>
            </p:nvSpPr>
            <p:spPr>
              <a:xfrm>
                <a:off x="0" y="-38100"/>
                <a:ext cx="90300" cy="65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595" name="Google Shape;1595;p22"/>
            <p:cNvGrpSpPr/>
            <p:nvPr/>
          </p:nvGrpSpPr>
          <p:grpSpPr>
            <a:xfrm>
              <a:off x="411814" y="4159397"/>
              <a:ext cx="294638" cy="256983"/>
              <a:chOff x="0" y="-38100"/>
              <a:chExt cx="58200" cy="50763"/>
            </a:xfrm>
          </p:grpSpPr>
          <p:sp>
            <p:nvSpPr>
              <p:cNvPr id="1596" name="Google Shape;1596;p22"/>
              <p:cNvSpPr/>
              <p:nvPr/>
            </p:nvSpPr>
            <p:spPr>
              <a:xfrm>
                <a:off x="0" y="0"/>
                <a:ext cx="58130" cy="12663"/>
              </a:xfrm>
              <a:custGeom>
                <a:avLst/>
                <a:gdLst/>
                <a:ahLst/>
                <a:cxnLst/>
                <a:rect l="l" t="t" r="r" b="b"/>
                <a:pathLst>
                  <a:path w="58130" h="12663" extrusionOk="0">
                    <a:moveTo>
                      <a:pt x="0" y="0"/>
                    </a:moveTo>
                    <a:lnTo>
                      <a:pt x="58130" y="0"/>
                    </a:lnTo>
                    <a:lnTo>
                      <a:pt x="58130" y="12663"/>
                    </a:lnTo>
                    <a:lnTo>
                      <a:pt x="0" y="12663"/>
                    </a:lnTo>
                    <a:close/>
                  </a:path>
                </a:pathLst>
              </a:custGeom>
              <a:solidFill>
                <a:srgbClr val="ECECEC"/>
              </a:solidFill>
              <a:ln>
                <a:noFill/>
              </a:ln>
            </p:spPr>
          </p:sp>
          <p:sp>
            <p:nvSpPr>
              <p:cNvPr id="1597" name="Google Shape;1597;p22"/>
              <p:cNvSpPr txBox="1"/>
              <p:nvPr/>
            </p:nvSpPr>
            <p:spPr>
              <a:xfrm>
                <a:off x="0" y="-38100"/>
                <a:ext cx="58200" cy="50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598" name="Google Shape;1598;p22"/>
            <p:cNvGrpSpPr/>
            <p:nvPr/>
          </p:nvGrpSpPr>
          <p:grpSpPr>
            <a:xfrm>
              <a:off x="1535286" y="4159397"/>
              <a:ext cx="322223" cy="256983"/>
              <a:chOff x="0" y="-38100"/>
              <a:chExt cx="63649" cy="50763"/>
            </a:xfrm>
          </p:grpSpPr>
          <p:sp>
            <p:nvSpPr>
              <p:cNvPr id="1599" name="Google Shape;1599;p22"/>
              <p:cNvSpPr/>
              <p:nvPr/>
            </p:nvSpPr>
            <p:spPr>
              <a:xfrm>
                <a:off x="0" y="0"/>
                <a:ext cx="63649" cy="12663"/>
              </a:xfrm>
              <a:custGeom>
                <a:avLst/>
                <a:gdLst/>
                <a:ahLst/>
                <a:cxnLst/>
                <a:rect l="l" t="t" r="r" b="b"/>
                <a:pathLst>
                  <a:path w="63649" h="12663" extrusionOk="0">
                    <a:moveTo>
                      <a:pt x="0" y="0"/>
                    </a:moveTo>
                    <a:lnTo>
                      <a:pt x="63649" y="0"/>
                    </a:lnTo>
                    <a:lnTo>
                      <a:pt x="63649" y="12663"/>
                    </a:lnTo>
                    <a:lnTo>
                      <a:pt x="0" y="12663"/>
                    </a:lnTo>
                    <a:close/>
                  </a:path>
                </a:pathLst>
              </a:custGeom>
              <a:solidFill>
                <a:srgbClr val="ECECEC"/>
              </a:solidFill>
              <a:ln>
                <a:noFill/>
              </a:ln>
            </p:spPr>
          </p:sp>
          <p:sp>
            <p:nvSpPr>
              <p:cNvPr id="1600" name="Google Shape;1600;p22"/>
              <p:cNvSpPr txBox="1"/>
              <p:nvPr/>
            </p:nvSpPr>
            <p:spPr>
              <a:xfrm>
                <a:off x="0" y="-38100"/>
                <a:ext cx="63600" cy="50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601" name="Google Shape;1601;p22"/>
            <p:cNvGrpSpPr/>
            <p:nvPr/>
          </p:nvGrpSpPr>
          <p:grpSpPr>
            <a:xfrm>
              <a:off x="2590495" y="4159397"/>
              <a:ext cx="144284" cy="256983"/>
              <a:chOff x="0" y="-38100"/>
              <a:chExt cx="28500" cy="50763"/>
            </a:xfrm>
          </p:grpSpPr>
          <p:sp>
            <p:nvSpPr>
              <p:cNvPr id="1602" name="Google Shape;1602;p22"/>
              <p:cNvSpPr/>
              <p:nvPr/>
            </p:nvSpPr>
            <p:spPr>
              <a:xfrm>
                <a:off x="0" y="0"/>
                <a:ext cx="28419" cy="12663"/>
              </a:xfrm>
              <a:custGeom>
                <a:avLst/>
                <a:gdLst/>
                <a:ahLst/>
                <a:cxnLst/>
                <a:rect l="l" t="t" r="r" b="b"/>
                <a:pathLst>
                  <a:path w="28419" h="12663" extrusionOk="0">
                    <a:moveTo>
                      <a:pt x="0" y="0"/>
                    </a:moveTo>
                    <a:lnTo>
                      <a:pt x="28419" y="0"/>
                    </a:lnTo>
                    <a:lnTo>
                      <a:pt x="28419" y="12663"/>
                    </a:lnTo>
                    <a:lnTo>
                      <a:pt x="0" y="12663"/>
                    </a:lnTo>
                    <a:close/>
                  </a:path>
                </a:pathLst>
              </a:custGeom>
              <a:solidFill>
                <a:srgbClr val="ECECEC"/>
              </a:solidFill>
              <a:ln>
                <a:noFill/>
              </a:ln>
            </p:spPr>
          </p:sp>
          <p:sp>
            <p:nvSpPr>
              <p:cNvPr id="1603" name="Google Shape;1603;p22"/>
              <p:cNvSpPr txBox="1"/>
              <p:nvPr/>
            </p:nvSpPr>
            <p:spPr>
              <a:xfrm>
                <a:off x="0" y="-38100"/>
                <a:ext cx="28500" cy="50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604" name="Google Shape;1604;p22"/>
            <p:cNvGrpSpPr/>
            <p:nvPr/>
          </p:nvGrpSpPr>
          <p:grpSpPr>
            <a:xfrm>
              <a:off x="1936574" y="1435199"/>
              <a:ext cx="654581" cy="313370"/>
              <a:chOff x="0" y="-38100"/>
              <a:chExt cx="129300" cy="61899"/>
            </a:xfrm>
          </p:grpSpPr>
          <p:sp>
            <p:nvSpPr>
              <p:cNvPr id="1605" name="Google Shape;1605;p22"/>
              <p:cNvSpPr/>
              <p:nvPr/>
            </p:nvSpPr>
            <p:spPr>
              <a:xfrm>
                <a:off x="0" y="0"/>
                <a:ext cx="129170" cy="23799"/>
              </a:xfrm>
              <a:custGeom>
                <a:avLst/>
                <a:gdLst/>
                <a:ahLst/>
                <a:cxnLst/>
                <a:rect l="l" t="t" r="r" b="b"/>
                <a:pathLst>
                  <a:path w="129170" h="23799" extrusionOk="0">
                    <a:moveTo>
                      <a:pt x="0" y="0"/>
                    </a:moveTo>
                    <a:lnTo>
                      <a:pt x="129170" y="0"/>
                    </a:lnTo>
                    <a:lnTo>
                      <a:pt x="129170" y="23799"/>
                    </a:lnTo>
                    <a:lnTo>
                      <a:pt x="0" y="23799"/>
                    </a:lnTo>
                    <a:close/>
                  </a:path>
                </a:pathLst>
              </a:custGeom>
              <a:solidFill>
                <a:srgbClr val="FFFFFF"/>
              </a:solidFill>
              <a:ln>
                <a:noFill/>
              </a:ln>
            </p:spPr>
          </p:sp>
          <p:sp>
            <p:nvSpPr>
              <p:cNvPr id="1606" name="Google Shape;1606;p22"/>
              <p:cNvSpPr txBox="1"/>
              <p:nvPr/>
            </p:nvSpPr>
            <p:spPr>
              <a:xfrm>
                <a:off x="0" y="-38100"/>
                <a:ext cx="129300" cy="6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607" name="Google Shape;1607;p22"/>
            <p:cNvGrpSpPr/>
            <p:nvPr/>
          </p:nvGrpSpPr>
          <p:grpSpPr>
            <a:xfrm>
              <a:off x="1936574" y="1879070"/>
              <a:ext cx="654581" cy="313370"/>
              <a:chOff x="0" y="-38100"/>
              <a:chExt cx="129300" cy="61899"/>
            </a:xfrm>
          </p:grpSpPr>
          <p:sp>
            <p:nvSpPr>
              <p:cNvPr id="1608" name="Google Shape;1608;p22"/>
              <p:cNvSpPr/>
              <p:nvPr/>
            </p:nvSpPr>
            <p:spPr>
              <a:xfrm>
                <a:off x="0" y="0"/>
                <a:ext cx="129170" cy="23799"/>
              </a:xfrm>
              <a:custGeom>
                <a:avLst/>
                <a:gdLst/>
                <a:ahLst/>
                <a:cxnLst/>
                <a:rect l="l" t="t" r="r" b="b"/>
                <a:pathLst>
                  <a:path w="129170" h="23799" extrusionOk="0">
                    <a:moveTo>
                      <a:pt x="0" y="0"/>
                    </a:moveTo>
                    <a:lnTo>
                      <a:pt x="129170" y="0"/>
                    </a:lnTo>
                    <a:lnTo>
                      <a:pt x="129170" y="23799"/>
                    </a:lnTo>
                    <a:lnTo>
                      <a:pt x="0" y="23799"/>
                    </a:lnTo>
                    <a:close/>
                  </a:path>
                </a:pathLst>
              </a:custGeom>
              <a:solidFill>
                <a:srgbClr val="FFFFFF"/>
              </a:solidFill>
              <a:ln>
                <a:noFill/>
              </a:ln>
            </p:spPr>
          </p:sp>
          <p:sp>
            <p:nvSpPr>
              <p:cNvPr id="1609" name="Google Shape;1609;p22"/>
              <p:cNvSpPr txBox="1"/>
              <p:nvPr/>
            </p:nvSpPr>
            <p:spPr>
              <a:xfrm>
                <a:off x="0" y="-38100"/>
                <a:ext cx="129300" cy="6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610" name="Google Shape;1610;p22"/>
            <p:cNvGrpSpPr/>
            <p:nvPr/>
          </p:nvGrpSpPr>
          <p:grpSpPr>
            <a:xfrm>
              <a:off x="772139" y="1855967"/>
              <a:ext cx="654581" cy="313370"/>
              <a:chOff x="0" y="-38100"/>
              <a:chExt cx="129300" cy="61899"/>
            </a:xfrm>
          </p:grpSpPr>
          <p:sp>
            <p:nvSpPr>
              <p:cNvPr id="1611" name="Google Shape;1611;p22"/>
              <p:cNvSpPr/>
              <p:nvPr/>
            </p:nvSpPr>
            <p:spPr>
              <a:xfrm>
                <a:off x="0" y="0"/>
                <a:ext cx="129170" cy="23799"/>
              </a:xfrm>
              <a:custGeom>
                <a:avLst/>
                <a:gdLst/>
                <a:ahLst/>
                <a:cxnLst/>
                <a:rect l="l" t="t" r="r" b="b"/>
                <a:pathLst>
                  <a:path w="129170" h="23799" extrusionOk="0">
                    <a:moveTo>
                      <a:pt x="0" y="0"/>
                    </a:moveTo>
                    <a:lnTo>
                      <a:pt x="129170" y="0"/>
                    </a:lnTo>
                    <a:lnTo>
                      <a:pt x="129170" y="23799"/>
                    </a:lnTo>
                    <a:lnTo>
                      <a:pt x="0" y="23799"/>
                    </a:lnTo>
                    <a:close/>
                  </a:path>
                </a:pathLst>
              </a:custGeom>
              <a:solidFill>
                <a:srgbClr val="FFFFFF"/>
              </a:solidFill>
              <a:ln>
                <a:noFill/>
              </a:ln>
            </p:spPr>
          </p:sp>
          <p:sp>
            <p:nvSpPr>
              <p:cNvPr id="1612" name="Google Shape;1612;p22"/>
              <p:cNvSpPr txBox="1"/>
              <p:nvPr/>
            </p:nvSpPr>
            <p:spPr>
              <a:xfrm>
                <a:off x="0" y="-38100"/>
                <a:ext cx="129300" cy="6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613" name="Google Shape;1613;p22"/>
            <p:cNvGrpSpPr/>
            <p:nvPr/>
          </p:nvGrpSpPr>
          <p:grpSpPr>
            <a:xfrm>
              <a:off x="1609613" y="706327"/>
              <a:ext cx="654581" cy="338681"/>
              <a:chOff x="0" y="-38100"/>
              <a:chExt cx="129300" cy="66900"/>
            </a:xfrm>
          </p:grpSpPr>
          <p:sp>
            <p:nvSpPr>
              <p:cNvPr id="1614" name="Google Shape;1614;p22"/>
              <p:cNvSpPr/>
              <p:nvPr/>
            </p:nvSpPr>
            <p:spPr>
              <a:xfrm>
                <a:off x="0" y="0"/>
                <a:ext cx="129170" cy="28766"/>
              </a:xfrm>
              <a:custGeom>
                <a:avLst/>
                <a:gdLst/>
                <a:ahLst/>
                <a:cxnLst/>
                <a:rect l="l" t="t" r="r" b="b"/>
                <a:pathLst>
                  <a:path w="129170" h="28766" extrusionOk="0">
                    <a:moveTo>
                      <a:pt x="0" y="0"/>
                    </a:moveTo>
                    <a:lnTo>
                      <a:pt x="129170" y="0"/>
                    </a:lnTo>
                    <a:lnTo>
                      <a:pt x="129170" y="28766"/>
                    </a:lnTo>
                    <a:lnTo>
                      <a:pt x="0" y="28766"/>
                    </a:lnTo>
                    <a:close/>
                  </a:path>
                </a:pathLst>
              </a:custGeom>
              <a:solidFill>
                <a:srgbClr val="FFFFFF"/>
              </a:solidFill>
              <a:ln>
                <a:noFill/>
              </a:ln>
            </p:spPr>
          </p:sp>
          <p:sp>
            <p:nvSpPr>
              <p:cNvPr id="1615" name="Google Shape;1615;p22"/>
              <p:cNvSpPr txBox="1"/>
              <p:nvPr/>
            </p:nvSpPr>
            <p:spPr>
              <a:xfrm>
                <a:off x="0" y="-38100"/>
                <a:ext cx="129300" cy="66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616" name="Google Shape;1616;p22"/>
            <p:cNvGrpSpPr/>
            <p:nvPr/>
          </p:nvGrpSpPr>
          <p:grpSpPr>
            <a:xfrm>
              <a:off x="426350" y="706327"/>
              <a:ext cx="507992" cy="338681"/>
              <a:chOff x="0" y="-38100"/>
              <a:chExt cx="100344" cy="66900"/>
            </a:xfrm>
          </p:grpSpPr>
          <p:sp>
            <p:nvSpPr>
              <p:cNvPr id="1617" name="Google Shape;1617;p22"/>
              <p:cNvSpPr/>
              <p:nvPr/>
            </p:nvSpPr>
            <p:spPr>
              <a:xfrm>
                <a:off x="0" y="0"/>
                <a:ext cx="100344" cy="28766"/>
              </a:xfrm>
              <a:custGeom>
                <a:avLst/>
                <a:gdLst/>
                <a:ahLst/>
                <a:cxnLst/>
                <a:rect l="l" t="t" r="r" b="b"/>
                <a:pathLst>
                  <a:path w="100344" h="28766" extrusionOk="0">
                    <a:moveTo>
                      <a:pt x="0" y="0"/>
                    </a:moveTo>
                    <a:lnTo>
                      <a:pt x="100344" y="0"/>
                    </a:lnTo>
                    <a:lnTo>
                      <a:pt x="100344" y="28766"/>
                    </a:lnTo>
                    <a:lnTo>
                      <a:pt x="0" y="28766"/>
                    </a:lnTo>
                    <a:close/>
                  </a:path>
                </a:pathLst>
              </a:custGeom>
              <a:solidFill>
                <a:srgbClr val="FFFFFF"/>
              </a:solidFill>
              <a:ln>
                <a:noFill/>
              </a:ln>
            </p:spPr>
          </p:sp>
          <p:sp>
            <p:nvSpPr>
              <p:cNvPr id="1618" name="Google Shape;1618;p22"/>
              <p:cNvSpPr txBox="1"/>
              <p:nvPr/>
            </p:nvSpPr>
            <p:spPr>
              <a:xfrm>
                <a:off x="0" y="-38100"/>
                <a:ext cx="100200" cy="66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619" name="Google Shape;1619;p22"/>
            <p:cNvGrpSpPr/>
            <p:nvPr/>
          </p:nvGrpSpPr>
          <p:grpSpPr>
            <a:xfrm>
              <a:off x="863260" y="2556653"/>
              <a:ext cx="507991" cy="338681"/>
              <a:chOff x="0" y="-38100"/>
              <a:chExt cx="100344" cy="66900"/>
            </a:xfrm>
          </p:grpSpPr>
          <p:sp>
            <p:nvSpPr>
              <p:cNvPr id="1620" name="Google Shape;1620;p22"/>
              <p:cNvSpPr/>
              <p:nvPr/>
            </p:nvSpPr>
            <p:spPr>
              <a:xfrm>
                <a:off x="0" y="0"/>
                <a:ext cx="100344" cy="28766"/>
              </a:xfrm>
              <a:custGeom>
                <a:avLst/>
                <a:gdLst/>
                <a:ahLst/>
                <a:cxnLst/>
                <a:rect l="l" t="t" r="r" b="b"/>
                <a:pathLst>
                  <a:path w="100344" h="28766" extrusionOk="0">
                    <a:moveTo>
                      <a:pt x="0" y="0"/>
                    </a:moveTo>
                    <a:lnTo>
                      <a:pt x="100344" y="0"/>
                    </a:lnTo>
                    <a:lnTo>
                      <a:pt x="100344" y="28766"/>
                    </a:lnTo>
                    <a:lnTo>
                      <a:pt x="0" y="28766"/>
                    </a:lnTo>
                    <a:close/>
                  </a:path>
                </a:pathLst>
              </a:custGeom>
              <a:solidFill>
                <a:srgbClr val="FFFFFF"/>
              </a:solidFill>
              <a:ln>
                <a:noFill/>
              </a:ln>
            </p:spPr>
          </p:sp>
          <p:sp>
            <p:nvSpPr>
              <p:cNvPr id="1621" name="Google Shape;1621;p22"/>
              <p:cNvSpPr txBox="1"/>
              <p:nvPr/>
            </p:nvSpPr>
            <p:spPr>
              <a:xfrm>
                <a:off x="0" y="-38100"/>
                <a:ext cx="100200" cy="66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622" name="Google Shape;1622;p22"/>
            <p:cNvGrpSpPr/>
            <p:nvPr/>
          </p:nvGrpSpPr>
          <p:grpSpPr>
            <a:xfrm>
              <a:off x="1535286" y="3529810"/>
              <a:ext cx="322223" cy="308300"/>
              <a:chOff x="0" y="-38100"/>
              <a:chExt cx="63649" cy="60900"/>
            </a:xfrm>
          </p:grpSpPr>
          <p:sp>
            <p:nvSpPr>
              <p:cNvPr id="1623" name="Google Shape;1623;p22"/>
              <p:cNvSpPr/>
              <p:nvPr/>
            </p:nvSpPr>
            <p:spPr>
              <a:xfrm>
                <a:off x="0" y="0"/>
                <a:ext cx="63649" cy="22748"/>
              </a:xfrm>
              <a:custGeom>
                <a:avLst/>
                <a:gdLst/>
                <a:ahLst/>
                <a:cxnLst/>
                <a:rect l="l" t="t" r="r" b="b"/>
                <a:pathLst>
                  <a:path w="63649" h="22748" extrusionOk="0">
                    <a:moveTo>
                      <a:pt x="0" y="0"/>
                    </a:moveTo>
                    <a:lnTo>
                      <a:pt x="63649" y="0"/>
                    </a:lnTo>
                    <a:lnTo>
                      <a:pt x="63649" y="22748"/>
                    </a:lnTo>
                    <a:lnTo>
                      <a:pt x="0" y="22748"/>
                    </a:lnTo>
                    <a:close/>
                  </a:path>
                </a:pathLst>
              </a:custGeom>
              <a:solidFill>
                <a:srgbClr val="FFFFFF"/>
              </a:solidFill>
              <a:ln>
                <a:noFill/>
              </a:ln>
            </p:spPr>
          </p:sp>
          <p:sp>
            <p:nvSpPr>
              <p:cNvPr id="1624" name="Google Shape;1624;p22"/>
              <p:cNvSpPr txBox="1"/>
              <p:nvPr/>
            </p:nvSpPr>
            <p:spPr>
              <a:xfrm>
                <a:off x="0" y="-38100"/>
                <a:ext cx="63600" cy="60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625" name="Google Shape;1625;p22"/>
            <p:cNvGrpSpPr/>
            <p:nvPr/>
          </p:nvGrpSpPr>
          <p:grpSpPr>
            <a:xfrm>
              <a:off x="2602577" y="3529810"/>
              <a:ext cx="152044" cy="308300"/>
              <a:chOff x="0" y="-38100"/>
              <a:chExt cx="30034" cy="60900"/>
            </a:xfrm>
          </p:grpSpPr>
          <p:sp>
            <p:nvSpPr>
              <p:cNvPr id="1626" name="Google Shape;1626;p22"/>
              <p:cNvSpPr/>
              <p:nvPr/>
            </p:nvSpPr>
            <p:spPr>
              <a:xfrm>
                <a:off x="0" y="0"/>
                <a:ext cx="30034" cy="22748"/>
              </a:xfrm>
              <a:custGeom>
                <a:avLst/>
                <a:gdLst/>
                <a:ahLst/>
                <a:cxnLst/>
                <a:rect l="l" t="t" r="r" b="b"/>
                <a:pathLst>
                  <a:path w="30034" h="22748" extrusionOk="0">
                    <a:moveTo>
                      <a:pt x="0" y="0"/>
                    </a:moveTo>
                    <a:lnTo>
                      <a:pt x="30034" y="0"/>
                    </a:lnTo>
                    <a:lnTo>
                      <a:pt x="30034" y="22748"/>
                    </a:lnTo>
                    <a:lnTo>
                      <a:pt x="0" y="22748"/>
                    </a:lnTo>
                    <a:close/>
                  </a:path>
                </a:pathLst>
              </a:custGeom>
              <a:solidFill>
                <a:srgbClr val="FFFFFF"/>
              </a:solidFill>
              <a:ln>
                <a:noFill/>
              </a:ln>
            </p:spPr>
          </p:sp>
          <p:sp>
            <p:nvSpPr>
              <p:cNvPr id="1627" name="Google Shape;1627;p22"/>
              <p:cNvSpPr txBox="1"/>
              <p:nvPr/>
            </p:nvSpPr>
            <p:spPr>
              <a:xfrm>
                <a:off x="0" y="-38100"/>
                <a:ext cx="30000" cy="60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628" name="Google Shape;1628;p22"/>
            <p:cNvGrpSpPr/>
            <p:nvPr/>
          </p:nvGrpSpPr>
          <p:grpSpPr>
            <a:xfrm>
              <a:off x="1967387" y="2567722"/>
              <a:ext cx="654581" cy="313370"/>
              <a:chOff x="0" y="-38100"/>
              <a:chExt cx="129300" cy="61899"/>
            </a:xfrm>
          </p:grpSpPr>
          <p:sp>
            <p:nvSpPr>
              <p:cNvPr id="1629" name="Google Shape;1629;p22"/>
              <p:cNvSpPr/>
              <p:nvPr/>
            </p:nvSpPr>
            <p:spPr>
              <a:xfrm>
                <a:off x="0" y="0"/>
                <a:ext cx="129170" cy="23799"/>
              </a:xfrm>
              <a:custGeom>
                <a:avLst/>
                <a:gdLst/>
                <a:ahLst/>
                <a:cxnLst/>
                <a:rect l="l" t="t" r="r" b="b"/>
                <a:pathLst>
                  <a:path w="129170" h="23799" extrusionOk="0">
                    <a:moveTo>
                      <a:pt x="0" y="0"/>
                    </a:moveTo>
                    <a:lnTo>
                      <a:pt x="129170" y="0"/>
                    </a:lnTo>
                    <a:lnTo>
                      <a:pt x="129170" y="23799"/>
                    </a:lnTo>
                    <a:lnTo>
                      <a:pt x="0" y="23799"/>
                    </a:lnTo>
                    <a:close/>
                  </a:path>
                </a:pathLst>
              </a:custGeom>
              <a:solidFill>
                <a:srgbClr val="FFFFFF"/>
              </a:solidFill>
              <a:ln>
                <a:noFill/>
              </a:ln>
            </p:spPr>
          </p:sp>
          <p:sp>
            <p:nvSpPr>
              <p:cNvPr id="1630" name="Google Shape;1630;p22"/>
              <p:cNvSpPr txBox="1"/>
              <p:nvPr/>
            </p:nvSpPr>
            <p:spPr>
              <a:xfrm>
                <a:off x="0" y="-38100"/>
                <a:ext cx="129300" cy="6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sp>
          <p:nvSpPr>
            <p:cNvPr id="1631" name="Google Shape;1631;p22"/>
            <p:cNvSpPr txBox="1"/>
            <p:nvPr/>
          </p:nvSpPr>
          <p:spPr>
            <a:xfrm>
              <a:off x="1701113" y="950025"/>
              <a:ext cx="300000" cy="329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400"/>
                <a:buFont typeface="Arial"/>
                <a:buNone/>
              </a:pPr>
              <a:r>
                <a:rPr lang="en-US" sz="400" b="1" i="0" u="none" strike="noStrike" cap="none">
                  <a:solidFill>
                    <a:srgbClr val="00234F"/>
                  </a:solidFill>
                  <a:latin typeface="Inter"/>
                  <a:ea typeface="Inter"/>
                  <a:cs typeface="Inter"/>
                  <a:sym typeface="Inter"/>
                </a:rPr>
                <a:t>point</a:t>
              </a:r>
              <a:endParaRPr sz="1200" b="0" i="0" u="none" strike="noStrike" cap="none">
                <a:solidFill>
                  <a:srgbClr val="000000"/>
                </a:solidFill>
                <a:latin typeface="Arial"/>
                <a:ea typeface="Arial"/>
                <a:cs typeface="Arial"/>
                <a:sym typeface="Arial"/>
              </a:endParaRPr>
            </a:p>
          </p:txBody>
        </p:sp>
        <p:sp>
          <p:nvSpPr>
            <p:cNvPr id="1632" name="Google Shape;1632;p22"/>
            <p:cNvSpPr txBox="1"/>
            <p:nvPr/>
          </p:nvSpPr>
          <p:spPr>
            <a:xfrm>
              <a:off x="2393063" y="2785704"/>
              <a:ext cx="300000" cy="329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400"/>
                <a:buFont typeface="Arial"/>
                <a:buNone/>
              </a:pPr>
              <a:r>
                <a:rPr lang="en-US" sz="400" b="1" i="0" u="none" strike="noStrike" cap="none">
                  <a:solidFill>
                    <a:srgbClr val="00234F"/>
                  </a:solidFill>
                  <a:latin typeface="Inter"/>
                  <a:ea typeface="Inter"/>
                  <a:cs typeface="Inter"/>
                  <a:sym typeface="Inter"/>
                </a:rPr>
                <a:t>point</a:t>
              </a:r>
              <a:endParaRPr sz="1200" b="0" i="0" u="none" strike="noStrike" cap="none">
                <a:solidFill>
                  <a:srgbClr val="000000"/>
                </a:solidFill>
                <a:latin typeface="Arial"/>
                <a:ea typeface="Arial"/>
                <a:cs typeface="Arial"/>
                <a:sym typeface="Arial"/>
              </a:endParaRPr>
            </a:p>
          </p:txBody>
        </p:sp>
        <p:sp>
          <p:nvSpPr>
            <p:cNvPr id="1633" name="Google Shape;1633;p22"/>
            <p:cNvSpPr txBox="1"/>
            <p:nvPr/>
          </p:nvSpPr>
          <p:spPr>
            <a:xfrm>
              <a:off x="1162305" y="2785704"/>
              <a:ext cx="300000" cy="329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400"/>
                <a:buFont typeface="Arial"/>
                <a:buNone/>
              </a:pPr>
              <a:r>
                <a:rPr lang="en-US" sz="400" b="1" i="0" u="none" strike="noStrike" cap="none">
                  <a:solidFill>
                    <a:srgbClr val="00234F"/>
                  </a:solidFill>
                  <a:latin typeface="Inter"/>
                  <a:ea typeface="Inter"/>
                  <a:cs typeface="Inter"/>
                  <a:sym typeface="Inter"/>
                </a:rPr>
                <a:t>point</a:t>
              </a:r>
              <a:endParaRPr sz="1200" b="0" i="0" u="none" strike="noStrike" cap="none">
                <a:solidFill>
                  <a:srgbClr val="000000"/>
                </a:solidFill>
                <a:latin typeface="Arial"/>
                <a:ea typeface="Arial"/>
                <a:cs typeface="Arial"/>
                <a:sym typeface="Arial"/>
              </a:endParaRPr>
            </a:p>
          </p:txBody>
        </p:sp>
      </p:grpSp>
      <p:sp>
        <p:nvSpPr>
          <p:cNvPr id="1634" name="Google Shape;1634;p22"/>
          <p:cNvSpPr/>
          <p:nvPr/>
        </p:nvSpPr>
        <p:spPr>
          <a:xfrm>
            <a:off x="10727533" y="2087670"/>
            <a:ext cx="896064" cy="632399"/>
          </a:xfrm>
          <a:custGeom>
            <a:avLst/>
            <a:gdLst/>
            <a:ahLst/>
            <a:cxnLst/>
            <a:rect l="l" t="t" r="r" b="b"/>
            <a:pathLst>
              <a:path w="1057303" h="746194" extrusionOk="0">
                <a:moveTo>
                  <a:pt x="0" y="0"/>
                </a:moveTo>
                <a:lnTo>
                  <a:pt x="1057303" y="0"/>
                </a:lnTo>
                <a:lnTo>
                  <a:pt x="1057303" y="746195"/>
                </a:lnTo>
                <a:lnTo>
                  <a:pt x="0" y="746195"/>
                </a:lnTo>
                <a:lnTo>
                  <a:pt x="0" y="0"/>
                </a:lnTo>
                <a:close/>
              </a:path>
            </a:pathLst>
          </a:custGeom>
          <a:blipFill rotWithShape="1">
            <a:blip r:embed="rId18" cstate="email">
              <a:alphaModFix/>
              <a:extLst>
                <a:ext uri="{28A0092B-C50C-407E-A947-70E740481C1C}">
                  <a14:useLocalDpi xmlns:a14="http://schemas.microsoft.com/office/drawing/2010/main"/>
                </a:ext>
              </a:extLst>
            </a:blip>
            <a:stretch>
              <a:fillRect/>
            </a:stretch>
          </a:blipFill>
          <a:ln>
            <a:noFill/>
          </a:ln>
        </p:spPr>
      </p:sp>
      <p:grpSp>
        <p:nvGrpSpPr>
          <p:cNvPr id="1635" name="Google Shape;1635;p22"/>
          <p:cNvGrpSpPr/>
          <p:nvPr/>
        </p:nvGrpSpPr>
        <p:grpSpPr>
          <a:xfrm>
            <a:off x="12927350" y="2029490"/>
            <a:ext cx="1159515" cy="2293739"/>
            <a:chOff x="0" y="0"/>
            <a:chExt cx="2815725" cy="5570030"/>
          </a:xfrm>
        </p:grpSpPr>
        <p:grpSp>
          <p:nvGrpSpPr>
            <p:cNvPr id="1636" name="Google Shape;1636;p22"/>
            <p:cNvGrpSpPr/>
            <p:nvPr/>
          </p:nvGrpSpPr>
          <p:grpSpPr>
            <a:xfrm>
              <a:off x="0" y="0"/>
              <a:ext cx="2815725" cy="5570030"/>
              <a:chOff x="0" y="0"/>
              <a:chExt cx="2620010" cy="5182870"/>
            </a:xfrm>
          </p:grpSpPr>
          <p:sp>
            <p:nvSpPr>
              <p:cNvPr id="1637" name="Google Shape;1637;p22"/>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8" name="Google Shape;1638;p22"/>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19"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9" name="Google Shape;1639;p22"/>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0" name="Google Shape;1640;p22"/>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1" name="Google Shape;1641;p22"/>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2" name="Google Shape;1642;p22"/>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3" name="Google Shape;1643;p22"/>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4" name="Google Shape;1644;p22"/>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5" name="Google Shape;1645;p22"/>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46" name="Google Shape;1646;p22"/>
            <p:cNvGrpSpPr/>
            <p:nvPr/>
          </p:nvGrpSpPr>
          <p:grpSpPr>
            <a:xfrm>
              <a:off x="330718" y="3049687"/>
              <a:ext cx="1569076" cy="353862"/>
              <a:chOff x="0" y="-38100"/>
              <a:chExt cx="309941" cy="69900"/>
            </a:xfrm>
          </p:grpSpPr>
          <p:sp>
            <p:nvSpPr>
              <p:cNvPr id="1647" name="Google Shape;1647;p22"/>
              <p:cNvSpPr/>
              <p:nvPr/>
            </p:nvSpPr>
            <p:spPr>
              <a:xfrm>
                <a:off x="0" y="0"/>
                <a:ext cx="309941" cy="31677"/>
              </a:xfrm>
              <a:custGeom>
                <a:avLst/>
                <a:gdLst/>
                <a:ahLst/>
                <a:cxnLst/>
                <a:rect l="l" t="t" r="r" b="b"/>
                <a:pathLst>
                  <a:path w="309941" h="31677" extrusionOk="0">
                    <a:moveTo>
                      <a:pt x="0" y="0"/>
                    </a:moveTo>
                    <a:lnTo>
                      <a:pt x="309941" y="0"/>
                    </a:lnTo>
                    <a:lnTo>
                      <a:pt x="309941" y="31677"/>
                    </a:lnTo>
                    <a:lnTo>
                      <a:pt x="0" y="31677"/>
                    </a:lnTo>
                    <a:close/>
                  </a:path>
                </a:pathLst>
              </a:custGeom>
              <a:solidFill>
                <a:srgbClr val="293277"/>
              </a:solidFill>
              <a:ln>
                <a:noFill/>
              </a:ln>
            </p:spPr>
          </p:sp>
          <p:sp>
            <p:nvSpPr>
              <p:cNvPr id="1648" name="Google Shape;1648;p22"/>
              <p:cNvSpPr txBox="1"/>
              <p:nvPr/>
            </p:nvSpPr>
            <p:spPr>
              <a:xfrm>
                <a:off x="0" y="-38100"/>
                <a:ext cx="309900" cy="69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nvGrpSpPr>
            <p:cNvPr id="1649" name="Google Shape;1649;p22"/>
            <p:cNvGrpSpPr/>
            <p:nvPr/>
          </p:nvGrpSpPr>
          <p:grpSpPr>
            <a:xfrm>
              <a:off x="243439" y="4611011"/>
              <a:ext cx="646117" cy="385763"/>
              <a:chOff x="0" y="-38100"/>
              <a:chExt cx="127628" cy="76200"/>
            </a:xfrm>
          </p:grpSpPr>
          <p:sp>
            <p:nvSpPr>
              <p:cNvPr id="1650" name="Google Shape;1650;p22"/>
              <p:cNvSpPr/>
              <p:nvPr/>
            </p:nvSpPr>
            <p:spPr>
              <a:xfrm>
                <a:off x="0" y="0"/>
                <a:ext cx="127628" cy="38015"/>
              </a:xfrm>
              <a:custGeom>
                <a:avLst/>
                <a:gdLst/>
                <a:ahLst/>
                <a:cxnLst/>
                <a:rect l="l" t="t" r="r" b="b"/>
                <a:pathLst>
                  <a:path w="127628" h="38015" extrusionOk="0">
                    <a:moveTo>
                      <a:pt x="0" y="0"/>
                    </a:moveTo>
                    <a:lnTo>
                      <a:pt x="127628" y="0"/>
                    </a:lnTo>
                    <a:lnTo>
                      <a:pt x="127628" y="38015"/>
                    </a:lnTo>
                    <a:lnTo>
                      <a:pt x="0" y="38015"/>
                    </a:lnTo>
                    <a:close/>
                  </a:path>
                </a:pathLst>
              </a:custGeom>
              <a:solidFill>
                <a:srgbClr val="FFFFFF"/>
              </a:solidFill>
              <a:ln>
                <a:noFill/>
              </a:ln>
            </p:spPr>
          </p:sp>
          <p:sp>
            <p:nvSpPr>
              <p:cNvPr id="1651" name="Google Shape;1651;p22"/>
              <p:cNvSpPr txBox="1"/>
              <p:nvPr/>
            </p:nvSpPr>
            <p:spPr>
              <a:xfrm>
                <a:off x="0" y="-38100"/>
                <a:ext cx="127500" cy="762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p:txBody>
          </p:sp>
        </p:grpSp>
      </p:grpSp>
      <p:grpSp>
        <p:nvGrpSpPr>
          <p:cNvPr id="1652" name="Google Shape;1652;p22"/>
          <p:cNvGrpSpPr/>
          <p:nvPr/>
        </p:nvGrpSpPr>
        <p:grpSpPr>
          <a:xfrm>
            <a:off x="1395688" y="647442"/>
            <a:ext cx="922772" cy="955213"/>
            <a:chOff x="0" y="-28575"/>
            <a:chExt cx="812800" cy="841375"/>
          </a:xfrm>
        </p:grpSpPr>
        <p:sp>
          <p:nvSpPr>
            <p:cNvPr id="1653" name="Google Shape;1653;p2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4" name="Google Shape;1654;p22"/>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655" name="Google Shape;1655;p22"/>
          <p:cNvSpPr txBox="1"/>
          <p:nvPr/>
        </p:nvSpPr>
        <p:spPr>
          <a:xfrm>
            <a:off x="1635974" y="925024"/>
            <a:ext cx="442200" cy="40005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dirty="0">
                <a:solidFill>
                  <a:schemeClr val="dk2"/>
                </a:solidFill>
                <a:latin typeface="Inter"/>
                <a:ea typeface="Inter"/>
                <a:cs typeface="Inter"/>
                <a:sym typeface="Inter"/>
              </a:rPr>
              <a:t>0</a:t>
            </a:r>
            <a:r>
              <a:rPr lang="en-US" sz="2600" b="1" dirty="0">
                <a:solidFill>
                  <a:schemeClr val="dk2"/>
                </a:solidFill>
                <a:latin typeface="Inter"/>
                <a:ea typeface="Inter"/>
                <a:cs typeface="Inter"/>
                <a:sym typeface="Inter"/>
              </a:rPr>
              <a:t>2</a:t>
            </a:r>
            <a:endParaRPr sz="1800" b="0" i="0" u="none" strike="noStrike" cap="none" dirty="0">
              <a:solidFill>
                <a:schemeClr val="dk2"/>
              </a:solidFill>
              <a:latin typeface="Arial"/>
              <a:ea typeface="Arial"/>
              <a:cs typeface="Arial"/>
              <a:sym typeface="Arial"/>
            </a:endParaRPr>
          </a:p>
        </p:txBody>
      </p:sp>
      <p:sp>
        <p:nvSpPr>
          <p:cNvPr id="1656" name="Google Shape;1656;p22"/>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20" cstate="email">
              <a:alphaModFix/>
              <a:extLst>
                <a:ext uri="{28A0092B-C50C-407E-A947-70E740481C1C}">
                  <a14:useLocalDpi xmlns:a14="http://schemas.microsoft.com/office/drawing/2010/main"/>
                </a:ext>
              </a:extLst>
            </a:blip>
            <a:stretch>
              <a:fillRect b="-5"/>
            </a:stretch>
          </a:blipFill>
          <a:ln>
            <a:noFill/>
          </a:ln>
        </p:spPr>
      </p:sp>
      <p:grpSp>
        <p:nvGrpSpPr>
          <p:cNvPr id="1657" name="Google Shape;1657;p22"/>
          <p:cNvGrpSpPr/>
          <p:nvPr/>
        </p:nvGrpSpPr>
        <p:grpSpPr>
          <a:xfrm>
            <a:off x="872534" y="8351050"/>
            <a:ext cx="846442" cy="699635"/>
            <a:chOff x="0" y="0"/>
            <a:chExt cx="1269600" cy="1049400"/>
          </a:xfrm>
        </p:grpSpPr>
        <p:sp>
          <p:nvSpPr>
            <p:cNvPr id="1658" name="Google Shape;1658;p22"/>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659" name="Google Shape;1659;p22"/>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b="0" i="0" u="none" strike="noStrike" cap="none" dirty="0">
                  <a:solidFill>
                    <a:schemeClr val="lt1"/>
                  </a:solidFill>
                  <a:latin typeface="Inter"/>
                  <a:ea typeface="Inter"/>
                  <a:cs typeface="Inter"/>
                  <a:sym typeface="Inter"/>
                </a:rPr>
                <a:t>25</a:t>
              </a:r>
              <a:endParaRPr sz="1200" b="0" i="0" u="none" strike="noStrike" cap="none" dirty="0">
                <a:solidFill>
                  <a:schemeClr val="lt1"/>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63"/>
        <p:cNvGrpSpPr/>
        <p:nvPr/>
      </p:nvGrpSpPr>
      <p:grpSpPr>
        <a:xfrm>
          <a:off x="0" y="0"/>
          <a:ext cx="0" cy="0"/>
          <a:chOff x="0" y="0"/>
          <a:chExt cx="0" cy="0"/>
        </a:xfrm>
      </p:grpSpPr>
      <p:sp>
        <p:nvSpPr>
          <p:cNvPr id="1664" name="Google Shape;1664;p23"/>
          <p:cNvSpPr/>
          <p:nvPr/>
        </p:nvSpPr>
        <p:spPr>
          <a:xfrm rot="5400000">
            <a:off x="275628" y="2288858"/>
            <a:ext cx="9155430" cy="4577715"/>
          </a:xfrm>
          <a:custGeom>
            <a:avLst/>
            <a:gdLst/>
            <a:ahLst/>
            <a:cxnLst/>
            <a:rect l="l" t="t" r="r" b="b"/>
            <a:pathLst>
              <a:path w="10287000" h="5143500" extrusionOk="0">
                <a:moveTo>
                  <a:pt x="0" y="0"/>
                </a:moveTo>
                <a:lnTo>
                  <a:pt x="10287000" y="0"/>
                </a:lnTo>
                <a:lnTo>
                  <a:pt x="10287000" y="5143500"/>
                </a:lnTo>
                <a:lnTo>
                  <a:pt x="0" y="5143500"/>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sp>
      <p:grpSp>
        <p:nvGrpSpPr>
          <p:cNvPr id="1665" name="Google Shape;1665;p23"/>
          <p:cNvGrpSpPr/>
          <p:nvPr/>
        </p:nvGrpSpPr>
        <p:grpSpPr>
          <a:xfrm>
            <a:off x="69" y="-225021"/>
            <a:ext cx="4154911" cy="9369027"/>
            <a:chOff x="0" y="-66675"/>
            <a:chExt cx="2748684" cy="2776008"/>
          </a:xfrm>
        </p:grpSpPr>
        <p:sp>
          <p:nvSpPr>
            <p:cNvPr id="1666" name="Google Shape;1666;p23"/>
            <p:cNvSpPr/>
            <p:nvPr/>
          </p:nvSpPr>
          <p:spPr>
            <a:xfrm>
              <a:off x="0" y="0"/>
              <a:ext cx="2748684" cy="2709333"/>
            </a:xfrm>
            <a:custGeom>
              <a:avLst/>
              <a:gdLst/>
              <a:ahLst/>
              <a:cxnLst/>
              <a:rect l="l" t="t" r="r" b="b"/>
              <a:pathLst>
                <a:path w="2748684" h="2709333" extrusionOk="0">
                  <a:moveTo>
                    <a:pt x="0" y="0"/>
                  </a:moveTo>
                  <a:lnTo>
                    <a:pt x="2748684" y="0"/>
                  </a:lnTo>
                  <a:lnTo>
                    <a:pt x="2748684" y="2709333"/>
                  </a:lnTo>
                  <a:lnTo>
                    <a:pt x="0" y="2709333"/>
                  </a:lnTo>
                  <a:close/>
                </a:path>
              </a:pathLst>
            </a:custGeom>
            <a:solidFill>
              <a:srgbClr val="003A86"/>
            </a:solidFill>
            <a:ln>
              <a:noFill/>
            </a:ln>
          </p:spPr>
        </p:sp>
        <p:sp>
          <p:nvSpPr>
            <p:cNvPr id="1667" name="Google Shape;1667;p23"/>
            <p:cNvSpPr txBox="1"/>
            <p:nvPr/>
          </p:nvSpPr>
          <p:spPr>
            <a:xfrm>
              <a:off x="0" y="-66675"/>
              <a:ext cx="2748600" cy="2775900"/>
            </a:xfrm>
            <a:prstGeom prst="rect">
              <a:avLst/>
            </a:prstGeom>
            <a:noFill/>
            <a:ln>
              <a:noFill/>
            </a:ln>
          </p:spPr>
          <p:txBody>
            <a:bodyPr spcFirstLastPara="1" wrap="square" lIns="45150" tIns="45150" rIns="45150" bIns="45150" anchor="ctr" anchorCtr="0">
              <a:noAutofit/>
            </a:bodyPr>
            <a:lstStyle/>
            <a:p>
              <a:pPr marL="0" marR="0" lvl="0" indent="0" algn="ctr" rtl="0">
                <a:lnSpc>
                  <a:spcPct val="16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668" name="Google Shape;1668;p23"/>
          <p:cNvSpPr/>
          <p:nvPr/>
        </p:nvSpPr>
        <p:spPr>
          <a:xfrm>
            <a:off x="411277" y="3304219"/>
            <a:ext cx="495765" cy="472836"/>
          </a:xfrm>
          <a:custGeom>
            <a:avLst/>
            <a:gdLst/>
            <a:ahLst/>
            <a:cxnLst/>
            <a:rect l="l" t="t" r="r" b="b"/>
            <a:pathLst>
              <a:path w="557039" h="531276" extrusionOk="0">
                <a:moveTo>
                  <a:pt x="0" y="0"/>
                </a:moveTo>
                <a:lnTo>
                  <a:pt x="557039" y="0"/>
                </a:lnTo>
                <a:lnTo>
                  <a:pt x="557039" y="531276"/>
                </a:lnTo>
                <a:lnTo>
                  <a:pt x="0" y="531276"/>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sp>
        <p:nvSpPr>
          <p:cNvPr id="1669" name="Google Shape;1669;p23"/>
          <p:cNvSpPr/>
          <p:nvPr/>
        </p:nvSpPr>
        <p:spPr>
          <a:xfrm>
            <a:off x="411277" y="6201531"/>
            <a:ext cx="442101" cy="472836"/>
          </a:xfrm>
          <a:custGeom>
            <a:avLst/>
            <a:gdLst/>
            <a:ahLst/>
            <a:cxnLst/>
            <a:rect l="l" t="t" r="r" b="b"/>
            <a:pathLst>
              <a:path w="496743" h="531276" extrusionOk="0">
                <a:moveTo>
                  <a:pt x="0" y="0"/>
                </a:moveTo>
                <a:lnTo>
                  <a:pt x="496743" y="0"/>
                </a:lnTo>
                <a:lnTo>
                  <a:pt x="496743" y="531275"/>
                </a:lnTo>
                <a:lnTo>
                  <a:pt x="0" y="531275"/>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sp>
        <p:nvSpPr>
          <p:cNvPr id="1670" name="Google Shape;1670;p23"/>
          <p:cNvSpPr/>
          <p:nvPr/>
        </p:nvSpPr>
        <p:spPr>
          <a:xfrm>
            <a:off x="411277" y="4199684"/>
            <a:ext cx="495765" cy="495765"/>
          </a:xfrm>
          <a:custGeom>
            <a:avLst/>
            <a:gdLst/>
            <a:ahLst/>
            <a:cxnLst/>
            <a:rect l="l" t="t" r="r" b="b"/>
            <a:pathLst>
              <a:path w="557039" h="557039" extrusionOk="0">
                <a:moveTo>
                  <a:pt x="0" y="0"/>
                </a:moveTo>
                <a:lnTo>
                  <a:pt x="557039" y="0"/>
                </a:lnTo>
                <a:lnTo>
                  <a:pt x="557039" y="557039"/>
                </a:lnTo>
                <a:lnTo>
                  <a:pt x="0" y="557039"/>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671" name="Google Shape;1671;p23"/>
          <p:cNvSpPr/>
          <p:nvPr/>
        </p:nvSpPr>
        <p:spPr>
          <a:xfrm>
            <a:off x="411277" y="5147167"/>
            <a:ext cx="495765" cy="495765"/>
          </a:xfrm>
          <a:custGeom>
            <a:avLst/>
            <a:gdLst/>
            <a:ahLst/>
            <a:cxnLst/>
            <a:rect l="l" t="t" r="r" b="b"/>
            <a:pathLst>
              <a:path w="557039" h="557039" extrusionOk="0">
                <a:moveTo>
                  <a:pt x="0" y="0"/>
                </a:moveTo>
                <a:lnTo>
                  <a:pt x="557039" y="0"/>
                </a:lnTo>
                <a:lnTo>
                  <a:pt x="557039" y="557039"/>
                </a:lnTo>
                <a:lnTo>
                  <a:pt x="0" y="557039"/>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1672" name="Google Shape;1672;p23"/>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8" cstate="email">
              <a:alphaModFix amt="46000"/>
              <a:extLst>
                <a:ext uri="{28A0092B-C50C-407E-A947-70E740481C1C}">
                  <a14:useLocalDpi xmlns:a14="http://schemas.microsoft.com/office/drawing/2010/main"/>
                </a:ext>
              </a:extLst>
            </a:blip>
            <a:stretch>
              <a:fillRect/>
            </a:stretch>
          </a:blipFill>
          <a:ln>
            <a:noFill/>
          </a:ln>
        </p:spPr>
      </p:sp>
      <p:sp>
        <p:nvSpPr>
          <p:cNvPr id="1673" name="Google Shape;1673;p23"/>
          <p:cNvSpPr txBox="1"/>
          <p:nvPr/>
        </p:nvSpPr>
        <p:spPr>
          <a:xfrm>
            <a:off x="411277" y="2369920"/>
            <a:ext cx="3339600" cy="665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800"/>
              <a:buFont typeface="Arial"/>
              <a:buNone/>
            </a:pPr>
            <a:r>
              <a:rPr lang="en-US" sz="1800" b="0" i="0" u="none" strike="noStrike" cap="none">
                <a:solidFill>
                  <a:srgbClr val="FFFFFF"/>
                </a:solidFill>
                <a:latin typeface="Inter"/>
                <a:ea typeface="Inter"/>
                <a:cs typeface="Inter"/>
                <a:sym typeface="Inter"/>
              </a:rPr>
              <a:t>Japanese leading supermarket /retail chains</a:t>
            </a:r>
            <a:endParaRPr sz="1200" b="0" i="0" u="none" strike="noStrike" cap="none">
              <a:solidFill>
                <a:srgbClr val="000000"/>
              </a:solidFill>
              <a:latin typeface="Arial"/>
              <a:ea typeface="Arial"/>
              <a:cs typeface="Arial"/>
              <a:sym typeface="Arial"/>
            </a:endParaRPr>
          </a:p>
        </p:txBody>
      </p:sp>
      <p:sp>
        <p:nvSpPr>
          <p:cNvPr id="1674" name="Google Shape;1674;p23"/>
          <p:cNvSpPr txBox="1"/>
          <p:nvPr/>
        </p:nvSpPr>
        <p:spPr>
          <a:xfrm>
            <a:off x="1151916" y="3287558"/>
            <a:ext cx="19620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Headquartered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in Tokyo, Japan</a:t>
            </a:r>
            <a:endParaRPr sz="1200" b="0" i="0" u="none" strike="noStrike" cap="none">
              <a:solidFill>
                <a:srgbClr val="000000"/>
              </a:solidFill>
              <a:latin typeface="Arial"/>
              <a:ea typeface="Arial"/>
              <a:cs typeface="Arial"/>
              <a:sym typeface="Arial"/>
            </a:endParaRPr>
          </a:p>
        </p:txBody>
      </p:sp>
      <p:sp>
        <p:nvSpPr>
          <p:cNvPr id="1675" name="Google Shape;1675;p23"/>
          <p:cNvSpPr txBox="1"/>
          <p:nvPr/>
        </p:nvSpPr>
        <p:spPr>
          <a:xfrm>
            <a:off x="1151916" y="4165817"/>
            <a:ext cx="14103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Founded in</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2014</a:t>
            </a:r>
            <a:endParaRPr sz="1200" b="0" i="0" u="none" strike="noStrike" cap="none">
              <a:solidFill>
                <a:srgbClr val="000000"/>
              </a:solidFill>
              <a:latin typeface="Arial"/>
              <a:ea typeface="Arial"/>
              <a:cs typeface="Arial"/>
              <a:sym typeface="Arial"/>
            </a:endParaRPr>
          </a:p>
        </p:txBody>
      </p:sp>
      <p:sp>
        <p:nvSpPr>
          <p:cNvPr id="1676" name="Google Shape;1676;p23"/>
          <p:cNvSpPr txBox="1"/>
          <p:nvPr/>
        </p:nvSpPr>
        <p:spPr>
          <a:xfrm>
            <a:off x="1185334" y="4988844"/>
            <a:ext cx="28584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0" i="0" u="none" strike="noStrike" cap="none">
                <a:solidFill>
                  <a:srgbClr val="FFFFFF"/>
                </a:solidFill>
                <a:latin typeface="Inter"/>
                <a:ea typeface="Inter"/>
                <a:cs typeface="Inter"/>
                <a:sym typeface="Inter"/>
              </a:rPr>
              <a:t>Operating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4 famous supermarket brands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over 650 stores across Japan</a:t>
            </a:r>
            <a:endParaRPr sz="1200" b="0" i="0" u="none" strike="noStrike" cap="none">
              <a:solidFill>
                <a:srgbClr val="000000"/>
              </a:solidFill>
              <a:latin typeface="Arial"/>
              <a:ea typeface="Arial"/>
              <a:cs typeface="Arial"/>
              <a:sym typeface="Arial"/>
            </a:endParaRPr>
          </a:p>
        </p:txBody>
      </p:sp>
      <p:sp>
        <p:nvSpPr>
          <p:cNvPr id="1677" name="Google Shape;1677;p23"/>
          <p:cNvSpPr txBox="1"/>
          <p:nvPr/>
        </p:nvSpPr>
        <p:spPr>
          <a:xfrm>
            <a:off x="1151916" y="6087111"/>
            <a:ext cx="2858400" cy="1222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Technologies used</a:t>
            </a:r>
            <a:endParaRPr sz="1200" b="0" i="0" u="none" strike="noStrike" cap="none">
              <a:solidFill>
                <a:srgbClr val="000000"/>
              </a:solidFill>
              <a:latin typeface="Arial"/>
              <a:ea typeface="Arial"/>
              <a:cs typeface="Arial"/>
              <a:sym typeface="Arial"/>
            </a:endParaRPr>
          </a:p>
          <a:p>
            <a:pPr marL="330200" marR="0" lvl="1" indent="-171450" algn="l" rtl="0">
              <a:lnSpc>
                <a:spcPct val="140000"/>
              </a:lnSpc>
              <a:spcBef>
                <a:spcPts val="0"/>
              </a:spcBef>
              <a:spcAft>
                <a:spcPts val="0"/>
              </a:spcAft>
              <a:buClr>
                <a:srgbClr val="FFF800"/>
              </a:buClr>
              <a:buSzPts val="1500"/>
              <a:buFont typeface="Arial"/>
              <a:buChar char="•"/>
            </a:pPr>
            <a:r>
              <a:rPr lang="en-US" sz="1500" b="1" i="0" u="none" strike="noStrike" cap="none">
                <a:solidFill>
                  <a:srgbClr val="FFF800"/>
                </a:solidFill>
                <a:latin typeface="Inter"/>
                <a:ea typeface="Inter"/>
                <a:cs typeface="Inter"/>
                <a:sym typeface="Inter"/>
              </a:rPr>
              <a:t>Cross-platform development: React Native </a:t>
            </a:r>
            <a:endParaRPr sz="1200" b="0" i="0" u="none" strike="noStrike" cap="none">
              <a:solidFill>
                <a:srgbClr val="000000"/>
              </a:solidFill>
              <a:latin typeface="Arial"/>
              <a:ea typeface="Arial"/>
              <a:cs typeface="Arial"/>
              <a:sym typeface="Arial"/>
            </a:endParaRPr>
          </a:p>
          <a:p>
            <a:pPr marL="330200" marR="0" lvl="1" indent="-171450" algn="l" rtl="0">
              <a:lnSpc>
                <a:spcPct val="140000"/>
              </a:lnSpc>
              <a:spcBef>
                <a:spcPts val="0"/>
              </a:spcBef>
              <a:spcAft>
                <a:spcPts val="0"/>
              </a:spcAft>
              <a:buClr>
                <a:srgbClr val="FFF800"/>
              </a:buClr>
              <a:buSzPts val="1500"/>
              <a:buFont typeface="Arial"/>
              <a:buChar char="•"/>
            </a:pPr>
            <a:r>
              <a:rPr lang="en-US" sz="1500" b="1" i="0" u="none" strike="noStrike" cap="none">
                <a:solidFill>
                  <a:srgbClr val="FFF800"/>
                </a:solidFill>
                <a:latin typeface="Inter"/>
                <a:ea typeface="Inter"/>
                <a:cs typeface="Inter"/>
                <a:sym typeface="Inter"/>
              </a:rPr>
              <a:t>Backend architecture: C#</a:t>
            </a:r>
            <a:endParaRPr sz="1200" b="0" i="0" u="none" strike="noStrike" cap="none">
              <a:solidFill>
                <a:srgbClr val="000000"/>
              </a:solidFill>
              <a:latin typeface="Arial"/>
              <a:ea typeface="Arial"/>
              <a:cs typeface="Arial"/>
              <a:sym typeface="Arial"/>
            </a:endParaRPr>
          </a:p>
        </p:txBody>
      </p:sp>
      <p:sp>
        <p:nvSpPr>
          <p:cNvPr id="1678" name="Google Shape;1678;p23"/>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8" cstate="email">
              <a:alphaModFix amt="46000"/>
              <a:extLst>
                <a:ext uri="{28A0092B-C50C-407E-A947-70E740481C1C}">
                  <a14:useLocalDpi xmlns:a14="http://schemas.microsoft.com/office/drawing/2010/main"/>
                </a:ext>
              </a:extLst>
            </a:blip>
            <a:stretch>
              <a:fillRect/>
            </a:stretch>
          </a:blipFill>
          <a:ln>
            <a:noFill/>
          </a:ln>
        </p:spPr>
      </p:sp>
      <p:sp>
        <p:nvSpPr>
          <p:cNvPr id="1679" name="Google Shape;1679;p23"/>
          <p:cNvSpPr txBox="1"/>
          <p:nvPr/>
        </p:nvSpPr>
        <p:spPr>
          <a:xfrm>
            <a:off x="4696475" y="644750"/>
            <a:ext cx="114441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600"/>
              <a:buFont typeface="Arial"/>
              <a:buNone/>
            </a:pPr>
            <a:r>
              <a:rPr lang="en-US" sz="2600" b="0" i="0" u="none" strike="noStrike" cap="none">
                <a:solidFill>
                  <a:srgbClr val="004AAD"/>
                </a:solidFill>
                <a:latin typeface="Inter"/>
                <a:ea typeface="Inter"/>
                <a:cs typeface="Inter"/>
                <a:sym typeface="Inter"/>
              </a:rPr>
              <a:t>CASE STUDY | </a:t>
            </a:r>
            <a:r>
              <a:rPr lang="en-US" sz="2600" b="1" i="0" u="none" strike="noStrike" cap="none">
                <a:solidFill>
                  <a:srgbClr val="004AAD"/>
                </a:solidFill>
                <a:latin typeface="Inter"/>
                <a:ea typeface="Inter"/>
                <a:cs typeface="Inter"/>
                <a:sym typeface="Inter"/>
              </a:rPr>
              <a:t>SCAN&amp;GO - RETAIL SMART MOBILE APPLICATION: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600"/>
              <a:buFont typeface="Arial"/>
              <a:buNone/>
            </a:pPr>
            <a:r>
              <a:rPr lang="en-US" sz="2600" b="1" i="0" u="none" strike="noStrike" cap="none">
                <a:solidFill>
                  <a:srgbClr val="004AAD"/>
                </a:solidFill>
                <a:latin typeface="Inter"/>
                <a:ea typeface="Inter"/>
                <a:cs typeface="Inter"/>
                <a:sym typeface="Inter"/>
              </a:rPr>
              <a:t>FROM LONG QUEUES TO SEAMLESS SUPERMARKET SHOPPING (2/7)</a:t>
            </a:r>
            <a:endParaRPr sz="1200" b="0" i="0" u="none" strike="noStrike" cap="none">
              <a:solidFill>
                <a:srgbClr val="000000"/>
              </a:solidFill>
              <a:latin typeface="Arial"/>
              <a:ea typeface="Arial"/>
              <a:cs typeface="Arial"/>
              <a:sym typeface="Arial"/>
            </a:endParaRPr>
          </a:p>
        </p:txBody>
      </p:sp>
      <p:cxnSp>
        <p:nvCxnSpPr>
          <p:cNvPr id="1680" name="Google Shape;1680;p23"/>
          <p:cNvCxnSpPr/>
          <p:nvPr/>
        </p:nvCxnSpPr>
        <p:spPr>
          <a:xfrm rot="10800000" flipH="1">
            <a:off x="4762226" y="2254617"/>
            <a:ext cx="5186100" cy="13200"/>
          </a:xfrm>
          <a:prstGeom prst="straightConnector1">
            <a:avLst/>
          </a:prstGeom>
          <a:noFill/>
          <a:ln w="19050" cap="flat" cmpd="sng">
            <a:solidFill>
              <a:srgbClr val="3A3A3A">
                <a:alpha val="28627"/>
              </a:srgbClr>
            </a:solidFill>
            <a:prstDash val="solid"/>
            <a:round/>
            <a:headEnd type="none" w="sm" len="sm"/>
            <a:tailEnd type="none" w="sm" len="sm"/>
          </a:ln>
        </p:spPr>
      </p:cxnSp>
      <p:sp>
        <p:nvSpPr>
          <p:cNvPr id="1681" name="Google Shape;1681;p23"/>
          <p:cNvSpPr txBox="1"/>
          <p:nvPr/>
        </p:nvSpPr>
        <p:spPr>
          <a:xfrm>
            <a:off x="4696487" y="6626736"/>
            <a:ext cx="5325000" cy="19950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200"/>
              <a:buFont typeface="Arial"/>
              <a:buNone/>
            </a:pPr>
            <a:r>
              <a:rPr lang="en-US" sz="1200" b="1" i="0" u="none" strike="noStrike" cap="none">
                <a:solidFill>
                  <a:srgbClr val="3A3A3A"/>
                </a:solidFill>
                <a:latin typeface="Inter"/>
                <a:ea typeface="Inter"/>
                <a:cs typeface="Inter"/>
                <a:sym typeface="Inter"/>
              </a:rPr>
              <a:t>Technology Used</a:t>
            </a:r>
            <a:endParaRPr sz="12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200"/>
              <a:buFont typeface="Arial"/>
              <a:buNone/>
            </a:pPr>
            <a:endParaRPr sz="1200" b="1" i="0" u="none" strike="noStrike" cap="none">
              <a:solidFill>
                <a:srgbClr val="3A3A3A"/>
              </a:solidFill>
              <a:latin typeface="Inter"/>
              <a:ea typeface="Inter"/>
              <a:cs typeface="Inter"/>
              <a:sym typeface="Inter"/>
            </a:endParaRPr>
          </a:p>
          <a:p>
            <a:pPr marL="266700" marR="0" lvl="1" indent="-127000" algn="just" rtl="0">
              <a:lnSpc>
                <a:spcPct val="140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Cross-platform development: </a:t>
            </a:r>
            <a:r>
              <a:rPr lang="en-US" sz="1200" b="0" i="0" u="none" strike="noStrike" cap="none">
                <a:solidFill>
                  <a:srgbClr val="3A3A3A"/>
                </a:solidFill>
                <a:latin typeface="Inter"/>
                <a:ea typeface="Inter"/>
                <a:cs typeface="Inter"/>
                <a:sym typeface="Inter"/>
              </a:rPr>
              <a:t>React Native for a seamless mobile experience.</a:t>
            </a:r>
            <a:endParaRPr sz="1200" b="0" i="0" u="none" strike="noStrike" cap="none">
              <a:solidFill>
                <a:srgbClr val="000000"/>
              </a:solidFill>
              <a:latin typeface="Arial"/>
              <a:ea typeface="Arial"/>
              <a:cs typeface="Arial"/>
              <a:sym typeface="Arial"/>
            </a:endParaRPr>
          </a:p>
          <a:p>
            <a:pPr marL="266700" marR="0" lvl="1" indent="-127000" algn="just" rtl="0">
              <a:lnSpc>
                <a:spcPct val="140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Backend architecture: </a:t>
            </a:r>
            <a:r>
              <a:rPr lang="en-US" sz="1200" b="0" i="0" u="none" strike="noStrike" cap="none">
                <a:solidFill>
                  <a:srgbClr val="3A3A3A"/>
                </a:solidFill>
                <a:latin typeface="Inter"/>
                <a:ea typeface="Inter"/>
                <a:cs typeface="Inter"/>
                <a:sym typeface="Inter"/>
              </a:rPr>
              <a:t>Microservices using C# for scalability and flexibility.</a:t>
            </a:r>
            <a:endParaRPr sz="1200" b="0" i="0" u="none" strike="noStrike" cap="none">
              <a:solidFill>
                <a:srgbClr val="000000"/>
              </a:solidFill>
              <a:latin typeface="Arial"/>
              <a:ea typeface="Arial"/>
              <a:cs typeface="Arial"/>
              <a:sym typeface="Arial"/>
            </a:endParaRPr>
          </a:p>
          <a:p>
            <a:pPr marL="266700" marR="0" lvl="1" indent="-127000" algn="just" rtl="0">
              <a:lnSpc>
                <a:spcPct val="140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UI/UX design:</a:t>
            </a:r>
            <a:r>
              <a:rPr lang="en-US" sz="1200" b="0" i="0" u="none" strike="noStrike" cap="none">
                <a:solidFill>
                  <a:srgbClr val="3A3A3A"/>
                </a:solidFill>
                <a:latin typeface="Inter"/>
                <a:ea typeface="Inter"/>
                <a:cs typeface="Inter"/>
                <a:sym typeface="Inter"/>
              </a:rPr>
              <a:t> A high-performance, user-friendly interface ensuring intuitive navigation and a smooth shopping experience.</a:t>
            </a:r>
            <a:endParaRPr sz="1200" b="0" i="0" u="none" strike="noStrike" cap="none">
              <a:solidFill>
                <a:srgbClr val="000000"/>
              </a:solidFill>
              <a:latin typeface="Arial"/>
              <a:ea typeface="Arial"/>
              <a:cs typeface="Arial"/>
              <a:sym typeface="Arial"/>
            </a:endParaRPr>
          </a:p>
        </p:txBody>
      </p:sp>
      <p:sp>
        <p:nvSpPr>
          <p:cNvPr id="1682" name="Google Shape;1682;p23"/>
          <p:cNvSpPr txBox="1"/>
          <p:nvPr/>
        </p:nvSpPr>
        <p:spPr>
          <a:xfrm>
            <a:off x="4762204" y="1838543"/>
            <a:ext cx="45594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VTI’s Approach</a:t>
            </a:r>
            <a:endParaRPr sz="1200" b="0" i="0" u="none" strike="noStrike" cap="none">
              <a:solidFill>
                <a:srgbClr val="000000"/>
              </a:solidFill>
              <a:latin typeface="Arial"/>
              <a:ea typeface="Arial"/>
              <a:cs typeface="Arial"/>
              <a:sym typeface="Arial"/>
            </a:endParaRPr>
          </a:p>
        </p:txBody>
      </p:sp>
      <p:sp>
        <p:nvSpPr>
          <p:cNvPr id="1683" name="Google Shape;1683;p23"/>
          <p:cNvSpPr txBox="1"/>
          <p:nvPr/>
        </p:nvSpPr>
        <p:spPr>
          <a:xfrm>
            <a:off x="4740666" y="2398632"/>
            <a:ext cx="1255800" cy="184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VTI delivered </a:t>
            </a:r>
            <a:endParaRPr sz="1200" b="0" i="0" u="none" strike="noStrike" cap="none">
              <a:solidFill>
                <a:srgbClr val="000000"/>
              </a:solidFill>
              <a:latin typeface="Arial"/>
              <a:ea typeface="Arial"/>
              <a:cs typeface="Arial"/>
              <a:sym typeface="Arial"/>
            </a:endParaRPr>
          </a:p>
        </p:txBody>
      </p:sp>
      <p:sp>
        <p:nvSpPr>
          <p:cNvPr id="1684" name="Google Shape;1684;p23"/>
          <p:cNvSpPr txBox="1"/>
          <p:nvPr/>
        </p:nvSpPr>
        <p:spPr>
          <a:xfrm>
            <a:off x="10975400" y="6818653"/>
            <a:ext cx="54090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3A3A3A"/>
                </a:solidFill>
                <a:latin typeface="Inter"/>
                <a:ea typeface="Inter"/>
                <a:cs typeface="Inter"/>
                <a:sym typeface="Inter"/>
              </a:rPr>
              <a:t>The “Supper App” comprised 3 main applications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3A3A3A"/>
                </a:solidFill>
                <a:latin typeface="Inter"/>
                <a:ea typeface="Inter"/>
                <a:cs typeface="Inter"/>
                <a:sym typeface="Inter"/>
              </a:rPr>
              <a:t>1- Scan&amp;Go</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3A3A3A"/>
                </a:solidFill>
                <a:latin typeface="Inter"/>
                <a:ea typeface="Inter"/>
                <a:cs typeface="Inter"/>
                <a:sym typeface="Inter"/>
              </a:rPr>
              <a:t>2- Online Delivery</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200"/>
              <a:buFont typeface="Arial"/>
              <a:buNone/>
            </a:pPr>
            <a:r>
              <a:rPr lang="en-US" sz="1200" b="1" i="0" u="none" strike="noStrike" cap="none">
                <a:solidFill>
                  <a:srgbClr val="3A3A3A"/>
                </a:solidFill>
                <a:latin typeface="Inter"/>
                <a:ea typeface="Inter"/>
                <a:cs typeface="Inter"/>
                <a:sym typeface="Inter"/>
              </a:rPr>
              <a:t>3- Order &amp; Eat</a:t>
            </a:r>
            <a:endParaRPr sz="1200" b="0" i="0" u="none" strike="noStrike" cap="none">
              <a:solidFill>
                <a:srgbClr val="000000"/>
              </a:solidFill>
              <a:latin typeface="Arial"/>
              <a:ea typeface="Arial"/>
              <a:cs typeface="Arial"/>
              <a:sym typeface="Arial"/>
            </a:endParaRPr>
          </a:p>
        </p:txBody>
      </p:sp>
      <p:grpSp>
        <p:nvGrpSpPr>
          <p:cNvPr id="1685" name="Google Shape;1685;p23"/>
          <p:cNvGrpSpPr/>
          <p:nvPr/>
        </p:nvGrpSpPr>
        <p:grpSpPr>
          <a:xfrm>
            <a:off x="6184104" y="2739414"/>
            <a:ext cx="8048785" cy="3101550"/>
            <a:chOff x="0" y="-47625"/>
            <a:chExt cx="12072574" cy="4652092"/>
          </a:xfrm>
        </p:grpSpPr>
        <p:sp>
          <p:nvSpPr>
            <p:cNvPr id="1686" name="Google Shape;1686;p23" descr="preencoded.png"/>
            <p:cNvSpPr/>
            <p:nvPr/>
          </p:nvSpPr>
          <p:spPr>
            <a:xfrm rot="631368">
              <a:off x="3995947" y="454936"/>
              <a:ext cx="3437430" cy="3437430"/>
            </a:xfrm>
            <a:custGeom>
              <a:avLst/>
              <a:gdLst/>
              <a:ahLst/>
              <a:cxnLst/>
              <a:rect l="l" t="t" r="r" b="b"/>
              <a:pathLst>
                <a:path w="3439817" h="3439817" extrusionOk="0">
                  <a:moveTo>
                    <a:pt x="0" y="0"/>
                  </a:moveTo>
                  <a:lnTo>
                    <a:pt x="3439817" y="0"/>
                  </a:lnTo>
                  <a:lnTo>
                    <a:pt x="3439817" y="3439817"/>
                  </a:lnTo>
                  <a:lnTo>
                    <a:pt x="0" y="3439817"/>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sp>
          <p:nvSpPr>
            <p:cNvPr id="1687" name="Google Shape;1687;p23" descr="preencoded.png"/>
            <p:cNvSpPr/>
            <p:nvPr/>
          </p:nvSpPr>
          <p:spPr>
            <a:xfrm rot="631368">
              <a:off x="3968701" y="422242"/>
              <a:ext cx="3467626" cy="3467626"/>
            </a:xfrm>
            <a:custGeom>
              <a:avLst/>
              <a:gdLst/>
              <a:ahLst/>
              <a:cxnLst/>
              <a:rect l="l" t="t" r="r" b="b"/>
              <a:pathLst>
                <a:path w="3470034" h="3470034" extrusionOk="0">
                  <a:moveTo>
                    <a:pt x="0" y="0"/>
                  </a:moveTo>
                  <a:lnTo>
                    <a:pt x="3470034" y="0"/>
                  </a:lnTo>
                  <a:lnTo>
                    <a:pt x="3470034" y="3470035"/>
                  </a:lnTo>
                  <a:lnTo>
                    <a:pt x="0" y="3470035"/>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1688" name="Google Shape;1688;p23" descr="preencoded.png"/>
            <p:cNvSpPr/>
            <p:nvPr/>
          </p:nvSpPr>
          <p:spPr>
            <a:xfrm rot="631368">
              <a:off x="3995947" y="454936"/>
              <a:ext cx="3437430" cy="3437430"/>
            </a:xfrm>
            <a:custGeom>
              <a:avLst/>
              <a:gdLst/>
              <a:ahLst/>
              <a:cxnLst/>
              <a:rect l="l" t="t" r="r" b="b"/>
              <a:pathLst>
                <a:path w="3439817" h="3439817" extrusionOk="0">
                  <a:moveTo>
                    <a:pt x="0" y="0"/>
                  </a:moveTo>
                  <a:lnTo>
                    <a:pt x="3439817" y="0"/>
                  </a:lnTo>
                  <a:lnTo>
                    <a:pt x="3439817" y="3439817"/>
                  </a:lnTo>
                  <a:lnTo>
                    <a:pt x="0" y="3439817"/>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sp>
          <p:nvSpPr>
            <p:cNvPr id="1689" name="Google Shape;1689;p23" descr="preencoded.png"/>
            <p:cNvSpPr/>
            <p:nvPr/>
          </p:nvSpPr>
          <p:spPr>
            <a:xfrm rot="631368">
              <a:off x="3968701" y="422242"/>
              <a:ext cx="3467626" cy="3467626"/>
            </a:xfrm>
            <a:custGeom>
              <a:avLst/>
              <a:gdLst/>
              <a:ahLst/>
              <a:cxnLst/>
              <a:rect l="l" t="t" r="r" b="b"/>
              <a:pathLst>
                <a:path w="3470034" h="3470034" extrusionOk="0">
                  <a:moveTo>
                    <a:pt x="0" y="0"/>
                  </a:moveTo>
                  <a:lnTo>
                    <a:pt x="3470034" y="0"/>
                  </a:lnTo>
                  <a:lnTo>
                    <a:pt x="3470034" y="3470035"/>
                  </a:lnTo>
                  <a:lnTo>
                    <a:pt x="0" y="3470035"/>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sp>
        <p:sp>
          <p:nvSpPr>
            <p:cNvPr id="1690" name="Google Shape;1690;p23" descr="preencoded.png"/>
            <p:cNvSpPr/>
            <p:nvPr/>
          </p:nvSpPr>
          <p:spPr>
            <a:xfrm rot="631368">
              <a:off x="4026372" y="491443"/>
              <a:ext cx="3403711" cy="3403711"/>
            </a:xfrm>
            <a:custGeom>
              <a:avLst/>
              <a:gdLst/>
              <a:ahLst/>
              <a:cxnLst/>
              <a:rect l="l" t="t" r="r" b="b"/>
              <a:pathLst>
                <a:path w="3406075" h="3406075" extrusionOk="0">
                  <a:moveTo>
                    <a:pt x="0" y="0"/>
                  </a:moveTo>
                  <a:lnTo>
                    <a:pt x="3406075" y="0"/>
                  </a:lnTo>
                  <a:lnTo>
                    <a:pt x="3406075" y="3406075"/>
                  </a:lnTo>
                  <a:lnTo>
                    <a:pt x="0" y="3406075"/>
                  </a:lnTo>
                  <a:lnTo>
                    <a:pt x="0" y="0"/>
                  </a:lnTo>
                  <a:close/>
                </a:path>
              </a:pathLst>
            </a:custGeom>
            <a:blipFill rotWithShape="1">
              <a:blip r:embed="rId13" cstate="email">
                <a:alphaModFix/>
                <a:extLst>
                  <a:ext uri="{28A0092B-C50C-407E-A947-70E740481C1C}">
                    <a14:useLocalDpi xmlns:a14="http://schemas.microsoft.com/office/drawing/2010/main"/>
                  </a:ext>
                </a:extLst>
              </a:blip>
              <a:stretch>
                <a:fillRect/>
              </a:stretch>
            </a:blipFill>
            <a:ln>
              <a:noFill/>
            </a:ln>
          </p:spPr>
        </p:sp>
        <p:cxnSp>
          <p:nvCxnSpPr>
            <p:cNvPr id="1691" name="Google Shape;1691;p23"/>
            <p:cNvCxnSpPr/>
            <p:nvPr/>
          </p:nvCxnSpPr>
          <p:spPr>
            <a:xfrm rot="10800000" flipH="1">
              <a:off x="6923556" y="223727"/>
              <a:ext cx="470400" cy="731400"/>
            </a:xfrm>
            <a:prstGeom prst="straightConnector1">
              <a:avLst/>
            </a:prstGeom>
            <a:noFill/>
            <a:ln w="35175" cap="flat" cmpd="sng">
              <a:solidFill>
                <a:srgbClr val="182567"/>
              </a:solidFill>
              <a:prstDash val="solid"/>
              <a:round/>
              <a:headEnd type="none" w="sm" len="sm"/>
              <a:tailEnd type="none" w="sm" len="sm"/>
            </a:ln>
          </p:spPr>
        </p:cxnSp>
        <p:cxnSp>
          <p:nvCxnSpPr>
            <p:cNvPr id="1692" name="Google Shape;1692;p23"/>
            <p:cNvCxnSpPr/>
            <p:nvPr/>
          </p:nvCxnSpPr>
          <p:spPr>
            <a:xfrm rot="10800000" flipH="1">
              <a:off x="7262734" y="1960740"/>
              <a:ext cx="478200" cy="738900"/>
            </a:xfrm>
            <a:prstGeom prst="straightConnector1">
              <a:avLst/>
            </a:prstGeom>
            <a:noFill/>
            <a:ln w="35175" cap="flat" cmpd="sng">
              <a:solidFill>
                <a:srgbClr val="182567"/>
              </a:solidFill>
              <a:prstDash val="solid"/>
              <a:round/>
              <a:headEnd type="none" w="sm" len="sm"/>
              <a:tailEnd type="none" w="sm" len="sm"/>
            </a:ln>
          </p:spPr>
        </p:cxnSp>
        <p:cxnSp>
          <p:nvCxnSpPr>
            <p:cNvPr id="1693" name="Google Shape;1693;p23"/>
            <p:cNvCxnSpPr/>
            <p:nvPr/>
          </p:nvCxnSpPr>
          <p:spPr>
            <a:xfrm>
              <a:off x="5882312" y="3860937"/>
              <a:ext cx="1056900" cy="417900"/>
            </a:xfrm>
            <a:prstGeom prst="straightConnector1">
              <a:avLst/>
            </a:prstGeom>
            <a:noFill/>
            <a:ln w="35175" cap="flat" cmpd="sng">
              <a:solidFill>
                <a:srgbClr val="182567"/>
              </a:solidFill>
              <a:prstDash val="solid"/>
              <a:round/>
              <a:headEnd type="none" w="sm" len="sm"/>
              <a:tailEnd type="none" w="sm" len="sm"/>
            </a:ln>
          </p:spPr>
        </p:cxnSp>
        <p:cxnSp>
          <p:nvCxnSpPr>
            <p:cNvPr id="1694" name="Google Shape;1694;p23"/>
            <p:cNvCxnSpPr/>
            <p:nvPr/>
          </p:nvCxnSpPr>
          <p:spPr>
            <a:xfrm>
              <a:off x="4160757" y="209260"/>
              <a:ext cx="446400" cy="705300"/>
            </a:xfrm>
            <a:prstGeom prst="straightConnector1">
              <a:avLst/>
            </a:prstGeom>
            <a:noFill/>
            <a:ln w="35175" cap="flat" cmpd="sng">
              <a:solidFill>
                <a:srgbClr val="182567"/>
              </a:solidFill>
              <a:prstDash val="solid"/>
              <a:round/>
              <a:headEnd type="none" w="sm" len="sm"/>
              <a:tailEnd type="none" w="sm" len="sm"/>
            </a:ln>
          </p:spPr>
        </p:cxnSp>
        <p:cxnSp>
          <p:nvCxnSpPr>
            <p:cNvPr id="1695" name="Google Shape;1695;p23"/>
            <p:cNvCxnSpPr/>
            <p:nvPr/>
          </p:nvCxnSpPr>
          <p:spPr>
            <a:xfrm>
              <a:off x="7726095" y="1960770"/>
              <a:ext cx="298200" cy="0"/>
            </a:xfrm>
            <a:prstGeom prst="straightConnector1">
              <a:avLst/>
            </a:prstGeom>
            <a:noFill/>
            <a:ln w="35175" cap="flat" cmpd="sng">
              <a:solidFill>
                <a:srgbClr val="182567"/>
              </a:solidFill>
              <a:prstDash val="solid"/>
              <a:round/>
              <a:headEnd type="none" w="sm" len="sm"/>
              <a:tailEnd type="none" w="sm" len="sm"/>
            </a:ln>
          </p:spPr>
        </p:cxnSp>
        <p:cxnSp>
          <p:nvCxnSpPr>
            <p:cNvPr id="1696" name="Google Shape;1696;p23"/>
            <p:cNvCxnSpPr/>
            <p:nvPr/>
          </p:nvCxnSpPr>
          <p:spPr>
            <a:xfrm>
              <a:off x="6939165" y="4296446"/>
              <a:ext cx="801900" cy="0"/>
            </a:xfrm>
            <a:prstGeom prst="straightConnector1">
              <a:avLst/>
            </a:prstGeom>
            <a:noFill/>
            <a:ln w="35175" cap="flat" cmpd="sng">
              <a:solidFill>
                <a:srgbClr val="182567"/>
              </a:solidFill>
              <a:prstDash val="solid"/>
              <a:round/>
              <a:headEnd type="none" w="sm" len="sm"/>
              <a:tailEnd type="none" w="sm" len="sm"/>
            </a:ln>
          </p:spPr>
        </p:cxnSp>
        <p:cxnSp>
          <p:nvCxnSpPr>
            <p:cNvPr id="1697" name="Google Shape;1697;p23"/>
            <p:cNvCxnSpPr/>
            <p:nvPr/>
          </p:nvCxnSpPr>
          <p:spPr>
            <a:xfrm>
              <a:off x="3832295" y="228064"/>
              <a:ext cx="328500" cy="0"/>
            </a:xfrm>
            <a:prstGeom prst="straightConnector1">
              <a:avLst/>
            </a:prstGeom>
            <a:noFill/>
            <a:ln w="35175" cap="flat" cmpd="sng">
              <a:solidFill>
                <a:srgbClr val="182567"/>
              </a:solidFill>
              <a:prstDash val="solid"/>
              <a:round/>
              <a:headEnd type="none" w="sm" len="sm"/>
              <a:tailEnd type="none" w="sm" len="sm"/>
            </a:ln>
          </p:spPr>
        </p:cxnSp>
        <p:cxnSp>
          <p:nvCxnSpPr>
            <p:cNvPr id="1698" name="Google Shape;1698;p23"/>
            <p:cNvCxnSpPr/>
            <p:nvPr/>
          </p:nvCxnSpPr>
          <p:spPr>
            <a:xfrm>
              <a:off x="7393833" y="245663"/>
              <a:ext cx="298200" cy="0"/>
            </a:xfrm>
            <a:prstGeom prst="straightConnector1">
              <a:avLst/>
            </a:prstGeom>
            <a:noFill/>
            <a:ln w="35175" cap="flat" cmpd="sng">
              <a:solidFill>
                <a:srgbClr val="182567"/>
              </a:solidFill>
              <a:prstDash val="solid"/>
              <a:round/>
              <a:headEnd type="none" w="sm" len="sm"/>
              <a:tailEnd type="none" w="sm" len="sm"/>
            </a:ln>
          </p:spPr>
        </p:cxnSp>
        <p:cxnSp>
          <p:nvCxnSpPr>
            <p:cNvPr id="1699" name="Google Shape;1699;p23"/>
            <p:cNvCxnSpPr/>
            <p:nvPr/>
          </p:nvCxnSpPr>
          <p:spPr>
            <a:xfrm>
              <a:off x="3833305" y="2516107"/>
              <a:ext cx="546000" cy="704700"/>
            </a:xfrm>
            <a:prstGeom prst="straightConnector1">
              <a:avLst/>
            </a:prstGeom>
            <a:noFill/>
            <a:ln w="35175" cap="flat" cmpd="sng">
              <a:solidFill>
                <a:srgbClr val="182567"/>
              </a:solidFill>
              <a:prstDash val="solid"/>
              <a:round/>
              <a:headEnd type="none" w="sm" len="sm"/>
              <a:tailEnd type="none" w="sm" len="sm"/>
            </a:ln>
          </p:spPr>
        </p:cxnSp>
        <p:cxnSp>
          <p:nvCxnSpPr>
            <p:cNvPr id="1700" name="Google Shape;1700;p23"/>
            <p:cNvCxnSpPr/>
            <p:nvPr/>
          </p:nvCxnSpPr>
          <p:spPr>
            <a:xfrm>
              <a:off x="3504844" y="2534911"/>
              <a:ext cx="328500" cy="0"/>
            </a:xfrm>
            <a:prstGeom prst="straightConnector1">
              <a:avLst/>
            </a:prstGeom>
            <a:noFill/>
            <a:ln w="35175" cap="flat" cmpd="sng">
              <a:solidFill>
                <a:srgbClr val="182567"/>
              </a:solidFill>
              <a:prstDash val="solid"/>
              <a:round/>
              <a:headEnd type="none" w="sm" len="sm"/>
              <a:tailEnd type="none" w="sm" len="sm"/>
            </a:ln>
          </p:spPr>
        </p:cxnSp>
        <p:sp>
          <p:nvSpPr>
            <p:cNvPr id="1701" name="Google Shape;1701;p23"/>
            <p:cNvSpPr txBox="1"/>
            <p:nvPr/>
          </p:nvSpPr>
          <p:spPr>
            <a:xfrm>
              <a:off x="6075870" y="907502"/>
              <a:ext cx="632400" cy="484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00"/>
                <a:buFont typeface="Arial"/>
                <a:buNone/>
              </a:pPr>
              <a:r>
                <a:rPr lang="en-US" sz="2100" b="1" i="0" u="none" strike="noStrike" cap="none">
                  <a:solidFill>
                    <a:srgbClr val="EEEEEE"/>
                  </a:solidFill>
                  <a:latin typeface="Inter"/>
                  <a:ea typeface="Inter"/>
                  <a:cs typeface="Inter"/>
                  <a:sym typeface="Inter"/>
                </a:rPr>
                <a:t>1</a:t>
              </a:r>
              <a:endParaRPr sz="1200" b="0" i="0" u="none" strike="noStrike" cap="none">
                <a:solidFill>
                  <a:srgbClr val="000000"/>
                </a:solidFill>
                <a:latin typeface="Arial"/>
                <a:ea typeface="Arial"/>
                <a:cs typeface="Arial"/>
                <a:sym typeface="Arial"/>
              </a:endParaRPr>
            </a:p>
          </p:txBody>
        </p:sp>
        <p:sp>
          <p:nvSpPr>
            <p:cNvPr id="1702" name="Google Shape;1702;p23"/>
            <p:cNvSpPr txBox="1"/>
            <p:nvPr/>
          </p:nvSpPr>
          <p:spPr>
            <a:xfrm>
              <a:off x="6523886" y="2226181"/>
              <a:ext cx="632400" cy="484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00"/>
                <a:buFont typeface="Arial"/>
                <a:buNone/>
              </a:pPr>
              <a:r>
                <a:rPr lang="en-US" sz="2100" b="1" i="0" u="none" strike="noStrike" cap="none">
                  <a:solidFill>
                    <a:srgbClr val="EEEEEE"/>
                  </a:solidFill>
                  <a:latin typeface="Inter"/>
                  <a:ea typeface="Inter"/>
                  <a:cs typeface="Inter"/>
                  <a:sym typeface="Inter"/>
                </a:rPr>
                <a:t>2</a:t>
              </a:r>
              <a:endParaRPr sz="1200" b="0" i="0" u="none" strike="noStrike" cap="none">
                <a:solidFill>
                  <a:srgbClr val="000000"/>
                </a:solidFill>
                <a:latin typeface="Arial"/>
                <a:ea typeface="Arial"/>
                <a:cs typeface="Arial"/>
                <a:sym typeface="Arial"/>
              </a:endParaRPr>
            </a:p>
          </p:txBody>
        </p:sp>
        <p:sp>
          <p:nvSpPr>
            <p:cNvPr id="1703" name="Google Shape;1703;p23"/>
            <p:cNvSpPr txBox="1"/>
            <p:nvPr/>
          </p:nvSpPr>
          <p:spPr>
            <a:xfrm>
              <a:off x="5389804" y="3173199"/>
              <a:ext cx="632400" cy="484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00"/>
                <a:buFont typeface="Arial"/>
                <a:buNone/>
              </a:pPr>
              <a:r>
                <a:rPr lang="en-US" sz="2100" b="1" i="0" u="none" strike="noStrike" cap="none">
                  <a:solidFill>
                    <a:srgbClr val="EEEEEE"/>
                  </a:solidFill>
                  <a:latin typeface="Inter"/>
                  <a:ea typeface="Inter"/>
                  <a:cs typeface="Inter"/>
                  <a:sym typeface="Inter"/>
                </a:rPr>
                <a:t>3</a:t>
              </a:r>
              <a:endParaRPr sz="1200" b="0" i="0" u="none" strike="noStrike" cap="none">
                <a:solidFill>
                  <a:srgbClr val="000000"/>
                </a:solidFill>
                <a:latin typeface="Arial"/>
                <a:ea typeface="Arial"/>
                <a:cs typeface="Arial"/>
                <a:sym typeface="Arial"/>
              </a:endParaRPr>
            </a:p>
          </p:txBody>
        </p:sp>
        <p:sp>
          <p:nvSpPr>
            <p:cNvPr id="1704" name="Google Shape;1704;p23"/>
            <p:cNvSpPr txBox="1"/>
            <p:nvPr/>
          </p:nvSpPr>
          <p:spPr>
            <a:xfrm>
              <a:off x="4235384" y="2226181"/>
              <a:ext cx="632400" cy="484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00"/>
                <a:buFont typeface="Arial"/>
                <a:buNone/>
              </a:pPr>
              <a:r>
                <a:rPr lang="en-US" sz="2100" b="1" i="0" u="none" strike="noStrike" cap="none">
                  <a:solidFill>
                    <a:srgbClr val="EEEEEE"/>
                  </a:solidFill>
                  <a:latin typeface="Inter"/>
                  <a:ea typeface="Inter"/>
                  <a:cs typeface="Inter"/>
                  <a:sym typeface="Inter"/>
                </a:rPr>
                <a:t>4</a:t>
              </a:r>
              <a:endParaRPr sz="1200" b="0" i="0" u="none" strike="noStrike" cap="none">
                <a:solidFill>
                  <a:srgbClr val="000000"/>
                </a:solidFill>
                <a:latin typeface="Arial"/>
                <a:ea typeface="Arial"/>
                <a:cs typeface="Arial"/>
                <a:sym typeface="Arial"/>
              </a:endParaRPr>
            </a:p>
          </p:txBody>
        </p:sp>
        <p:sp>
          <p:nvSpPr>
            <p:cNvPr id="1705" name="Google Shape;1705;p23"/>
            <p:cNvSpPr txBox="1"/>
            <p:nvPr/>
          </p:nvSpPr>
          <p:spPr>
            <a:xfrm>
              <a:off x="4757364" y="907502"/>
              <a:ext cx="632400" cy="4848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2100"/>
                <a:buFont typeface="Arial"/>
                <a:buNone/>
              </a:pPr>
              <a:r>
                <a:rPr lang="en-US" sz="2100" b="1" i="0" u="none" strike="noStrike" cap="none">
                  <a:solidFill>
                    <a:srgbClr val="EEEEEE"/>
                  </a:solidFill>
                  <a:latin typeface="Inter"/>
                  <a:ea typeface="Inter"/>
                  <a:cs typeface="Inter"/>
                  <a:sym typeface="Inter"/>
                </a:rPr>
                <a:t>5</a:t>
              </a:r>
              <a:endParaRPr sz="1200" b="0" i="0" u="none" strike="noStrike" cap="none">
                <a:solidFill>
                  <a:srgbClr val="000000"/>
                </a:solidFill>
                <a:latin typeface="Arial"/>
                <a:ea typeface="Arial"/>
                <a:cs typeface="Arial"/>
                <a:sym typeface="Arial"/>
              </a:endParaRPr>
            </a:p>
          </p:txBody>
        </p:sp>
        <p:sp>
          <p:nvSpPr>
            <p:cNvPr id="1706" name="Google Shape;1706;p23"/>
            <p:cNvSpPr txBox="1"/>
            <p:nvPr/>
          </p:nvSpPr>
          <p:spPr>
            <a:xfrm>
              <a:off x="7867762" y="-47625"/>
              <a:ext cx="3129300" cy="8313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3A3A3A"/>
                  </a:solidFill>
                  <a:latin typeface="Inter"/>
                  <a:ea typeface="Inter"/>
                  <a:cs typeface="Inter"/>
                  <a:sym typeface="Inter"/>
                </a:rPr>
                <a:t>Requirement definition &amp; Planning </a:t>
              </a:r>
              <a:endParaRPr sz="1200" b="0" i="0" u="none" strike="noStrike" cap="none">
                <a:solidFill>
                  <a:srgbClr val="000000"/>
                </a:solidFill>
                <a:latin typeface="Arial"/>
                <a:ea typeface="Arial"/>
                <a:cs typeface="Arial"/>
                <a:sym typeface="Arial"/>
              </a:endParaRPr>
            </a:p>
          </p:txBody>
        </p:sp>
        <p:sp>
          <p:nvSpPr>
            <p:cNvPr id="1707" name="Google Shape;1707;p23"/>
            <p:cNvSpPr txBox="1"/>
            <p:nvPr/>
          </p:nvSpPr>
          <p:spPr>
            <a:xfrm>
              <a:off x="8187574" y="1716235"/>
              <a:ext cx="3885000" cy="346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3A3A3A"/>
                  </a:solidFill>
                  <a:latin typeface="Inter"/>
                  <a:ea typeface="Inter"/>
                  <a:cs typeface="Inter"/>
                  <a:sym typeface="Inter"/>
                </a:rPr>
                <a:t>UI/UX Design</a:t>
              </a:r>
              <a:endParaRPr sz="1200" b="0" i="0" u="none" strike="noStrike" cap="none">
                <a:solidFill>
                  <a:srgbClr val="000000"/>
                </a:solidFill>
                <a:latin typeface="Arial"/>
                <a:ea typeface="Arial"/>
                <a:cs typeface="Arial"/>
                <a:sym typeface="Arial"/>
              </a:endParaRPr>
            </a:p>
          </p:txBody>
        </p:sp>
        <p:sp>
          <p:nvSpPr>
            <p:cNvPr id="1708" name="Google Shape;1708;p23"/>
            <p:cNvSpPr txBox="1"/>
            <p:nvPr/>
          </p:nvSpPr>
          <p:spPr>
            <a:xfrm>
              <a:off x="8187574" y="3773167"/>
              <a:ext cx="2971200" cy="8313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3A3A3A"/>
                  </a:solidFill>
                  <a:latin typeface="Inter"/>
                  <a:ea typeface="Inter"/>
                  <a:cs typeface="Inter"/>
                  <a:sym typeface="Inter"/>
                </a:rPr>
                <a:t>Application Development</a:t>
              </a:r>
              <a:endParaRPr sz="1200" b="0" i="0" u="none" strike="noStrike" cap="none">
                <a:solidFill>
                  <a:srgbClr val="000000"/>
                </a:solidFill>
                <a:latin typeface="Arial"/>
                <a:ea typeface="Arial"/>
                <a:cs typeface="Arial"/>
                <a:sym typeface="Arial"/>
              </a:endParaRPr>
            </a:p>
          </p:txBody>
        </p:sp>
        <p:sp>
          <p:nvSpPr>
            <p:cNvPr id="1709" name="Google Shape;1709;p23"/>
            <p:cNvSpPr txBox="1"/>
            <p:nvPr/>
          </p:nvSpPr>
          <p:spPr>
            <a:xfrm>
              <a:off x="1376331" y="95650"/>
              <a:ext cx="2128500" cy="346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a:buNone/>
              </a:pPr>
              <a:r>
                <a:rPr lang="en-US" sz="1500" b="1" i="0" u="none" strike="noStrike" cap="none">
                  <a:solidFill>
                    <a:srgbClr val="3A3A3A"/>
                  </a:solidFill>
                  <a:latin typeface="Inter"/>
                  <a:ea typeface="Inter"/>
                  <a:cs typeface="Inter"/>
                  <a:sym typeface="Inter"/>
                </a:rPr>
                <a:t>Maintenance</a:t>
              </a:r>
              <a:endParaRPr sz="1200" b="0" i="0" u="none" strike="noStrike" cap="none">
                <a:solidFill>
                  <a:srgbClr val="000000"/>
                </a:solidFill>
                <a:latin typeface="Arial"/>
                <a:ea typeface="Arial"/>
                <a:cs typeface="Arial"/>
                <a:sym typeface="Arial"/>
              </a:endParaRPr>
            </a:p>
          </p:txBody>
        </p:sp>
        <p:sp>
          <p:nvSpPr>
            <p:cNvPr id="1710" name="Google Shape;1710;p23"/>
            <p:cNvSpPr txBox="1"/>
            <p:nvPr/>
          </p:nvSpPr>
          <p:spPr>
            <a:xfrm>
              <a:off x="0" y="2280796"/>
              <a:ext cx="3416700" cy="22866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a:buNone/>
              </a:pPr>
              <a:r>
                <a:rPr lang="en-US" sz="1500" b="1" i="0" u="none" strike="noStrike" cap="none">
                  <a:solidFill>
                    <a:srgbClr val="3A3A3A"/>
                  </a:solidFill>
                  <a:latin typeface="Inter"/>
                  <a:ea typeface="Inter"/>
                  <a:cs typeface="Inter"/>
                  <a:sym typeface="Inter"/>
                </a:rPr>
                <a:t>Testing</a:t>
              </a:r>
              <a:endParaRPr sz="1200" b="0" i="0" u="none" strike="noStrike" cap="none">
                <a:solidFill>
                  <a:srgbClr val="000000"/>
                </a:solidFill>
                <a:latin typeface="Arial"/>
                <a:ea typeface="Arial"/>
                <a:cs typeface="Arial"/>
                <a:sym typeface="Arial"/>
              </a:endParaRPr>
            </a:p>
            <a:p>
              <a:pPr marL="317500" marR="0" lvl="1" indent="-158750" algn="r" rtl="0">
                <a:lnSpc>
                  <a:spcPct val="140000"/>
                </a:lnSpc>
                <a:spcBef>
                  <a:spcPts val="0"/>
                </a:spcBef>
                <a:spcAft>
                  <a:spcPts val="0"/>
                </a:spcAft>
                <a:buClr>
                  <a:srgbClr val="3A3A3A"/>
                </a:buClr>
                <a:buSzPts val="1500"/>
                <a:buFont typeface="Arial"/>
                <a:buChar char="•"/>
              </a:pPr>
              <a:r>
                <a:rPr lang="en-US" sz="1500" b="0" i="0" u="none" strike="noStrike" cap="none">
                  <a:solidFill>
                    <a:srgbClr val="3A3A3A"/>
                  </a:solidFill>
                  <a:latin typeface="Inter"/>
                  <a:ea typeface="Inter"/>
                  <a:cs typeface="Inter"/>
                  <a:sym typeface="Inter"/>
                </a:rPr>
                <a:t>Unit Testing (UT)</a:t>
              </a:r>
              <a:endParaRPr sz="1200" b="0" i="0" u="none" strike="noStrike" cap="none">
                <a:solidFill>
                  <a:srgbClr val="000000"/>
                </a:solidFill>
                <a:latin typeface="Arial"/>
                <a:ea typeface="Arial"/>
                <a:cs typeface="Arial"/>
                <a:sym typeface="Arial"/>
              </a:endParaRPr>
            </a:p>
            <a:p>
              <a:pPr marL="317500" marR="0" lvl="1" indent="-158750" algn="r" rtl="0">
                <a:lnSpc>
                  <a:spcPct val="140000"/>
                </a:lnSpc>
                <a:spcBef>
                  <a:spcPts val="0"/>
                </a:spcBef>
                <a:spcAft>
                  <a:spcPts val="0"/>
                </a:spcAft>
                <a:buClr>
                  <a:srgbClr val="3A3A3A"/>
                </a:buClr>
                <a:buSzPts val="1500"/>
                <a:buFont typeface="Arial"/>
                <a:buChar char="•"/>
              </a:pPr>
              <a:r>
                <a:rPr lang="en-US" sz="1500" b="0" i="0" u="none" strike="noStrike" cap="none">
                  <a:solidFill>
                    <a:srgbClr val="3A3A3A"/>
                  </a:solidFill>
                  <a:latin typeface="Inter"/>
                  <a:ea typeface="Inter"/>
                  <a:cs typeface="Inter"/>
                  <a:sym typeface="Inter"/>
                </a:rPr>
                <a:t>Integration Testing (IT)</a:t>
              </a:r>
              <a:endParaRPr sz="1200" b="0" i="0" u="none" strike="noStrike" cap="none">
                <a:solidFill>
                  <a:srgbClr val="000000"/>
                </a:solidFill>
                <a:latin typeface="Arial"/>
                <a:ea typeface="Arial"/>
                <a:cs typeface="Arial"/>
                <a:sym typeface="Arial"/>
              </a:endParaRPr>
            </a:p>
            <a:p>
              <a:pPr marL="317500" marR="0" lvl="1" indent="-158750" algn="r" rtl="0">
                <a:lnSpc>
                  <a:spcPct val="140000"/>
                </a:lnSpc>
                <a:spcBef>
                  <a:spcPts val="0"/>
                </a:spcBef>
                <a:spcAft>
                  <a:spcPts val="0"/>
                </a:spcAft>
                <a:buClr>
                  <a:srgbClr val="3A3A3A"/>
                </a:buClr>
                <a:buSzPts val="1500"/>
                <a:buFont typeface="Arial"/>
                <a:buChar char="•"/>
              </a:pPr>
              <a:r>
                <a:rPr lang="en-US" sz="1500" b="0" i="0" u="none" strike="noStrike" cap="none">
                  <a:solidFill>
                    <a:srgbClr val="3A3A3A"/>
                  </a:solidFill>
                  <a:latin typeface="Inter"/>
                  <a:ea typeface="Inter"/>
                  <a:cs typeface="Inter"/>
                  <a:sym typeface="Inter"/>
                </a:rPr>
                <a:t>System Testing (ST) </a:t>
              </a:r>
              <a:endParaRPr sz="1200" b="0" i="0" u="none" strike="noStrike" cap="none">
                <a:solidFill>
                  <a:srgbClr val="000000"/>
                </a:solidFill>
                <a:latin typeface="Arial"/>
                <a:ea typeface="Arial"/>
                <a:cs typeface="Arial"/>
                <a:sym typeface="Arial"/>
              </a:endParaRPr>
            </a:p>
          </p:txBody>
        </p:sp>
      </p:grpSp>
      <p:sp>
        <p:nvSpPr>
          <p:cNvPr id="1711" name="Google Shape;1711;p23"/>
          <p:cNvSpPr txBox="1"/>
          <p:nvPr/>
        </p:nvSpPr>
        <p:spPr>
          <a:xfrm>
            <a:off x="5790285" y="2390165"/>
            <a:ext cx="39351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300"/>
              <a:buFont typeface="Arial"/>
              <a:buNone/>
            </a:pPr>
            <a:r>
              <a:rPr lang="en-US" sz="1300" b="1" i="0" u="none" strike="noStrike" cap="none">
                <a:solidFill>
                  <a:srgbClr val="004AAD"/>
                </a:solidFill>
                <a:latin typeface="Inter"/>
                <a:ea typeface="Inter"/>
                <a:cs typeface="Inter"/>
                <a:sym typeface="Inter"/>
              </a:rPr>
              <a:t>One-Stop - Full-cycle Development service</a:t>
            </a:r>
            <a:r>
              <a:rPr lang="en-US" sz="1300" b="0" i="0" u="none" strike="noStrike" cap="none">
                <a:solidFill>
                  <a:srgbClr val="004AAD"/>
                </a:solidFill>
                <a:latin typeface="Inter"/>
                <a:ea typeface="Inter"/>
                <a:cs typeface="Inter"/>
                <a:sym typeface="Inter"/>
              </a:rPr>
              <a:t>:  </a:t>
            </a:r>
            <a:endParaRPr sz="1200" b="0" i="0" u="none" strike="noStrike" cap="none">
              <a:solidFill>
                <a:srgbClr val="000000"/>
              </a:solidFill>
              <a:latin typeface="Arial"/>
              <a:ea typeface="Arial"/>
              <a:cs typeface="Arial"/>
              <a:sym typeface="Arial"/>
            </a:endParaRPr>
          </a:p>
        </p:txBody>
      </p:sp>
      <p:sp>
        <p:nvSpPr>
          <p:cNvPr id="1712" name="Google Shape;1712;p23"/>
          <p:cNvSpPr/>
          <p:nvPr/>
        </p:nvSpPr>
        <p:spPr>
          <a:xfrm>
            <a:off x="7376383" y="6310556"/>
            <a:ext cx="818024" cy="657949"/>
          </a:xfrm>
          <a:custGeom>
            <a:avLst/>
            <a:gdLst/>
            <a:ahLst/>
            <a:cxnLst/>
            <a:rect l="l" t="t" r="r" b="b"/>
            <a:pathLst>
              <a:path w="740293" h="594085" extrusionOk="0">
                <a:moveTo>
                  <a:pt x="0" y="0"/>
                </a:moveTo>
                <a:lnTo>
                  <a:pt x="740292" y="0"/>
                </a:lnTo>
                <a:lnTo>
                  <a:pt x="740292" y="594085"/>
                </a:lnTo>
                <a:lnTo>
                  <a:pt x="0" y="594085"/>
                </a:lnTo>
                <a:lnTo>
                  <a:pt x="0" y="0"/>
                </a:lnTo>
                <a:close/>
              </a:path>
            </a:pathLst>
          </a:custGeom>
          <a:blipFill rotWithShape="1">
            <a:blip r:embed="rId14"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40625" rIns="81275" bIns="40625"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Meiryo"/>
              <a:ea typeface="Meiryo"/>
              <a:cs typeface="Meiryo"/>
              <a:sym typeface="Meiryo"/>
            </a:endParaRPr>
          </a:p>
        </p:txBody>
      </p:sp>
      <p:sp>
        <p:nvSpPr>
          <p:cNvPr id="1713" name="Google Shape;1713;p23"/>
          <p:cNvSpPr/>
          <p:nvPr/>
        </p:nvSpPr>
        <p:spPr>
          <a:xfrm>
            <a:off x="8258193" y="6355598"/>
            <a:ext cx="677382" cy="603385"/>
          </a:xfrm>
          <a:custGeom>
            <a:avLst/>
            <a:gdLst/>
            <a:ahLst/>
            <a:cxnLst/>
            <a:rect l="l" t="t" r="r" b="b"/>
            <a:pathLst>
              <a:path w="613015" h="544817" extrusionOk="0">
                <a:moveTo>
                  <a:pt x="0" y="0"/>
                </a:moveTo>
                <a:lnTo>
                  <a:pt x="613014" y="0"/>
                </a:lnTo>
                <a:lnTo>
                  <a:pt x="613014" y="544817"/>
                </a:lnTo>
                <a:lnTo>
                  <a:pt x="0" y="544817"/>
                </a:lnTo>
                <a:lnTo>
                  <a:pt x="0" y="0"/>
                </a:lnTo>
                <a:close/>
              </a:path>
            </a:pathLst>
          </a:custGeom>
          <a:blipFill rotWithShape="1">
            <a:blip r:embed="rId15"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40625" rIns="81275" bIns="40625"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Meiryo"/>
              <a:ea typeface="Meiryo"/>
              <a:cs typeface="Meiryo"/>
              <a:sym typeface="Meiryo"/>
            </a:endParaRPr>
          </a:p>
        </p:txBody>
      </p:sp>
      <p:pic>
        <p:nvPicPr>
          <p:cNvPr id="1714" name="Google Shape;1714;p23"/>
          <p:cNvPicPr preferRelativeResize="0"/>
          <p:nvPr/>
        </p:nvPicPr>
        <p:blipFill rotWithShape="1">
          <a:blip r:embed="rId16" cstate="email">
            <a:alphaModFix/>
            <a:extLst>
              <a:ext uri="{28A0092B-C50C-407E-A947-70E740481C1C}">
                <a14:useLocalDpi xmlns:a14="http://schemas.microsoft.com/office/drawing/2010/main"/>
              </a:ext>
            </a:extLst>
          </a:blip>
          <a:srcRect b="11394"/>
          <a:stretch/>
        </p:blipFill>
        <p:spPr>
          <a:xfrm>
            <a:off x="9052343" y="6342166"/>
            <a:ext cx="590105" cy="616266"/>
          </a:xfrm>
          <a:prstGeom prst="rect">
            <a:avLst/>
          </a:prstGeom>
          <a:noFill/>
          <a:ln>
            <a:noFill/>
          </a:ln>
        </p:spPr>
      </p:pic>
      <p:pic>
        <p:nvPicPr>
          <p:cNvPr id="1715" name="Google Shape;1715;p23"/>
          <p:cNvPicPr preferRelativeResize="0"/>
          <p:nvPr/>
        </p:nvPicPr>
        <p:blipFill rotWithShape="1">
          <a:blip r:embed="rId17" cstate="email">
            <a:alphaModFix/>
            <a:extLst>
              <a:ext uri="{28A0092B-C50C-407E-A947-70E740481C1C}">
                <a14:useLocalDpi xmlns:a14="http://schemas.microsoft.com/office/drawing/2010/main"/>
              </a:ext>
            </a:extLst>
          </a:blip>
          <a:srcRect/>
          <a:stretch/>
        </p:blipFill>
        <p:spPr>
          <a:xfrm>
            <a:off x="6283489" y="6387554"/>
            <a:ext cx="1056165" cy="525502"/>
          </a:xfrm>
          <a:prstGeom prst="rect">
            <a:avLst/>
          </a:prstGeom>
          <a:noFill/>
          <a:ln>
            <a:noFill/>
          </a:ln>
        </p:spPr>
      </p:pic>
      <p:sp>
        <p:nvSpPr>
          <p:cNvPr id="1716" name="Google Shape;1716;p23"/>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8" cstate="email">
              <a:alphaModFix/>
              <a:extLst>
                <a:ext uri="{28A0092B-C50C-407E-A947-70E740481C1C}">
                  <a14:useLocalDpi xmlns:a14="http://schemas.microsoft.com/office/drawing/2010/main"/>
                </a:ext>
              </a:extLst>
            </a:blip>
            <a:stretch>
              <a:fillRect b="-5"/>
            </a:stretch>
          </a:blipFill>
          <a:ln>
            <a:noFill/>
          </a:ln>
        </p:spPr>
      </p:sp>
      <p:grpSp>
        <p:nvGrpSpPr>
          <p:cNvPr id="1717" name="Google Shape;1717;p23"/>
          <p:cNvGrpSpPr/>
          <p:nvPr/>
        </p:nvGrpSpPr>
        <p:grpSpPr>
          <a:xfrm>
            <a:off x="872534" y="8351050"/>
            <a:ext cx="846442" cy="699635"/>
            <a:chOff x="0" y="0"/>
            <a:chExt cx="1269600" cy="1049400"/>
          </a:xfrm>
        </p:grpSpPr>
        <p:sp>
          <p:nvSpPr>
            <p:cNvPr id="1718" name="Google Shape;1718;p23"/>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719" name="Google Shape;1719;p23"/>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b="0" i="0" u="none" strike="noStrike" cap="none" dirty="0">
                  <a:solidFill>
                    <a:schemeClr val="lt1"/>
                  </a:solidFill>
                  <a:latin typeface="Inter"/>
                  <a:ea typeface="Inter"/>
                  <a:cs typeface="Inter"/>
                  <a:sym typeface="Inter"/>
                </a:rPr>
                <a:t>26</a:t>
              </a:r>
              <a:endParaRPr sz="1200" b="0" i="0" u="none" strike="noStrike" cap="none" dirty="0">
                <a:solidFill>
                  <a:schemeClr val="lt1"/>
                </a:solidFill>
                <a:latin typeface="Arial"/>
                <a:ea typeface="Arial"/>
                <a:cs typeface="Arial"/>
                <a:sym typeface="Arial"/>
              </a:endParaRPr>
            </a:p>
          </p:txBody>
        </p:sp>
      </p:grpSp>
      <p:grpSp>
        <p:nvGrpSpPr>
          <p:cNvPr id="2" name="Google Shape;1652;p22">
            <a:extLst>
              <a:ext uri="{FF2B5EF4-FFF2-40B4-BE49-F238E27FC236}">
                <a16:creationId xmlns:a16="http://schemas.microsoft.com/office/drawing/2014/main" id="{BA961114-A69B-5277-2B85-236703C01695}"/>
              </a:ext>
            </a:extLst>
          </p:cNvPr>
          <p:cNvGrpSpPr/>
          <p:nvPr/>
        </p:nvGrpSpPr>
        <p:grpSpPr>
          <a:xfrm>
            <a:off x="1395688" y="647442"/>
            <a:ext cx="922772" cy="955213"/>
            <a:chOff x="0" y="-28575"/>
            <a:chExt cx="812800" cy="841375"/>
          </a:xfrm>
        </p:grpSpPr>
        <p:sp>
          <p:nvSpPr>
            <p:cNvPr id="3" name="Google Shape;1653;p22">
              <a:extLst>
                <a:ext uri="{FF2B5EF4-FFF2-40B4-BE49-F238E27FC236}">
                  <a16:creationId xmlns:a16="http://schemas.microsoft.com/office/drawing/2014/main" id="{09B5C91C-9540-015B-03AB-7D6D84E9E05A}"/>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Google Shape;1654;p22">
              <a:extLst>
                <a:ext uri="{FF2B5EF4-FFF2-40B4-BE49-F238E27FC236}">
                  <a16:creationId xmlns:a16="http://schemas.microsoft.com/office/drawing/2014/main" id="{BF0E4460-36D5-B01F-C2D5-92572FC6A57A}"/>
                </a:ext>
              </a:extLst>
            </p:cNvPr>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5" name="Google Shape;1655;p22">
            <a:extLst>
              <a:ext uri="{FF2B5EF4-FFF2-40B4-BE49-F238E27FC236}">
                <a16:creationId xmlns:a16="http://schemas.microsoft.com/office/drawing/2014/main" id="{1E90755A-676B-7E3B-567E-54F6CFE53CA0}"/>
              </a:ext>
            </a:extLst>
          </p:cNvPr>
          <p:cNvSpPr txBox="1"/>
          <p:nvPr/>
        </p:nvSpPr>
        <p:spPr>
          <a:xfrm>
            <a:off x="1635974" y="925024"/>
            <a:ext cx="442200" cy="40005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dirty="0">
                <a:solidFill>
                  <a:schemeClr val="dk2"/>
                </a:solidFill>
                <a:latin typeface="Inter"/>
                <a:ea typeface="Inter"/>
                <a:cs typeface="Inter"/>
                <a:sym typeface="Inter"/>
              </a:rPr>
              <a:t>0</a:t>
            </a:r>
            <a:r>
              <a:rPr lang="en-US" sz="2600" b="1" dirty="0">
                <a:solidFill>
                  <a:schemeClr val="dk2"/>
                </a:solidFill>
                <a:latin typeface="Inter"/>
                <a:ea typeface="Inter"/>
                <a:cs typeface="Inter"/>
                <a:sym typeface="Inter"/>
              </a:rPr>
              <a:t>2</a:t>
            </a:r>
            <a:endParaRPr sz="1800" b="0" i="0" u="none" strike="noStrike" cap="none" dirty="0">
              <a:solidFill>
                <a:schemeClr val="dk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23"/>
        <p:cNvGrpSpPr/>
        <p:nvPr/>
      </p:nvGrpSpPr>
      <p:grpSpPr>
        <a:xfrm>
          <a:off x="0" y="0"/>
          <a:ext cx="0" cy="0"/>
          <a:chOff x="0" y="0"/>
          <a:chExt cx="0" cy="0"/>
        </a:xfrm>
      </p:grpSpPr>
      <p:grpSp>
        <p:nvGrpSpPr>
          <p:cNvPr id="1724" name="Google Shape;1724;p24"/>
          <p:cNvGrpSpPr/>
          <p:nvPr/>
        </p:nvGrpSpPr>
        <p:grpSpPr>
          <a:xfrm>
            <a:off x="12951301" y="3804312"/>
            <a:ext cx="1876975" cy="3713008"/>
            <a:chOff x="0" y="0"/>
            <a:chExt cx="2620010" cy="5182870"/>
          </a:xfrm>
        </p:grpSpPr>
        <p:sp>
          <p:nvSpPr>
            <p:cNvPr id="1725" name="Google Shape;1725;p24"/>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6" name="Google Shape;1726;p24"/>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7" name="Google Shape;1727;p24"/>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8" name="Google Shape;1728;p24"/>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9" name="Google Shape;1729;p24"/>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0" name="Google Shape;1730;p24"/>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1" name="Google Shape;1731;p24"/>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2" name="Google Shape;1732;p24"/>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3" name="Google Shape;1733;p24"/>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34" name="Google Shape;1734;p24"/>
          <p:cNvSpPr/>
          <p:nvPr/>
        </p:nvSpPr>
        <p:spPr>
          <a:xfrm>
            <a:off x="1166756" y="3029562"/>
            <a:ext cx="657699" cy="534381"/>
          </a:xfrm>
          <a:custGeom>
            <a:avLst/>
            <a:gdLst/>
            <a:ahLst/>
            <a:cxnLst/>
            <a:rect l="l" t="t" r="r" b="b"/>
            <a:pathLst>
              <a:path w="738988" h="600428" extrusionOk="0">
                <a:moveTo>
                  <a:pt x="0" y="0"/>
                </a:moveTo>
                <a:lnTo>
                  <a:pt x="738988" y="0"/>
                </a:lnTo>
                <a:lnTo>
                  <a:pt x="738988" y="600428"/>
                </a:lnTo>
                <a:lnTo>
                  <a:pt x="0" y="600428"/>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sp>
        <p:nvSpPr>
          <p:cNvPr id="1735" name="Google Shape;1735;p24"/>
          <p:cNvSpPr/>
          <p:nvPr/>
        </p:nvSpPr>
        <p:spPr>
          <a:xfrm>
            <a:off x="4254572" y="3029562"/>
            <a:ext cx="657699" cy="534381"/>
          </a:xfrm>
          <a:custGeom>
            <a:avLst/>
            <a:gdLst/>
            <a:ahLst/>
            <a:cxnLst/>
            <a:rect l="l" t="t" r="r" b="b"/>
            <a:pathLst>
              <a:path w="738988" h="600428" extrusionOk="0">
                <a:moveTo>
                  <a:pt x="0" y="0"/>
                </a:moveTo>
                <a:lnTo>
                  <a:pt x="738988" y="0"/>
                </a:lnTo>
                <a:lnTo>
                  <a:pt x="738988" y="600428"/>
                </a:lnTo>
                <a:lnTo>
                  <a:pt x="0" y="600428"/>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sp>
        <p:nvSpPr>
          <p:cNvPr id="1736" name="Google Shape;1736;p24"/>
          <p:cNvSpPr/>
          <p:nvPr/>
        </p:nvSpPr>
        <p:spPr>
          <a:xfrm>
            <a:off x="7039665" y="3029562"/>
            <a:ext cx="657699" cy="534381"/>
          </a:xfrm>
          <a:custGeom>
            <a:avLst/>
            <a:gdLst/>
            <a:ahLst/>
            <a:cxnLst/>
            <a:rect l="l" t="t" r="r" b="b"/>
            <a:pathLst>
              <a:path w="738988" h="600428" extrusionOk="0">
                <a:moveTo>
                  <a:pt x="0" y="0"/>
                </a:moveTo>
                <a:lnTo>
                  <a:pt x="738988" y="0"/>
                </a:lnTo>
                <a:lnTo>
                  <a:pt x="738988" y="600428"/>
                </a:lnTo>
                <a:lnTo>
                  <a:pt x="0" y="600428"/>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737" name="Google Shape;1737;p24"/>
          <p:cNvSpPr/>
          <p:nvPr/>
        </p:nvSpPr>
        <p:spPr>
          <a:xfrm>
            <a:off x="9869707" y="3031884"/>
            <a:ext cx="657699" cy="534381"/>
          </a:xfrm>
          <a:custGeom>
            <a:avLst/>
            <a:gdLst/>
            <a:ahLst/>
            <a:cxnLst/>
            <a:rect l="l" t="t" r="r" b="b"/>
            <a:pathLst>
              <a:path w="738988" h="600428" extrusionOk="0">
                <a:moveTo>
                  <a:pt x="0" y="0"/>
                </a:moveTo>
                <a:lnTo>
                  <a:pt x="738988" y="0"/>
                </a:lnTo>
                <a:lnTo>
                  <a:pt x="738988" y="600428"/>
                </a:lnTo>
                <a:lnTo>
                  <a:pt x="0" y="600428"/>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1738" name="Google Shape;1738;p24"/>
          <p:cNvSpPr/>
          <p:nvPr/>
        </p:nvSpPr>
        <p:spPr>
          <a:xfrm>
            <a:off x="12951301" y="3029562"/>
            <a:ext cx="657699" cy="534381"/>
          </a:xfrm>
          <a:custGeom>
            <a:avLst/>
            <a:gdLst/>
            <a:ahLst/>
            <a:cxnLst/>
            <a:rect l="l" t="t" r="r" b="b"/>
            <a:pathLst>
              <a:path w="738988" h="600428" extrusionOk="0">
                <a:moveTo>
                  <a:pt x="0" y="0"/>
                </a:moveTo>
                <a:lnTo>
                  <a:pt x="738988" y="0"/>
                </a:lnTo>
                <a:lnTo>
                  <a:pt x="738988" y="600428"/>
                </a:lnTo>
                <a:lnTo>
                  <a:pt x="0" y="600428"/>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sp>
        <p:nvSpPr>
          <p:cNvPr id="1739" name="Google Shape;1739;p24"/>
          <p:cNvSpPr/>
          <p:nvPr/>
        </p:nvSpPr>
        <p:spPr>
          <a:xfrm>
            <a:off x="3593141" y="5389944"/>
            <a:ext cx="436107" cy="543688"/>
          </a:xfrm>
          <a:custGeom>
            <a:avLst/>
            <a:gdLst/>
            <a:ahLst/>
            <a:cxnLst/>
            <a:rect l="l" t="t" r="r" b="b"/>
            <a:pathLst>
              <a:path w="490008" h="610885" extrusionOk="0">
                <a:moveTo>
                  <a:pt x="0" y="0"/>
                </a:moveTo>
                <a:lnTo>
                  <a:pt x="490007" y="0"/>
                </a:lnTo>
                <a:lnTo>
                  <a:pt x="490007" y="610885"/>
                </a:lnTo>
                <a:lnTo>
                  <a:pt x="0" y="610885"/>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sp>
        <p:nvSpPr>
          <p:cNvPr id="1740" name="Google Shape;1740;p24"/>
          <p:cNvSpPr/>
          <p:nvPr/>
        </p:nvSpPr>
        <p:spPr>
          <a:xfrm>
            <a:off x="6470945" y="5389944"/>
            <a:ext cx="436107" cy="543688"/>
          </a:xfrm>
          <a:custGeom>
            <a:avLst/>
            <a:gdLst/>
            <a:ahLst/>
            <a:cxnLst/>
            <a:rect l="l" t="t" r="r" b="b"/>
            <a:pathLst>
              <a:path w="490008" h="610885" extrusionOk="0">
                <a:moveTo>
                  <a:pt x="0" y="0"/>
                </a:moveTo>
                <a:lnTo>
                  <a:pt x="490008" y="0"/>
                </a:lnTo>
                <a:lnTo>
                  <a:pt x="490008" y="610885"/>
                </a:lnTo>
                <a:lnTo>
                  <a:pt x="0" y="610885"/>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sp>
        <p:nvSpPr>
          <p:cNvPr id="1741" name="Google Shape;1741;p24"/>
          <p:cNvSpPr/>
          <p:nvPr/>
        </p:nvSpPr>
        <p:spPr>
          <a:xfrm>
            <a:off x="9348749" y="5389944"/>
            <a:ext cx="436107" cy="543688"/>
          </a:xfrm>
          <a:custGeom>
            <a:avLst/>
            <a:gdLst/>
            <a:ahLst/>
            <a:cxnLst/>
            <a:rect l="l" t="t" r="r" b="b"/>
            <a:pathLst>
              <a:path w="490008" h="610885" extrusionOk="0">
                <a:moveTo>
                  <a:pt x="0" y="0"/>
                </a:moveTo>
                <a:lnTo>
                  <a:pt x="490007" y="0"/>
                </a:lnTo>
                <a:lnTo>
                  <a:pt x="490007" y="610885"/>
                </a:lnTo>
                <a:lnTo>
                  <a:pt x="0" y="610885"/>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sp>
        <p:nvSpPr>
          <p:cNvPr id="1742" name="Google Shape;1742;p24"/>
          <p:cNvSpPr/>
          <p:nvPr/>
        </p:nvSpPr>
        <p:spPr>
          <a:xfrm>
            <a:off x="12304158" y="5389944"/>
            <a:ext cx="436107" cy="543688"/>
          </a:xfrm>
          <a:custGeom>
            <a:avLst/>
            <a:gdLst/>
            <a:ahLst/>
            <a:cxnLst/>
            <a:rect l="l" t="t" r="r" b="b"/>
            <a:pathLst>
              <a:path w="490008" h="610885" extrusionOk="0">
                <a:moveTo>
                  <a:pt x="0" y="0"/>
                </a:moveTo>
                <a:lnTo>
                  <a:pt x="490008" y="0"/>
                </a:lnTo>
                <a:lnTo>
                  <a:pt x="490008" y="610885"/>
                </a:lnTo>
                <a:lnTo>
                  <a:pt x="0" y="610885"/>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sp>
        <p:nvSpPr>
          <p:cNvPr id="1743" name="Google Shape;1743;p24"/>
          <p:cNvSpPr/>
          <p:nvPr/>
        </p:nvSpPr>
        <p:spPr>
          <a:xfrm>
            <a:off x="14352014" y="3691793"/>
            <a:ext cx="658895" cy="658895"/>
          </a:xfrm>
          <a:custGeom>
            <a:avLst/>
            <a:gdLst/>
            <a:ahLst/>
            <a:cxnLst/>
            <a:rect l="l" t="t" r="r" b="b"/>
            <a:pathLst>
              <a:path w="740331" h="740331" extrusionOk="0">
                <a:moveTo>
                  <a:pt x="0" y="0"/>
                </a:moveTo>
                <a:lnTo>
                  <a:pt x="740331" y="0"/>
                </a:lnTo>
                <a:lnTo>
                  <a:pt x="740331" y="740331"/>
                </a:lnTo>
                <a:lnTo>
                  <a:pt x="0" y="740331"/>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1744" name="Google Shape;1744;p24"/>
          <p:cNvSpPr/>
          <p:nvPr/>
        </p:nvSpPr>
        <p:spPr>
          <a:xfrm>
            <a:off x="14352014" y="3654491"/>
            <a:ext cx="807256" cy="733593"/>
          </a:xfrm>
          <a:custGeom>
            <a:avLst/>
            <a:gdLst/>
            <a:ahLst/>
            <a:cxnLst/>
            <a:rect l="l" t="t" r="r" b="b"/>
            <a:pathLst>
              <a:path w="907029" h="824262" extrusionOk="0">
                <a:moveTo>
                  <a:pt x="0" y="0"/>
                </a:moveTo>
                <a:lnTo>
                  <a:pt x="907028" y="0"/>
                </a:lnTo>
                <a:lnTo>
                  <a:pt x="907028" y="824262"/>
                </a:lnTo>
                <a:lnTo>
                  <a:pt x="0" y="824262"/>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sp>
        <p:nvSpPr>
          <p:cNvPr id="1745" name="Google Shape;1745;p24"/>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12" cstate="email">
              <a:alphaModFix amt="46000"/>
              <a:extLst>
                <a:ext uri="{28A0092B-C50C-407E-A947-70E740481C1C}">
                  <a14:useLocalDpi xmlns:a14="http://schemas.microsoft.com/office/drawing/2010/main"/>
                </a:ext>
              </a:extLst>
            </a:blip>
            <a:stretch>
              <a:fillRect/>
            </a:stretch>
          </a:blipFill>
          <a:ln>
            <a:noFill/>
          </a:ln>
        </p:spPr>
      </p:sp>
      <p:grpSp>
        <p:nvGrpSpPr>
          <p:cNvPr id="1746" name="Google Shape;1746;p24"/>
          <p:cNvGrpSpPr/>
          <p:nvPr/>
        </p:nvGrpSpPr>
        <p:grpSpPr>
          <a:xfrm>
            <a:off x="2722007" y="5511208"/>
            <a:ext cx="304763" cy="213830"/>
            <a:chOff x="0" y="-38100"/>
            <a:chExt cx="90300" cy="63357"/>
          </a:xfrm>
        </p:grpSpPr>
        <p:sp>
          <p:nvSpPr>
            <p:cNvPr id="1747" name="Google Shape;1747;p24"/>
            <p:cNvSpPr/>
            <p:nvPr/>
          </p:nvSpPr>
          <p:spPr>
            <a:xfrm>
              <a:off x="0" y="0"/>
              <a:ext cx="90171" cy="25257"/>
            </a:xfrm>
            <a:custGeom>
              <a:avLst/>
              <a:gdLst/>
              <a:ahLst/>
              <a:cxnLst/>
              <a:rect l="l" t="t" r="r" b="b"/>
              <a:pathLst>
                <a:path w="90171" h="25257" extrusionOk="0">
                  <a:moveTo>
                    <a:pt x="0" y="0"/>
                  </a:moveTo>
                  <a:lnTo>
                    <a:pt x="90171" y="0"/>
                  </a:lnTo>
                  <a:lnTo>
                    <a:pt x="90171" y="25257"/>
                  </a:lnTo>
                  <a:lnTo>
                    <a:pt x="0" y="25257"/>
                  </a:lnTo>
                  <a:close/>
                </a:path>
              </a:pathLst>
            </a:custGeom>
            <a:solidFill>
              <a:srgbClr val="FFFFFF"/>
            </a:solidFill>
            <a:ln>
              <a:noFill/>
            </a:ln>
          </p:spPr>
        </p:sp>
        <p:sp>
          <p:nvSpPr>
            <p:cNvPr id="1748" name="Google Shape;1748;p24"/>
            <p:cNvSpPr txBox="1"/>
            <p:nvPr/>
          </p:nvSpPr>
          <p:spPr>
            <a:xfrm>
              <a:off x="0" y="-38100"/>
              <a:ext cx="90300" cy="63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49" name="Google Shape;1749;p24"/>
          <p:cNvGrpSpPr/>
          <p:nvPr/>
        </p:nvGrpSpPr>
        <p:grpSpPr>
          <a:xfrm>
            <a:off x="1278795" y="3804312"/>
            <a:ext cx="1949965" cy="3819783"/>
            <a:chOff x="0" y="0"/>
            <a:chExt cx="2924802" cy="5729388"/>
          </a:xfrm>
        </p:grpSpPr>
        <p:sp>
          <p:nvSpPr>
            <p:cNvPr id="1750" name="Google Shape;1750;p24"/>
            <p:cNvSpPr/>
            <p:nvPr/>
          </p:nvSpPr>
          <p:spPr>
            <a:xfrm>
              <a:off x="0" y="0"/>
              <a:ext cx="2924802" cy="5729388"/>
            </a:xfrm>
            <a:custGeom>
              <a:avLst/>
              <a:gdLst/>
              <a:ahLst/>
              <a:cxnLst/>
              <a:rect l="l" t="t" r="r" b="b"/>
              <a:pathLst>
                <a:path w="2924802" h="5729388" extrusionOk="0">
                  <a:moveTo>
                    <a:pt x="0" y="0"/>
                  </a:moveTo>
                  <a:lnTo>
                    <a:pt x="2924802" y="0"/>
                  </a:lnTo>
                  <a:lnTo>
                    <a:pt x="2924802" y="5729388"/>
                  </a:lnTo>
                  <a:lnTo>
                    <a:pt x="0" y="5729388"/>
                  </a:lnTo>
                  <a:lnTo>
                    <a:pt x="0" y="0"/>
                  </a:lnTo>
                  <a:close/>
                </a:path>
              </a:pathLst>
            </a:custGeom>
            <a:blipFill rotWithShape="1">
              <a:blip r:embed="rId13" cstate="email">
                <a:alphaModFix/>
                <a:extLst>
                  <a:ext uri="{28A0092B-C50C-407E-A947-70E740481C1C}">
                    <a14:useLocalDpi xmlns:a14="http://schemas.microsoft.com/office/drawing/2010/main"/>
                  </a:ext>
                </a:extLst>
              </a:blip>
              <a:stretch>
                <a:fillRect/>
              </a:stretch>
            </a:blipFill>
            <a:ln>
              <a:noFill/>
            </a:ln>
          </p:spPr>
        </p:sp>
        <p:grpSp>
          <p:nvGrpSpPr>
            <p:cNvPr id="1751" name="Google Shape;1751;p24"/>
            <p:cNvGrpSpPr/>
            <p:nvPr/>
          </p:nvGrpSpPr>
          <p:grpSpPr>
            <a:xfrm>
              <a:off x="654944" y="319321"/>
              <a:ext cx="850657" cy="423740"/>
              <a:chOff x="0" y="-38100"/>
              <a:chExt cx="168031" cy="83700"/>
            </a:xfrm>
          </p:grpSpPr>
          <p:sp>
            <p:nvSpPr>
              <p:cNvPr id="1752" name="Google Shape;1752;p24"/>
              <p:cNvSpPr/>
              <p:nvPr/>
            </p:nvSpPr>
            <p:spPr>
              <a:xfrm>
                <a:off x="0" y="0"/>
                <a:ext cx="168031" cy="45495"/>
              </a:xfrm>
              <a:custGeom>
                <a:avLst/>
                <a:gdLst/>
                <a:ahLst/>
                <a:cxnLst/>
                <a:rect l="l" t="t" r="r" b="b"/>
                <a:pathLst>
                  <a:path w="168031" h="45495" extrusionOk="0">
                    <a:moveTo>
                      <a:pt x="22748" y="0"/>
                    </a:moveTo>
                    <a:lnTo>
                      <a:pt x="145283" y="0"/>
                    </a:lnTo>
                    <a:cubicBezTo>
                      <a:pt x="157846" y="0"/>
                      <a:pt x="168031" y="10184"/>
                      <a:pt x="168031" y="22748"/>
                    </a:cubicBezTo>
                    <a:lnTo>
                      <a:pt x="168031" y="22748"/>
                    </a:lnTo>
                    <a:cubicBezTo>
                      <a:pt x="168031" y="35311"/>
                      <a:pt x="157846" y="45495"/>
                      <a:pt x="145283" y="45495"/>
                    </a:cubicBezTo>
                    <a:lnTo>
                      <a:pt x="22748" y="45495"/>
                    </a:lnTo>
                    <a:cubicBezTo>
                      <a:pt x="10184" y="45495"/>
                      <a:pt x="0" y="35311"/>
                      <a:pt x="0" y="22748"/>
                    </a:cubicBezTo>
                    <a:lnTo>
                      <a:pt x="0" y="22748"/>
                    </a:lnTo>
                    <a:cubicBezTo>
                      <a:pt x="0" y="10184"/>
                      <a:pt x="10184" y="0"/>
                      <a:pt x="22748" y="0"/>
                    </a:cubicBezTo>
                    <a:close/>
                  </a:path>
                </a:pathLst>
              </a:custGeom>
              <a:solidFill>
                <a:srgbClr val="FE542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3" name="Google Shape;1753;p24"/>
              <p:cNvSpPr txBox="1"/>
              <p:nvPr/>
            </p:nvSpPr>
            <p:spPr>
              <a:xfrm>
                <a:off x="0" y="-38100"/>
                <a:ext cx="168000" cy="83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54" name="Google Shape;1754;p24"/>
            <p:cNvGrpSpPr/>
            <p:nvPr/>
          </p:nvGrpSpPr>
          <p:grpSpPr>
            <a:xfrm>
              <a:off x="411814" y="246124"/>
              <a:ext cx="200475" cy="423740"/>
              <a:chOff x="0" y="-38100"/>
              <a:chExt cx="39600" cy="83700"/>
            </a:xfrm>
          </p:grpSpPr>
          <p:sp>
            <p:nvSpPr>
              <p:cNvPr id="1755" name="Google Shape;1755;p24"/>
              <p:cNvSpPr/>
              <p:nvPr/>
            </p:nvSpPr>
            <p:spPr>
              <a:xfrm>
                <a:off x="0" y="0"/>
                <a:ext cx="39567" cy="45495"/>
              </a:xfrm>
              <a:custGeom>
                <a:avLst/>
                <a:gdLst/>
                <a:ahLst/>
                <a:cxnLst/>
                <a:rect l="l" t="t" r="r" b="b"/>
                <a:pathLst>
                  <a:path w="39567" h="45495" extrusionOk="0">
                    <a:moveTo>
                      <a:pt x="19783" y="0"/>
                    </a:moveTo>
                    <a:lnTo>
                      <a:pt x="19783" y="0"/>
                    </a:lnTo>
                    <a:cubicBezTo>
                      <a:pt x="25030" y="0"/>
                      <a:pt x="30062" y="2084"/>
                      <a:pt x="33772" y="5794"/>
                    </a:cubicBezTo>
                    <a:cubicBezTo>
                      <a:pt x="37482" y="9505"/>
                      <a:pt x="39567" y="14536"/>
                      <a:pt x="39567" y="19783"/>
                    </a:cubicBezTo>
                    <a:lnTo>
                      <a:pt x="39567" y="25712"/>
                    </a:lnTo>
                    <a:cubicBezTo>
                      <a:pt x="39567" y="36638"/>
                      <a:pt x="30709" y="45495"/>
                      <a:pt x="19783" y="45495"/>
                    </a:cubicBezTo>
                    <a:lnTo>
                      <a:pt x="19783" y="45495"/>
                    </a:lnTo>
                    <a:cubicBezTo>
                      <a:pt x="14536" y="45495"/>
                      <a:pt x="9505" y="43411"/>
                      <a:pt x="5794" y="39701"/>
                    </a:cubicBezTo>
                    <a:cubicBezTo>
                      <a:pt x="2084" y="35991"/>
                      <a:pt x="0" y="30959"/>
                      <a:pt x="0" y="25712"/>
                    </a:cubicBezTo>
                    <a:lnTo>
                      <a:pt x="0" y="19783"/>
                    </a:lnTo>
                    <a:cubicBezTo>
                      <a:pt x="0" y="8857"/>
                      <a:pt x="8857" y="0"/>
                      <a:pt x="19783"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6" name="Google Shape;1756;p24"/>
              <p:cNvSpPr txBox="1"/>
              <p:nvPr/>
            </p:nvSpPr>
            <p:spPr>
              <a:xfrm>
                <a:off x="0" y="-38100"/>
                <a:ext cx="39600" cy="83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57" name="Google Shape;1757;p24"/>
            <p:cNvGrpSpPr/>
            <p:nvPr/>
          </p:nvGrpSpPr>
          <p:grpSpPr>
            <a:xfrm>
              <a:off x="477854" y="2556649"/>
              <a:ext cx="457144" cy="320751"/>
              <a:chOff x="0" y="-38100"/>
              <a:chExt cx="90300" cy="63357"/>
            </a:xfrm>
          </p:grpSpPr>
          <p:sp>
            <p:nvSpPr>
              <p:cNvPr id="1758" name="Google Shape;1758;p24"/>
              <p:cNvSpPr/>
              <p:nvPr/>
            </p:nvSpPr>
            <p:spPr>
              <a:xfrm>
                <a:off x="0" y="0"/>
                <a:ext cx="90171" cy="25257"/>
              </a:xfrm>
              <a:custGeom>
                <a:avLst/>
                <a:gdLst/>
                <a:ahLst/>
                <a:cxnLst/>
                <a:rect l="l" t="t" r="r" b="b"/>
                <a:pathLst>
                  <a:path w="90171" h="25257" extrusionOk="0">
                    <a:moveTo>
                      <a:pt x="12629" y="0"/>
                    </a:moveTo>
                    <a:lnTo>
                      <a:pt x="77542" y="0"/>
                    </a:lnTo>
                    <a:cubicBezTo>
                      <a:pt x="84517" y="0"/>
                      <a:pt x="90171" y="5654"/>
                      <a:pt x="90171" y="12629"/>
                    </a:cubicBezTo>
                    <a:lnTo>
                      <a:pt x="90171" y="12629"/>
                    </a:lnTo>
                    <a:cubicBezTo>
                      <a:pt x="90171" y="19603"/>
                      <a:pt x="84517" y="25257"/>
                      <a:pt x="77542" y="25257"/>
                    </a:cubicBezTo>
                    <a:lnTo>
                      <a:pt x="12629" y="25257"/>
                    </a:lnTo>
                    <a:cubicBezTo>
                      <a:pt x="5654" y="25257"/>
                      <a:pt x="0" y="19603"/>
                      <a:pt x="0" y="12629"/>
                    </a:cubicBezTo>
                    <a:lnTo>
                      <a:pt x="0" y="12629"/>
                    </a:lnTo>
                    <a:cubicBezTo>
                      <a:pt x="0" y="5654"/>
                      <a:pt x="5654" y="0"/>
                      <a:pt x="12629"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9" name="Google Shape;1759;p24"/>
              <p:cNvSpPr txBox="1"/>
              <p:nvPr/>
            </p:nvSpPr>
            <p:spPr>
              <a:xfrm>
                <a:off x="0" y="-38100"/>
                <a:ext cx="90300" cy="63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60" name="Google Shape;1760;p24"/>
            <p:cNvGrpSpPr/>
            <p:nvPr/>
          </p:nvGrpSpPr>
          <p:grpSpPr>
            <a:xfrm>
              <a:off x="452102" y="3502381"/>
              <a:ext cx="320456" cy="335644"/>
              <a:chOff x="0" y="-38100"/>
              <a:chExt cx="63300" cy="66300"/>
            </a:xfrm>
          </p:grpSpPr>
          <p:sp>
            <p:nvSpPr>
              <p:cNvPr id="1761" name="Google Shape;1761;p24"/>
              <p:cNvSpPr/>
              <p:nvPr/>
            </p:nvSpPr>
            <p:spPr>
              <a:xfrm>
                <a:off x="0" y="0"/>
                <a:ext cx="63217" cy="28165"/>
              </a:xfrm>
              <a:custGeom>
                <a:avLst/>
                <a:gdLst/>
                <a:ahLst/>
                <a:cxnLst/>
                <a:rect l="l" t="t" r="r" b="b"/>
                <a:pathLst>
                  <a:path w="63217" h="28165" extrusionOk="0">
                    <a:moveTo>
                      <a:pt x="0" y="0"/>
                    </a:moveTo>
                    <a:lnTo>
                      <a:pt x="63217" y="0"/>
                    </a:lnTo>
                    <a:lnTo>
                      <a:pt x="63217" y="28165"/>
                    </a:lnTo>
                    <a:lnTo>
                      <a:pt x="0" y="28165"/>
                    </a:lnTo>
                    <a:close/>
                  </a:path>
                </a:pathLst>
              </a:custGeom>
              <a:solidFill>
                <a:srgbClr val="FFFFFF"/>
              </a:solidFill>
              <a:ln>
                <a:noFill/>
              </a:ln>
            </p:spPr>
          </p:sp>
          <p:sp>
            <p:nvSpPr>
              <p:cNvPr id="1762" name="Google Shape;1762;p24"/>
              <p:cNvSpPr txBox="1"/>
              <p:nvPr/>
            </p:nvSpPr>
            <p:spPr>
              <a:xfrm>
                <a:off x="0" y="-38100"/>
                <a:ext cx="63300" cy="66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63" name="Google Shape;1763;p24"/>
            <p:cNvGrpSpPr/>
            <p:nvPr/>
          </p:nvGrpSpPr>
          <p:grpSpPr>
            <a:xfrm>
              <a:off x="1708329" y="2556657"/>
              <a:ext cx="457144" cy="333182"/>
              <a:chOff x="0" y="-38100"/>
              <a:chExt cx="90300" cy="65815"/>
            </a:xfrm>
          </p:grpSpPr>
          <p:sp>
            <p:nvSpPr>
              <p:cNvPr id="1764" name="Google Shape;1764;p24"/>
              <p:cNvSpPr/>
              <p:nvPr/>
            </p:nvSpPr>
            <p:spPr>
              <a:xfrm>
                <a:off x="0" y="0"/>
                <a:ext cx="90171" cy="27715"/>
              </a:xfrm>
              <a:custGeom>
                <a:avLst/>
                <a:gdLst/>
                <a:ahLst/>
                <a:cxnLst/>
                <a:rect l="l" t="t" r="r" b="b"/>
                <a:pathLst>
                  <a:path w="90171" h="27715" extrusionOk="0">
                    <a:moveTo>
                      <a:pt x="13857" y="0"/>
                    </a:moveTo>
                    <a:lnTo>
                      <a:pt x="76314" y="0"/>
                    </a:lnTo>
                    <a:cubicBezTo>
                      <a:pt x="79989" y="0"/>
                      <a:pt x="83513" y="1460"/>
                      <a:pt x="86112" y="4059"/>
                    </a:cubicBezTo>
                    <a:cubicBezTo>
                      <a:pt x="88711" y="6657"/>
                      <a:pt x="90171" y="10182"/>
                      <a:pt x="90171" y="13857"/>
                    </a:cubicBezTo>
                    <a:lnTo>
                      <a:pt x="90171" y="13857"/>
                    </a:lnTo>
                    <a:cubicBezTo>
                      <a:pt x="90171" y="21510"/>
                      <a:pt x="83967" y="27715"/>
                      <a:pt x="76314" y="27715"/>
                    </a:cubicBezTo>
                    <a:lnTo>
                      <a:pt x="13857" y="27715"/>
                    </a:lnTo>
                    <a:cubicBezTo>
                      <a:pt x="10182" y="27715"/>
                      <a:pt x="6657" y="26255"/>
                      <a:pt x="4059" y="23656"/>
                    </a:cubicBezTo>
                    <a:cubicBezTo>
                      <a:pt x="1460" y="21057"/>
                      <a:pt x="0" y="17532"/>
                      <a:pt x="0" y="13857"/>
                    </a:cubicBezTo>
                    <a:lnTo>
                      <a:pt x="0" y="13857"/>
                    </a:lnTo>
                    <a:cubicBezTo>
                      <a:pt x="0" y="10182"/>
                      <a:pt x="1460" y="6657"/>
                      <a:pt x="4059" y="4059"/>
                    </a:cubicBezTo>
                    <a:cubicBezTo>
                      <a:pt x="6657" y="1460"/>
                      <a:pt x="10182" y="0"/>
                      <a:pt x="13857"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5" name="Google Shape;1765;p24"/>
              <p:cNvSpPr txBox="1"/>
              <p:nvPr/>
            </p:nvSpPr>
            <p:spPr>
              <a:xfrm>
                <a:off x="0" y="-38100"/>
                <a:ext cx="90300" cy="65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66" name="Google Shape;1766;p24"/>
            <p:cNvGrpSpPr/>
            <p:nvPr/>
          </p:nvGrpSpPr>
          <p:grpSpPr>
            <a:xfrm>
              <a:off x="411814" y="4159397"/>
              <a:ext cx="294638" cy="256983"/>
              <a:chOff x="0" y="-38100"/>
              <a:chExt cx="58200" cy="50763"/>
            </a:xfrm>
          </p:grpSpPr>
          <p:sp>
            <p:nvSpPr>
              <p:cNvPr id="1767" name="Google Shape;1767;p24"/>
              <p:cNvSpPr/>
              <p:nvPr/>
            </p:nvSpPr>
            <p:spPr>
              <a:xfrm>
                <a:off x="0" y="0"/>
                <a:ext cx="58130" cy="12663"/>
              </a:xfrm>
              <a:custGeom>
                <a:avLst/>
                <a:gdLst/>
                <a:ahLst/>
                <a:cxnLst/>
                <a:rect l="l" t="t" r="r" b="b"/>
                <a:pathLst>
                  <a:path w="58130" h="12663" extrusionOk="0">
                    <a:moveTo>
                      <a:pt x="0" y="0"/>
                    </a:moveTo>
                    <a:lnTo>
                      <a:pt x="58130" y="0"/>
                    </a:lnTo>
                    <a:lnTo>
                      <a:pt x="58130" y="12663"/>
                    </a:lnTo>
                    <a:lnTo>
                      <a:pt x="0" y="12663"/>
                    </a:lnTo>
                    <a:close/>
                  </a:path>
                </a:pathLst>
              </a:custGeom>
              <a:solidFill>
                <a:srgbClr val="ECECEC"/>
              </a:solidFill>
              <a:ln>
                <a:noFill/>
              </a:ln>
            </p:spPr>
          </p:sp>
          <p:sp>
            <p:nvSpPr>
              <p:cNvPr id="1768" name="Google Shape;1768;p24"/>
              <p:cNvSpPr txBox="1"/>
              <p:nvPr/>
            </p:nvSpPr>
            <p:spPr>
              <a:xfrm>
                <a:off x="0" y="-38100"/>
                <a:ext cx="58200" cy="50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69" name="Google Shape;1769;p24"/>
            <p:cNvGrpSpPr/>
            <p:nvPr/>
          </p:nvGrpSpPr>
          <p:grpSpPr>
            <a:xfrm>
              <a:off x="1535286" y="4159397"/>
              <a:ext cx="322223" cy="256983"/>
              <a:chOff x="0" y="-38100"/>
              <a:chExt cx="63649" cy="50763"/>
            </a:xfrm>
          </p:grpSpPr>
          <p:sp>
            <p:nvSpPr>
              <p:cNvPr id="1770" name="Google Shape;1770;p24"/>
              <p:cNvSpPr/>
              <p:nvPr/>
            </p:nvSpPr>
            <p:spPr>
              <a:xfrm>
                <a:off x="0" y="0"/>
                <a:ext cx="63649" cy="12663"/>
              </a:xfrm>
              <a:custGeom>
                <a:avLst/>
                <a:gdLst/>
                <a:ahLst/>
                <a:cxnLst/>
                <a:rect l="l" t="t" r="r" b="b"/>
                <a:pathLst>
                  <a:path w="63649" h="12663" extrusionOk="0">
                    <a:moveTo>
                      <a:pt x="0" y="0"/>
                    </a:moveTo>
                    <a:lnTo>
                      <a:pt x="63649" y="0"/>
                    </a:lnTo>
                    <a:lnTo>
                      <a:pt x="63649" y="12663"/>
                    </a:lnTo>
                    <a:lnTo>
                      <a:pt x="0" y="12663"/>
                    </a:lnTo>
                    <a:close/>
                  </a:path>
                </a:pathLst>
              </a:custGeom>
              <a:solidFill>
                <a:srgbClr val="ECECEC"/>
              </a:solidFill>
              <a:ln>
                <a:noFill/>
              </a:ln>
            </p:spPr>
          </p:sp>
          <p:sp>
            <p:nvSpPr>
              <p:cNvPr id="1771" name="Google Shape;1771;p24"/>
              <p:cNvSpPr txBox="1"/>
              <p:nvPr/>
            </p:nvSpPr>
            <p:spPr>
              <a:xfrm>
                <a:off x="0" y="-38100"/>
                <a:ext cx="63600" cy="50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72" name="Google Shape;1772;p24"/>
            <p:cNvGrpSpPr/>
            <p:nvPr/>
          </p:nvGrpSpPr>
          <p:grpSpPr>
            <a:xfrm>
              <a:off x="2590495" y="4159397"/>
              <a:ext cx="144284" cy="256983"/>
              <a:chOff x="0" y="-38100"/>
              <a:chExt cx="28500" cy="50763"/>
            </a:xfrm>
          </p:grpSpPr>
          <p:sp>
            <p:nvSpPr>
              <p:cNvPr id="1773" name="Google Shape;1773;p24"/>
              <p:cNvSpPr/>
              <p:nvPr/>
            </p:nvSpPr>
            <p:spPr>
              <a:xfrm>
                <a:off x="0" y="0"/>
                <a:ext cx="28419" cy="12663"/>
              </a:xfrm>
              <a:custGeom>
                <a:avLst/>
                <a:gdLst/>
                <a:ahLst/>
                <a:cxnLst/>
                <a:rect l="l" t="t" r="r" b="b"/>
                <a:pathLst>
                  <a:path w="28419" h="12663" extrusionOk="0">
                    <a:moveTo>
                      <a:pt x="0" y="0"/>
                    </a:moveTo>
                    <a:lnTo>
                      <a:pt x="28419" y="0"/>
                    </a:lnTo>
                    <a:lnTo>
                      <a:pt x="28419" y="12663"/>
                    </a:lnTo>
                    <a:lnTo>
                      <a:pt x="0" y="12663"/>
                    </a:lnTo>
                    <a:close/>
                  </a:path>
                </a:pathLst>
              </a:custGeom>
              <a:solidFill>
                <a:srgbClr val="ECECEC"/>
              </a:solidFill>
              <a:ln>
                <a:noFill/>
              </a:ln>
            </p:spPr>
          </p:sp>
          <p:sp>
            <p:nvSpPr>
              <p:cNvPr id="1774" name="Google Shape;1774;p24"/>
              <p:cNvSpPr txBox="1"/>
              <p:nvPr/>
            </p:nvSpPr>
            <p:spPr>
              <a:xfrm>
                <a:off x="0" y="-38100"/>
                <a:ext cx="28500" cy="507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75" name="Google Shape;1775;p24"/>
            <p:cNvGrpSpPr/>
            <p:nvPr/>
          </p:nvGrpSpPr>
          <p:grpSpPr>
            <a:xfrm>
              <a:off x="1936574" y="1435199"/>
              <a:ext cx="654581" cy="313370"/>
              <a:chOff x="0" y="-38100"/>
              <a:chExt cx="129300" cy="61899"/>
            </a:xfrm>
          </p:grpSpPr>
          <p:sp>
            <p:nvSpPr>
              <p:cNvPr id="1776" name="Google Shape;1776;p24"/>
              <p:cNvSpPr/>
              <p:nvPr/>
            </p:nvSpPr>
            <p:spPr>
              <a:xfrm>
                <a:off x="0" y="0"/>
                <a:ext cx="129170" cy="23799"/>
              </a:xfrm>
              <a:custGeom>
                <a:avLst/>
                <a:gdLst/>
                <a:ahLst/>
                <a:cxnLst/>
                <a:rect l="l" t="t" r="r" b="b"/>
                <a:pathLst>
                  <a:path w="129170" h="23799" extrusionOk="0">
                    <a:moveTo>
                      <a:pt x="0" y="0"/>
                    </a:moveTo>
                    <a:lnTo>
                      <a:pt x="129170" y="0"/>
                    </a:lnTo>
                    <a:lnTo>
                      <a:pt x="129170" y="23799"/>
                    </a:lnTo>
                    <a:lnTo>
                      <a:pt x="0" y="23799"/>
                    </a:lnTo>
                    <a:close/>
                  </a:path>
                </a:pathLst>
              </a:custGeom>
              <a:solidFill>
                <a:srgbClr val="FFFFFF"/>
              </a:solidFill>
              <a:ln>
                <a:noFill/>
              </a:ln>
            </p:spPr>
          </p:sp>
          <p:sp>
            <p:nvSpPr>
              <p:cNvPr id="1777" name="Google Shape;1777;p24"/>
              <p:cNvSpPr txBox="1"/>
              <p:nvPr/>
            </p:nvSpPr>
            <p:spPr>
              <a:xfrm>
                <a:off x="0" y="-38100"/>
                <a:ext cx="129300" cy="6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78" name="Google Shape;1778;p24"/>
            <p:cNvGrpSpPr/>
            <p:nvPr/>
          </p:nvGrpSpPr>
          <p:grpSpPr>
            <a:xfrm>
              <a:off x="1936574" y="1879070"/>
              <a:ext cx="654581" cy="313370"/>
              <a:chOff x="0" y="-38100"/>
              <a:chExt cx="129300" cy="61899"/>
            </a:xfrm>
          </p:grpSpPr>
          <p:sp>
            <p:nvSpPr>
              <p:cNvPr id="1779" name="Google Shape;1779;p24"/>
              <p:cNvSpPr/>
              <p:nvPr/>
            </p:nvSpPr>
            <p:spPr>
              <a:xfrm>
                <a:off x="0" y="0"/>
                <a:ext cx="129170" cy="23799"/>
              </a:xfrm>
              <a:custGeom>
                <a:avLst/>
                <a:gdLst/>
                <a:ahLst/>
                <a:cxnLst/>
                <a:rect l="l" t="t" r="r" b="b"/>
                <a:pathLst>
                  <a:path w="129170" h="23799" extrusionOk="0">
                    <a:moveTo>
                      <a:pt x="0" y="0"/>
                    </a:moveTo>
                    <a:lnTo>
                      <a:pt x="129170" y="0"/>
                    </a:lnTo>
                    <a:lnTo>
                      <a:pt x="129170" y="23799"/>
                    </a:lnTo>
                    <a:lnTo>
                      <a:pt x="0" y="23799"/>
                    </a:lnTo>
                    <a:close/>
                  </a:path>
                </a:pathLst>
              </a:custGeom>
              <a:solidFill>
                <a:srgbClr val="FFFFFF"/>
              </a:solidFill>
              <a:ln>
                <a:noFill/>
              </a:ln>
            </p:spPr>
          </p:sp>
          <p:sp>
            <p:nvSpPr>
              <p:cNvPr id="1780" name="Google Shape;1780;p24"/>
              <p:cNvSpPr txBox="1"/>
              <p:nvPr/>
            </p:nvSpPr>
            <p:spPr>
              <a:xfrm>
                <a:off x="0" y="-38100"/>
                <a:ext cx="129300" cy="6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81" name="Google Shape;1781;p24"/>
            <p:cNvGrpSpPr/>
            <p:nvPr/>
          </p:nvGrpSpPr>
          <p:grpSpPr>
            <a:xfrm>
              <a:off x="772139" y="1855967"/>
              <a:ext cx="654581" cy="313370"/>
              <a:chOff x="0" y="-38100"/>
              <a:chExt cx="129300" cy="61899"/>
            </a:xfrm>
          </p:grpSpPr>
          <p:sp>
            <p:nvSpPr>
              <p:cNvPr id="1782" name="Google Shape;1782;p24"/>
              <p:cNvSpPr/>
              <p:nvPr/>
            </p:nvSpPr>
            <p:spPr>
              <a:xfrm>
                <a:off x="0" y="0"/>
                <a:ext cx="129170" cy="23799"/>
              </a:xfrm>
              <a:custGeom>
                <a:avLst/>
                <a:gdLst/>
                <a:ahLst/>
                <a:cxnLst/>
                <a:rect l="l" t="t" r="r" b="b"/>
                <a:pathLst>
                  <a:path w="129170" h="23799" extrusionOk="0">
                    <a:moveTo>
                      <a:pt x="0" y="0"/>
                    </a:moveTo>
                    <a:lnTo>
                      <a:pt x="129170" y="0"/>
                    </a:lnTo>
                    <a:lnTo>
                      <a:pt x="129170" y="23799"/>
                    </a:lnTo>
                    <a:lnTo>
                      <a:pt x="0" y="23799"/>
                    </a:lnTo>
                    <a:close/>
                  </a:path>
                </a:pathLst>
              </a:custGeom>
              <a:solidFill>
                <a:srgbClr val="FFFFFF"/>
              </a:solidFill>
              <a:ln>
                <a:noFill/>
              </a:ln>
            </p:spPr>
          </p:sp>
          <p:sp>
            <p:nvSpPr>
              <p:cNvPr id="1783" name="Google Shape;1783;p24"/>
              <p:cNvSpPr txBox="1"/>
              <p:nvPr/>
            </p:nvSpPr>
            <p:spPr>
              <a:xfrm>
                <a:off x="0" y="-38100"/>
                <a:ext cx="129300" cy="6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84" name="Google Shape;1784;p24"/>
            <p:cNvGrpSpPr/>
            <p:nvPr/>
          </p:nvGrpSpPr>
          <p:grpSpPr>
            <a:xfrm>
              <a:off x="1609613" y="706327"/>
              <a:ext cx="654581" cy="338681"/>
              <a:chOff x="0" y="-38100"/>
              <a:chExt cx="129300" cy="66900"/>
            </a:xfrm>
          </p:grpSpPr>
          <p:sp>
            <p:nvSpPr>
              <p:cNvPr id="1785" name="Google Shape;1785;p24"/>
              <p:cNvSpPr/>
              <p:nvPr/>
            </p:nvSpPr>
            <p:spPr>
              <a:xfrm>
                <a:off x="0" y="0"/>
                <a:ext cx="129170" cy="28766"/>
              </a:xfrm>
              <a:custGeom>
                <a:avLst/>
                <a:gdLst/>
                <a:ahLst/>
                <a:cxnLst/>
                <a:rect l="l" t="t" r="r" b="b"/>
                <a:pathLst>
                  <a:path w="129170" h="28766" extrusionOk="0">
                    <a:moveTo>
                      <a:pt x="0" y="0"/>
                    </a:moveTo>
                    <a:lnTo>
                      <a:pt x="129170" y="0"/>
                    </a:lnTo>
                    <a:lnTo>
                      <a:pt x="129170" y="28766"/>
                    </a:lnTo>
                    <a:lnTo>
                      <a:pt x="0" y="28766"/>
                    </a:lnTo>
                    <a:close/>
                  </a:path>
                </a:pathLst>
              </a:custGeom>
              <a:solidFill>
                <a:srgbClr val="FFFFFF"/>
              </a:solidFill>
              <a:ln>
                <a:noFill/>
              </a:ln>
            </p:spPr>
          </p:sp>
          <p:sp>
            <p:nvSpPr>
              <p:cNvPr id="1786" name="Google Shape;1786;p24"/>
              <p:cNvSpPr txBox="1"/>
              <p:nvPr/>
            </p:nvSpPr>
            <p:spPr>
              <a:xfrm>
                <a:off x="0" y="-38100"/>
                <a:ext cx="129300" cy="66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87" name="Google Shape;1787;p24"/>
            <p:cNvGrpSpPr/>
            <p:nvPr/>
          </p:nvGrpSpPr>
          <p:grpSpPr>
            <a:xfrm>
              <a:off x="426350" y="706327"/>
              <a:ext cx="507992" cy="338681"/>
              <a:chOff x="0" y="-38100"/>
              <a:chExt cx="100344" cy="66900"/>
            </a:xfrm>
          </p:grpSpPr>
          <p:sp>
            <p:nvSpPr>
              <p:cNvPr id="1788" name="Google Shape;1788;p24"/>
              <p:cNvSpPr/>
              <p:nvPr/>
            </p:nvSpPr>
            <p:spPr>
              <a:xfrm>
                <a:off x="0" y="0"/>
                <a:ext cx="100344" cy="28766"/>
              </a:xfrm>
              <a:custGeom>
                <a:avLst/>
                <a:gdLst/>
                <a:ahLst/>
                <a:cxnLst/>
                <a:rect l="l" t="t" r="r" b="b"/>
                <a:pathLst>
                  <a:path w="100344" h="28766" extrusionOk="0">
                    <a:moveTo>
                      <a:pt x="0" y="0"/>
                    </a:moveTo>
                    <a:lnTo>
                      <a:pt x="100344" y="0"/>
                    </a:lnTo>
                    <a:lnTo>
                      <a:pt x="100344" y="28766"/>
                    </a:lnTo>
                    <a:lnTo>
                      <a:pt x="0" y="28766"/>
                    </a:lnTo>
                    <a:close/>
                  </a:path>
                </a:pathLst>
              </a:custGeom>
              <a:solidFill>
                <a:srgbClr val="FFFFFF"/>
              </a:solidFill>
              <a:ln>
                <a:noFill/>
              </a:ln>
            </p:spPr>
          </p:sp>
          <p:sp>
            <p:nvSpPr>
              <p:cNvPr id="1789" name="Google Shape;1789;p24"/>
              <p:cNvSpPr txBox="1"/>
              <p:nvPr/>
            </p:nvSpPr>
            <p:spPr>
              <a:xfrm>
                <a:off x="0" y="-38100"/>
                <a:ext cx="100200" cy="66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90" name="Google Shape;1790;p24"/>
            <p:cNvGrpSpPr/>
            <p:nvPr/>
          </p:nvGrpSpPr>
          <p:grpSpPr>
            <a:xfrm>
              <a:off x="863260" y="2556653"/>
              <a:ext cx="507991" cy="338681"/>
              <a:chOff x="0" y="-38100"/>
              <a:chExt cx="100344" cy="66900"/>
            </a:xfrm>
          </p:grpSpPr>
          <p:sp>
            <p:nvSpPr>
              <p:cNvPr id="1791" name="Google Shape;1791;p24"/>
              <p:cNvSpPr/>
              <p:nvPr/>
            </p:nvSpPr>
            <p:spPr>
              <a:xfrm>
                <a:off x="0" y="0"/>
                <a:ext cx="100344" cy="28766"/>
              </a:xfrm>
              <a:custGeom>
                <a:avLst/>
                <a:gdLst/>
                <a:ahLst/>
                <a:cxnLst/>
                <a:rect l="l" t="t" r="r" b="b"/>
                <a:pathLst>
                  <a:path w="100344" h="28766" extrusionOk="0">
                    <a:moveTo>
                      <a:pt x="0" y="0"/>
                    </a:moveTo>
                    <a:lnTo>
                      <a:pt x="100344" y="0"/>
                    </a:lnTo>
                    <a:lnTo>
                      <a:pt x="100344" y="28766"/>
                    </a:lnTo>
                    <a:lnTo>
                      <a:pt x="0" y="28766"/>
                    </a:lnTo>
                    <a:close/>
                  </a:path>
                </a:pathLst>
              </a:custGeom>
              <a:solidFill>
                <a:srgbClr val="FFFFFF"/>
              </a:solidFill>
              <a:ln>
                <a:noFill/>
              </a:ln>
            </p:spPr>
          </p:sp>
          <p:sp>
            <p:nvSpPr>
              <p:cNvPr id="1792" name="Google Shape;1792;p24"/>
              <p:cNvSpPr txBox="1"/>
              <p:nvPr/>
            </p:nvSpPr>
            <p:spPr>
              <a:xfrm>
                <a:off x="0" y="-38100"/>
                <a:ext cx="100200" cy="66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93" name="Google Shape;1793;p24"/>
            <p:cNvGrpSpPr/>
            <p:nvPr/>
          </p:nvGrpSpPr>
          <p:grpSpPr>
            <a:xfrm>
              <a:off x="1535286" y="3529810"/>
              <a:ext cx="322223" cy="308300"/>
              <a:chOff x="0" y="-38100"/>
              <a:chExt cx="63649" cy="60900"/>
            </a:xfrm>
          </p:grpSpPr>
          <p:sp>
            <p:nvSpPr>
              <p:cNvPr id="1794" name="Google Shape;1794;p24"/>
              <p:cNvSpPr/>
              <p:nvPr/>
            </p:nvSpPr>
            <p:spPr>
              <a:xfrm>
                <a:off x="0" y="0"/>
                <a:ext cx="63649" cy="22748"/>
              </a:xfrm>
              <a:custGeom>
                <a:avLst/>
                <a:gdLst/>
                <a:ahLst/>
                <a:cxnLst/>
                <a:rect l="l" t="t" r="r" b="b"/>
                <a:pathLst>
                  <a:path w="63649" h="22748" extrusionOk="0">
                    <a:moveTo>
                      <a:pt x="0" y="0"/>
                    </a:moveTo>
                    <a:lnTo>
                      <a:pt x="63649" y="0"/>
                    </a:lnTo>
                    <a:lnTo>
                      <a:pt x="63649" y="22748"/>
                    </a:lnTo>
                    <a:lnTo>
                      <a:pt x="0" y="22748"/>
                    </a:lnTo>
                    <a:close/>
                  </a:path>
                </a:pathLst>
              </a:custGeom>
              <a:solidFill>
                <a:srgbClr val="FFFFFF"/>
              </a:solidFill>
              <a:ln>
                <a:noFill/>
              </a:ln>
            </p:spPr>
          </p:sp>
          <p:sp>
            <p:nvSpPr>
              <p:cNvPr id="1795" name="Google Shape;1795;p24"/>
              <p:cNvSpPr txBox="1"/>
              <p:nvPr/>
            </p:nvSpPr>
            <p:spPr>
              <a:xfrm>
                <a:off x="0" y="-38100"/>
                <a:ext cx="63600" cy="60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96" name="Google Shape;1796;p24"/>
            <p:cNvGrpSpPr/>
            <p:nvPr/>
          </p:nvGrpSpPr>
          <p:grpSpPr>
            <a:xfrm>
              <a:off x="2602577" y="3529810"/>
              <a:ext cx="152044" cy="308300"/>
              <a:chOff x="0" y="-38100"/>
              <a:chExt cx="30034" cy="60900"/>
            </a:xfrm>
          </p:grpSpPr>
          <p:sp>
            <p:nvSpPr>
              <p:cNvPr id="1797" name="Google Shape;1797;p24"/>
              <p:cNvSpPr/>
              <p:nvPr/>
            </p:nvSpPr>
            <p:spPr>
              <a:xfrm>
                <a:off x="0" y="0"/>
                <a:ext cx="30034" cy="22748"/>
              </a:xfrm>
              <a:custGeom>
                <a:avLst/>
                <a:gdLst/>
                <a:ahLst/>
                <a:cxnLst/>
                <a:rect l="l" t="t" r="r" b="b"/>
                <a:pathLst>
                  <a:path w="30034" h="22748" extrusionOk="0">
                    <a:moveTo>
                      <a:pt x="0" y="0"/>
                    </a:moveTo>
                    <a:lnTo>
                      <a:pt x="30034" y="0"/>
                    </a:lnTo>
                    <a:lnTo>
                      <a:pt x="30034" y="22748"/>
                    </a:lnTo>
                    <a:lnTo>
                      <a:pt x="0" y="22748"/>
                    </a:lnTo>
                    <a:close/>
                  </a:path>
                </a:pathLst>
              </a:custGeom>
              <a:solidFill>
                <a:srgbClr val="FFFFFF"/>
              </a:solidFill>
              <a:ln>
                <a:noFill/>
              </a:ln>
            </p:spPr>
          </p:sp>
          <p:sp>
            <p:nvSpPr>
              <p:cNvPr id="1798" name="Google Shape;1798;p24"/>
              <p:cNvSpPr txBox="1"/>
              <p:nvPr/>
            </p:nvSpPr>
            <p:spPr>
              <a:xfrm>
                <a:off x="0" y="-38100"/>
                <a:ext cx="30000" cy="60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799" name="Google Shape;1799;p24"/>
            <p:cNvGrpSpPr/>
            <p:nvPr/>
          </p:nvGrpSpPr>
          <p:grpSpPr>
            <a:xfrm>
              <a:off x="1967387" y="2567722"/>
              <a:ext cx="654581" cy="313370"/>
              <a:chOff x="0" y="-38100"/>
              <a:chExt cx="129300" cy="61899"/>
            </a:xfrm>
          </p:grpSpPr>
          <p:sp>
            <p:nvSpPr>
              <p:cNvPr id="1800" name="Google Shape;1800;p24"/>
              <p:cNvSpPr/>
              <p:nvPr/>
            </p:nvSpPr>
            <p:spPr>
              <a:xfrm>
                <a:off x="0" y="0"/>
                <a:ext cx="129170" cy="23799"/>
              </a:xfrm>
              <a:custGeom>
                <a:avLst/>
                <a:gdLst/>
                <a:ahLst/>
                <a:cxnLst/>
                <a:rect l="l" t="t" r="r" b="b"/>
                <a:pathLst>
                  <a:path w="129170" h="23799" extrusionOk="0">
                    <a:moveTo>
                      <a:pt x="0" y="0"/>
                    </a:moveTo>
                    <a:lnTo>
                      <a:pt x="129170" y="0"/>
                    </a:lnTo>
                    <a:lnTo>
                      <a:pt x="129170" y="23799"/>
                    </a:lnTo>
                    <a:lnTo>
                      <a:pt x="0" y="23799"/>
                    </a:lnTo>
                    <a:close/>
                  </a:path>
                </a:pathLst>
              </a:custGeom>
              <a:solidFill>
                <a:srgbClr val="FFFFFF"/>
              </a:solidFill>
              <a:ln>
                <a:noFill/>
              </a:ln>
            </p:spPr>
          </p:sp>
          <p:sp>
            <p:nvSpPr>
              <p:cNvPr id="1801" name="Google Shape;1801;p24"/>
              <p:cNvSpPr txBox="1"/>
              <p:nvPr/>
            </p:nvSpPr>
            <p:spPr>
              <a:xfrm>
                <a:off x="0" y="-38100"/>
                <a:ext cx="129300" cy="618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802" name="Google Shape;1802;p24"/>
            <p:cNvSpPr txBox="1"/>
            <p:nvPr/>
          </p:nvSpPr>
          <p:spPr>
            <a:xfrm>
              <a:off x="1701113" y="950025"/>
              <a:ext cx="300000" cy="92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400"/>
                <a:buFont typeface="Arial"/>
                <a:buNone/>
              </a:pPr>
              <a:r>
                <a:rPr lang="en-US" sz="400" b="1" i="0" u="none" strike="noStrike" cap="none">
                  <a:solidFill>
                    <a:srgbClr val="00234F"/>
                  </a:solidFill>
                  <a:latin typeface="Inter"/>
                  <a:ea typeface="Inter"/>
                  <a:cs typeface="Inter"/>
                  <a:sym typeface="Inter"/>
                </a:rPr>
                <a:t>point</a:t>
              </a:r>
              <a:endParaRPr sz="1200" b="0" i="0" u="none" strike="noStrike" cap="none">
                <a:solidFill>
                  <a:srgbClr val="000000"/>
                </a:solidFill>
                <a:latin typeface="Arial"/>
                <a:ea typeface="Arial"/>
                <a:cs typeface="Arial"/>
                <a:sym typeface="Arial"/>
              </a:endParaRPr>
            </a:p>
          </p:txBody>
        </p:sp>
        <p:sp>
          <p:nvSpPr>
            <p:cNvPr id="1803" name="Google Shape;1803;p24"/>
            <p:cNvSpPr txBox="1"/>
            <p:nvPr/>
          </p:nvSpPr>
          <p:spPr>
            <a:xfrm>
              <a:off x="2393063" y="2785704"/>
              <a:ext cx="300000" cy="92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400"/>
                <a:buFont typeface="Arial"/>
                <a:buNone/>
              </a:pPr>
              <a:r>
                <a:rPr lang="en-US" sz="400" b="1" i="0" u="none" strike="noStrike" cap="none">
                  <a:solidFill>
                    <a:srgbClr val="00234F"/>
                  </a:solidFill>
                  <a:latin typeface="Inter"/>
                  <a:ea typeface="Inter"/>
                  <a:cs typeface="Inter"/>
                  <a:sym typeface="Inter"/>
                </a:rPr>
                <a:t>point</a:t>
              </a:r>
              <a:endParaRPr sz="1200" b="0" i="0" u="none" strike="noStrike" cap="none">
                <a:solidFill>
                  <a:srgbClr val="000000"/>
                </a:solidFill>
                <a:latin typeface="Arial"/>
                <a:ea typeface="Arial"/>
                <a:cs typeface="Arial"/>
                <a:sym typeface="Arial"/>
              </a:endParaRPr>
            </a:p>
          </p:txBody>
        </p:sp>
        <p:sp>
          <p:nvSpPr>
            <p:cNvPr id="1804" name="Google Shape;1804;p24"/>
            <p:cNvSpPr txBox="1"/>
            <p:nvPr/>
          </p:nvSpPr>
          <p:spPr>
            <a:xfrm>
              <a:off x="1162305" y="2785704"/>
              <a:ext cx="300000" cy="92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400"/>
                <a:buFont typeface="Arial"/>
                <a:buNone/>
              </a:pPr>
              <a:r>
                <a:rPr lang="en-US" sz="400" b="1" i="0" u="none" strike="noStrike" cap="none">
                  <a:solidFill>
                    <a:srgbClr val="00234F"/>
                  </a:solidFill>
                  <a:latin typeface="Inter"/>
                  <a:ea typeface="Inter"/>
                  <a:cs typeface="Inter"/>
                  <a:sym typeface="Inter"/>
                </a:rPr>
                <a:t>point</a:t>
              </a:r>
              <a:endParaRPr sz="1200" b="0" i="0" u="none" strike="noStrike" cap="none">
                <a:solidFill>
                  <a:srgbClr val="000000"/>
                </a:solidFill>
                <a:latin typeface="Arial"/>
                <a:ea typeface="Arial"/>
                <a:cs typeface="Arial"/>
                <a:sym typeface="Arial"/>
              </a:endParaRPr>
            </a:p>
          </p:txBody>
        </p:sp>
      </p:grpSp>
      <p:sp>
        <p:nvSpPr>
          <p:cNvPr id="1805" name="Google Shape;1805;p24"/>
          <p:cNvSpPr/>
          <p:nvPr/>
        </p:nvSpPr>
        <p:spPr>
          <a:xfrm>
            <a:off x="360892" y="3859609"/>
            <a:ext cx="941000" cy="664113"/>
          </a:xfrm>
          <a:custGeom>
            <a:avLst/>
            <a:gdLst/>
            <a:ahLst/>
            <a:cxnLst/>
            <a:rect l="l" t="t" r="r" b="b"/>
            <a:pathLst>
              <a:path w="1057303" h="746194" extrusionOk="0">
                <a:moveTo>
                  <a:pt x="0" y="0"/>
                </a:moveTo>
                <a:lnTo>
                  <a:pt x="1057303" y="0"/>
                </a:lnTo>
                <a:lnTo>
                  <a:pt x="1057303" y="746195"/>
                </a:lnTo>
                <a:lnTo>
                  <a:pt x="0" y="746195"/>
                </a:lnTo>
                <a:lnTo>
                  <a:pt x="0" y="0"/>
                </a:lnTo>
                <a:close/>
              </a:path>
            </a:pathLst>
          </a:custGeom>
          <a:blipFill rotWithShape="1">
            <a:blip r:embed="rId14" cstate="email">
              <a:alphaModFix/>
              <a:extLst>
                <a:ext uri="{28A0092B-C50C-407E-A947-70E740481C1C}">
                  <a14:useLocalDpi xmlns:a14="http://schemas.microsoft.com/office/drawing/2010/main"/>
                </a:ext>
              </a:extLst>
            </a:blip>
            <a:stretch>
              <a:fillRect/>
            </a:stretch>
          </a:blipFill>
          <a:ln>
            <a:noFill/>
          </a:ln>
        </p:spPr>
      </p:sp>
      <p:sp>
        <p:nvSpPr>
          <p:cNvPr id="1806" name="Google Shape;1806;p24"/>
          <p:cNvSpPr/>
          <p:nvPr/>
        </p:nvSpPr>
        <p:spPr>
          <a:xfrm>
            <a:off x="4444770" y="4520586"/>
            <a:ext cx="1740890" cy="1740890"/>
          </a:xfrm>
          <a:custGeom>
            <a:avLst/>
            <a:gdLst/>
            <a:ahLst/>
            <a:cxnLst/>
            <a:rect l="l" t="t" r="r" b="b"/>
            <a:pathLst>
              <a:path w="1956056" h="1956056" extrusionOk="0">
                <a:moveTo>
                  <a:pt x="0" y="0"/>
                </a:moveTo>
                <a:lnTo>
                  <a:pt x="1956056" y="0"/>
                </a:lnTo>
                <a:lnTo>
                  <a:pt x="1956056" y="1956056"/>
                </a:lnTo>
                <a:lnTo>
                  <a:pt x="0" y="1956056"/>
                </a:lnTo>
                <a:lnTo>
                  <a:pt x="0" y="0"/>
                </a:lnTo>
                <a:close/>
              </a:path>
            </a:pathLst>
          </a:custGeom>
          <a:blipFill rotWithShape="1">
            <a:blip r:embed="rId15">
              <a:alphaModFix/>
            </a:blip>
            <a:stretch>
              <a:fillRect/>
            </a:stretch>
          </a:blipFill>
          <a:ln>
            <a:noFill/>
          </a:ln>
        </p:spPr>
      </p:sp>
      <p:sp>
        <p:nvSpPr>
          <p:cNvPr id="1807" name="Google Shape;1807;p24"/>
          <p:cNvSpPr/>
          <p:nvPr/>
        </p:nvSpPr>
        <p:spPr>
          <a:xfrm>
            <a:off x="5799368" y="4006796"/>
            <a:ext cx="575636" cy="523110"/>
          </a:xfrm>
          <a:custGeom>
            <a:avLst/>
            <a:gdLst/>
            <a:ahLst/>
            <a:cxnLst/>
            <a:rect l="l" t="t" r="r" b="b"/>
            <a:pathLst>
              <a:path w="646782" h="587764" extrusionOk="0">
                <a:moveTo>
                  <a:pt x="0" y="0"/>
                </a:moveTo>
                <a:lnTo>
                  <a:pt x="646782" y="0"/>
                </a:lnTo>
                <a:lnTo>
                  <a:pt x="646782" y="587763"/>
                </a:lnTo>
                <a:lnTo>
                  <a:pt x="0" y="587763"/>
                </a:lnTo>
                <a:lnTo>
                  <a:pt x="0" y="0"/>
                </a:lnTo>
                <a:close/>
              </a:path>
            </a:pathLst>
          </a:custGeom>
          <a:blipFill rotWithShape="1">
            <a:blip r:embed="rId16" cstate="email">
              <a:alphaModFix/>
              <a:extLst>
                <a:ext uri="{28A0092B-C50C-407E-A947-70E740481C1C}">
                  <a14:useLocalDpi xmlns:a14="http://schemas.microsoft.com/office/drawing/2010/main"/>
                </a:ext>
              </a:extLst>
            </a:blip>
            <a:stretch>
              <a:fillRect/>
            </a:stretch>
          </a:blipFill>
          <a:ln>
            <a:noFill/>
          </a:ln>
        </p:spPr>
      </p:sp>
      <p:grpSp>
        <p:nvGrpSpPr>
          <p:cNvPr id="1808" name="Google Shape;1808;p24"/>
          <p:cNvGrpSpPr/>
          <p:nvPr/>
        </p:nvGrpSpPr>
        <p:grpSpPr>
          <a:xfrm>
            <a:off x="10159434" y="3804312"/>
            <a:ext cx="1876975" cy="3713008"/>
            <a:chOff x="0" y="0"/>
            <a:chExt cx="2620010" cy="5182870"/>
          </a:xfrm>
        </p:grpSpPr>
        <p:sp>
          <p:nvSpPr>
            <p:cNvPr id="1809" name="Google Shape;1809;p24"/>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0" name="Google Shape;1810;p24"/>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17"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1" name="Google Shape;1811;p24"/>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2" name="Google Shape;1812;p24"/>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3" name="Google Shape;1813;p24"/>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4" name="Google Shape;1814;p24"/>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5" name="Google Shape;1815;p24"/>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6" name="Google Shape;1816;p24"/>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7" name="Google Shape;1817;p24"/>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18" name="Google Shape;1818;p24"/>
          <p:cNvGrpSpPr/>
          <p:nvPr/>
        </p:nvGrpSpPr>
        <p:grpSpPr>
          <a:xfrm>
            <a:off x="7147626" y="3804312"/>
            <a:ext cx="1877244" cy="3713539"/>
            <a:chOff x="0" y="0"/>
            <a:chExt cx="2815725" cy="5570030"/>
          </a:xfrm>
        </p:grpSpPr>
        <p:grpSp>
          <p:nvGrpSpPr>
            <p:cNvPr id="1819" name="Google Shape;1819;p24"/>
            <p:cNvGrpSpPr/>
            <p:nvPr/>
          </p:nvGrpSpPr>
          <p:grpSpPr>
            <a:xfrm>
              <a:off x="0" y="0"/>
              <a:ext cx="2815725" cy="5570030"/>
              <a:chOff x="0" y="0"/>
              <a:chExt cx="2620010" cy="5182870"/>
            </a:xfrm>
          </p:grpSpPr>
          <p:sp>
            <p:nvSpPr>
              <p:cNvPr id="1820" name="Google Shape;1820;p24"/>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1" name="Google Shape;1821;p24"/>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18"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2" name="Google Shape;1822;p24"/>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3" name="Google Shape;1823;p24"/>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4" name="Google Shape;1824;p24"/>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5" name="Google Shape;1825;p24"/>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6" name="Google Shape;1826;p24"/>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7" name="Google Shape;1827;p24"/>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8" name="Google Shape;1828;p24"/>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29" name="Google Shape;1829;p24"/>
            <p:cNvGrpSpPr/>
            <p:nvPr/>
          </p:nvGrpSpPr>
          <p:grpSpPr>
            <a:xfrm>
              <a:off x="330718" y="3049687"/>
              <a:ext cx="1569076" cy="353862"/>
              <a:chOff x="0" y="-38100"/>
              <a:chExt cx="309941" cy="69900"/>
            </a:xfrm>
          </p:grpSpPr>
          <p:sp>
            <p:nvSpPr>
              <p:cNvPr id="1830" name="Google Shape;1830;p24"/>
              <p:cNvSpPr/>
              <p:nvPr/>
            </p:nvSpPr>
            <p:spPr>
              <a:xfrm>
                <a:off x="0" y="0"/>
                <a:ext cx="309941" cy="31677"/>
              </a:xfrm>
              <a:custGeom>
                <a:avLst/>
                <a:gdLst/>
                <a:ahLst/>
                <a:cxnLst/>
                <a:rect l="l" t="t" r="r" b="b"/>
                <a:pathLst>
                  <a:path w="309941" h="31677" extrusionOk="0">
                    <a:moveTo>
                      <a:pt x="0" y="0"/>
                    </a:moveTo>
                    <a:lnTo>
                      <a:pt x="309941" y="0"/>
                    </a:lnTo>
                    <a:lnTo>
                      <a:pt x="309941" y="31677"/>
                    </a:lnTo>
                    <a:lnTo>
                      <a:pt x="0" y="31677"/>
                    </a:lnTo>
                    <a:close/>
                  </a:path>
                </a:pathLst>
              </a:custGeom>
              <a:solidFill>
                <a:srgbClr val="293277"/>
              </a:solidFill>
              <a:ln>
                <a:noFill/>
              </a:ln>
            </p:spPr>
          </p:sp>
          <p:sp>
            <p:nvSpPr>
              <p:cNvPr id="1831" name="Google Shape;1831;p24"/>
              <p:cNvSpPr txBox="1"/>
              <p:nvPr/>
            </p:nvSpPr>
            <p:spPr>
              <a:xfrm>
                <a:off x="0" y="-38100"/>
                <a:ext cx="309900" cy="69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1832" name="Google Shape;1832;p24"/>
            <p:cNvGrpSpPr/>
            <p:nvPr/>
          </p:nvGrpSpPr>
          <p:grpSpPr>
            <a:xfrm>
              <a:off x="243439" y="4611011"/>
              <a:ext cx="646117" cy="385763"/>
              <a:chOff x="0" y="-38100"/>
              <a:chExt cx="127628" cy="76200"/>
            </a:xfrm>
          </p:grpSpPr>
          <p:sp>
            <p:nvSpPr>
              <p:cNvPr id="1833" name="Google Shape;1833;p24"/>
              <p:cNvSpPr/>
              <p:nvPr/>
            </p:nvSpPr>
            <p:spPr>
              <a:xfrm>
                <a:off x="0" y="0"/>
                <a:ext cx="127628" cy="38015"/>
              </a:xfrm>
              <a:custGeom>
                <a:avLst/>
                <a:gdLst/>
                <a:ahLst/>
                <a:cxnLst/>
                <a:rect l="l" t="t" r="r" b="b"/>
                <a:pathLst>
                  <a:path w="127628" h="38015" extrusionOk="0">
                    <a:moveTo>
                      <a:pt x="0" y="0"/>
                    </a:moveTo>
                    <a:lnTo>
                      <a:pt x="127628" y="0"/>
                    </a:lnTo>
                    <a:lnTo>
                      <a:pt x="127628" y="38015"/>
                    </a:lnTo>
                    <a:lnTo>
                      <a:pt x="0" y="38015"/>
                    </a:lnTo>
                    <a:close/>
                  </a:path>
                </a:pathLst>
              </a:custGeom>
              <a:solidFill>
                <a:srgbClr val="FFFFFF"/>
              </a:solidFill>
              <a:ln>
                <a:noFill/>
              </a:ln>
            </p:spPr>
          </p:sp>
          <p:sp>
            <p:nvSpPr>
              <p:cNvPr id="1834" name="Google Shape;1834;p24"/>
              <p:cNvSpPr txBox="1"/>
              <p:nvPr/>
            </p:nvSpPr>
            <p:spPr>
              <a:xfrm>
                <a:off x="0" y="-38100"/>
                <a:ext cx="127500" cy="762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grpSp>
        <p:nvGrpSpPr>
          <p:cNvPr id="1835" name="Google Shape;1835;p24"/>
          <p:cNvGrpSpPr/>
          <p:nvPr/>
        </p:nvGrpSpPr>
        <p:grpSpPr>
          <a:xfrm>
            <a:off x="10368686" y="4443416"/>
            <a:ext cx="500175" cy="277417"/>
            <a:chOff x="0" y="-38100"/>
            <a:chExt cx="148200" cy="82200"/>
          </a:xfrm>
        </p:grpSpPr>
        <p:sp>
          <p:nvSpPr>
            <p:cNvPr id="1836" name="Google Shape;1836;p24"/>
            <p:cNvSpPr/>
            <p:nvPr/>
          </p:nvSpPr>
          <p:spPr>
            <a:xfrm>
              <a:off x="0" y="0"/>
              <a:ext cx="148175" cy="44057"/>
            </a:xfrm>
            <a:custGeom>
              <a:avLst/>
              <a:gdLst/>
              <a:ahLst/>
              <a:cxnLst/>
              <a:rect l="l" t="t" r="r" b="b"/>
              <a:pathLst>
                <a:path w="148175" h="44057" extrusionOk="0">
                  <a:moveTo>
                    <a:pt x="0" y="0"/>
                  </a:moveTo>
                  <a:lnTo>
                    <a:pt x="148175" y="0"/>
                  </a:lnTo>
                  <a:lnTo>
                    <a:pt x="148175" y="44057"/>
                  </a:lnTo>
                  <a:lnTo>
                    <a:pt x="0" y="44057"/>
                  </a:lnTo>
                  <a:close/>
                </a:path>
              </a:pathLst>
            </a:custGeom>
            <a:solidFill>
              <a:srgbClr val="F8FAFA"/>
            </a:solidFill>
            <a:ln>
              <a:noFill/>
            </a:ln>
          </p:spPr>
        </p:sp>
        <p:sp>
          <p:nvSpPr>
            <p:cNvPr id="1837" name="Google Shape;1837;p24"/>
            <p:cNvSpPr txBox="1"/>
            <p:nvPr/>
          </p:nvSpPr>
          <p:spPr>
            <a:xfrm>
              <a:off x="0" y="-38100"/>
              <a:ext cx="148200" cy="822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838" name="Google Shape;1838;p24"/>
          <p:cNvSpPr txBox="1"/>
          <p:nvPr/>
        </p:nvSpPr>
        <p:spPr>
          <a:xfrm>
            <a:off x="1922420" y="3177062"/>
            <a:ext cx="1599300" cy="2463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Download App</a:t>
            </a:r>
            <a:endParaRPr sz="1200" b="0" i="0" u="none" strike="noStrike" cap="none">
              <a:solidFill>
                <a:srgbClr val="000000"/>
              </a:solidFill>
              <a:latin typeface="Arial"/>
              <a:ea typeface="Arial"/>
              <a:cs typeface="Arial"/>
              <a:sym typeface="Arial"/>
            </a:endParaRPr>
          </a:p>
        </p:txBody>
      </p:sp>
      <p:sp>
        <p:nvSpPr>
          <p:cNvPr id="1839" name="Google Shape;1839;p24"/>
          <p:cNvSpPr txBox="1"/>
          <p:nvPr/>
        </p:nvSpPr>
        <p:spPr>
          <a:xfrm>
            <a:off x="5013756" y="3177062"/>
            <a:ext cx="1292700" cy="541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Check-in at the store</a:t>
            </a:r>
            <a:endParaRPr sz="1200" b="0" i="0" u="none" strike="noStrike" cap="none">
              <a:solidFill>
                <a:srgbClr val="000000"/>
              </a:solidFill>
              <a:latin typeface="Arial"/>
              <a:ea typeface="Arial"/>
              <a:cs typeface="Arial"/>
              <a:sym typeface="Arial"/>
            </a:endParaRPr>
          </a:p>
        </p:txBody>
      </p:sp>
      <p:sp>
        <p:nvSpPr>
          <p:cNvPr id="1840" name="Google Shape;1840;p24"/>
          <p:cNvSpPr txBox="1"/>
          <p:nvPr/>
        </p:nvSpPr>
        <p:spPr>
          <a:xfrm>
            <a:off x="7798850" y="3177062"/>
            <a:ext cx="1486800" cy="246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Scan Products</a:t>
            </a:r>
            <a:endParaRPr sz="1200" b="0" i="0" u="none" strike="noStrike" cap="none">
              <a:solidFill>
                <a:srgbClr val="000000"/>
              </a:solidFill>
              <a:latin typeface="Arial"/>
              <a:ea typeface="Arial"/>
              <a:cs typeface="Arial"/>
              <a:sym typeface="Arial"/>
            </a:endParaRPr>
          </a:p>
        </p:txBody>
      </p:sp>
      <p:sp>
        <p:nvSpPr>
          <p:cNvPr id="1841" name="Google Shape;1841;p24"/>
          <p:cNvSpPr txBox="1"/>
          <p:nvPr/>
        </p:nvSpPr>
        <p:spPr>
          <a:xfrm>
            <a:off x="10628892" y="3179384"/>
            <a:ext cx="1785600" cy="246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Process Payment </a:t>
            </a:r>
            <a:endParaRPr sz="1200" b="0" i="0" u="none" strike="noStrike" cap="none">
              <a:solidFill>
                <a:srgbClr val="000000"/>
              </a:solidFill>
              <a:latin typeface="Arial"/>
              <a:ea typeface="Arial"/>
              <a:cs typeface="Arial"/>
              <a:sym typeface="Arial"/>
            </a:endParaRPr>
          </a:p>
        </p:txBody>
      </p:sp>
      <p:sp>
        <p:nvSpPr>
          <p:cNvPr id="1842" name="Google Shape;1842;p24"/>
          <p:cNvSpPr txBox="1"/>
          <p:nvPr/>
        </p:nvSpPr>
        <p:spPr>
          <a:xfrm>
            <a:off x="13736154" y="3177062"/>
            <a:ext cx="1231800" cy="246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Check-out</a:t>
            </a:r>
            <a:endParaRPr sz="1200" b="0" i="0" u="none" strike="noStrike" cap="none">
              <a:solidFill>
                <a:srgbClr val="000000"/>
              </a:solidFill>
              <a:latin typeface="Arial"/>
              <a:ea typeface="Arial"/>
              <a:cs typeface="Arial"/>
              <a:sym typeface="Arial"/>
            </a:endParaRPr>
          </a:p>
        </p:txBody>
      </p:sp>
      <p:sp>
        <p:nvSpPr>
          <p:cNvPr id="1843" name="Google Shape;1843;p24"/>
          <p:cNvSpPr txBox="1"/>
          <p:nvPr/>
        </p:nvSpPr>
        <p:spPr>
          <a:xfrm>
            <a:off x="830805" y="2352228"/>
            <a:ext cx="14510700" cy="384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2500"/>
              <a:buFont typeface="Arial"/>
              <a:buNone/>
            </a:pPr>
            <a:r>
              <a:rPr lang="en-US" sz="2500" b="1" i="0" u="none" strike="noStrike" cap="none">
                <a:solidFill>
                  <a:srgbClr val="00234F"/>
                </a:solidFill>
                <a:latin typeface="Inter"/>
                <a:ea typeface="Inter"/>
                <a:cs typeface="Inter"/>
                <a:sym typeface="Inter"/>
              </a:rPr>
              <a:t>How Scan&amp;Go Feature Works</a:t>
            </a:r>
            <a:endParaRPr sz="1200" b="0" i="0" u="none" strike="noStrike" cap="none">
              <a:solidFill>
                <a:srgbClr val="000000"/>
              </a:solidFill>
              <a:latin typeface="Arial"/>
              <a:ea typeface="Arial"/>
              <a:cs typeface="Arial"/>
              <a:sym typeface="Arial"/>
            </a:endParaRPr>
          </a:p>
        </p:txBody>
      </p:sp>
      <p:sp>
        <p:nvSpPr>
          <p:cNvPr id="1844" name="Google Shape;1844;p24"/>
          <p:cNvSpPr txBox="1"/>
          <p:nvPr/>
        </p:nvSpPr>
        <p:spPr>
          <a:xfrm>
            <a:off x="1132247" y="1791735"/>
            <a:ext cx="12113100" cy="246300"/>
          </a:xfrm>
          <a:prstGeom prst="rect">
            <a:avLst/>
          </a:prstGeom>
          <a:noFill/>
          <a:ln>
            <a:noFill/>
          </a:ln>
        </p:spPr>
        <p:txBody>
          <a:bodyPr spcFirstLastPara="1" wrap="square" lIns="0" tIns="0" rIns="0" bIns="0" anchor="t" anchorCtr="0">
            <a:spAutoFit/>
          </a:bodyPr>
          <a:lstStyle/>
          <a:p>
            <a:pPr marL="342900" marR="0" lvl="1" indent="-165100" algn="l" rtl="0">
              <a:lnSpc>
                <a:spcPct val="140000"/>
              </a:lnSpc>
              <a:spcBef>
                <a:spcPts val="0"/>
              </a:spcBef>
              <a:spcAft>
                <a:spcPts val="0"/>
              </a:spcAft>
              <a:buClr>
                <a:srgbClr val="004AAD"/>
              </a:buClr>
              <a:buSzPts val="1600"/>
              <a:buFont typeface="Arial"/>
              <a:buChar char="•"/>
            </a:pPr>
            <a:r>
              <a:rPr lang="en-US" sz="1600" b="1" i="0" u="none" strike="noStrike" cap="none">
                <a:solidFill>
                  <a:srgbClr val="004AAD"/>
                </a:solidFill>
                <a:latin typeface="Inter"/>
                <a:ea typeface="Inter"/>
                <a:cs typeface="Inter"/>
                <a:sym typeface="Inter"/>
              </a:rPr>
              <a:t>Scan &amp; Go: </a:t>
            </a:r>
            <a:r>
              <a:rPr lang="en-US" sz="1600" b="0" i="0" u="none" strike="noStrike" cap="none">
                <a:solidFill>
                  <a:srgbClr val="3A3A3A"/>
                </a:solidFill>
                <a:latin typeface="Inter"/>
                <a:ea typeface="Inter"/>
                <a:cs typeface="Inter"/>
                <a:sym typeface="Inter"/>
              </a:rPr>
              <a:t>Mobile self-checkout, eliminating long cashier queues</a:t>
            </a:r>
            <a:endParaRPr sz="1200" b="0" i="0" u="none" strike="noStrike" cap="none">
              <a:solidFill>
                <a:srgbClr val="000000"/>
              </a:solidFill>
              <a:latin typeface="Arial"/>
              <a:ea typeface="Arial"/>
              <a:cs typeface="Arial"/>
              <a:sym typeface="Arial"/>
            </a:endParaRPr>
          </a:p>
        </p:txBody>
      </p:sp>
      <p:sp>
        <p:nvSpPr>
          <p:cNvPr id="1845" name="Google Shape;1845;p24"/>
          <p:cNvSpPr txBox="1"/>
          <p:nvPr/>
        </p:nvSpPr>
        <p:spPr>
          <a:xfrm>
            <a:off x="1263200" y="7757299"/>
            <a:ext cx="2038800" cy="406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Download App on AppStore/ PlayStore</a:t>
            </a:r>
            <a:endParaRPr sz="1200" b="0" i="0" u="none" strike="noStrike" cap="none">
              <a:solidFill>
                <a:srgbClr val="000000"/>
              </a:solidFill>
              <a:latin typeface="Arial"/>
              <a:ea typeface="Arial"/>
              <a:cs typeface="Arial"/>
              <a:sym typeface="Arial"/>
            </a:endParaRPr>
          </a:p>
        </p:txBody>
      </p:sp>
      <p:sp>
        <p:nvSpPr>
          <p:cNvPr id="1846" name="Google Shape;1846;p24"/>
          <p:cNvSpPr txBox="1"/>
          <p:nvPr/>
        </p:nvSpPr>
        <p:spPr>
          <a:xfrm>
            <a:off x="4151433" y="7757299"/>
            <a:ext cx="2038800" cy="406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Check-in at the store you want to buy</a:t>
            </a:r>
            <a:endParaRPr sz="1200" b="0" i="0" u="none" strike="noStrike" cap="none">
              <a:solidFill>
                <a:srgbClr val="000000"/>
              </a:solidFill>
              <a:latin typeface="Arial"/>
              <a:ea typeface="Arial"/>
              <a:cs typeface="Arial"/>
              <a:sym typeface="Arial"/>
            </a:endParaRPr>
          </a:p>
        </p:txBody>
      </p:sp>
      <p:sp>
        <p:nvSpPr>
          <p:cNvPr id="1847" name="Google Shape;1847;p24"/>
          <p:cNvSpPr txBox="1"/>
          <p:nvPr/>
        </p:nvSpPr>
        <p:spPr>
          <a:xfrm>
            <a:off x="7039665" y="7757299"/>
            <a:ext cx="2245800" cy="627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Scan product’s barcode to check information &amp; put into cart with the Mobile App</a:t>
            </a:r>
            <a:endParaRPr sz="1200" b="0" i="0" u="none" strike="noStrike" cap="none">
              <a:solidFill>
                <a:srgbClr val="000000"/>
              </a:solidFill>
              <a:latin typeface="Arial"/>
              <a:ea typeface="Arial"/>
              <a:cs typeface="Arial"/>
              <a:sym typeface="Arial"/>
            </a:endParaRPr>
          </a:p>
        </p:txBody>
      </p:sp>
      <p:sp>
        <p:nvSpPr>
          <p:cNvPr id="1848" name="Google Shape;1848;p24"/>
          <p:cNvSpPr txBox="1"/>
          <p:nvPr/>
        </p:nvSpPr>
        <p:spPr>
          <a:xfrm>
            <a:off x="9975107" y="7757299"/>
            <a:ext cx="2439300" cy="627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When finish shopping, choose Check-out → Purchase and process payment</a:t>
            </a:r>
            <a:endParaRPr sz="1200" b="0" i="0" u="none" strike="noStrike" cap="none">
              <a:solidFill>
                <a:srgbClr val="000000"/>
              </a:solidFill>
              <a:latin typeface="Arial"/>
              <a:ea typeface="Arial"/>
              <a:cs typeface="Arial"/>
              <a:sym typeface="Arial"/>
            </a:endParaRPr>
          </a:p>
        </p:txBody>
      </p:sp>
      <p:sp>
        <p:nvSpPr>
          <p:cNvPr id="1849" name="Google Shape;1849;p24"/>
          <p:cNvSpPr txBox="1"/>
          <p:nvPr/>
        </p:nvSpPr>
        <p:spPr>
          <a:xfrm>
            <a:off x="12850709" y="7757299"/>
            <a:ext cx="2307600" cy="627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Hold the displayed QR code at the store’s scanner to complete transaction</a:t>
            </a:r>
            <a:endParaRPr sz="1200" b="0" i="0" u="none" strike="noStrike" cap="none">
              <a:solidFill>
                <a:srgbClr val="000000"/>
              </a:solidFill>
              <a:latin typeface="Arial"/>
              <a:ea typeface="Arial"/>
              <a:cs typeface="Arial"/>
              <a:sym typeface="Arial"/>
            </a:endParaRPr>
          </a:p>
        </p:txBody>
      </p:sp>
      <p:sp>
        <p:nvSpPr>
          <p:cNvPr id="1850" name="Google Shape;1850;p24"/>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9" cstate="email">
              <a:alphaModFix/>
              <a:extLst>
                <a:ext uri="{28A0092B-C50C-407E-A947-70E740481C1C}">
                  <a14:useLocalDpi xmlns:a14="http://schemas.microsoft.com/office/drawing/2010/main"/>
                </a:ext>
              </a:extLst>
            </a:blip>
            <a:stretch>
              <a:fillRect b="-5"/>
            </a:stretch>
          </a:blipFill>
          <a:ln>
            <a:noFill/>
          </a:ln>
        </p:spPr>
      </p:sp>
      <p:grpSp>
        <p:nvGrpSpPr>
          <p:cNvPr id="1851" name="Google Shape;1851;p24"/>
          <p:cNvGrpSpPr/>
          <p:nvPr/>
        </p:nvGrpSpPr>
        <p:grpSpPr>
          <a:xfrm>
            <a:off x="872534" y="8351050"/>
            <a:ext cx="846442" cy="699635"/>
            <a:chOff x="0" y="0"/>
            <a:chExt cx="1269600" cy="1049400"/>
          </a:xfrm>
        </p:grpSpPr>
        <p:sp>
          <p:nvSpPr>
            <p:cNvPr id="1852" name="Google Shape;1852;p24"/>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853" name="Google Shape;1853;p24"/>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b="0" i="0" u="none" strike="noStrike" cap="none" dirty="0">
                  <a:solidFill>
                    <a:srgbClr val="585858"/>
                  </a:solidFill>
                  <a:latin typeface="Inter"/>
                  <a:ea typeface="Inter"/>
                  <a:cs typeface="Inter"/>
                  <a:sym typeface="Inter"/>
                </a:rPr>
                <a:t>27</a:t>
              </a:r>
              <a:endParaRPr sz="1200" b="0" i="0" u="none" strike="noStrike" cap="none" dirty="0">
                <a:solidFill>
                  <a:srgbClr val="585858"/>
                </a:solidFill>
                <a:latin typeface="Arial"/>
                <a:ea typeface="Arial"/>
                <a:cs typeface="Arial"/>
                <a:sym typeface="Arial"/>
              </a:endParaRPr>
            </a:p>
          </p:txBody>
        </p:sp>
      </p:grpSp>
      <p:sp>
        <p:nvSpPr>
          <p:cNvPr id="1854" name="Google Shape;1854;p24"/>
          <p:cNvSpPr/>
          <p:nvPr/>
        </p:nvSpPr>
        <p:spPr>
          <a:xfrm>
            <a:off x="-255905" y="584835"/>
            <a:ext cx="4488815" cy="1087755"/>
          </a:xfrm>
          <a:custGeom>
            <a:avLst/>
            <a:gdLst/>
            <a:ahLst/>
            <a:cxnLst/>
            <a:rect l="l" t="t" r="r" b="b"/>
            <a:pathLst>
              <a:path w="812800" h="197009" extrusionOk="0">
                <a:moveTo>
                  <a:pt x="0" y="0"/>
                </a:moveTo>
                <a:lnTo>
                  <a:pt x="812800" y="0"/>
                </a:lnTo>
                <a:lnTo>
                  <a:pt x="812800" y="197009"/>
                </a:lnTo>
                <a:lnTo>
                  <a:pt x="0" y="197009"/>
                </a:lnTo>
                <a:close/>
              </a:path>
            </a:pathLst>
          </a:custGeom>
          <a:solidFill>
            <a:srgbClr val="003A86"/>
          </a:solidFill>
          <a:ln>
            <a:noFill/>
          </a:ln>
        </p:spPr>
      </p:sp>
      <p:sp>
        <p:nvSpPr>
          <p:cNvPr id="1855" name="Google Shape;1855;p24"/>
          <p:cNvSpPr txBox="1"/>
          <p:nvPr/>
        </p:nvSpPr>
        <p:spPr>
          <a:xfrm>
            <a:off x="282169" y="890270"/>
            <a:ext cx="2991600" cy="4773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3100"/>
              <a:buFont typeface="Arial"/>
              <a:buNone/>
            </a:pPr>
            <a:r>
              <a:rPr lang="en-US" sz="3100" b="1" i="0" u="none" strike="noStrike" cap="none">
                <a:solidFill>
                  <a:srgbClr val="EEEEEE"/>
                </a:solidFill>
                <a:latin typeface="Inter"/>
                <a:ea typeface="Inter"/>
                <a:cs typeface="Inter"/>
                <a:sym typeface="Inter"/>
              </a:rPr>
              <a:t>1- SCAN &amp; GO</a:t>
            </a:r>
            <a:endParaRPr sz="1200" b="0" i="0" u="none" strike="noStrike" cap="none">
              <a:solidFill>
                <a:srgbClr val="000000"/>
              </a:solidFill>
              <a:latin typeface="Arial"/>
              <a:ea typeface="Arial"/>
              <a:cs typeface="Arial"/>
              <a:sym typeface="Arial"/>
            </a:endParaRPr>
          </a:p>
        </p:txBody>
      </p:sp>
      <p:sp>
        <p:nvSpPr>
          <p:cNvPr id="1856" name="Google Shape;1856;p24"/>
          <p:cNvSpPr txBox="1"/>
          <p:nvPr/>
        </p:nvSpPr>
        <p:spPr>
          <a:xfrm>
            <a:off x="4696487" y="644964"/>
            <a:ext cx="112812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600"/>
              <a:buFont typeface="Arial"/>
              <a:buNone/>
            </a:pPr>
            <a:r>
              <a:rPr lang="en-US" sz="2600" b="0" i="0" u="none" strike="noStrike" cap="none">
                <a:solidFill>
                  <a:srgbClr val="004AAD"/>
                </a:solidFill>
                <a:latin typeface="Inter"/>
                <a:ea typeface="Inter"/>
                <a:cs typeface="Inter"/>
                <a:sym typeface="Inter"/>
              </a:rPr>
              <a:t>CASE STUDY | </a:t>
            </a:r>
            <a:r>
              <a:rPr lang="en-US" sz="2600" b="1" i="0" u="none" strike="noStrike" cap="none">
                <a:solidFill>
                  <a:srgbClr val="004AAD"/>
                </a:solidFill>
                <a:latin typeface="Inter"/>
                <a:ea typeface="Inter"/>
                <a:cs typeface="Inter"/>
                <a:sym typeface="Inter"/>
              </a:rPr>
              <a:t>SCAN&amp;GO - RETAIL SMART MOBILE APPLICATION: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600"/>
              <a:buFont typeface="Arial"/>
              <a:buNone/>
            </a:pPr>
            <a:r>
              <a:rPr lang="en-US" sz="2600" b="1" i="0" u="none" strike="noStrike" cap="none">
                <a:solidFill>
                  <a:srgbClr val="004AAD"/>
                </a:solidFill>
                <a:latin typeface="Inter"/>
                <a:ea typeface="Inter"/>
                <a:cs typeface="Inter"/>
                <a:sym typeface="Inter"/>
              </a:rPr>
              <a:t>FROM LONG QUEUES TO SEAMLESS SUPERMARKET SHOPPING (3/7)</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60"/>
        <p:cNvGrpSpPr/>
        <p:nvPr/>
      </p:nvGrpSpPr>
      <p:grpSpPr>
        <a:xfrm>
          <a:off x="0" y="0"/>
          <a:ext cx="0" cy="0"/>
          <a:chOff x="0" y="0"/>
          <a:chExt cx="0" cy="0"/>
        </a:xfrm>
      </p:grpSpPr>
      <p:sp>
        <p:nvSpPr>
          <p:cNvPr id="1861" name="Google Shape;1861;p25"/>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3" cstate="email">
              <a:alphaModFix amt="46000"/>
              <a:extLst>
                <a:ext uri="{28A0092B-C50C-407E-A947-70E740481C1C}">
                  <a14:useLocalDpi xmlns:a14="http://schemas.microsoft.com/office/drawing/2010/main"/>
                </a:ext>
              </a:extLst>
            </a:blip>
            <a:stretch>
              <a:fillRect/>
            </a:stretch>
          </a:blipFill>
          <a:ln>
            <a:noFill/>
          </a:ln>
        </p:spPr>
      </p:sp>
      <p:sp>
        <p:nvSpPr>
          <p:cNvPr id="1862" name="Google Shape;1862;p25"/>
          <p:cNvSpPr/>
          <p:nvPr/>
        </p:nvSpPr>
        <p:spPr>
          <a:xfrm>
            <a:off x="-255905" y="584835"/>
            <a:ext cx="4488815" cy="1087755"/>
          </a:xfrm>
          <a:custGeom>
            <a:avLst/>
            <a:gdLst/>
            <a:ahLst/>
            <a:cxnLst/>
            <a:rect l="l" t="t" r="r" b="b"/>
            <a:pathLst>
              <a:path w="812800" h="197009" extrusionOk="0">
                <a:moveTo>
                  <a:pt x="0" y="0"/>
                </a:moveTo>
                <a:lnTo>
                  <a:pt x="812800" y="0"/>
                </a:lnTo>
                <a:lnTo>
                  <a:pt x="812800" y="197009"/>
                </a:lnTo>
                <a:lnTo>
                  <a:pt x="0" y="197009"/>
                </a:lnTo>
                <a:close/>
              </a:path>
            </a:pathLst>
          </a:custGeom>
          <a:solidFill>
            <a:srgbClr val="003A86"/>
          </a:solidFill>
          <a:ln>
            <a:noFill/>
          </a:ln>
        </p:spPr>
      </p:sp>
      <p:grpSp>
        <p:nvGrpSpPr>
          <p:cNvPr id="1863" name="Google Shape;1863;p25"/>
          <p:cNvGrpSpPr/>
          <p:nvPr/>
        </p:nvGrpSpPr>
        <p:grpSpPr>
          <a:xfrm>
            <a:off x="7033942" y="3256286"/>
            <a:ext cx="2459141" cy="4864642"/>
            <a:chOff x="0" y="0"/>
            <a:chExt cx="2620010" cy="5182870"/>
          </a:xfrm>
        </p:grpSpPr>
        <p:sp>
          <p:nvSpPr>
            <p:cNvPr id="1864" name="Google Shape;1864;p25"/>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5" name="Google Shape;1865;p25"/>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6" name="Google Shape;1866;p25"/>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7" name="Google Shape;1867;p25"/>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8" name="Google Shape;1868;p25"/>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9" name="Google Shape;1869;p25"/>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0" name="Google Shape;1870;p25"/>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1" name="Google Shape;1871;p25"/>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2" name="Google Shape;1872;p25"/>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73" name="Google Shape;1873;p25"/>
          <p:cNvSpPr/>
          <p:nvPr/>
        </p:nvSpPr>
        <p:spPr>
          <a:xfrm>
            <a:off x="914400" y="3342340"/>
            <a:ext cx="500609" cy="500609"/>
          </a:xfrm>
          <a:custGeom>
            <a:avLst/>
            <a:gdLst/>
            <a:ahLst/>
            <a:cxnLst/>
            <a:rect l="l" t="t" r="r" b="b"/>
            <a:pathLst>
              <a:path w="562482" h="562482" extrusionOk="0">
                <a:moveTo>
                  <a:pt x="0" y="0"/>
                </a:moveTo>
                <a:lnTo>
                  <a:pt x="562482" y="0"/>
                </a:lnTo>
                <a:lnTo>
                  <a:pt x="562482" y="562482"/>
                </a:lnTo>
                <a:lnTo>
                  <a:pt x="0" y="562482"/>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sp>
        <p:nvSpPr>
          <p:cNvPr id="1874" name="Google Shape;1874;p25"/>
          <p:cNvSpPr txBox="1"/>
          <p:nvPr/>
        </p:nvSpPr>
        <p:spPr>
          <a:xfrm>
            <a:off x="1138289" y="6073573"/>
            <a:ext cx="5624400" cy="277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1" i="0" u="none" strike="noStrike" cap="none">
                <a:solidFill>
                  <a:srgbClr val="0041AA"/>
                </a:solidFill>
                <a:latin typeface="Inter"/>
                <a:ea typeface="Inter"/>
                <a:cs typeface="Inter"/>
                <a:sym typeface="Inter"/>
              </a:rPr>
              <a:t>              Nutritional value visible display</a:t>
            </a:r>
            <a:endParaRPr sz="1400" b="0" i="0" u="none" strike="noStrike" cap="none">
              <a:solidFill>
                <a:srgbClr val="000000"/>
              </a:solidFill>
              <a:latin typeface="Arial"/>
              <a:ea typeface="Arial"/>
              <a:cs typeface="Arial"/>
              <a:sym typeface="Arial"/>
            </a:endParaRPr>
          </a:p>
        </p:txBody>
      </p:sp>
      <p:sp>
        <p:nvSpPr>
          <p:cNvPr id="1875" name="Google Shape;1875;p25"/>
          <p:cNvSpPr/>
          <p:nvPr/>
        </p:nvSpPr>
        <p:spPr>
          <a:xfrm>
            <a:off x="914400" y="5978239"/>
            <a:ext cx="500609" cy="500609"/>
          </a:xfrm>
          <a:custGeom>
            <a:avLst/>
            <a:gdLst/>
            <a:ahLst/>
            <a:cxnLst/>
            <a:rect l="l" t="t" r="r" b="b"/>
            <a:pathLst>
              <a:path w="562482" h="562482" extrusionOk="0">
                <a:moveTo>
                  <a:pt x="0" y="0"/>
                </a:moveTo>
                <a:lnTo>
                  <a:pt x="562482" y="0"/>
                </a:lnTo>
                <a:lnTo>
                  <a:pt x="562482" y="562482"/>
                </a:lnTo>
                <a:lnTo>
                  <a:pt x="0" y="562482"/>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876" name="Google Shape;1876;p25"/>
          <p:cNvSpPr/>
          <p:nvPr/>
        </p:nvSpPr>
        <p:spPr>
          <a:xfrm>
            <a:off x="1002822" y="6042839"/>
            <a:ext cx="357789" cy="371247"/>
          </a:xfrm>
          <a:custGeom>
            <a:avLst/>
            <a:gdLst/>
            <a:ahLst/>
            <a:cxnLst/>
            <a:rect l="l" t="t" r="r" b="b"/>
            <a:pathLst>
              <a:path w="402010" h="417131" extrusionOk="0">
                <a:moveTo>
                  <a:pt x="0" y="0"/>
                </a:moveTo>
                <a:lnTo>
                  <a:pt x="402010" y="0"/>
                </a:lnTo>
                <a:lnTo>
                  <a:pt x="402010" y="417131"/>
                </a:lnTo>
                <a:lnTo>
                  <a:pt x="0" y="417131"/>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1877" name="Google Shape;1877;p25"/>
          <p:cNvSpPr txBox="1"/>
          <p:nvPr/>
        </p:nvSpPr>
        <p:spPr>
          <a:xfrm>
            <a:off x="10415483" y="3437674"/>
            <a:ext cx="5624400" cy="277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1" i="0" u="none" strike="noStrike" cap="none">
                <a:solidFill>
                  <a:srgbClr val="0041AA"/>
                </a:solidFill>
                <a:latin typeface="Inter"/>
                <a:ea typeface="Inter"/>
                <a:cs typeface="Inter"/>
                <a:sym typeface="Inter"/>
              </a:rPr>
              <a:t>              Pop-up Survey feature</a:t>
            </a:r>
            <a:endParaRPr sz="1400" b="0" i="0" u="none" strike="noStrike" cap="none">
              <a:solidFill>
                <a:srgbClr val="000000"/>
              </a:solidFill>
              <a:latin typeface="Arial"/>
              <a:ea typeface="Arial"/>
              <a:cs typeface="Arial"/>
              <a:sym typeface="Arial"/>
            </a:endParaRPr>
          </a:p>
        </p:txBody>
      </p:sp>
      <p:sp>
        <p:nvSpPr>
          <p:cNvPr id="1878" name="Google Shape;1878;p25"/>
          <p:cNvSpPr/>
          <p:nvPr/>
        </p:nvSpPr>
        <p:spPr>
          <a:xfrm>
            <a:off x="10191594" y="3342340"/>
            <a:ext cx="500609" cy="500609"/>
          </a:xfrm>
          <a:custGeom>
            <a:avLst/>
            <a:gdLst/>
            <a:ahLst/>
            <a:cxnLst/>
            <a:rect l="l" t="t" r="r" b="b"/>
            <a:pathLst>
              <a:path w="562482" h="562482" extrusionOk="0">
                <a:moveTo>
                  <a:pt x="0" y="0"/>
                </a:moveTo>
                <a:lnTo>
                  <a:pt x="562482" y="0"/>
                </a:lnTo>
                <a:lnTo>
                  <a:pt x="562482" y="562482"/>
                </a:lnTo>
                <a:lnTo>
                  <a:pt x="0" y="562482"/>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879" name="Google Shape;1879;p25"/>
          <p:cNvSpPr/>
          <p:nvPr/>
        </p:nvSpPr>
        <p:spPr>
          <a:xfrm>
            <a:off x="10273619" y="3424364"/>
            <a:ext cx="336354" cy="336354"/>
          </a:xfrm>
          <a:custGeom>
            <a:avLst/>
            <a:gdLst/>
            <a:ahLst/>
            <a:cxnLst/>
            <a:rect l="l" t="t" r="r" b="b"/>
            <a:pathLst>
              <a:path w="377926" h="377926" extrusionOk="0">
                <a:moveTo>
                  <a:pt x="0" y="0"/>
                </a:moveTo>
                <a:lnTo>
                  <a:pt x="377926" y="0"/>
                </a:lnTo>
                <a:lnTo>
                  <a:pt x="377926" y="377926"/>
                </a:lnTo>
                <a:lnTo>
                  <a:pt x="0" y="377926"/>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sp>
        <p:nvSpPr>
          <p:cNvPr id="1880" name="Google Shape;1880;p25"/>
          <p:cNvSpPr txBox="1"/>
          <p:nvPr/>
        </p:nvSpPr>
        <p:spPr>
          <a:xfrm>
            <a:off x="10415483" y="6073573"/>
            <a:ext cx="5624400" cy="277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1" i="0" u="none" strike="noStrike" cap="none">
                <a:solidFill>
                  <a:srgbClr val="0041AA"/>
                </a:solidFill>
                <a:latin typeface="Inter"/>
                <a:ea typeface="Inter"/>
                <a:cs typeface="Inter"/>
                <a:sym typeface="Inter"/>
              </a:rPr>
              <a:t>              Coupons and Promotional Measures</a:t>
            </a:r>
            <a:endParaRPr sz="1400" b="0" i="0" u="none" strike="noStrike" cap="none">
              <a:solidFill>
                <a:srgbClr val="000000"/>
              </a:solidFill>
              <a:latin typeface="Arial"/>
              <a:ea typeface="Arial"/>
              <a:cs typeface="Arial"/>
              <a:sym typeface="Arial"/>
            </a:endParaRPr>
          </a:p>
        </p:txBody>
      </p:sp>
      <p:sp>
        <p:nvSpPr>
          <p:cNvPr id="1881" name="Google Shape;1881;p25"/>
          <p:cNvSpPr/>
          <p:nvPr/>
        </p:nvSpPr>
        <p:spPr>
          <a:xfrm>
            <a:off x="10191594" y="5978239"/>
            <a:ext cx="500609" cy="500609"/>
          </a:xfrm>
          <a:custGeom>
            <a:avLst/>
            <a:gdLst/>
            <a:ahLst/>
            <a:cxnLst/>
            <a:rect l="l" t="t" r="r" b="b"/>
            <a:pathLst>
              <a:path w="562482" h="562482" extrusionOk="0">
                <a:moveTo>
                  <a:pt x="0" y="0"/>
                </a:moveTo>
                <a:lnTo>
                  <a:pt x="562482" y="0"/>
                </a:lnTo>
                <a:lnTo>
                  <a:pt x="562482" y="562482"/>
                </a:lnTo>
                <a:lnTo>
                  <a:pt x="0" y="562482"/>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882" name="Google Shape;1882;p25"/>
          <p:cNvSpPr/>
          <p:nvPr/>
        </p:nvSpPr>
        <p:spPr>
          <a:xfrm>
            <a:off x="10254796" y="6042839"/>
            <a:ext cx="321777" cy="306566"/>
          </a:xfrm>
          <a:custGeom>
            <a:avLst/>
            <a:gdLst/>
            <a:ahLst/>
            <a:cxnLst/>
            <a:rect l="l" t="t" r="r" b="b"/>
            <a:pathLst>
              <a:path w="361547" h="344456" extrusionOk="0">
                <a:moveTo>
                  <a:pt x="0" y="0"/>
                </a:moveTo>
                <a:lnTo>
                  <a:pt x="361547" y="0"/>
                </a:lnTo>
                <a:lnTo>
                  <a:pt x="361547" y="344456"/>
                </a:lnTo>
                <a:lnTo>
                  <a:pt x="0" y="344456"/>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grpSp>
        <p:nvGrpSpPr>
          <p:cNvPr id="1883" name="Google Shape;1883;p25"/>
          <p:cNvGrpSpPr/>
          <p:nvPr/>
        </p:nvGrpSpPr>
        <p:grpSpPr>
          <a:xfrm>
            <a:off x="7324206" y="3547282"/>
            <a:ext cx="163013" cy="315900"/>
            <a:chOff x="0" y="-38100"/>
            <a:chExt cx="48300" cy="93600"/>
          </a:xfrm>
        </p:grpSpPr>
        <p:sp>
          <p:nvSpPr>
            <p:cNvPr id="1884" name="Google Shape;1884;p25"/>
            <p:cNvSpPr/>
            <p:nvPr/>
          </p:nvSpPr>
          <p:spPr>
            <a:xfrm>
              <a:off x="0" y="0"/>
              <a:ext cx="48166" cy="55419"/>
            </a:xfrm>
            <a:custGeom>
              <a:avLst/>
              <a:gdLst/>
              <a:ahLst/>
              <a:cxnLst/>
              <a:rect l="l" t="t" r="r" b="b"/>
              <a:pathLst>
                <a:path w="48166" h="55419" extrusionOk="0">
                  <a:moveTo>
                    <a:pt x="0" y="0"/>
                  </a:moveTo>
                  <a:lnTo>
                    <a:pt x="48166" y="0"/>
                  </a:lnTo>
                  <a:lnTo>
                    <a:pt x="48166" y="55419"/>
                  </a:lnTo>
                  <a:lnTo>
                    <a:pt x="0" y="55419"/>
                  </a:lnTo>
                  <a:close/>
                </a:path>
              </a:pathLst>
            </a:custGeom>
            <a:solidFill>
              <a:srgbClr val="707070"/>
            </a:solidFill>
            <a:ln>
              <a:noFill/>
            </a:ln>
          </p:spPr>
        </p:sp>
        <p:sp>
          <p:nvSpPr>
            <p:cNvPr id="1885" name="Google Shape;1885;p25"/>
            <p:cNvSpPr txBox="1"/>
            <p:nvPr/>
          </p:nvSpPr>
          <p:spPr>
            <a:xfrm>
              <a:off x="0" y="-38100"/>
              <a:ext cx="48300" cy="936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886" name="Google Shape;1886;p25"/>
          <p:cNvSpPr txBox="1"/>
          <p:nvPr/>
        </p:nvSpPr>
        <p:spPr>
          <a:xfrm>
            <a:off x="4696487" y="644964"/>
            <a:ext cx="112812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600"/>
              <a:buFont typeface="Arial"/>
              <a:buNone/>
            </a:pPr>
            <a:r>
              <a:rPr lang="en-US" sz="2600" b="0" i="0" u="none" strike="noStrike" cap="none">
                <a:solidFill>
                  <a:srgbClr val="004AAD"/>
                </a:solidFill>
                <a:latin typeface="Inter"/>
                <a:ea typeface="Inter"/>
                <a:cs typeface="Inter"/>
                <a:sym typeface="Inter"/>
              </a:rPr>
              <a:t>CASE STUDY | </a:t>
            </a:r>
            <a:r>
              <a:rPr lang="en-US" sz="2600" b="1" i="0" u="none" strike="noStrike" cap="none">
                <a:solidFill>
                  <a:srgbClr val="004AAD"/>
                </a:solidFill>
                <a:latin typeface="Inter"/>
                <a:ea typeface="Inter"/>
                <a:cs typeface="Inter"/>
                <a:sym typeface="Inter"/>
              </a:rPr>
              <a:t>SCAN&amp;GO - RETAIL SMART MOBILE APPLICATION: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600"/>
              <a:buFont typeface="Arial"/>
              <a:buNone/>
            </a:pPr>
            <a:r>
              <a:rPr lang="en-US" sz="2600" b="1" i="0" u="none" strike="noStrike" cap="none">
                <a:solidFill>
                  <a:srgbClr val="004AAD"/>
                </a:solidFill>
                <a:latin typeface="Inter"/>
                <a:ea typeface="Inter"/>
                <a:cs typeface="Inter"/>
                <a:sym typeface="Inter"/>
              </a:rPr>
              <a:t>FROM LONG QUEUES TO SEAMLESS SUPERMARKET SHOPPING (4/7)</a:t>
            </a:r>
            <a:endParaRPr sz="1200" b="0" i="0" u="none" strike="noStrike" cap="none">
              <a:solidFill>
                <a:srgbClr val="000000"/>
              </a:solidFill>
              <a:latin typeface="Arial"/>
              <a:ea typeface="Arial"/>
              <a:cs typeface="Arial"/>
              <a:sym typeface="Arial"/>
            </a:endParaRPr>
          </a:p>
        </p:txBody>
      </p:sp>
      <p:sp>
        <p:nvSpPr>
          <p:cNvPr id="1887" name="Google Shape;1887;p25"/>
          <p:cNvSpPr txBox="1"/>
          <p:nvPr/>
        </p:nvSpPr>
        <p:spPr>
          <a:xfrm>
            <a:off x="598805" y="913448"/>
            <a:ext cx="2674500" cy="431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3100"/>
              <a:buFont typeface="Arial"/>
              <a:buNone/>
            </a:pPr>
            <a:r>
              <a:rPr lang="en-US" sz="2800" b="1" i="0" u="none" strike="noStrike" cap="none">
                <a:solidFill>
                  <a:srgbClr val="EEEEEE"/>
                </a:solidFill>
                <a:latin typeface="Inter"/>
                <a:ea typeface="Inter"/>
                <a:cs typeface="Inter"/>
                <a:sym typeface="Inter"/>
              </a:rPr>
              <a:t>1- SCAN &amp; GO </a:t>
            </a:r>
            <a:endParaRPr sz="2800" b="1" i="0" u="none" strike="noStrike" cap="none">
              <a:solidFill>
                <a:srgbClr val="EEEEEE"/>
              </a:solidFill>
              <a:latin typeface="Inter"/>
              <a:ea typeface="Inter"/>
              <a:cs typeface="Inter"/>
              <a:sym typeface="Inter"/>
            </a:endParaRPr>
          </a:p>
        </p:txBody>
      </p:sp>
      <p:sp>
        <p:nvSpPr>
          <p:cNvPr id="1888" name="Google Shape;1888;p25"/>
          <p:cNvSpPr txBox="1"/>
          <p:nvPr/>
        </p:nvSpPr>
        <p:spPr>
          <a:xfrm>
            <a:off x="914400" y="3952400"/>
            <a:ext cx="5848500" cy="1280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3A3A3A"/>
                </a:solidFill>
                <a:latin typeface="Inter"/>
                <a:ea typeface="Inter"/>
                <a:cs typeface="Inter"/>
                <a:sym typeface="Inter"/>
              </a:rPr>
              <a:t>Customers complete checkout by scanning their card at a terminal, enabling purchase verification and security checks (the store has the uploaded product purchase details, including the age restriction with alcoholic beverages)</a:t>
            </a:r>
            <a:endParaRPr sz="1200" b="0" i="0" u="none" strike="noStrike" cap="none">
              <a:solidFill>
                <a:srgbClr val="000000"/>
              </a:solidFill>
              <a:latin typeface="Arial"/>
              <a:ea typeface="Arial"/>
              <a:cs typeface="Arial"/>
              <a:sym typeface="Arial"/>
            </a:endParaRPr>
          </a:p>
        </p:txBody>
      </p:sp>
      <p:sp>
        <p:nvSpPr>
          <p:cNvPr id="1889" name="Google Shape;1889;p25"/>
          <p:cNvSpPr txBox="1"/>
          <p:nvPr/>
        </p:nvSpPr>
        <p:spPr>
          <a:xfrm>
            <a:off x="10208247" y="3952390"/>
            <a:ext cx="5663100" cy="1280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3A3A3A"/>
                </a:solidFill>
                <a:latin typeface="Inter"/>
                <a:ea typeface="Inter"/>
                <a:cs typeface="Inter"/>
                <a:sym typeface="Inter"/>
              </a:rPr>
              <a:t>Displays NPS (Net Promoter Score) surveys post-purchase, customizable for stores, products, and registers. This would help stores to evaluate and get more insights.</a:t>
            </a:r>
            <a:endParaRPr sz="1200" b="0" i="0" u="none" strike="noStrike" cap="none">
              <a:solidFill>
                <a:srgbClr val="000000"/>
              </a:solidFill>
              <a:latin typeface="Arial"/>
              <a:ea typeface="Arial"/>
              <a:cs typeface="Arial"/>
              <a:sym typeface="Arial"/>
            </a:endParaRPr>
          </a:p>
        </p:txBody>
      </p:sp>
      <p:sp>
        <p:nvSpPr>
          <p:cNvPr id="1890" name="Google Shape;1890;p25"/>
          <p:cNvSpPr txBox="1"/>
          <p:nvPr/>
        </p:nvSpPr>
        <p:spPr>
          <a:xfrm>
            <a:off x="914400" y="2690406"/>
            <a:ext cx="14510700" cy="384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2500"/>
              <a:buFont typeface="Arial"/>
              <a:buNone/>
            </a:pPr>
            <a:r>
              <a:rPr lang="en-US" sz="2500" b="1" i="0" u="none" strike="noStrike" cap="none">
                <a:solidFill>
                  <a:srgbClr val="00234F"/>
                </a:solidFill>
                <a:latin typeface="Inter"/>
                <a:ea typeface="Inter"/>
                <a:cs typeface="Inter"/>
                <a:sym typeface="Inter"/>
              </a:rPr>
              <a:t>Other Highlight Features</a:t>
            </a:r>
            <a:endParaRPr sz="1200" b="0" i="0" u="none" strike="noStrike" cap="none">
              <a:solidFill>
                <a:srgbClr val="000000"/>
              </a:solidFill>
              <a:latin typeface="Arial"/>
              <a:ea typeface="Arial"/>
              <a:cs typeface="Arial"/>
              <a:sym typeface="Arial"/>
            </a:endParaRPr>
          </a:p>
        </p:txBody>
      </p:sp>
      <p:sp>
        <p:nvSpPr>
          <p:cNvPr id="1891" name="Google Shape;1891;p25"/>
          <p:cNvSpPr txBox="1"/>
          <p:nvPr/>
        </p:nvSpPr>
        <p:spPr>
          <a:xfrm>
            <a:off x="830800" y="6586089"/>
            <a:ext cx="5848500" cy="936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3A3A3A"/>
                </a:solidFill>
                <a:latin typeface="Inter"/>
                <a:ea typeface="Inter"/>
                <a:cs typeface="Inter"/>
                <a:sym typeface="Inter"/>
              </a:rPr>
              <a:t>The app can track purchase data, visualize the nutritional balance of the chosen products, and even suggest nutrient-rich ingredients/ dishes for users.</a:t>
            </a:r>
            <a:endParaRPr sz="1200" b="0" i="0" u="none" strike="noStrike" cap="none">
              <a:solidFill>
                <a:srgbClr val="000000"/>
              </a:solidFill>
              <a:latin typeface="Arial"/>
              <a:ea typeface="Arial"/>
              <a:cs typeface="Arial"/>
              <a:sym typeface="Arial"/>
            </a:endParaRPr>
          </a:p>
        </p:txBody>
      </p:sp>
      <p:sp>
        <p:nvSpPr>
          <p:cNvPr id="1892" name="Google Shape;1892;p25"/>
          <p:cNvSpPr txBox="1"/>
          <p:nvPr/>
        </p:nvSpPr>
        <p:spPr>
          <a:xfrm>
            <a:off x="10208247" y="6586089"/>
            <a:ext cx="5663100" cy="936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3A3A3A"/>
                </a:solidFill>
                <a:latin typeface="Inter"/>
                <a:ea typeface="Inter"/>
                <a:cs typeface="Inter"/>
                <a:sym typeface="Inter"/>
              </a:rPr>
              <a:t>Issue personalized </a:t>
            </a:r>
            <a:r>
              <a:rPr lang="en-US" sz="1600" b="1" i="0" u="none" strike="noStrike" cap="none">
                <a:solidFill>
                  <a:srgbClr val="3A3A3A"/>
                </a:solidFill>
                <a:latin typeface="Inter"/>
                <a:ea typeface="Inter"/>
                <a:cs typeface="Inter"/>
                <a:sym typeface="Inter"/>
              </a:rPr>
              <a:t>electronic coupons</a:t>
            </a:r>
            <a:r>
              <a:rPr lang="en-US" sz="1600" b="0" i="0" u="none" strike="noStrike" cap="none">
                <a:solidFill>
                  <a:srgbClr val="3A3A3A"/>
                </a:solidFill>
                <a:latin typeface="Inter"/>
                <a:ea typeface="Inter"/>
                <a:cs typeface="Inter"/>
                <a:sym typeface="Inter"/>
              </a:rPr>
              <a:t> and display promotional banners that are synergistic with the store’s banner to enhance consistency and boost sales.</a:t>
            </a:r>
            <a:endParaRPr sz="1200" b="0" i="0" u="none" strike="noStrike" cap="none">
              <a:solidFill>
                <a:srgbClr val="000000"/>
              </a:solidFill>
              <a:latin typeface="Arial"/>
              <a:ea typeface="Arial"/>
              <a:cs typeface="Arial"/>
              <a:sym typeface="Arial"/>
            </a:endParaRPr>
          </a:p>
        </p:txBody>
      </p:sp>
      <p:sp>
        <p:nvSpPr>
          <p:cNvPr id="1893" name="Google Shape;1893;p25"/>
          <p:cNvSpPr txBox="1"/>
          <p:nvPr/>
        </p:nvSpPr>
        <p:spPr>
          <a:xfrm>
            <a:off x="1002822" y="3437674"/>
            <a:ext cx="5624400" cy="277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1" i="0" u="none" strike="noStrike" cap="none">
                <a:solidFill>
                  <a:srgbClr val="0041AA"/>
                </a:solidFill>
                <a:latin typeface="Inter"/>
                <a:ea typeface="Inter"/>
                <a:cs typeface="Inter"/>
                <a:sym typeface="Inter"/>
              </a:rPr>
              <a:t>              Gate App</a:t>
            </a:r>
            <a:endParaRPr sz="1400" b="0" i="0" u="none" strike="noStrike" cap="none">
              <a:solidFill>
                <a:srgbClr val="000000"/>
              </a:solidFill>
              <a:latin typeface="Arial"/>
              <a:ea typeface="Arial"/>
              <a:cs typeface="Arial"/>
              <a:sym typeface="Arial"/>
            </a:endParaRPr>
          </a:p>
        </p:txBody>
      </p:sp>
      <p:sp>
        <p:nvSpPr>
          <p:cNvPr id="1894" name="Google Shape;1894;p25"/>
          <p:cNvSpPr txBox="1"/>
          <p:nvPr/>
        </p:nvSpPr>
        <p:spPr>
          <a:xfrm>
            <a:off x="1132247" y="1876402"/>
            <a:ext cx="12113100" cy="246300"/>
          </a:xfrm>
          <a:prstGeom prst="rect">
            <a:avLst/>
          </a:prstGeom>
          <a:noFill/>
          <a:ln>
            <a:noFill/>
          </a:ln>
        </p:spPr>
        <p:txBody>
          <a:bodyPr spcFirstLastPara="1" wrap="square" lIns="0" tIns="0" rIns="0" bIns="0" anchor="t" anchorCtr="0">
            <a:spAutoFit/>
          </a:bodyPr>
          <a:lstStyle/>
          <a:p>
            <a:pPr marL="342900" marR="0" lvl="1" indent="-165100" algn="l" rtl="0">
              <a:lnSpc>
                <a:spcPct val="140000"/>
              </a:lnSpc>
              <a:spcBef>
                <a:spcPts val="0"/>
              </a:spcBef>
              <a:spcAft>
                <a:spcPts val="0"/>
              </a:spcAft>
              <a:buClr>
                <a:srgbClr val="004AAD"/>
              </a:buClr>
              <a:buSzPts val="1600"/>
              <a:buFont typeface="Arial"/>
              <a:buChar char="•"/>
            </a:pPr>
            <a:r>
              <a:rPr lang="en-US" sz="1600" b="1" i="0" u="none" strike="noStrike" cap="none">
                <a:solidFill>
                  <a:srgbClr val="004AAD"/>
                </a:solidFill>
                <a:latin typeface="Inter"/>
                <a:ea typeface="Inter"/>
                <a:cs typeface="Inter"/>
                <a:sym typeface="Inter"/>
              </a:rPr>
              <a:t>Scan &amp; Go: </a:t>
            </a:r>
            <a:r>
              <a:rPr lang="en-US" sz="1600" b="0" i="0" u="none" strike="noStrike" cap="none">
                <a:solidFill>
                  <a:srgbClr val="3A3A3A"/>
                </a:solidFill>
                <a:latin typeface="Inter"/>
                <a:ea typeface="Inter"/>
                <a:cs typeface="Inter"/>
                <a:sym typeface="Inter"/>
              </a:rPr>
              <a:t>Mobile self-checkout, eliminating long cashier queues</a:t>
            </a:r>
            <a:endParaRPr sz="1200" b="0" i="0" u="none" strike="noStrike" cap="none">
              <a:solidFill>
                <a:srgbClr val="000000"/>
              </a:solidFill>
              <a:latin typeface="Arial"/>
              <a:ea typeface="Arial"/>
              <a:cs typeface="Arial"/>
              <a:sym typeface="Arial"/>
            </a:endParaRPr>
          </a:p>
        </p:txBody>
      </p:sp>
      <p:grpSp>
        <p:nvGrpSpPr>
          <p:cNvPr id="1895" name="Google Shape;1895;p25"/>
          <p:cNvGrpSpPr/>
          <p:nvPr/>
        </p:nvGrpSpPr>
        <p:grpSpPr>
          <a:xfrm>
            <a:off x="7572226" y="5014222"/>
            <a:ext cx="337163" cy="315900"/>
            <a:chOff x="0" y="-38100"/>
            <a:chExt cx="99900" cy="93600"/>
          </a:xfrm>
        </p:grpSpPr>
        <p:sp>
          <p:nvSpPr>
            <p:cNvPr id="1896" name="Google Shape;1896;p25"/>
            <p:cNvSpPr/>
            <p:nvPr/>
          </p:nvSpPr>
          <p:spPr>
            <a:xfrm>
              <a:off x="0" y="0"/>
              <a:ext cx="99841" cy="55419"/>
            </a:xfrm>
            <a:custGeom>
              <a:avLst/>
              <a:gdLst/>
              <a:ahLst/>
              <a:cxnLst/>
              <a:rect l="l" t="t" r="r" b="b"/>
              <a:pathLst>
                <a:path w="99841" h="55419" extrusionOk="0">
                  <a:moveTo>
                    <a:pt x="0" y="0"/>
                  </a:moveTo>
                  <a:lnTo>
                    <a:pt x="99841" y="0"/>
                  </a:lnTo>
                  <a:lnTo>
                    <a:pt x="99841" y="55419"/>
                  </a:lnTo>
                  <a:lnTo>
                    <a:pt x="0" y="55419"/>
                  </a:lnTo>
                  <a:close/>
                </a:path>
              </a:pathLst>
            </a:custGeom>
            <a:solidFill>
              <a:srgbClr val="FFFFFF"/>
            </a:solidFill>
            <a:ln>
              <a:noFill/>
            </a:ln>
          </p:spPr>
        </p:sp>
        <p:sp>
          <p:nvSpPr>
            <p:cNvPr id="1897" name="Google Shape;1897;p25"/>
            <p:cNvSpPr txBox="1"/>
            <p:nvPr/>
          </p:nvSpPr>
          <p:spPr>
            <a:xfrm>
              <a:off x="0" y="-38100"/>
              <a:ext cx="99900" cy="936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898" name="Google Shape;1898;p25"/>
          <p:cNvSpPr txBox="1"/>
          <p:nvPr/>
        </p:nvSpPr>
        <p:spPr>
          <a:xfrm>
            <a:off x="7717410" y="5227862"/>
            <a:ext cx="191700" cy="77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500"/>
              <a:buFont typeface="Arial"/>
              <a:buNone/>
            </a:pPr>
            <a:r>
              <a:rPr lang="en-US" sz="500" b="0" i="0" u="none" strike="noStrike" cap="none">
                <a:solidFill>
                  <a:srgbClr val="6A6A6A"/>
                </a:solidFill>
                <a:latin typeface="Inter"/>
                <a:ea typeface="Inter"/>
                <a:cs typeface="Inter"/>
                <a:sym typeface="Inter"/>
              </a:rPr>
              <a:t>アプリ</a:t>
            </a:r>
            <a:endParaRPr sz="1200" b="0" i="0" u="none" strike="noStrike" cap="none">
              <a:solidFill>
                <a:srgbClr val="000000"/>
              </a:solidFill>
              <a:latin typeface="Arial"/>
              <a:ea typeface="Arial"/>
              <a:cs typeface="Arial"/>
              <a:sym typeface="Arial"/>
            </a:endParaRPr>
          </a:p>
        </p:txBody>
      </p:sp>
      <p:sp>
        <p:nvSpPr>
          <p:cNvPr id="1899" name="Google Shape;1899;p25"/>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b="-5"/>
            </a:stretch>
          </a:blipFill>
          <a:ln>
            <a:noFill/>
          </a:ln>
        </p:spPr>
      </p:sp>
      <p:grpSp>
        <p:nvGrpSpPr>
          <p:cNvPr id="1900" name="Google Shape;1900;p25"/>
          <p:cNvGrpSpPr/>
          <p:nvPr/>
        </p:nvGrpSpPr>
        <p:grpSpPr>
          <a:xfrm>
            <a:off x="872534" y="8351050"/>
            <a:ext cx="846442" cy="699635"/>
            <a:chOff x="0" y="0"/>
            <a:chExt cx="1269600" cy="1049400"/>
          </a:xfrm>
        </p:grpSpPr>
        <p:sp>
          <p:nvSpPr>
            <p:cNvPr id="1901" name="Google Shape;1901;p25"/>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902" name="Google Shape;1902;p25"/>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b="0" i="0" u="none" strike="noStrike" cap="none" dirty="0">
                  <a:solidFill>
                    <a:srgbClr val="585858"/>
                  </a:solidFill>
                  <a:latin typeface="Inter"/>
                  <a:ea typeface="Inter"/>
                  <a:cs typeface="Inter"/>
                  <a:sym typeface="Inter"/>
                </a:rPr>
                <a:t>28</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06"/>
        <p:cNvGrpSpPr/>
        <p:nvPr/>
      </p:nvGrpSpPr>
      <p:grpSpPr>
        <a:xfrm>
          <a:off x="0" y="0"/>
          <a:ext cx="0" cy="0"/>
          <a:chOff x="0" y="0"/>
          <a:chExt cx="0" cy="0"/>
        </a:xfrm>
      </p:grpSpPr>
      <p:sp>
        <p:nvSpPr>
          <p:cNvPr id="1907" name="Google Shape;1907;p26"/>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3" cstate="email">
              <a:alphaModFix amt="46000"/>
              <a:extLst>
                <a:ext uri="{28A0092B-C50C-407E-A947-70E740481C1C}">
                  <a14:useLocalDpi xmlns:a14="http://schemas.microsoft.com/office/drawing/2010/main"/>
                </a:ext>
              </a:extLst>
            </a:blip>
            <a:stretch>
              <a:fillRect/>
            </a:stretch>
          </a:blipFill>
          <a:ln>
            <a:noFill/>
          </a:ln>
        </p:spPr>
      </p:sp>
      <p:sp>
        <p:nvSpPr>
          <p:cNvPr id="1908" name="Google Shape;1908;p26"/>
          <p:cNvSpPr/>
          <p:nvPr/>
        </p:nvSpPr>
        <p:spPr>
          <a:xfrm>
            <a:off x="-255905" y="584835"/>
            <a:ext cx="4488815" cy="1087755"/>
          </a:xfrm>
          <a:custGeom>
            <a:avLst/>
            <a:gdLst/>
            <a:ahLst/>
            <a:cxnLst/>
            <a:rect l="l" t="t" r="r" b="b"/>
            <a:pathLst>
              <a:path w="812800" h="197009" extrusionOk="0">
                <a:moveTo>
                  <a:pt x="0" y="0"/>
                </a:moveTo>
                <a:lnTo>
                  <a:pt x="812800" y="0"/>
                </a:lnTo>
                <a:lnTo>
                  <a:pt x="812800" y="197009"/>
                </a:lnTo>
                <a:lnTo>
                  <a:pt x="0" y="197009"/>
                </a:lnTo>
                <a:close/>
              </a:path>
            </a:pathLst>
          </a:custGeom>
          <a:solidFill>
            <a:srgbClr val="003A86"/>
          </a:solidFill>
          <a:ln>
            <a:noFill/>
          </a:ln>
        </p:spPr>
      </p:sp>
      <p:grpSp>
        <p:nvGrpSpPr>
          <p:cNvPr id="1909" name="Google Shape;1909;p26"/>
          <p:cNvGrpSpPr/>
          <p:nvPr/>
        </p:nvGrpSpPr>
        <p:grpSpPr>
          <a:xfrm>
            <a:off x="769378" y="3600766"/>
            <a:ext cx="5124492" cy="4058828"/>
            <a:chOff x="0" y="-9525"/>
            <a:chExt cx="2070000" cy="1639533"/>
          </a:xfrm>
        </p:grpSpPr>
        <p:sp>
          <p:nvSpPr>
            <p:cNvPr id="1910" name="Google Shape;1910;p26"/>
            <p:cNvSpPr/>
            <p:nvPr/>
          </p:nvSpPr>
          <p:spPr>
            <a:xfrm>
              <a:off x="0" y="0"/>
              <a:ext cx="2069944" cy="1630008"/>
            </a:xfrm>
            <a:custGeom>
              <a:avLst/>
              <a:gdLst/>
              <a:ahLst/>
              <a:cxnLst/>
              <a:rect l="l" t="t" r="r" b="b"/>
              <a:pathLst>
                <a:path w="2069944" h="1630008" extrusionOk="0">
                  <a:moveTo>
                    <a:pt x="25516" y="0"/>
                  </a:moveTo>
                  <a:lnTo>
                    <a:pt x="2044428" y="0"/>
                  </a:lnTo>
                  <a:cubicBezTo>
                    <a:pt x="2058520" y="0"/>
                    <a:pt x="2069944" y="11424"/>
                    <a:pt x="2069944" y="25516"/>
                  </a:cubicBezTo>
                  <a:lnTo>
                    <a:pt x="2069944" y="1604492"/>
                  </a:lnTo>
                  <a:cubicBezTo>
                    <a:pt x="2069944" y="1618584"/>
                    <a:pt x="2058520" y="1630008"/>
                    <a:pt x="2044428" y="1630008"/>
                  </a:cubicBezTo>
                  <a:lnTo>
                    <a:pt x="25516" y="1630008"/>
                  </a:lnTo>
                  <a:cubicBezTo>
                    <a:pt x="11424" y="1630008"/>
                    <a:pt x="0" y="1618584"/>
                    <a:pt x="0" y="1604492"/>
                  </a:cubicBezTo>
                  <a:lnTo>
                    <a:pt x="0" y="25516"/>
                  </a:lnTo>
                  <a:cubicBezTo>
                    <a:pt x="0" y="11424"/>
                    <a:pt x="11424" y="0"/>
                    <a:pt x="25516" y="0"/>
                  </a:cubicBezTo>
                  <a:close/>
                </a:path>
              </a:pathLst>
            </a:custGeom>
            <a:solidFill>
              <a:srgbClr val="7DB1FA">
                <a:alpha val="17647"/>
              </a:srgbClr>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1" name="Google Shape;1911;p26"/>
            <p:cNvSpPr txBox="1"/>
            <p:nvPr/>
          </p:nvSpPr>
          <p:spPr>
            <a:xfrm>
              <a:off x="0" y="-9525"/>
              <a:ext cx="2070000" cy="1639500"/>
            </a:xfrm>
            <a:prstGeom prst="rect">
              <a:avLst/>
            </a:prstGeom>
            <a:noFill/>
            <a:ln>
              <a:noFill/>
            </a:ln>
          </p:spPr>
          <p:txBody>
            <a:bodyPr spcFirstLastPara="1" wrap="square" lIns="45150" tIns="45150" rIns="45150" bIns="45150" anchor="ctr" anchorCtr="0">
              <a:noAutofit/>
            </a:bodyPr>
            <a:lstStyle/>
            <a:p>
              <a:pPr marL="0" marR="0" lvl="0" indent="0" algn="ctr" rtl="0">
                <a:lnSpc>
                  <a:spcPct val="4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912" name="Google Shape;1912;p26"/>
          <p:cNvSpPr/>
          <p:nvPr/>
        </p:nvSpPr>
        <p:spPr>
          <a:xfrm>
            <a:off x="941998" y="4454232"/>
            <a:ext cx="646782" cy="525510"/>
          </a:xfrm>
          <a:custGeom>
            <a:avLst/>
            <a:gdLst/>
            <a:ahLst/>
            <a:cxnLst/>
            <a:rect l="l" t="t" r="r" b="b"/>
            <a:pathLst>
              <a:path w="726721" h="590461" extrusionOk="0">
                <a:moveTo>
                  <a:pt x="0" y="0"/>
                </a:moveTo>
                <a:lnTo>
                  <a:pt x="726721" y="0"/>
                </a:lnTo>
                <a:lnTo>
                  <a:pt x="726721" y="590461"/>
                </a:lnTo>
                <a:lnTo>
                  <a:pt x="0" y="590461"/>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sp>
        <p:nvSpPr>
          <p:cNvPr id="1913" name="Google Shape;1913;p26"/>
          <p:cNvSpPr/>
          <p:nvPr/>
        </p:nvSpPr>
        <p:spPr>
          <a:xfrm>
            <a:off x="3483188" y="4456515"/>
            <a:ext cx="646782" cy="525510"/>
          </a:xfrm>
          <a:custGeom>
            <a:avLst/>
            <a:gdLst/>
            <a:ahLst/>
            <a:cxnLst/>
            <a:rect l="l" t="t" r="r" b="b"/>
            <a:pathLst>
              <a:path w="726721" h="590461" extrusionOk="0">
                <a:moveTo>
                  <a:pt x="0" y="0"/>
                </a:moveTo>
                <a:lnTo>
                  <a:pt x="726721" y="0"/>
                </a:lnTo>
                <a:lnTo>
                  <a:pt x="726721" y="590461"/>
                </a:lnTo>
                <a:lnTo>
                  <a:pt x="0" y="590461"/>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grpSp>
        <p:nvGrpSpPr>
          <p:cNvPr id="1914" name="Google Shape;1914;p26"/>
          <p:cNvGrpSpPr/>
          <p:nvPr/>
        </p:nvGrpSpPr>
        <p:grpSpPr>
          <a:xfrm>
            <a:off x="12134155" y="3600766"/>
            <a:ext cx="3268889" cy="5153457"/>
            <a:chOff x="0" y="-9525"/>
            <a:chExt cx="1320443" cy="2081700"/>
          </a:xfrm>
        </p:grpSpPr>
        <p:sp>
          <p:nvSpPr>
            <p:cNvPr id="1915" name="Google Shape;1915;p26"/>
            <p:cNvSpPr/>
            <p:nvPr/>
          </p:nvSpPr>
          <p:spPr>
            <a:xfrm>
              <a:off x="0" y="0"/>
              <a:ext cx="1320443" cy="2072139"/>
            </a:xfrm>
            <a:custGeom>
              <a:avLst/>
              <a:gdLst/>
              <a:ahLst/>
              <a:cxnLst/>
              <a:rect l="l" t="t" r="r" b="b"/>
              <a:pathLst>
                <a:path w="1320443" h="2072139" extrusionOk="0">
                  <a:moveTo>
                    <a:pt x="39999" y="0"/>
                  </a:moveTo>
                  <a:lnTo>
                    <a:pt x="1280444" y="0"/>
                  </a:lnTo>
                  <a:cubicBezTo>
                    <a:pt x="1291053" y="0"/>
                    <a:pt x="1301226" y="4214"/>
                    <a:pt x="1308728" y="11716"/>
                  </a:cubicBezTo>
                  <a:cubicBezTo>
                    <a:pt x="1316229" y="19217"/>
                    <a:pt x="1320443" y="29391"/>
                    <a:pt x="1320443" y="39999"/>
                  </a:cubicBezTo>
                  <a:lnTo>
                    <a:pt x="1320443" y="2032140"/>
                  </a:lnTo>
                  <a:cubicBezTo>
                    <a:pt x="1320443" y="2042748"/>
                    <a:pt x="1316229" y="2052922"/>
                    <a:pt x="1308728" y="2060424"/>
                  </a:cubicBezTo>
                  <a:cubicBezTo>
                    <a:pt x="1301226" y="2067925"/>
                    <a:pt x="1291053" y="2072139"/>
                    <a:pt x="1280444" y="2072139"/>
                  </a:cubicBezTo>
                  <a:lnTo>
                    <a:pt x="39999" y="2072139"/>
                  </a:lnTo>
                  <a:cubicBezTo>
                    <a:pt x="29391" y="2072139"/>
                    <a:pt x="19217" y="2067925"/>
                    <a:pt x="11716" y="2060424"/>
                  </a:cubicBezTo>
                  <a:cubicBezTo>
                    <a:pt x="4214" y="2052922"/>
                    <a:pt x="0" y="2042748"/>
                    <a:pt x="0" y="2032140"/>
                  </a:cubicBezTo>
                  <a:lnTo>
                    <a:pt x="0" y="39999"/>
                  </a:lnTo>
                  <a:cubicBezTo>
                    <a:pt x="0" y="29391"/>
                    <a:pt x="4214" y="19217"/>
                    <a:pt x="11716" y="11716"/>
                  </a:cubicBezTo>
                  <a:cubicBezTo>
                    <a:pt x="19217" y="4214"/>
                    <a:pt x="29391" y="0"/>
                    <a:pt x="39999" y="0"/>
                  </a:cubicBezTo>
                  <a:close/>
                </a:path>
              </a:pathLst>
            </a:custGeom>
            <a:solidFill>
              <a:srgbClr val="7DB1FA">
                <a:alpha val="17647"/>
              </a:srgbClr>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6" name="Google Shape;1916;p26"/>
            <p:cNvSpPr txBox="1"/>
            <p:nvPr/>
          </p:nvSpPr>
          <p:spPr>
            <a:xfrm>
              <a:off x="0" y="-9525"/>
              <a:ext cx="1320300" cy="2081700"/>
            </a:xfrm>
            <a:prstGeom prst="rect">
              <a:avLst/>
            </a:prstGeom>
            <a:noFill/>
            <a:ln>
              <a:noFill/>
            </a:ln>
          </p:spPr>
          <p:txBody>
            <a:bodyPr spcFirstLastPara="1" wrap="square" lIns="45150" tIns="45150" rIns="45150" bIns="45150" anchor="ctr" anchorCtr="0">
              <a:noAutofit/>
            </a:bodyPr>
            <a:lstStyle/>
            <a:p>
              <a:pPr marL="0" marR="0" lvl="0" indent="0" algn="ctr" rtl="0">
                <a:lnSpc>
                  <a:spcPct val="4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917" name="Google Shape;1917;p26"/>
          <p:cNvSpPr/>
          <p:nvPr/>
        </p:nvSpPr>
        <p:spPr>
          <a:xfrm>
            <a:off x="12516343" y="4456515"/>
            <a:ext cx="646782" cy="525510"/>
          </a:xfrm>
          <a:custGeom>
            <a:avLst/>
            <a:gdLst/>
            <a:ahLst/>
            <a:cxnLst/>
            <a:rect l="l" t="t" r="r" b="b"/>
            <a:pathLst>
              <a:path w="726721" h="590461" extrusionOk="0">
                <a:moveTo>
                  <a:pt x="0" y="0"/>
                </a:moveTo>
                <a:lnTo>
                  <a:pt x="726721" y="0"/>
                </a:lnTo>
                <a:lnTo>
                  <a:pt x="726721" y="590461"/>
                </a:lnTo>
                <a:lnTo>
                  <a:pt x="0" y="590461"/>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grpSp>
        <p:nvGrpSpPr>
          <p:cNvPr id="1918" name="Google Shape;1918;p26"/>
          <p:cNvGrpSpPr/>
          <p:nvPr/>
        </p:nvGrpSpPr>
        <p:grpSpPr>
          <a:xfrm>
            <a:off x="4253436" y="5105679"/>
            <a:ext cx="906785" cy="1793791"/>
            <a:chOff x="0" y="0"/>
            <a:chExt cx="2620010" cy="5182870"/>
          </a:xfrm>
        </p:grpSpPr>
        <p:sp>
          <p:nvSpPr>
            <p:cNvPr id="1919" name="Google Shape;1919;p26"/>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0" name="Google Shape;1920;p26"/>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1" name="Google Shape;1921;p26"/>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2" name="Google Shape;1922;p26"/>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3" name="Google Shape;1923;p26"/>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4" name="Google Shape;1924;p26"/>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5" name="Google Shape;1925;p26"/>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6" name="Google Shape;1926;p26"/>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7" name="Google Shape;1927;p26"/>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28" name="Google Shape;1928;p26"/>
          <p:cNvSpPr/>
          <p:nvPr/>
        </p:nvSpPr>
        <p:spPr>
          <a:xfrm>
            <a:off x="4890970" y="5236013"/>
            <a:ext cx="311027" cy="311027"/>
          </a:xfrm>
          <a:custGeom>
            <a:avLst/>
            <a:gdLst/>
            <a:ahLst/>
            <a:cxnLst/>
            <a:rect l="l" t="t" r="r" b="b"/>
            <a:pathLst>
              <a:path w="349469" h="349469" extrusionOk="0">
                <a:moveTo>
                  <a:pt x="0" y="0"/>
                </a:moveTo>
                <a:lnTo>
                  <a:pt x="349469" y="0"/>
                </a:lnTo>
                <a:lnTo>
                  <a:pt x="349469" y="349469"/>
                </a:lnTo>
                <a:lnTo>
                  <a:pt x="0" y="349469"/>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sp>
        <p:nvSpPr>
          <p:cNvPr id="1929" name="Google Shape;1929;p26"/>
          <p:cNvSpPr/>
          <p:nvPr/>
        </p:nvSpPr>
        <p:spPr>
          <a:xfrm>
            <a:off x="4890970" y="5218404"/>
            <a:ext cx="381061" cy="346289"/>
          </a:xfrm>
          <a:custGeom>
            <a:avLst/>
            <a:gdLst/>
            <a:ahLst/>
            <a:cxnLst/>
            <a:rect l="l" t="t" r="r" b="b"/>
            <a:pathLst>
              <a:path w="428158" h="389089" extrusionOk="0">
                <a:moveTo>
                  <a:pt x="0" y="0"/>
                </a:moveTo>
                <a:lnTo>
                  <a:pt x="428158" y="0"/>
                </a:lnTo>
                <a:lnTo>
                  <a:pt x="428158" y="389089"/>
                </a:lnTo>
                <a:lnTo>
                  <a:pt x="0" y="389089"/>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sp>
        <p:nvSpPr>
          <p:cNvPr id="1930" name="Google Shape;1930;p26"/>
          <p:cNvSpPr/>
          <p:nvPr/>
        </p:nvSpPr>
        <p:spPr>
          <a:xfrm>
            <a:off x="3080284" y="3114228"/>
            <a:ext cx="723611" cy="723611"/>
          </a:xfrm>
          <a:custGeom>
            <a:avLst/>
            <a:gdLst/>
            <a:ahLst/>
            <a:cxnLst/>
            <a:rect l="l" t="t" r="r" b="b"/>
            <a:pathLst>
              <a:path w="813046" h="813046" extrusionOk="0">
                <a:moveTo>
                  <a:pt x="0" y="0"/>
                </a:moveTo>
                <a:lnTo>
                  <a:pt x="813046" y="0"/>
                </a:lnTo>
                <a:lnTo>
                  <a:pt x="813046" y="813047"/>
                </a:lnTo>
                <a:lnTo>
                  <a:pt x="0" y="813047"/>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1931" name="Google Shape;1931;p26"/>
          <p:cNvSpPr/>
          <p:nvPr/>
        </p:nvSpPr>
        <p:spPr>
          <a:xfrm>
            <a:off x="3224439" y="3237230"/>
            <a:ext cx="434939" cy="477300"/>
          </a:xfrm>
          <a:custGeom>
            <a:avLst/>
            <a:gdLst/>
            <a:ahLst/>
            <a:cxnLst/>
            <a:rect l="l" t="t" r="r" b="b"/>
            <a:pathLst>
              <a:path w="488696" h="536292" extrusionOk="0">
                <a:moveTo>
                  <a:pt x="0" y="0"/>
                </a:moveTo>
                <a:lnTo>
                  <a:pt x="488696" y="0"/>
                </a:lnTo>
                <a:lnTo>
                  <a:pt x="488696" y="536293"/>
                </a:lnTo>
                <a:lnTo>
                  <a:pt x="0" y="536293"/>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cxnSp>
        <p:nvCxnSpPr>
          <p:cNvPr id="1932" name="Google Shape;1932;p26"/>
          <p:cNvCxnSpPr/>
          <p:nvPr/>
        </p:nvCxnSpPr>
        <p:spPr>
          <a:xfrm>
            <a:off x="6094920" y="5562843"/>
            <a:ext cx="911100" cy="0"/>
          </a:xfrm>
          <a:prstGeom prst="straightConnector1">
            <a:avLst/>
          </a:prstGeom>
          <a:noFill/>
          <a:ln w="38100" cap="flat" cmpd="sng">
            <a:solidFill>
              <a:srgbClr val="231F20"/>
            </a:solidFill>
            <a:prstDash val="solid"/>
            <a:round/>
            <a:headEnd type="none" w="sm" len="sm"/>
            <a:tailEnd type="stealth" w="med" len="med"/>
          </a:ln>
        </p:spPr>
      </p:cxnSp>
      <p:sp>
        <p:nvSpPr>
          <p:cNvPr id="1933" name="Google Shape;1933;p26"/>
          <p:cNvSpPr/>
          <p:nvPr/>
        </p:nvSpPr>
        <p:spPr>
          <a:xfrm>
            <a:off x="7258237" y="5094404"/>
            <a:ext cx="874340" cy="874340"/>
          </a:xfrm>
          <a:custGeom>
            <a:avLst/>
            <a:gdLst/>
            <a:ahLst/>
            <a:cxnLst/>
            <a:rect l="l" t="t" r="r" b="b"/>
            <a:pathLst>
              <a:path w="982404" h="982404" extrusionOk="0">
                <a:moveTo>
                  <a:pt x="0" y="0"/>
                </a:moveTo>
                <a:lnTo>
                  <a:pt x="982404" y="0"/>
                </a:lnTo>
                <a:lnTo>
                  <a:pt x="982404" y="982403"/>
                </a:lnTo>
                <a:lnTo>
                  <a:pt x="0" y="982403"/>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sp>
      <p:sp>
        <p:nvSpPr>
          <p:cNvPr id="1934" name="Google Shape;1934;p26"/>
          <p:cNvSpPr/>
          <p:nvPr/>
        </p:nvSpPr>
        <p:spPr>
          <a:xfrm>
            <a:off x="7409196" y="5245362"/>
            <a:ext cx="572046" cy="572046"/>
          </a:xfrm>
          <a:custGeom>
            <a:avLst/>
            <a:gdLst/>
            <a:ahLst/>
            <a:cxnLst/>
            <a:rect l="l" t="t" r="r" b="b"/>
            <a:pathLst>
              <a:path w="642748" h="642748" extrusionOk="0">
                <a:moveTo>
                  <a:pt x="0" y="0"/>
                </a:moveTo>
                <a:lnTo>
                  <a:pt x="642748" y="0"/>
                </a:lnTo>
                <a:lnTo>
                  <a:pt x="642748" y="642748"/>
                </a:lnTo>
                <a:lnTo>
                  <a:pt x="0" y="642748"/>
                </a:lnTo>
                <a:lnTo>
                  <a:pt x="0" y="0"/>
                </a:lnTo>
                <a:close/>
              </a:path>
            </a:pathLst>
          </a:custGeom>
          <a:blipFill rotWithShape="1">
            <a:blip r:embed="rId13" cstate="email">
              <a:alphaModFix/>
              <a:extLst>
                <a:ext uri="{28A0092B-C50C-407E-A947-70E740481C1C}">
                  <a14:useLocalDpi xmlns:a14="http://schemas.microsoft.com/office/drawing/2010/main"/>
                </a:ext>
              </a:extLst>
            </a:blip>
            <a:stretch>
              <a:fillRect/>
            </a:stretch>
          </a:blipFill>
          <a:ln>
            <a:noFill/>
          </a:ln>
        </p:spPr>
      </p:sp>
      <p:cxnSp>
        <p:nvCxnSpPr>
          <p:cNvPr id="1935" name="Google Shape;1935;p26"/>
          <p:cNvCxnSpPr/>
          <p:nvPr/>
        </p:nvCxnSpPr>
        <p:spPr>
          <a:xfrm>
            <a:off x="8517148" y="5590108"/>
            <a:ext cx="911100" cy="0"/>
          </a:xfrm>
          <a:prstGeom prst="straightConnector1">
            <a:avLst/>
          </a:prstGeom>
          <a:noFill/>
          <a:ln w="38100" cap="flat" cmpd="sng">
            <a:solidFill>
              <a:srgbClr val="231F20"/>
            </a:solidFill>
            <a:prstDash val="solid"/>
            <a:round/>
            <a:headEnd type="none" w="sm" len="sm"/>
            <a:tailEnd type="stealth" w="med" len="med"/>
          </a:ln>
        </p:spPr>
      </p:cxnSp>
      <p:sp>
        <p:nvSpPr>
          <p:cNvPr id="1936" name="Google Shape;1936;p26"/>
          <p:cNvSpPr/>
          <p:nvPr/>
        </p:nvSpPr>
        <p:spPr>
          <a:xfrm>
            <a:off x="9680466" y="5121669"/>
            <a:ext cx="874340" cy="874340"/>
          </a:xfrm>
          <a:custGeom>
            <a:avLst/>
            <a:gdLst/>
            <a:ahLst/>
            <a:cxnLst/>
            <a:rect l="l" t="t" r="r" b="b"/>
            <a:pathLst>
              <a:path w="982404" h="982404" extrusionOk="0">
                <a:moveTo>
                  <a:pt x="0" y="0"/>
                </a:moveTo>
                <a:lnTo>
                  <a:pt x="982404" y="0"/>
                </a:lnTo>
                <a:lnTo>
                  <a:pt x="982404" y="982403"/>
                </a:lnTo>
                <a:lnTo>
                  <a:pt x="0" y="982403"/>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sp>
      <p:sp>
        <p:nvSpPr>
          <p:cNvPr id="1937" name="Google Shape;1937;p26"/>
          <p:cNvSpPr/>
          <p:nvPr/>
        </p:nvSpPr>
        <p:spPr>
          <a:xfrm>
            <a:off x="9903959" y="5218256"/>
            <a:ext cx="425577" cy="680923"/>
          </a:xfrm>
          <a:custGeom>
            <a:avLst/>
            <a:gdLst/>
            <a:ahLst/>
            <a:cxnLst/>
            <a:rect l="l" t="t" r="r" b="b"/>
            <a:pathLst>
              <a:path w="478176" h="765082" extrusionOk="0">
                <a:moveTo>
                  <a:pt x="0" y="0"/>
                </a:moveTo>
                <a:lnTo>
                  <a:pt x="478176" y="0"/>
                </a:lnTo>
                <a:lnTo>
                  <a:pt x="478176" y="765083"/>
                </a:lnTo>
                <a:lnTo>
                  <a:pt x="0" y="765083"/>
                </a:lnTo>
                <a:lnTo>
                  <a:pt x="0" y="0"/>
                </a:lnTo>
                <a:close/>
              </a:path>
            </a:pathLst>
          </a:custGeom>
          <a:blipFill rotWithShape="1">
            <a:blip r:embed="rId14" cstate="email">
              <a:alphaModFix/>
              <a:extLst>
                <a:ext uri="{28A0092B-C50C-407E-A947-70E740481C1C}">
                  <a14:useLocalDpi xmlns:a14="http://schemas.microsoft.com/office/drawing/2010/main"/>
                </a:ext>
              </a:extLst>
            </a:blip>
            <a:stretch>
              <a:fillRect/>
            </a:stretch>
          </a:blipFill>
          <a:ln>
            <a:noFill/>
          </a:ln>
        </p:spPr>
      </p:sp>
      <p:cxnSp>
        <p:nvCxnSpPr>
          <p:cNvPr id="1938" name="Google Shape;1938;p26"/>
          <p:cNvCxnSpPr/>
          <p:nvPr/>
        </p:nvCxnSpPr>
        <p:spPr>
          <a:xfrm>
            <a:off x="10897523" y="5603033"/>
            <a:ext cx="911100" cy="0"/>
          </a:xfrm>
          <a:prstGeom prst="straightConnector1">
            <a:avLst/>
          </a:prstGeom>
          <a:noFill/>
          <a:ln w="38100" cap="flat" cmpd="sng">
            <a:solidFill>
              <a:srgbClr val="231F20"/>
            </a:solidFill>
            <a:prstDash val="solid"/>
            <a:round/>
            <a:headEnd type="none" w="sm" len="sm"/>
            <a:tailEnd type="stealth" w="med" len="med"/>
          </a:ln>
        </p:spPr>
      </p:cxnSp>
      <p:sp>
        <p:nvSpPr>
          <p:cNvPr id="1939" name="Google Shape;1939;p26"/>
          <p:cNvSpPr/>
          <p:nvPr/>
        </p:nvSpPr>
        <p:spPr>
          <a:xfrm>
            <a:off x="13407237" y="3114228"/>
            <a:ext cx="723611" cy="723611"/>
          </a:xfrm>
          <a:custGeom>
            <a:avLst/>
            <a:gdLst/>
            <a:ahLst/>
            <a:cxnLst/>
            <a:rect l="l" t="t" r="r" b="b"/>
            <a:pathLst>
              <a:path w="813046" h="813046" extrusionOk="0">
                <a:moveTo>
                  <a:pt x="0" y="0"/>
                </a:moveTo>
                <a:lnTo>
                  <a:pt x="813046" y="0"/>
                </a:lnTo>
                <a:lnTo>
                  <a:pt x="813046" y="813047"/>
                </a:lnTo>
                <a:lnTo>
                  <a:pt x="0" y="813047"/>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1940" name="Google Shape;1940;p26"/>
          <p:cNvSpPr/>
          <p:nvPr/>
        </p:nvSpPr>
        <p:spPr>
          <a:xfrm>
            <a:off x="13551393" y="3237230"/>
            <a:ext cx="434939" cy="477300"/>
          </a:xfrm>
          <a:custGeom>
            <a:avLst/>
            <a:gdLst/>
            <a:ahLst/>
            <a:cxnLst/>
            <a:rect l="l" t="t" r="r" b="b"/>
            <a:pathLst>
              <a:path w="488696" h="536292" extrusionOk="0">
                <a:moveTo>
                  <a:pt x="0" y="0"/>
                </a:moveTo>
                <a:lnTo>
                  <a:pt x="488696" y="0"/>
                </a:lnTo>
                <a:lnTo>
                  <a:pt x="488696" y="536293"/>
                </a:lnTo>
                <a:lnTo>
                  <a:pt x="0" y="536293"/>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sp>
        <p:nvSpPr>
          <p:cNvPr id="1941" name="Google Shape;1941;p26"/>
          <p:cNvSpPr/>
          <p:nvPr/>
        </p:nvSpPr>
        <p:spPr>
          <a:xfrm>
            <a:off x="12469514" y="5050618"/>
            <a:ext cx="1393883" cy="1615543"/>
          </a:xfrm>
          <a:custGeom>
            <a:avLst/>
            <a:gdLst/>
            <a:ahLst/>
            <a:cxnLst/>
            <a:rect l="l" t="t" r="r" b="b"/>
            <a:pathLst>
              <a:path w="1566161" h="1815217" extrusionOk="0">
                <a:moveTo>
                  <a:pt x="0" y="0"/>
                </a:moveTo>
                <a:lnTo>
                  <a:pt x="1566161" y="0"/>
                </a:lnTo>
                <a:lnTo>
                  <a:pt x="1566161" y="1815218"/>
                </a:lnTo>
                <a:lnTo>
                  <a:pt x="0" y="1815218"/>
                </a:lnTo>
                <a:lnTo>
                  <a:pt x="0" y="0"/>
                </a:lnTo>
                <a:close/>
              </a:path>
            </a:pathLst>
          </a:custGeom>
          <a:blipFill rotWithShape="1">
            <a:blip r:embed="rId15" cstate="email">
              <a:alphaModFix/>
              <a:extLst>
                <a:ext uri="{28A0092B-C50C-407E-A947-70E740481C1C}">
                  <a14:useLocalDpi xmlns:a14="http://schemas.microsoft.com/office/drawing/2010/main"/>
                </a:ext>
              </a:extLst>
            </a:blip>
            <a:stretch>
              <a:fillRect/>
            </a:stretch>
          </a:blipFill>
          <a:ln>
            <a:noFill/>
          </a:ln>
        </p:spPr>
      </p:sp>
      <p:sp>
        <p:nvSpPr>
          <p:cNvPr id="1942" name="Google Shape;1942;p26"/>
          <p:cNvSpPr/>
          <p:nvPr/>
        </p:nvSpPr>
        <p:spPr>
          <a:xfrm>
            <a:off x="13989058" y="5580229"/>
            <a:ext cx="282692" cy="256897"/>
          </a:xfrm>
          <a:custGeom>
            <a:avLst/>
            <a:gdLst/>
            <a:ahLst/>
            <a:cxnLst/>
            <a:rect l="l" t="t" r="r" b="b"/>
            <a:pathLst>
              <a:path w="317631" h="288648" extrusionOk="0">
                <a:moveTo>
                  <a:pt x="0" y="0"/>
                </a:moveTo>
                <a:lnTo>
                  <a:pt x="317631" y="0"/>
                </a:lnTo>
                <a:lnTo>
                  <a:pt x="317631" y="288647"/>
                </a:lnTo>
                <a:lnTo>
                  <a:pt x="0" y="288647"/>
                </a:lnTo>
                <a:lnTo>
                  <a:pt x="0" y="0"/>
                </a:lnTo>
                <a:close/>
              </a:path>
            </a:pathLst>
          </a:custGeom>
          <a:blipFill rotWithShape="1">
            <a:blip r:embed="rId16" cstate="email">
              <a:alphaModFix/>
              <a:extLst>
                <a:ext uri="{28A0092B-C50C-407E-A947-70E740481C1C}">
                  <a14:useLocalDpi xmlns:a14="http://schemas.microsoft.com/office/drawing/2010/main"/>
                </a:ext>
              </a:extLst>
            </a:blip>
            <a:stretch>
              <a:fillRect/>
            </a:stretch>
          </a:blipFill>
          <a:ln>
            <a:noFill/>
          </a:ln>
        </p:spPr>
      </p:sp>
      <p:sp>
        <p:nvSpPr>
          <p:cNvPr id="1943" name="Google Shape;1943;p26"/>
          <p:cNvSpPr/>
          <p:nvPr/>
        </p:nvSpPr>
        <p:spPr>
          <a:xfrm>
            <a:off x="12516343" y="6964105"/>
            <a:ext cx="1421030" cy="1547966"/>
          </a:xfrm>
          <a:custGeom>
            <a:avLst/>
            <a:gdLst/>
            <a:ahLst/>
            <a:cxnLst/>
            <a:rect l="l" t="t" r="r" b="b"/>
            <a:pathLst>
              <a:path w="1596663" h="1739288" extrusionOk="0">
                <a:moveTo>
                  <a:pt x="0" y="0"/>
                </a:moveTo>
                <a:lnTo>
                  <a:pt x="1596662" y="0"/>
                </a:lnTo>
                <a:lnTo>
                  <a:pt x="1596662" y="1739288"/>
                </a:lnTo>
                <a:lnTo>
                  <a:pt x="0" y="1739288"/>
                </a:lnTo>
                <a:lnTo>
                  <a:pt x="0" y="0"/>
                </a:lnTo>
                <a:close/>
              </a:path>
            </a:pathLst>
          </a:custGeom>
          <a:blipFill rotWithShape="1">
            <a:blip r:embed="rId17" cstate="email">
              <a:alphaModFix/>
              <a:extLst>
                <a:ext uri="{28A0092B-C50C-407E-A947-70E740481C1C}">
                  <a14:useLocalDpi xmlns:a14="http://schemas.microsoft.com/office/drawing/2010/main"/>
                </a:ext>
              </a:extLst>
            </a:blip>
            <a:stretch>
              <a:fillRect/>
            </a:stretch>
          </a:blipFill>
          <a:ln>
            <a:noFill/>
          </a:ln>
        </p:spPr>
      </p:sp>
      <p:grpSp>
        <p:nvGrpSpPr>
          <p:cNvPr id="1944" name="Google Shape;1944;p26"/>
          <p:cNvGrpSpPr/>
          <p:nvPr/>
        </p:nvGrpSpPr>
        <p:grpSpPr>
          <a:xfrm>
            <a:off x="5977545" y="4179132"/>
            <a:ext cx="6072894" cy="3086801"/>
            <a:chOff x="0" y="-9525"/>
            <a:chExt cx="2453100" cy="1246890"/>
          </a:xfrm>
        </p:grpSpPr>
        <p:sp>
          <p:nvSpPr>
            <p:cNvPr id="1945" name="Google Shape;1945;p26"/>
            <p:cNvSpPr/>
            <p:nvPr/>
          </p:nvSpPr>
          <p:spPr>
            <a:xfrm>
              <a:off x="0" y="0"/>
              <a:ext cx="2453063" cy="1237365"/>
            </a:xfrm>
            <a:custGeom>
              <a:avLst/>
              <a:gdLst/>
              <a:ahLst/>
              <a:cxnLst/>
              <a:rect l="l" t="t" r="r" b="b"/>
              <a:pathLst>
                <a:path w="2453063" h="1237365" extrusionOk="0">
                  <a:moveTo>
                    <a:pt x="21531" y="0"/>
                  </a:moveTo>
                  <a:lnTo>
                    <a:pt x="2431532" y="0"/>
                  </a:lnTo>
                  <a:cubicBezTo>
                    <a:pt x="2443423" y="0"/>
                    <a:pt x="2453063" y="9640"/>
                    <a:pt x="2453063" y="21531"/>
                  </a:cubicBezTo>
                  <a:lnTo>
                    <a:pt x="2453063" y="1215834"/>
                  </a:lnTo>
                  <a:cubicBezTo>
                    <a:pt x="2453063" y="1227726"/>
                    <a:pt x="2443423" y="1237365"/>
                    <a:pt x="2431532" y="1237365"/>
                  </a:cubicBezTo>
                  <a:lnTo>
                    <a:pt x="21531" y="1237365"/>
                  </a:lnTo>
                  <a:cubicBezTo>
                    <a:pt x="9640" y="1237365"/>
                    <a:pt x="0" y="1227726"/>
                    <a:pt x="0" y="1215834"/>
                  </a:cubicBezTo>
                  <a:lnTo>
                    <a:pt x="0" y="21531"/>
                  </a:lnTo>
                  <a:cubicBezTo>
                    <a:pt x="0" y="9640"/>
                    <a:pt x="9640" y="0"/>
                    <a:pt x="21531" y="0"/>
                  </a:cubicBezTo>
                  <a:close/>
                </a:path>
              </a:pathLst>
            </a:custGeom>
            <a:solidFill>
              <a:srgbClr val="000000">
                <a:alpha val="0"/>
              </a:srgbClr>
            </a:solidFill>
            <a:ln w="9525" cap="sq" cmpd="sng">
              <a:solidFill>
                <a:srgbClr val="585858"/>
              </a:solidFill>
              <a:prstDash val="dash"/>
              <a:miter lim="8000"/>
              <a:headEnd type="none" w="sm" len="sm"/>
              <a:tailEnd type="none" w="sm" len="sm"/>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6" name="Google Shape;1946;p26"/>
            <p:cNvSpPr txBox="1"/>
            <p:nvPr/>
          </p:nvSpPr>
          <p:spPr>
            <a:xfrm>
              <a:off x="0" y="-9525"/>
              <a:ext cx="2453100" cy="1246800"/>
            </a:xfrm>
            <a:prstGeom prst="rect">
              <a:avLst/>
            </a:prstGeom>
            <a:noFill/>
            <a:ln>
              <a:noFill/>
            </a:ln>
          </p:spPr>
          <p:txBody>
            <a:bodyPr spcFirstLastPara="1" wrap="square" lIns="45150" tIns="45150" rIns="45150" bIns="45150" anchor="ctr" anchorCtr="0">
              <a:noAutofit/>
            </a:bodyPr>
            <a:lstStyle/>
            <a:p>
              <a:pPr marL="0" marR="0" lvl="0" indent="0" algn="ctr" rtl="0">
                <a:lnSpc>
                  <a:spcPct val="47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1947" name="Google Shape;1947;p26"/>
          <p:cNvSpPr/>
          <p:nvPr/>
        </p:nvSpPr>
        <p:spPr>
          <a:xfrm>
            <a:off x="14072952" y="7366537"/>
            <a:ext cx="283349" cy="272369"/>
          </a:xfrm>
          <a:custGeom>
            <a:avLst/>
            <a:gdLst/>
            <a:ahLst/>
            <a:cxnLst/>
            <a:rect l="l" t="t" r="r" b="b"/>
            <a:pathLst>
              <a:path w="318370" h="306033" extrusionOk="0">
                <a:moveTo>
                  <a:pt x="0" y="0"/>
                </a:moveTo>
                <a:lnTo>
                  <a:pt x="318369" y="0"/>
                </a:lnTo>
                <a:lnTo>
                  <a:pt x="318369" y="306032"/>
                </a:lnTo>
                <a:lnTo>
                  <a:pt x="0" y="306032"/>
                </a:lnTo>
                <a:lnTo>
                  <a:pt x="0" y="0"/>
                </a:lnTo>
                <a:close/>
              </a:path>
            </a:pathLst>
          </a:custGeom>
          <a:blipFill rotWithShape="1">
            <a:blip r:embed="rId18">
              <a:alphaModFix/>
            </a:blip>
            <a:stretch>
              <a:fillRect/>
            </a:stretch>
          </a:blipFill>
          <a:ln>
            <a:noFill/>
          </a:ln>
        </p:spPr>
      </p:sp>
      <p:sp>
        <p:nvSpPr>
          <p:cNvPr id="1948" name="Google Shape;1948;p26"/>
          <p:cNvSpPr/>
          <p:nvPr/>
        </p:nvSpPr>
        <p:spPr>
          <a:xfrm>
            <a:off x="1741416" y="5111172"/>
            <a:ext cx="913859" cy="1800249"/>
          </a:xfrm>
          <a:custGeom>
            <a:avLst/>
            <a:gdLst/>
            <a:ahLst/>
            <a:cxnLst/>
            <a:rect l="l" t="t" r="r" b="b"/>
            <a:pathLst>
              <a:path w="1026808" h="2022752" extrusionOk="0">
                <a:moveTo>
                  <a:pt x="0" y="0"/>
                </a:moveTo>
                <a:lnTo>
                  <a:pt x="1026808" y="0"/>
                </a:lnTo>
                <a:lnTo>
                  <a:pt x="1026808" y="2022752"/>
                </a:lnTo>
                <a:lnTo>
                  <a:pt x="0" y="2022752"/>
                </a:lnTo>
                <a:lnTo>
                  <a:pt x="0" y="0"/>
                </a:lnTo>
                <a:close/>
              </a:path>
            </a:pathLst>
          </a:custGeom>
          <a:blipFill rotWithShape="1">
            <a:blip r:embed="rId19" cstate="email">
              <a:alphaModFix/>
              <a:extLst>
                <a:ext uri="{28A0092B-C50C-407E-A947-70E740481C1C}">
                  <a14:useLocalDpi xmlns:a14="http://schemas.microsoft.com/office/drawing/2010/main"/>
                </a:ext>
              </a:extLst>
            </a:blip>
            <a:stretch>
              <a:fillRect/>
            </a:stretch>
          </a:blipFill>
          <a:ln>
            <a:noFill/>
          </a:ln>
        </p:spPr>
      </p:sp>
      <p:sp>
        <p:nvSpPr>
          <p:cNvPr id="1949" name="Google Shape;1949;p26"/>
          <p:cNvSpPr txBox="1"/>
          <p:nvPr/>
        </p:nvSpPr>
        <p:spPr>
          <a:xfrm>
            <a:off x="892232" y="2665495"/>
            <a:ext cx="14510700" cy="384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2500"/>
              <a:buFont typeface="Arial"/>
              <a:buNone/>
            </a:pPr>
            <a:r>
              <a:rPr lang="en-US" sz="2500" b="1" i="0" u="none" strike="noStrike" cap="none">
                <a:solidFill>
                  <a:srgbClr val="00234F"/>
                </a:solidFill>
                <a:latin typeface="Inter"/>
                <a:ea typeface="Inter"/>
                <a:cs typeface="Inter"/>
                <a:sym typeface="Inter"/>
              </a:rPr>
              <a:t>How Online Delivery Feature Works</a:t>
            </a:r>
            <a:endParaRPr sz="1200" b="0" i="0" u="none" strike="noStrike" cap="none">
              <a:solidFill>
                <a:srgbClr val="000000"/>
              </a:solidFill>
              <a:latin typeface="Arial"/>
              <a:ea typeface="Arial"/>
              <a:cs typeface="Arial"/>
              <a:sym typeface="Arial"/>
            </a:endParaRPr>
          </a:p>
        </p:txBody>
      </p:sp>
      <p:sp>
        <p:nvSpPr>
          <p:cNvPr id="1950" name="Google Shape;1950;p26"/>
          <p:cNvSpPr txBox="1"/>
          <p:nvPr/>
        </p:nvSpPr>
        <p:spPr>
          <a:xfrm>
            <a:off x="4696487" y="644964"/>
            <a:ext cx="114036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600"/>
              <a:buFont typeface="Arial"/>
              <a:buNone/>
            </a:pPr>
            <a:r>
              <a:rPr lang="en-US" sz="2600" b="0" i="0" u="none" strike="noStrike" cap="none">
                <a:solidFill>
                  <a:srgbClr val="004AAD"/>
                </a:solidFill>
                <a:latin typeface="Inter"/>
                <a:ea typeface="Inter"/>
                <a:cs typeface="Inter"/>
                <a:sym typeface="Inter"/>
              </a:rPr>
              <a:t>CASE STUDY | </a:t>
            </a:r>
            <a:r>
              <a:rPr lang="en-US" sz="2600" b="1" i="0" u="none" strike="noStrike" cap="none">
                <a:solidFill>
                  <a:srgbClr val="004AAD"/>
                </a:solidFill>
                <a:latin typeface="Inter"/>
                <a:ea typeface="Inter"/>
                <a:cs typeface="Inter"/>
                <a:sym typeface="Inter"/>
              </a:rPr>
              <a:t>SCAN&amp;GO - RETAIL SMART MOBILE APPLICATION: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600"/>
              <a:buFont typeface="Arial"/>
              <a:buNone/>
            </a:pPr>
            <a:r>
              <a:rPr lang="en-US" sz="2600" b="1" i="0" u="none" strike="noStrike" cap="none">
                <a:solidFill>
                  <a:srgbClr val="004AAD"/>
                </a:solidFill>
                <a:latin typeface="Inter"/>
                <a:ea typeface="Inter"/>
                <a:cs typeface="Inter"/>
                <a:sym typeface="Inter"/>
              </a:rPr>
              <a:t>FROM LONG QUEUES TO SEAMLESS SUPERMARKET SHOPPING (5/7)</a:t>
            </a:r>
            <a:endParaRPr sz="1200" b="0" i="0" u="none" strike="noStrike" cap="none">
              <a:solidFill>
                <a:srgbClr val="000000"/>
              </a:solidFill>
              <a:latin typeface="Arial"/>
              <a:ea typeface="Arial"/>
              <a:cs typeface="Arial"/>
              <a:sym typeface="Arial"/>
            </a:endParaRPr>
          </a:p>
        </p:txBody>
      </p:sp>
      <p:sp>
        <p:nvSpPr>
          <p:cNvPr id="1951" name="Google Shape;1951;p26"/>
          <p:cNvSpPr txBox="1"/>
          <p:nvPr/>
        </p:nvSpPr>
        <p:spPr>
          <a:xfrm>
            <a:off x="391160" y="913765"/>
            <a:ext cx="3847465" cy="43053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3100"/>
              <a:buFont typeface="Arial"/>
              <a:buNone/>
            </a:pPr>
            <a:r>
              <a:rPr lang="en-US" sz="2800" b="1" i="0" u="none" strike="noStrike" cap="none">
                <a:solidFill>
                  <a:srgbClr val="EEEEEE"/>
                </a:solidFill>
                <a:latin typeface="Inter"/>
                <a:ea typeface="Inter"/>
                <a:cs typeface="Inter"/>
                <a:sym typeface="Inter"/>
              </a:rPr>
              <a:t>2- ONLINE DELIVERY</a:t>
            </a:r>
            <a:endParaRPr sz="2800" b="1" i="0" u="none" strike="noStrike" cap="none">
              <a:solidFill>
                <a:srgbClr val="EEEEEE"/>
              </a:solidFill>
              <a:latin typeface="Inter"/>
              <a:ea typeface="Inter"/>
              <a:cs typeface="Inter"/>
              <a:sym typeface="Inter"/>
            </a:endParaRPr>
          </a:p>
        </p:txBody>
      </p:sp>
      <p:sp>
        <p:nvSpPr>
          <p:cNvPr id="1952" name="Google Shape;1952;p26"/>
          <p:cNvSpPr txBox="1"/>
          <p:nvPr/>
        </p:nvSpPr>
        <p:spPr>
          <a:xfrm>
            <a:off x="1132247" y="1876402"/>
            <a:ext cx="14421300" cy="246300"/>
          </a:xfrm>
          <a:prstGeom prst="rect">
            <a:avLst/>
          </a:prstGeom>
          <a:noFill/>
          <a:ln>
            <a:noFill/>
          </a:ln>
        </p:spPr>
        <p:txBody>
          <a:bodyPr spcFirstLastPara="1" wrap="square" lIns="0" tIns="0" rIns="0" bIns="0" anchor="t" anchorCtr="0">
            <a:spAutoFit/>
          </a:bodyPr>
          <a:lstStyle/>
          <a:p>
            <a:pPr marL="342900" marR="0" lvl="1" indent="-165100" algn="l" rtl="0">
              <a:lnSpc>
                <a:spcPct val="140000"/>
              </a:lnSpc>
              <a:spcBef>
                <a:spcPts val="0"/>
              </a:spcBef>
              <a:spcAft>
                <a:spcPts val="0"/>
              </a:spcAft>
              <a:buClr>
                <a:srgbClr val="004AAD"/>
              </a:buClr>
              <a:buSzPts val="1600"/>
              <a:buFont typeface="Arial"/>
              <a:buChar char="•"/>
            </a:pPr>
            <a:r>
              <a:rPr lang="en-US" sz="1600" b="1" i="0" u="none" strike="noStrike" cap="none">
                <a:solidFill>
                  <a:srgbClr val="004AAD"/>
                </a:solidFill>
                <a:latin typeface="Inter"/>
                <a:ea typeface="Inter"/>
                <a:cs typeface="Inter"/>
                <a:sym typeface="Inter"/>
              </a:rPr>
              <a:t>Online Delivery: </a:t>
            </a:r>
            <a:r>
              <a:rPr lang="en-US" sz="1600" b="0" i="0" u="none" strike="noStrike" cap="none">
                <a:solidFill>
                  <a:srgbClr val="585858"/>
                </a:solidFill>
                <a:latin typeface="Inter"/>
                <a:ea typeface="Inter"/>
                <a:cs typeface="Inter"/>
                <a:sym typeface="Inter"/>
              </a:rPr>
              <a:t>Convenient groceries shopping through the app or website, then user can choose to receive with home delivery &amp; in-store pickup</a:t>
            </a:r>
            <a:endParaRPr sz="1200" b="0" i="0" u="none" strike="noStrike" cap="none">
              <a:solidFill>
                <a:srgbClr val="000000"/>
              </a:solidFill>
              <a:latin typeface="Arial"/>
              <a:ea typeface="Arial"/>
              <a:cs typeface="Arial"/>
              <a:sym typeface="Arial"/>
            </a:endParaRPr>
          </a:p>
        </p:txBody>
      </p:sp>
      <p:sp>
        <p:nvSpPr>
          <p:cNvPr id="1953" name="Google Shape;1953;p26"/>
          <p:cNvSpPr txBox="1"/>
          <p:nvPr/>
        </p:nvSpPr>
        <p:spPr>
          <a:xfrm>
            <a:off x="13262925" y="4601566"/>
            <a:ext cx="1461900" cy="246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Pick-up</a:t>
            </a:r>
            <a:endParaRPr sz="1200" b="0" i="0" u="none" strike="noStrike" cap="none">
              <a:solidFill>
                <a:srgbClr val="000000"/>
              </a:solidFill>
              <a:latin typeface="Arial"/>
              <a:ea typeface="Arial"/>
              <a:cs typeface="Arial"/>
              <a:sym typeface="Arial"/>
            </a:endParaRPr>
          </a:p>
        </p:txBody>
      </p:sp>
      <p:sp>
        <p:nvSpPr>
          <p:cNvPr id="1954" name="Google Shape;1954;p26"/>
          <p:cNvSpPr txBox="1"/>
          <p:nvPr/>
        </p:nvSpPr>
        <p:spPr>
          <a:xfrm>
            <a:off x="1685118" y="4599283"/>
            <a:ext cx="1572600" cy="2463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Online Order</a:t>
            </a:r>
            <a:endParaRPr sz="1200" b="0" i="0" u="none" strike="noStrike" cap="none">
              <a:solidFill>
                <a:srgbClr val="000000"/>
              </a:solidFill>
              <a:latin typeface="Arial"/>
              <a:ea typeface="Arial"/>
              <a:cs typeface="Arial"/>
              <a:sym typeface="Arial"/>
            </a:endParaRPr>
          </a:p>
        </p:txBody>
      </p:sp>
      <p:sp>
        <p:nvSpPr>
          <p:cNvPr id="1955" name="Google Shape;1955;p26"/>
          <p:cNvSpPr txBox="1"/>
          <p:nvPr/>
        </p:nvSpPr>
        <p:spPr>
          <a:xfrm>
            <a:off x="4222296" y="4507236"/>
            <a:ext cx="1647300" cy="541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Process Online Payment</a:t>
            </a:r>
            <a:endParaRPr sz="1200" b="0" i="0" u="none" strike="noStrike" cap="none">
              <a:solidFill>
                <a:srgbClr val="000000"/>
              </a:solidFill>
              <a:latin typeface="Arial"/>
              <a:ea typeface="Arial"/>
              <a:cs typeface="Arial"/>
              <a:sym typeface="Arial"/>
            </a:endParaRPr>
          </a:p>
        </p:txBody>
      </p:sp>
      <p:sp>
        <p:nvSpPr>
          <p:cNvPr id="1956" name="Google Shape;1956;p26"/>
          <p:cNvSpPr txBox="1"/>
          <p:nvPr/>
        </p:nvSpPr>
        <p:spPr>
          <a:xfrm>
            <a:off x="956620" y="7042429"/>
            <a:ext cx="2485200" cy="1848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Choose the products on the App</a:t>
            </a:r>
            <a:endParaRPr sz="1200" b="0" i="0" u="none" strike="noStrike" cap="none">
              <a:solidFill>
                <a:srgbClr val="000000"/>
              </a:solidFill>
              <a:latin typeface="Arial"/>
              <a:ea typeface="Arial"/>
              <a:cs typeface="Arial"/>
              <a:sym typeface="Arial"/>
            </a:endParaRPr>
          </a:p>
        </p:txBody>
      </p:sp>
      <p:sp>
        <p:nvSpPr>
          <p:cNvPr id="1957" name="Google Shape;1957;p26"/>
          <p:cNvSpPr txBox="1"/>
          <p:nvPr/>
        </p:nvSpPr>
        <p:spPr>
          <a:xfrm>
            <a:off x="2655324" y="3967960"/>
            <a:ext cx="1572600" cy="2463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Customers</a:t>
            </a:r>
            <a:endParaRPr sz="1200" b="0" i="0" u="none" strike="noStrike" cap="none">
              <a:solidFill>
                <a:srgbClr val="000000"/>
              </a:solidFill>
              <a:latin typeface="Arial"/>
              <a:ea typeface="Arial"/>
              <a:cs typeface="Arial"/>
              <a:sym typeface="Arial"/>
            </a:endParaRPr>
          </a:p>
        </p:txBody>
      </p:sp>
      <p:sp>
        <p:nvSpPr>
          <p:cNvPr id="1958" name="Google Shape;1958;p26"/>
          <p:cNvSpPr txBox="1"/>
          <p:nvPr/>
        </p:nvSpPr>
        <p:spPr>
          <a:xfrm>
            <a:off x="6869564" y="6070721"/>
            <a:ext cx="1649400" cy="5418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Online Delivery Server</a:t>
            </a:r>
            <a:endParaRPr sz="1200" b="0" i="0" u="none" strike="noStrike" cap="none">
              <a:solidFill>
                <a:srgbClr val="000000"/>
              </a:solidFill>
              <a:latin typeface="Arial"/>
              <a:ea typeface="Arial"/>
              <a:cs typeface="Arial"/>
              <a:sym typeface="Arial"/>
            </a:endParaRPr>
          </a:p>
        </p:txBody>
      </p:sp>
      <p:sp>
        <p:nvSpPr>
          <p:cNvPr id="1959" name="Google Shape;1959;p26"/>
          <p:cNvSpPr txBox="1"/>
          <p:nvPr/>
        </p:nvSpPr>
        <p:spPr>
          <a:xfrm>
            <a:off x="6094920" y="5098556"/>
            <a:ext cx="924600" cy="406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Order Information</a:t>
            </a:r>
            <a:endParaRPr sz="1200" b="0" i="0" u="none" strike="noStrike" cap="none">
              <a:solidFill>
                <a:srgbClr val="000000"/>
              </a:solidFill>
              <a:latin typeface="Arial"/>
              <a:ea typeface="Arial"/>
              <a:cs typeface="Arial"/>
              <a:sym typeface="Arial"/>
            </a:endParaRPr>
          </a:p>
        </p:txBody>
      </p:sp>
      <p:sp>
        <p:nvSpPr>
          <p:cNvPr id="1960" name="Google Shape;1960;p26"/>
          <p:cNvSpPr txBox="1"/>
          <p:nvPr/>
        </p:nvSpPr>
        <p:spPr>
          <a:xfrm>
            <a:off x="9291793" y="6155252"/>
            <a:ext cx="1649400" cy="5418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Store’s Product Picking App</a:t>
            </a:r>
            <a:endParaRPr sz="1200" b="0" i="0" u="none" strike="noStrike" cap="none">
              <a:solidFill>
                <a:srgbClr val="000000"/>
              </a:solidFill>
              <a:latin typeface="Arial"/>
              <a:ea typeface="Arial"/>
              <a:cs typeface="Arial"/>
              <a:sym typeface="Arial"/>
            </a:endParaRPr>
          </a:p>
        </p:txBody>
      </p:sp>
      <p:sp>
        <p:nvSpPr>
          <p:cNvPr id="1961" name="Google Shape;1961;p26"/>
          <p:cNvSpPr txBox="1"/>
          <p:nvPr/>
        </p:nvSpPr>
        <p:spPr>
          <a:xfrm>
            <a:off x="8519224" y="5111172"/>
            <a:ext cx="924600" cy="406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Order Information</a:t>
            </a:r>
            <a:endParaRPr sz="1200" b="0" i="0" u="none" strike="noStrike" cap="none">
              <a:solidFill>
                <a:srgbClr val="000000"/>
              </a:solidFill>
              <a:latin typeface="Arial"/>
              <a:ea typeface="Arial"/>
              <a:cs typeface="Arial"/>
              <a:sym typeface="Arial"/>
            </a:endParaRPr>
          </a:p>
        </p:txBody>
      </p:sp>
      <p:sp>
        <p:nvSpPr>
          <p:cNvPr id="1962" name="Google Shape;1962;p26"/>
          <p:cNvSpPr txBox="1"/>
          <p:nvPr/>
        </p:nvSpPr>
        <p:spPr>
          <a:xfrm>
            <a:off x="10788465" y="5111172"/>
            <a:ext cx="1161300" cy="406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Store’s Staff Prepare Order</a:t>
            </a:r>
            <a:endParaRPr sz="1200" b="0" i="0" u="none" strike="noStrike" cap="none">
              <a:solidFill>
                <a:srgbClr val="000000"/>
              </a:solidFill>
              <a:latin typeface="Arial"/>
              <a:ea typeface="Arial"/>
              <a:cs typeface="Arial"/>
              <a:sym typeface="Arial"/>
            </a:endParaRPr>
          </a:p>
        </p:txBody>
      </p:sp>
      <p:sp>
        <p:nvSpPr>
          <p:cNvPr id="1963" name="Google Shape;1963;p26"/>
          <p:cNvSpPr txBox="1"/>
          <p:nvPr/>
        </p:nvSpPr>
        <p:spPr>
          <a:xfrm>
            <a:off x="12982277" y="3967960"/>
            <a:ext cx="1572600" cy="2463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Customers</a:t>
            </a:r>
            <a:endParaRPr sz="1200" b="0" i="0" u="none" strike="noStrike" cap="none">
              <a:solidFill>
                <a:srgbClr val="000000"/>
              </a:solidFill>
              <a:latin typeface="Arial"/>
              <a:ea typeface="Arial"/>
              <a:cs typeface="Arial"/>
              <a:sym typeface="Arial"/>
            </a:endParaRPr>
          </a:p>
        </p:txBody>
      </p:sp>
      <p:sp>
        <p:nvSpPr>
          <p:cNvPr id="1964" name="Google Shape;1964;p26"/>
          <p:cNvSpPr txBox="1"/>
          <p:nvPr/>
        </p:nvSpPr>
        <p:spPr>
          <a:xfrm>
            <a:off x="13997166" y="5889197"/>
            <a:ext cx="1242300" cy="184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Home Delivery</a:t>
            </a:r>
            <a:endParaRPr sz="1200" b="0" i="0" u="none" strike="noStrike" cap="none">
              <a:solidFill>
                <a:srgbClr val="000000"/>
              </a:solidFill>
              <a:latin typeface="Arial"/>
              <a:ea typeface="Arial"/>
              <a:cs typeface="Arial"/>
              <a:sym typeface="Arial"/>
            </a:endParaRPr>
          </a:p>
        </p:txBody>
      </p:sp>
      <p:sp>
        <p:nvSpPr>
          <p:cNvPr id="1965" name="Google Shape;1965;p26"/>
          <p:cNvSpPr txBox="1"/>
          <p:nvPr/>
        </p:nvSpPr>
        <p:spPr>
          <a:xfrm>
            <a:off x="13240403" y="6781521"/>
            <a:ext cx="1242300" cy="2463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Or</a:t>
            </a:r>
            <a:endParaRPr sz="1200" b="0" i="0" u="none" strike="noStrike" cap="none">
              <a:solidFill>
                <a:srgbClr val="000000"/>
              </a:solidFill>
              <a:latin typeface="Arial"/>
              <a:ea typeface="Arial"/>
              <a:cs typeface="Arial"/>
              <a:sym typeface="Arial"/>
            </a:endParaRPr>
          </a:p>
        </p:txBody>
      </p:sp>
      <p:sp>
        <p:nvSpPr>
          <p:cNvPr id="1966" name="Google Shape;1966;p26"/>
          <p:cNvSpPr txBox="1"/>
          <p:nvPr/>
        </p:nvSpPr>
        <p:spPr>
          <a:xfrm>
            <a:off x="14072952" y="7701896"/>
            <a:ext cx="963900" cy="4065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Fast Pick-up at Store</a:t>
            </a:r>
            <a:endParaRPr sz="1200" b="0" i="0" u="none" strike="noStrike" cap="none">
              <a:solidFill>
                <a:srgbClr val="000000"/>
              </a:solidFill>
              <a:latin typeface="Arial"/>
              <a:ea typeface="Arial"/>
              <a:cs typeface="Arial"/>
              <a:sym typeface="Arial"/>
            </a:endParaRPr>
          </a:p>
        </p:txBody>
      </p:sp>
      <p:sp>
        <p:nvSpPr>
          <p:cNvPr id="1967" name="Google Shape;1967;p26"/>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20" cstate="email">
              <a:alphaModFix/>
              <a:extLst>
                <a:ext uri="{28A0092B-C50C-407E-A947-70E740481C1C}">
                  <a14:useLocalDpi xmlns:a14="http://schemas.microsoft.com/office/drawing/2010/main"/>
                </a:ext>
              </a:extLst>
            </a:blip>
            <a:stretch>
              <a:fillRect b="-5"/>
            </a:stretch>
          </a:blipFill>
          <a:ln>
            <a:noFill/>
          </a:ln>
        </p:spPr>
      </p:sp>
      <p:grpSp>
        <p:nvGrpSpPr>
          <p:cNvPr id="1968" name="Google Shape;1968;p26"/>
          <p:cNvGrpSpPr/>
          <p:nvPr/>
        </p:nvGrpSpPr>
        <p:grpSpPr>
          <a:xfrm>
            <a:off x="872534" y="8351050"/>
            <a:ext cx="846442" cy="699635"/>
            <a:chOff x="0" y="0"/>
            <a:chExt cx="1269600" cy="1049400"/>
          </a:xfrm>
        </p:grpSpPr>
        <p:sp>
          <p:nvSpPr>
            <p:cNvPr id="1969" name="Google Shape;1969;p26"/>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1970" name="Google Shape;1970;p26"/>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b="0" i="0" u="none" strike="noStrike" cap="none" dirty="0">
                  <a:solidFill>
                    <a:srgbClr val="585858"/>
                  </a:solidFill>
                  <a:latin typeface="Inter"/>
                  <a:ea typeface="Inter"/>
                  <a:cs typeface="Inter"/>
                  <a:sym typeface="Inter"/>
                </a:rPr>
                <a:t>29</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74"/>
        <p:cNvGrpSpPr/>
        <p:nvPr/>
      </p:nvGrpSpPr>
      <p:grpSpPr>
        <a:xfrm>
          <a:off x="0" y="0"/>
          <a:ext cx="0" cy="0"/>
          <a:chOff x="0" y="0"/>
          <a:chExt cx="0" cy="0"/>
        </a:xfrm>
      </p:grpSpPr>
      <p:sp>
        <p:nvSpPr>
          <p:cNvPr id="1975" name="Google Shape;1975;p27"/>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3" cstate="email">
              <a:alphaModFix amt="46000"/>
              <a:extLst>
                <a:ext uri="{28A0092B-C50C-407E-A947-70E740481C1C}">
                  <a14:useLocalDpi xmlns:a14="http://schemas.microsoft.com/office/drawing/2010/main"/>
                </a:ext>
              </a:extLst>
            </a:blip>
            <a:stretch>
              <a:fillRect/>
            </a:stretch>
          </a:blipFill>
          <a:ln>
            <a:noFill/>
          </a:ln>
        </p:spPr>
      </p:sp>
      <p:sp>
        <p:nvSpPr>
          <p:cNvPr id="1976" name="Google Shape;1976;p27"/>
          <p:cNvSpPr/>
          <p:nvPr/>
        </p:nvSpPr>
        <p:spPr>
          <a:xfrm>
            <a:off x="-255905" y="584835"/>
            <a:ext cx="4488815" cy="1087755"/>
          </a:xfrm>
          <a:custGeom>
            <a:avLst/>
            <a:gdLst/>
            <a:ahLst/>
            <a:cxnLst/>
            <a:rect l="l" t="t" r="r" b="b"/>
            <a:pathLst>
              <a:path w="812800" h="197009" extrusionOk="0">
                <a:moveTo>
                  <a:pt x="0" y="0"/>
                </a:moveTo>
                <a:lnTo>
                  <a:pt x="812800" y="0"/>
                </a:lnTo>
                <a:lnTo>
                  <a:pt x="812800" y="197009"/>
                </a:lnTo>
                <a:lnTo>
                  <a:pt x="0" y="197009"/>
                </a:lnTo>
                <a:close/>
              </a:path>
            </a:pathLst>
          </a:custGeom>
          <a:solidFill>
            <a:srgbClr val="003A86"/>
          </a:solidFill>
          <a:ln>
            <a:noFill/>
          </a:ln>
        </p:spPr>
      </p:sp>
      <p:grpSp>
        <p:nvGrpSpPr>
          <p:cNvPr id="1977" name="Google Shape;1977;p27"/>
          <p:cNvGrpSpPr/>
          <p:nvPr/>
        </p:nvGrpSpPr>
        <p:grpSpPr>
          <a:xfrm>
            <a:off x="2869530" y="4122336"/>
            <a:ext cx="1931471" cy="3820812"/>
            <a:chOff x="0" y="0"/>
            <a:chExt cx="2620010" cy="5182870"/>
          </a:xfrm>
        </p:grpSpPr>
        <p:sp>
          <p:nvSpPr>
            <p:cNvPr id="1978" name="Google Shape;1978;p27"/>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9" name="Google Shape;1979;p27"/>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0" name="Google Shape;1980;p27"/>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1" name="Google Shape;1981;p27"/>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2" name="Google Shape;1982;p27"/>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3" name="Google Shape;1983;p27"/>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4" name="Google Shape;1984;p27"/>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5" name="Google Shape;1985;p27"/>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6" name="Google Shape;1986;p27"/>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87" name="Google Shape;1987;p27"/>
          <p:cNvGrpSpPr/>
          <p:nvPr/>
        </p:nvGrpSpPr>
        <p:grpSpPr>
          <a:xfrm>
            <a:off x="914400" y="4118593"/>
            <a:ext cx="1931471" cy="3820812"/>
            <a:chOff x="0" y="0"/>
            <a:chExt cx="2620010" cy="5182870"/>
          </a:xfrm>
        </p:grpSpPr>
        <p:sp>
          <p:nvSpPr>
            <p:cNvPr id="1988" name="Google Shape;1988;p27"/>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9" name="Google Shape;1989;p27"/>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0" name="Google Shape;1990;p27"/>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1" name="Google Shape;1991;p27"/>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2" name="Google Shape;1992;p27"/>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3" name="Google Shape;1993;p27"/>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4" name="Google Shape;1994;p27"/>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5" name="Google Shape;1995;p27"/>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6" name="Google Shape;1996;p27"/>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97" name="Google Shape;1997;p27"/>
          <p:cNvSpPr/>
          <p:nvPr/>
        </p:nvSpPr>
        <p:spPr>
          <a:xfrm>
            <a:off x="949383" y="3416457"/>
            <a:ext cx="707113" cy="574529"/>
          </a:xfrm>
          <a:custGeom>
            <a:avLst/>
            <a:gdLst/>
            <a:ahLst/>
            <a:cxnLst/>
            <a:rect l="l" t="t" r="r" b="b"/>
            <a:pathLst>
              <a:path w="794509" h="645538" extrusionOk="0">
                <a:moveTo>
                  <a:pt x="0" y="0"/>
                </a:moveTo>
                <a:lnTo>
                  <a:pt x="794508" y="0"/>
                </a:lnTo>
                <a:lnTo>
                  <a:pt x="794508" y="645538"/>
                </a:lnTo>
                <a:lnTo>
                  <a:pt x="0" y="645538"/>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1998" name="Google Shape;1998;p27"/>
          <p:cNvSpPr/>
          <p:nvPr/>
        </p:nvSpPr>
        <p:spPr>
          <a:xfrm>
            <a:off x="5920032" y="3413960"/>
            <a:ext cx="707113" cy="574529"/>
          </a:xfrm>
          <a:custGeom>
            <a:avLst/>
            <a:gdLst/>
            <a:ahLst/>
            <a:cxnLst/>
            <a:rect l="l" t="t" r="r" b="b"/>
            <a:pathLst>
              <a:path w="794509" h="645538" extrusionOk="0">
                <a:moveTo>
                  <a:pt x="0" y="0"/>
                </a:moveTo>
                <a:lnTo>
                  <a:pt x="794509" y="0"/>
                </a:lnTo>
                <a:lnTo>
                  <a:pt x="794509" y="645539"/>
                </a:lnTo>
                <a:lnTo>
                  <a:pt x="0" y="645539"/>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1999" name="Google Shape;1999;p27"/>
          <p:cNvSpPr/>
          <p:nvPr/>
        </p:nvSpPr>
        <p:spPr>
          <a:xfrm>
            <a:off x="9612556" y="3413960"/>
            <a:ext cx="707113" cy="574529"/>
          </a:xfrm>
          <a:custGeom>
            <a:avLst/>
            <a:gdLst/>
            <a:ahLst/>
            <a:cxnLst/>
            <a:rect l="l" t="t" r="r" b="b"/>
            <a:pathLst>
              <a:path w="794509" h="645538" extrusionOk="0">
                <a:moveTo>
                  <a:pt x="0" y="0"/>
                </a:moveTo>
                <a:lnTo>
                  <a:pt x="794509" y="0"/>
                </a:lnTo>
                <a:lnTo>
                  <a:pt x="794509" y="645539"/>
                </a:lnTo>
                <a:lnTo>
                  <a:pt x="0" y="645539"/>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grpSp>
        <p:nvGrpSpPr>
          <p:cNvPr id="2000" name="Google Shape;2000;p27"/>
          <p:cNvGrpSpPr/>
          <p:nvPr/>
        </p:nvGrpSpPr>
        <p:grpSpPr>
          <a:xfrm>
            <a:off x="6220454" y="4466372"/>
            <a:ext cx="1755669" cy="3473041"/>
            <a:chOff x="0" y="0"/>
            <a:chExt cx="2620010" cy="5182870"/>
          </a:xfrm>
        </p:grpSpPr>
        <p:sp>
          <p:nvSpPr>
            <p:cNvPr id="2001" name="Google Shape;2001;p27"/>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2" name="Google Shape;2002;p27"/>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3" name="Google Shape;2003;p27"/>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4" name="Google Shape;2004;p27"/>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5" name="Google Shape;2005;p27"/>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6" name="Google Shape;2006;p27"/>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7" name="Google Shape;2007;p27"/>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8" name="Google Shape;2008;p27"/>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9" name="Google Shape;2009;p27"/>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10" name="Google Shape;2010;p27"/>
          <p:cNvSpPr/>
          <p:nvPr/>
        </p:nvSpPr>
        <p:spPr>
          <a:xfrm>
            <a:off x="7530597" y="4361129"/>
            <a:ext cx="616291" cy="616291"/>
          </a:xfrm>
          <a:custGeom>
            <a:avLst/>
            <a:gdLst/>
            <a:ahLst/>
            <a:cxnLst/>
            <a:rect l="l" t="t" r="r" b="b"/>
            <a:pathLst>
              <a:path w="692462" h="692462" extrusionOk="0">
                <a:moveTo>
                  <a:pt x="0" y="0"/>
                </a:moveTo>
                <a:lnTo>
                  <a:pt x="692462" y="0"/>
                </a:lnTo>
                <a:lnTo>
                  <a:pt x="692462" y="692461"/>
                </a:lnTo>
                <a:lnTo>
                  <a:pt x="0" y="692461"/>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2011" name="Google Shape;2011;p27"/>
          <p:cNvSpPr/>
          <p:nvPr/>
        </p:nvSpPr>
        <p:spPr>
          <a:xfrm>
            <a:off x="7530597" y="4326238"/>
            <a:ext cx="755058" cy="686160"/>
          </a:xfrm>
          <a:custGeom>
            <a:avLst/>
            <a:gdLst/>
            <a:ahLst/>
            <a:cxnLst/>
            <a:rect l="l" t="t" r="r" b="b"/>
            <a:pathLst>
              <a:path w="848380" h="770966" extrusionOk="0">
                <a:moveTo>
                  <a:pt x="0" y="0"/>
                </a:moveTo>
                <a:lnTo>
                  <a:pt x="848381" y="0"/>
                </a:lnTo>
                <a:lnTo>
                  <a:pt x="848381" y="770966"/>
                </a:lnTo>
                <a:lnTo>
                  <a:pt x="0" y="770966"/>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sp>
        <p:nvSpPr>
          <p:cNvPr id="2012" name="Google Shape;2012;p27"/>
          <p:cNvSpPr/>
          <p:nvPr/>
        </p:nvSpPr>
        <p:spPr>
          <a:xfrm>
            <a:off x="9248957" y="4059554"/>
            <a:ext cx="1523902" cy="1766239"/>
          </a:xfrm>
          <a:custGeom>
            <a:avLst/>
            <a:gdLst/>
            <a:ahLst/>
            <a:cxnLst/>
            <a:rect l="l" t="t" r="r" b="b"/>
            <a:pathLst>
              <a:path w="1712250" h="1984538" extrusionOk="0">
                <a:moveTo>
                  <a:pt x="0" y="0"/>
                </a:moveTo>
                <a:lnTo>
                  <a:pt x="1712251" y="0"/>
                </a:lnTo>
                <a:lnTo>
                  <a:pt x="1712251" y="1984538"/>
                </a:lnTo>
                <a:lnTo>
                  <a:pt x="0" y="1984538"/>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sp>
      <p:sp>
        <p:nvSpPr>
          <p:cNvPr id="2013" name="Google Shape;2013;p27"/>
          <p:cNvSpPr/>
          <p:nvPr/>
        </p:nvSpPr>
        <p:spPr>
          <a:xfrm>
            <a:off x="11007696" y="4572000"/>
            <a:ext cx="328382" cy="298417"/>
          </a:xfrm>
          <a:custGeom>
            <a:avLst/>
            <a:gdLst/>
            <a:ahLst/>
            <a:cxnLst/>
            <a:rect l="l" t="t" r="r" b="b"/>
            <a:pathLst>
              <a:path w="368969" h="335300" extrusionOk="0">
                <a:moveTo>
                  <a:pt x="0" y="0"/>
                </a:moveTo>
                <a:lnTo>
                  <a:pt x="368968" y="0"/>
                </a:lnTo>
                <a:lnTo>
                  <a:pt x="368968" y="335300"/>
                </a:lnTo>
                <a:lnTo>
                  <a:pt x="0" y="335300"/>
                </a:lnTo>
                <a:lnTo>
                  <a:pt x="0" y="0"/>
                </a:lnTo>
                <a:close/>
              </a:path>
            </a:pathLst>
          </a:custGeom>
          <a:blipFill rotWithShape="1">
            <a:blip r:embed="rId13">
              <a:alphaModFix/>
            </a:blip>
            <a:stretch>
              <a:fillRect/>
            </a:stretch>
          </a:blipFill>
          <a:ln>
            <a:noFill/>
          </a:ln>
        </p:spPr>
      </p:sp>
      <p:sp>
        <p:nvSpPr>
          <p:cNvPr id="2014" name="Google Shape;2014;p27"/>
          <p:cNvSpPr/>
          <p:nvPr/>
        </p:nvSpPr>
        <p:spPr>
          <a:xfrm>
            <a:off x="9300155" y="6409724"/>
            <a:ext cx="1553581" cy="1692359"/>
          </a:xfrm>
          <a:custGeom>
            <a:avLst/>
            <a:gdLst/>
            <a:ahLst/>
            <a:cxnLst/>
            <a:rect l="l" t="t" r="r" b="b"/>
            <a:pathLst>
              <a:path w="1745597" h="1901527" extrusionOk="0">
                <a:moveTo>
                  <a:pt x="0" y="0"/>
                </a:moveTo>
                <a:lnTo>
                  <a:pt x="1745597" y="0"/>
                </a:lnTo>
                <a:lnTo>
                  <a:pt x="1745597" y="1901526"/>
                </a:lnTo>
                <a:lnTo>
                  <a:pt x="0" y="1901526"/>
                </a:lnTo>
                <a:lnTo>
                  <a:pt x="0" y="0"/>
                </a:lnTo>
                <a:close/>
              </a:path>
            </a:pathLst>
          </a:custGeom>
          <a:blipFill rotWithShape="1">
            <a:blip r:embed="rId14" cstate="email">
              <a:alphaModFix/>
              <a:extLst>
                <a:ext uri="{28A0092B-C50C-407E-A947-70E740481C1C}">
                  <a14:useLocalDpi xmlns:a14="http://schemas.microsoft.com/office/drawing/2010/main"/>
                </a:ext>
              </a:extLst>
            </a:blip>
            <a:stretch>
              <a:fillRect/>
            </a:stretch>
          </a:blipFill>
          <a:ln>
            <a:noFill/>
          </a:ln>
        </p:spPr>
      </p:sp>
      <p:sp>
        <p:nvSpPr>
          <p:cNvPr id="2015" name="Google Shape;2015;p27"/>
          <p:cNvSpPr/>
          <p:nvPr/>
        </p:nvSpPr>
        <p:spPr>
          <a:xfrm>
            <a:off x="11007696" y="6831101"/>
            <a:ext cx="329145" cy="316391"/>
          </a:xfrm>
          <a:custGeom>
            <a:avLst/>
            <a:gdLst/>
            <a:ahLst/>
            <a:cxnLst/>
            <a:rect l="l" t="t" r="r" b="b"/>
            <a:pathLst>
              <a:path w="369826" h="355496" extrusionOk="0">
                <a:moveTo>
                  <a:pt x="0" y="0"/>
                </a:moveTo>
                <a:lnTo>
                  <a:pt x="369826" y="0"/>
                </a:lnTo>
                <a:lnTo>
                  <a:pt x="369826" y="355496"/>
                </a:lnTo>
                <a:lnTo>
                  <a:pt x="0" y="355496"/>
                </a:lnTo>
                <a:lnTo>
                  <a:pt x="0" y="0"/>
                </a:lnTo>
                <a:close/>
              </a:path>
            </a:pathLst>
          </a:custGeom>
          <a:blipFill rotWithShape="1">
            <a:blip r:embed="rId15">
              <a:alphaModFix/>
            </a:blip>
            <a:stretch>
              <a:fillRect/>
            </a:stretch>
          </a:blipFill>
          <a:ln>
            <a:noFill/>
          </a:ln>
        </p:spPr>
      </p:sp>
      <p:sp>
        <p:nvSpPr>
          <p:cNvPr id="2016" name="Google Shape;2016;p27"/>
          <p:cNvSpPr/>
          <p:nvPr/>
        </p:nvSpPr>
        <p:spPr>
          <a:xfrm>
            <a:off x="12978785" y="4466372"/>
            <a:ext cx="344866" cy="310379"/>
          </a:xfrm>
          <a:custGeom>
            <a:avLst/>
            <a:gdLst/>
            <a:ahLst/>
            <a:cxnLst/>
            <a:rect l="l" t="t" r="r" b="b"/>
            <a:pathLst>
              <a:path w="387490" h="348741" extrusionOk="0">
                <a:moveTo>
                  <a:pt x="0" y="0"/>
                </a:moveTo>
                <a:lnTo>
                  <a:pt x="387490" y="0"/>
                </a:lnTo>
                <a:lnTo>
                  <a:pt x="387490" y="348741"/>
                </a:lnTo>
                <a:lnTo>
                  <a:pt x="0" y="348741"/>
                </a:lnTo>
                <a:lnTo>
                  <a:pt x="0" y="0"/>
                </a:lnTo>
                <a:close/>
              </a:path>
            </a:pathLst>
          </a:custGeom>
          <a:blipFill rotWithShape="1">
            <a:blip r:embed="rId16">
              <a:alphaModFix/>
            </a:blip>
            <a:stretch>
              <a:fillRect/>
            </a:stretch>
          </a:blipFill>
          <a:ln>
            <a:noFill/>
          </a:ln>
        </p:spPr>
      </p:sp>
      <p:sp>
        <p:nvSpPr>
          <p:cNvPr id="2017" name="Google Shape;2017;p27"/>
          <p:cNvSpPr/>
          <p:nvPr/>
        </p:nvSpPr>
        <p:spPr>
          <a:xfrm>
            <a:off x="12978785" y="5011541"/>
            <a:ext cx="344866" cy="310379"/>
          </a:xfrm>
          <a:custGeom>
            <a:avLst/>
            <a:gdLst/>
            <a:ahLst/>
            <a:cxnLst/>
            <a:rect l="l" t="t" r="r" b="b"/>
            <a:pathLst>
              <a:path w="387490" h="348741" extrusionOk="0">
                <a:moveTo>
                  <a:pt x="0" y="0"/>
                </a:moveTo>
                <a:lnTo>
                  <a:pt x="387490" y="0"/>
                </a:lnTo>
                <a:lnTo>
                  <a:pt x="387490" y="348740"/>
                </a:lnTo>
                <a:lnTo>
                  <a:pt x="0" y="348740"/>
                </a:lnTo>
                <a:lnTo>
                  <a:pt x="0" y="0"/>
                </a:lnTo>
                <a:close/>
              </a:path>
            </a:pathLst>
          </a:custGeom>
          <a:blipFill rotWithShape="1">
            <a:blip r:embed="rId16">
              <a:alphaModFix/>
            </a:blip>
            <a:stretch>
              <a:fillRect/>
            </a:stretch>
          </a:blipFill>
          <a:ln>
            <a:noFill/>
          </a:ln>
        </p:spPr>
      </p:sp>
      <p:sp>
        <p:nvSpPr>
          <p:cNvPr id="2018" name="Google Shape;2018;p27"/>
          <p:cNvSpPr/>
          <p:nvPr/>
        </p:nvSpPr>
        <p:spPr>
          <a:xfrm>
            <a:off x="12978785" y="5559850"/>
            <a:ext cx="344866" cy="310379"/>
          </a:xfrm>
          <a:custGeom>
            <a:avLst/>
            <a:gdLst/>
            <a:ahLst/>
            <a:cxnLst/>
            <a:rect l="l" t="t" r="r" b="b"/>
            <a:pathLst>
              <a:path w="387490" h="348741" extrusionOk="0">
                <a:moveTo>
                  <a:pt x="0" y="0"/>
                </a:moveTo>
                <a:lnTo>
                  <a:pt x="387490" y="0"/>
                </a:lnTo>
                <a:lnTo>
                  <a:pt x="387490" y="348741"/>
                </a:lnTo>
                <a:lnTo>
                  <a:pt x="0" y="348741"/>
                </a:lnTo>
                <a:lnTo>
                  <a:pt x="0" y="0"/>
                </a:lnTo>
                <a:close/>
              </a:path>
            </a:pathLst>
          </a:custGeom>
          <a:blipFill rotWithShape="1">
            <a:blip r:embed="rId16">
              <a:alphaModFix/>
            </a:blip>
            <a:stretch>
              <a:fillRect/>
            </a:stretch>
          </a:blipFill>
          <a:ln>
            <a:noFill/>
          </a:ln>
        </p:spPr>
      </p:sp>
      <p:sp>
        <p:nvSpPr>
          <p:cNvPr id="2019" name="Google Shape;2019;p27"/>
          <p:cNvSpPr/>
          <p:nvPr/>
        </p:nvSpPr>
        <p:spPr>
          <a:xfrm>
            <a:off x="5131722" y="5846287"/>
            <a:ext cx="468872" cy="584535"/>
          </a:xfrm>
          <a:custGeom>
            <a:avLst/>
            <a:gdLst/>
            <a:ahLst/>
            <a:cxnLst/>
            <a:rect l="l" t="t" r="r" b="b"/>
            <a:pathLst>
              <a:path w="526822" h="656781" extrusionOk="0">
                <a:moveTo>
                  <a:pt x="0" y="0"/>
                </a:moveTo>
                <a:lnTo>
                  <a:pt x="526823" y="0"/>
                </a:lnTo>
                <a:lnTo>
                  <a:pt x="526823" y="656781"/>
                </a:lnTo>
                <a:lnTo>
                  <a:pt x="0" y="656781"/>
                </a:lnTo>
                <a:lnTo>
                  <a:pt x="0" y="0"/>
                </a:lnTo>
                <a:close/>
              </a:path>
            </a:pathLst>
          </a:custGeom>
          <a:blipFill rotWithShape="1">
            <a:blip r:embed="rId17" cstate="email">
              <a:alphaModFix/>
              <a:extLst>
                <a:ext uri="{28A0092B-C50C-407E-A947-70E740481C1C}">
                  <a14:useLocalDpi xmlns:a14="http://schemas.microsoft.com/office/drawing/2010/main"/>
                </a:ext>
              </a:extLst>
            </a:blip>
            <a:stretch>
              <a:fillRect/>
            </a:stretch>
          </a:blipFill>
          <a:ln>
            <a:noFill/>
          </a:ln>
        </p:spPr>
      </p:sp>
      <p:sp>
        <p:nvSpPr>
          <p:cNvPr id="2020" name="Google Shape;2020;p27"/>
          <p:cNvSpPr/>
          <p:nvPr/>
        </p:nvSpPr>
        <p:spPr>
          <a:xfrm>
            <a:off x="8331140" y="5846287"/>
            <a:ext cx="468872" cy="584535"/>
          </a:xfrm>
          <a:custGeom>
            <a:avLst/>
            <a:gdLst/>
            <a:ahLst/>
            <a:cxnLst/>
            <a:rect l="l" t="t" r="r" b="b"/>
            <a:pathLst>
              <a:path w="526822" h="656781" extrusionOk="0">
                <a:moveTo>
                  <a:pt x="0" y="0"/>
                </a:moveTo>
                <a:lnTo>
                  <a:pt x="526823" y="0"/>
                </a:lnTo>
                <a:lnTo>
                  <a:pt x="526823" y="656781"/>
                </a:lnTo>
                <a:lnTo>
                  <a:pt x="0" y="656781"/>
                </a:lnTo>
                <a:lnTo>
                  <a:pt x="0" y="0"/>
                </a:lnTo>
                <a:close/>
              </a:path>
            </a:pathLst>
          </a:custGeom>
          <a:blipFill rotWithShape="1">
            <a:blip r:embed="rId17" cstate="email">
              <a:alphaModFix/>
              <a:extLst>
                <a:ext uri="{28A0092B-C50C-407E-A947-70E740481C1C}">
                  <a14:useLocalDpi xmlns:a14="http://schemas.microsoft.com/office/drawing/2010/main"/>
                </a:ext>
              </a:extLst>
            </a:blip>
            <a:stretch>
              <a:fillRect/>
            </a:stretch>
          </a:blipFill>
          <a:ln>
            <a:noFill/>
          </a:ln>
        </p:spPr>
      </p:sp>
      <p:sp>
        <p:nvSpPr>
          <p:cNvPr id="2021" name="Google Shape;2021;p27"/>
          <p:cNvSpPr/>
          <p:nvPr/>
        </p:nvSpPr>
        <p:spPr>
          <a:xfrm>
            <a:off x="11488830" y="6826236"/>
            <a:ext cx="321262" cy="321262"/>
          </a:xfrm>
          <a:custGeom>
            <a:avLst/>
            <a:gdLst/>
            <a:ahLst/>
            <a:cxnLst/>
            <a:rect l="l" t="t" r="r" b="b"/>
            <a:pathLst>
              <a:path w="360968" h="360968" extrusionOk="0">
                <a:moveTo>
                  <a:pt x="0" y="0"/>
                </a:moveTo>
                <a:lnTo>
                  <a:pt x="360968" y="0"/>
                </a:lnTo>
                <a:lnTo>
                  <a:pt x="360968" y="360969"/>
                </a:lnTo>
                <a:lnTo>
                  <a:pt x="0" y="360969"/>
                </a:lnTo>
                <a:lnTo>
                  <a:pt x="0" y="0"/>
                </a:lnTo>
                <a:close/>
              </a:path>
            </a:pathLst>
          </a:custGeom>
          <a:blipFill rotWithShape="1">
            <a:blip r:embed="rId18" cstate="email">
              <a:alphaModFix/>
              <a:extLst>
                <a:ext uri="{28A0092B-C50C-407E-A947-70E740481C1C}">
                  <a14:useLocalDpi xmlns:a14="http://schemas.microsoft.com/office/drawing/2010/main"/>
                </a:ext>
              </a:extLst>
            </a:blip>
            <a:stretch>
              <a:fillRect/>
            </a:stretch>
          </a:blipFill>
          <a:ln>
            <a:noFill/>
          </a:ln>
        </p:spPr>
      </p:sp>
      <p:sp>
        <p:nvSpPr>
          <p:cNvPr id="2022" name="Google Shape;2022;p27"/>
          <p:cNvSpPr txBox="1"/>
          <p:nvPr/>
        </p:nvSpPr>
        <p:spPr>
          <a:xfrm>
            <a:off x="892232" y="2665514"/>
            <a:ext cx="14510700" cy="384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2500"/>
              <a:buFont typeface="Arial"/>
              <a:buNone/>
            </a:pPr>
            <a:r>
              <a:rPr lang="en-US" sz="2500" b="1" i="0" u="none" strike="noStrike" cap="none">
                <a:solidFill>
                  <a:srgbClr val="00234F"/>
                </a:solidFill>
                <a:latin typeface="Inter"/>
                <a:ea typeface="Inter"/>
                <a:cs typeface="Inter"/>
                <a:sym typeface="Inter"/>
              </a:rPr>
              <a:t>How Order&amp;Eat Feature Works</a:t>
            </a:r>
            <a:endParaRPr sz="1200" b="0" i="0" u="none" strike="noStrike" cap="none">
              <a:solidFill>
                <a:srgbClr val="000000"/>
              </a:solidFill>
              <a:latin typeface="Arial"/>
              <a:ea typeface="Arial"/>
              <a:cs typeface="Arial"/>
              <a:sym typeface="Arial"/>
            </a:endParaRPr>
          </a:p>
        </p:txBody>
      </p:sp>
      <p:sp>
        <p:nvSpPr>
          <p:cNvPr id="2023" name="Google Shape;2023;p27"/>
          <p:cNvSpPr txBox="1"/>
          <p:nvPr/>
        </p:nvSpPr>
        <p:spPr>
          <a:xfrm>
            <a:off x="4696487" y="644982"/>
            <a:ext cx="115596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600"/>
              <a:buFont typeface="Arial"/>
              <a:buNone/>
            </a:pPr>
            <a:r>
              <a:rPr lang="en-US" sz="2600" b="0" i="0" u="none" strike="noStrike" cap="none">
                <a:solidFill>
                  <a:srgbClr val="004AAD"/>
                </a:solidFill>
                <a:latin typeface="Inter"/>
                <a:ea typeface="Inter"/>
                <a:cs typeface="Inter"/>
                <a:sym typeface="Inter"/>
              </a:rPr>
              <a:t>CASE STUDY | </a:t>
            </a:r>
            <a:r>
              <a:rPr lang="en-US" sz="2600" b="1" i="0" u="none" strike="noStrike" cap="none">
                <a:solidFill>
                  <a:srgbClr val="004AAD"/>
                </a:solidFill>
                <a:latin typeface="Inter"/>
                <a:ea typeface="Inter"/>
                <a:cs typeface="Inter"/>
                <a:sym typeface="Inter"/>
              </a:rPr>
              <a:t>SCAN&amp;GO - RETAIL SMART MOBILE APPLICATION: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600"/>
              <a:buFont typeface="Arial"/>
              <a:buNone/>
            </a:pPr>
            <a:r>
              <a:rPr lang="en-US" sz="2600" b="1" i="0" u="none" strike="noStrike" cap="none">
                <a:solidFill>
                  <a:srgbClr val="004AAD"/>
                </a:solidFill>
                <a:latin typeface="Inter"/>
                <a:ea typeface="Inter"/>
                <a:cs typeface="Inter"/>
                <a:sym typeface="Inter"/>
              </a:rPr>
              <a:t>FROM LONG QUEUES TO SEAMLESS SUPERMARKET SHOPPING (6/7)</a:t>
            </a:r>
            <a:endParaRPr sz="1200" b="0" i="0" u="none" strike="noStrike" cap="none">
              <a:solidFill>
                <a:srgbClr val="000000"/>
              </a:solidFill>
              <a:latin typeface="Arial"/>
              <a:ea typeface="Arial"/>
              <a:cs typeface="Arial"/>
              <a:sym typeface="Arial"/>
            </a:endParaRPr>
          </a:p>
        </p:txBody>
      </p:sp>
      <p:sp>
        <p:nvSpPr>
          <p:cNvPr id="2024" name="Google Shape;2024;p27"/>
          <p:cNvSpPr txBox="1"/>
          <p:nvPr/>
        </p:nvSpPr>
        <p:spPr>
          <a:xfrm>
            <a:off x="443230" y="913765"/>
            <a:ext cx="3789600" cy="431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3100"/>
              <a:buFont typeface="Arial"/>
              <a:buNone/>
            </a:pPr>
            <a:r>
              <a:rPr lang="en-US" sz="2800" b="1" i="0" u="none" strike="noStrike" cap="none">
                <a:solidFill>
                  <a:srgbClr val="EEEEEE"/>
                </a:solidFill>
                <a:latin typeface="Inter"/>
                <a:ea typeface="Inter"/>
                <a:cs typeface="Inter"/>
                <a:sym typeface="Inter"/>
              </a:rPr>
              <a:t>3- ORDER &amp; EAT</a:t>
            </a:r>
            <a:endParaRPr sz="2800" b="1" i="0" u="none" strike="noStrike" cap="none">
              <a:solidFill>
                <a:srgbClr val="EEEEEE"/>
              </a:solidFill>
              <a:latin typeface="Inter"/>
              <a:ea typeface="Inter"/>
              <a:cs typeface="Inter"/>
              <a:sym typeface="Inter"/>
            </a:endParaRPr>
          </a:p>
        </p:txBody>
      </p:sp>
      <p:sp>
        <p:nvSpPr>
          <p:cNvPr id="2025" name="Google Shape;2025;p27"/>
          <p:cNvSpPr txBox="1"/>
          <p:nvPr/>
        </p:nvSpPr>
        <p:spPr>
          <a:xfrm>
            <a:off x="1132247" y="1876420"/>
            <a:ext cx="12113100" cy="246300"/>
          </a:xfrm>
          <a:prstGeom prst="rect">
            <a:avLst/>
          </a:prstGeom>
          <a:noFill/>
          <a:ln>
            <a:noFill/>
          </a:ln>
        </p:spPr>
        <p:txBody>
          <a:bodyPr spcFirstLastPara="1" wrap="square" lIns="0" tIns="0" rIns="0" bIns="0" anchor="t" anchorCtr="0">
            <a:spAutoFit/>
          </a:bodyPr>
          <a:lstStyle/>
          <a:p>
            <a:pPr marL="342900" marR="0" lvl="1" indent="-165100" algn="l" rtl="0">
              <a:lnSpc>
                <a:spcPct val="140000"/>
              </a:lnSpc>
              <a:spcBef>
                <a:spcPts val="0"/>
              </a:spcBef>
              <a:spcAft>
                <a:spcPts val="0"/>
              </a:spcAft>
              <a:buClr>
                <a:srgbClr val="004AAD"/>
              </a:buClr>
              <a:buSzPts val="1600"/>
              <a:buFont typeface="Arial"/>
              <a:buChar char="•"/>
            </a:pPr>
            <a:r>
              <a:rPr lang="en-US" sz="1600" b="1" i="0" u="none" strike="noStrike" cap="none">
                <a:solidFill>
                  <a:srgbClr val="004AAD"/>
                </a:solidFill>
                <a:latin typeface="Inter"/>
                <a:ea typeface="Inter"/>
                <a:cs typeface="Inter"/>
                <a:sym typeface="Inter"/>
              </a:rPr>
              <a:t>Order &amp; Eat: </a:t>
            </a:r>
            <a:r>
              <a:rPr lang="en-US" sz="1600" b="0" i="0" u="none" strike="noStrike" cap="none">
                <a:solidFill>
                  <a:srgbClr val="2E2E2E"/>
                </a:solidFill>
                <a:latin typeface="Inter"/>
                <a:ea typeface="Inter"/>
                <a:cs typeface="Inter"/>
                <a:sym typeface="Inter"/>
              </a:rPr>
              <a:t>Pre-order food and reserve tables at in-store restaurants.</a:t>
            </a:r>
            <a:endParaRPr sz="1200" b="0" i="0" u="none" strike="noStrike" cap="none">
              <a:solidFill>
                <a:srgbClr val="000000"/>
              </a:solidFill>
              <a:latin typeface="Arial"/>
              <a:ea typeface="Arial"/>
              <a:cs typeface="Arial"/>
              <a:sym typeface="Arial"/>
            </a:endParaRPr>
          </a:p>
        </p:txBody>
      </p:sp>
      <p:sp>
        <p:nvSpPr>
          <p:cNvPr id="2026" name="Google Shape;2026;p27"/>
          <p:cNvSpPr txBox="1"/>
          <p:nvPr/>
        </p:nvSpPr>
        <p:spPr>
          <a:xfrm>
            <a:off x="1761820" y="3575038"/>
            <a:ext cx="2204400" cy="2463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Select Store/Menu</a:t>
            </a:r>
            <a:endParaRPr sz="1200" b="0" i="0" u="none" strike="noStrike" cap="none">
              <a:solidFill>
                <a:srgbClr val="000000"/>
              </a:solidFill>
              <a:latin typeface="Arial"/>
              <a:ea typeface="Arial"/>
              <a:cs typeface="Arial"/>
              <a:sym typeface="Arial"/>
            </a:endParaRPr>
          </a:p>
        </p:txBody>
      </p:sp>
      <p:sp>
        <p:nvSpPr>
          <p:cNvPr id="2027" name="Google Shape;2027;p27"/>
          <p:cNvSpPr txBox="1"/>
          <p:nvPr/>
        </p:nvSpPr>
        <p:spPr>
          <a:xfrm>
            <a:off x="6736255" y="3572541"/>
            <a:ext cx="1938000" cy="541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Process Online Payment</a:t>
            </a:r>
            <a:endParaRPr sz="1200" b="0" i="0" u="none" strike="noStrike" cap="none">
              <a:solidFill>
                <a:srgbClr val="000000"/>
              </a:solidFill>
              <a:latin typeface="Arial"/>
              <a:ea typeface="Arial"/>
              <a:cs typeface="Arial"/>
              <a:sym typeface="Arial"/>
            </a:endParaRPr>
          </a:p>
        </p:txBody>
      </p:sp>
      <p:sp>
        <p:nvSpPr>
          <p:cNvPr id="2028" name="Google Shape;2028;p27"/>
          <p:cNvSpPr txBox="1"/>
          <p:nvPr/>
        </p:nvSpPr>
        <p:spPr>
          <a:xfrm>
            <a:off x="10428779" y="3572541"/>
            <a:ext cx="1598400" cy="246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Pick-up</a:t>
            </a:r>
            <a:endParaRPr sz="1200" b="0" i="0" u="none" strike="noStrike" cap="none">
              <a:solidFill>
                <a:srgbClr val="000000"/>
              </a:solidFill>
              <a:latin typeface="Arial"/>
              <a:ea typeface="Arial"/>
              <a:cs typeface="Arial"/>
              <a:sym typeface="Arial"/>
            </a:endParaRPr>
          </a:p>
        </p:txBody>
      </p:sp>
      <p:sp>
        <p:nvSpPr>
          <p:cNvPr id="2029" name="Google Shape;2029;p27"/>
          <p:cNvSpPr txBox="1"/>
          <p:nvPr/>
        </p:nvSpPr>
        <p:spPr>
          <a:xfrm>
            <a:off x="1213828" y="8237537"/>
            <a:ext cx="3264300" cy="406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Select the nearest store and place order/ reserve table  in advance</a:t>
            </a:r>
            <a:endParaRPr sz="1200" b="0" i="0" u="none" strike="noStrike" cap="none">
              <a:solidFill>
                <a:srgbClr val="000000"/>
              </a:solidFill>
              <a:latin typeface="Arial"/>
              <a:ea typeface="Arial"/>
              <a:cs typeface="Arial"/>
              <a:sym typeface="Arial"/>
            </a:endParaRPr>
          </a:p>
        </p:txBody>
      </p:sp>
      <p:sp>
        <p:nvSpPr>
          <p:cNvPr id="2030" name="Google Shape;2030;p27"/>
          <p:cNvSpPr txBox="1"/>
          <p:nvPr/>
        </p:nvSpPr>
        <p:spPr>
          <a:xfrm>
            <a:off x="11007696" y="4937778"/>
            <a:ext cx="1358400" cy="184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Home Delivery</a:t>
            </a:r>
            <a:endParaRPr sz="1200" b="0" i="0" u="none" strike="noStrike" cap="none">
              <a:solidFill>
                <a:srgbClr val="000000"/>
              </a:solidFill>
              <a:latin typeface="Arial"/>
              <a:ea typeface="Arial"/>
              <a:cs typeface="Arial"/>
              <a:sym typeface="Arial"/>
            </a:endParaRPr>
          </a:p>
        </p:txBody>
      </p:sp>
      <p:sp>
        <p:nvSpPr>
          <p:cNvPr id="2031" name="Google Shape;2031;p27"/>
          <p:cNvSpPr txBox="1"/>
          <p:nvPr/>
        </p:nvSpPr>
        <p:spPr>
          <a:xfrm>
            <a:off x="10091754" y="6173444"/>
            <a:ext cx="1358400" cy="2463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Or</a:t>
            </a:r>
            <a:endParaRPr sz="1200" b="0" i="0" u="none" strike="noStrike" cap="none">
              <a:solidFill>
                <a:srgbClr val="000000"/>
              </a:solidFill>
              <a:latin typeface="Arial"/>
              <a:ea typeface="Arial"/>
              <a:cs typeface="Arial"/>
              <a:sym typeface="Arial"/>
            </a:endParaRPr>
          </a:p>
        </p:txBody>
      </p:sp>
      <p:sp>
        <p:nvSpPr>
          <p:cNvPr id="2032" name="Google Shape;2032;p27"/>
          <p:cNvSpPr txBox="1"/>
          <p:nvPr/>
        </p:nvSpPr>
        <p:spPr>
          <a:xfrm>
            <a:off x="11001962" y="7216335"/>
            <a:ext cx="1903500" cy="4065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Fast Pick-up at Store/ Dine-in</a:t>
            </a:r>
            <a:endParaRPr sz="1200" b="0" i="0" u="none" strike="noStrike" cap="none">
              <a:solidFill>
                <a:srgbClr val="000000"/>
              </a:solidFill>
              <a:latin typeface="Arial"/>
              <a:ea typeface="Arial"/>
              <a:cs typeface="Arial"/>
              <a:sym typeface="Arial"/>
            </a:endParaRPr>
          </a:p>
        </p:txBody>
      </p:sp>
      <p:sp>
        <p:nvSpPr>
          <p:cNvPr id="2033" name="Google Shape;2033;p27"/>
          <p:cNvSpPr txBox="1"/>
          <p:nvPr/>
        </p:nvSpPr>
        <p:spPr>
          <a:xfrm>
            <a:off x="13564266" y="4493044"/>
            <a:ext cx="2062800" cy="246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Less wait time</a:t>
            </a:r>
            <a:endParaRPr sz="1200" b="0" i="0" u="none" strike="noStrike" cap="none">
              <a:solidFill>
                <a:srgbClr val="000000"/>
              </a:solidFill>
              <a:latin typeface="Arial"/>
              <a:ea typeface="Arial"/>
              <a:cs typeface="Arial"/>
              <a:sym typeface="Arial"/>
            </a:endParaRPr>
          </a:p>
        </p:txBody>
      </p:sp>
      <p:sp>
        <p:nvSpPr>
          <p:cNvPr id="2034" name="Google Shape;2034;p27"/>
          <p:cNvSpPr txBox="1"/>
          <p:nvPr/>
        </p:nvSpPr>
        <p:spPr>
          <a:xfrm>
            <a:off x="5758398" y="8237537"/>
            <a:ext cx="2679900" cy="406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Proceed online payment </a:t>
            </a:r>
            <a:endParaRPr sz="1200" b="0" i="0" u="none" strike="noStrike" cap="none">
              <a:solidFill>
                <a:srgbClr val="000000"/>
              </a:solidFill>
              <a:latin typeface="Arial"/>
              <a:ea typeface="Arial"/>
              <a:cs typeface="Arial"/>
              <a:sym typeface="Arial"/>
            </a:endParaRPr>
          </a:p>
          <a:p>
            <a:pPr marL="0" marR="0" lvl="0" indent="0" algn="ctr" rtl="0">
              <a:lnSpc>
                <a:spcPct val="120000"/>
              </a:lnSpc>
              <a:spcBef>
                <a:spcPts val="0"/>
              </a:spcBef>
              <a:spcAft>
                <a:spcPts val="0"/>
              </a:spcAft>
              <a:buClr>
                <a:srgbClr val="000000"/>
              </a:buClr>
              <a:buSzPts val="1200"/>
              <a:buFont typeface="Arial"/>
              <a:buNone/>
            </a:pPr>
            <a:r>
              <a:rPr lang="en-US" sz="1200" b="1" i="0" u="none" strike="noStrike" cap="none">
                <a:solidFill>
                  <a:srgbClr val="00234F"/>
                </a:solidFill>
                <a:latin typeface="Inter"/>
                <a:ea typeface="Inter"/>
                <a:cs typeface="Inter"/>
                <a:sym typeface="Inter"/>
              </a:rPr>
              <a:t>(cards, credit, e-wallet, etc)</a:t>
            </a:r>
            <a:endParaRPr sz="1200" b="0" i="0" u="none" strike="noStrike" cap="none">
              <a:solidFill>
                <a:srgbClr val="000000"/>
              </a:solidFill>
              <a:latin typeface="Arial"/>
              <a:ea typeface="Arial"/>
              <a:cs typeface="Arial"/>
              <a:sym typeface="Arial"/>
            </a:endParaRPr>
          </a:p>
        </p:txBody>
      </p:sp>
      <p:sp>
        <p:nvSpPr>
          <p:cNvPr id="2035" name="Google Shape;2035;p27"/>
          <p:cNvSpPr txBox="1"/>
          <p:nvPr/>
        </p:nvSpPr>
        <p:spPr>
          <a:xfrm>
            <a:off x="13564266" y="5038212"/>
            <a:ext cx="1598400" cy="246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Convenient</a:t>
            </a:r>
            <a:endParaRPr sz="1200" b="0" i="0" u="none" strike="noStrike" cap="none">
              <a:solidFill>
                <a:srgbClr val="000000"/>
              </a:solidFill>
              <a:latin typeface="Arial"/>
              <a:ea typeface="Arial"/>
              <a:cs typeface="Arial"/>
              <a:sym typeface="Arial"/>
            </a:endParaRPr>
          </a:p>
        </p:txBody>
      </p:sp>
      <p:sp>
        <p:nvSpPr>
          <p:cNvPr id="2036" name="Google Shape;2036;p27"/>
          <p:cNvSpPr txBox="1"/>
          <p:nvPr/>
        </p:nvSpPr>
        <p:spPr>
          <a:xfrm>
            <a:off x="13564266" y="5586521"/>
            <a:ext cx="2437800" cy="5418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Enjoy hot/</a:t>
            </a:r>
            <a:endParaRPr sz="12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1600"/>
              <a:buFont typeface="Arial"/>
              <a:buNone/>
            </a:pPr>
            <a:r>
              <a:rPr lang="en-US" sz="1600" b="1" i="0" u="none" strike="noStrike" cap="none">
                <a:solidFill>
                  <a:srgbClr val="00234F"/>
                </a:solidFill>
                <a:latin typeface="Inter"/>
                <a:ea typeface="Inter"/>
                <a:cs typeface="Inter"/>
                <a:sym typeface="Inter"/>
              </a:rPr>
              <a:t> Freshly cooked food</a:t>
            </a:r>
            <a:endParaRPr sz="1200" b="0" i="0" u="none" strike="noStrike" cap="none">
              <a:solidFill>
                <a:srgbClr val="000000"/>
              </a:solidFill>
              <a:latin typeface="Arial"/>
              <a:ea typeface="Arial"/>
              <a:cs typeface="Arial"/>
              <a:sym typeface="Arial"/>
            </a:endParaRPr>
          </a:p>
        </p:txBody>
      </p:sp>
      <p:sp>
        <p:nvSpPr>
          <p:cNvPr id="2037" name="Google Shape;2037;p27"/>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9" cstate="email">
              <a:alphaModFix/>
              <a:extLst>
                <a:ext uri="{28A0092B-C50C-407E-A947-70E740481C1C}">
                  <a14:useLocalDpi xmlns:a14="http://schemas.microsoft.com/office/drawing/2010/main"/>
                </a:ext>
              </a:extLst>
            </a:blip>
            <a:stretch>
              <a:fillRect b="-5"/>
            </a:stretch>
          </a:blipFill>
          <a:ln>
            <a:noFill/>
          </a:ln>
        </p:spPr>
      </p:sp>
      <p:grpSp>
        <p:nvGrpSpPr>
          <p:cNvPr id="2038" name="Google Shape;2038;p27"/>
          <p:cNvGrpSpPr/>
          <p:nvPr/>
        </p:nvGrpSpPr>
        <p:grpSpPr>
          <a:xfrm>
            <a:off x="872534" y="8351050"/>
            <a:ext cx="846442" cy="699635"/>
            <a:chOff x="0" y="0"/>
            <a:chExt cx="1269600" cy="1049400"/>
          </a:xfrm>
        </p:grpSpPr>
        <p:sp>
          <p:nvSpPr>
            <p:cNvPr id="2039" name="Google Shape;2039;p27"/>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2040" name="Google Shape;2040;p27"/>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dirty="0">
                  <a:solidFill>
                    <a:srgbClr val="585858"/>
                  </a:solidFill>
                  <a:latin typeface="Inter"/>
                  <a:ea typeface="Inter"/>
                  <a:sym typeface="Inter"/>
                </a:rPr>
                <a:t>30</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44"/>
        <p:cNvGrpSpPr/>
        <p:nvPr/>
      </p:nvGrpSpPr>
      <p:grpSpPr>
        <a:xfrm>
          <a:off x="0" y="0"/>
          <a:ext cx="0" cy="0"/>
          <a:chOff x="0" y="0"/>
          <a:chExt cx="0" cy="0"/>
        </a:xfrm>
      </p:grpSpPr>
      <p:sp>
        <p:nvSpPr>
          <p:cNvPr id="2045" name="Google Shape;2045;p28"/>
          <p:cNvSpPr/>
          <p:nvPr/>
        </p:nvSpPr>
        <p:spPr>
          <a:xfrm rot="5400000">
            <a:off x="273378" y="2398683"/>
            <a:ext cx="9155430" cy="4577715"/>
          </a:xfrm>
          <a:custGeom>
            <a:avLst/>
            <a:gdLst/>
            <a:ahLst/>
            <a:cxnLst/>
            <a:rect l="l" t="t" r="r" b="b"/>
            <a:pathLst>
              <a:path w="10287000" h="5143500" extrusionOk="0">
                <a:moveTo>
                  <a:pt x="0" y="0"/>
                </a:moveTo>
                <a:lnTo>
                  <a:pt x="10287000" y="0"/>
                </a:lnTo>
                <a:lnTo>
                  <a:pt x="10287000" y="5143500"/>
                </a:lnTo>
                <a:lnTo>
                  <a:pt x="0" y="5143500"/>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sp>
      <p:grpSp>
        <p:nvGrpSpPr>
          <p:cNvPr id="2046" name="Google Shape;2046;p28"/>
          <p:cNvGrpSpPr/>
          <p:nvPr/>
        </p:nvGrpSpPr>
        <p:grpSpPr>
          <a:xfrm>
            <a:off x="69" y="-225021"/>
            <a:ext cx="4154911" cy="9369027"/>
            <a:chOff x="0" y="-66675"/>
            <a:chExt cx="2748684" cy="2776008"/>
          </a:xfrm>
        </p:grpSpPr>
        <p:sp>
          <p:nvSpPr>
            <p:cNvPr id="2047" name="Google Shape;2047;p28"/>
            <p:cNvSpPr/>
            <p:nvPr/>
          </p:nvSpPr>
          <p:spPr>
            <a:xfrm>
              <a:off x="0" y="0"/>
              <a:ext cx="2748684" cy="2709333"/>
            </a:xfrm>
            <a:custGeom>
              <a:avLst/>
              <a:gdLst/>
              <a:ahLst/>
              <a:cxnLst/>
              <a:rect l="l" t="t" r="r" b="b"/>
              <a:pathLst>
                <a:path w="2748684" h="2709333" extrusionOk="0">
                  <a:moveTo>
                    <a:pt x="0" y="0"/>
                  </a:moveTo>
                  <a:lnTo>
                    <a:pt x="2748684" y="0"/>
                  </a:lnTo>
                  <a:lnTo>
                    <a:pt x="2748684" y="2709333"/>
                  </a:lnTo>
                  <a:lnTo>
                    <a:pt x="0" y="2709333"/>
                  </a:lnTo>
                  <a:close/>
                </a:path>
              </a:pathLst>
            </a:custGeom>
            <a:solidFill>
              <a:srgbClr val="003A86"/>
            </a:solidFill>
            <a:ln>
              <a:noFill/>
            </a:ln>
          </p:spPr>
        </p:sp>
        <p:sp>
          <p:nvSpPr>
            <p:cNvPr id="2048" name="Google Shape;2048;p28"/>
            <p:cNvSpPr txBox="1"/>
            <p:nvPr/>
          </p:nvSpPr>
          <p:spPr>
            <a:xfrm>
              <a:off x="0" y="-66675"/>
              <a:ext cx="2748600" cy="2775900"/>
            </a:xfrm>
            <a:prstGeom prst="rect">
              <a:avLst/>
            </a:prstGeom>
            <a:noFill/>
            <a:ln>
              <a:noFill/>
            </a:ln>
          </p:spPr>
          <p:txBody>
            <a:bodyPr spcFirstLastPara="1" wrap="square" lIns="45150" tIns="45150" rIns="45150" bIns="45150" anchor="ctr" anchorCtr="0">
              <a:noAutofit/>
            </a:bodyPr>
            <a:lstStyle/>
            <a:p>
              <a:pPr marL="0" marR="0" lvl="0" indent="0" algn="ctr" rtl="0">
                <a:lnSpc>
                  <a:spcPct val="16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2049" name="Google Shape;2049;p28"/>
          <p:cNvSpPr/>
          <p:nvPr/>
        </p:nvSpPr>
        <p:spPr>
          <a:xfrm>
            <a:off x="15129355" y="141485"/>
            <a:ext cx="849654" cy="478676"/>
          </a:xfrm>
          <a:custGeom>
            <a:avLst/>
            <a:gdLst/>
            <a:ahLst/>
            <a:cxnLst/>
            <a:rect l="l" t="t" r="r" b="b"/>
            <a:pathLst>
              <a:path w="954667" h="537838" extrusionOk="0">
                <a:moveTo>
                  <a:pt x="0" y="0"/>
                </a:moveTo>
                <a:lnTo>
                  <a:pt x="954667" y="0"/>
                </a:lnTo>
                <a:lnTo>
                  <a:pt x="954667" y="537838"/>
                </a:lnTo>
                <a:lnTo>
                  <a:pt x="0" y="537838"/>
                </a:lnTo>
                <a:lnTo>
                  <a:pt x="0" y="0"/>
                </a:lnTo>
                <a:close/>
              </a:path>
            </a:pathLst>
          </a:custGeom>
          <a:blipFill rotWithShape="1">
            <a:blip r:embed="rId4" cstate="email">
              <a:alphaModFix amt="46000"/>
              <a:extLst>
                <a:ext uri="{28A0092B-C50C-407E-A947-70E740481C1C}">
                  <a14:useLocalDpi xmlns:a14="http://schemas.microsoft.com/office/drawing/2010/main"/>
                </a:ext>
              </a:extLst>
            </a:blip>
            <a:stretch>
              <a:fillRect/>
            </a:stretch>
          </a:blipFill>
          <a:ln>
            <a:noFill/>
          </a:ln>
        </p:spPr>
      </p:sp>
      <p:cxnSp>
        <p:nvCxnSpPr>
          <p:cNvPr id="2050" name="Google Shape;2050;p28"/>
          <p:cNvCxnSpPr/>
          <p:nvPr/>
        </p:nvCxnSpPr>
        <p:spPr>
          <a:xfrm>
            <a:off x="4692405" y="2419023"/>
            <a:ext cx="5785800"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051" name="Google Shape;2051;p28"/>
          <p:cNvSpPr txBox="1"/>
          <p:nvPr/>
        </p:nvSpPr>
        <p:spPr>
          <a:xfrm>
            <a:off x="4696487" y="664307"/>
            <a:ext cx="11281200" cy="96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600"/>
              <a:buFont typeface="Arial"/>
              <a:buNone/>
            </a:pPr>
            <a:r>
              <a:rPr lang="en-US" sz="2600" b="0" i="0" u="none" strike="noStrike" cap="none">
                <a:solidFill>
                  <a:srgbClr val="004AAD"/>
                </a:solidFill>
                <a:latin typeface="Inter"/>
                <a:ea typeface="Inter"/>
                <a:cs typeface="Inter"/>
                <a:sym typeface="Inter"/>
              </a:rPr>
              <a:t>CASE STUDY | </a:t>
            </a:r>
            <a:r>
              <a:rPr lang="en-US" sz="2600" b="1" i="0" u="none" strike="noStrike" cap="none">
                <a:solidFill>
                  <a:srgbClr val="004AAD"/>
                </a:solidFill>
                <a:latin typeface="Inter"/>
                <a:ea typeface="Inter"/>
                <a:cs typeface="Inter"/>
                <a:sym typeface="Inter"/>
              </a:rPr>
              <a:t>SCAN&amp;GO - RETAIL SMART MOBILE APPLICATION: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600"/>
              <a:buFont typeface="Arial"/>
              <a:buNone/>
            </a:pPr>
            <a:r>
              <a:rPr lang="en-US" sz="2600" b="1" i="0" u="none" strike="noStrike" cap="none">
                <a:solidFill>
                  <a:srgbClr val="004AAD"/>
                </a:solidFill>
                <a:latin typeface="Inter"/>
                <a:ea typeface="Inter"/>
                <a:cs typeface="Inter"/>
                <a:sym typeface="Inter"/>
              </a:rPr>
              <a:t>FROM LONG QUEUES TO SEAMLESS SUPERMARKET SHOPPING (7/7)</a:t>
            </a:r>
            <a:endParaRPr sz="1200" b="0" i="0" u="none" strike="noStrike" cap="none">
              <a:solidFill>
                <a:srgbClr val="000000"/>
              </a:solidFill>
              <a:latin typeface="Arial"/>
              <a:ea typeface="Arial"/>
              <a:cs typeface="Arial"/>
              <a:sym typeface="Arial"/>
            </a:endParaRPr>
          </a:p>
        </p:txBody>
      </p:sp>
      <p:sp>
        <p:nvSpPr>
          <p:cNvPr id="2052" name="Google Shape;2052;p28"/>
          <p:cNvSpPr txBox="1"/>
          <p:nvPr/>
        </p:nvSpPr>
        <p:spPr>
          <a:xfrm>
            <a:off x="4692405" y="1989748"/>
            <a:ext cx="45594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Result</a:t>
            </a:r>
            <a:endParaRPr sz="1200" b="0" i="0" u="none" strike="noStrike" cap="none">
              <a:solidFill>
                <a:srgbClr val="000000"/>
              </a:solidFill>
              <a:latin typeface="Arial"/>
              <a:ea typeface="Arial"/>
              <a:cs typeface="Arial"/>
              <a:sym typeface="Arial"/>
            </a:endParaRPr>
          </a:p>
        </p:txBody>
      </p:sp>
      <p:sp>
        <p:nvSpPr>
          <p:cNvPr id="2053" name="Google Shape;2053;p28"/>
          <p:cNvSpPr txBox="1"/>
          <p:nvPr/>
        </p:nvSpPr>
        <p:spPr>
          <a:xfrm>
            <a:off x="4696487" y="2533949"/>
            <a:ext cx="5781600" cy="766500"/>
          </a:xfrm>
          <a:prstGeom prst="rect">
            <a:avLst/>
          </a:prstGeom>
          <a:noFill/>
          <a:ln>
            <a:noFill/>
          </a:ln>
        </p:spPr>
        <p:txBody>
          <a:bodyPr spcFirstLastPara="1" wrap="square" lIns="0" tIns="0" rIns="0" bIns="0" anchor="t" anchorCtr="0">
            <a:spAutoFit/>
          </a:bodyPr>
          <a:lstStyle/>
          <a:p>
            <a:pPr marL="292100" marR="0" lvl="1" indent="-158750" algn="just" rtl="0">
              <a:lnSpc>
                <a:spcPct val="140000"/>
              </a:lnSpc>
              <a:spcBef>
                <a:spcPts val="0"/>
              </a:spcBef>
              <a:spcAft>
                <a:spcPts val="0"/>
              </a:spcAft>
              <a:buClr>
                <a:srgbClr val="3A3A3A"/>
              </a:buClr>
              <a:buSzPts val="1500"/>
              <a:buFont typeface="Arial"/>
              <a:buChar char="•"/>
            </a:pPr>
            <a:r>
              <a:rPr lang="en-US" sz="1500" b="1" i="0" u="none" strike="noStrike" cap="none">
                <a:solidFill>
                  <a:srgbClr val="3A3A3A"/>
                </a:solidFill>
                <a:latin typeface="Inter"/>
                <a:ea typeface="Inter"/>
                <a:cs typeface="Inter"/>
                <a:sym typeface="Inter"/>
              </a:rPr>
              <a:t>High User Adoption: </a:t>
            </a:r>
            <a:endParaRPr sz="14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The app reached over </a:t>
            </a:r>
            <a:r>
              <a:rPr lang="en-US" sz="1200" b="1" i="0" u="none" strike="noStrike" cap="none">
                <a:solidFill>
                  <a:srgbClr val="003A86"/>
                </a:solidFill>
                <a:latin typeface="Inter"/>
                <a:ea typeface="Inter"/>
                <a:cs typeface="Inter"/>
                <a:sym typeface="Inter"/>
              </a:rPr>
              <a:t>900,000 downloads</a:t>
            </a:r>
            <a:r>
              <a:rPr lang="en-US" sz="1200" b="0" i="0" u="none" strike="noStrike" cap="none">
                <a:solidFill>
                  <a:srgbClr val="3A3A3A"/>
                </a:solidFill>
                <a:latin typeface="Inter"/>
                <a:ea typeface="Inter"/>
                <a:cs typeface="Inter"/>
                <a:sym typeface="Inter"/>
              </a:rPr>
              <a:t> by the end of 2024. The application is used across</a:t>
            </a:r>
            <a:r>
              <a:rPr lang="en-US" sz="1200" b="1" i="0" u="none" strike="noStrike" cap="none">
                <a:solidFill>
                  <a:srgbClr val="3A3A3A"/>
                </a:solidFill>
                <a:latin typeface="Inter"/>
                <a:ea typeface="Inter"/>
                <a:cs typeface="Inter"/>
                <a:sym typeface="Inter"/>
              </a:rPr>
              <a:t> </a:t>
            </a:r>
            <a:r>
              <a:rPr lang="en-US" sz="1200" b="1" i="0" u="none" strike="noStrike" cap="none">
                <a:solidFill>
                  <a:srgbClr val="003A86"/>
                </a:solidFill>
                <a:latin typeface="Inter"/>
                <a:ea typeface="Inter"/>
                <a:cs typeface="Inter"/>
                <a:sym typeface="Inter"/>
              </a:rPr>
              <a:t>500+ supermarket stores</a:t>
            </a:r>
            <a:r>
              <a:rPr lang="en-US" sz="1200" b="0" i="0" u="none" strike="noStrike" cap="none">
                <a:solidFill>
                  <a:srgbClr val="3A3A3A"/>
                </a:solidFill>
                <a:latin typeface="Inter"/>
                <a:ea typeface="Inter"/>
                <a:cs typeface="Inter"/>
                <a:sym typeface="Inter"/>
              </a:rPr>
              <a:t> in Japan</a:t>
            </a:r>
            <a:endParaRPr sz="1200" b="0" i="0" u="none" strike="noStrike" cap="none">
              <a:solidFill>
                <a:srgbClr val="000000"/>
              </a:solidFill>
              <a:latin typeface="Arial"/>
              <a:ea typeface="Arial"/>
              <a:cs typeface="Arial"/>
              <a:sym typeface="Arial"/>
            </a:endParaRPr>
          </a:p>
        </p:txBody>
      </p:sp>
      <p:sp>
        <p:nvSpPr>
          <p:cNvPr id="2054" name="Google Shape;2054;p28"/>
          <p:cNvSpPr txBox="1"/>
          <p:nvPr/>
        </p:nvSpPr>
        <p:spPr>
          <a:xfrm>
            <a:off x="4696487" y="3666579"/>
            <a:ext cx="5781600" cy="766500"/>
          </a:xfrm>
          <a:prstGeom prst="rect">
            <a:avLst/>
          </a:prstGeom>
          <a:noFill/>
          <a:ln>
            <a:noFill/>
          </a:ln>
        </p:spPr>
        <p:txBody>
          <a:bodyPr spcFirstLastPara="1" wrap="square" lIns="0" tIns="0" rIns="0" bIns="0" anchor="t" anchorCtr="0">
            <a:spAutoFit/>
          </a:bodyPr>
          <a:lstStyle/>
          <a:p>
            <a:pPr marL="292100" marR="0" lvl="1" indent="-158750" algn="just" rtl="0">
              <a:lnSpc>
                <a:spcPct val="140000"/>
              </a:lnSpc>
              <a:spcBef>
                <a:spcPts val="0"/>
              </a:spcBef>
              <a:spcAft>
                <a:spcPts val="0"/>
              </a:spcAft>
              <a:buClr>
                <a:srgbClr val="3A3A3A"/>
              </a:buClr>
              <a:buSzPts val="1500"/>
              <a:buFont typeface="Arial"/>
              <a:buChar char="•"/>
            </a:pPr>
            <a:r>
              <a:rPr lang="en-US" sz="1500" b="1" i="0" u="none" strike="noStrike" cap="none">
                <a:solidFill>
                  <a:srgbClr val="3A3A3A"/>
                </a:solidFill>
                <a:latin typeface="Inter"/>
                <a:ea typeface="Inter"/>
                <a:cs typeface="Inter"/>
                <a:sym typeface="Inter"/>
              </a:rPr>
              <a:t>Strong User Retention: </a:t>
            </a:r>
            <a:endParaRPr sz="14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 Frequent updates and loyalty-based features contributed to a high return user rate. The app is highly rated for its concept &amp; UX/UI</a:t>
            </a:r>
            <a:endParaRPr sz="1200" b="0" i="0" u="none" strike="noStrike" cap="none">
              <a:solidFill>
                <a:srgbClr val="000000"/>
              </a:solidFill>
              <a:latin typeface="Arial"/>
              <a:ea typeface="Arial"/>
              <a:cs typeface="Arial"/>
              <a:sym typeface="Arial"/>
            </a:endParaRPr>
          </a:p>
        </p:txBody>
      </p:sp>
      <p:sp>
        <p:nvSpPr>
          <p:cNvPr id="2055" name="Google Shape;2055;p28"/>
          <p:cNvSpPr txBox="1"/>
          <p:nvPr/>
        </p:nvSpPr>
        <p:spPr>
          <a:xfrm>
            <a:off x="4692405" y="4802241"/>
            <a:ext cx="5781600" cy="1283700"/>
          </a:xfrm>
          <a:prstGeom prst="rect">
            <a:avLst/>
          </a:prstGeom>
          <a:noFill/>
          <a:ln>
            <a:noFill/>
          </a:ln>
        </p:spPr>
        <p:txBody>
          <a:bodyPr spcFirstLastPara="1" wrap="square" lIns="0" tIns="0" rIns="0" bIns="0" anchor="t" anchorCtr="0">
            <a:spAutoFit/>
          </a:bodyPr>
          <a:lstStyle/>
          <a:p>
            <a:pPr marL="292100" marR="0" lvl="1" indent="-158750" algn="just" rtl="0">
              <a:lnSpc>
                <a:spcPct val="140000"/>
              </a:lnSpc>
              <a:spcBef>
                <a:spcPts val="0"/>
              </a:spcBef>
              <a:spcAft>
                <a:spcPts val="0"/>
              </a:spcAft>
              <a:buClr>
                <a:srgbClr val="3A3A3A"/>
              </a:buClr>
              <a:buSzPts val="1500"/>
              <a:buFont typeface="Arial"/>
              <a:buChar char="•"/>
            </a:pPr>
            <a:r>
              <a:rPr lang="en-US" sz="1500" b="1" i="0" u="none" strike="noStrike" cap="none">
                <a:solidFill>
                  <a:srgbClr val="3A3A3A"/>
                </a:solidFill>
                <a:latin typeface="Inter"/>
                <a:ea typeface="Inter"/>
                <a:cs typeface="Inter"/>
                <a:sym typeface="Inter"/>
              </a:rPr>
              <a:t>71% Performance Enhancement</a:t>
            </a:r>
            <a:endParaRPr sz="14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Initial performance challenges were addressed, but with VTI’s Kaizen core value, the team quickly researched, identified the problems, and had improvement measures, leading to a </a:t>
            </a:r>
            <a:r>
              <a:rPr lang="en-US" sz="1200" b="1" i="0" u="none" strike="noStrike" cap="none">
                <a:solidFill>
                  <a:srgbClr val="003A86"/>
                </a:solidFill>
                <a:latin typeface="Inter"/>
                <a:ea typeface="Inter"/>
                <a:cs typeface="Inter"/>
                <a:sym typeface="Inter"/>
              </a:rPr>
              <a:t>71% performance boost.</a:t>
            </a:r>
            <a:endParaRPr sz="12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200"/>
              <a:buFont typeface="Arial"/>
              <a:buNone/>
            </a:pPr>
            <a:endParaRPr sz="1200" b="1" i="0" u="none" strike="noStrike" cap="none">
              <a:solidFill>
                <a:srgbClr val="003A86"/>
              </a:solidFill>
              <a:latin typeface="Inter"/>
              <a:ea typeface="Inter"/>
              <a:cs typeface="Inter"/>
              <a:sym typeface="Inter"/>
            </a:endParaRPr>
          </a:p>
        </p:txBody>
      </p:sp>
      <p:sp>
        <p:nvSpPr>
          <p:cNvPr id="2056" name="Google Shape;2056;p28"/>
          <p:cNvSpPr txBox="1"/>
          <p:nvPr/>
        </p:nvSpPr>
        <p:spPr>
          <a:xfrm>
            <a:off x="4696487" y="6183436"/>
            <a:ext cx="5781600" cy="1025100"/>
          </a:xfrm>
          <a:prstGeom prst="rect">
            <a:avLst/>
          </a:prstGeom>
          <a:noFill/>
          <a:ln>
            <a:noFill/>
          </a:ln>
        </p:spPr>
        <p:txBody>
          <a:bodyPr spcFirstLastPara="1" wrap="square" lIns="0" tIns="0" rIns="0" bIns="0" anchor="t" anchorCtr="0">
            <a:spAutoFit/>
          </a:bodyPr>
          <a:lstStyle/>
          <a:p>
            <a:pPr marL="292100" marR="0" lvl="1" indent="-158750" algn="just" rtl="0">
              <a:lnSpc>
                <a:spcPct val="140000"/>
              </a:lnSpc>
              <a:spcBef>
                <a:spcPts val="0"/>
              </a:spcBef>
              <a:spcAft>
                <a:spcPts val="0"/>
              </a:spcAft>
              <a:buClr>
                <a:srgbClr val="3A3A3A"/>
              </a:buClr>
              <a:buSzPts val="1500"/>
              <a:buFont typeface="Arial"/>
              <a:buChar char="•"/>
            </a:pPr>
            <a:r>
              <a:rPr lang="en-US" sz="1500" b="1" i="0" u="none" strike="noStrike" cap="none">
                <a:solidFill>
                  <a:srgbClr val="3A3A3A"/>
                </a:solidFill>
                <a:latin typeface="Inter"/>
                <a:ea typeface="Inter"/>
                <a:cs typeface="Inter"/>
                <a:sym typeface="Inter"/>
              </a:rPr>
              <a:t>Increased Customer Engagement</a:t>
            </a:r>
            <a:endParaRPr sz="14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The app integrated a robust loyalty program, offering monthly digital coupons, personalized events such as birthday rewards, and special promotions, enhancing customer retention and repeat purchases.</a:t>
            </a:r>
            <a:endParaRPr sz="1200" b="0" i="0" u="none" strike="noStrike" cap="none">
              <a:solidFill>
                <a:srgbClr val="000000"/>
              </a:solidFill>
              <a:latin typeface="Arial"/>
              <a:ea typeface="Arial"/>
              <a:cs typeface="Arial"/>
              <a:sym typeface="Arial"/>
            </a:endParaRPr>
          </a:p>
        </p:txBody>
      </p:sp>
      <p:sp>
        <p:nvSpPr>
          <p:cNvPr id="2057" name="Google Shape;2057;p28"/>
          <p:cNvSpPr/>
          <p:nvPr/>
        </p:nvSpPr>
        <p:spPr>
          <a:xfrm>
            <a:off x="411277" y="3304219"/>
            <a:ext cx="495765" cy="472836"/>
          </a:xfrm>
          <a:custGeom>
            <a:avLst/>
            <a:gdLst/>
            <a:ahLst/>
            <a:cxnLst/>
            <a:rect l="l" t="t" r="r" b="b"/>
            <a:pathLst>
              <a:path w="557039" h="531276" extrusionOk="0">
                <a:moveTo>
                  <a:pt x="0" y="0"/>
                </a:moveTo>
                <a:lnTo>
                  <a:pt x="557039" y="0"/>
                </a:lnTo>
                <a:lnTo>
                  <a:pt x="557039" y="531276"/>
                </a:lnTo>
                <a:lnTo>
                  <a:pt x="0" y="531276"/>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sp>
        <p:nvSpPr>
          <p:cNvPr id="2058" name="Google Shape;2058;p28"/>
          <p:cNvSpPr/>
          <p:nvPr/>
        </p:nvSpPr>
        <p:spPr>
          <a:xfrm>
            <a:off x="411277" y="6201531"/>
            <a:ext cx="442101" cy="472836"/>
          </a:xfrm>
          <a:custGeom>
            <a:avLst/>
            <a:gdLst/>
            <a:ahLst/>
            <a:cxnLst/>
            <a:rect l="l" t="t" r="r" b="b"/>
            <a:pathLst>
              <a:path w="496743" h="531276" extrusionOk="0">
                <a:moveTo>
                  <a:pt x="0" y="0"/>
                </a:moveTo>
                <a:lnTo>
                  <a:pt x="496743" y="0"/>
                </a:lnTo>
                <a:lnTo>
                  <a:pt x="496743" y="531275"/>
                </a:lnTo>
                <a:lnTo>
                  <a:pt x="0" y="531275"/>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sp>
        <p:nvSpPr>
          <p:cNvPr id="2059" name="Google Shape;2059;p28"/>
          <p:cNvSpPr/>
          <p:nvPr/>
        </p:nvSpPr>
        <p:spPr>
          <a:xfrm>
            <a:off x="411277" y="4199684"/>
            <a:ext cx="495765" cy="495765"/>
          </a:xfrm>
          <a:custGeom>
            <a:avLst/>
            <a:gdLst/>
            <a:ahLst/>
            <a:cxnLst/>
            <a:rect l="l" t="t" r="r" b="b"/>
            <a:pathLst>
              <a:path w="557039" h="557039" extrusionOk="0">
                <a:moveTo>
                  <a:pt x="0" y="0"/>
                </a:moveTo>
                <a:lnTo>
                  <a:pt x="557039" y="0"/>
                </a:lnTo>
                <a:lnTo>
                  <a:pt x="557039" y="557039"/>
                </a:lnTo>
                <a:lnTo>
                  <a:pt x="0" y="557039"/>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2060" name="Google Shape;2060;p28"/>
          <p:cNvSpPr/>
          <p:nvPr/>
        </p:nvSpPr>
        <p:spPr>
          <a:xfrm>
            <a:off x="411277" y="5147167"/>
            <a:ext cx="495765" cy="495765"/>
          </a:xfrm>
          <a:custGeom>
            <a:avLst/>
            <a:gdLst/>
            <a:ahLst/>
            <a:cxnLst/>
            <a:rect l="l" t="t" r="r" b="b"/>
            <a:pathLst>
              <a:path w="557039" h="557039" extrusionOk="0">
                <a:moveTo>
                  <a:pt x="0" y="0"/>
                </a:moveTo>
                <a:lnTo>
                  <a:pt x="557039" y="0"/>
                </a:lnTo>
                <a:lnTo>
                  <a:pt x="557039" y="557039"/>
                </a:lnTo>
                <a:lnTo>
                  <a:pt x="0" y="557039"/>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sp>
        <p:nvSpPr>
          <p:cNvPr id="2061" name="Google Shape;2061;p28"/>
          <p:cNvSpPr txBox="1"/>
          <p:nvPr/>
        </p:nvSpPr>
        <p:spPr>
          <a:xfrm>
            <a:off x="411277" y="2369920"/>
            <a:ext cx="3339600" cy="665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1800"/>
              <a:buFont typeface="Arial"/>
              <a:buNone/>
            </a:pPr>
            <a:r>
              <a:rPr lang="en-US" sz="1800" b="0" i="0" u="none" strike="noStrike" cap="none">
                <a:solidFill>
                  <a:srgbClr val="FFFFFF"/>
                </a:solidFill>
                <a:latin typeface="Inter"/>
                <a:ea typeface="Inter"/>
                <a:cs typeface="Inter"/>
                <a:sym typeface="Inter"/>
              </a:rPr>
              <a:t>Japanese leading supermarket /retail chains</a:t>
            </a:r>
            <a:endParaRPr sz="1200" b="0" i="0" u="none" strike="noStrike" cap="none">
              <a:solidFill>
                <a:srgbClr val="000000"/>
              </a:solidFill>
              <a:latin typeface="Arial"/>
              <a:ea typeface="Arial"/>
              <a:cs typeface="Arial"/>
              <a:sym typeface="Arial"/>
            </a:endParaRPr>
          </a:p>
        </p:txBody>
      </p:sp>
      <p:sp>
        <p:nvSpPr>
          <p:cNvPr id="2062" name="Google Shape;2062;p28"/>
          <p:cNvSpPr txBox="1"/>
          <p:nvPr/>
        </p:nvSpPr>
        <p:spPr>
          <a:xfrm>
            <a:off x="1151916" y="3287558"/>
            <a:ext cx="19620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Headquartered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in Tokyo, Japan</a:t>
            </a:r>
            <a:endParaRPr sz="1200" b="0" i="0" u="none" strike="noStrike" cap="none">
              <a:solidFill>
                <a:srgbClr val="000000"/>
              </a:solidFill>
              <a:latin typeface="Arial"/>
              <a:ea typeface="Arial"/>
              <a:cs typeface="Arial"/>
              <a:sym typeface="Arial"/>
            </a:endParaRPr>
          </a:p>
        </p:txBody>
      </p:sp>
      <p:sp>
        <p:nvSpPr>
          <p:cNvPr id="2063" name="Google Shape;2063;p28"/>
          <p:cNvSpPr txBox="1"/>
          <p:nvPr/>
        </p:nvSpPr>
        <p:spPr>
          <a:xfrm>
            <a:off x="1151916" y="4165817"/>
            <a:ext cx="1410300" cy="575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Founded in</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2014</a:t>
            </a:r>
            <a:endParaRPr sz="1200" b="0" i="0" u="none" strike="noStrike" cap="none">
              <a:solidFill>
                <a:srgbClr val="000000"/>
              </a:solidFill>
              <a:latin typeface="Arial"/>
              <a:ea typeface="Arial"/>
              <a:cs typeface="Arial"/>
              <a:sym typeface="Arial"/>
            </a:endParaRPr>
          </a:p>
        </p:txBody>
      </p:sp>
      <p:sp>
        <p:nvSpPr>
          <p:cNvPr id="2064" name="Google Shape;2064;p28"/>
          <p:cNvSpPr txBox="1"/>
          <p:nvPr/>
        </p:nvSpPr>
        <p:spPr>
          <a:xfrm>
            <a:off x="1185334" y="4988844"/>
            <a:ext cx="28584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0" i="0" u="none" strike="noStrike" cap="none">
                <a:solidFill>
                  <a:srgbClr val="FFFFFF"/>
                </a:solidFill>
                <a:latin typeface="Inter"/>
                <a:ea typeface="Inter"/>
                <a:cs typeface="Inter"/>
                <a:sym typeface="Inter"/>
              </a:rPr>
              <a:t>Operating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4 famous supermarket brands </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over 650 stores across Japan</a:t>
            </a:r>
            <a:endParaRPr sz="1200" b="0" i="0" u="none" strike="noStrike" cap="none">
              <a:solidFill>
                <a:srgbClr val="000000"/>
              </a:solidFill>
              <a:latin typeface="Arial"/>
              <a:ea typeface="Arial"/>
              <a:cs typeface="Arial"/>
              <a:sym typeface="Arial"/>
            </a:endParaRPr>
          </a:p>
        </p:txBody>
      </p:sp>
      <p:sp>
        <p:nvSpPr>
          <p:cNvPr id="2065" name="Google Shape;2065;p28"/>
          <p:cNvSpPr txBox="1"/>
          <p:nvPr/>
        </p:nvSpPr>
        <p:spPr>
          <a:xfrm>
            <a:off x="1151916" y="6087111"/>
            <a:ext cx="2858400" cy="1222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Technologies used</a:t>
            </a:r>
            <a:endParaRPr sz="1200" b="0" i="0" u="none" strike="noStrike" cap="none">
              <a:solidFill>
                <a:srgbClr val="000000"/>
              </a:solidFill>
              <a:latin typeface="Arial"/>
              <a:ea typeface="Arial"/>
              <a:cs typeface="Arial"/>
              <a:sym typeface="Arial"/>
            </a:endParaRPr>
          </a:p>
          <a:p>
            <a:pPr marL="330200" marR="0" lvl="1" indent="-171450" algn="l" rtl="0">
              <a:lnSpc>
                <a:spcPct val="140000"/>
              </a:lnSpc>
              <a:spcBef>
                <a:spcPts val="0"/>
              </a:spcBef>
              <a:spcAft>
                <a:spcPts val="0"/>
              </a:spcAft>
              <a:buClr>
                <a:srgbClr val="FFF800"/>
              </a:buClr>
              <a:buSzPts val="1500"/>
              <a:buFont typeface="Arial"/>
              <a:buChar char="•"/>
            </a:pPr>
            <a:r>
              <a:rPr lang="en-US" sz="1500" b="1" i="0" u="none" strike="noStrike" cap="none">
                <a:solidFill>
                  <a:srgbClr val="FFF800"/>
                </a:solidFill>
                <a:latin typeface="Inter"/>
                <a:ea typeface="Inter"/>
                <a:cs typeface="Inter"/>
                <a:sym typeface="Inter"/>
              </a:rPr>
              <a:t>Cross-platform development: React Native </a:t>
            </a:r>
            <a:endParaRPr sz="1200" b="0" i="0" u="none" strike="noStrike" cap="none">
              <a:solidFill>
                <a:srgbClr val="000000"/>
              </a:solidFill>
              <a:latin typeface="Arial"/>
              <a:ea typeface="Arial"/>
              <a:cs typeface="Arial"/>
              <a:sym typeface="Arial"/>
            </a:endParaRPr>
          </a:p>
          <a:p>
            <a:pPr marL="330200" marR="0" lvl="1" indent="-171450" algn="l" rtl="0">
              <a:lnSpc>
                <a:spcPct val="140000"/>
              </a:lnSpc>
              <a:spcBef>
                <a:spcPts val="0"/>
              </a:spcBef>
              <a:spcAft>
                <a:spcPts val="0"/>
              </a:spcAft>
              <a:buClr>
                <a:srgbClr val="FFF800"/>
              </a:buClr>
              <a:buSzPts val="1500"/>
              <a:buFont typeface="Arial"/>
              <a:buChar char="•"/>
            </a:pPr>
            <a:r>
              <a:rPr lang="en-US" sz="1500" b="1" i="0" u="none" strike="noStrike" cap="none">
                <a:solidFill>
                  <a:srgbClr val="FFF800"/>
                </a:solidFill>
                <a:latin typeface="Inter"/>
                <a:ea typeface="Inter"/>
                <a:cs typeface="Inter"/>
                <a:sym typeface="Inter"/>
              </a:rPr>
              <a:t>Backend architecture: C#</a:t>
            </a:r>
            <a:endParaRPr sz="1200" b="0" i="0" u="none" strike="noStrike" cap="none">
              <a:solidFill>
                <a:srgbClr val="000000"/>
              </a:solidFill>
              <a:latin typeface="Arial"/>
              <a:ea typeface="Arial"/>
              <a:cs typeface="Arial"/>
              <a:sym typeface="Arial"/>
            </a:endParaRPr>
          </a:p>
        </p:txBody>
      </p:sp>
      <p:grpSp>
        <p:nvGrpSpPr>
          <p:cNvPr id="2066" name="Google Shape;2066;p28"/>
          <p:cNvGrpSpPr/>
          <p:nvPr/>
        </p:nvGrpSpPr>
        <p:grpSpPr>
          <a:xfrm>
            <a:off x="10921428" y="2137781"/>
            <a:ext cx="5334845" cy="5099508"/>
            <a:chOff x="0" y="0"/>
            <a:chExt cx="8001867" cy="7648880"/>
          </a:xfrm>
        </p:grpSpPr>
        <p:sp>
          <p:nvSpPr>
            <p:cNvPr id="2067" name="Google Shape;2067;p28"/>
            <p:cNvSpPr/>
            <p:nvPr/>
          </p:nvSpPr>
          <p:spPr>
            <a:xfrm>
              <a:off x="4371867" y="5185755"/>
              <a:ext cx="1027447" cy="1021025"/>
            </a:xfrm>
            <a:custGeom>
              <a:avLst/>
              <a:gdLst/>
              <a:ahLst/>
              <a:cxnLst/>
              <a:rect l="l" t="t" r="r" b="b"/>
              <a:pathLst>
                <a:path w="1027447" h="1021025" extrusionOk="0">
                  <a:moveTo>
                    <a:pt x="0" y="0"/>
                  </a:moveTo>
                  <a:lnTo>
                    <a:pt x="1027447" y="0"/>
                  </a:lnTo>
                  <a:lnTo>
                    <a:pt x="1027447" y="1021026"/>
                  </a:lnTo>
                  <a:lnTo>
                    <a:pt x="0" y="1021026"/>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sp>
          <p:nvSpPr>
            <p:cNvPr id="2068" name="Google Shape;2068;p28"/>
            <p:cNvSpPr/>
            <p:nvPr/>
          </p:nvSpPr>
          <p:spPr>
            <a:xfrm>
              <a:off x="5587329" y="5185755"/>
              <a:ext cx="1024869" cy="1021025"/>
            </a:xfrm>
            <a:custGeom>
              <a:avLst/>
              <a:gdLst/>
              <a:ahLst/>
              <a:cxnLst/>
              <a:rect l="l" t="t" r="r" b="b"/>
              <a:pathLst>
                <a:path w="1024869" h="1021025" extrusionOk="0">
                  <a:moveTo>
                    <a:pt x="0" y="0"/>
                  </a:moveTo>
                  <a:lnTo>
                    <a:pt x="1024868" y="0"/>
                  </a:lnTo>
                  <a:lnTo>
                    <a:pt x="1024868" y="1021026"/>
                  </a:lnTo>
                  <a:lnTo>
                    <a:pt x="0" y="1021026"/>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grpSp>
          <p:nvGrpSpPr>
            <p:cNvPr id="2069" name="Google Shape;2069;p28"/>
            <p:cNvGrpSpPr/>
            <p:nvPr/>
          </p:nvGrpSpPr>
          <p:grpSpPr>
            <a:xfrm>
              <a:off x="0" y="0"/>
              <a:ext cx="3866611" cy="7648880"/>
              <a:chOff x="0" y="0"/>
              <a:chExt cx="2620010" cy="5182870"/>
            </a:xfrm>
          </p:grpSpPr>
          <p:sp>
            <p:nvSpPr>
              <p:cNvPr id="2070" name="Google Shape;2070;p28"/>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1" name="Google Shape;2071;p28"/>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2" name="Google Shape;2072;p28"/>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3" name="Google Shape;2073;p28"/>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4" name="Google Shape;2074;p28"/>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5" name="Google Shape;2075;p28"/>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6" name="Google Shape;2076;p28"/>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7" name="Google Shape;2077;p28"/>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8" name="Google Shape;2078;p28"/>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79" name="Google Shape;2079;p28"/>
            <p:cNvGrpSpPr/>
            <p:nvPr/>
          </p:nvGrpSpPr>
          <p:grpSpPr>
            <a:xfrm>
              <a:off x="454154" y="4187937"/>
              <a:ext cx="2154710" cy="485938"/>
              <a:chOff x="0" y="-38100"/>
              <a:chExt cx="309941" cy="69900"/>
            </a:xfrm>
          </p:grpSpPr>
          <p:sp>
            <p:nvSpPr>
              <p:cNvPr id="2080" name="Google Shape;2080;p28"/>
              <p:cNvSpPr/>
              <p:nvPr/>
            </p:nvSpPr>
            <p:spPr>
              <a:xfrm>
                <a:off x="0" y="0"/>
                <a:ext cx="309941" cy="31677"/>
              </a:xfrm>
              <a:custGeom>
                <a:avLst/>
                <a:gdLst/>
                <a:ahLst/>
                <a:cxnLst/>
                <a:rect l="l" t="t" r="r" b="b"/>
                <a:pathLst>
                  <a:path w="309941" h="31677" extrusionOk="0">
                    <a:moveTo>
                      <a:pt x="0" y="0"/>
                    </a:moveTo>
                    <a:lnTo>
                      <a:pt x="309941" y="0"/>
                    </a:lnTo>
                    <a:lnTo>
                      <a:pt x="309941" y="31677"/>
                    </a:lnTo>
                    <a:lnTo>
                      <a:pt x="0" y="31677"/>
                    </a:lnTo>
                    <a:close/>
                  </a:path>
                </a:pathLst>
              </a:custGeom>
              <a:solidFill>
                <a:srgbClr val="293277"/>
              </a:solidFill>
              <a:ln>
                <a:noFill/>
              </a:ln>
            </p:spPr>
          </p:sp>
          <p:sp>
            <p:nvSpPr>
              <p:cNvPr id="2081" name="Google Shape;2081;p28"/>
              <p:cNvSpPr txBox="1"/>
              <p:nvPr/>
            </p:nvSpPr>
            <p:spPr>
              <a:xfrm>
                <a:off x="0" y="-38100"/>
                <a:ext cx="309900" cy="699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2082" name="Google Shape;2082;p28"/>
            <p:cNvGrpSpPr/>
            <p:nvPr/>
          </p:nvGrpSpPr>
          <p:grpSpPr>
            <a:xfrm>
              <a:off x="334299" y="6332004"/>
              <a:ext cx="887270" cy="529742"/>
              <a:chOff x="0" y="-38100"/>
              <a:chExt cx="127628" cy="76200"/>
            </a:xfrm>
          </p:grpSpPr>
          <p:sp>
            <p:nvSpPr>
              <p:cNvPr id="2083" name="Google Shape;2083;p28"/>
              <p:cNvSpPr/>
              <p:nvPr/>
            </p:nvSpPr>
            <p:spPr>
              <a:xfrm>
                <a:off x="0" y="0"/>
                <a:ext cx="127628" cy="38015"/>
              </a:xfrm>
              <a:custGeom>
                <a:avLst/>
                <a:gdLst/>
                <a:ahLst/>
                <a:cxnLst/>
                <a:rect l="l" t="t" r="r" b="b"/>
                <a:pathLst>
                  <a:path w="127628" h="38015" extrusionOk="0">
                    <a:moveTo>
                      <a:pt x="0" y="0"/>
                    </a:moveTo>
                    <a:lnTo>
                      <a:pt x="127628" y="0"/>
                    </a:lnTo>
                    <a:lnTo>
                      <a:pt x="127628" y="38015"/>
                    </a:lnTo>
                    <a:lnTo>
                      <a:pt x="0" y="38015"/>
                    </a:lnTo>
                    <a:close/>
                  </a:path>
                </a:pathLst>
              </a:custGeom>
              <a:solidFill>
                <a:srgbClr val="FFFFFF"/>
              </a:solidFill>
              <a:ln>
                <a:noFill/>
              </a:ln>
            </p:spPr>
          </p:sp>
          <p:sp>
            <p:nvSpPr>
              <p:cNvPr id="2084" name="Google Shape;2084;p28"/>
              <p:cNvSpPr txBox="1"/>
              <p:nvPr/>
            </p:nvSpPr>
            <p:spPr>
              <a:xfrm>
                <a:off x="0" y="-38100"/>
                <a:ext cx="127500" cy="762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2085" name="Google Shape;2085;p28"/>
            <p:cNvSpPr txBox="1"/>
            <p:nvPr/>
          </p:nvSpPr>
          <p:spPr>
            <a:xfrm>
              <a:off x="4371867" y="242473"/>
              <a:ext cx="3630000" cy="1168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400"/>
                <a:buFont typeface="Arial"/>
                <a:buNone/>
              </a:pPr>
              <a:r>
                <a:rPr lang="en-US" sz="2400" b="1" i="0" u="none" strike="noStrike" cap="none">
                  <a:solidFill>
                    <a:srgbClr val="004AAD"/>
                  </a:solidFill>
                  <a:latin typeface="Inter"/>
                  <a:ea typeface="Inter"/>
                  <a:cs typeface="Inter"/>
                  <a:sym typeface="Inter"/>
                </a:rPr>
                <a:t>500+</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700"/>
                <a:buFont typeface="Arial"/>
                <a:buNone/>
              </a:pPr>
              <a:r>
                <a:rPr lang="en-US" sz="1700" b="0" i="0" u="none" strike="noStrike" cap="none">
                  <a:solidFill>
                    <a:srgbClr val="3A3A3A"/>
                  </a:solidFill>
                  <a:latin typeface="Inter"/>
                  <a:ea typeface="Inter"/>
                  <a:cs typeface="Inter"/>
                  <a:sym typeface="Inter"/>
                </a:rPr>
                <a:t>Stores apply</a:t>
              </a:r>
              <a:endParaRPr sz="1200" b="0" i="0" u="none" strike="noStrike" cap="none">
                <a:solidFill>
                  <a:srgbClr val="000000"/>
                </a:solidFill>
                <a:latin typeface="Arial"/>
                <a:ea typeface="Arial"/>
                <a:cs typeface="Arial"/>
                <a:sym typeface="Arial"/>
              </a:endParaRPr>
            </a:p>
          </p:txBody>
        </p:sp>
        <p:sp>
          <p:nvSpPr>
            <p:cNvPr id="2086" name="Google Shape;2086;p28"/>
            <p:cNvSpPr txBox="1"/>
            <p:nvPr/>
          </p:nvSpPr>
          <p:spPr>
            <a:xfrm>
              <a:off x="4371867" y="1750460"/>
              <a:ext cx="1900500" cy="1168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400"/>
                <a:buFont typeface="Arial"/>
                <a:buNone/>
              </a:pPr>
              <a:r>
                <a:rPr lang="en-US" sz="2400" b="1" i="0" u="none" strike="noStrike" cap="none">
                  <a:solidFill>
                    <a:srgbClr val="004AAD"/>
                  </a:solidFill>
                  <a:latin typeface="Inter"/>
                  <a:ea typeface="Inter"/>
                  <a:cs typeface="Inter"/>
                  <a:sym typeface="Inter"/>
                </a:rPr>
                <a:t>900K+</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700"/>
                <a:buFont typeface="Arial"/>
                <a:buNone/>
              </a:pPr>
              <a:r>
                <a:rPr lang="en-US" sz="1700" b="0" i="0" u="none" strike="noStrike" cap="none">
                  <a:solidFill>
                    <a:srgbClr val="3A3A3A"/>
                  </a:solidFill>
                  <a:latin typeface="Inter"/>
                  <a:ea typeface="Inter"/>
                  <a:cs typeface="Inter"/>
                  <a:sym typeface="Inter"/>
                </a:rPr>
                <a:t>Downloads</a:t>
              </a:r>
              <a:endParaRPr sz="1200" b="0" i="0" u="none" strike="noStrike" cap="none">
                <a:solidFill>
                  <a:srgbClr val="000000"/>
                </a:solidFill>
                <a:latin typeface="Arial"/>
                <a:ea typeface="Arial"/>
                <a:cs typeface="Arial"/>
                <a:sym typeface="Arial"/>
              </a:endParaRPr>
            </a:p>
          </p:txBody>
        </p:sp>
        <p:sp>
          <p:nvSpPr>
            <p:cNvPr id="2087" name="Google Shape;2087;p28"/>
            <p:cNvSpPr txBox="1"/>
            <p:nvPr/>
          </p:nvSpPr>
          <p:spPr>
            <a:xfrm>
              <a:off x="4371867" y="3258446"/>
              <a:ext cx="3192900" cy="1168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400"/>
                <a:buFont typeface="Arial"/>
                <a:buNone/>
              </a:pPr>
              <a:r>
                <a:rPr lang="en-US" sz="2400" b="1" i="0" u="none" strike="noStrike" cap="none">
                  <a:solidFill>
                    <a:srgbClr val="004AAD"/>
                  </a:solidFill>
                  <a:latin typeface="Inter"/>
                  <a:ea typeface="Inter"/>
                  <a:cs typeface="Inter"/>
                  <a:sym typeface="Inter"/>
                </a:rPr>
                <a:t>71%</a:t>
              </a:r>
              <a:endParaRPr sz="12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700"/>
                <a:buFont typeface="Arial"/>
                <a:buNone/>
              </a:pPr>
              <a:r>
                <a:rPr lang="en-US" sz="1700" b="0" i="0" u="none" strike="noStrike" cap="none">
                  <a:solidFill>
                    <a:srgbClr val="3A3A3A"/>
                  </a:solidFill>
                  <a:latin typeface="Inter"/>
                  <a:ea typeface="Inter"/>
                  <a:cs typeface="Inter"/>
                  <a:sym typeface="Inter"/>
                </a:rPr>
                <a:t>Performance Boost</a:t>
              </a:r>
              <a:endParaRPr sz="1200" b="0" i="0" u="none" strike="noStrike" cap="none">
                <a:solidFill>
                  <a:srgbClr val="000000"/>
                </a:solidFill>
                <a:latin typeface="Arial"/>
                <a:ea typeface="Arial"/>
                <a:cs typeface="Arial"/>
                <a:sym typeface="Arial"/>
              </a:endParaRPr>
            </a:p>
          </p:txBody>
        </p:sp>
        <p:sp>
          <p:nvSpPr>
            <p:cNvPr id="2088" name="Google Shape;2088;p28"/>
            <p:cNvSpPr txBox="1"/>
            <p:nvPr/>
          </p:nvSpPr>
          <p:spPr>
            <a:xfrm>
              <a:off x="4371867" y="6414352"/>
              <a:ext cx="3192900" cy="9423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0" i="0" u="none" strike="noStrike" cap="none">
                  <a:solidFill>
                    <a:srgbClr val="3A3A3A"/>
                  </a:solidFill>
                  <a:latin typeface="Inter"/>
                  <a:ea typeface="Inter"/>
                  <a:cs typeface="Inter"/>
                  <a:sym typeface="Inter"/>
                </a:rPr>
                <a:t>Integrated a robust loyalty program</a:t>
              </a:r>
              <a:endParaRPr sz="1200" b="0" i="0" u="none" strike="noStrike" cap="none">
                <a:solidFill>
                  <a:srgbClr val="000000"/>
                </a:solidFill>
                <a:latin typeface="Arial"/>
                <a:ea typeface="Arial"/>
                <a:cs typeface="Arial"/>
                <a:sym typeface="Arial"/>
              </a:endParaRPr>
            </a:p>
          </p:txBody>
        </p:sp>
      </p:grpSp>
      <p:sp>
        <p:nvSpPr>
          <p:cNvPr id="2089" name="Google Shape;2089;p28"/>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b="-5"/>
            </a:stretch>
          </a:blipFill>
          <a:ln>
            <a:noFill/>
          </a:ln>
        </p:spPr>
      </p:sp>
      <p:grpSp>
        <p:nvGrpSpPr>
          <p:cNvPr id="2090" name="Google Shape;2090;p28"/>
          <p:cNvGrpSpPr/>
          <p:nvPr/>
        </p:nvGrpSpPr>
        <p:grpSpPr>
          <a:xfrm>
            <a:off x="872534" y="8351050"/>
            <a:ext cx="846442" cy="699635"/>
            <a:chOff x="0" y="0"/>
            <a:chExt cx="1269600" cy="1049400"/>
          </a:xfrm>
        </p:grpSpPr>
        <p:sp>
          <p:nvSpPr>
            <p:cNvPr id="2091" name="Google Shape;2091;p28"/>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2092" name="Google Shape;2092;p28"/>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dirty="0">
                  <a:solidFill>
                    <a:schemeClr val="lt1"/>
                  </a:solidFill>
                  <a:latin typeface="Inter"/>
                  <a:ea typeface="Inter"/>
                  <a:sym typeface="Inter"/>
                </a:rPr>
                <a:t>31</a:t>
              </a:r>
              <a:endParaRPr sz="1200" b="0" i="0" u="none" strike="noStrike" cap="none" dirty="0">
                <a:solidFill>
                  <a:schemeClr val="lt1"/>
                </a:solidFill>
                <a:latin typeface="Arial"/>
                <a:ea typeface="Arial"/>
                <a:cs typeface="Arial"/>
                <a:sym typeface="Arial"/>
              </a:endParaRPr>
            </a:p>
          </p:txBody>
        </p:sp>
      </p:grpSp>
      <p:grpSp>
        <p:nvGrpSpPr>
          <p:cNvPr id="2" name="Google Shape;1652;p22">
            <a:extLst>
              <a:ext uri="{FF2B5EF4-FFF2-40B4-BE49-F238E27FC236}">
                <a16:creationId xmlns:a16="http://schemas.microsoft.com/office/drawing/2014/main" id="{02CEF7A2-462A-7B17-965B-5281ED89D3A8}"/>
              </a:ext>
            </a:extLst>
          </p:cNvPr>
          <p:cNvGrpSpPr/>
          <p:nvPr/>
        </p:nvGrpSpPr>
        <p:grpSpPr>
          <a:xfrm>
            <a:off x="1395688" y="647442"/>
            <a:ext cx="922772" cy="955213"/>
            <a:chOff x="0" y="-28575"/>
            <a:chExt cx="812800" cy="841375"/>
          </a:xfrm>
        </p:grpSpPr>
        <p:sp>
          <p:nvSpPr>
            <p:cNvPr id="3" name="Google Shape;1653;p22">
              <a:extLst>
                <a:ext uri="{FF2B5EF4-FFF2-40B4-BE49-F238E27FC236}">
                  <a16:creationId xmlns:a16="http://schemas.microsoft.com/office/drawing/2014/main" id="{95BCD35B-4D15-75C3-0DFF-BF98026C786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Google Shape;1654;p22">
              <a:extLst>
                <a:ext uri="{FF2B5EF4-FFF2-40B4-BE49-F238E27FC236}">
                  <a16:creationId xmlns:a16="http://schemas.microsoft.com/office/drawing/2014/main" id="{2D561CCF-254D-6BC2-7D43-C30359EC7A31}"/>
                </a:ext>
              </a:extLst>
            </p:cNvPr>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5" name="Google Shape;1655;p22">
            <a:extLst>
              <a:ext uri="{FF2B5EF4-FFF2-40B4-BE49-F238E27FC236}">
                <a16:creationId xmlns:a16="http://schemas.microsoft.com/office/drawing/2014/main" id="{75EC730E-11FA-25EC-F6B7-246BE3A252CE}"/>
              </a:ext>
            </a:extLst>
          </p:cNvPr>
          <p:cNvSpPr txBox="1"/>
          <p:nvPr/>
        </p:nvSpPr>
        <p:spPr>
          <a:xfrm>
            <a:off x="1635974" y="925024"/>
            <a:ext cx="442200" cy="40005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dirty="0">
                <a:solidFill>
                  <a:schemeClr val="dk2"/>
                </a:solidFill>
                <a:latin typeface="Inter"/>
                <a:ea typeface="Inter"/>
                <a:cs typeface="Inter"/>
                <a:sym typeface="Inter"/>
              </a:rPr>
              <a:t>0</a:t>
            </a:r>
            <a:r>
              <a:rPr lang="en-US" sz="2600" b="1" dirty="0">
                <a:solidFill>
                  <a:schemeClr val="dk2"/>
                </a:solidFill>
                <a:latin typeface="Inter"/>
                <a:ea typeface="Inter"/>
                <a:cs typeface="Inter"/>
                <a:sym typeface="Inter"/>
              </a:rPr>
              <a:t>2</a:t>
            </a:r>
            <a:endParaRPr sz="1800" b="0" i="0" u="none" strike="noStrike" cap="none" dirty="0">
              <a:solidFill>
                <a:schemeClr val="dk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96"/>
        <p:cNvGrpSpPr/>
        <p:nvPr/>
      </p:nvGrpSpPr>
      <p:grpSpPr>
        <a:xfrm>
          <a:off x="0" y="0"/>
          <a:ext cx="0" cy="0"/>
          <a:chOff x="0" y="0"/>
          <a:chExt cx="0" cy="0"/>
        </a:xfrm>
      </p:grpSpPr>
      <p:sp>
        <p:nvSpPr>
          <p:cNvPr id="2097" name="Google Shape;2097;p33"/>
          <p:cNvSpPr/>
          <p:nvPr/>
        </p:nvSpPr>
        <p:spPr>
          <a:xfrm rot="5400000">
            <a:off x="275628" y="2288858"/>
            <a:ext cx="9155430" cy="4577715"/>
          </a:xfrm>
          <a:custGeom>
            <a:avLst/>
            <a:gdLst/>
            <a:ahLst/>
            <a:cxnLst/>
            <a:rect l="l" t="t" r="r" b="b"/>
            <a:pathLst>
              <a:path w="10287000" h="5143500" extrusionOk="0">
                <a:moveTo>
                  <a:pt x="0" y="0"/>
                </a:moveTo>
                <a:lnTo>
                  <a:pt x="10287000" y="0"/>
                </a:lnTo>
                <a:lnTo>
                  <a:pt x="10287000" y="5143500"/>
                </a:lnTo>
                <a:lnTo>
                  <a:pt x="0" y="5143500"/>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sp>
      <p:grpSp>
        <p:nvGrpSpPr>
          <p:cNvPr id="2098" name="Google Shape;2098;p33"/>
          <p:cNvGrpSpPr/>
          <p:nvPr/>
        </p:nvGrpSpPr>
        <p:grpSpPr>
          <a:xfrm>
            <a:off x="-49625" y="-225025"/>
            <a:ext cx="4204387" cy="9369027"/>
            <a:chOff x="0" y="-66675"/>
            <a:chExt cx="2748684" cy="2776008"/>
          </a:xfrm>
        </p:grpSpPr>
        <p:sp>
          <p:nvSpPr>
            <p:cNvPr id="2099" name="Google Shape;2099;p33"/>
            <p:cNvSpPr/>
            <p:nvPr/>
          </p:nvSpPr>
          <p:spPr>
            <a:xfrm>
              <a:off x="0" y="0"/>
              <a:ext cx="2748684" cy="2709333"/>
            </a:xfrm>
            <a:custGeom>
              <a:avLst/>
              <a:gdLst/>
              <a:ahLst/>
              <a:cxnLst/>
              <a:rect l="l" t="t" r="r" b="b"/>
              <a:pathLst>
                <a:path w="2748684" h="2709333" extrusionOk="0">
                  <a:moveTo>
                    <a:pt x="0" y="0"/>
                  </a:moveTo>
                  <a:lnTo>
                    <a:pt x="2748684" y="0"/>
                  </a:lnTo>
                  <a:lnTo>
                    <a:pt x="2748684" y="2709333"/>
                  </a:lnTo>
                  <a:lnTo>
                    <a:pt x="0" y="2709333"/>
                  </a:lnTo>
                  <a:close/>
                </a:path>
              </a:pathLst>
            </a:custGeom>
            <a:solidFill>
              <a:srgbClr val="003A86"/>
            </a:solidFill>
            <a:ln>
              <a:noFill/>
            </a:ln>
          </p:spPr>
        </p:sp>
        <p:sp>
          <p:nvSpPr>
            <p:cNvPr id="2100" name="Google Shape;2100;p33"/>
            <p:cNvSpPr txBox="1"/>
            <p:nvPr/>
          </p:nvSpPr>
          <p:spPr>
            <a:xfrm>
              <a:off x="0" y="-66675"/>
              <a:ext cx="2748600" cy="2775900"/>
            </a:xfrm>
            <a:prstGeom prst="rect">
              <a:avLst/>
            </a:prstGeom>
            <a:noFill/>
            <a:ln>
              <a:noFill/>
            </a:ln>
          </p:spPr>
          <p:txBody>
            <a:bodyPr spcFirstLastPara="1" wrap="square" lIns="45150" tIns="45150" rIns="45150" bIns="45150" anchor="ctr" anchorCtr="0">
              <a:noAutofit/>
            </a:bodyPr>
            <a:lstStyle/>
            <a:p>
              <a:pPr marL="0" marR="0" lvl="0" indent="0" algn="ctr" rtl="0">
                <a:lnSpc>
                  <a:spcPct val="16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2101" name="Google Shape;2101;p33"/>
          <p:cNvSpPr/>
          <p:nvPr/>
        </p:nvSpPr>
        <p:spPr>
          <a:xfrm>
            <a:off x="-5106522" y="4878846"/>
            <a:ext cx="9273064" cy="4270485"/>
          </a:xfrm>
          <a:custGeom>
            <a:avLst/>
            <a:gdLst/>
            <a:ahLst/>
            <a:cxnLst/>
            <a:rect l="l" t="t" r="r" b="b"/>
            <a:pathLst>
              <a:path w="10419173" h="4798298" extrusionOk="0">
                <a:moveTo>
                  <a:pt x="0" y="0"/>
                </a:moveTo>
                <a:lnTo>
                  <a:pt x="10419173" y="0"/>
                </a:lnTo>
                <a:lnTo>
                  <a:pt x="10419173" y="4798298"/>
                </a:lnTo>
                <a:lnTo>
                  <a:pt x="0" y="4798298"/>
                </a:lnTo>
                <a:lnTo>
                  <a:pt x="0" y="0"/>
                </a:lnTo>
                <a:close/>
              </a:path>
            </a:pathLst>
          </a:custGeom>
          <a:blipFill rotWithShape="1">
            <a:blip r:embed="rId4" cstate="email">
              <a:alphaModFix amt="38000"/>
              <a:extLst>
                <a:ext uri="{28A0092B-C50C-407E-A947-70E740481C1C}">
                  <a14:useLocalDpi xmlns:a14="http://schemas.microsoft.com/office/drawing/2010/main"/>
                </a:ext>
              </a:extLst>
            </a:blip>
            <a:stretch>
              <a:fillRect/>
            </a:stretch>
          </a:blipFill>
          <a:ln>
            <a:noFill/>
          </a:ln>
        </p:spPr>
      </p:sp>
      <p:sp>
        <p:nvSpPr>
          <p:cNvPr id="2102" name="Google Shape;2102;p33"/>
          <p:cNvSpPr/>
          <p:nvPr/>
        </p:nvSpPr>
        <p:spPr>
          <a:xfrm>
            <a:off x="513222" y="3815444"/>
            <a:ext cx="495765" cy="472836"/>
          </a:xfrm>
          <a:custGeom>
            <a:avLst/>
            <a:gdLst/>
            <a:ahLst/>
            <a:cxnLst/>
            <a:rect l="l" t="t" r="r" b="b"/>
            <a:pathLst>
              <a:path w="557039" h="531276" extrusionOk="0">
                <a:moveTo>
                  <a:pt x="0" y="0"/>
                </a:moveTo>
                <a:lnTo>
                  <a:pt x="557039" y="0"/>
                </a:lnTo>
                <a:lnTo>
                  <a:pt x="557039" y="531276"/>
                </a:lnTo>
                <a:lnTo>
                  <a:pt x="0" y="531276"/>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sp>
      <p:sp>
        <p:nvSpPr>
          <p:cNvPr id="2103" name="Google Shape;2103;p33"/>
          <p:cNvSpPr/>
          <p:nvPr/>
        </p:nvSpPr>
        <p:spPr>
          <a:xfrm>
            <a:off x="513222" y="4710909"/>
            <a:ext cx="495765" cy="495765"/>
          </a:xfrm>
          <a:custGeom>
            <a:avLst/>
            <a:gdLst/>
            <a:ahLst/>
            <a:cxnLst/>
            <a:rect l="l" t="t" r="r" b="b"/>
            <a:pathLst>
              <a:path w="557039" h="557039" extrusionOk="0">
                <a:moveTo>
                  <a:pt x="0" y="0"/>
                </a:moveTo>
                <a:lnTo>
                  <a:pt x="557039" y="0"/>
                </a:lnTo>
                <a:lnTo>
                  <a:pt x="557039" y="557039"/>
                </a:lnTo>
                <a:lnTo>
                  <a:pt x="0" y="557039"/>
                </a:lnTo>
                <a:lnTo>
                  <a:pt x="0" y="0"/>
                </a:ln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sp>
      <p:cxnSp>
        <p:nvCxnSpPr>
          <p:cNvPr id="2104" name="Google Shape;2104;p33"/>
          <p:cNvCxnSpPr/>
          <p:nvPr/>
        </p:nvCxnSpPr>
        <p:spPr>
          <a:xfrm rot="10800000" flipH="1">
            <a:off x="4738995" y="5899812"/>
            <a:ext cx="5186100" cy="13200"/>
          </a:xfrm>
          <a:prstGeom prst="straightConnector1">
            <a:avLst/>
          </a:prstGeom>
          <a:noFill/>
          <a:ln w="19050" cap="flat" cmpd="sng">
            <a:solidFill>
              <a:srgbClr val="3A3A3A">
                <a:alpha val="28627"/>
              </a:srgbClr>
            </a:solidFill>
            <a:prstDash val="solid"/>
            <a:round/>
            <a:headEnd type="none" w="sm" len="sm"/>
            <a:tailEnd type="none" w="sm" len="sm"/>
          </a:ln>
        </p:spPr>
      </p:cxnSp>
      <p:cxnSp>
        <p:nvCxnSpPr>
          <p:cNvPr id="2105" name="Google Shape;2105;p33"/>
          <p:cNvCxnSpPr/>
          <p:nvPr/>
        </p:nvCxnSpPr>
        <p:spPr>
          <a:xfrm>
            <a:off x="4738896" y="2070568"/>
            <a:ext cx="5541600"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106" name="Google Shape;2106;p33"/>
          <p:cNvSpPr txBox="1"/>
          <p:nvPr/>
        </p:nvSpPr>
        <p:spPr>
          <a:xfrm>
            <a:off x="4738820" y="691004"/>
            <a:ext cx="11298600" cy="8082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 </a:t>
            </a:r>
            <a:r>
              <a:rPr lang="en-US" sz="2500" b="1" i="0" u="none" strike="noStrike" cap="none">
                <a:solidFill>
                  <a:srgbClr val="004AAD"/>
                </a:solidFill>
                <a:latin typeface="Inter"/>
                <a:ea typeface="Inter"/>
                <a:cs typeface="Inter"/>
                <a:sym typeface="Inter"/>
              </a:rPr>
              <a:t>FROM CONCEPT TO REALITY: DEVELOPING MINISTOP APP - REVOLUTIONIZING DX IN CONVENIENT STORES  (1/3)</a:t>
            </a:r>
            <a:endParaRPr sz="1200" b="0" i="0" u="none" strike="noStrike" cap="none">
              <a:solidFill>
                <a:srgbClr val="000000"/>
              </a:solidFill>
              <a:latin typeface="Arial"/>
              <a:ea typeface="Arial"/>
              <a:cs typeface="Arial"/>
              <a:sym typeface="Arial"/>
            </a:endParaRPr>
          </a:p>
        </p:txBody>
      </p:sp>
      <p:sp>
        <p:nvSpPr>
          <p:cNvPr id="2107" name="Google Shape;2107;p33"/>
          <p:cNvSpPr/>
          <p:nvPr/>
        </p:nvSpPr>
        <p:spPr>
          <a:xfrm>
            <a:off x="405657" y="5595521"/>
            <a:ext cx="711164" cy="728380"/>
          </a:xfrm>
          <a:custGeom>
            <a:avLst/>
            <a:gdLst/>
            <a:ahLst/>
            <a:cxnLst/>
            <a:rect l="l" t="t" r="r" b="b"/>
            <a:pathLst>
              <a:path w="799061" h="818405" extrusionOk="0">
                <a:moveTo>
                  <a:pt x="0" y="0"/>
                </a:moveTo>
                <a:lnTo>
                  <a:pt x="799061" y="0"/>
                </a:lnTo>
                <a:lnTo>
                  <a:pt x="799061" y="818405"/>
                </a:lnTo>
                <a:lnTo>
                  <a:pt x="0" y="818405"/>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2108" name="Google Shape;2108;p33"/>
          <p:cNvSpPr/>
          <p:nvPr/>
        </p:nvSpPr>
        <p:spPr>
          <a:xfrm>
            <a:off x="553007" y="5738200"/>
            <a:ext cx="181216" cy="221332"/>
          </a:xfrm>
          <a:custGeom>
            <a:avLst/>
            <a:gdLst/>
            <a:ahLst/>
            <a:cxnLst/>
            <a:rect l="l" t="t" r="r" b="b"/>
            <a:pathLst>
              <a:path w="203613" h="248688" extrusionOk="0">
                <a:moveTo>
                  <a:pt x="0" y="0"/>
                </a:moveTo>
                <a:lnTo>
                  <a:pt x="203614" y="0"/>
                </a:lnTo>
                <a:lnTo>
                  <a:pt x="203614" y="248688"/>
                </a:lnTo>
                <a:lnTo>
                  <a:pt x="0" y="248688"/>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grpSp>
        <p:nvGrpSpPr>
          <p:cNvPr id="2109" name="Google Shape;2109;p33"/>
          <p:cNvGrpSpPr/>
          <p:nvPr/>
        </p:nvGrpSpPr>
        <p:grpSpPr>
          <a:xfrm>
            <a:off x="4738820" y="3462251"/>
            <a:ext cx="3000950" cy="2005566"/>
            <a:chOff x="0" y="-9525"/>
            <a:chExt cx="4501200" cy="3008199"/>
          </a:xfrm>
        </p:grpSpPr>
        <p:grpSp>
          <p:nvGrpSpPr>
            <p:cNvPr id="2110" name="Google Shape;2110;p33"/>
            <p:cNvGrpSpPr/>
            <p:nvPr/>
          </p:nvGrpSpPr>
          <p:grpSpPr>
            <a:xfrm>
              <a:off x="85788" y="280045"/>
              <a:ext cx="1046694" cy="2070557"/>
              <a:chOff x="0" y="0"/>
              <a:chExt cx="2620010" cy="5182870"/>
            </a:xfrm>
          </p:grpSpPr>
          <p:sp>
            <p:nvSpPr>
              <p:cNvPr id="2111" name="Google Shape;2111;p33"/>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2" name="Google Shape;2112;p33"/>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3" name="Google Shape;2113;p33"/>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4" name="Google Shape;2114;p33"/>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5" name="Google Shape;2115;p33"/>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6" name="Google Shape;2116;p33"/>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7" name="Google Shape;2117;p33"/>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8" name="Google Shape;2118;p33"/>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9" name="Google Shape;2119;p33"/>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20" name="Google Shape;2120;p33"/>
            <p:cNvGrpSpPr/>
            <p:nvPr/>
          </p:nvGrpSpPr>
          <p:grpSpPr>
            <a:xfrm>
              <a:off x="1180190" y="280045"/>
              <a:ext cx="1046694" cy="2070557"/>
              <a:chOff x="0" y="0"/>
              <a:chExt cx="2620010" cy="5182870"/>
            </a:xfrm>
          </p:grpSpPr>
          <p:sp>
            <p:nvSpPr>
              <p:cNvPr id="2121" name="Google Shape;2121;p33"/>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2" name="Google Shape;2122;p33"/>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3" name="Google Shape;2123;p33"/>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4" name="Google Shape;2124;p33"/>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5" name="Google Shape;2125;p33"/>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6" name="Google Shape;2126;p33"/>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7" name="Google Shape;2127;p33"/>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8" name="Google Shape;2128;p33"/>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9" name="Google Shape;2129;p33"/>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30" name="Google Shape;2130;p33"/>
            <p:cNvGrpSpPr/>
            <p:nvPr/>
          </p:nvGrpSpPr>
          <p:grpSpPr>
            <a:xfrm>
              <a:off x="2274460" y="280045"/>
              <a:ext cx="1046694" cy="2070557"/>
              <a:chOff x="0" y="0"/>
              <a:chExt cx="2620010" cy="5182870"/>
            </a:xfrm>
          </p:grpSpPr>
          <p:sp>
            <p:nvSpPr>
              <p:cNvPr id="2131" name="Google Shape;2131;p33"/>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2" name="Google Shape;2132;p33"/>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3" name="Google Shape;2133;p33"/>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4" name="Google Shape;2134;p33"/>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5" name="Google Shape;2135;p33"/>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6" name="Google Shape;2136;p33"/>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7" name="Google Shape;2137;p33"/>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8" name="Google Shape;2138;p33"/>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9" name="Google Shape;2139;p33"/>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40" name="Google Shape;2140;p33"/>
            <p:cNvGrpSpPr/>
            <p:nvPr/>
          </p:nvGrpSpPr>
          <p:grpSpPr>
            <a:xfrm>
              <a:off x="3368730" y="280045"/>
              <a:ext cx="1046694" cy="2070557"/>
              <a:chOff x="0" y="0"/>
              <a:chExt cx="2620010" cy="5182870"/>
            </a:xfrm>
          </p:grpSpPr>
          <p:sp>
            <p:nvSpPr>
              <p:cNvPr id="2141" name="Google Shape;2141;p33"/>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2" name="Google Shape;2142;p33"/>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3" name="Google Shape;2143;p33"/>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4" name="Google Shape;2144;p33"/>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5" name="Google Shape;2145;p33"/>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6" name="Google Shape;2146;p33"/>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7" name="Google Shape;2147;p33"/>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8" name="Google Shape;2148;p33"/>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9" name="Google Shape;2149;p33"/>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50" name="Google Shape;2150;p33"/>
            <p:cNvSpPr txBox="1"/>
            <p:nvPr/>
          </p:nvSpPr>
          <p:spPr>
            <a:xfrm>
              <a:off x="85788" y="2467074"/>
              <a:ext cx="1046700" cy="115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500"/>
                <a:buFont typeface="Arial"/>
                <a:buNone/>
              </a:pPr>
              <a:r>
                <a:rPr lang="en-US" sz="500" b="1" i="0" u="none" strike="noStrike" cap="none">
                  <a:solidFill>
                    <a:srgbClr val="00234F"/>
                  </a:solidFill>
                  <a:latin typeface="Inter"/>
                  <a:ea typeface="Inter"/>
                  <a:cs typeface="Inter"/>
                  <a:sym typeface="Inter"/>
                </a:rPr>
                <a:t>Home Screen</a:t>
              </a:r>
              <a:endParaRPr sz="1200" b="0" i="0" u="none" strike="noStrike" cap="none">
                <a:solidFill>
                  <a:srgbClr val="000000"/>
                </a:solidFill>
                <a:latin typeface="Arial"/>
                <a:ea typeface="Arial"/>
                <a:cs typeface="Arial"/>
                <a:sym typeface="Arial"/>
              </a:endParaRPr>
            </a:p>
          </p:txBody>
        </p:sp>
        <p:sp>
          <p:nvSpPr>
            <p:cNvPr id="2151" name="Google Shape;2151;p33"/>
            <p:cNvSpPr txBox="1"/>
            <p:nvPr/>
          </p:nvSpPr>
          <p:spPr>
            <a:xfrm>
              <a:off x="1180190" y="2467074"/>
              <a:ext cx="1046700" cy="3927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500"/>
                <a:buFont typeface="Arial"/>
                <a:buNone/>
              </a:pPr>
              <a:r>
                <a:rPr lang="en-US" sz="500" b="1" i="0" u="none" strike="noStrike" cap="none">
                  <a:solidFill>
                    <a:srgbClr val="00234F"/>
                  </a:solidFill>
                  <a:latin typeface="Inter"/>
                  <a:ea typeface="Inter"/>
                  <a:cs typeface="Inter"/>
                  <a:sym typeface="Inter"/>
                </a:rPr>
                <a:t>Loyalty Program - WAON Point System Integration</a:t>
              </a:r>
              <a:endParaRPr sz="1200" b="0" i="0" u="none" strike="noStrike" cap="none">
                <a:solidFill>
                  <a:srgbClr val="000000"/>
                </a:solidFill>
                <a:latin typeface="Arial"/>
                <a:ea typeface="Arial"/>
                <a:cs typeface="Arial"/>
                <a:sym typeface="Arial"/>
              </a:endParaRPr>
            </a:p>
          </p:txBody>
        </p:sp>
        <p:sp>
          <p:nvSpPr>
            <p:cNvPr id="2152" name="Google Shape;2152;p33"/>
            <p:cNvSpPr txBox="1"/>
            <p:nvPr/>
          </p:nvSpPr>
          <p:spPr>
            <a:xfrm>
              <a:off x="3409254" y="2467074"/>
              <a:ext cx="965700" cy="5316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500"/>
                <a:buFont typeface="Arial"/>
                <a:buNone/>
              </a:pPr>
              <a:r>
                <a:rPr lang="en-US" sz="500" b="1" i="0" u="none" strike="noStrike" cap="none">
                  <a:solidFill>
                    <a:srgbClr val="00234F"/>
                  </a:solidFill>
                  <a:latin typeface="Inter"/>
                  <a:ea typeface="Inter"/>
                  <a:cs typeface="Inter"/>
                  <a:sym typeface="Inter"/>
                </a:rPr>
                <a:t>Event Management</a:t>
              </a:r>
              <a:endParaRPr sz="1200" b="0" i="0" u="none" strike="noStrike" cap="none">
                <a:solidFill>
                  <a:srgbClr val="000000"/>
                </a:solidFill>
                <a:latin typeface="Arial"/>
                <a:ea typeface="Arial"/>
                <a:cs typeface="Arial"/>
                <a:sym typeface="Arial"/>
              </a:endParaRPr>
            </a:p>
            <a:p>
              <a:pPr marL="0" marR="0" lvl="0" indent="0" algn="ctr" rtl="0">
                <a:lnSpc>
                  <a:spcPct val="120000"/>
                </a:lnSpc>
                <a:spcBef>
                  <a:spcPts val="0"/>
                </a:spcBef>
                <a:spcAft>
                  <a:spcPts val="0"/>
                </a:spcAft>
                <a:buClr>
                  <a:srgbClr val="000000"/>
                </a:buClr>
                <a:buSzPts val="500"/>
                <a:buFont typeface="Arial"/>
                <a:buNone/>
              </a:pPr>
              <a:r>
                <a:rPr lang="en-US" sz="500" b="1" i="0" u="none" strike="noStrike" cap="none">
                  <a:solidFill>
                    <a:srgbClr val="00234F"/>
                  </a:solidFill>
                  <a:latin typeface="Inter"/>
                  <a:ea typeface="Inter"/>
                  <a:cs typeface="Inter"/>
                  <a:sym typeface="Inter"/>
                </a:rPr>
                <a:t>Display Event Listing &amp; Tracking Feature</a:t>
              </a:r>
              <a:endParaRPr sz="1200" b="0" i="0" u="none" strike="noStrike" cap="none">
                <a:solidFill>
                  <a:srgbClr val="000000"/>
                </a:solidFill>
                <a:latin typeface="Arial"/>
                <a:ea typeface="Arial"/>
                <a:cs typeface="Arial"/>
                <a:sym typeface="Arial"/>
              </a:endParaRPr>
            </a:p>
          </p:txBody>
        </p:sp>
        <p:sp>
          <p:nvSpPr>
            <p:cNvPr id="2153" name="Google Shape;2153;p33"/>
            <p:cNvSpPr txBox="1"/>
            <p:nvPr/>
          </p:nvSpPr>
          <p:spPr>
            <a:xfrm>
              <a:off x="2299398" y="2467074"/>
              <a:ext cx="996900" cy="5316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500"/>
                <a:buFont typeface="Arial"/>
                <a:buNone/>
              </a:pPr>
              <a:r>
                <a:rPr lang="en-US" sz="500" b="1" i="0" u="none" strike="noStrike" cap="none">
                  <a:solidFill>
                    <a:srgbClr val="00234F"/>
                  </a:solidFill>
                  <a:latin typeface="Inter"/>
                  <a:ea typeface="Inter"/>
                  <a:cs typeface="Inter"/>
                  <a:sym typeface="Inter"/>
                </a:rPr>
                <a:t>Coupon Management</a:t>
              </a:r>
              <a:endParaRPr sz="1200" b="0" i="0" u="none" strike="noStrike" cap="none">
                <a:solidFill>
                  <a:srgbClr val="000000"/>
                </a:solidFill>
                <a:latin typeface="Arial"/>
                <a:ea typeface="Arial"/>
                <a:cs typeface="Arial"/>
                <a:sym typeface="Arial"/>
              </a:endParaRPr>
            </a:p>
            <a:p>
              <a:pPr marL="0" marR="0" lvl="0" indent="0" algn="ctr" rtl="0">
                <a:lnSpc>
                  <a:spcPct val="120000"/>
                </a:lnSpc>
                <a:spcBef>
                  <a:spcPts val="0"/>
                </a:spcBef>
                <a:spcAft>
                  <a:spcPts val="0"/>
                </a:spcAft>
                <a:buClr>
                  <a:srgbClr val="000000"/>
                </a:buClr>
                <a:buSzPts val="500"/>
                <a:buFont typeface="Arial"/>
                <a:buNone/>
              </a:pPr>
              <a:r>
                <a:rPr lang="en-US" sz="500" b="1" i="0" u="none" strike="noStrike" cap="none">
                  <a:solidFill>
                    <a:srgbClr val="00234F"/>
                  </a:solidFill>
                  <a:latin typeface="Inter"/>
                  <a:ea typeface="Inter"/>
                  <a:cs typeface="Inter"/>
                  <a:sym typeface="Inter"/>
                </a:rPr>
                <a:t>Available Coupon Listing Feature</a:t>
              </a:r>
              <a:endParaRPr sz="1200" b="0" i="0" u="none" strike="noStrike" cap="none">
                <a:solidFill>
                  <a:srgbClr val="000000"/>
                </a:solidFill>
                <a:latin typeface="Arial"/>
                <a:ea typeface="Arial"/>
                <a:cs typeface="Arial"/>
                <a:sym typeface="Arial"/>
              </a:endParaRPr>
            </a:p>
          </p:txBody>
        </p:sp>
        <p:sp>
          <p:nvSpPr>
            <p:cNvPr id="2154" name="Google Shape;2154;p33"/>
            <p:cNvSpPr txBox="1"/>
            <p:nvPr/>
          </p:nvSpPr>
          <p:spPr>
            <a:xfrm>
              <a:off x="0" y="-9525"/>
              <a:ext cx="4501200" cy="1617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700"/>
                <a:buFont typeface="Arial"/>
                <a:buNone/>
              </a:pPr>
              <a:r>
                <a:rPr lang="en-US" sz="700" b="1" i="0" u="none" strike="noStrike" cap="none">
                  <a:solidFill>
                    <a:srgbClr val="00234F"/>
                  </a:solidFill>
                  <a:latin typeface="Inter"/>
                  <a:ea typeface="Inter"/>
                  <a:cs typeface="Inter"/>
                  <a:sym typeface="Inter"/>
                </a:rPr>
                <a:t>MINISTOP APP’s Key Feature Demonstration</a:t>
              </a:r>
              <a:endParaRPr sz="1200" b="0" i="0" u="none" strike="noStrike" cap="none">
                <a:solidFill>
                  <a:srgbClr val="000000"/>
                </a:solidFill>
                <a:latin typeface="Arial"/>
                <a:ea typeface="Arial"/>
                <a:cs typeface="Arial"/>
                <a:sym typeface="Arial"/>
              </a:endParaRPr>
            </a:p>
          </p:txBody>
        </p:sp>
      </p:grpSp>
      <p:grpSp>
        <p:nvGrpSpPr>
          <p:cNvPr id="2155" name="Google Shape;2155;p33"/>
          <p:cNvGrpSpPr/>
          <p:nvPr/>
        </p:nvGrpSpPr>
        <p:grpSpPr>
          <a:xfrm>
            <a:off x="8049133" y="4843612"/>
            <a:ext cx="972023" cy="405875"/>
            <a:chOff x="0" y="0"/>
            <a:chExt cx="1457962" cy="608781"/>
          </a:xfrm>
        </p:grpSpPr>
        <p:sp>
          <p:nvSpPr>
            <p:cNvPr id="2156" name="Google Shape;2156;p33"/>
            <p:cNvSpPr/>
            <p:nvPr/>
          </p:nvSpPr>
          <p:spPr>
            <a:xfrm>
              <a:off x="0" y="0"/>
              <a:ext cx="1457962" cy="269723"/>
            </a:xfrm>
            <a:custGeom>
              <a:avLst/>
              <a:gdLst/>
              <a:ahLst/>
              <a:cxnLst/>
              <a:rect l="l" t="t" r="r" b="b"/>
              <a:pathLst>
                <a:path w="1457962" h="269723" extrusionOk="0">
                  <a:moveTo>
                    <a:pt x="0" y="0"/>
                  </a:moveTo>
                  <a:lnTo>
                    <a:pt x="1457962" y="0"/>
                  </a:lnTo>
                  <a:lnTo>
                    <a:pt x="1457962" y="269723"/>
                  </a:lnTo>
                  <a:lnTo>
                    <a:pt x="0" y="269723"/>
                  </a:lnTo>
                  <a:lnTo>
                    <a:pt x="0" y="0"/>
                  </a:lnTo>
                  <a:close/>
                </a:path>
              </a:pathLst>
            </a:custGeom>
            <a:blipFill rotWithShape="1">
              <a:blip r:embed="rId13" cstate="email">
                <a:alphaModFix/>
                <a:extLst>
                  <a:ext uri="{28A0092B-C50C-407E-A947-70E740481C1C}">
                    <a14:useLocalDpi xmlns:a14="http://schemas.microsoft.com/office/drawing/2010/main"/>
                  </a:ext>
                </a:extLst>
              </a:blip>
              <a:stretch>
                <a:fillRect/>
              </a:stretch>
            </a:blipFill>
            <a:ln>
              <a:noFill/>
            </a:ln>
          </p:spPr>
        </p:sp>
        <p:sp>
          <p:nvSpPr>
            <p:cNvPr id="2157" name="Google Shape;2157;p33"/>
            <p:cNvSpPr txBox="1"/>
            <p:nvPr/>
          </p:nvSpPr>
          <p:spPr>
            <a:xfrm>
              <a:off x="0" y="331881"/>
              <a:ext cx="965700" cy="276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Rating</a:t>
              </a:r>
              <a:endParaRPr sz="1200" b="0" i="0" u="none" strike="noStrike" cap="none">
                <a:solidFill>
                  <a:srgbClr val="000000"/>
                </a:solidFill>
                <a:latin typeface="Arial"/>
                <a:ea typeface="Arial"/>
                <a:cs typeface="Arial"/>
                <a:sym typeface="Arial"/>
              </a:endParaRPr>
            </a:p>
          </p:txBody>
        </p:sp>
      </p:grpSp>
      <p:cxnSp>
        <p:nvCxnSpPr>
          <p:cNvPr id="2158" name="Google Shape;2158;p33"/>
          <p:cNvCxnSpPr/>
          <p:nvPr/>
        </p:nvCxnSpPr>
        <p:spPr>
          <a:xfrm rot="10800000" flipH="1">
            <a:off x="10646865" y="2060964"/>
            <a:ext cx="5186100" cy="1320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159" name="Google Shape;2159;p33"/>
          <p:cNvSpPr/>
          <p:nvPr/>
        </p:nvSpPr>
        <p:spPr>
          <a:xfrm>
            <a:off x="4736185" y="7803393"/>
            <a:ext cx="547697" cy="495666"/>
          </a:xfrm>
          <a:custGeom>
            <a:avLst/>
            <a:gdLst/>
            <a:ahLst/>
            <a:cxnLst/>
            <a:rect l="l" t="t" r="r" b="b"/>
            <a:pathLst>
              <a:path w="615390" h="556928" extrusionOk="0">
                <a:moveTo>
                  <a:pt x="0" y="0"/>
                </a:moveTo>
                <a:lnTo>
                  <a:pt x="615390" y="0"/>
                </a:lnTo>
                <a:lnTo>
                  <a:pt x="615390" y="556928"/>
                </a:lnTo>
                <a:lnTo>
                  <a:pt x="0" y="556928"/>
                </a:lnTo>
                <a:lnTo>
                  <a:pt x="0" y="0"/>
                </a:lnTo>
                <a:close/>
              </a:path>
            </a:pathLst>
          </a:custGeom>
          <a:blipFill rotWithShape="1">
            <a:blip r:embed="rId14" cstate="email">
              <a:alphaModFix/>
              <a:extLst>
                <a:ext uri="{28A0092B-C50C-407E-A947-70E740481C1C}">
                  <a14:useLocalDpi xmlns:a14="http://schemas.microsoft.com/office/drawing/2010/main"/>
                </a:ext>
              </a:extLst>
            </a:blip>
            <a:stretch>
              <a:fillRect/>
            </a:stretch>
          </a:blipFill>
          <a:ln>
            <a:noFill/>
          </a:ln>
        </p:spPr>
      </p:sp>
      <p:sp>
        <p:nvSpPr>
          <p:cNvPr id="2160" name="Google Shape;2160;p33"/>
          <p:cNvSpPr/>
          <p:nvPr/>
        </p:nvSpPr>
        <p:spPr>
          <a:xfrm>
            <a:off x="4738820" y="7132191"/>
            <a:ext cx="545058" cy="553359"/>
          </a:xfrm>
          <a:custGeom>
            <a:avLst/>
            <a:gdLst/>
            <a:ahLst/>
            <a:cxnLst/>
            <a:rect l="l" t="t" r="r" b="b"/>
            <a:pathLst>
              <a:path w="612425" h="621752" extrusionOk="0">
                <a:moveTo>
                  <a:pt x="0" y="0"/>
                </a:moveTo>
                <a:lnTo>
                  <a:pt x="612425" y="0"/>
                </a:lnTo>
                <a:lnTo>
                  <a:pt x="612425" y="621752"/>
                </a:lnTo>
                <a:lnTo>
                  <a:pt x="0" y="621752"/>
                </a:lnTo>
                <a:lnTo>
                  <a:pt x="0" y="0"/>
                </a:lnTo>
                <a:close/>
              </a:path>
            </a:pathLst>
          </a:custGeom>
          <a:blipFill rotWithShape="1">
            <a:blip r:embed="rId15" cstate="email">
              <a:alphaModFix/>
              <a:extLst>
                <a:ext uri="{28A0092B-C50C-407E-A947-70E740481C1C}">
                  <a14:useLocalDpi xmlns:a14="http://schemas.microsoft.com/office/drawing/2010/main"/>
                </a:ext>
              </a:extLst>
            </a:blip>
            <a:stretch>
              <a:fillRect/>
            </a:stretch>
          </a:blipFill>
          <a:ln>
            <a:noFill/>
          </a:ln>
        </p:spPr>
      </p:sp>
      <p:cxnSp>
        <p:nvCxnSpPr>
          <p:cNvPr id="2161" name="Google Shape;2161;p33"/>
          <p:cNvCxnSpPr/>
          <p:nvPr/>
        </p:nvCxnSpPr>
        <p:spPr>
          <a:xfrm rot="10800000">
            <a:off x="10793883" y="3041817"/>
            <a:ext cx="0" cy="4750500"/>
          </a:xfrm>
          <a:prstGeom prst="straightConnector1">
            <a:avLst/>
          </a:prstGeom>
          <a:noFill/>
          <a:ln w="19050" cap="flat" cmpd="sng">
            <a:solidFill>
              <a:srgbClr val="3A3A3A">
                <a:alpha val="28627"/>
              </a:srgbClr>
            </a:solidFill>
            <a:prstDash val="solid"/>
            <a:round/>
            <a:headEnd type="none" w="sm" len="sm"/>
            <a:tailEnd type="none" w="sm" len="sm"/>
          </a:ln>
        </p:spPr>
      </p:cxnSp>
      <p:grpSp>
        <p:nvGrpSpPr>
          <p:cNvPr id="2162" name="Google Shape;2162;p33"/>
          <p:cNvGrpSpPr/>
          <p:nvPr/>
        </p:nvGrpSpPr>
        <p:grpSpPr>
          <a:xfrm>
            <a:off x="10620321" y="2838596"/>
            <a:ext cx="347147" cy="347147"/>
            <a:chOff x="0" y="0"/>
            <a:chExt cx="812800" cy="812800"/>
          </a:xfrm>
        </p:grpSpPr>
        <p:sp>
          <p:nvSpPr>
            <p:cNvPr id="2163" name="Google Shape;2163;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1AA"/>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4" name="Google Shape;2164;p33"/>
            <p:cNvSpPr txBox="1"/>
            <p:nvPr/>
          </p:nvSpPr>
          <p:spPr>
            <a:xfrm>
              <a:off x="76200" y="47625"/>
              <a:ext cx="660300" cy="6891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2165" name="Google Shape;2165;p33"/>
          <p:cNvGrpSpPr/>
          <p:nvPr/>
        </p:nvGrpSpPr>
        <p:grpSpPr>
          <a:xfrm>
            <a:off x="10646867" y="2170681"/>
            <a:ext cx="5186459" cy="407715"/>
            <a:chOff x="3" y="-38100"/>
            <a:chExt cx="7779300" cy="611543"/>
          </a:xfrm>
        </p:grpSpPr>
        <p:sp>
          <p:nvSpPr>
            <p:cNvPr id="2166" name="Google Shape;2166;p33"/>
            <p:cNvSpPr txBox="1"/>
            <p:nvPr/>
          </p:nvSpPr>
          <p:spPr>
            <a:xfrm>
              <a:off x="3" y="-8257"/>
              <a:ext cx="7779300" cy="5817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VTI delivered                                                                                    covering from requirement analysis to deployment and maintenance.</a:t>
              </a:r>
              <a:endParaRPr sz="1200" b="0" i="0" u="none" strike="noStrike" cap="none">
                <a:solidFill>
                  <a:srgbClr val="000000"/>
                </a:solidFill>
                <a:latin typeface="Arial"/>
                <a:ea typeface="Arial"/>
                <a:cs typeface="Arial"/>
                <a:sym typeface="Arial"/>
              </a:endParaRPr>
            </a:p>
          </p:txBody>
        </p:sp>
        <p:sp>
          <p:nvSpPr>
            <p:cNvPr id="2167" name="Google Shape;2167;p33"/>
            <p:cNvSpPr txBox="1"/>
            <p:nvPr/>
          </p:nvSpPr>
          <p:spPr>
            <a:xfrm>
              <a:off x="1503426" y="-38100"/>
              <a:ext cx="5902800" cy="3000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300"/>
                <a:buFont typeface="Arial"/>
                <a:buNone/>
              </a:pPr>
              <a:r>
                <a:rPr lang="en-US" sz="1300" b="1" i="0" u="none" strike="noStrike" cap="none">
                  <a:solidFill>
                    <a:srgbClr val="004AAD"/>
                  </a:solidFill>
                  <a:latin typeface="Inter"/>
                  <a:ea typeface="Inter"/>
                  <a:cs typeface="Inter"/>
                  <a:sym typeface="Inter"/>
                </a:rPr>
                <a:t>a one-stop full-cycle development service</a:t>
              </a:r>
              <a:endParaRPr sz="1200" b="0" i="0" u="none" strike="noStrike" cap="none">
                <a:solidFill>
                  <a:srgbClr val="000000"/>
                </a:solidFill>
                <a:latin typeface="Arial"/>
                <a:ea typeface="Arial"/>
                <a:cs typeface="Arial"/>
                <a:sym typeface="Arial"/>
              </a:endParaRPr>
            </a:p>
          </p:txBody>
        </p:sp>
      </p:grpSp>
      <p:sp>
        <p:nvSpPr>
          <p:cNvPr id="2168" name="Google Shape;2168;p33"/>
          <p:cNvSpPr/>
          <p:nvPr/>
        </p:nvSpPr>
        <p:spPr>
          <a:xfrm>
            <a:off x="10704621" y="2924236"/>
            <a:ext cx="178745" cy="176064"/>
          </a:xfrm>
          <a:custGeom>
            <a:avLst/>
            <a:gdLst/>
            <a:ahLst/>
            <a:cxnLst/>
            <a:rect l="l" t="t" r="r" b="b"/>
            <a:pathLst>
              <a:path w="200837" h="197825" extrusionOk="0">
                <a:moveTo>
                  <a:pt x="0" y="0"/>
                </a:moveTo>
                <a:lnTo>
                  <a:pt x="200837" y="0"/>
                </a:lnTo>
                <a:lnTo>
                  <a:pt x="200837" y="197825"/>
                </a:lnTo>
                <a:lnTo>
                  <a:pt x="0" y="197825"/>
                </a:lnTo>
                <a:lnTo>
                  <a:pt x="0" y="0"/>
                </a:lnTo>
                <a:close/>
              </a:path>
            </a:pathLst>
          </a:custGeom>
          <a:blipFill rotWithShape="1">
            <a:blip r:embed="rId16" cstate="email">
              <a:alphaModFix/>
              <a:extLst>
                <a:ext uri="{28A0092B-C50C-407E-A947-70E740481C1C}">
                  <a14:useLocalDpi xmlns:a14="http://schemas.microsoft.com/office/drawing/2010/main"/>
                </a:ext>
              </a:extLst>
            </a:blip>
            <a:stretch>
              <a:fillRect/>
            </a:stretch>
          </a:blipFill>
          <a:ln>
            <a:noFill/>
          </a:ln>
        </p:spPr>
      </p:sp>
      <p:grpSp>
        <p:nvGrpSpPr>
          <p:cNvPr id="2169" name="Google Shape;2169;p33"/>
          <p:cNvGrpSpPr/>
          <p:nvPr/>
        </p:nvGrpSpPr>
        <p:grpSpPr>
          <a:xfrm>
            <a:off x="10620321" y="4108346"/>
            <a:ext cx="347147" cy="347147"/>
            <a:chOff x="0" y="0"/>
            <a:chExt cx="812800" cy="812800"/>
          </a:xfrm>
        </p:grpSpPr>
        <p:sp>
          <p:nvSpPr>
            <p:cNvPr id="2170" name="Google Shape;2170;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1AA"/>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1" name="Google Shape;2171;p33"/>
            <p:cNvSpPr txBox="1"/>
            <p:nvPr/>
          </p:nvSpPr>
          <p:spPr>
            <a:xfrm>
              <a:off x="76200" y="47625"/>
              <a:ext cx="660300" cy="6891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2172" name="Google Shape;2172;p33"/>
          <p:cNvSpPr/>
          <p:nvPr/>
        </p:nvSpPr>
        <p:spPr>
          <a:xfrm>
            <a:off x="10686827" y="4178465"/>
            <a:ext cx="214380" cy="207144"/>
          </a:xfrm>
          <a:custGeom>
            <a:avLst/>
            <a:gdLst/>
            <a:ahLst/>
            <a:cxnLst/>
            <a:rect l="l" t="t" r="r" b="b"/>
            <a:pathLst>
              <a:path w="240876" h="232746" extrusionOk="0">
                <a:moveTo>
                  <a:pt x="0" y="0"/>
                </a:moveTo>
                <a:lnTo>
                  <a:pt x="240876" y="0"/>
                </a:lnTo>
                <a:lnTo>
                  <a:pt x="240876" y="232746"/>
                </a:lnTo>
                <a:lnTo>
                  <a:pt x="0" y="232746"/>
                </a:lnTo>
                <a:lnTo>
                  <a:pt x="0" y="0"/>
                </a:lnTo>
                <a:close/>
              </a:path>
            </a:pathLst>
          </a:custGeom>
          <a:blipFill rotWithShape="1">
            <a:blip r:embed="rId17" cstate="email">
              <a:alphaModFix/>
              <a:extLst>
                <a:ext uri="{28A0092B-C50C-407E-A947-70E740481C1C}">
                  <a14:useLocalDpi xmlns:a14="http://schemas.microsoft.com/office/drawing/2010/main"/>
                </a:ext>
              </a:extLst>
            </a:blip>
            <a:stretch>
              <a:fillRect/>
            </a:stretch>
          </a:blipFill>
          <a:ln>
            <a:noFill/>
          </a:ln>
        </p:spPr>
      </p:sp>
      <p:grpSp>
        <p:nvGrpSpPr>
          <p:cNvPr id="2173" name="Google Shape;2173;p33"/>
          <p:cNvGrpSpPr/>
          <p:nvPr/>
        </p:nvGrpSpPr>
        <p:grpSpPr>
          <a:xfrm>
            <a:off x="10625554" y="5417086"/>
            <a:ext cx="347147" cy="347147"/>
            <a:chOff x="0" y="0"/>
            <a:chExt cx="812800" cy="812800"/>
          </a:xfrm>
        </p:grpSpPr>
        <p:sp>
          <p:nvSpPr>
            <p:cNvPr id="2174" name="Google Shape;2174;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1AA"/>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5" name="Google Shape;2175;p33"/>
            <p:cNvSpPr txBox="1"/>
            <p:nvPr/>
          </p:nvSpPr>
          <p:spPr>
            <a:xfrm>
              <a:off x="76200" y="47625"/>
              <a:ext cx="660300" cy="6891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2176" name="Google Shape;2176;p33"/>
          <p:cNvSpPr/>
          <p:nvPr/>
        </p:nvSpPr>
        <p:spPr>
          <a:xfrm>
            <a:off x="10694119" y="5519195"/>
            <a:ext cx="210254" cy="147178"/>
          </a:xfrm>
          <a:custGeom>
            <a:avLst/>
            <a:gdLst/>
            <a:ahLst/>
            <a:cxnLst/>
            <a:rect l="l" t="t" r="r" b="b"/>
            <a:pathLst>
              <a:path w="236241" h="165369" extrusionOk="0">
                <a:moveTo>
                  <a:pt x="0" y="0"/>
                </a:moveTo>
                <a:lnTo>
                  <a:pt x="236241" y="0"/>
                </a:lnTo>
                <a:lnTo>
                  <a:pt x="236241" y="165369"/>
                </a:lnTo>
                <a:lnTo>
                  <a:pt x="0" y="165369"/>
                </a:lnTo>
                <a:lnTo>
                  <a:pt x="0" y="0"/>
                </a:lnTo>
                <a:close/>
              </a:path>
            </a:pathLst>
          </a:custGeom>
          <a:blipFill rotWithShape="1">
            <a:blip r:embed="rId18">
              <a:alphaModFix/>
            </a:blip>
            <a:stretch>
              <a:fillRect/>
            </a:stretch>
          </a:blipFill>
          <a:ln>
            <a:noFill/>
          </a:ln>
        </p:spPr>
      </p:sp>
      <p:grpSp>
        <p:nvGrpSpPr>
          <p:cNvPr id="2177" name="Google Shape;2177;p33"/>
          <p:cNvGrpSpPr/>
          <p:nvPr/>
        </p:nvGrpSpPr>
        <p:grpSpPr>
          <a:xfrm>
            <a:off x="10992667" y="3990534"/>
            <a:ext cx="3340994" cy="517292"/>
            <a:chOff x="0" y="-98212"/>
            <a:chExt cx="5011241" cy="775899"/>
          </a:xfrm>
        </p:grpSpPr>
        <p:sp>
          <p:nvSpPr>
            <p:cNvPr id="2178" name="Google Shape;2178;p33"/>
            <p:cNvSpPr/>
            <p:nvPr/>
          </p:nvSpPr>
          <p:spPr>
            <a:xfrm>
              <a:off x="0" y="0"/>
              <a:ext cx="2218894" cy="677687"/>
            </a:xfrm>
            <a:custGeom>
              <a:avLst/>
              <a:gdLst/>
              <a:ahLst/>
              <a:cxnLst/>
              <a:rect l="l" t="t" r="r" b="b"/>
              <a:pathLst>
                <a:path w="2218894" h="677687" extrusionOk="0">
                  <a:moveTo>
                    <a:pt x="0" y="0"/>
                  </a:moveTo>
                  <a:lnTo>
                    <a:pt x="2218894" y="0"/>
                  </a:lnTo>
                  <a:lnTo>
                    <a:pt x="2218894" y="677687"/>
                  </a:lnTo>
                  <a:lnTo>
                    <a:pt x="0" y="677687"/>
                  </a:lnTo>
                  <a:lnTo>
                    <a:pt x="0" y="0"/>
                  </a:lnTo>
                  <a:close/>
                </a:path>
              </a:pathLst>
            </a:custGeom>
            <a:blipFill rotWithShape="1">
              <a:blip r:embed="rId19" cstate="email">
                <a:alphaModFix amt="43000"/>
                <a:extLst>
                  <a:ext uri="{28A0092B-C50C-407E-A947-70E740481C1C}">
                    <a14:useLocalDpi xmlns:a14="http://schemas.microsoft.com/office/drawing/2010/main"/>
                  </a:ext>
                </a:extLst>
              </a:blip>
              <a:stretch>
                <a:fillRect/>
              </a:stretch>
            </a:blipFill>
            <a:ln>
              <a:noFill/>
            </a:ln>
          </p:spPr>
        </p:sp>
        <p:sp>
          <p:nvSpPr>
            <p:cNvPr id="2179" name="Google Shape;2179;p33"/>
            <p:cNvSpPr/>
            <p:nvPr/>
          </p:nvSpPr>
          <p:spPr>
            <a:xfrm>
              <a:off x="1741643" y="0"/>
              <a:ext cx="1960023" cy="677687"/>
            </a:xfrm>
            <a:custGeom>
              <a:avLst/>
              <a:gdLst/>
              <a:ahLst/>
              <a:cxnLst/>
              <a:rect l="l" t="t" r="r" b="b"/>
              <a:pathLst>
                <a:path w="1960023" h="677687" extrusionOk="0">
                  <a:moveTo>
                    <a:pt x="0" y="0"/>
                  </a:moveTo>
                  <a:lnTo>
                    <a:pt x="1960024" y="0"/>
                  </a:lnTo>
                  <a:lnTo>
                    <a:pt x="1960024" y="677687"/>
                  </a:lnTo>
                  <a:lnTo>
                    <a:pt x="0" y="677687"/>
                  </a:lnTo>
                  <a:lnTo>
                    <a:pt x="0" y="0"/>
                  </a:lnTo>
                  <a:close/>
                </a:path>
              </a:pathLst>
            </a:custGeom>
            <a:blipFill rotWithShape="1">
              <a:blip r:embed="rId20" cstate="email">
                <a:alphaModFix amt="43000"/>
                <a:extLst>
                  <a:ext uri="{28A0092B-C50C-407E-A947-70E740481C1C}">
                    <a14:useLocalDpi xmlns:a14="http://schemas.microsoft.com/office/drawing/2010/main"/>
                  </a:ext>
                </a:extLst>
              </a:blip>
              <a:stretch>
                <a:fillRect/>
              </a:stretch>
            </a:blipFill>
            <a:ln>
              <a:noFill/>
            </a:ln>
          </p:spPr>
        </p:sp>
        <p:sp>
          <p:nvSpPr>
            <p:cNvPr id="2180" name="Google Shape;2180;p33"/>
            <p:cNvSpPr/>
            <p:nvPr/>
          </p:nvSpPr>
          <p:spPr>
            <a:xfrm>
              <a:off x="3701667" y="0"/>
              <a:ext cx="1309574" cy="677687"/>
            </a:xfrm>
            <a:custGeom>
              <a:avLst/>
              <a:gdLst/>
              <a:ahLst/>
              <a:cxnLst/>
              <a:rect l="l" t="t" r="r" b="b"/>
              <a:pathLst>
                <a:path w="1309574" h="677687" extrusionOk="0">
                  <a:moveTo>
                    <a:pt x="0" y="0"/>
                  </a:moveTo>
                  <a:lnTo>
                    <a:pt x="1309573" y="0"/>
                  </a:lnTo>
                  <a:lnTo>
                    <a:pt x="1309573" y="677687"/>
                  </a:lnTo>
                  <a:lnTo>
                    <a:pt x="0" y="677687"/>
                  </a:lnTo>
                  <a:lnTo>
                    <a:pt x="0" y="0"/>
                  </a:lnTo>
                  <a:close/>
                </a:path>
              </a:pathLst>
            </a:custGeom>
            <a:blipFill rotWithShape="1">
              <a:blip r:embed="rId21" cstate="email">
                <a:alphaModFix amt="43000"/>
                <a:extLst>
                  <a:ext uri="{28A0092B-C50C-407E-A947-70E740481C1C}">
                    <a14:useLocalDpi xmlns:a14="http://schemas.microsoft.com/office/drawing/2010/main"/>
                  </a:ext>
                </a:extLst>
              </a:blip>
              <a:stretch>
                <a:fillRect/>
              </a:stretch>
            </a:blipFill>
            <a:ln>
              <a:noFill/>
            </a:ln>
          </p:spPr>
        </p:sp>
        <p:grpSp>
          <p:nvGrpSpPr>
            <p:cNvPr id="2181" name="Google Shape;2181;p33"/>
            <p:cNvGrpSpPr/>
            <p:nvPr/>
          </p:nvGrpSpPr>
          <p:grpSpPr>
            <a:xfrm>
              <a:off x="280665" y="-98212"/>
              <a:ext cx="4141631" cy="684956"/>
              <a:chOff x="0" y="-28575"/>
              <a:chExt cx="818100" cy="135300"/>
            </a:xfrm>
          </p:grpSpPr>
          <p:sp>
            <p:nvSpPr>
              <p:cNvPr id="2182" name="Google Shape;2182;p33"/>
              <p:cNvSpPr/>
              <p:nvPr/>
            </p:nvSpPr>
            <p:spPr>
              <a:xfrm>
                <a:off x="0" y="0"/>
                <a:ext cx="818049" cy="106716"/>
              </a:xfrm>
              <a:custGeom>
                <a:avLst/>
                <a:gdLst/>
                <a:ahLst/>
                <a:cxnLst/>
                <a:rect l="l" t="t" r="r" b="b"/>
                <a:pathLst>
                  <a:path w="818049" h="106716" extrusionOk="0">
                    <a:moveTo>
                      <a:pt x="53358" y="0"/>
                    </a:moveTo>
                    <a:lnTo>
                      <a:pt x="764691" y="0"/>
                    </a:lnTo>
                    <a:cubicBezTo>
                      <a:pt x="794160" y="0"/>
                      <a:pt x="818049" y="23889"/>
                      <a:pt x="818049" y="53358"/>
                    </a:cubicBezTo>
                    <a:lnTo>
                      <a:pt x="818049" y="53358"/>
                    </a:lnTo>
                    <a:cubicBezTo>
                      <a:pt x="818049" y="82827"/>
                      <a:pt x="794160" y="106716"/>
                      <a:pt x="764691" y="106716"/>
                    </a:cubicBezTo>
                    <a:lnTo>
                      <a:pt x="53358" y="106716"/>
                    </a:lnTo>
                    <a:cubicBezTo>
                      <a:pt x="23889" y="106716"/>
                      <a:pt x="0" y="82827"/>
                      <a:pt x="0" y="53358"/>
                    </a:cubicBezTo>
                    <a:lnTo>
                      <a:pt x="0" y="53358"/>
                    </a:lnTo>
                    <a:cubicBezTo>
                      <a:pt x="0" y="23889"/>
                      <a:pt x="23889" y="0"/>
                      <a:pt x="53358"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3" name="Google Shape;2183;p33"/>
              <p:cNvSpPr txBox="1"/>
              <p:nvPr/>
            </p:nvSpPr>
            <p:spPr>
              <a:xfrm>
                <a:off x="0" y="-28575"/>
                <a:ext cx="818100" cy="135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grpSp>
        <p:nvGrpSpPr>
          <p:cNvPr id="2184" name="Google Shape;2184;p33"/>
          <p:cNvGrpSpPr/>
          <p:nvPr/>
        </p:nvGrpSpPr>
        <p:grpSpPr>
          <a:xfrm>
            <a:off x="10992667" y="5333759"/>
            <a:ext cx="3340994" cy="517292"/>
            <a:chOff x="0" y="-98212"/>
            <a:chExt cx="5011241" cy="775899"/>
          </a:xfrm>
        </p:grpSpPr>
        <p:sp>
          <p:nvSpPr>
            <p:cNvPr id="2185" name="Google Shape;2185;p33"/>
            <p:cNvSpPr/>
            <p:nvPr/>
          </p:nvSpPr>
          <p:spPr>
            <a:xfrm>
              <a:off x="0" y="0"/>
              <a:ext cx="2218894" cy="677687"/>
            </a:xfrm>
            <a:custGeom>
              <a:avLst/>
              <a:gdLst/>
              <a:ahLst/>
              <a:cxnLst/>
              <a:rect l="l" t="t" r="r" b="b"/>
              <a:pathLst>
                <a:path w="2218894" h="677687" extrusionOk="0">
                  <a:moveTo>
                    <a:pt x="0" y="0"/>
                  </a:moveTo>
                  <a:lnTo>
                    <a:pt x="2218894" y="0"/>
                  </a:lnTo>
                  <a:lnTo>
                    <a:pt x="2218894" y="677687"/>
                  </a:lnTo>
                  <a:lnTo>
                    <a:pt x="0" y="677687"/>
                  </a:lnTo>
                  <a:lnTo>
                    <a:pt x="0" y="0"/>
                  </a:lnTo>
                  <a:close/>
                </a:path>
              </a:pathLst>
            </a:custGeom>
            <a:blipFill rotWithShape="1">
              <a:blip r:embed="rId19" cstate="email">
                <a:alphaModFix amt="43000"/>
                <a:extLst>
                  <a:ext uri="{28A0092B-C50C-407E-A947-70E740481C1C}">
                    <a14:useLocalDpi xmlns:a14="http://schemas.microsoft.com/office/drawing/2010/main"/>
                  </a:ext>
                </a:extLst>
              </a:blip>
              <a:stretch>
                <a:fillRect/>
              </a:stretch>
            </a:blipFill>
            <a:ln>
              <a:noFill/>
            </a:ln>
          </p:spPr>
        </p:sp>
        <p:sp>
          <p:nvSpPr>
            <p:cNvPr id="2186" name="Google Shape;2186;p33"/>
            <p:cNvSpPr/>
            <p:nvPr/>
          </p:nvSpPr>
          <p:spPr>
            <a:xfrm>
              <a:off x="1741643" y="0"/>
              <a:ext cx="1960023" cy="677687"/>
            </a:xfrm>
            <a:custGeom>
              <a:avLst/>
              <a:gdLst/>
              <a:ahLst/>
              <a:cxnLst/>
              <a:rect l="l" t="t" r="r" b="b"/>
              <a:pathLst>
                <a:path w="1960023" h="677687" extrusionOk="0">
                  <a:moveTo>
                    <a:pt x="0" y="0"/>
                  </a:moveTo>
                  <a:lnTo>
                    <a:pt x="1960024" y="0"/>
                  </a:lnTo>
                  <a:lnTo>
                    <a:pt x="1960024" y="677687"/>
                  </a:lnTo>
                  <a:lnTo>
                    <a:pt x="0" y="677687"/>
                  </a:lnTo>
                  <a:lnTo>
                    <a:pt x="0" y="0"/>
                  </a:lnTo>
                  <a:close/>
                </a:path>
              </a:pathLst>
            </a:custGeom>
            <a:blipFill rotWithShape="1">
              <a:blip r:embed="rId20" cstate="email">
                <a:alphaModFix amt="43000"/>
                <a:extLst>
                  <a:ext uri="{28A0092B-C50C-407E-A947-70E740481C1C}">
                    <a14:useLocalDpi xmlns:a14="http://schemas.microsoft.com/office/drawing/2010/main"/>
                  </a:ext>
                </a:extLst>
              </a:blip>
              <a:stretch>
                <a:fillRect/>
              </a:stretch>
            </a:blipFill>
            <a:ln>
              <a:noFill/>
            </a:ln>
          </p:spPr>
        </p:sp>
        <p:sp>
          <p:nvSpPr>
            <p:cNvPr id="2187" name="Google Shape;2187;p33"/>
            <p:cNvSpPr/>
            <p:nvPr/>
          </p:nvSpPr>
          <p:spPr>
            <a:xfrm>
              <a:off x="3701667" y="0"/>
              <a:ext cx="1309574" cy="677687"/>
            </a:xfrm>
            <a:custGeom>
              <a:avLst/>
              <a:gdLst/>
              <a:ahLst/>
              <a:cxnLst/>
              <a:rect l="l" t="t" r="r" b="b"/>
              <a:pathLst>
                <a:path w="1309574" h="677687" extrusionOk="0">
                  <a:moveTo>
                    <a:pt x="0" y="0"/>
                  </a:moveTo>
                  <a:lnTo>
                    <a:pt x="1309573" y="0"/>
                  </a:lnTo>
                  <a:lnTo>
                    <a:pt x="1309573" y="677687"/>
                  </a:lnTo>
                  <a:lnTo>
                    <a:pt x="0" y="677687"/>
                  </a:lnTo>
                  <a:lnTo>
                    <a:pt x="0" y="0"/>
                  </a:lnTo>
                  <a:close/>
                </a:path>
              </a:pathLst>
            </a:custGeom>
            <a:blipFill rotWithShape="1">
              <a:blip r:embed="rId21" cstate="email">
                <a:alphaModFix amt="43000"/>
                <a:extLst>
                  <a:ext uri="{28A0092B-C50C-407E-A947-70E740481C1C}">
                    <a14:useLocalDpi xmlns:a14="http://schemas.microsoft.com/office/drawing/2010/main"/>
                  </a:ext>
                </a:extLst>
              </a:blip>
              <a:stretch>
                <a:fillRect/>
              </a:stretch>
            </a:blipFill>
            <a:ln>
              <a:noFill/>
            </a:ln>
          </p:spPr>
        </p:sp>
        <p:grpSp>
          <p:nvGrpSpPr>
            <p:cNvPr id="2188" name="Google Shape;2188;p33"/>
            <p:cNvGrpSpPr/>
            <p:nvPr/>
          </p:nvGrpSpPr>
          <p:grpSpPr>
            <a:xfrm>
              <a:off x="280665" y="-98212"/>
              <a:ext cx="4141631" cy="684956"/>
              <a:chOff x="0" y="-28575"/>
              <a:chExt cx="818100" cy="135300"/>
            </a:xfrm>
          </p:grpSpPr>
          <p:sp>
            <p:nvSpPr>
              <p:cNvPr id="2189" name="Google Shape;2189;p33"/>
              <p:cNvSpPr/>
              <p:nvPr/>
            </p:nvSpPr>
            <p:spPr>
              <a:xfrm>
                <a:off x="0" y="0"/>
                <a:ext cx="818049" cy="106716"/>
              </a:xfrm>
              <a:custGeom>
                <a:avLst/>
                <a:gdLst/>
                <a:ahLst/>
                <a:cxnLst/>
                <a:rect l="l" t="t" r="r" b="b"/>
                <a:pathLst>
                  <a:path w="818049" h="106716" extrusionOk="0">
                    <a:moveTo>
                      <a:pt x="53358" y="0"/>
                    </a:moveTo>
                    <a:lnTo>
                      <a:pt x="764691" y="0"/>
                    </a:lnTo>
                    <a:cubicBezTo>
                      <a:pt x="794160" y="0"/>
                      <a:pt x="818049" y="23889"/>
                      <a:pt x="818049" y="53358"/>
                    </a:cubicBezTo>
                    <a:lnTo>
                      <a:pt x="818049" y="53358"/>
                    </a:lnTo>
                    <a:cubicBezTo>
                      <a:pt x="818049" y="82827"/>
                      <a:pt x="794160" y="106716"/>
                      <a:pt x="764691" y="106716"/>
                    </a:cubicBezTo>
                    <a:lnTo>
                      <a:pt x="53358" y="106716"/>
                    </a:lnTo>
                    <a:cubicBezTo>
                      <a:pt x="23889" y="106716"/>
                      <a:pt x="0" y="82827"/>
                      <a:pt x="0" y="53358"/>
                    </a:cubicBezTo>
                    <a:lnTo>
                      <a:pt x="0" y="53358"/>
                    </a:lnTo>
                    <a:cubicBezTo>
                      <a:pt x="0" y="23889"/>
                      <a:pt x="23889" y="0"/>
                      <a:pt x="53358"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0" name="Google Shape;2190;p33"/>
              <p:cNvSpPr txBox="1"/>
              <p:nvPr/>
            </p:nvSpPr>
            <p:spPr>
              <a:xfrm>
                <a:off x="0" y="-28575"/>
                <a:ext cx="818100" cy="135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grpSp>
        <p:nvGrpSpPr>
          <p:cNvPr id="2191" name="Google Shape;2191;p33"/>
          <p:cNvGrpSpPr/>
          <p:nvPr/>
        </p:nvGrpSpPr>
        <p:grpSpPr>
          <a:xfrm>
            <a:off x="10992667" y="2729111"/>
            <a:ext cx="3340994" cy="517292"/>
            <a:chOff x="0" y="-98212"/>
            <a:chExt cx="5011241" cy="775899"/>
          </a:xfrm>
        </p:grpSpPr>
        <p:sp>
          <p:nvSpPr>
            <p:cNvPr id="2192" name="Google Shape;2192;p33"/>
            <p:cNvSpPr/>
            <p:nvPr/>
          </p:nvSpPr>
          <p:spPr>
            <a:xfrm>
              <a:off x="0" y="0"/>
              <a:ext cx="2218894" cy="677687"/>
            </a:xfrm>
            <a:custGeom>
              <a:avLst/>
              <a:gdLst/>
              <a:ahLst/>
              <a:cxnLst/>
              <a:rect l="l" t="t" r="r" b="b"/>
              <a:pathLst>
                <a:path w="2218894" h="677687" extrusionOk="0">
                  <a:moveTo>
                    <a:pt x="0" y="0"/>
                  </a:moveTo>
                  <a:lnTo>
                    <a:pt x="2218894" y="0"/>
                  </a:lnTo>
                  <a:lnTo>
                    <a:pt x="2218894" y="677687"/>
                  </a:lnTo>
                  <a:lnTo>
                    <a:pt x="0" y="677687"/>
                  </a:lnTo>
                  <a:lnTo>
                    <a:pt x="0" y="0"/>
                  </a:lnTo>
                  <a:close/>
                </a:path>
              </a:pathLst>
            </a:custGeom>
            <a:blipFill rotWithShape="1">
              <a:blip r:embed="rId19" cstate="email">
                <a:alphaModFix amt="43000"/>
                <a:extLst>
                  <a:ext uri="{28A0092B-C50C-407E-A947-70E740481C1C}">
                    <a14:useLocalDpi xmlns:a14="http://schemas.microsoft.com/office/drawing/2010/main"/>
                  </a:ext>
                </a:extLst>
              </a:blip>
              <a:stretch>
                <a:fillRect/>
              </a:stretch>
            </a:blipFill>
            <a:ln>
              <a:noFill/>
            </a:ln>
          </p:spPr>
        </p:sp>
        <p:sp>
          <p:nvSpPr>
            <p:cNvPr id="2193" name="Google Shape;2193;p33"/>
            <p:cNvSpPr/>
            <p:nvPr/>
          </p:nvSpPr>
          <p:spPr>
            <a:xfrm>
              <a:off x="1741643" y="0"/>
              <a:ext cx="1960023" cy="677687"/>
            </a:xfrm>
            <a:custGeom>
              <a:avLst/>
              <a:gdLst/>
              <a:ahLst/>
              <a:cxnLst/>
              <a:rect l="l" t="t" r="r" b="b"/>
              <a:pathLst>
                <a:path w="1960023" h="677687" extrusionOk="0">
                  <a:moveTo>
                    <a:pt x="0" y="0"/>
                  </a:moveTo>
                  <a:lnTo>
                    <a:pt x="1960024" y="0"/>
                  </a:lnTo>
                  <a:lnTo>
                    <a:pt x="1960024" y="677687"/>
                  </a:lnTo>
                  <a:lnTo>
                    <a:pt x="0" y="677687"/>
                  </a:lnTo>
                  <a:lnTo>
                    <a:pt x="0" y="0"/>
                  </a:lnTo>
                  <a:close/>
                </a:path>
              </a:pathLst>
            </a:custGeom>
            <a:blipFill rotWithShape="1">
              <a:blip r:embed="rId20" cstate="email">
                <a:alphaModFix amt="43000"/>
                <a:extLst>
                  <a:ext uri="{28A0092B-C50C-407E-A947-70E740481C1C}">
                    <a14:useLocalDpi xmlns:a14="http://schemas.microsoft.com/office/drawing/2010/main"/>
                  </a:ext>
                </a:extLst>
              </a:blip>
              <a:stretch>
                <a:fillRect/>
              </a:stretch>
            </a:blipFill>
            <a:ln>
              <a:noFill/>
            </a:ln>
          </p:spPr>
        </p:sp>
        <p:sp>
          <p:nvSpPr>
            <p:cNvPr id="2194" name="Google Shape;2194;p33"/>
            <p:cNvSpPr/>
            <p:nvPr/>
          </p:nvSpPr>
          <p:spPr>
            <a:xfrm>
              <a:off x="3701667" y="0"/>
              <a:ext cx="1309574" cy="677687"/>
            </a:xfrm>
            <a:custGeom>
              <a:avLst/>
              <a:gdLst/>
              <a:ahLst/>
              <a:cxnLst/>
              <a:rect l="l" t="t" r="r" b="b"/>
              <a:pathLst>
                <a:path w="1309574" h="677687" extrusionOk="0">
                  <a:moveTo>
                    <a:pt x="0" y="0"/>
                  </a:moveTo>
                  <a:lnTo>
                    <a:pt x="1309573" y="0"/>
                  </a:lnTo>
                  <a:lnTo>
                    <a:pt x="1309573" y="677687"/>
                  </a:lnTo>
                  <a:lnTo>
                    <a:pt x="0" y="677687"/>
                  </a:lnTo>
                  <a:lnTo>
                    <a:pt x="0" y="0"/>
                  </a:lnTo>
                  <a:close/>
                </a:path>
              </a:pathLst>
            </a:custGeom>
            <a:blipFill rotWithShape="1">
              <a:blip r:embed="rId21" cstate="email">
                <a:alphaModFix amt="43000"/>
                <a:extLst>
                  <a:ext uri="{28A0092B-C50C-407E-A947-70E740481C1C}">
                    <a14:useLocalDpi xmlns:a14="http://schemas.microsoft.com/office/drawing/2010/main"/>
                  </a:ext>
                </a:extLst>
              </a:blip>
              <a:stretch>
                <a:fillRect/>
              </a:stretch>
            </a:blipFill>
            <a:ln>
              <a:noFill/>
            </a:ln>
          </p:spPr>
        </p:sp>
        <p:grpSp>
          <p:nvGrpSpPr>
            <p:cNvPr id="2195" name="Google Shape;2195;p33"/>
            <p:cNvGrpSpPr/>
            <p:nvPr/>
          </p:nvGrpSpPr>
          <p:grpSpPr>
            <a:xfrm>
              <a:off x="280665" y="-98212"/>
              <a:ext cx="4141631" cy="684956"/>
              <a:chOff x="0" y="-28575"/>
              <a:chExt cx="818100" cy="135300"/>
            </a:xfrm>
          </p:grpSpPr>
          <p:sp>
            <p:nvSpPr>
              <p:cNvPr id="2196" name="Google Shape;2196;p33"/>
              <p:cNvSpPr/>
              <p:nvPr/>
            </p:nvSpPr>
            <p:spPr>
              <a:xfrm>
                <a:off x="0" y="0"/>
                <a:ext cx="818049" cy="106716"/>
              </a:xfrm>
              <a:custGeom>
                <a:avLst/>
                <a:gdLst/>
                <a:ahLst/>
                <a:cxnLst/>
                <a:rect l="l" t="t" r="r" b="b"/>
                <a:pathLst>
                  <a:path w="818049" h="106716" extrusionOk="0">
                    <a:moveTo>
                      <a:pt x="53358" y="0"/>
                    </a:moveTo>
                    <a:lnTo>
                      <a:pt x="764691" y="0"/>
                    </a:lnTo>
                    <a:cubicBezTo>
                      <a:pt x="794160" y="0"/>
                      <a:pt x="818049" y="23889"/>
                      <a:pt x="818049" y="53358"/>
                    </a:cubicBezTo>
                    <a:lnTo>
                      <a:pt x="818049" y="53358"/>
                    </a:lnTo>
                    <a:cubicBezTo>
                      <a:pt x="818049" y="82827"/>
                      <a:pt x="794160" y="106716"/>
                      <a:pt x="764691" y="106716"/>
                    </a:cubicBezTo>
                    <a:lnTo>
                      <a:pt x="53358" y="106716"/>
                    </a:lnTo>
                    <a:cubicBezTo>
                      <a:pt x="23889" y="106716"/>
                      <a:pt x="0" y="82827"/>
                      <a:pt x="0" y="53358"/>
                    </a:cubicBezTo>
                    <a:lnTo>
                      <a:pt x="0" y="53358"/>
                    </a:lnTo>
                    <a:cubicBezTo>
                      <a:pt x="0" y="23889"/>
                      <a:pt x="23889" y="0"/>
                      <a:pt x="53358"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7" name="Google Shape;2197;p33"/>
              <p:cNvSpPr txBox="1"/>
              <p:nvPr/>
            </p:nvSpPr>
            <p:spPr>
              <a:xfrm>
                <a:off x="0" y="-28575"/>
                <a:ext cx="818100" cy="135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grpSp>
        <p:nvGrpSpPr>
          <p:cNvPr id="2198" name="Google Shape;2198;p33"/>
          <p:cNvGrpSpPr/>
          <p:nvPr/>
        </p:nvGrpSpPr>
        <p:grpSpPr>
          <a:xfrm>
            <a:off x="10620321" y="6563375"/>
            <a:ext cx="347147" cy="347147"/>
            <a:chOff x="0" y="0"/>
            <a:chExt cx="812800" cy="812800"/>
          </a:xfrm>
        </p:grpSpPr>
        <p:sp>
          <p:nvSpPr>
            <p:cNvPr id="2199" name="Google Shape;2199;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1AA"/>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0" name="Google Shape;2200;p33"/>
            <p:cNvSpPr txBox="1"/>
            <p:nvPr/>
          </p:nvSpPr>
          <p:spPr>
            <a:xfrm>
              <a:off x="76200" y="47625"/>
              <a:ext cx="660300" cy="6891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2201" name="Google Shape;2201;p33"/>
          <p:cNvGrpSpPr/>
          <p:nvPr/>
        </p:nvGrpSpPr>
        <p:grpSpPr>
          <a:xfrm>
            <a:off x="10987433" y="6480048"/>
            <a:ext cx="3340994" cy="517292"/>
            <a:chOff x="0" y="-98212"/>
            <a:chExt cx="5011241" cy="775899"/>
          </a:xfrm>
        </p:grpSpPr>
        <p:sp>
          <p:nvSpPr>
            <p:cNvPr id="2202" name="Google Shape;2202;p33"/>
            <p:cNvSpPr/>
            <p:nvPr/>
          </p:nvSpPr>
          <p:spPr>
            <a:xfrm>
              <a:off x="0" y="0"/>
              <a:ext cx="2218894" cy="677687"/>
            </a:xfrm>
            <a:custGeom>
              <a:avLst/>
              <a:gdLst/>
              <a:ahLst/>
              <a:cxnLst/>
              <a:rect l="l" t="t" r="r" b="b"/>
              <a:pathLst>
                <a:path w="2218894" h="677687" extrusionOk="0">
                  <a:moveTo>
                    <a:pt x="0" y="0"/>
                  </a:moveTo>
                  <a:lnTo>
                    <a:pt x="2218894" y="0"/>
                  </a:lnTo>
                  <a:lnTo>
                    <a:pt x="2218894" y="677687"/>
                  </a:lnTo>
                  <a:lnTo>
                    <a:pt x="0" y="677687"/>
                  </a:lnTo>
                  <a:lnTo>
                    <a:pt x="0" y="0"/>
                  </a:lnTo>
                  <a:close/>
                </a:path>
              </a:pathLst>
            </a:custGeom>
            <a:blipFill rotWithShape="1">
              <a:blip r:embed="rId19" cstate="email">
                <a:alphaModFix amt="43000"/>
                <a:extLst>
                  <a:ext uri="{28A0092B-C50C-407E-A947-70E740481C1C}">
                    <a14:useLocalDpi xmlns:a14="http://schemas.microsoft.com/office/drawing/2010/main"/>
                  </a:ext>
                </a:extLst>
              </a:blip>
              <a:stretch>
                <a:fillRect/>
              </a:stretch>
            </a:blipFill>
            <a:ln>
              <a:noFill/>
            </a:ln>
          </p:spPr>
        </p:sp>
        <p:sp>
          <p:nvSpPr>
            <p:cNvPr id="2203" name="Google Shape;2203;p33"/>
            <p:cNvSpPr/>
            <p:nvPr/>
          </p:nvSpPr>
          <p:spPr>
            <a:xfrm>
              <a:off x="1741643" y="0"/>
              <a:ext cx="1960023" cy="677687"/>
            </a:xfrm>
            <a:custGeom>
              <a:avLst/>
              <a:gdLst/>
              <a:ahLst/>
              <a:cxnLst/>
              <a:rect l="l" t="t" r="r" b="b"/>
              <a:pathLst>
                <a:path w="1960023" h="677687" extrusionOk="0">
                  <a:moveTo>
                    <a:pt x="0" y="0"/>
                  </a:moveTo>
                  <a:lnTo>
                    <a:pt x="1960024" y="0"/>
                  </a:lnTo>
                  <a:lnTo>
                    <a:pt x="1960024" y="677687"/>
                  </a:lnTo>
                  <a:lnTo>
                    <a:pt x="0" y="677687"/>
                  </a:lnTo>
                  <a:lnTo>
                    <a:pt x="0" y="0"/>
                  </a:lnTo>
                  <a:close/>
                </a:path>
              </a:pathLst>
            </a:custGeom>
            <a:blipFill rotWithShape="1">
              <a:blip r:embed="rId20" cstate="email">
                <a:alphaModFix amt="43000"/>
                <a:extLst>
                  <a:ext uri="{28A0092B-C50C-407E-A947-70E740481C1C}">
                    <a14:useLocalDpi xmlns:a14="http://schemas.microsoft.com/office/drawing/2010/main"/>
                  </a:ext>
                </a:extLst>
              </a:blip>
              <a:stretch>
                <a:fillRect/>
              </a:stretch>
            </a:blipFill>
            <a:ln>
              <a:noFill/>
            </a:ln>
          </p:spPr>
        </p:sp>
        <p:sp>
          <p:nvSpPr>
            <p:cNvPr id="2204" name="Google Shape;2204;p33"/>
            <p:cNvSpPr/>
            <p:nvPr/>
          </p:nvSpPr>
          <p:spPr>
            <a:xfrm>
              <a:off x="3701667" y="0"/>
              <a:ext cx="1309574" cy="677687"/>
            </a:xfrm>
            <a:custGeom>
              <a:avLst/>
              <a:gdLst/>
              <a:ahLst/>
              <a:cxnLst/>
              <a:rect l="l" t="t" r="r" b="b"/>
              <a:pathLst>
                <a:path w="1309574" h="677687" extrusionOk="0">
                  <a:moveTo>
                    <a:pt x="0" y="0"/>
                  </a:moveTo>
                  <a:lnTo>
                    <a:pt x="1309573" y="0"/>
                  </a:lnTo>
                  <a:lnTo>
                    <a:pt x="1309573" y="677687"/>
                  </a:lnTo>
                  <a:lnTo>
                    <a:pt x="0" y="677687"/>
                  </a:lnTo>
                  <a:lnTo>
                    <a:pt x="0" y="0"/>
                  </a:lnTo>
                  <a:close/>
                </a:path>
              </a:pathLst>
            </a:custGeom>
            <a:blipFill rotWithShape="1">
              <a:blip r:embed="rId21" cstate="email">
                <a:alphaModFix amt="43000"/>
                <a:extLst>
                  <a:ext uri="{28A0092B-C50C-407E-A947-70E740481C1C}">
                    <a14:useLocalDpi xmlns:a14="http://schemas.microsoft.com/office/drawing/2010/main"/>
                  </a:ext>
                </a:extLst>
              </a:blip>
              <a:stretch>
                <a:fillRect/>
              </a:stretch>
            </a:blipFill>
            <a:ln>
              <a:noFill/>
            </a:ln>
          </p:spPr>
        </p:sp>
        <p:grpSp>
          <p:nvGrpSpPr>
            <p:cNvPr id="2205" name="Google Shape;2205;p33"/>
            <p:cNvGrpSpPr/>
            <p:nvPr/>
          </p:nvGrpSpPr>
          <p:grpSpPr>
            <a:xfrm>
              <a:off x="280665" y="-98212"/>
              <a:ext cx="4141631" cy="684956"/>
              <a:chOff x="0" y="-28575"/>
              <a:chExt cx="818100" cy="135300"/>
            </a:xfrm>
          </p:grpSpPr>
          <p:sp>
            <p:nvSpPr>
              <p:cNvPr id="2206" name="Google Shape;2206;p33"/>
              <p:cNvSpPr/>
              <p:nvPr/>
            </p:nvSpPr>
            <p:spPr>
              <a:xfrm>
                <a:off x="0" y="0"/>
                <a:ext cx="818049" cy="106716"/>
              </a:xfrm>
              <a:custGeom>
                <a:avLst/>
                <a:gdLst/>
                <a:ahLst/>
                <a:cxnLst/>
                <a:rect l="l" t="t" r="r" b="b"/>
                <a:pathLst>
                  <a:path w="818049" h="106716" extrusionOk="0">
                    <a:moveTo>
                      <a:pt x="53358" y="0"/>
                    </a:moveTo>
                    <a:lnTo>
                      <a:pt x="764691" y="0"/>
                    </a:lnTo>
                    <a:cubicBezTo>
                      <a:pt x="794160" y="0"/>
                      <a:pt x="818049" y="23889"/>
                      <a:pt x="818049" y="53358"/>
                    </a:cubicBezTo>
                    <a:lnTo>
                      <a:pt x="818049" y="53358"/>
                    </a:lnTo>
                    <a:cubicBezTo>
                      <a:pt x="818049" y="82827"/>
                      <a:pt x="794160" y="106716"/>
                      <a:pt x="764691" y="106716"/>
                    </a:cubicBezTo>
                    <a:lnTo>
                      <a:pt x="53358" y="106716"/>
                    </a:lnTo>
                    <a:cubicBezTo>
                      <a:pt x="23889" y="106716"/>
                      <a:pt x="0" y="82827"/>
                      <a:pt x="0" y="53358"/>
                    </a:cubicBezTo>
                    <a:lnTo>
                      <a:pt x="0" y="53358"/>
                    </a:lnTo>
                    <a:cubicBezTo>
                      <a:pt x="0" y="23889"/>
                      <a:pt x="23889" y="0"/>
                      <a:pt x="53358"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7" name="Google Shape;2207;p33"/>
              <p:cNvSpPr txBox="1"/>
              <p:nvPr/>
            </p:nvSpPr>
            <p:spPr>
              <a:xfrm>
                <a:off x="0" y="-28575"/>
                <a:ext cx="818100" cy="135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grpSp>
        <p:nvGrpSpPr>
          <p:cNvPr id="2208" name="Google Shape;2208;p33"/>
          <p:cNvGrpSpPr/>
          <p:nvPr/>
        </p:nvGrpSpPr>
        <p:grpSpPr>
          <a:xfrm>
            <a:off x="10625554" y="7708401"/>
            <a:ext cx="347147" cy="347147"/>
            <a:chOff x="0" y="0"/>
            <a:chExt cx="812800" cy="812800"/>
          </a:xfrm>
        </p:grpSpPr>
        <p:sp>
          <p:nvSpPr>
            <p:cNvPr id="2209" name="Google Shape;2209;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1AA"/>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0" name="Google Shape;2210;p33"/>
            <p:cNvSpPr txBox="1"/>
            <p:nvPr/>
          </p:nvSpPr>
          <p:spPr>
            <a:xfrm>
              <a:off x="76200" y="47625"/>
              <a:ext cx="660300" cy="6891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nvGrpSpPr>
          <p:cNvPr id="2211" name="Google Shape;2211;p33"/>
          <p:cNvGrpSpPr/>
          <p:nvPr/>
        </p:nvGrpSpPr>
        <p:grpSpPr>
          <a:xfrm>
            <a:off x="10992667" y="7625074"/>
            <a:ext cx="3340994" cy="517292"/>
            <a:chOff x="0" y="-98212"/>
            <a:chExt cx="5011241" cy="775899"/>
          </a:xfrm>
        </p:grpSpPr>
        <p:sp>
          <p:nvSpPr>
            <p:cNvPr id="2212" name="Google Shape;2212;p33"/>
            <p:cNvSpPr/>
            <p:nvPr/>
          </p:nvSpPr>
          <p:spPr>
            <a:xfrm>
              <a:off x="0" y="0"/>
              <a:ext cx="2218894" cy="677687"/>
            </a:xfrm>
            <a:custGeom>
              <a:avLst/>
              <a:gdLst/>
              <a:ahLst/>
              <a:cxnLst/>
              <a:rect l="l" t="t" r="r" b="b"/>
              <a:pathLst>
                <a:path w="2218894" h="677687" extrusionOk="0">
                  <a:moveTo>
                    <a:pt x="0" y="0"/>
                  </a:moveTo>
                  <a:lnTo>
                    <a:pt x="2218894" y="0"/>
                  </a:lnTo>
                  <a:lnTo>
                    <a:pt x="2218894" y="677687"/>
                  </a:lnTo>
                  <a:lnTo>
                    <a:pt x="0" y="677687"/>
                  </a:lnTo>
                  <a:lnTo>
                    <a:pt x="0" y="0"/>
                  </a:lnTo>
                  <a:close/>
                </a:path>
              </a:pathLst>
            </a:custGeom>
            <a:blipFill rotWithShape="1">
              <a:blip r:embed="rId19" cstate="email">
                <a:alphaModFix amt="43000"/>
                <a:extLst>
                  <a:ext uri="{28A0092B-C50C-407E-A947-70E740481C1C}">
                    <a14:useLocalDpi xmlns:a14="http://schemas.microsoft.com/office/drawing/2010/main"/>
                  </a:ext>
                </a:extLst>
              </a:blip>
              <a:stretch>
                <a:fillRect/>
              </a:stretch>
            </a:blipFill>
            <a:ln>
              <a:noFill/>
            </a:ln>
          </p:spPr>
        </p:sp>
        <p:sp>
          <p:nvSpPr>
            <p:cNvPr id="2213" name="Google Shape;2213;p33"/>
            <p:cNvSpPr/>
            <p:nvPr/>
          </p:nvSpPr>
          <p:spPr>
            <a:xfrm>
              <a:off x="1741643" y="0"/>
              <a:ext cx="1960023" cy="677687"/>
            </a:xfrm>
            <a:custGeom>
              <a:avLst/>
              <a:gdLst/>
              <a:ahLst/>
              <a:cxnLst/>
              <a:rect l="l" t="t" r="r" b="b"/>
              <a:pathLst>
                <a:path w="1960023" h="677687" extrusionOk="0">
                  <a:moveTo>
                    <a:pt x="0" y="0"/>
                  </a:moveTo>
                  <a:lnTo>
                    <a:pt x="1960024" y="0"/>
                  </a:lnTo>
                  <a:lnTo>
                    <a:pt x="1960024" y="677687"/>
                  </a:lnTo>
                  <a:lnTo>
                    <a:pt x="0" y="677687"/>
                  </a:lnTo>
                  <a:lnTo>
                    <a:pt x="0" y="0"/>
                  </a:lnTo>
                  <a:close/>
                </a:path>
              </a:pathLst>
            </a:custGeom>
            <a:blipFill rotWithShape="1">
              <a:blip r:embed="rId20" cstate="email">
                <a:alphaModFix amt="43000"/>
                <a:extLst>
                  <a:ext uri="{28A0092B-C50C-407E-A947-70E740481C1C}">
                    <a14:useLocalDpi xmlns:a14="http://schemas.microsoft.com/office/drawing/2010/main"/>
                  </a:ext>
                </a:extLst>
              </a:blip>
              <a:stretch>
                <a:fillRect/>
              </a:stretch>
            </a:blipFill>
            <a:ln>
              <a:noFill/>
            </a:ln>
          </p:spPr>
        </p:sp>
        <p:sp>
          <p:nvSpPr>
            <p:cNvPr id="2214" name="Google Shape;2214;p33"/>
            <p:cNvSpPr/>
            <p:nvPr/>
          </p:nvSpPr>
          <p:spPr>
            <a:xfrm>
              <a:off x="3701667" y="0"/>
              <a:ext cx="1309574" cy="677687"/>
            </a:xfrm>
            <a:custGeom>
              <a:avLst/>
              <a:gdLst/>
              <a:ahLst/>
              <a:cxnLst/>
              <a:rect l="l" t="t" r="r" b="b"/>
              <a:pathLst>
                <a:path w="1309574" h="677687" extrusionOk="0">
                  <a:moveTo>
                    <a:pt x="0" y="0"/>
                  </a:moveTo>
                  <a:lnTo>
                    <a:pt x="1309573" y="0"/>
                  </a:lnTo>
                  <a:lnTo>
                    <a:pt x="1309573" y="677687"/>
                  </a:lnTo>
                  <a:lnTo>
                    <a:pt x="0" y="677687"/>
                  </a:lnTo>
                  <a:lnTo>
                    <a:pt x="0" y="0"/>
                  </a:lnTo>
                  <a:close/>
                </a:path>
              </a:pathLst>
            </a:custGeom>
            <a:blipFill rotWithShape="1">
              <a:blip r:embed="rId21" cstate="email">
                <a:alphaModFix amt="43000"/>
                <a:extLst>
                  <a:ext uri="{28A0092B-C50C-407E-A947-70E740481C1C}">
                    <a14:useLocalDpi xmlns:a14="http://schemas.microsoft.com/office/drawing/2010/main"/>
                  </a:ext>
                </a:extLst>
              </a:blip>
              <a:stretch>
                <a:fillRect/>
              </a:stretch>
            </a:blipFill>
            <a:ln>
              <a:noFill/>
            </a:ln>
          </p:spPr>
        </p:sp>
        <p:grpSp>
          <p:nvGrpSpPr>
            <p:cNvPr id="2215" name="Google Shape;2215;p33"/>
            <p:cNvGrpSpPr/>
            <p:nvPr/>
          </p:nvGrpSpPr>
          <p:grpSpPr>
            <a:xfrm>
              <a:off x="280665" y="-98212"/>
              <a:ext cx="4141631" cy="684956"/>
              <a:chOff x="0" y="-28575"/>
              <a:chExt cx="818100" cy="135300"/>
            </a:xfrm>
          </p:grpSpPr>
          <p:sp>
            <p:nvSpPr>
              <p:cNvPr id="2216" name="Google Shape;2216;p33"/>
              <p:cNvSpPr/>
              <p:nvPr/>
            </p:nvSpPr>
            <p:spPr>
              <a:xfrm>
                <a:off x="0" y="0"/>
                <a:ext cx="818049" cy="106716"/>
              </a:xfrm>
              <a:custGeom>
                <a:avLst/>
                <a:gdLst/>
                <a:ahLst/>
                <a:cxnLst/>
                <a:rect l="l" t="t" r="r" b="b"/>
                <a:pathLst>
                  <a:path w="818049" h="106716" extrusionOk="0">
                    <a:moveTo>
                      <a:pt x="53358" y="0"/>
                    </a:moveTo>
                    <a:lnTo>
                      <a:pt x="764691" y="0"/>
                    </a:lnTo>
                    <a:cubicBezTo>
                      <a:pt x="794160" y="0"/>
                      <a:pt x="818049" y="23889"/>
                      <a:pt x="818049" y="53358"/>
                    </a:cubicBezTo>
                    <a:lnTo>
                      <a:pt x="818049" y="53358"/>
                    </a:lnTo>
                    <a:cubicBezTo>
                      <a:pt x="818049" y="82827"/>
                      <a:pt x="794160" y="106716"/>
                      <a:pt x="764691" y="106716"/>
                    </a:cubicBezTo>
                    <a:lnTo>
                      <a:pt x="53358" y="106716"/>
                    </a:lnTo>
                    <a:cubicBezTo>
                      <a:pt x="23889" y="106716"/>
                      <a:pt x="0" y="82827"/>
                      <a:pt x="0" y="53358"/>
                    </a:cubicBezTo>
                    <a:lnTo>
                      <a:pt x="0" y="53358"/>
                    </a:lnTo>
                    <a:cubicBezTo>
                      <a:pt x="0" y="23889"/>
                      <a:pt x="23889" y="0"/>
                      <a:pt x="53358"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7" name="Google Shape;2217;p33"/>
              <p:cNvSpPr txBox="1"/>
              <p:nvPr/>
            </p:nvSpPr>
            <p:spPr>
              <a:xfrm>
                <a:off x="0" y="-28575"/>
                <a:ext cx="818100" cy="135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grpSp>
      <p:sp>
        <p:nvSpPr>
          <p:cNvPr id="2218" name="Google Shape;2218;p33"/>
          <p:cNvSpPr/>
          <p:nvPr/>
        </p:nvSpPr>
        <p:spPr>
          <a:xfrm>
            <a:off x="10704621" y="6637192"/>
            <a:ext cx="199740" cy="199740"/>
          </a:xfrm>
          <a:custGeom>
            <a:avLst/>
            <a:gdLst/>
            <a:ahLst/>
            <a:cxnLst/>
            <a:rect l="l" t="t" r="r" b="b"/>
            <a:pathLst>
              <a:path w="224427" h="224427" extrusionOk="0">
                <a:moveTo>
                  <a:pt x="0" y="0"/>
                </a:moveTo>
                <a:lnTo>
                  <a:pt x="224426" y="0"/>
                </a:lnTo>
                <a:lnTo>
                  <a:pt x="224426" y="224426"/>
                </a:lnTo>
                <a:lnTo>
                  <a:pt x="0" y="224426"/>
                </a:lnTo>
                <a:lnTo>
                  <a:pt x="0" y="0"/>
                </a:lnTo>
                <a:close/>
              </a:path>
            </a:pathLst>
          </a:custGeom>
          <a:blipFill rotWithShape="1">
            <a:blip r:embed="rId22" cstate="email">
              <a:alphaModFix/>
              <a:extLst>
                <a:ext uri="{28A0092B-C50C-407E-A947-70E740481C1C}">
                  <a14:useLocalDpi xmlns:a14="http://schemas.microsoft.com/office/drawing/2010/main"/>
                </a:ext>
              </a:extLst>
            </a:blip>
            <a:stretch>
              <a:fillRect/>
            </a:stretch>
          </a:blipFill>
          <a:ln>
            <a:noFill/>
          </a:ln>
        </p:spPr>
      </p:sp>
      <p:sp>
        <p:nvSpPr>
          <p:cNvPr id="2219" name="Google Shape;2219;p33"/>
          <p:cNvSpPr/>
          <p:nvPr/>
        </p:nvSpPr>
        <p:spPr>
          <a:xfrm>
            <a:off x="10691886" y="7769412"/>
            <a:ext cx="214726" cy="214726"/>
          </a:xfrm>
          <a:custGeom>
            <a:avLst/>
            <a:gdLst/>
            <a:ahLst/>
            <a:cxnLst/>
            <a:rect l="l" t="t" r="r" b="b"/>
            <a:pathLst>
              <a:path w="241265" h="241265" extrusionOk="0">
                <a:moveTo>
                  <a:pt x="0" y="0"/>
                </a:moveTo>
                <a:lnTo>
                  <a:pt x="241265" y="0"/>
                </a:lnTo>
                <a:lnTo>
                  <a:pt x="241265" y="241264"/>
                </a:lnTo>
                <a:lnTo>
                  <a:pt x="0" y="241264"/>
                </a:lnTo>
                <a:lnTo>
                  <a:pt x="0" y="0"/>
                </a:lnTo>
                <a:close/>
              </a:path>
            </a:pathLst>
          </a:custGeom>
          <a:blipFill rotWithShape="1">
            <a:blip r:embed="rId23" cstate="email">
              <a:alphaModFix/>
              <a:extLst>
                <a:ext uri="{28A0092B-C50C-407E-A947-70E740481C1C}">
                  <a14:useLocalDpi xmlns:a14="http://schemas.microsoft.com/office/drawing/2010/main"/>
                </a:ext>
              </a:extLst>
            </a:blip>
            <a:stretch>
              <a:fillRect/>
            </a:stretch>
          </a:blipFill>
          <a:ln>
            <a:noFill/>
          </a:ln>
        </p:spPr>
      </p:sp>
      <p:sp>
        <p:nvSpPr>
          <p:cNvPr id="2220" name="Google Shape;2220;p33"/>
          <p:cNvSpPr txBox="1"/>
          <p:nvPr/>
        </p:nvSpPr>
        <p:spPr>
          <a:xfrm>
            <a:off x="4738995" y="5534956"/>
            <a:ext cx="54081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Customer Challenges &amp; Requirements</a:t>
            </a:r>
            <a:endParaRPr sz="1200" b="0" i="0" u="none" strike="noStrike" cap="none">
              <a:solidFill>
                <a:srgbClr val="000000"/>
              </a:solidFill>
              <a:latin typeface="Arial"/>
              <a:ea typeface="Arial"/>
              <a:cs typeface="Arial"/>
              <a:sym typeface="Arial"/>
            </a:endParaRPr>
          </a:p>
        </p:txBody>
      </p:sp>
      <p:sp>
        <p:nvSpPr>
          <p:cNvPr id="2221" name="Google Shape;2221;p33"/>
          <p:cNvSpPr txBox="1"/>
          <p:nvPr/>
        </p:nvSpPr>
        <p:spPr>
          <a:xfrm>
            <a:off x="513225" y="2174450"/>
            <a:ext cx="3578700" cy="8865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800"/>
              <a:buFont typeface="Arial"/>
              <a:buNone/>
            </a:pPr>
            <a:r>
              <a:rPr lang="en-US" sz="1800" b="0" i="0" u="none" strike="noStrike" cap="none">
                <a:solidFill>
                  <a:srgbClr val="FFFFFF"/>
                </a:solidFill>
                <a:latin typeface="Inter"/>
                <a:ea typeface="Inter"/>
                <a:cs typeface="Inter"/>
                <a:sym typeface="Inter"/>
              </a:rPr>
              <a:t>MINISTOP, a member of AEON Group, is a leading convenience store chain in Japan</a:t>
            </a:r>
            <a:endParaRPr sz="1200" b="0" i="0" u="none" strike="noStrike" cap="none">
              <a:solidFill>
                <a:srgbClr val="000000"/>
              </a:solidFill>
              <a:latin typeface="Arial"/>
              <a:ea typeface="Arial"/>
              <a:cs typeface="Arial"/>
              <a:sym typeface="Arial"/>
            </a:endParaRPr>
          </a:p>
        </p:txBody>
      </p:sp>
      <p:sp>
        <p:nvSpPr>
          <p:cNvPr id="2222" name="Google Shape;2222;p33"/>
          <p:cNvSpPr txBox="1"/>
          <p:nvPr/>
        </p:nvSpPr>
        <p:spPr>
          <a:xfrm>
            <a:off x="1253869" y="3798781"/>
            <a:ext cx="1854300" cy="5019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Headquartered </a:t>
            </a:r>
            <a:endParaRPr sz="1200" b="0" i="0" u="none" strike="noStrike" cap="none">
              <a:solidFill>
                <a:srgbClr val="000000"/>
              </a:solidFill>
              <a:latin typeface="Arial"/>
              <a:ea typeface="Arial"/>
              <a:cs typeface="Arial"/>
              <a:sym typeface="Arial"/>
            </a:endParaRPr>
          </a:p>
          <a:p>
            <a:pPr marL="0" marR="0" lvl="0" indent="0" algn="l" rtl="0">
              <a:lnSpc>
                <a:spcPct val="11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in Chiba, Japan</a:t>
            </a:r>
            <a:endParaRPr sz="1200" b="0" i="0" u="none" strike="noStrike" cap="none">
              <a:solidFill>
                <a:srgbClr val="000000"/>
              </a:solidFill>
              <a:latin typeface="Arial"/>
              <a:ea typeface="Arial"/>
              <a:cs typeface="Arial"/>
              <a:sym typeface="Arial"/>
            </a:endParaRPr>
          </a:p>
        </p:txBody>
      </p:sp>
      <p:sp>
        <p:nvSpPr>
          <p:cNvPr id="2223" name="Google Shape;2223;p33"/>
          <p:cNvSpPr txBox="1"/>
          <p:nvPr/>
        </p:nvSpPr>
        <p:spPr>
          <a:xfrm>
            <a:off x="1253860" y="4677042"/>
            <a:ext cx="1410300" cy="5019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Founded in</a:t>
            </a:r>
            <a:endParaRPr sz="1200" b="0" i="0" u="none" strike="noStrike" cap="none">
              <a:solidFill>
                <a:srgbClr val="000000"/>
              </a:solidFill>
              <a:latin typeface="Arial"/>
              <a:ea typeface="Arial"/>
              <a:cs typeface="Arial"/>
              <a:sym typeface="Arial"/>
            </a:endParaRPr>
          </a:p>
          <a:p>
            <a:pPr marL="0" marR="0" lvl="0" indent="0" algn="l" rtl="0">
              <a:lnSpc>
                <a:spcPct val="11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1980</a:t>
            </a:r>
            <a:endParaRPr sz="1200" b="0" i="0" u="none" strike="noStrike" cap="none">
              <a:solidFill>
                <a:srgbClr val="000000"/>
              </a:solidFill>
              <a:latin typeface="Arial"/>
              <a:ea typeface="Arial"/>
              <a:cs typeface="Arial"/>
              <a:sym typeface="Arial"/>
            </a:endParaRPr>
          </a:p>
        </p:txBody>
      </p:sp>
      <p:sp>
        <p:nvSpPr>
          <p:cNvPr id="2224" name="Google Shape;2224;p33"/>
          <p:cNvSpPr txBox="1"/>
          <p:nvPr/>
        </p:nvSpPr>
        <p:spPr>
          <a:xfrm>
            <a:off x="1257480" y="5729944"/>
            <a:ext cx="2625300" cy="4848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2100+ stores in Japan</a:t>
            </a:r>
            <a:endParaRPr sz="1200" b="0" i="0" u="none" strike="noStrike" cap="none">
              <a:solidFill>
                <a:srgbClr val="000000"/>
              </a:solidFill>
              <a:latin typeface="Arial"/>
              <a:ea typeface="Arial"/>
              <a:cs typeface="Arial"/>
              <a:sym typeface="Arial"/>
            </a:endParaRPr>
          </a:p>
          <a:p>
            <a:pPr marL="0" marR="0" lvl="0" indent="0" algn="l" rtl="0">
              <a:lnSpc>
                <a:spcPct val="11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3250+ stores worldwide</a:t>
            </a:r>
            <a:endParaRPr sz="1200" b="0" i="0" u="none" strike="noStrike" cap="none">
              <a:solidFill>
                <a:srgbClr val="000000"/>
              </a:solidFill>
              <a:latin typeface="Arial"/>
              <a:ea typeface="Arial"/>
              <a:cs typeface="Arial"/>
              <a:sym typeface="Arial"/>
            </a:endParaRPr>
          </a:p>
        </p:txBody>
      </p:sp>
      <p:sp>
        <p:nvSpPr>
          <p:cNvPr id="2225" name="Google Shape;2225;p33"/>
          <p:cNvSpPr txBox="1"/>
          <p:nvPr/>
        </p:nvSpPr>
        <p:spPr>
          <a:xfrm>
            <a:off x="4738896" y="1724321"/>
            <a:ext cx="3310500" cy="30734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Overview</a:t>
            </a:r>
            <a:endParaRPr sz="1200" b="0" i="0" u="none" strike="noStrike" cap="none">
              <a:solidFill>
                <a:srgbClr val="000000"/>
              </a:solidFill>
              <a:latin typeface="Arial"/>
              <a:ea typeface="Arial"/>
              <a:cs typeface="Arial"/>
              <a:sym typeface="Arial"/>
            </a:endParaRPr>
          </a:p>
        </p:txBody>
      </p:sp>
      <p:sp>
        <p:nvSpPr>
          <p:cNvPr id="2226" name="Google Shape;2226;p33"/>
          <p:cNvSpPr txBox="1"/>
          <p:nvPr/>
        </p:nvSpPr>
        <p:spPr>
          <a:xfrm>
            <a:off x="4738896" y="2185495"/>
            <a:ext cx="5408100" cy="997500"/>
          </a:xfrm>
          <a:prstGeom prst="rect">
            <a:avLst/>
          </a:prstGeom>
          <a:noFill/>
          <a:ln>
            <a:noFill/>
          </a:ln>
        </p:spPr>
        <p:txBody>
          <a:bodyPr spcFirstLastPara="1" wrap="square" lIns="0" tIns="0" rIns="0" bIns="0" anchor="t" anchorCtr="0">
            <a:spAutoFit/>
          </a:bodyPr>
          <a:lstStyle/>
          <a:p>
            <a:pPr marL="0" marR="0" lvl="0" indent="0" algn="just" rtl="0">
              <a:lnSpc>
                <a:spcPct val="11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This case study highlights VTI’s successful development of the MINISTOP mobile app, helping Japan’s leading convenience store chain enhance digital marketing, boost customer engagement, and launch mobile ordering. VTI delivered a full-cycle app development service, enabling MINISTOP to pioneer mobile ordering in Japan.</a:t>
            </a:r>
            <a:endParaRPr sz="1200" b="0" i="0" u="none" strike="noStrike" cap="none">
              <a:solidFill>
                <a:srgbClr val="000000"/>
              </a:solidFill>
              <a:latin typeface="Arial"/>
              <a:ea typeface="Arial"/>
              <a:cs typeface="Arial"/>
              <a:sym typeface="Arial"/>
            </a:endParaRPr>
          </a:p>
        </p:txBody>
      </p:sp>
      <p:sp>
        <p:nvSpPr>
          <p:cNvPr id="2227" name="Google Shape;2227;p33"/>
          <p:cNvSpPr txBox="1"/>
          <p:nvPr/>
        </p:nvSpPr>
        <p:spPr>
          <a:xfrm>
            <a:off x="8049133" y="3517314"/>
            <a:ext cx="1762500" cy="503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004AAD"/>
                </a:solidFill>
                <a:latin typeface="Inter"/>
                <a:ea typeface="Inter"/>
                <a:cs typeface="Inter"/>
                <a:sym typeface="Inter"/>
              </a:rPr>
              <a:t>1.4M+</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Registered users</a:t>
            </a:r>
            <a:endParaRPr sz="1200" b="0" i="0" u="none" strike="noStrike" cap="none">
              <a:solidFill>
                <a:srgbClr val="000000"/>
              </a:solidFill>
              <a:latin typeface="Arial"/>
              <a:ea typeface="Arial"/>
              <a:cs typeface="Arial"/>
              <a:sym typeface="Arial"/>
            </a:endParaRPr>
          </a:p>
        </p:txBody>
      </p:sp>
      <p:sp>
        <p:nvSpPr>
          <p:cNvPr id="2228" name="Google Shape;2228;p33"/>
          <p:cNvSpPr txBox="1"/>
          <p:nvPr/>
        </p:nvSpPr>
        <p:spPr>
          <a:xfrm>
            <a:off x="8049133" y="4217478"/>
            <a:ext cx="1209300" cy="503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004AAD"/>
                </a:solidFill>
                <a:latin typeface="Inter"/>
                <a:ea typeface="Inter"/>
                <a:cs typeface="Inter"/>
                <a:sym typeface="Inter"/>
              </a:rPr>
              <a:t>100K+</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Active users</a:t>
            </a:r>
            <a:endParaRPr sz="1200" b="0" i="0" u="none" strike="noStrike" cap="none">
              <a:solidFill>
                <a:srgbClr val="000000"/>
              </a:solidFill>
              <a:latin typeface="Arial"/>
              <a:ea typeface="Arial"/>
              <a:cs typeface="Arial"/>
              <a:sym typeface="Arial"/>
            </a:endParaRPr>
          </a:p>
        </p:txBody>
      </p:sp>
      <p:sp>
        <p:nvSpPr>
          <p:cNvPr id="2229" name="Google Shape;2229;p33"/>
          <p:cNvSpPr txBox="1"/>
          <p:nvPr/>
        </p:nvSpPr>
        <p:spPr>
          <a:xfrm>
            <a:off x="10637254" y="1664047"/>
            <a:ext cx="45594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VTI’s Solution</a:t>
            </a:r>
            <a:endParaRPr sz="1200" b="0" i="0" u="none" strike="noStrike" cap="none">
              <a:solidFill>
                <a:srgbClr val="000000"/>
              </a:solidFill>
              <a:latin typeface="Arial"/>
              <a:ea typeface="Arial"/>
              <a:cs typeface="Arial"/>
              <a:sym typeface="Arial"/>
            </a:endParaRPr>
          </a:p>
        </p:txBody>
      </p:sp>
      <p:sp>
        <p:nvSpPr>
          <p:cNvPr id="2230" name="Google Shape;2230;p33"/>
          <p:cNvSpPr txBox="1"/>
          <p:nvPr/>
        </p:nvSpPr>
        <p:spPr>
          <a:xfrm>
            <a:off x="4738896" y="6016244"/>
            <a:ext cx="5072400" cy="1200600"/>
          </a:xfrm>
          <a:prstGeom prst="rect">
            <a:avLst/>
          </a:prstGeom>
          <a:noFill/>
          <a:ln>
            <a:noFill/>
          </a:ln>
        </p:spPr>
        <p:txBody>
          <a:bodyPr spcFirstLastPara="1" wrap="square" lIns="0" tIns="0" rIns="0" bIns="0" anchor="t" anchorCtr="0">
            <a:spAutoFit/>
          </a:bodyPr>
          <a:lstStyle/>
          <a:p>
            <a:pPr marL="0" marR="0" lvl="0" indent="0" algn="just" rtl="0">
              <a:lnSpc>
                <a:spcPct val="11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The client aimed to </a:t>
            </a:r>
            <a:r>
              <a:rPr lang="en-US" sz="1200" b="1" i="0" u="none" strike="noStrike" cap="none">
                <a:solidFill>
                  <a:srgbClr val="3A3A3A"/>
                </a:solidFill>
                <a:latin typeface="Inter"/>
                <a:ea typeface="Inter"/>
                <a:cs typeface="Inter"/>
                <a:sym typeface="Inter"/>
              </a:rPr>
              <a:t>develop an official mobile app</a:t>
            </a:r>
            <a:r>
              <a:rPr lang="en-US" sz="1200" b="0" i="0" u="none" strike="noStrike" cap="none">
                <a:solidFill>
                  <a:srgbClr val="3A3A3A"/>
                </a:solidFill>
                <a:latin typeface="Inter"/>
                <a:ea typeface="Inter"/>
                <a:cs typeface="Inter"/>
                <a:sym typeface="Inter"/>
              </a:rPr>
              <a:t> to enhance digital engagement and streamline customer interaction.</a:t>
            </a:r>
            <a:endParaRPr sz="1200" b="0" i="0" u="none" strike="noStrike" cap="none">
              <a:solidFill>
                <a:srgbClr val="000000"/>
              </a:solidFill>
              <a:latin typeface="Arial"/>
              <a:ea typeface="Arial"/>
              <a:cs typeface="Arial"/>
              <a:sym typeface="Arial"/>
            </a:endParaRPr>
          </a:p>
          <a:p>
            <a:pPr marL="266700" marR="0" lvl="1" indent="-127000" algn="just" rtl="0">
              <a:lnSpc>
                <a:spcPct val="110000"/>
              </a:lnSpc>
              <a:spcBef>
                <a:spcPts val="0"/>
              </a:spcBef>
              <a:spcAft>
                <a:spcPts val="0"/>
              </a:spcAft>
              <a:buClr>
                <a:srgbClr val="3A3A3A"/>
              </a:buClr>
              <a:buSzPts val="1200"/>
              <a:buFont typeface="Arial"/>
              <a:buChar char="•"/>
            </a:pPr>
            <a:r>
              <a:rPr lang="en-US" sz="1200" b="0" i="0" u="none" strike="noStrike" cap="none">
                <a:solidFill>
                  <a:srgbClr val="3A3A3A"/>
                </a:solidFill>
                <a:latin typeface="Inter"/>
                <a:ea typeface="Inter"/>
                <a:cs typeface="Inter"/>
                <a:sym typeface="Inter"/>
              </a:rPr>
              <a:t>No specific feature requirements at the start.</a:t>
            </a:r>
            <a:endParaRPr sz="1200" b="0" i="0" u="none" strike="noStrike" cap="none">
              <a:solidFill>
                <a:srgbClr val="000000"/>
              </a:solidFill>
              <a:latin typeface="Arial"/>
              <a:ea typeface="Arial"/>
              <a:cs typeface="Arial"/>
              <a:sym typeface="Arial"/>
            </a:endParaRPr>
          </a:p>
          <a:p>
            <a:pPr marL="266700" marR="0" lvl="1" indent="-127000" algn="just" rtl="0">
              <a:lnSpc>
                <a:spcPct val="110000"/>
              </a:lnSpc>
              <a:spcBef>
                <a:spcPts val="0"/>
              </a:spcBef>
              <a:spcAft>
                <a:spcPts val="0"/>
              </a:spcAft>
              <a:buClr>
                <a:srgbClr val="3A3A3A"/>
              </a:buClr>
              <a:buSzPts val="1200"/>
              <a:buFont typeface="Arial"/>
              <a:buChar char="•"/>
            </a:pPr>
            <a:r>
              <a:rPr lang="en-US" sz="1200" b="0" i="0" u="none" strike="noStrike" cap="none">
                <a:solidFill>
                  <a:srgbClr val="3A3A3A"/>
                </a:solidFill>
                <a:latin typeface="Inter"/>
                <a:ea typeface="Inter"/>
                <a:cs typeface="Inter"/>
                <a:sym typeface="Inter"/>
              </a:rPr>
              <a:t>Needed a one-stop service provider for planning, development &amp; maintenance</a:t>
            </a:r>
            <a:endParaRPr sz="1200" b="0" i="0" u="none" strike="noStrike" cap="none">
              <a:solidFill>
                <a:srgbClr val="000000"/>
              </a:solidFill>
              <a:latin typeface="Arial"/>
              <a:ea typeface="Arial"/>
              <a:cs typeface="Arial"/>
              <a:sym typeface="Arial"/>
            </a:endParaRPr>
          </a:p>
          <a:p>
            <a:pPr marL="0" marR="0" lvl="0" indent="0" algn="just" rtl="0">
              <a:lnSpc>
                <a:spcPct val="110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p:txBody>
      </p:sp>
      <p:sp>
        <p:nvSpPr>
          <p:cNvPr id="2231" name="Google Shape;2231;p33"/>
          <p:cNvSpPr txBox="1"/>
          <p:nvPr/>
        </p:nvSpPr>
        <p:spPr>
          <a:xfrm>
            <a:off x="5399883" y="7821129"/>
            <a:ext cx="3858600" cy="3879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200"/>
              <a:buFont typeface="Arial"/>
              <a:buNone/>
            </a:pPr>
            <a:r>
              <a:rPr lang="en-US" sz="1200" b="1" i="0" u="none" strike="noStrike" cap="none">
                <a:solidFill>
                  <a:srgbClr val="585858"/>
                </a:solidFill>
                <a:latin typeface="Inter"/>
                <a:ea typeface="Inter"/>
                <a:cs typeface="Inter"/>
                <a:sym typeface="Inter"/>
              </a:rPr>
              <a:t>8 months</a:t>
            </a:r>
            <a:endParaRPr sz="1200" b="0" i="0" u="none" strike="noStrike" cap="none">
              <a:solidFill>
                <a:srgbClr val="000000"/>
              </a:solidFill>
              <a:latin typeface="Arial"/>
              <a:ea typeface="Arial"/>
              <a:cs typeface="Arial"/>
              <a:sym typeface="Arial"/>
            </a:endParaRPr>
          </a:p>
          <a:p>
            <a:pPr marL="0" marR="0" lvl="0" indent="0" algn="l" rtl="0">
              <a:lnSpc>
                <a:spcPct val="11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Launching the app within a short timeframe</a:t>
            </a:r>
            <a:endParaRPr sz="1200" b="0" i="0" u="none" strike="noStrike" cap="none">
              <a:solidFill>
                <a:srgbClr val="000000"/>
              </a:solidFill>
              <a:latin typeface="Arial"/>
              <a:ea typeface="Arial"/>
              <a:cs typeface="Arial"/>
              <a:sym typeface="Arial"/>
            </a:endParaRPr>
          </a:p>
        </p:txBody>
      </p:sp>
      <p:sp>
        <p:nvSpPr>
          <p:cNvPr id="2232" name="Google Shape;2232;p33"/>
          <p:cNvSpPr txBox="1"/>
          <p:nvPr/>
        </p:nvSpPr>
        <p:spPr>
          <a:xfrm>
            <a:off x="5399883" y="7106791"/>
            <a:ext cx="4880400" cy="7941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200"/>
              <a:buFont typeface="Arial"/>
              <a:buNone/>
            </a:pPr>
            <a:r>
              <a:rPr lang="en-US" sz="1200" b="1" i="0" u="none" strike="noStrike" cap="none">
                <a:solidFill>
                  <a:srgbClr val="585858"/>
                </a:solidFill>
                <a:latin typeface="Inter"/>
                <a:ea typeface="Inter"/>
                <a:cs typeface="Inter"/>
                <a:sym typeface="Inter"/>
              </a:rPr>
              <a:t>Official brand communication channel</a:t>
            </a:r>
            <a:endParaRPr sz="1200" b="0" i="0" u="none" strike="noStrike" cap="none">
              <a:solidFill>
                <a:srgbClr val="000000"/>
              </a:solidFill>
              <a:latin typeface="Arial"/>
              <a:ea typeface="Arial"/>
              <a:cs typeface="Arial"/>
              <a:sym typeface="Arial"/>
            </a:endParaRPr>
          </a:p>
          <a:p>
            <a:pPr marL="0" marR="0" lvl="0" indent="0" algn="l" rtl="0">
              <a:lnSpc>
                <a:spcPct val="11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The application will act as an official brand’s communication channel &amp; engagement channel with MINISTOP’s customers</a:t>
            </a:r>
            <a:endParaRPr sz="1200" b="0" i="0" u="none" strike="noStrike" cap="none">
              <a:solidFill>
                <a:srgbClr val="000000"/>
              </a:solidFill>
              <a:latin typeface="Arial"/>
              <a:ea typeface="Arial"/>
              <a:cs typeface="Arial"/>
              <a:sym typeface="Arial"/>
            </a:endParaRPr>
          </a:p>
          <a:p>
            <a:pPr marL="0" marR="0" lvl="0" indent="0" algn="l" rtl="0">
              <a:lnSpc>
                <a:spcPct val="110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p:txBody>
      </p:sp>
      <p:sp>
        <p:nvSpPr>
          <p:cNvPr id="2233" name="Google Shape;2233;p33"/>
          <p:cNvSpPr txBox="1"/>
          <p:nvPr/>
        </p:nvSpPr>
        <p:spPr>
          <a:xfrm>
            <a:off x="5399883" y="8314571"/>
            <a:ext cx="4411500" cy="3879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Becoming the </a:t>
            </a:r>
            <a:r>
              <a:rPr lang="en-US" sz="1200" b="1" i="0" u="none" strike="noStrike" cap="none">
                <a:solidFill>
                  <a:srgbClr val="585858"/>
                </a:solidFill>
                <a:latin typeface="Inter"/>
                <a:ea typeface="Inter"/>
                <a:cs typeface="Inter"/>
                <a:sym typeface="Inter"/>
              </a:rPr>
              <a:t>first convenience store chain in Japan</a:t>
            </a:r>
            <a:r>
              <a:rPr lang="en-US" sz="1200" b="1" i="0" u="none" strike="noStrike" cap="none">
                <a:solidFill>
                  <a:srgbClr val="3A3A3A"/>
                </a:solidFill>
                <a:latin typeface="Inter"/>
                <a:ea typeface="Inter"/>
                <a:cs typeface="Inter"/>
                <a:sym typeface="Inter"/>
              </a:rPr>
              <a:t> </a:t>
            </a:r>
            <a:r>
              <a:rPr lang="en-US" sz="1200" b="0" i="0" u="none" strike="noStrike" cap="none">
                <a:solidFill>
                  <a:srgbClr val="3A3A3A"/>
                </a:solidFill>
                <a:latin typeface="Inter"/>
                <a:ea typeface="Inter"/>
                <a:cs typeface="Inter"/>
                <a:sym typeface="Inter"/>
              </a:rPr>
              <a:t>to offer mobile ordering on a mobile app</a:t>
            </a:r>
            <a:endParaRPr sz="1200" b="0" i="0" u="none" strike="noStrike" cap="none">
              <a:solidFill>
                <a:srgbClr val="000000"/>
              </a:solidFill>
              <a:latin typeface="Arial"/>
              <a:ea typeface="Arial"/>
              <a:cs typeface="Arial"/>
              <a:sym typeface="Arial"/>
            </a:endParaRPr>
          </a:p>
        </p:txBody>
      </p:sp>
      <p:grpSp>
        <p:nvGrpSpPr>
          <p:cNvPr id="2234" name="Google Shape;2234;p33"/>
          <p:cNvGrpSpPr/>
          <p:nvPr/>
        </p:nvGrpSpPr>
        <p:grpSpPr>
          <a:xfrm>
            <a:off x="4856201" y="8323839"/>
            <a:ext cx="543627" cy="412353"/>
            <a:chOff x="0" y="-38100"/>
            <a:chExt cx="815400" cy="618498"/>
          </a:xfrm>
        </p:grpSpPr>
        <p:sp>
          <p:nvSpPr>
            <p:cNvPr id="2235" name="Google Shape;2235;p33"/>
            <p:cNvSpPr txBox="1"/>
            <p:nvPr/>
          </p:nvSpPr>
          <p:spPr>
            <a:xfrm>
              <a:off x="0" y="49398"/>
              <a:ext cx="815400" cy="531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300"/>
                <a:buFont typeface="Arial"/>
                <a:buNone/>
              </a:pPr>
              <a:r>
                <a:rPr lang="en-US" sz="2300" b="1" i="0" u="none" strike="noStrike" cap="none">
                  <a:solidFill>
                    <a:srgbClr val="585858"/>
                  </a:solidFill>
                  <a:latin typeface="Inter"/>
                  <a:ea typeface="Inter"/>
                  <a:cs typeface="Inter"/>
                  <a:sym typeface="Inter"/>
                </a:rPr>
                <a:t>1</a:t>
              </a:r>
              <a:endParaRPr sz="1200" b="0" i="0" u="none" strike="noStrike" cap="none">
                <a:solidFill>
                  <a:srgbClr val="000000"/>
                </a:solidFill>
                <a:latin typeface="Arial"/>
                <a:ea typeface="Arial"/>
                <a:cs typeface="Arial"/>
                <a:sym typeface="Arial"/>
              </a:endParaRPr>
            </a:p>
          </p:txBody>
        </p:sp>
        <p:sp>
          <p:nvSpPr>
            <p:cNvPr id="2236" name="Google Shape;2236;p33"/>
            <p:cNvSpPr txBox="1"/>
            <p:nvPr/>
          </p:nvSpPr>
          <p:spPr>
            <a:xfrm>
              <a:off x="210216" y="-38100"/>
              <a:ext cx="556800" cy="346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500"/>
                <a:buFont typeface="Arial"/>
                <a:buNone/>
              </a:pPr>
              <a:r>
                <a:rPr lang="en-US" sz="1500" b="1" i="0" u="none" strike="noStrike" cap="none">
                  <a:solidFill>
                    <a:srgbClr val="585858"/>
                  </a:solidFill>
                  <a:latin typeface="Inter"/>
                  <a:ea typeface="Inter"/>
                  <a:cs typeface="Inter"/>
                  <a:sym typeface="Inter"/>
                </a:rPr>
                <a:t>st</a:t>
              </a:r>
              <a:endParaRPr sz="1200" b="0" i="0" u="none" strike="noStrike" cap="none">
                <a:solidFill>
                  <a:srgbClr val="000000"/>
                </a:solidFill>
                <a:latin typeface="Arial"/>
                <a:ea typeface="Arial"/>
                <a:cs typeface="Arial"/>
                <a:sym typeface="Arial"/>
              </a:endParaRPr>
            </a:p>
          </p:txBody>
        </p:sp>
      </p:grpSp>
      <p:sp>
        <p:nvSpPr>
          <p:cNvPr id="2237" name="Google Shape;2237;p33"/>
          <p:cNvSpPr txBox="1"/>
          <p:nvPr/>
        </p:nvSpPr>
        <p:spPr>
          <a:xfrm>
            <a:off x="11095631" y="3254847"/>
            <a:ext cx="4673700" cy="591000"/>
          </a:xfrm>
          <a:prstGeom prst="rect">
            <a:avLst/>
          </a:prstGeom>
          <a:noFill/>
          <a:ln>
            <a:noFill/>
          </a:ln>
        </p:spPr>
        <p:txBody>
          <a:bodyPr spcFirstLastPara="1" wrap="square" lIns="0" tIns="0" rIns="0" bIns="0" anchor="t" anchorCtr="0">
            <a:spAutoFit/>
          </a:bodyPr>
          <a:lstStyle/>
          <a:p>
            <a:pPr marL="0" marR="0" lvl="0" indent="0" algn="just" rtl="0">
              <a:lnSpc>
                <a:spcPct val="11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Conducted an in-depth evaluation and collaborated with the client to define feature requirements and create a detailed design.</a:t>
            </a:r>
            <a:endParaRPr sz="1200" b="0" i="0" u="none" strike="noStrike" cap="none">
              <a:solidFill>
                <a:srgbClr val="000000"/>
              </a:solidFill>
              <a:latin typeface="Arial"/>
              <a:ea typeface="Arial"/>
              <a:cs typeface="Arial"/>
              <a:sym typeface="Arial"/>
            </a:endParaRPr>
          </a:p>
        </p:txBody>
      </p:sp>
      <p:sp>
        <p:nvSpPr>
          <p:cNvPr id="2238" name="Google Shape;2238;p33"/>
          <p:cNvSpPr txBox="1"/>
          <p:nvPr/>
        </p:nvSpPr>
        <p:spPr>
          <a:xfrm>
            <a:off x="11136887" y="4130133"/>
            <a:ext cx="16755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300"/>
              <a:buFont typeface="Arial"/>
              <a:buNone/>
            </a:pPr>
            <a:r>
              <a:rPr lang="en-US" sz="1300" b="1" i="0" u="none" strike="noStrike" cap="none">
                <a:solidFill>
                  <a:srgbClr val="004AAD"/>
                </a:solidFill>
                <a:latin typeface="Inter"/>
                <a:ea typeface="Inter"/>
                <a:cs typeface="Inter"/>
                <a:sym typeface="Inter"/>
              </a:rPr>
              <a:t>UI/UX Design</a:t>
            </a:r>
            <a:endParaRPr sz="1200" b="0" i="0" u="none" strike="noStrike" cap="none">
              <a:solidFill>
                <a:srgbClr val="000000"/>
              </a:solidFill>
              <a:latin typeface="Arial"/>
              <a:ea typeface="Arial"/>
              <a:cs typeface="Arial"/>
              <a:sym typeface="Arial"/>
            </a:endParaRPr>
          </a:p>
        </p:txBody>
      </p:sp>
      <p:sp>
        <p:nvSpPr>
          <p:cNvPr id="2239" name="Google Shape;2239;p33"/>
          <p:cNvSpPr txBox="1"/>
          <p:nvPr/>
        </p:nvSpPr>
        <p:spPr>
          <a:xfrm>
            <a:off x="11095631" y="4524737"/>
            <a:ext cx="4673700" cy="591000"/>
          </a:xfrm>
          <a:prstGeom prst="rect">
            <a:avLst/>
          </a:prstGeom>
          <a:noFill/>
          <a:ln>
            <a:noFill/>
          </a:ln>
        </p:spPr>
        <p:txBody>
          <a:bodyPr spcFirstLastPara="1" wrap="square" lIns="0" tIns="0" rIns="0" bIns="0" anchor="t" anchorCtr="0">
            <a:spAutoFit/>
          </a:bodyPr>
          <a:lstStyle/>
          <a:p>
            <a:pPr marL="0" marR="0" lvl="0" indent="0" algn="just" rtl="0">
              <a:lnSpc>
                <a:spcPct val="11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Designed a high-performance, visually appealing, and intuitive user interface to provide a seamless shopping experience, ensuring ease of use and customer satisfaction.</a:t>
            </a:r>
            <a:endParaRPr sz="1200" b="0" i="0" u="none" strike="noStrike" cap="none">
              <a:solidFill>
                <a:srgbClr val="000000"/>
              </a:solidFill>
              <a:latin typeface="Arial"/>
              <a:ea typeface="Arial"/>
              <a:cs typeface="Arial"/>
              <a:sym typeface="Arial"/>
            </a:endParaRPr>
          </a:p>
        </p:txBody>
      </p:sp>
      <p:sp>
        <p:nvSpPr>
          <p:cNvPr id="2240" name="Google Shape;2240;p33"/>
          <p:cNvSpPr txBox="1"/>
          <p:nvPr/>
        </p:nvSpPr>
        <p:spPr>
          <a:xfrm>
            <a:off x="11095631" y="5874284"/>
            <a:ext cx="4673700" cy="387900"/>
          </a:xfrm>
          <a:prstGeom prst="rect">
            <a:avLst/>
          </a:prstGeom>
          <a:noFill/>
          <a:ln>
            <a:noFill/>
          </a:ln>
        </p:spPr>
        <p:txBody>
          <a:bodyPr spcFirstLastPara="1" wrap="square" lIns="0" tIns="0" rIns="0" bIns="0" anchor="t" anchorCtr="0">
            <a:spAutoFit/>
          </a:bodyPr>
          <a:lstStyle/>
          <a:p>
            <a:pPr marL="0" marR="0" lvl="0" indent="0" algn="just" rtl="0">
              <a:lnSpc>
                <a:spcPct val="11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Developed a robust, scalable, and responsive mobile application, that supports cross-platform functionality.</a:t>
            </a:r>
            <a:endParaRPr sz="1200" b="0" i="0" u="none" strike="noStrike" cap="none">
              <a:solidFill>
                <a:srgbClr val="000000"/>
              </a:solidFill>
              <a:latin typeface="Arial"/>
              <a:ea typeface="Arial"/>
              <a:cs typeface="Arial"/>
              <a:sym typeface="Arial"/>
            </a:endParaRPr>
          </a:p>
        </p:txBody>
      </p:sp>
      <p:sp>
        <p:nvSpPr>
          <p:cNvPr id="2241" name="Google Shape;2241;p33"/>
          <p:cNvSpPr txBox="1"/>
          <p:nvPr/>
        </p:nvSpPr>
        <p:spPr>
          <a:xfrm>
            <a:off x="11136889" y="5489644"/>
            <a:ext cx="30636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300"/>
              <a:buFont typeface="Arial"/>
              <a:buNone/>
            </a:pPr>
            <a:r>
              <a:rPr lang="en-US" sz="1300" b="1" i="0" u="none" strike="noStrike" cap="none">
                <a:solidFill>
                  <a:srgbClr val="004AAD"/>
                </a:solidFill>
                <a:latin typeface="Inter"/>
                <a:ea typeface="Inter"/>
                <a:cs typeface="Inter"/>
                <a:sym typeface="Inter"/>
              </a:rPr>
              <a:t>Application Development (Coding)</a:t>
            </a:r>
            <a:endParaRPr sz="1200" b="0" i="0" u="none" strike="noStrike" cap="none">
              <a:solidFill>
                <a:srgbClr val="000000"/>
              </a:solidFill>
              <a:latin typeface="Arial"/>
              <a:ea typeface="Arial"/>
              <a:cs typeface="Arial"/>
              <a:sym typeface="Arial"/>
            </a:endParaRPr>
          </a:p>
        </p:txBody>
      </p:sp>
      <p:sp>
        <p:nvSpPr>
          <p:cNvPr id="2242" name="Google Shape;2242;p33"/>
          <p:cNvSpPr txBox="1"/>
          <p:nvPr/>
        </p:nvSpPr>
        <p:spPr>
          <a:xfrm>
            <a:off x="11095631" y="7005784"/>
            <a:ext cx="4673700" cy="387900"/>
          </a:xfrm>
          <a:prstGeom prst="rect">
            <a:avLst/>
          </a:prstGeom>
          <a:noFill/>
          <a:ln>
            <a:noFill/>
          </a:ln>
        </p:spPr>
        <p:txBody>
          <a:bodyPr spcFirstLastPara="1" wrap="square" lIns="0" tIns="0" rIns="0" bIns="0" anchor="t" anchorCtr="0">
            <a:spAutoFit/>
          </a:bodyPr>
          <a:lstStyle/>
          <a:p>
            <a:pPr marL="0" marR="0" lvl="0" indent="0" algn="just" rtl="0">
              <a:lnSpc>
                <a:spcPct val="11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Conducted testing to ensure a stable, bug-free application before deployment.</a:t>
            </a:r>
            <a:endParaRPr sz="1200" b="0" i="0" u="none" strike="noStrike" cap="none">
              <a:solidFill>
                <a:srgbClr val="000000"/>
              </a:solidFill>
              <a:latin typeface="Arial"/>
              <a:ea typeface="Arial"/>
              <a:cs typeface="Arial"/>
              <a:sym typeface="Arial"/>
            </a:endParaRPr>
          </a:p>
        </p:txBody>
      </p:sp>
      <p:sp>
        <p:nvSpPr>
          <p:cNvPr id="2243" name="Google Shape;2243;p33"/>
          <p:cNvSpPr txBox="1"/>
          <p:nvPr/>
        </p:nvSpPr>
        <p:spPr>
          <a:xfrm>
            <a:off x="11136888" y="2860378"/>
            <a:ext cx="26253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300"/>
              <a:buFont typeface="Arial"/>
              <a:buNone/>
            </a:pPr>
            <a:r>
              <a:rPr lang="en-US" sz="1300" b="1" i="0" u="none" strike="noStrike" cap="none">
                <a:solidFill>
                  <a:srgbClr val="004AAD"/>
                </a:solidFill>
                <a:latin typeface="Inter"/>
                <a:ea typeface="Inter"/>
                <a:cs typeface="Inter"/>
                <a:sym typeface="Inter"/>
              </a:rPr>
              <a:t>Requirement definition</a:t>
            </a:r>
            <a:endParaRPr sz="1200" b="0" i="0" u="none" strike="noStrike" cap="none">
              <a:solidFill>
                <a:srgbClr val="000000"/>
              </a:solidFill>
              <a:latin typeface="Arial"/>
              <a:ea typeface="Arial"/>
              <a:cs typeface="Arial"/>
              <a:sym typeface="Arial"/>
            </a:endParaRPr>
          </a:p>
        </p:txBody>
      </p:sp>
      <p:sp>
        <p:nvSpPr>
          <p:cNvPr id="2244" name="Google Shape;2244;p33"/>
          <p:cNvSpPr txBox="1"/>
          <p:nvPr/>
        </p:nvSpPr>
        <p:spPr>
          <a:xfrm>
            <a:off x="11131669" y="6635933"/>
            <a:ext cx="34716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300"/>
              <a:buFont typeface="Arial"/>
              <a:buNone/>
            </a:pPr>
            <a:r>
              <a:rPr lang="en-US" sz="1300" b="1" i="0" u="none" strike="noStrike" cap="none">
                <a:solidFill>
                  <a:srgbClr val="004AAD"/>
                </a:solidFill>
                <a:latin typeface="Inter"/>
                <a:ea typeface="Inter"/>
                <a:cs typeface="Inter"/>
                <a:sym typeface="Inter"/>
              </a:rPr>
              <a:t>Testing (Unit &amp; Integration Testing)</a:t>
            </a:r>
            <a:endParaRPr sz="1200" b="0" i="0" u="none" strike="noStrike" cap="none">
              <a:solidFill>
                <a:srgbClr val="000000"/>
              </a:solidFill>
              <a:latin typeface="Arial"/>
              <a:ea typeface="Arial"/>
              <a:cs typeface="Arial"/>
              <a:sym typeface="Arial"/>
            </a:endParaRPr>
          </a:p>
        </p:txBody>
      </p:sp>
      <p:sp>
        <p:nvSpPr>
          <p:cNvPr id="2245" name="Google Shape;2245;p33"/>
          <p:cNvSpPr txBox="1"/>
          <p:nvPr/>
        </p:nvSpPr>
        <p:spPr>
          <a:xfrm>
            <a:off x="11095631" y="8150810"/>
            <a:ext cx="4673700" cy="591000"/>
          </a:xfrm>
          <a:prstGeom prst="rect">
            <a:avLst/>
          </a:prstGeom>
          <a:noFill/>
          <a:ln>
            <a:noFill/>
          </a:ln>
        </p:spPr>
        <p:txBody>
          <a:bodyPr spcFirstLastPara="1" wrap="square" lIns="0" tIns="0" rIns="0" bIns="0" anchor="t" anchorCtr="0">
            <a:spAutoFit/>
          </a:bodyPr>
          <a:lstStyle/>
          <a:p>
            <a:pPr marL="0" marR="0" lvl="0" indent="0" algn="just" rtl="0">
              <a:lnSpc>
                <a:spcPct val="11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Provided continuous support and updates, refining features and improving performance based on user feedback and business requirements.</a:t>
            </a:r>
            <a:endParaRPr sz="1200" b="0" i="0" u="none" strike="noStrike" cap="none">
              <a:solidFill>
                <a:srgbClr val="000000"/>
              </a:solidFill>
              <a:latin typeface="Arial"/>
              <a:ea typeface="Arial"/>
              <a:cs typeface="Arial"/>
              <a:sym typeface="Arial"/>
            </a:endParaRPr>
          </a:p>
        </p:txBody>
      </p:sp>
      <p:sp>
        <p:nvSpPr>
          <p:cNvPr id="2246" name="Google Shape;2246;p33"/>
          <p:cNvSpPr txBox="1"/>
          <p:nvPr/>
        </p:nvSpPr>
        <p:spPr>
          <a:xfrm>
            <a:off x="11136888" y="7780956"/>
            <a:ext cx="15780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300"/>
              <a:buFont typeface="Arial"/>
              <a:buNone/>
            </a:pPr>
            <a:r>
              <a:rPr lang="en-US" sz="1300" b="1" i="0" u="none" strike="noStrike" cap="none">
                <a:solidFill>
                  <a:srgbClr val="004AAD"/>
                </a:solidFill>
                <a:latin typeface="Inter"/>
                <a:ea typeface="Inter"/>
                <a:cs typeface="Inter"/>
                <a:sym typeface="Inter"/>
              </a:rPr>
              <a:t>Maintenance</a:t>
            </a:r>
            <a:endParaRPr sz="1200" b="0" i="0" u="none" strike="noStrike" cap="none">
              <a:solidFill>
                <a:srgbClr val="000000"/>
              </a:solidFill>
              <a:latin typeface="Arial"/>
              <a:ea typeface="Arial"/>
              <a:cs typeface="Arial"/>
              <a:sym typeface="Arial"/>
            </a:endParaRPr>
          </a:p>
        </p:txBody>
      </p:sp>
      <p:sp>
        <p:nvSpPr>
          <p:cNvPr id="2247" name="Google Shape;2247;p33"/>
          <p:cNvSpPr/>
          <p:nvPr/>
        </p:nvSpPr>
        <p:spPr>
          <a:xfrm>
            <a:off x="14829500" y="141485"/>
            <a:ext cx="1149883" cy="647819"/>
          </a:xfrm>
          <a:custGeom>
            <a:avLst/>
            <a:gdLst/>
            <a:ahLst/>
            <a:cxnLst/>
            <a:rect l="l" t="t" r="r" b="b"/>
            <a:pathLst>
              <a:path w="1292003" h="727886" extrusionOk="0">
                <a:moveTo>
                  <a:pt x="0" y="0"/>
                </a:moveTo>
                <a:lnTo>
                  <a:pt x="1292003" y="0"/>
                </a:lnTo>
                <a:lnTo>
                  <a:pt x="1292003" y="727886"/>
                </a:lnTo>
                <a:lnTo>
                  <a:pt x="0" y="727886"/>
                </a:lnTo>
                <a:lnTo>
                  <a:pt x="0" y="0"/>
                </a:lnTo>
                <a:close/>
              </a:path>
            </a:pathLst>
          </a:custGeom>
          <a:blipFill rotWithShape="1">
            <a:blip r:embed="rId24" cstate="email">
              <a:alphaModFix amt="46000"/>
              <a:extLst>
                <a:ext uri="{28A0092B-C50C-407E-A947-70E740481C1C}">
                  <a14:useLocalDpi xmlns:a14="http://schemas.microsoft.com/office/drawing/2010/main"/>
                </a:ext>
              </a:extLst>
            </a:blip>
            <a:stretch>
              <a:fillRect/>
            </a:stretch>
          </a:blipFill>
          <a:ln>
            <a:noFill/>
          </a:ln>
        </p:spPr>
      </p:sp>
      <p:grpSp>
        <p:nvGrpSpPr>
          <p:cNvPr id="2248" name="Google Shape;2248;p33"/>
          <p:cNvGrpSpPr/>
          <p:nvPr/>
        </p:nvGrpSpPr>
        <p:grpSpPr>
          <a:xfrm>
            <a:off x="1395688" y="647442"/>
            <a:ext cx="922772" cy="955213"/>
            <a:chOff x="0" y="-28575"/>
            <a:chExt cx="812800" cy="841375"/>
          </a:xfrm>
        </p:grpSpPr>
        <p:sp>
          <p:nvSpPr>
            <p:cNvPr id="2249" name="Google Shape;2249;p3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0" name="Google Shape;2250;p33"/>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2251" name="Google Shape;2251;p33"/>
          <p:cNvSpPr txBox="1"/>
          <p:nvPr/>
        </p:nvSpPr>
        <p:spPr>
          <a:xfrm>
            <a:off x="1583178" y="924950"/>
            <a:ext cx="547800" cy="40005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dirty="0">
                <a:solidFill>
                  <a:schemeClr val="dk2"/>
                </a:solidFill>
                <a:latin typeface="Inter"/>
                <a:ea typeface="Inter"/>
                <a:cs typeface="Inter"/>
                <a:sym typeface="Inter"/>
              </a:rPr>
              <a:t>03</a:t>
            </a:r>
            <a:endParaRPr sz="1800" b="0" i="0" u="none" strike="noStrike" cap="none" dirty="0">
              <a:solidFill>
                <a:schemeClr val="dk2"/>
              </a:solidFill>
              <a:latin typeface="Arial"/>
              <a:ea typeface="Arial"/>
              <a:cs typeface="Arial"/>
              <a:sym typeface="Arial"/>
            </a:endParaRPr>
          </a:p>
        </p:txBody>
      </p:sp>
      <p:sp>
        <p:nvSpPr>
          <p:cNvPr id="2252" name="Google Shape;2252;p33"/>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25" cstate="email">
              <a:alphaModFix/>
              <a:extLst>
                <a:ext uri="{28A0092B-C50C-407E-A947-70E740481C1C}">
                  <a14:useLocalDpi xmlns:a14="http://schemas.microsoft.com/office/drawing/2010/main"/>
                </a:ext>
              </a:extLst>
            </a:blip>
            <a:stretch>
              <a:fillRect b="-5"/>
            </a:stretch>
          </a:blipFill>
          <a:ln>
            <a:noFill/>
          </a:ln>
        </p:spPr>
      </p:sp>
      <p:grpSp>
        <p:nvGrpSpPr>
          <p:cNvPr id="2253" name="Google Shape;2253;p33"/>
          <p:cNvGrpSpPr/>
          <p:nvPr/>
        </p:nvGrpSpPr>
        <p:grpSpPr>
          <a:xfrm>
            <a:off x="872534" y="8351050"/>
            <a:ext cx="846442" cy="699635"/>
            <a:chOff x="0" y="0"/>
            <a:chExt cx="1269600" cy="1049400"/>
          </a:xfrm>
        </p:grpSpPr>
        <p:sp>
          <p:nvSpPr>
            <p:cNvPr id="2254" name="Google Shape;2254;p33"/>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2255" name="Google Shape;2255;p33"/>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b="0" i="0" u="none" strike="noStrike" cap="none" dirty="0">
                  <a:solidFill>
                    <a:schemeClr val="lt1"/>
                  </a:solidFill>
                  <a:latin typeface="Inter"/>
                  <a:ea typeface="Inter"/>
                  <a:cs typeface="Inter"/>
                  <a:sym typeface="Inter"/>
                </a:rPr>
                <a:t>32</a:t>
              </a:r>
              <a:endParaRPr sz="1200" b="0" i="0" u="none" strike="noStrike" cap="none" dirty="0">
                <a:solidFill>
                  <a:schemeClr val="lt1"/>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sp>
        <p:nvSpPr>
          <p:cNvPr id="2260" name="Google Shape;2260;p34"/>
          <p:cNvSpPr/>
          <p:nvPr/>
        </p:nvSpPr>
        <p:spPr>
          <a:xfrm>
            <a:off x="-255905" y="584835"/>
            <a:ext cx="4488815" cy="1087755"/>
          </a:xfrm>
          <a:custGeom>
            <a:avLst/>
            <a:gdLst/>
            <a:ahLst/>
            <a:cxnLst/>
            <a:rect l="l" t="t" r="r" b="b"/>
            <a:pathLst>
              <a:path w="812800" h="197009" extrusionOk="0">
                <a:moveTo>
                  <a:pt x="0" y="0"/>
                </a:moveTo>
                <a:lnTo>
                  <a:pt x="812800" y="0"/>
                </a:lnTo>
                <a:lnTo>
                  <a:pt x="812800" y="197009"/>
                </a:lnTo>
                <a:lnTo>
                  <a:pt x="0" y="197009"/>
                </a:lnTo>
                <a:close/>
              </a:path>
            </a:pathLst>
          </a:custGeom>
          <a:solidFill>
            <a:srgbClr val="003A86"/>
          </a:solidFill>
          <a:ln>
            <a:noFill/>
          </a:ln>
        </p:spPr>
      </p:sp>
      <p:sp>
        <p:nvSpPr>
          <p:cNvPr id="2261" name="Google Shape;2261;p34"/>
          <p:cNvSpPr txBox="1"/>
          <p:nvPr/>
        </p:nvSpPr>
        <p:spPr>
          <a:xfrm>
            <a:off x="4738820" y="691004"/>
            <a:ext cx="11298600" cy="923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 </a:t>
            </a:r>
            <a:r>
              <a:rPr lang="en-US" sz="2500" b="1" i="0" u="none" strike="noStrike" cap="none">
                <a:solidFill>
                  <a:srgbClr val="004AAD"/>
                </a:solidFill>
                <a:latin typeface="Inter"/>
                <a:ea typeface="Inter"/>
                <a:cs typeface="Inter"/>
                <a:sym typeface="Inter"/>
              </a:rPr>
              <a:t>FROM CONCEPT TO REALITY: DEVELOPING MINISTOP APP - REVOLUTIONIZING DX IN CONVENIENT STORES  (2/3)</a:t>
            </a:r>
            <a:endParaRPr sz="1200" b="0" i="0" u="none" strike="noStrike" cap="none">
              <a:solidFill>
                <a:srgbClr val="000000"/>
              </a:solidFill>
              <a:latin typeface="Arial"/>
              <a:ea typeface="Arial"/>
              <a:cs typeface="Arial"/>
              <a:sym typeface="Arial"/>
            </a:endParaRPr>
          </a:p>
        </p:txBody>
      </p:sp>
      <p:grpSp>
        <p:nvGrpSpPr>
          <p:cNvPr id="2262" name="Google Shape;2262;p34"/>
          <p:cNvGrpSpPr/>
          <p:nvPr/>
        </p:nvGrpSpPr>
        <p:grpSpPr>
          <a:xfrm>
            <a:off x="519308" y="2783878"/>
            <a:ext cx="2019504" cy="3994956"/>
            <a:chOff x="0" y="0"/>
            <a:chExt cx="2620010" cy="5182870"/>
          </a:xfrm>
        </p:grpSpPr>
        <p:sp>
          <p:nvSpPr>
            <p:cNvPr id="2263" name="Google Shape;2263;p34"/>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4" name="Google Shape;2264;p34"/>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5" name="Google Shape;2265;p34"/>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6" name="Google Shape;2266;p34"/>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7" name="Google Shape;2267;p34"/>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8" name="Google Shape;2268;p34"/>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9" name="Google Shape;2269;p34"/>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0" name="Google Shape;2270;p34"/>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1" name="Google Shape;2271;p34"/>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72" name="Google Shape;2272;p34"/>
          <p:cNvGrpSpPr/>
          <p:nvPr/>
        </p:nvGrpSpPr>
        <p:grpSpPr>
          <a:xfrm>
            <a:off x="2957250" y="2772157"/>
            <a:ext cx="2031032" cy="4017761"/>
            <a:chOff x="0" y="0"/>
            <a:chExt cx="2620010" cy="5182870"/>
          </a:xfrm>
        </p:grpSpPr>
        <p:sp>
          <p:nvSpPr>
            <p:cNvPr id="2273" name="Google Shape;2273;p34"/>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4" name="Google Shape;2274;p34"/>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5" name="Google Shape;2275;p34"/>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6" name="Google Shape;2276;p34"/>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7" name="Google Shape;2277;p34"/>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8" name="Google Shape;2278;p34"/>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9" name="Google Shape;2279;p34"/>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0" name="Google Shape;2280;p34"/>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1" name="Google Shape;2281;p34"/>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82" name="Google Shape;2282;p34"/>
          <p:cNvGrpSpPr/>
          <p:nvPr/>
        </p:nvGrpSpPr>
        <p:grpSpPr>
          <a:xfrm>
            <a:off x="5325757" y="2772157"/>
            <a:ext cx="2031032" cy="4017761"/>
            <a:chOff x="0" y="0"/>
            <a:chExt cx="2620010" cy="5182870"/>
          </a:xfrm>
        </p:grpSpPr>
        <p:sp>
          <p:nvSpPr>
            <p:cNvPr id="2283" name="Google Shape;2283;p34"/>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4" name="Google Shape;2284;p34"/>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5" name="Google Shape;2285;p34"/>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6" name="Google Shape;2286;p34"/>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7" name="Google Shape;2287;p34"/>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8" name="Google Shape;2288;p34"/>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9" name="Google Shape;2289;p34"/>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0" name="Google Shape;2290;p34"/>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1" name="Google Shape;2291;p34"/>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92" name="Google Shape;2292;p34"/>
          <p:cNvGrpSpPr/>
          <p:nvPr/>
        </p:nvGrpSpPr>
        <p:grpSpPr>
          <a:xfrm>
            <a:off x="7694265" y="2772157"/>
            <a:ext cx="2031032" cy="4017761"/>
            <a:chOff x="0" y="0"/>
            <a:chExt cx="2620010" cy="5182870"/>
          </a:xfrm>
        </p:grpSpPr>
        <p:sp>
          <p:nvSpPr>
            <p:cNvPr id="2293" name="Google Shape;2293;p34"/>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4" name="Google Shape;2294;p34"/>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5" name="Google Shape;2295;p34"/>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6" name="Google Shape;2296;p34"/>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7" name="Google Shape;2297;p34"/>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8" name="Google Shape;2298;p34"/>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9" name="Google Shape;2299;p34"/>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0" name="Google Shape;2300;p34"/>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1" name="Google Shape;2301;p34"/>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302" name="Google Shape;2302;p34"/>
          <p:cNvSpPr/>
          <p:nvPr/>
        </p:nvSpPr>
        <p:spPr>
          <a:xfrm>
            <a:off x="10190957" y="2369072"/>
            <a:ext cx="611498" cy="611498"/>
          </a:xfrm>
          <a:custGeom>
            <a:avLst/>
            <a:gdLst/>
            <a:ahLst/>
            <a:cxnLst/>
            <a:rect l="l" t="t" r="r" b="b"/>
            <a:pathLst>
              <a:path w="687076" h="687076" extrusionOk="0">
                <a:moveTo>
                  <a:pt x="0" y="0"/>
                </a:moveTo>
                <a:lnTo>
                  <a:pt x="687076" y="0"/>
                </a:lnTo>
                <a:lnTo>
                  <a:pt x="687076" y="687075"/>
                </a:lnTo>
                <a:lnTo>
                  <a:pt x="0" y="687075"/>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2303" name="Google Shape;2303;p34"/>
          <p:cNvSpPr/>
          <p:nvPr/>
        </p:nvSpPr>
        <p:spPr>
          <a:xfrm>
            <a:off x="10190957" y="3229185"/>
            <a:ext cx="611498" cy="611498"/>
          </a:xfrm>
          <a:custGeom>
            <a:avLst/>
            <a:gdLst/>
            <a:ahLst/>
            <a:cxnLst/>
            <a:rect l="l" t="t" r="r" b="b"/>
            <a:pathLst>
              <a:path w="687076" h="687076" extrusionOk="0">
                <a:moveTo>
                  <a:pt x="0" y="0"/>
                </a:moveTo>
                <a:lnTo>
                  <a:pt x="687076" y="0"/>
                </a:lnTo>
                <a:lnTo>
                  <a:pt x="687076" y="687075"/>
                </a:lnTo>
                <a:lnTo>
                  <a:pt x="0" y="687075"/>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2304" name="Google Shape;2304;p34"/>
          <p:cNvSpPr/>
          <p:nvPr/>
        </p:nvSpPr>
        <p:spPr>
          <a:xfrm>
            <a:off x="10190957" y="4089298"/>
            <a:ext cx="611498" cy="611498"/>
          </a:xfrm>
          <a:custGeom>
            <a:avLst/>
            <a:gdLst/>
            <a:ahLst/>
            <a:cxnLst/>
            <a:rect l="l" t="t" r="r" b="b"/>
            <a:pathLst>
              <a:path w="687076" h="687076" extrusionOk="0">
                <a:moveTo>
                  <a:pt x="0" y="0"/>
                </a:moveTo>
                <a:lnTo>
                  <a:pt x="687076" y="0"/>
                </a:lnTo>
                <a:lnTo>
                  <a:pt x="687076" y="687075"/>
                </a:lnTo>
                <a:lnTo>
                  <a:pt x="0" y="687075"/>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2305" name="Google Shape;2305;p34"/>
          <p:cNvSpPr/>
          <p:nvPr/>
        </p:nvSpPr>
        <p:spPr>
          <a:xfrm>
            <a:off x="10190957" y="4977486"/>
            <a:ext cx="611498" cy="611498"/>
          </a:xfrm>
          <a:custGeom>
            <a:avLst/>
            <a:gdLst/>
            <a:ahLst/>
            <a:cxnLst/>
            <a:rect l="l" t="t" r="r" b="b"/>
            <a:pathLst>
              <a:path w="687076" h="687076" extrusionOk="0">
                <a:moveTo>
                  <a:pt x="0" y="0"/>
                </a:moveTo>
                <a:lnTo>
                  <a:pt x="687076" y="0"/>
                </a:lnTo>
                <a:lnTo>
                  <a:pt x="687076" y="687076"/>
                </a:lnTo>
                <a:lnTo>
                  <a:pt x="0" y="687076"/>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2306" name="Google Shape;2306;p34"/>
          <p:cNvSpPr/>
          <p:nvPr/>
        </p:nvSpPr>
        <p:spPr>
          <a:xfrm>
            <a:off x="10190957" y="6353890"/>
            <a:ext cx="611498" cy="611498"/>
          </a:xfrm>
          <a:custGeom>
            <a:avLst/>
            <a:gdLst/>
            <a:ahLst/>
            <a:cxnLst/>
            <a:rect l="l" t="t" r="r" b="b"/>
            <a:pathLst>
              <a:path w="687076" h="687076" extrusionOk="0">
                <a:moveTo>
                  <a:pt x="0" y="0"/>
                </a:moveTo>
                <a:lnTo>
                  <a:pt x="687076" y="0"/>
                </a:lnTo>
                <a:lnTo>
                  <a:pt x="687076" y="687075"/>
                </a:lnTo>
                <a:lnTo>
                  <a:pt x="0" y="687075"/>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2307" name="Google Shape;2307;p34"/>
          <p:cNvSpPr/>
          <p:nvPr/>
        </p:nvSpPr>
        <p:spPr>
          <a:xfrm>
            <a:off x="10190957" y="7582690"/>
            <a:ext cx="611498" cy="611498"/>
          </a:xfrm>
          <a:custGeom>
            <a:avLst/>
            <a:gdLst/>
            <a:ahLst/>
            <a:cxnLst/>
            <a:rect l="l" t="t" r="r" b="b"/>
            <a:pathLst>
              <a:path w="687076" h="687076" extrusionOk="0">
                <a:moveTo>
                  <a:pt x="0" y="0"/>
                </a:moveTo>
                <a:lnTo>
                  <a:pt x="687076" y="0"/>
                </a:lnTo>
                <a:lnTo>
                  <a:pt x="687076" y="687076"/>
                </a:lnTo>
                <a:lnTo>
                  <a:pt x="0" y="687076"/>
                </a:lnTo>
                <a:lnTo>
                  <a:pt x="0" y="0"/>
                </a:ln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sp>
      <p:sp>
        <p:nvSpPr>
          <p:cNvPr id="2308" name="Google Shape;2308;p34"/>
          <p:cNvSpPr/>
          <p:nvPr/>
        </p:nvSpPr>
        <p:spPr>
          <a:xfrm>
            <a:off x="10316658" y="2491966"/>
            <a:ext cx="359783" cy="342775"/>
          </a:xfrm>
          <a:custGeom>
            <a:avLst/>
            <a:gdLst/>
            <a:ahLst/>
            <a:cxnLst/>
            <a:rect l="l" t="t" r="r" b="b"/>
            <a:pathLst>
              <a:path w="404251" h="385140" extrusionOk="0">
                <a:moveTo>
                  <a:pt x="0" y="0"/>
                </a:moveTo>
                <a:lnTo>
                  <a:pt x="404250" y="0"/>
                </a:lnTo>
                <a:lnTo>
                  <a:pt x="404250" y="385140"/>
                </a:lnTo>
                <a:lnTo>
                  <a:pt x="0" y="385140"/>
                </a:lnTo>
                <a:lnTo>
                  <a:pt x="0" y="0"/>
                </a:ln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sp>
      <p:sp>
        <p:nvSpPr>
          <p:cNvPr id="2309" name="Google Shape;2309;p34"/>
          <p:cNvSpPr/>
          <p:nvPr/>
        </p:nvSpPr>
        <p:spPr>
          <a:xfrm>
            <a:off x="10308562" y="3346788"/>
            <a:ext cx="375996" cy="375996"/>
          </a:xfrm>
          <a:custGeom>
            <a:avLst/>
            <a:gdLst/>
            <a:ahLst/>
            <a:cxnLst/>
            <a:rect l="l" t="t" r="r" b="b"/>
            <a:pathLst>
              <a:path w="422467" h="422467" extrusionOk="0">
                <a:moveTo>
                  <a:pt x="0" y="0"/>
                </a:moveTo>
                <a:lnTo>
                  <a:pt x="422467" y="0"/>
                </a:lnTo>
                <a:lnTo>
                  <a:pt x="422467" y="422467"/>
                </a:lnTo>
                <a:lnTo>
                  <a:pt x="0" y="422467"/>
                </a:lnTo>
                <a:lnTo>
                  <a:pt x="0" y="0"/>
                </a:ln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sp>
      <p:sp>
        <p:nvSpPr>
          <p:cNvPr id="2310" name="Google Shape;2310;p34"/>
          <p:cNvSpPr/>
          <p:nvPr/>
        </p:nvSpPr>
        <p:spPr>
          <a:xfrm>
            <a:off x="10308562" y="4224695"/>
            <a:ext cx="342221" cy="368475"/>
          </a:xfrm>
          <a:custGeom>
            <a:avLst/>
            <a:gdLst/>
            <a:ahLst/>
            <a:cxnLst/>
            <a:rect l="l" t="t" r="r" b="b"/>
            <a:pathLst>
              <a:path w="384518" h="414017" extrusionOk="0">
                <a:moveTo>
                  <a:pt x="0" y="0"/>
                </a:moveTo>
                <a:lnTo>
                  <a:pt x="384517" y="0"/>
                </a:lnTo>
                <a:lnTo>
                  <a:pt x="384517" y="414017"/>
                </a:lnTo>
                <a:lnTo>
                  <a:pt x="0" y="414017"/>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2311" name="Google Shape;2311;p34"/>
          <p:cNvSpPr/>
          <p:nvPr/>
        </p:nvSpPr>
        <p:spPr>
          <a:xfrm>
            <a:off x="10376351" y="5081031"/>
            <a:ext cx="240247" cy="402851"/>
          </a:xfrm>
          <a:custGeom>
            <a:avLst/>
            <a:gdLst/>
            <a:ahLst/>
            <a:cxnLst/>
            <a:rect l="l" t="t" r="r" b="b"/>
            <a:pathLst>
              <a:path w="269940" h="452642" extrusionOk="0">
                <a:moveTo>
                  <a:pt x="0" y="0"/>
                </a:moveTo>
                <a:lnTo>
                  <a:pt x="269940" y="0"/>
                </a:lnTo>
                <a:lnTo>
                  <a:pt x="269940" y="452643"/>
                </a:lnTo>
                <a:lnTo>
                  <a:pt x="0" y="452643"/>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sp>
        <p:nvSpPr>
          <p:cNvPr id="2312" name="Google Shape;2312;p34"/>
          <p:cNvSpPr/>
          <p:nvPr/>
        </p:nvSpPr>
        <p:spPr>
          <a:xfrm>
            <a:off x="10333457" y="6483941"/>
            <a:ext cx="351069" cy="351069"/>
          </a:xfrm>
          <a:custGeom>
            <a:avLst/>
            <a:gdLst/>
            <a:ahLst/>
            <a:cxnLst/>
            <a:rect l="l" t="t" r="r" b="b"/>
            <a:pathLst>
              <a:path w="394460" h="394460" extrusionOk="0">
                <a:moveTo>
                  <a:pt x="0" y="0"/>
                </a:moveTo>
                <a:lnTo>
                  <a:pt x="394460" y="0"/>
                </a:lnTo>
                <a:lnTo>
                  <a:pt x="394460" y="394460"/>
                </a:lnTo>
                <a:lnTo>
                  <a:pt x="0" y="394460"/>
                </a:lnTo>
                <a:lnTo>
                  <a:pt x="0" y="0"/>
                </a:lnTo>
                <a:close/>
              </a:path>
            </a:pathLst>
          </a:custGeom>
          <a:blipFill rotWithShape="1">
            <a:blip r:embed="rId12">
              <a:alphaModFix/>
            </a:blip>
            <a:stretch>
              <a:fillRect/>
            </a:stretch>
          </a:blipFill>
          <a:ln>
            <a:noFill/>
          </a:ln>
        </p:spPr>
      </p:sp>
      <p:sp>
        <p:nvSpPr>
          <p:cNvPr id="2313" name="Google Shape;2313;p34"/>
          <p:cNvSpPr/>
          <p:nvPr/>
        </p:nvSpPr>
        <p:spPr>
          <a:xfrm>
            <a:off x="10302293" y="7714027"/>
            <a:ext cx="348496" cy="348496"/>
          </a:xfrm>
          <a:custGeom>
            <a:avLst/>
            <a:gdLst/>
            <a:ahLst/>
            <a:cxnLst/>
            <a:rect l="l" t="t" r="r" b="b"/>
            <a:pathLst>
              <a:path w="391569" h="391569" extrusionOk="0">
                <a:moveTo>
                  <a:pt x="0" y="0"/>
                </a:moveTo>
                <a:lnTo>
                  <a:pt x="391569" y="0"/>
                </a:lnTo>
                <a:lnTo>
                  <a:pt x="391569" y="391569"/>
                </a:lnTo>
                <a:lnTo>
                  <a:pt x="0" y="391569"/>
                </a:lnTo>
                <a:lnTo>
                  <a:pt x="0" y="0"/>
                </a:lnTo>
                <a:close/>
              </a:path>
            </a:pathLst>
          </a:custGeom>
          <a:blipFill rotWithShape="1">
            <a:blip r:embed="rId13">
              <a:alphaModFix/>
            </a:blip>
            <a:stretch>
              <a:fillRect/>
            </a:stretch>
          </a:blipFill>
          <a:ln>
            <a:noFill/>
          </a:ln>
        </p:spPr>
      </p:sp>
      <p:sp>
        <p:nvSpPr>
          <p:cNvPr id="2314" name="Google Shape;2314;p34"/>
          <p:cNvSpPr txBox="1"/>
          <p:nvPr/>
        </p:nvSpPr>
        <p:spPr>
          <a:xfrm>
            <a:off x="519308" y="775018"/>
            <a:ext cx="3206100" cy="70739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300"/>
              <a:buFont typeface="Arial"/>
              <a:buNone/>
            </a:pPr>
            <a:r>
              <a:rPr lang="en-US" sz="2300" b="1" i="0" u="none" strike="noStrike" cap="none">
                <a:solidFill>
                  <a:srgbClr val="FFFFFF"/>
                </a:solidFill>
                <a:latin typeface="Inter"/>
                <a:ea typeface="Inter"/>
                <a:cs typeface="Inter"/>
                <a:sym typeface="Inter"/>
              </a:rPr>
              <a:t>MINISTOP APP highlight features</a:t>
            </a:r>
            <a:endParaRPr sz="1200" b="0" i="0" u="none" strike="noStrike" cap="none">
              <a:solidFill>
                <a:srgbClr val="000000"/>
              </a:solidFill>
              <a:latin typeface="Arial"/>
              <a:ea typeface="Arial"/>
              <a:cs typeface="Arial"/>
              <a:sym typeface="Arial"/>
            </a:endParaRPr>
          </a:p>
        </p:txBody>
      </p:sp>
      <p:sp>
        <p:nvSpPr>
          <p:cNvPr id="2315" name="Google Shape;2315;p34"/>
          <p:cNvSpPr txBox="1"/>
          <p:nvPr/>
        </p:nvSpPr>
        <p:spPr>
          <a:xfrm>
            <a:off x="519308" y="7021774"/>
            <a:ext cx="2019600" cy="20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1" i="0" u="none" strike="noStrike" cap="none">
                <a:solidFill>
                  <a:srgbClr val="00234F"/>
                </a:solidFill>
                <a:latin typeface="Inter"/>
                <a:ea typeface="Inter"/>
                <a:cs typeface="Inter"/>
                <a:sym typeface="Inter"/>
              </a:rPr>
              <a:t>Home Screen</a:t>
            </a:r>
            <a:endParaRPr sz="1200" b="0" i="0" u="none" strike="noStrike" cap="none">
              <a:solidFill>
                <a:srgbClr val="000000"/>
              </a:solidFill>
              <a:latin typeface="Arial"/>
              <a:ea typeface="Arial"/>
              <a:cs typeface="Arial"/>
              <a:sym typeface="Arial"/>
            </a:endParaRPr>
          </a:p>
        </p:txBody>
      </p:sp>
      <p:sp>
        <p:nvSpPr>
          <p:cNvPr id="2316" name="Google Shape;2316;p34"/>
          <p:cNvSpPr txBox="1"/>
          <p:nvPr/>
        </p:nvSpPr>
        <p:spPr>
          <a:xfrm>
            <a:off x="2957250" y="7034512"/>
            <a:ext cx="2031000" cy="44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1" i="0" u="none" strike="noStrike" cap="none">
                <a:solidFill>
                  <a:srgbClr val="00234F"/>
                </a:solidFill>
                <a:latin typeface="Inter"/>
                <a:ea typeface="Inter"/>
                <a:cs typeface="Inter"/>
                <a:sym typeface="Inter"/>
              </a:rPr>
              <a:t>Loyalty Program - WAON Point System Integration</a:t>
            </a:r>
            <a:endParaRPr sz="1200" b="0" i="0" u="none" strike="noStrike" cap="none">
              <a:solidFill>
                <a:srgbClr val="000000"/>
              </a:solidFill>
              <a:latin typeface="Arial"/>
              <a:ea typeface="Arial"/>
              <a:cs typeface="Arial"/>
              <a:sym typeface="Arial"/>
            </a:endParaRPr>
          </a:p>
        </p:txBody>
      </p:sp>
      <p:sp>
        <p:nvSpPr>
          <p:cNvPr id="2317" name="Google Shape;2317;p34"/>
          <p:cNvSpPr txBox="1"/>
          <p:nvPr/>
        </p:nvSpPr>
        <p:spPr>
          <a:xfrm>
            <a:off x="7772900" y="7034512"/>
            <a:ext cx="1873800" cy="6804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1" i="0" u="none" strike="noStrike" cap="none">
                <a:solidFill>
                  <a:srgbClr val="00234F"/>
                </a:solidFill>
                <a:latin typeface="Inter"/>
                <a:ea typeface="Inter"/>
                <a:cs typeface="Inter"/>
                <a:sym typeface="Inter"/>
              </a:rPr>
              <a:t>Event Management</a:t>
            </a:r>
            <a:endParaRPr sz="1200" b="0" i="0" u="none" strike="noStrike" cap="none">
              <a:solidFill>
                <a:srgbClr val="000000"/>
              </a:solidFill>
              <a:latin typeface="Arial"/>
              <a:ea typeface="Arial"/>
              <a:cs typeface="Arial"/>
              <a:sym typeface="Arial"/>
            </a:endParaRPr>
          </a:p>
          <a:p>
            <a:pPr marL="0" marR="0" lvl="0" indent="0" algn="ctr" rtl="0">
              <a:lnSpc>
                <a:spcPct val="120000"/>
              </a:lnSpc>
              <a:spcBef>
                <a:spcPts val="0"/>
              </a:spcBef>
              <a:spcAft>
                <a:spcPts val="0"/>
              </a:spcAft>
              <a:buClr>
                <a:srgbClr val="000000"/>
              </a:buClr>
              <a:buSzPts val="1300"/>
              <a:buFont typeface="Arial"/>
              <a:buNone/>
            </a:pPr>
            <a:r>
              <a:rPr lang="en-US" sz="1300" b="1" i="0" u="none" strike="noStrike" cap="none">
                <a:solidFill>
                  <a:srgbClr val="00234F"/>
                </a:solidFill>
                <a:latin typeface="Inter"/>
                <a:ea typeface="Inter"/>
                <a:cs typeface="Inter"/>
                <a:sym typeface="Inter"/>
              </a:rPr>
              <a:t>Display Event Listing &amp; Tracking Feature</a:t>
            </a:r>
            <a:endParaRPr sz="1200" b="0" i="0" u="none" strike="noStrike" cap="none">
              <a:solidFill>
                <a:srgbClr val="000000"/>
              </a:solidFill>
              <a:latin typeface="Arial"/>
              <a:ea typeface="Arial"/>
              <a:cs typeface="Arial"/>
              <a:sym typeface="Arial"/>
            </a:endParaRPr>
          </a:p>
        </p:txBody>
      </p:sp>
      <p:sp>
        <p:nvSpPr>
          <p:cNvPr id="2318" name="Google Shape;2318;p34"/>
          <p:cNvSpPr txBox="1"/>
          <p:nvPr/>
        </p:nvSpPr>
        <p:spPr>
          <a:xfrm>
            <a:off x="5374148" y="7034512"/>
            <a:ext cx="1934100" cy="6804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300"/>
              <a:buFont typeface="Arial"/>
              <a:buNone/>
            </a:pPr>
            <a:r>
              <a:rPr lang="en-US" sz="1300" b="1" i="0" u="none" strike="noStrike" cap="none">
                <a:solidFill>
                  <a:srgbClr val="00234F"/>
                </a:solidFill>
                <a:latin typeface="Inter"/>
                <a:ea typeface="Inter"/>
                <a:cs typeface="Inter"/>
                <a:sym typeface="Inter"/>
              </a:rPr>
              <a:t>Coupon Management</a:t>
            </a:r>
            <a:endParaRPr sz="1200" b="0" i="0" u="none" strike="noStrike" cap="none">
              <a:solidFill>
                <a:srgbClr val="000000"/>
              </a:solidFill>
              <a:latin typeface="Arial"/>
              <a:ea typeface="Arial"/>
              <a:cs typeface="Arial"/>
              <a:sym typeface="Arial"/>
            </a:endParaRPr>
          </a:p>
          <a:p>
            <a:pPr marL="0" marR="0" lvl="0" indent="0" algn="ctr" rtl="0">
              <a:lnSpc>
                <a:spcPct val="120000"/>
              </a:lnSpc>
              <a:spcBef>
                <a:spcPts val="0"/>
              </a:spcBef>
              <a:spcAft>
                <a:spcPts val="0"/>
              </a:spcAft>
              <a:buClr>
                <a:srgbClr val="000000"/>
              </a:buClr>
              <a:buSzPts val="1300"/>
              <a:buFont typeface="Arial"/>
              <a:buNone/>
            </a:pPr>
            <a:r>
              <a:rPr lang="en-US" sz="1300" b="1" i="0" u="none" strike="noStrike" cap="none">
                <a:solidFill>
                  <a:srgbClr val="00234F"/>
                </a:solidFill>
                <a:latin typeface="Inter"/>
                <a:ea typeface="Inter"/>
                <a:cs typeface="Inter"/>
                <a:sym typeface="Inter"/>
              </a:rPr>
              <a:t>Available Coupon Listing Feature</a:t>
            </a:r>
            <a:endParaRPr sz="1200" b="0" i="0" u="none" strike="noStrike" cap="none">
              <a:solidFill>
                <a:srgbClr val="000000"/>
              </a:solidFill>
              <a:latin typeface="Arial"/>
              <a:ea typeface="Arial"/>
              <a:cs typeface="Arial"/>
              <a:sym typeface="Arial"/>
            </a:endParaRPr>
          </a:p>
        </p:txBody>
      </p:sp>
      <p:sp>
        <p:nvSpPr>
          <p:cNvPr id="2319" name="Google Shape;2319;p34"/>
          <p:cNvSpPr txBox="1"/>
          <p:nvPr/>
        </p:nvSpPr>
        <p:spPr>
          <a:xfrm>
            <a:off x="1620182" y="2105220"/>
            <a:ext cx="7661700" cy="277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800"/>
              <a:buFont typeface="Arial"/>
              <a:buNone/>
            </a:pPr>
            <a:r>
              <a:rPr lang="en-US" sz="1800" b="1" i="0" u="none" strike="noStrike" cap="none">
                <a:solidFill>
                  <a:srgbClr val="00234F"/>
                </a:solidFill>
                <a:latin typeface="Inter"/>
                <a:ea typeface="Inter"/>
                <a:cs typeface="Inter"/>
                <a:sym typeface="Inter"/>
              </a:rPr>
              <a:t>MINISTOP APP’s Key Feature Demonstration</a:t>
            </a:r>
            <a:endParaRPr sz="1200" b="0" i="0" u="none" strike="noStrike" cap="none">
              <a:solidFill>
                <a:srgbClr val="000000"/>
              </a:solidFill>
              <a:latin typeface="Arial"/>
              <a:ea typeface="Arial"/>
              <a:cs typeface="Arial"/>
              <a:sym typeface="Arial"/>
            </a:endParaRPr>
          </a:p>
        </p:txBody>
      </p:sp>
      <p:sp>
        <p:nvSpPr>
          <p:cNvPr id="2320" name="Google Shape;2320;p34"/>
          <p:cNvSpPr txBox="1"/>
          <p:nvPr/>
        </p:nvSpPr>
        <p:spPr>
          <a:xfrm>
            <a:off x="10932524" y="2387691"/>
            <a:ext cx="5624400" cy="246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0041AA"/>
                </a:solidFill>
                <a:latin typeface="Inter"/>
                <a:ea typeface="Inter"/>
                <a:cs typeface="Inter"/>
                <a:sym typeface="Inter"/>
              </a:rPr>
              <a:t>Coupon Management</a:t>
            </a:r>
            <a:endParaRPr sz="1200" b="0" i="0" u="none" strike="noStrike" cap="none">
              <a:solidFill>
                <a:srgbClr val="000000"/>
              </a:solidFill>
              <a:latin typeface="Arial"/>
              <a:ea typeface="Arial"/>
              <a:cs typeface="Arial"/>
              <a:sym typeface="Arial"/>
            </a:endParaRPr>
          </a:p>
        </p:txBody>
      </p:sp>
      <p:sp>
        <p:nvSpPr>
          <p:cNvPr id="2321" name="Google Shape;2321;p34"/>
          <p:cNvSpPr txBox="1"/>
          <p:nvPr/>
        </p:nvSpPr>
        <p:spPr>
          <a:xfrm>
            <a:off x="10932524" y="2733720"/>
            <a:ext cx="4290000" cy="397200"/>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Distributing targeted coupons to specific user groups.</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p:txBody>
      </p:sp>
      <p:sp>
        <p:nvSpPr>
          <p:cNvPr id="2322" name="Google Shape;2322;p34"/>
          <p:cNvSpPr txBox="1"/>
          <p:nvPr/>
        </p:nvSpPr>
        <p:spPr>
          <a:xfrm>
            <a:off x="10932524" y="3247804"/>
            <a:ext cx="5624400" cy="246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0041AA"/>
                </a:solidFill>
                <a:latin typeface="Inter"/>
                <a:ea typeface="Inter"/>
                <a:cs typeface="Inter"/>
                <a:sym typeface="Inter"/>
              </a:rPr>
              <a:t>Event Management</a:t>
            </a:r>
            <a:endParaRPr sz="1200" b="0" i="0" u="none" strike="noStrike" cap="none">
              <a:solidFill>
                <a:srgbClr val="000000"/>
              </a:solidFill>
              <a:latin typeface="Arial"/>
              <a:ea typeface="Arial"/>
              <a:cs typeface="Arial"/>
              <a:sym typeface="Arial"/>
            </a:endParaRPr>
          </a:p>
        </p:txBody>
      </p:sp>
      <p:sp>
        <p:nvSpPr>
          <p:cNvPr id="2323" name="Google Shape;2323;p34"/>
          <p:cNvSpPr txBox="1"/>
          <p:nvPr/>
        </p:nvSpPr>
        <p:spPr>
          <a:xfrm>
            <a:off x="10932524" y="3593833"/>
            <a:ext cx="4290000" cy="397200"/>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Displaying events and tracking event progress.</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p:txBody>
      </p:sp>
      <p:sp>
        <p:nvSpPr>
          <p:cNvPr id="2324" name="Google Shape;2324;p34"/>
          <p:cNvSpPr txBox="1"/>
          <p:nvPr/>
        </p:nvSpPr>
        <p:spPr>
          <a:xfrm>
            <a:off x="10932524" y="4107916"/>
            <a:ext cx="5624400" cy="246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0041AA"/>
                </a:solidFill>
                <a:latin typeface="Inter"/>
                <a:ea typeface="Inter"/>
                <a:cs typeface="Inter"/>
                <a:sym typeface="Inter"/>
              </a:rPr>
              <a:t>Integration with WAON Point System</a:t>
            </a:r>
            <a:endParaRPr sz="1200" b="0" i="0" u="none" strike="noStrike" cap="none">
              <a:solidFill>
                <a:srgbClr val="000000"/>
              </a:solidFill>
              <a:latin typeface="Arial"/>
              <a:ea typeface="Arial"/>
              <a:cs typeface="Arial"/>
              <a:sym typeface="Arial"/>
            </a:endParaRPr>
          </a:p>
        </p:txBody>
      </p:sp>
      <p:sp>
        <p:nvSpPr>
          <p:cNvPr id="2325" name="Google Shape;2325;p34"/>
          <p:cNvSpPr txBox="1"/>
          <p:nvPr/>
        </p:nvSpPr>
        <p:spPr>
          <a:xfrm>
            <a:off x="10932524" y="4453947"/>
            <a:ext cx="4290000" cy="397200"/>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 Enabling users to accumulate and redeem points.</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p:txBody>
      </p:sp>
      <p:sp>
        <p:nvSpPr>
          <p:cNvPr id="2326" name="Google Shape;2326;p34"/>
          <p:cNvSpPr txBox="1"/>
          <p:nvPr/>
        </p:nvSpPr>
        <p:spPr>
          <a:xfrm>
            <a:off x="10932524" y="4998953"/>
            <a:ext cx="5624400" cy="246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0041AA"/>
                </a:solidFill>
                <a:latin typeface="Inter"/>
                <a:ea typeface="Inter"/>
                <a:cs typeface="Inter"/>
                <a:sym typeface="Inter"/>
              </a:rPr>
              <a:t>Mobile Order &amp; Payment</a:t>
            </a:r>
            <a:endParaRPr sz="1200" b="0" i="0" u="none" strike="noStrike" cap="none">
              <a:solidFill>
                <a:srgbClr val="000000"/>
              </a:solidFill>
              <a:latin typeface="Arial"/>
              <a:ea typeface="Arial"/>
              <a:cs typeface="Arial"/>
              <a:sym typeface="Arial"/>
            </a:endParaRPr>
          </a:p>
        </p:txBody>
      </p:sp>
      <p:sp>
        <p:nvSpPr>
          <p:cNvPr id="2327" name="Google Shape;2327;p34"/>
          <p:cNvSpPr txBox="1"/>
          <p:nvPr/>
        </p:nvSpPr>
        <p:spPr>
          <a:xfrm>
            <a:off x="10932524" y="5342135"/>
            <a:ext cx="4290000" cy="1034400"/>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Supporting multiple payment methods, including PayPay, AuPay, DPay, credit cards, Rakuten Pay, and AEON Pay. Users could pre-order and pay through the app before picking up their items in-store.</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p:txBody>
      </p:sp>
      <p:sp>
        <p:nvSpPr>
          <p:cNvPr id="2328" name="Google Shape;2328;p34"/>
          <p:cNvSpPr txBox="1"/>
          <p:nvPr/>
        </p:nvSpPr>
        <p:spPr>
          <a:xfrm>
            <a:off x="10932524" y="6372508"/>
            <a:ext cx="4663500" cy="529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0041AA"/>
                </a:solidFill>
                <a:latin typeface="Inter"/>
                <a:ea typeface="Inter"/>
                <a:cs typeface="Inter"/>
                <a:sym typeface="Inter"/>
              </a:rPr>
              <a:t>Cross-Platform Support - Ensuring Seamless User Experience</a:t>
            </a:r>
            <a:endParaRPr sz="1200" b="0" i="0" u="none" strike="noStrike" cap="none">
              <a:solidFill>
                <a:srgbClr val="000000"/>
              </a:solidFill>
              <a:latin typeface="Arial"/>
              <a:ea typeface="Arial"/>
              <a:cs typeface="Arial"/>
              <a:sym typeface="Arial"/>
            </a:endParaRPr>
          </a:p>
        </p:txBody>
      </p:sp>
      <p:sp>
        <p:nvSpPr>
          <p:cNvPr id="2329" name="Google Shape;2329;p34"/>
          <p:cNvSpPr txBox="1"/>
          <p:nvPr/>
        </p:nvSpPr>
        <p:spPr>
          <a:xfrm>
            <a:off x="10932524" y="6997913"/>
            <a:ext cx="4290000" cy="609600"/>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The app was developed to be fully compatible with both iOS and Android devices.</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p:txBody>
      </p:sp>
      <p:sp>
        <p:nvSpPr>
          <p:cNvPr id="2330" name="Google Shape;2330;p34"/>
          <p:cNvSpPr txBox="1"/>
          <p:nvPr/>
        </p:nvSpPr>
        <p:spPr>
          <a:xfrm>
            <a:off x="10932524" y="7601309"/>
            <a:ext cx="5624400" cy="246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1" i="0" u="none" strike="noStrike" cap="none">
                <a:solidFill>
                  <a:srgbClr val="0041AA"/>
                </a:solidFill>
                <a:latin typeface="Inter"/>
                <a:ea typeface="Inter"/>
                <a:cs typeface="Inter"/>
                <a:sym typeface="Inter"/>
              </a:rPr>
              <a:t>Scalability</a:t>
            </a:r>
            <a:endParaRPr sz="1200" b="0" i="0" u="none" strike="noStrike" cap="none">
              <a:solidFill>
                <a:srgbClr val="000000"/>
              </a:solidFill>
              <a:latin typeface="Arial"/>
              <a:ea typeface="Arial"/>
              <a:cs typeface="Arial"/>
              <a:sym typeface="Arial"/>
            </a:endParaRPr>
          </a:p>
        </p:txBody>
      </p:sp>
      <p:sp>
        <p:nvSpPr>
          <p:cNvPr id="2331" name="Google Shape;2331;p34"/>
          <p:cNvSpPr txBox="1"/>
          <p:nvPr/>
        </p:nvSpPr>
        <p:spPr>
          <a:xfrm>
            <a:off x="10932524" y="7952338"/>
            <a:ext cx="4290000" cy="609600"/>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The server infrastructure was designed to handle a large number of concurrent users efficiently.</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p:txBody>
      </p:sp>
      <p:sp>
        <p:nvSpPr>
          <p:cNvPr id="2332" name="Google Shape;2332;p34"/>
          <p:cNvSpPr/>
          <p:nvPr/>
        </p:nvSpPr>
        <p:spPr>
          <a:xfrm>
            <a:off x="14829500" y="141485"/>
            <a:ext cx="1149883" cy="647819"/>
          </a:xfrm>
          <a:custGeom>
            <a:avLst/>
            <a:gdLst/>
            <a:ahLst/>
            <a:cxnLst/>
            <a:rect l="l" t="t" r="r" b="b"/>
            <a:pathLst>
              <a:path w="1292003" h="727886" extrusionOk="0">
                <a:moveTo>
                  <a:pt x="0" y="0"/>
                </a:moveTo>
                <a:lnTo>
                  <a:pt x="1292003" y="0"/>
                </a:lnTo>
                <a:lnTo>
                  <a:pt x="1292003" y="727886"/>
                </a:lnTo>
                <a:lnTo>
                  <a:pt x="0" y="727886"/>
                </a:lnTo>
                <a:lnTo>
                  <a:pt x="0" y="0"/>
                </a:lnTo>
                <a:close/>
              </a:path>
            </a:pathLst>
          </a:custGeom>
          <a:blipFill rotWithShape="1">
            <a:blip r:embed="rId14" cstate="email">
              <a:alphaModFix amt="46000"/>
              <a:extLst>
                <a:ext uri="{28A0092B-C50C-407E-A947-70E740481C1C}">
                  <a14:useLocalDpi xmlns:a14="http://schemas.microsoft.com/office/drawing/2010/main"/>
                </a:ext>
              </a:extLst>
            </a:blip>
            <a:stretch>
              <a:fillRect/>
            </a:stretch>
          </a:blipFill>
          <a:ln>
            <a:noFill/>
          </a:ln>
        </p:spPr>
      </p:sp>
      <p:sp>
        <p:nvSpPr>
          <p:cNvPr id="2333" name="Google Shape;2333;p34"/>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5" cstate="email">
              <a:alphaModFix/>
              <a:extLst>
                <a:ext uri="{28A0092B-C50C-407E-A947-70E740481C1C}">
                  <a14:useLocalDpi xmlns:a14="http://schemas.microsoft.com/office/drawing/2010/main"/>
                </a:ext>
              </a:extLst>
            </a:blip>
            <a:stretch>
              <a:fillRect b="-5"/>
            </a:stretch>
          </a:blipFill>
          <a:ln>
            <a:noFill/>
          </a:ln>
        </p:spPr>
      </p:sp>
      <p:grpSp>
        <p:nvGrpSpPr>
          <p:cNvPr id="2334" name="Google Shape;2334;p34"/>
          <p:cNvGrpSpPr/>
          <p:nvPr/>
        </p:nvGrpSpPr>
        <p:grpSpPr>
          <a:xfrm>
            <a:off x="872534" y="8351050"/>
            <a:ext cx="846442" cy="699635"/>
            <a:chOff x="0" y="0"/>
            <a:chExt cx="1269600" cy="1049400"/>
          </a:xfrm>
        </p:grpSpPr>
        <p:sp>
          <p:nvSpPr>
            <p:cNvPr id="2335" name="Google Shape;2335;p34"/>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2336" name="Google Shape;2336;p34"/>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b="0" i="0" u="none" strike="noStrike" cap="none" dirty="0">
                  <a:solidFill>
                    <a:srgbClr val="585858"/>
                  </a:solidFill>
                  <a:latin typeface="Inter"/>
                  <a:ea typeface="Inter"/>
                  <a:cs typeface="Inter"/>
                  <a:sym typeface="Inter"/>
                </a:rPr>
                <a:t>33</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40"/>
        <p:cNvGrpSpPr/>
        <p:nvPr/>
      </p:nvGrpSpPr>
      <p:grpSpPr>
        <a:xfrm>
          <a:off x="0" y="0"/>
          <a:ext cx="0" cy="0"/>
          <a:chOff x="0" y="0"/>
          <a:chExt cx="0" cy="0"/>
        </a:xfrm>
      </p:grpSpPr>
      <p:sp>
        <p:nvSpPr>
          <p:cNvPr id="2341" name="Google Shape;2341;p35"/>
          <p:cNvSpPr txBox="1"/>
          <p:nvPr/>
        </p:nvSpPr>
        <p:spPr>
          <a:xfrm>
            <a:off x="10578719" y="2318091"/>
            <a:ext cx="5186100" cy="2502900"/>
          </a:xfrm>
          <a:prstGeom prst="rect">
            <a:avLst/>
          </a:prstGeom>
          <a:noFill/>
          <a:ln>
            <a:noFill/>
          </a:ln>
        </p:spPr>
        <p:txBody>
          <a:bodyPr spcFirstLastPara="1" wrap="square" lIns="0" tIns="0" rIns="0" bIns="0" anchor="t" anchorCtr="0">
            <a:spAutoFit/>
          </a:bodyPr>
          <a:lstStyle/>
          <a:p>
            <a:pPr marL="266700" marR="0" lvl="1" indent="-127000" algn="l" rtl="0">
              <a:lnSpc>
                <a:spcPct val="115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Architecture:</a:t>
            </a:r>
            <a:r>
              <a:rPr lang="en-US" sz="1200" b="0" i="0" u="none" strike="noStrike" cap="none">
                <a:solidFill>
                  <a:srgbClr val="3A3A3A"/>
                </a:solidFill>
                <a:latin typeface="Inter"/>
                <a:ea typeface="Inter"/>
                <a:cs typeface="Inter"/>
                <a:sym typeface="Inter"/>
              </a:rPr>
              <a:t> Microservices-based architecture.</a:t>
            </a:r>
            <a:endParaRPr sz="1200" b="0" i="0" u="none" strike="noStrike" cap="none">
              <a:solidFill>
                <a:srgbClr val="000000"/>
              </a:solidFill>
              <a:latin typeface="Arial"/>
              <a:ea typeface="Arial"/>
              <a:cs typeface="Arial"/>
              <a:sym typeface="Arial"/>
            </a:endParaRPr>
          </a:p>
          <a:p>
            <a:pPr marL="266700" marR="0" lvl="1" indent="-127000" algn="l" rtl="0">
              <a:lnSpc>
                <a:spcPct val="115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Programming Languages:</a:t>
            </a:r>
            <a:endParaRPr sz="1200" b="0" i="0" u="none" strike="noStrike" cap="none">
              <a:solidFill>
                <a:srgbClr val="000000"/>
              </a:solidFill>
              <a:latin typeface="Arial"/>
              <a:ea typeface="Arial"/>
              <a:cs typeface="Arial"/>
              <a:sym typeface="Arial"/>
            </a:endParaRPr>
          </a:p>
          <a:p>
            <a:pPr marL="533400" marR="0" lvl="2" indent="-177800" algn="l" rtl="0">
              <a:lnSpc>
                <a:spcPct val="150000"/>
              </a:lnSpc>
              <a:spcBef>
                <a:spcPts val="0"/>
              </a:spcBef>
              <a:spcAft>
                <a:spcPts val="0"/>
              </a:spcAft>
              <a:buClr>
                <a:srgbClr val="3A3A3A"/>
              </a:buClr>
              <a:buSzPts val="1200"/>
              <a:buFont typeface="Arial"/>
              <a:buChar char="⚬"/>
            </a:pPr>
            <a:r>
              <a:rPr lang="en-US" sz="1200" b="0" i="0" u="none" strike="noStrike" cap="none">
                <a:solidFill>
                  <a:srgbClr val="3A3A3A"/>
                </a:solidFill>
                <a:latin typeface="Inter"/>
                <a:ea typeface="Inter"/>
                <a:cs typeface="Inter"/>
                <a:sym typeface="Inter"/>
              </a:rPr>
              <a:t>Backend: </a:t>
            </a:r>
            <a:endParaRPr sz="1200" b="0" i="0" u="none" strike="noStrike" cap="none">
              <a:solidFill>
                <a:srgbClr val="000000"/>
              </a:solidFill>
              <a:latin typeface="Arial"/>
              <a:ea typeface="Arial"/>
              <a:cs typeface="Arial"/>
              <a:sym typeface="Arial"/>
            </a:endParaRPr>
          </a:p>
          <a:p>
            <a:pPr marL="533400" marR="0" lvl="2" indent="-177800" algn="l" rtl="0">
              <a:lnSpc>
                <a:spcPct val="150000"/>
              </a:lnSpc>
              <a:spcBef>
                <a:spcPts val="0"/>
              </a:spcBef>
              <a:spcAft>
                <a:spcPts val="0"/>
              </a:spcAft>
              <a:buClr>
                <a:srgbClr val="3A3A3A"/>
              </a:buClr>
              <a:buSzPts val="1200"/>
              <a:buFont typeface="Arial"/>
              <a:buChar char="⚬"/>
            </a:pPr>
            <a:r>
              <a:rPr lang="en-US" sz="1200" b="0" i="0" u="none" strike="noStrike" cap="none">
                <a:solidFill>
                  <a:srgbClr val="3A3A3A"/>
                </a:solidFill>
                <a:latin typeface="Inter"/>
                <a:ea typeface="Inter"/>
                <a:cs typeface="Inter"/>
                <a:sym typeface="Inter"/>
              </a:rPr>
              <a:t>iOS: </a:t>
            </a:r>
            <a:endParaRPr sz="1200" b="0" i="0" u="none" strike="noStrike" cap="none">
              <a:solidFill>
                <a:srgbClr val="000000"/>
              </a:solidFill>
              <a:latin typeface="Arial"/>
              <a:ea typeface="Arial"/>
              <a:cs typeface="Arial"/>
              <a:sym typeface="Arial"/>
            </a:endParaRPr>
          </a:p>
          <a:p>
            <a:pPr marL="533400" marR="0" lvl="2" indent="-177800" algn="l" rtl="0">
              <a:lnSpc>
                <a:spcPct val="150000"/>
              </a:lnSpc>
              <a:spcBef>
                <a:spcPts val="0"/>
              </a:spcBef>
              <a:spcAft>
                <a:spcPts val="0"/>
              </a:spcAft>
              <a:buClr>
                <a:srgbClr val="3A3A3A"/>
              </a:buClr>
              <a:buSzPts val="1200"/>
              <a:buFont typeface="Arial"/>
              <a:buChar char="⚬"/>
            </a:pPr>
            <a:r>
              <a:rPr lang="en-US" sz="1200" b="0" i="0" u="none" strike="noStrike" cap="none">
                <a:solidFill>
                  <a:srgbClr val="3A3A3A"/>
                </a:solidFill>
                <a:latin typeface="Inter"/>
                <a:ea typeface="Inter"/>
                <a:cs typeface="Inter"/>
                <a:sym typeface="Inter"/>
              </a:rPr>
              <a:t>Android: </a:t>
            </a:r>
            <a:endParaRPr sz="1200" b="0" i="0" u="none" strike="noStrike" cap="none">
              <a:solidFill>
                <a:srgbClr val="000000"/>
              </a:solidFill>
              <a:latin typeface="Arial"/>
              <a:ea typeface="Arial"/>
              <a:cs typeface="Arial"/>
              <a:sym typeface="Arial"/>
            </a:endParaRPr>
          </a:p>
          <a:p>
            <a:pPr marL="812800" marR="0" lvl="0" indent="0" algn="l" rtl="0">
              <a:lnSpc>
                <a:spcPct val="115000"/>
              </a:lnSpc>
              <a:spcBef>
                <a:spcPts val="0"/>
              </a:spcBef>
              <a:spcAft>
                <a:spcPts val="0"/>
              </a:spcAft>
              <a:buClr>
                <a:srgbClr val="000000"/>
              </a:buClr>
              <a:buSzPts val="1200"/>
              <a:buFont typeface="Arial"/>
              <a:buNone/>
            </a:pPr>
            <a:endParaRPr sz="1200" b="1" i="0" u="none" strike="noStrike" cap="none">
              <a:solidFill>
                <a:srgbClr val="3A3A3A"/>
              </a:solidFill>
              <a:latin typeface="Inter"/>
              <a:ea typeface="Inter"/>
              <a:cs typeface="Inter"/>
              <a:sym typeface="Inter"/>
            </a:endParaRPr>
          </a:p>
          <a:p>
            <a:pPr marL="266700" marR="0" lvl="1" indent="-127000" algn="l" rtl="0">
              <a:lnSpc>
                <a:spcPct val="115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Frameworks:</a:t>
            </a:r>
            <a:endParaRPr sz="1200" b="0" i="0" u="none" strike="noStrike" cap="none">
              <a:solidFill>
                <a:srgbClr val="000000"/>
              </a:solidFill>
              <a:latin typeface="Arial"/>
              <a:ea typeface="Arial"/>
              <a:cs typeface="Arial"/>
              <a:sym typeface="Arial"/>
            </a:endParaRPr>
          </a:p>
          <a:p>
            <a:pPr marL="533400" marR="0" lvl="2" indent="-177800" algn="l" rtl="0">
              <a:lnSpc>
                <a:spcPct val="115000"/>
              </a:lnSpc>
              <a:spcBef>
                <a:spcPts val="0"/>
              </a:spcBef>
              <a:spcAft>
                <a:spcPts val="0"/>
              </a:spcAft>
              <a:buClr>
                <a:srgbClr val="3A3A3A"/>
              </a:buClr>
              <a:buSzPts val="1200"/>
              <a:buFont typeface="Arial"/>
              <a:buChar char="⚬"/>
            </a:pPr>
            <a:r>
              <a:rPr lang="en-US" sz="1200" b="0" i="0" u="none" strike="noStrike" cap="none">
                <a:solidFill>
                  <a:srgbClr val="3A3A3A"/>
                </a:solidFill>
                <a:latin typeface="Inter"/>
                <a:ea typeface="Inter"/>
                <a:cs typeface="Inter"/>
                <a:sym typeface="Inter"/>
              </a:rPr>
              <a:t>New Relic for cross-platform development.</a:t>
            </a:r>
            <a:endParaRPr sz="1200" b="0" i="0" u="none" strike="noStrike" cap="none">
              <a:solidFill>
                <a:srgbClr val="000000"/>
              </a:solidFill>
              <a:latin typeface="Arial"/>
              <a:ea typeface="Arial"/>
              <a:cs typeface="Arial"/>
              <a:sym typeface="Arial"/>
            </a:endParaRPr>
          </a:p>
          <a:p>
            <a:pPr marL="533400" marR="0" lvl="2" indent="-177800" algn="l" rtl="0">
              <a:lnSpc>
                <a:spcPct val="115000"/>
              </a:lnSpc>
              <a:spcBef>
                <a:spcPts val="0"/>
              </a:spcBef>
              <a:spcAft>
                <a:spcPts val="0"/>
              </a:spcAft>
              <a:buClr>
                <a:srgbClr val="3A3A3A"/>
              </a:buClr>
              <a:buSzPts val="1200"/>
              <a:buFont typeface="Arial"/>
              <a:buChar char="⚬"/>
            </a:pPr>
            <a:r>
              <a:rPr lang="en-US" sz="1200" b="0" i="0" u="none" strike="noStrike" cap="none">
                <a:solidFill>
                  <a:srgbClr val="3A3A3A"/>
                </a:solidFill>
                <a:latin typeface="Inter"/>
                <a:ea typeface="Inter"/>
                <a:cs typeface="Inter"/>
                <a:sym typeface="Inter"/>
              </a:rPr>
              <a:t>Scrum Incremental model for agile development.</a:t>
            </a:r>
            <a:endParaRPr sz="1200" b="0" i="0" u="none" strike="noStrike" cap="none">
              <a:solidFill>
                <a:srgbClr val="000000"/>
              </a:solidFill>
              <a:latin typeface="Arial"/>
              <a:ea typeface="Arial"/>
              <a:cs typeface="Arial"/>
              <a:sym typeface="Arial"/>
            </a:endParaRPr>
          </a:p>
          <a:p>
            <a:pPr marL="266700" marR="0" lvl="1" indent="-127000" algn="l" rtl="0">
              <a:lnSpc>
                <a:spcPct val="115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Infrastructure:</a:t>
            </a:r>
            <a:r>
              <a:rPr lang="en-US" sz="1200" b="0" i="0" u="none" strike="noStrike" cap="none">
                <a:solidFill>
                  <a:srgbClr val="3A3A3A"/>
                </a:solidFill>
                <a:latin typeface="Inter"/>
                <a:ea typeface="Inter"/>
                <a:cs typeface="Inter"/>
                <a:sym typeface="Inter"/>
              </a:rPr>
              <a:t> AWS serverless architecture to support high scalability and performance.</a:t>
            </a:r>
            <a:endParaRPr sz="1200" b="0" i="0" u="none" strike="noStrike" cap="none">
              <a:solidFill>
                <a:srgbClr val="000000"/>
              </a:solidFill>
              <a:latin typeface="Arial"/>
              <a:ea typeface="Arial"/>
              <a:cs typeface="Arial"/>
              <a:sym typeface="Arial"/>
            </a:endParaRPr>
          </a:p>
        </p:txBody>
      </p:sp>
      <p:sp>
        <p:nvSpPr>
          <p:cNvPr id="2342" name="Google Shape;2342;p35"/>
          <p:cNvSpPr/>
          <p:nvPr/>
        </p:nvSpPr>
        <p:spPr>
          <a:xfrm rot="5400000">
            <a:off x="275628" y="2288858"/>
            <a:ext cx="9155430" cy="4577715"/>
          </a:xfrm>
          <a:custGeom>
            <a:avLst/>
            <a:gdLst/>
            <a:ahLst/>
            <a:cxnLst/>
            <a:rect l="l" t="t" r="r" b="b"/>
            <a:pathLst>
              <a:path w="10287000" h="5143500" extrusionOk="0">
                <a:moveTo>
                  <a:pt x="0" y="0"/>
                </a:moveTo>
                <a:lnTo>
                  <a:pt x="10287000" y="0"/>
                </a:lnTo>
                <a:lnTo>
                  <a:pt x="10287000" y="5143500"/>
                </a:lnTo>
                <a:lnTo>
                  <a:pt x="0" y="5143500"/>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sp>
      <p:sp>
        <p:nvSpPr>
          <p:cNvPr id="2343" name="Google Shape;2343;p35"/>
          <p:cNvSpPr txBox="1"/>
          <p:nvPr/>
        </p:nvSpPr>
        <p:spPr>
          <a:xfrm>
            <a:off x="4738820" y="691004"/>
            <a:ext cx="11298600" cy="923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 </a:t>
            </a:r>
            <a:r>
              <a:rPr lang="en-US" sz="2500" b="1" i="0" u="none" strike="noStrike" cap="none">
                <a:solidFill>
                  <a:srgbClr val="004AAD"/>
                </a:solidFill>
                <a:latin typeface="Inter"/>
                <a:ea typeface="Inter"/>
                <a:cs typeface="Inter"/>
                <a:sym typeface="Inter"/>
              </a:rPr>
              <a:t>FROM CONCEPT TO REALITY: DEVELOPING MINISTOP APP - REVOLUTIONIZING DX IN CONVENIENT STORES  (3/3)</a:t>
            </a:r>
            <a:endParaRPr sz="1200" b="0" i="0" u="none" strike="noStrike" cap="none">
              <a:solidFill>
                <a:srgbClr val="000000"/>
              </a:solidFill>
              <a:latin typeface="Arial"/>
              <a:ea typeface="Arial"/>
              <a:cs typeface="Arial"/>
              <a:sym typeface="Arial"/>
            </a:endParaRPr>
          </a:p>
        </p:txBody>
      </p:sp>
      <p:cxnSp>
        <p:nvCxnSpPr>
          <p:cNvPr id="2344" name="Google Shape;2344;p35"/>
          <p:cNvCxnSpPr/>
          <p:nvPr/>
        </p:nvCxnSpPr>
        <p:spPr>
          <a:xfrm rot="10800000" flipH="1">
            <a:off x="4738896" y="2188781"/>
            <a:ext cx="5186100" cy="13200"/>
          </a:xfrm>
          <a:prstGeom prst="straightConnector1">
            <a:avLst/>
          </a:prstGeom>
          <a:noFill/>
          <a:ln w="19050" cap="flat" cmpd="sng">
            <a:solidFill>
              <a:srgbClr val="3A3A3A">
                <a:alpha val="28627"/>
              </a:srgbClr>
            </a:solidFill>
            <a:prstDash val="solid"/>
            <a:round/>
            <a:headEnd type="none" w="sm" len="sm"/>
            <a:tailEnd type="none" w="sm" len="sm"/>
          </a:ln>
        </p:spPr>
      </p:cxnSp>
      <p:cxnSp>
        <p:nvCxnSpPr>
          <p:cNvPr id="2345" name="Google Shape;2345;p35"/>
          <p:cNvCxnSpPr/>
          <p:nvPr/>
        </p:nvCxnSpPr>
        <p:spPr>
          <a:xfrm rot="10800000" flipH="1">
            <a:off x="10578719" y="5865220"/>
            <a:ext cx="5186100" cy="13200"/>
          </a:xfrm>
          <a:prstGeom prst="straightConnector1">
            <a:avLst/>
          </a:prstGeom>
          <a:noFill/>
          <a:ln w="19050" cap="flat" cmpd="sng">
            <a:solidFill>
              <a:srgbClr val="3A3A3A">
                <a:alpha val="28627"/>
              </a:srgbClr>
            </a:solidFill>
            <a:prstDash val="solid"/>
            <a:round/>
            <a:headEnd type="none" w="sm" len="sm"/>
            <a:tailEnd type="none" w="sm" len="sm"/>
          </a:ln>
        </p:spPr>
      </p:cxnSp>
      <p:cxnSp>
        <p:nvCxnSpPr>
          <p:cNvPr id="2346" name="Google Shape;2346;p35"/>
          <p:cNvCxnSpPr/>
          <p:nvPr/>
        </p:nvCxnSpPr>
        <p:spPr>
          <a:xfrm>
            <a:off x="10579708" y="2154836"/>
            <a:ext cx="5325000" cy="0"/>
          </a:xfrm>
          <a:prstGeom prst="straightConnector1">
            <a:avLst/>
          </a:prstGeom>
          <a:noFill/>
          <a:ln w="19050" cap="flat" cmpd="sng">
            <a:solidFill>
              <a:srgbClr val="3A3A3A">
                <a:alpha val="28627"/>
              </a:srgbClr>
            </a:solidFill>
            <a:prstDash val="solid"/>
            <a:round/>
            <a:headEnd type="none" w="sm" len="sm"/>
            <a:tailEnd type="none" w="sm" len="sm"/>
          </a:ln>
        </p:spPr>
      </p:cxnSp>
      <p:grpSp>
        <p:nvGrpSpPr>
          <p:cNvPr id="2347" name="Google Shape;2347;p35"/>
          <p:cNvGrpSpPr/>
          <p:nvPr/>
        </p:nvGrpSpPr>
        <p:grpSpPr>
          <a:xfrm>
            <a:off x="6413994" y="5430521"/>
            <a:ext cx="972023" cy="405855"/>
            <a:chOff x="0" y="0"/>
            <a:chExt cx="1457962" cy="608752"/>
          </a:xfrm>
        </p:grpSpPr>
        <p:sp>
          <p:nvSpPr>
            <p:cNvPr id="2348" name="Google Shape;2348;p35"/>
            <p:cNvSpPr/>
            <p:nvPr/>
          </p:nvSpPr>
          <p:spPr>
            <a:xfrm>
              <a:off x="0" y="0"/>
              <a:ext cx="1457962" cy="269723"/>
            </a:xfrm>
            <a:custGeom>
              <a:avLst/>
              <a:gdLst/>
              <a:ahLst/>
              <a:cxnLst/>
              <a:rect l="l" t="t" r="r" b="b"/>
              <a:pathLst>
                <a:path w="1457962" h="269723" extrusionOk="0">
                  <a:moveTo>
                    <a:pt x="0" y="0"/>
                  </a:moveTo>
                  <a:lnTo>
                    <a:pt x="1457962" y="0"/>
                  </a:lnTo>
                  <a:lnTo>
                    <a:pt x="1457962" y="269723"/>
                  </a:lnTo>
                  <a:lnTo>
                    <a:pt x="0" y="269723"/>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sp>
        <p:sp>
          <p:nvSpPr>
            <p:cNvPr id="2349" name="Google Shape;2349;p35"/>
            <p:cNvSpPr txBox="1"/>
            <p:nvPr/>
          </p:nvSpPr>
          <p:spPr>
            <a:xfrm>
              <a:off x="13" y="331852"/>
              <a:ext cx="947400" cy="2769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Rating</a:t>
              </a:r>
              <a:endParaRPr sz="1200" b="0" i="0" u="none" strike="noStrike" cap="none">
                <a:solidFill>
                  <a:srgbClr val="000000"/>
                </a:solidFill>
                <a:latin typeface="Arial"/>
                <a:ea typeface="Arial"/>
                <a:cs typeface="Arial"/>
                <a:sym typeface="Arial"/>
              </a:endParaRPr>
            </a:p>
          </p:txBody>
        </p:sp>
      </p:grpSp>
      <p:grpSp>
        <p:nvGrpSpPr>
          <p:cNvPr id="2350" name="Google Shape;2350;p35"/>
          <p:cNvGrpSpPr/>
          <p:nvPr/>
        </p:nvGrpSpPr>
        <p:grpSpPr>
          <a:xfrm>
            <a:off x="4651433" y="2389429"/>
            <a:ext cx="4981849" cy="2182373"/>
            <a:chOff x="0" y="0"/>
            <a:chExt cx="7472400" cy="3273396"/>
          </a:xfrm>
        </p:grpSpPr>
        <p:grpSp>
          <p:nvGrpSpPr>
            <p:cNvPr id="2351" name="Google Shape;2351;p35"/>
            <p:cNvGrpSpPr/>
            <p:nvPr/>
          </p:nvGrpSpPr>
          <p:grpSpPr>
            <a:xfrm>
              <a:off x="125978" y="517146"/>
              <a:ext cx="1393321" cy="2756250"/>
              <a:chOff x="0" y="0"/>
              <a:chExt cx="2620010" cy="5182870"/>
            </a:xfrm>
          </p:grpSpPr>
          <p:sp>
            <p:nvSpPr>
              <p:cNvPr id="2352" name="Google Shape;2352;p35"/>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3" name="Google Shape;2353;p35"/>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4" name="Google Shape;2354;p35"/>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5" name="Google Shape;2355;p35"/>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6" name="Google Shape;2356;p35"/>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7" name="Google Shape;2357;p35"/>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8" name="Google Shape;2358;p35"/>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9" name="Google Shape;2359;p35"/>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0" name="Google Shape;2360;p35"/>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61" name="Google Shape;2361;p35"/>
            <p:cNvGrpSpPr/>
            <p:nvPr/>
          </p:nvGrpSpPr>
          <p:grpSpPr>
            <a:xfrm>
              <a:off x="1582733" y="517146"/>
              <a:ext cx="1393321" cy="2756250"/>
              <a:chOff x="0" y="0"/>
              <a:chExt cx="2620010" cy="5182870"/>
            </a:xfrm>
          </p:grpSpPr>
          <p:sp>
            <p:nvSpPr>
              <p:cNvPr id="2362" name="Google Shape;2362;p35"/>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3" name="Google Shape;2363;p35"/>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6"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4" name="Google Shape;2364;p35"/>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5" name="Google Shape;2365;p35"/>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6" name="Google Shape;2366;p35"/>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7" name="Google Shape;2367;p35"/>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8" name="Google Shape;2368;p35"/>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9" name="Google Shape;2369;p35"/>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0" name="Google Shape;2370;p35"/>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71" name="Google Shape;2371;p35"/>
            <p:cNvGrpSpPr/>
            <p:nvPr/>
          </p:nvGrpSpPr>
          <p:grpSpPr>
            <a:xfrm>
              <a:off x="3039312" y="517146"/>
              <a:ext cx="1393321" cy="2756250"/>
              <a:chOff x="0" y="0"/>
              <a:chExt cx="2620010" cy="5182870"/>
            </a:xfrm>
          </p:grpSpPr>
          <p:sp>
            <p:nvSpPr>
              <p:cNvPr id="2372" name="Google Shape;2372;p35"/>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3" name="Google Shape;2373;p35"/>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7"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4" name="Google Shape;2374;p35"/>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5" name="Google Shape;2375;p35"/>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6" name="Google Shape;2376;p35"/>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7" name="Google Shape;2377;p35"/>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8" name="Google Shape;2378;p35"/>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9" name="Google Shape;2379;p35"/>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0" name="Google Shape;2380;p35"/>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81" name="Google Shape;2381;p35"/>
            <p:cNvGrpSpPr/>
            <p:nvPr/>
          </p:nvGrpSpPr>
          <p:grpSpPr>
            <a:xfrm>
              <a:off x="4495891" y="517146"/>
              <a:ext cx="1393321" cy="2756250"/>
              <a:chOff x="0" y="0"/>
              <a:chExt cx="2620010" cy="5182870"/>
            </a:xfrm>
          </p:grpSpPr>
          <p:sp>
            <p:nvSpPr>
              <p:cNvPr id="2382" name="Google Shape;2382;p35"/>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3" name="Google Shape;2383;p35"/>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8"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4" name="Google Shape;2384;p35"/>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5" name="Google Shape;2385;p35"/>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6" name="Google Shape;2386;p35"/>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7" name="Google Shape;2387;p35"/>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8" name="Google Shape;2388;p35"/>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9" name="Google Shape;2389;p35"/>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0" name="Google Shape;2390;p35"/>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91" name="Google Shape;2391;p35"/>
            <p:cNvGrpSpPr/>
            <p:nvPr/>
          </p:nvGrpSpPr>
          <p:grpSpPr>
            <a:xfrm>
              <a:off x="5953112" y="517146"/>
              <a:ext cx="1393321" cy="2756250"/>
              <a:chOff x="0" y="0"/>
              <a:chExt cx="2620010" cy="5182870"/>
            </a:xfrm>
          </p:grpSpPr>
          <p:sp>
            <p:nvSpPr>
              <p:cNvPr id="2392" name="Google Shape;2392;p35"/>
              <p:cNvSpPr/>
              <p:nvPr/>
            </p:nvSpPr>
            <p:spPr>
              <a:xfrm>
                <a:off x="53340" y="25400"/>
                <a:ext cx="2513330" cy="5132070"/>
              </a:xfrm>
              <a:custGeom>
                <a:avLst/>
                <a:gdLst/>
                <a:ahLst/>
                <a:cxnLst/>
                <a:rect l="l" t="t" r="r" b="b"/>
                <a:pathLst>
                  <a:path w="2513330" h="5132070" extrusionOk="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3" name="Google Shape;2393;p35"/>
              <p:cNvSpPr/>
              <p:nvPr/>
            </p:nvSpPr>
            <p:spPr>
              <a:xfrm>
                <a:off x="185420" y="156210"/>
                <a:ext cx="2251710" cy="4876800"/>
              </a:xfrm>
              <a:custGeom>
                <a:avLst/>
                <a:gdLst/>
                <a:ahLst/>
                <a:cxnLst/>
                <a:rect l="l" t="t" r="r" b="b"/>
                <a:pathLst>
                  <a:path w="2251710" h="4876800" extrusionOk="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rotWithShape="1">
                <a:blip r:embed="rId9" cstate="email">
                  <a:alphaModFix/>
                  <a:extLst>
                    <a:ext uri="{28A0092B-C50C-407E-A947-70E740481C1C}">
                      <a14:useLocalDpi xmlns:a14="http://schemas.microsoft.com/office/drawing/2010/main"/>
                    </a:ext>
                  </a:extLst>
                </a:blip>
                <a:stretch>
                  <a:fillRect/>
                </a:stretch>
              </a:blip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4" name="Google Shape;2394;p35"/>
              <p:cNvSpPr/>
              <p:nvPr/>
            </p:nvSpPr>
            <p:spPr>
              <a:xfrm>
                <a:off x="1121410" y="198120"/>
                <a:ext cx="347980" cy="43180"/>
              </a:xfrm>
              <a:custGeom>
                <a:avLst/>
                <a:gdLst/>
                <a:ahLst/>
                <a:cxnLst/>
                <a:rect l="l" t="t" r="r" b="b"/>
                <a:pathLst>
                  <a:path w="347980" h="43180" extrusionOk="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5" name="Google Shape;2395;p35"/>
              <p:cNvSpPr/>
              <p:nvPr/>
            </p:nvSpPr>
            <p:spPr>
              <a:xfrm>
                <a:off x="1578312" y="187909"/>
                <a:ext cx="66636" cy="63602"/>
              </a:xfrm>
              <a:custGeom>
                <a:avLst/>
                <a:gdLst/>
                <a:ahLst/>
                <a:cxnLst/>
                <a:rect l="l" t="t" r="r" b="b"/>
                <a:pathLst>
                  <a:path w="66636" h="63602" extrusionOk="0">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6" name="Google Shape;2396;p35"/>
              <p:cNvSpPr/>
              <p:nvPr/>
            </p:nvSpPr>
            <p:spPr>
              <a:xfrm>
                <a:off x="0" y="685800"/>
                <a:ext cx="27940" cy="213360"/>
              </a:xfrm>
              <a:custGeom>
                <a:avLst/>
                <a:gdLst/>
                <a:ahLst/>
                <a:cxnLst/>
                <a:rect l="l" t="t" r="r" b="b"/>
                <a:pathLst>
                  <a:path w="27940" h="213360" extrusionOk="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7" name="Google Shape;2397;p35"/>
              <p:cNvSpPr/>
              <p:nvPr/>
            </p:nvSpPr>
            <p:spPr>
              <a:xfrm>
                <a:off x="0" y="1057910"/>
                <a:ext cx="27940" cy="384810"/>
              </a:xfrm>
              <a:custGeom>
                <a:avLst/>
                <a:gdLst/>
                <a:ahLst/>
                <a:cxnLst/>
                <a:rect l="l" t="t" r="r" b="b"/>
                <a:pathLst>
                  <a:path w="27940" h="384810" extrusionOk="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8" name="Google Shape;2398;p35"/>
              <p:cNvSpPr/>
              <p:nvPr/>
            </p:nvSpPr>
            <p:spPr>
              <a:xfrm>
                <a:off x="0" y="1526540"/>
                <a:ext cx="27940" cy="386080"/>
              </a:xfrm>
              <a:custGeom>
                <a:avLst/>
                <a:gdLst/>
                <a:ahLst/>
                <a:cxnLst/>
                <a:rect l="l" t="t" r="r" b="b"/>
                <a:pathLst>
                  <a:path w="27940" h="386080" extrusionOk="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9" name="Google Shape;2399;p35"/>
              <p:cNvSpPr/>
              <p:nvPr/>
            </p:nvSpPr>
            <p:spPr>
              <a:xfrm>
                <a:off x="2592070" y="1184910"/>
                <a:ext cx="27940" cy="618490"/>
              </a:xfrm>
              <a:custGeom>
                <a:avLst/>
                <a:gdLst/>
                <a:ahLst/>
                <a:cxnLst/>
                <a:rect l="l" t="t" r="r" b="b"/>
                <a:pathLst>
                  <a:path w="27940" h="618490" extrusionOk="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0" name="Google Shape;2400;p35"/>
              <p:cNvSpPr/>
              <p:nvPr/>
            </p:nvSpPr>
            <p:spPr>
              <a:xfrm>
                <a:off x="27940" y="0"/>
                <a:ext cx="2564130" cy="5182870"/>
              </a:xfrm>
              <a:custGeom>
                <a:avLst/>
                <a:gdLst/>
                <a:ahLst/>
                <a:cxnLst/>
                <a:rect l="l" t="t" r="r" b="b"/>
                <a:pathLst>
                  <a:path w="2564130" h="5182870" extrusionOk="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01" name="Google Shape;2401;p35"/>
            <p:cNvSpPr txBox="1"/>
            <p:nvPr/>
          </p:nvSpPr>
          <p:spPr>
            <a:xfrm>
              <a:off x="0" y="0"/>
              <a:ext cx="7472400" cy="254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Clr>
                  <a:srgbClr val="000000"/>
                </a:buClr>
                <a:buSzPts val="1100"/>
                <a:buFont typeface="Arial"/>
                <a:buNone/>
              </a:pPr>
              <a:r>
                <a:rPr lang="en-US" sz="1100" b="1" i="0" u="none" strike="noStrike" cap="none">
                  <a:solidFill>
                    <a:srgbClr val="00234F"/>
                  </a:solidFill>
                  <a:latin typeface="Inter"/>
                  <a:ea typeface="Inter"/>
                  <a:cs typeface="Inter"/>
                  <a:sym typeface="Inter"/>
                </a:rPr>
                <a:t>MINISTOP APP’s Mobile Order UX/UI Demonstration</a:t>
              </a:r>
              <a:endParaRPr sz="1200" b="0" i="0" u="none" strike="noStrike" cap="none">
                <a:solidFill>
                  <a:srgbClr val="000000"/>
                </a:solidFill>
                <a:latin typeface="Arial"/>
                <a:ea typeface="Arial"/>
                <a:cs typeface="Arial"/>
                <a:sym typeface="Arial"/>
              </a:endParaRPr>
            </a:p>
          </p:txBody>
        </p:sp>
      </p:grpSp>
      <p:grpSp>
        <p:nvGrpSpPr>
          <p:cNvPr id="2402" name="Google Shape;2402;p35"/>
          <p:cNvGrpSpPr/>
          <p:nvPr/>
        </p:nvGrpSpPr>
        <p:grpSpPr>
          <a:xfrm rot="10800000">
            <a:off x="8173812" y="4776417"/>
            <a:ext cx="113914" cy="235009"/>
            <a:chOff x="0" y="-28575"/>
            <a:chExt cx="663064" cy="1367920"/>
          </a:xfrm>
        </p:grpSpPr>
        <p:sp>
          <p:nvSpPr>
            <p:cNvPr id="2403" name="Google Shape;2403;p35"/>
            <p:cNvSpPr/>
            <p:nvPr/>
          </p:nvSpPr>
          <p:spPr>
            <a:xfrm>
              <a:off x="0" y="0"/>
              <a:ext cx="663064" cy="1339345"/>
            </a:xfrm>
            <a:custGeom>
              <a:avLst/>
              <a:gdLst/>
              <a:ahLst/>
              <a:cxnLst/>
              <a:rect l="l" t="t" r="r" b="b"/>
              <a:pathLst>
                <a:path w="663064" h="1339345" extrusionOk="0">
                  <a:moveTo>
                    <a:pt x="331532" y="1339345"/>
                  </a:moveTo>
                  <a:lnTo>
                    <a:pt x="0" y="932945"/>
                  </a:lnTo>
                  <a:lnTo>
                    <a:pt x="203200" y="932945"/>
                  </a:lnTo>
                  <a:lnTo>
                    <a:pt x="203200" y="0"/>
                  </a:lnTo>
                  <a:lnTo>
                    <a:pt x="459864" y="0"/>
                  </a:lnTo>
                  <a:lnTo>
                    <a:pt x="459864" y="932945"/>
                  </a:lnTo>
                  <a:lnTo>
                    <a:pt x="663064" y="932945"/>
                  </a:lnTo>
                  <a:lnTo>
                    <a:pt x="331532" y="1339345"/>
                  </a:lnTo>
                  <a:close/>
                </a:path>
              </a:pathLst>
            </a:custGeom>
            <a:solidFill>
              <a:srgbClr val="0041AA"/>
            </a:solidFill>
            <a:ln>
              <a:noFill/>
            </a:ln>
          </p:spPr>
        </p:sp>
        <p:sp>
          <p:nvSpPr>
            <p:cNvPr id="2404" name="Google Shape;2404;p35"/>
            <p:cNvSpPr txBox="1"/>
            <p:nvPr/>
          </p:nvSpPr>
          <p:spPr>
            <a:xfrm>
              <a:off x="203200" y="-28575"/>
              <a:ext cx="256800" cy="1266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2405" name="Google Shape;2405;p35"/>
          <p:cNvSpPr txBox="1"/>
          <p:nvPr/>
        </p:nvSpPr>
        <p:spPr>
          <a:xfrm>
            <a:off x="8148273" y="5371370"/>
            <a:ext cx="2430300" cy="503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004AAD"/>
                </a:solidFill>
                <a:latin typeface="Inter"/>
                <a:ea typeface="Inter"/>
                <a:cs typeface="Inter"/>
                <a:sym typeface="Inter"/>
              </a:rPr>
              <a:t>    60%</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Operational cost</a:t>
            </a:r>
            <a:endParaRPr sz="1200" b="0" i="0" u="none" strike="noStrike" cap="none">
              <a:solidFill>
                <a:srgbClr val="000000"/>
              </a:solidFill>
              <a:latin typeface="Arial"/>
              <a:ea typeface="Arial"/>
              <a:cs typeface="Arial"/>
              <a:sym typeface="Arial"/>
            </a:endParaRPr>
          </a:p>
        </p:txBody>
      </p:sp>
      <p:grpSp>
        <p:nvGrpSpPr>
          <p:cNvPr id="2406" name="Google Shape;2406;p35"/>
          <p:cNvGrpSpPr/>
          <p:nvPr/>
        </p:nvGrpSpPr>
        <p:grpSpPr>
          <a:xfrm>
            <a:off x="8173795" y="5332594"/>
            <a:ext cx="113914" cy="235009"/>
            <a:chOff x="0" y="-28575"/>
            <a:chExt cx="663064" cy="1367920"/>
          </a:xfrm>
        </p:grpSpPr>
        <p:sp>
          <p:nvSpPr>
            <p:cNvPr id="2407" name="Google Shape;2407;p35"/>
            <p:cNvSpPr/>
            <p:nvPr/>
          </p:nvSpPr>
          <p:spPr>
            <a:xfrm>
              <a:off x="0" y="0"/>
              <a:ext cx="663064" cy="1339345"/>
            </a:xfrm>
            <a:custGeom>
              <a:avLst/>
              <a:gdLst/>
              <a:ahLst/>
              <a:cxnLst/>
              <a:rect l="l" t="t" r="r" b="b"/>
              <a:pathLst>
                <a:path w="663064" h="1339345" extrusionOk="0">
                  <a:moveTo>
                    <a:pt x="331532" y="1339345"/>
                  </a:moveTo>
                  <a:lnTo>
                    <a:pt x="0" y="932945"/>
                  </a:lnTo>
                  <a:lnTo>
                    <a:pt x="203200" y="932945"/>
                  </a:lnTo>
                  <a:lnTo>
                    <a:pt x="203200" y="0"/>
                  </a:lnTo>
                  <a:lnTo>
                    <a:pt x="459864" y="0"/>
                  </a:lnTo>
                  <a:lnTo>
                    <a:pt x="459864" y="932945"/>
                  </a:lnTo>
                  <a:lnTo>
                    <a:pt x="663064" y="932945"/>
                  </a:lnTo>
                  <a:lnTo>
                    <a:pt x="331532" y="1339345"/>
                  </a:lnTo>
                  <a:close/>
                </a:path>
              </a:pathLst>
            </a:custGeom>
            <a:solidFill>
              <a:srgbClr val="0041AA"/>
            </a:solidFill>
            <a:ln>
              <a:noFill/>
            </a:ln>
          </p:spPr>
        </p:sp>
        <p:sp>
          <p:nvSpPr>
            <p:cNvPr id="2408" name="Google Shape;2408;p35"/>
            <p:cNvSpPr txBox="1"/>
            <p:nvPr/>
          </p:nvSpPr>
          <p:spPr>
            <a:xfrm>
              <a:off x="203200" y="-28575"/>
              <a:ext cx="256800" cy="1266300"/>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2409" name="Google Shape;2409;p35"/>
          <p:cNvSpPr/>
          <p:nvPr/>
        </p:nvSpPr>
        <p:spPr>
          <a:xfrm>
            <a:off x="11911168" y="2734977"/>
            <a:ext cx="417594" cy="255776"/>
          </a:xfrm>
          <a:custGeom>
            <a:avLst/>
            <a:gdLst/>
            <a:ahLst/>
            <a:cxnLst/>
            <a:rect l="l" t="t" r="r" b="b"/>
            <a:pathLst>
              <a:path w="469207" h="287389" extrusionOk="0">
                <a:moveTo>
                  <a:pt x="0" y="0"/>
                </a:moveTo>
                <a:lnTo>
                  <a:pt x="469206" y="0"/>
                </a:lnTo>
                <a:lnTo>
                  <a:pt x="469206" y="287389"/>
                </a:lnTo>
                <a:lnTo>
                  <a:pt x="0" y="287389"/>
                </a:lnTo>
                <a:lnTo>
                  <a:pt x="0" y="0"/>
                </a:lnTo>
                <a:close/>
              </a:path>
            </a:pathLst>
          </a:custGeom>
          <a:blipFill rotWithShape="1">
            <a:blip r:embed="rId10" cstate="email">
              <a:alphaModFix/>
              <a:extLst>
                <a:ext uri="{28A0092B-C50C-407E-A947-70E740481C1C}">
                  <a14:useLocalDpi xmlns:a14="http://schemas.microsoft.com/office/drawing/2010/main"/>
                </a:ext>
              </a:extLst>
            </a:blip>
            <a:stretch>
              <a:fillRect/>
            </a:stretch>
          </a:blipFill>
          <a:ln>
            <a:noFill/>
          </a:ln>
        </p:spPr>
      </p:sp>
      <p:sp>
        <p:nvSpPr>
          <p:cNvPr id="2410" name="Google Shape;2410;p35"/>
          <p:cNvSpPr/>
          <p:nvPr/>
        </p:nvSpPr>
        <p:spPr>
          <a:xfrm>
            <a:off x="11518573" y="2925305"/>
            <a:ext cx="557175" cy="296769"/>
          </a:xfrm>
          <a:custGeom>
            <a:avLst/>
            <a:gdLst/>
            <a:ahLst/>
            <a:cxnLst/>
            <a:rect l="l" t="t" r="r" b="b"/>
            <a:pathLst>
              <a:path w="626039" h="333448" extrusionOk="0">
                <a:moveTo>
                  <a:pt x="0" y="0"/>
                </a:moveTo>
                <a:lnTo>
                  <a:pt x="626039" y="0"/>
                </a:lnTo>
                <a:lnTo>
                  <a:pt x="626039" y="333449"/>
                </a:lnTo>
                <a:lnTo>
                  <a:pt x="0" y="333449"/>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a:stretch>
          </a:blipFill>
          <a:ln>
            <a:noFill/>
          </a:ln>
        </p:spPr>
      </p:sp>
      <p:sp>
        <p:nvSpPr>
          <p:cNvPr id="2411" name="Google Shape;2411;p35"/>
          <p:cNvSpPr/>
          <p:nvPr/>
        </p:nvSpPr>
        <p:spPr>
          <a:xfrm>
            <a:off x="11848852" y="3227172"/>
            <a:ext cx="200529" cy="366779"/>
          </a:xfrm>
          <a:custGeom>
            <a:avLst/>
            <a:gdLst/>
            <a:ahLst/>
            <a:cxnLst/>
            <a:rect l="l" t="t" r="r" b="b"/>
            <a:pathLst>
              <a:path w="225313" h="412111" extrusionOk="0">
                <a:moveTo>
                  <a:pt x="0" y="0"/>
                </a:moveTo>
                <a:lnTo>
                  <a:pt x="225313" y="0"/>
                </a:lnTo>
                <a:lnTo>
                  <a:pt x="225313" y="412111"/>
                </a:lnTo>
                <a:lnTo>
                  <a:pt x="0" y="412111"/>
                </a:lnTo>
                <a:lnTo>
                  <a:pt x="0" y="0"/>
                </a:lnTo>
                <a:close/>
              </a:path>
            </a:pathLst>
          </a:custGeom>
          <a:blipFill rotWithShape="1">
            <a:blip r:embed="rId12" cstate="email">
              <a:alphaModFix/>
              <a:extLst>
                <a:ext uri="{28A0092B-C50C-407E-A947-70E740481C1C}">
                  <a14:useLocalDpi xmlns:a14="http://schemas.microsoft.com/office/drawing/2010/main"/>
                </a:ext>
              </a:extLst>
            </a:blip>
            <a:stretch>
              <a:fillRect/>
            </a:stretch>
          </a:blipFill>
          <a:ln>
            <a:noFill/>
          </a:ln>
        </p:spPr>
      </p:sp>
      <p:sp>
        <p:nvSpPr>
          <p:cNvPr id="2412" name="Google Shape;2412;p35"/>
          <p:cNvSpPr/>
          <p:nvPr/>
        </p:nvSpPr>
        <p:spPr>
          <a:xfrm>
            <a:off x="12013142" y="3656514"/>
            <a:ext cx="566828" cy="340097"/>
          </a:xfrm>
          <a:custGeom>
            <a:avLst/>
            <a:gdLst/>
            <a:ahLst/>
            <a:cxnLst/>
            <a:rect l="l" t="t" r="r" b="b"/>
            <a:pathLst>
              <a:path w="636885" h="382131" extrusionOk="0">
                <a:moveTo>
                  <a:pt x="0" y="0"/>
                </a:moveTo>
                <a:lnTo>
                  <a:pt x="636885" y="0"/>
                </a:lnTo>
                <a:lnTo>
                  <a:pt x="636885" y="382131"/>
                </a:lnTo>
                <a:lnTo>
                  <a:pt x="0" y="382131"/>
                </a:lnTo>
                <a:lnTo>
                  <a:pt x="0" y="0"/>
                </a:lnTo>
                <a:close/>
              </a:path>
            </a:pathLst>
          </a:custGeom>
          <a:blipFill rotWithShape="1">
            <a:blip r:embed="rId13" cstate="email">
              <a:alphaModFix/>
              <a:extLst>
                <a:ext uri="{28A0092B-C50C-407E-A947-70E740481C1C}">
                  <a14:useLocalDpi xmlns:a14="http://schemas.microsoft.com/office/drawing/2010/main"/>
                </a:ext>
              </a:extLst>
            </a:blip>
            <a:stretch>
              <a:fillRect/>
            </a:stretch>
          </a:blipFill>
          <a:ln>
            <a:noFill/>
          </a:ln>
        </p:spPr>
      </p:sp>
      <p:sp>
        <p:nvSpPr>
          <p:cNvPr id="2413" name="Google Shape;2413;p35"/>
          <p:cNvSpPr txBox="1"/>
          <p:nvPr/>
        </p:nvSpPr>
        <p:spPr>
          <a:xfrm>
            <a:off x="4738896" y="1772707"/>
            <a:ext cx="45594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Result</a:t>
            </a:r>
            <a:endParaRPr sz="1200" b="0" i="0" u="none" strike="noStrike" cap="none">
              <a:solidFill>
                <a:srgbClr val="000000"/>
              </a:solidFill>
              <a:latin typeface="Arial"/>
              <a:ea typeface="Arial"/>
              <a:cs typeface="Arial"/>
              <a:sym typeface="Arial"/>
            </a:endParaRPr>
          </a:p>
        </p:txBody>
      </p:sp>
      <p:sp>
        <p:nvSpPr>
          <p:cNvPr id="2414" name="Google Shape;2414;p35"/>
          <p:cNvSpPr txBox="1"/>
          <p:nvPr/>
        </p:nvSpPr>
        <p:spPr>
          <a:xfrm>
            <a:off x="10579730" y="5449146"/>
            <a:ext cx="45594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Project Scale</a:t>
            </a:r>
            <a:endParaRPr sz="1200" b="0" i="0" u="none" strike="noStrike" cap="none">
              <a:solidFill>
                <a:srgbClr val="000000"/>
              </a:solidFill>
              <a:latin typeface="Arial"/>
              <a:ea typeface="Arial"/>
              <a:cs typeface="Arial"/>
              <a:sym typeface="Arial"/>
            </a:endParaRPr>
          </a:p>
        </p:txBody>
      </p:sp>
      <p:sp>
        <p:nvSpPr>
          <p:cNvPr id="2415" name="Google Shape;2415;p35"/>
          <p:cNvSpPr txBox="1"/>
          <p:nvPr/>
        </p:nvSpPr>
        <p:spPr>
          <a:xfrm>
            <a:off x="10578719" y="5989567"/>
            <a:ext cx="5186100" cy="822000"/>
          </a:xfrm>
          <a:prstGeom prst="rect">
            <a:avLst/>
          </a:prstGeom>
          <a:noFill/>
          <a:ln>
            <a:noFill/>
          </a:ln>
        </p:spPr>
        <p:txBody>
          <a:bodyPr spcFirstLastPara="1" wrap="square" lIns="0" tIns="0" rIns="0" bIns="0" anchor="t" anchorCtr="0">
            <a:spAutoFit/>
          </a:bodyPr>
          <a:lstStyle/>
          <a:p>
            <a:pPr marL="266700" marR="0" lvl="1" indent="-127000" algn="l" rtl="0">
              <a:lnSpc>
                <a:spcPct val="115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Development duration:</a:t>
            </a:r>
            <a:r>
              <a:rPr lang="en-US" sz="1200" b="0" i="0" u="none" strike="noStrike" cap="none">
                <a:solidFill>
                  <a:srgbClr val="3A3A3A"/>
                </a:solidFill>
                <a:latin typeface="Inter"/>
                <a:ea typeface="Inter"/>
                <a:cs typeface="Inter"/>
                <a:sym typeface="Inter"/>
              </a:rPr>
              <a:t> 6-8 months, followed by continuous updates and operational enhancements. </a:t>
            </a:r>
            <a:endParaRPr sz="1200" b="0" i="0" u="none" strike="noStrike" cap="none">
              <a:solidFill>
                <a:srgbClr val="000000"/>
              </a:solidFill>
              <a:latin typeface="Arial"/>
              <a:ea typeface="Arial"/>
              <a:cs typeface="Arial"/>
              <a:sym typeface="Arial"/>
            </a:endParaRPr>
          </a:p>
          <a:p>
            <a:pPr marL="266700" marR="0" lvl="1" indent="-127000" algn="l" rtl="0">
              <a:lnSpc>
                <a:spcPct val="115000"/>
              </a:lnSpc>
              <a:spcBef>
                <a:spcPts val="0"/>
              </a:spcBef>
              <a:spcAft>
                <a:spcPts val="0"/>
              </a:spcAft>
              <a:buClr>
                <a:srgbClr val="3A3A3A"/>
              </a:buClr>
              <a:buSzPts val="1200"/>
              <a:buFont typeface="Arial"/>
              <a:buChar char="•"/>
            </a:pPr>
            <a:r>
              <a:rPr lang="en-US" sz="1200" b="1" i="0" u="none" strike="noStrike" cap="none">
                <a:solidFill>
                  <a:srgbClr val="3A3A3A"/>
                </a:solidFill>
                <a:latin typeface="Inter"/>
                <a:ea typeface="Inter"/>
                <a:cs typeface="Inter"/>
                <a:sym typeface="Inter"/>
              </a:rPr>
              <a:t>Post-Launch Maintenance:</a:t>
            </a:r>
            <a:r>
              <a:rPr lang="en-US" sz="1200" b="0" i="0" u="none" strike="noStrike" cap="none">
                <a:solidFill>
                  <a:srgbClr val="3A3A3A"/>
                </a:solidFill>
                <a:latin typeface="Inter"/>
                <a:ea typeface="Inter"/>
                <a:cs typeface="Inter"/>
                <a:sym typeface="Inter"/>
              </a:rPr>
              <a:t> Ongoing updates and feature improvements based on user feedback and business needs.</a:t>
            </a:r>
            <a:endParaRPr sz="1200" b="0" i="0" u="none" strike="noStrike" cap="none">
              <a:solidFill>
                <a:srgbClr val="000000"/>
              </a:solidFill>
              <a:latin typeface="Arial"/>
              <a:ea typeface="Arial"/>
              <a:cs typeface="Arial"/>
              <a:sym typeface="Arial"/>
            </a:endParaRPr>
          </a:p>
        </p:txBody>
      </p:sp>
      <p:sp>
        <p:nvSpPr>
          <p:cNvPr id="2416" name="Google Shape;2416;p35"/>
          <p:cNvSpPr txBox="1"/>
          <p:nvPr/>
        </p:nvSpPr>
        <p:spPr>
          <a:xfrm>
            <a:off x="10579730" y="1772707"/>
            <a:ext cx="2376600" cy="307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Technology used</a:t>
            </a:r>
            <a:endParaRPr sz="1200" b="0" i="0" u="none" strike="noStrike" cap="none">
              <a:solidFill>
                <a:srgbClr val="000000"/>
              </a:solidFill>
              <a:latin typeface="Arial"/>
              <a:ea typeface="Arial"/>
              <a:cs typeface="Arial"/>
              <a:sym typeface="Arial"/>
            </a:endParaRPr>
          </a:p>
        </p:txBody>
      </p:sp>
      <p:sp>
        <p:nvSpPr>
          <p:cNvPr id="2417" name="Google Shape;2417;p35"/>
          <p:cNvSpPr txBox="1"/>
          <p:nvPr/>
        </p:nvSpPr>
        <p:spPr>
          <a:xfrm>
            <a:off x="4738896" y="4715933"/>
            <a:ext cx="1762500" cy="503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004AAD"/>
                </a:solidFill>
                <a:latin typeface="Inter"/>
                <a:ea typeface="Inter"/>
                <a:cs typeface="Inter"/>
                <a:sym typeface="Inter"/>
              </a:rPr>
              <a:t>1.4M+</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Registered users</a:t>
            </a:r>
            <a:endParaRPr sz="1200" b="0" i="0" u="none" strike="noStrike" cap="none">
              <a:solidFill>
                <a:srgbClr val="000000"/>
              </a:solidFill>
              <a:latin typeface="Arial"/>
              <a:ea typeface="Arial"/>
              <a:cs typeface="Arial"/>
              <a:sym typeface="Arial"/>
            </a:endParaRPr>
          </a:p>
        </p:txBody>
      </p:sp>
      <p:sp>
        <p:nvSpPr>
          <p:cNvPr id="2418" name="Google Shape;2418;p35"/>
          <p:cNvSpPr txBox="1"/>
          <p:nvPr/>
        </p:nvSpPr>
        <p:spPr>
          <a:xfrm>
            <a:off x="4738896" y="5371370"/>
            <a:ext cx="1209300" cy="503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004AAD"/>
                </a:solidFill>
                <a:latin typeface="Inter"/>
                <a:ea typeface="Inter"/>
                <a:cs typeface="Inter"/>
                <a:sym typeface="Inter"/>
              </a:rPr>
              <a:t>100K+</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Active users</a:t>
            </a:r>
            <a:endParaRPr sz="1200" b="0" i="0" u="none" strike="noStrike" cap="none">
              <a:solidFill>
                <a:srgbClr val="000000"/>
              </a:solidFill>
              <a:latin typeface="Arial"/>
              <a:ea typeface="Arial"/>
              <a:cs typeface="Arial"/>
              <a:sym typeface="Arial"/>
            </a:endParaRPr>
          </a:p>
        </p:txBody>
      </p:sp>
      <p:sp>
        <p:nvSpPr>
          <p:cNvPr id="2419" name="Google Shape;2419;p35"/>
          <p:cNvSpPr txBox="1"/>
          <p:nvPr/>
        </p:nvSpPr>
        <p:spPr>
          <a:xfrm>
            <a:off x="6413994" y="4698061"/>
            <a:ext cx="1209300" cy="503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004AAD"/>
                </a:solidFill>
                <a:latin typeface="Inter"/>
                <a:ea typeface="Inter"/>
                <a:cs typeface="Inter"/>
                <a:sym typeface="Inter"/>
              </a:rPr>
              <a:t>27,000+</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Reviews</a:t>
            </a:r>
            <a:endParaRPr sz="1200" b="0" i="0" u="none" strike="noStrike" cap="none">
              <a:solidFill>
                <a:srgbClr val="000000"/>
              </a:solidFill>
              <a:latin typeface="Arial"/>
              <a:ea typeface="Arial"/>
              <a:cs typeface="Arial"/>
              <a:sym typeface="Arial"/>
            </a:endParaRPr>
          </a:p>
        </p:txBody>
      </p:sp>
      <p:sp>
        <p:nvSpPr>
          <p:cNvPr id="2420" name="Google Shape;2420;p35"/>
          <p:cNvSpPr txBox="1"/>
          <p:nvPr/>
        </p:nvSpPr>
        <p:spPr>
          <a:xfrm>
            <a:off x="8148273" y="4715933"/>
            <a:ext cx="2430300" cy="503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004AAD"/>
                </a:solidFill>
                <a:latin typeface="Inter"/>
                <a:ea typeface="Inter"/>
                <a:cs typeface="Inter"/>
                <a:sym typeface="Inter"/>
              </a:rPr>
              <a:t>    50%</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US" sz="1200" b="0" i="0" u="none" strike="noStrike" cap="none">
                <a:solidFill>
                  <a:srgbClr val="3A3A3A"/>
                </a:solidFill>
                <a:latin typeface="Inter"/>
                <a:ea typeface="Inter"/>
                <a:cs typeface="Inter"/>
                <a:sym typeface="Inter"/>
              </a:rPr>
              <a:t>Store Foot Traffic</a:t>
            </a:r>
            <a:endParaRPr sz="1200" b="0" i="0" u="none" strike="noStrike" cap="none">
              <a:solidFill>
                <a:srgbClr val="000000"/>
              </a:solidFill>
              <a:latin typeface="Arial"/>
              <a:ea typeface="Arial"/>
              <a:cs typeface="Arial"/>
              <a:sym typeface="Arial"/>
            </a:endParaRPr>
          </a:p>
        </p:txBody>
      </p:sp>
      <p:sp>
        <p:nvSpPr>
          <p:cNvPr id="2421" name="Google Shape;2421;p35"/>
          <p:cNvSpPr txBox="1"/>
          <p:nvPr/>
        </p:nvSpPr>
        <p:spPr>
          <a:xfrm>
            <a:off x="4651433" y="6162750"/>
            <a:ext cx="4981500" cy="1459200"/>
          </a:xfrm>
          <a:prstGeom prst="rect">
            <a:avLst/>
          </a:prstGeom>
          <a:noFill/>
          <a:ln>
            <a:noFill/>
          </a:ln>
        </p:spPr>
        <p:txBody>
          <a:bodyPr spcFirstLastPara="1" wrap="square" lIns="0" tIns="0" rIns="0" bIns="0" anchor="t" anchorCtr="0">
            <a:spAutoFit/>
          </a:bodyPr>
          <a:lstStyle/>
          <a:p>
            <a:pPr marL="266700" marR="0" lvl="1" indent="-127000" algn="l" rtl="0">
              <a:lnSpc>
                <a:spcPct val="115000"/>
              </a:lnSpc>
              <a:spcBef>
                <a:spcPts val="0"/>
              </a:spcBef>
              <a:spcAft>
                <a:spcPts val="0"/>
              </a:spcAft>
              <a:buClr>
                <a:srgbClr val="0041AA"/>
              </a:buClr>
              <a:buSzPts val="1200"/>
              <a:buFont typeface="Arial"/>
              <a:buChar char="•"/>
            </a:pPr>
            <a:r>
              <a:rPr lang="en-US" sz="1200" b="1" i="0" u="none" strike="noStrike" cap="none">
                <a:solidFill>
                  <a:srgbClr val="0041AA"/>
                </a:solidFill>
                <a:latin typeface="Inter"/>
                <a:ea typeface="Inter"/>
                <a:cs typeface="Inter"/>
                <a:sym typeface="Inter"/>
              </a:rPr>
              <a:t>Increase 50% Store Foot Traffic:</a:t>
            </a:r>
            <a:r>
              <a:rPr lang="en-US" sz="1200" b="0" i="0" u="none" strike="noStrike" cap="none">
                <a:solidFill>
                  <a:srgbClr val="3A3A3A"/>
                </a:solidFill>
                <a:latin typeface="Inter"/>
                <a:ea typeface="Inter"/>
                <a:cs typeface="Inter"/>
                <a:sym typeface="Inter"/>
              </a:rPr>
              <a:t> Assisting in boosting sales</a:t>
            </a:r>
            <a:endParaRPr sz="12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endParaRPr sz="1200" b="0" i="0" u="none" strike="noStrike" cap="none">
              <a:solidFill>
                <a:srgbClr val="3A3A3A"/>
              </a:solidFill>
              <a:latin typeface="Inter"/>
              <a:ea typeface="Inter"/>
              <a:cs typeface="Inter"/>
              <a:sym typeface="Inter"/>
            </a:endParaRPr>
          </a:p>
          <a:p>
            <a:pPr marL="266700" marR="0" lvl="1" indent="-127000" algn="just" rtl="0">
              <a:lnSpc>
                <a:spcPct val="115000"/>
              </a:lnSpc>
              <a:spcBef>
                <a:spcPts val="0"/>
              </a:spcBef>
              <a:spcAft>
                <a:spcPts val="0"/>
              </a:spcAft>
              <a:buClr>
                <a:srgbClr val="0041AA"/>
              </a:buClr>
              <a:buSzPts val="1200"/>
              <a:buFont typeface="Arial"/>
              <a:buChar char="•"/>
            </a:pPr>
            <a:r>
              <a:rPr lang="en-US" sz="1200" b="1" i="0" u="none" strike="noStrike" cap="none">
                <a:solidFill>
                  <a:srgbClr val="0041AA"/>
                </a:solidFill>
                <a:latin typeface="Inter"/>
                <a:ea typeface="Inter"/>
                <a:cs typeface="Inter"/>
                <a:sym typeface="Inter"/>
              </a:rPr>
              <a:t>Faster development and Reduced 60% operational cost</a:t>
            </a:r>
            <a:r>
              <a:rPr lang="en-US" sz="1200" b="0" i="0" u="none" strike="noStrike" cap="none">
                <a:solidFill>
                  <a:srgbClr val="3A3A3A"/>
                </a:solidFill>
                <a:latin typeface="Inter"/>
                <a:ea typeface="Inter"/>
                <a:cs typeface="Inter"/>
                <a:sym typeface="Inter"/>
              </a:rPr>
              <a:t> compared to traditional methods. Utilizing the billing structure of AWS based on the pay-as-you-go model, the application operation and maintenance can reduce infrastructure costs. (only pay for what you have used)</a:t>
            </a:r>
            <a:endParaRPr sz="1200" b="0" i="0" u="none" strike="noStrike" cap="none">
              <a:solidFill>
                <a:srgbClr val="000000"/>
              </a:solidFill>
              <a:latin typeface="Arial"/>
              <a:ea typeface="Arial"/>
              <a:cs typeface="Arial"/>
              <a:sym typeface="Arial"/>
            </a:endParaRPr>
          </a:p>
        </p:txBody>
      </p:sp>
      <p:sp>
        <p:nvSpPr>
          <p:cNvPr id="2422" name="Google Shape;2422;p35"/>
          <p:cNvSpPr/>
          <p:nvPr/>
        </p:nvSpPr>
        <p:spPr>
          <a:xfrm>
            <a:off x="14829500" y="141485"/>
            <a:ext cx="1149883" cy="647819"/>
          </a:xfrm>
          <a:custGeom>
            <a:avLst/>
            <a:gdLst/>
            <a:ahLst/>
            <a:cxnLst/>
            <a:rect l="l" t="t" r="r" b="b"/>
            <a:pathLst>
              <a:path w="1292003" h="727886" extrusionOk="0">
                <a:moveTo>
                  <a:pt x="0" y="0"/>
                </a:moveTo>
                <a:lnTo>
                  <a:pt x="1292003" y="0"/>
                </a:lnTo>
                <a:lnTo>
                  <a:pt x="1292003" y="727886"/>
                </a:lnTo>
                <a:lnTo>
                  <a:pt x="0" y="727886"/>
                </a:lnTo>
                <a:lnTo>
                  <a:pt x="0" y="0"/>
                </a:lnTo>
                <a:close/>
              </a:path>
            </a:pathLst>
          </a:custGeom>
          <a:blipFill rotWithShape="1">
            <a:blip r:embed="rId14" cstate="email">
              <a:alphaModFix amt="46000"/>
              <a:extLst>
                <a:ext uri="{28A0092B-C50C-407E-A947-70E740481C1C}">
                  <a14:useLocalDpi xmlns:a14="http://schemas.microsoft.com/office/drawing/2010/main"/>
                </a:ext>
              </a:extLst>
            </a:blip>
            <a:stretch>
              <a:fillRect/>
            </a:stretch>
          </a:blipFill>
          <a:ln>
            <a:noFill/>
          </a:ln>
        </p:spPr>
      </p:sp>
      <p:grpSp>
        <p:nvGrpSpPr>
          <p:cNvPr id="2423" name="Google Shape;2423;p35"/>
          <p:cNvGrpSpPr/>
          <p:nvPr/>
        </p:nvGrpSpPr>
        <p:grpSpPr>
          <a:xfrm>
            <a:off x="-85950" y="-225025"/>
            <a:ext cx="4240945" cy="9369027"/>
            <a:chOff x="0" y="-66675"/>
            <a:chExt cx="2748684" cy="2776008"/>
          </a:xfrm>
        </p:grpSpPr>
        <p:sp>
          <p:nvSpPr>
            <p:cNvPr id="2424" name="Google Shape;2424;p35"/>
            <p:cNvSpPr/>
            <p:nvPr/>
          </p:nvSpPr>
          <p:spPr>
            <a:xfrm>
              <a:off x="0" y="0"/>
              <a:ext cx="2748684" cy="2709333"/>
            </a:xfrm>
            <a:custGeom>
              <a:avLst/>
              <a:gdLst/>
              <a:ahLst/>
              <a:cxnLst/>
              <a:rect l="l" t="t" r="r" b="b"/>
              <a:pathLst>
                <a:path w="2748684" h="2709333" extrusionOk="0">
                  <a:moveTo>
                    <a:pt x="0" y="0"/>
                  </a:moveTo>
                  <a:lnTo>
                    <a:pt x="2748684" y="0"/>
                  </a:lnTo>
                  <a:lnTo>
                    <a:pt x="2748684" y="2709333"/>
                  </a:lnTo>
                  <a:lnTo>
                    <a:pt x="0" y="2709333"/>
                  </a:lnTo>
                  <a:close/>
                </a:path>
              </a:pathLst>
            </a:custGeom>
            <a:solidFill>
              <a:srgbClr val="003A86"/>
            </a:solidFill>
            <a:ln>
              <a:noFill/>
            </a:ln>
          </p:spPr>
        </p:sp>
        <p:sp>
          <p:nvSpPr>
            <p:cNvPr id="2425" name="Google Shape;2425;p35"/>
            <p:cNvSpPr txBox="1"/>
            <p:nvPr/>
          </p:nvSpPr>
          <p:spPr>
            <a:xfrm>
              <a:off x="0" y="-66675"/>
              <a:ext cx="2748600" cy="2775900"/>
            </a:xfrm>
            <a:prstGeom prst="rect">
              <a:avLst/>
            </a:prstGeom>
            <a:noFill/>
            <a:ln>
              <a:noFill/>
            </a:ln>
          </p:spPr>
          <p:txBody>
            <a:bodyPr spcFirstLastPara="1" wrap="square" lIns="45150" tIns="45150" rIns="45150" bIns="45150" anchor="ctr" anchorCtr="0">
              <a:noAutofit/>
            </a:bodyPr>
            <a:lstStyle/>
            <a:p>
              <a:pPr marL="0" marR="0" lvl="0" indent="0" algn="ctr" rtl="0">
                <a:lnSpc>
                  <a:spcPct val="16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2426" name="Google Shape;2426;p35"/>
          <p:cNvSpPr/>
          <p:nvPr/>
        </p:nvSpPr>
        <p:spPr>
          <a:xfrm>
            <a:off x="-5106522" y="4878846"/>
            <a:ext cx="9273064" cy="4270485"/>
          </a:xfrm>
          <a:custGeom>
            <a:avLst/>
            <a:gdLst/>
            <a:ahLst/>
            <a:cxnLst/>
            <a:rect l="l" t="t" r="r" b="b"/>
            <a:pathLst>
              <a:path w="10419173" h="4798298" extrusionOk="0">
                <a:moveTo>
                  <a:pt x="0" y="0"/>
                </a:moveTo>
                <a:lnTo>
                  <a:pt x="10419173" y="0"/>
                </a:lnTo>
                <a:lnTo>
                  <a:pt x="10419173" y="4798298"/>
                </a:lnTo>
                <a:lnTo>
                  <a:pt x="0" y="4798298"/>
                </a:lnTo>
                <a:lnTo>
                  <a:pt x="0" y="0"/>
                </a:lnTo>
                <a:close/>
              </a:path>
            </a:pathLst>
          </a:custGeom>
          <a:blipFill rotWithShape="1">
            <a:blip r:embed="rId15" cstate="email">
              <a:alphaModFix amt="38000"/>
              <a:extLst>
                <a:ext uri="{28A0092B-C50C-407E-A947-70E740481C1C}">
                  <a14:useLocalDpi xmlns:a14="http://schemas.microsoft.com/office/drawing/2010/main"/>
                </a:ext>
              </a:extLst>
            </a:blip>
            <a:stretch>
              <a:fillRect/>
            </a:stretch>
          </a:blipFill>
          <a:ln>
            <a:noFill/>
          </a:ln>
        </p:spPr>
      </p:sp>
      <p:pic>
        <p:nvPicPr>
          <p:cNvPr id="2427" name="Google Shape;2427;p35"/>
          <p:cNvPicPr preferRelativeResize="0"/>
          <p:nvPr/>
        </p:nvPicPr>
        <p:blipFill rotWithShape="1">
          <a:blip r:embed="rId16" cstate="email">
            <a:alphaModFix/>
            <a:extLst>
              <a:ext uri="{28A0092B-C50C-407E-A947-70E740481C1C}">
                <a14:useLocalDpi xmlns:a14="http://schemas.microsoft.com/office/drawing/2010/main"/>
              </a:ext>
            </a:extLst>
          </a:blip>
          <a:srcRect/>
          <a:stretch/>
        </p:blipFill>
        <p:spPr>
          <a:xfrm>
            <a:off x="12659511" y="3648889"/>
            <a:ext cx="501369" cy="255467"/>
          </a:xfrm>
          <a:prstGeom prst="rect">
            <a:avLst/>
          </a:prstGeom>
          <a:noFill/>
          <a:ln>
            <a:noFill/>
          </a:ln>
        </p:spPr>
      </p:pic>
      <p:sp>
        <p:nvSpPr>
          <p:cNvPr id="2428" name="Google Shape;2428;p35"/>
          <p:cNvSpPr/>
          <p:nvPr/>
        </p:nvSpPr>
        <p:spPr>
          <a:xfrm>
            <a:off x="513222" y="3815444"/>
            <a:ext cx="495765" cy="472836"/>
          </a:xfrm>
          <a:custGeom>
            <a:avLst/>
            <a:gdLst/>
            <a:ahLst/>
            <a:cxnLst/>
            <a:rect l="l" t="t" r="r" b="b"/>
            <a:pathLst>
              <a:path w="557039" h="531276" extrusionOk="0">
                <a:moveTo>
                  <a:pt x="0" y="0"/>
                </a:moveTo>
                <a:lnTo>
                  <a:pt x="557039" y="0"/>
                </a:lnTo>
                <a:lnTo>
                  <a:pt x="557039" y="531276"/>
                </a:lnTo>
                <a:lnTo>
                  <a:pt x="0" y="531276"/>
                </a:lnTo>
                <a:lnTo>
                  <a:pt x="0" y="0"/>
                </a:lnTo>
                <a:close/>
              </a:path>
            </a:pathLst>
          </a:custGeom>
          <a:blipFill rotWithShape="1">
            <a:blip r:embed="rId17" cstate="email">
              <a:alphaModFix/>
              <a:extLst>
                <a:ext uri="{28A0092B-C50C-407E-A947-70E740481C1C}">
                  <a14:useLocalDpi xmlns:a14="http://schemas.microsoft.com/office/drawing/2010/main"/>
                </a:ext>
              </a:extLst>
            </a:blip>
            <a:stretch>
              <a:fillRect/>
            </a:stretch>
          </a:blipFill>
          <a:ln>
            <a:noFill/>
          </a:ln>
        </p:spPr>
      </p:sp>
      <p:sp>
        <p:nvSpPr>
          <p:cNvPr id="2429" name="Google Shape;2429;p35"/>
          <p:cNvSpPr/>
          <p:nvPr/>
        </p:nvSpPr>
        <p:spPr>
          <a:xfrm>
            <a:off x="513222" y="4710909"/>
            <a:ext cx="495765" cy="495765"/>
          </a:xfrm>
          <a:custGeom>
            <a:avLst/>
            <a:gdLst/>
            <a:ahLst/>
            <a:cxnLst/>
            <a:rect l="l" t="t" r="r" b="b"/>
            <a:pathLst>
              <a:path w="557039" h="557039" extrusionOk="0">
                <a:moveTo>
                  <a:pt x="0" y="0"/>
                </a:moveTo>
                <a:lnTo>
                  <a:pt x="557039" y="0"/>
                </a:lnTo>
                <a:lnTo>
                  <a:pt x="557039" y="557039"/>
                </a:lnTo>
                <a:lnTo>
                  <a:pt x="0" y="557039"/>
                </a:lnTo>
                <a:lnTo>
                  <a:pt x="0" y="0"/>
                </a:lnTo>
                <a:close/>
              </a:path>
            </a:pathLst>
          </a:custGeom>
          <a:blipFill rotWithShape="1">
            <a:blip r:embed="rId18" cstate="email">
              <a:alphaModFix/>
              <a:extLst>
                <a:ext uri="{28A0092B-C50C-407E-A947-70E740481C1C}">
                  <a14:useLocalDpi xmlns:a14="http://schemas.microsoft.com/office/drawing/2010/main"/>
                </a:ext>
              </a:extLst>
            </a:blip>
            <a:stretch>
              <a:fillRect/>
            </a:stretch>
          </a:blipFill>
          <a:ln>
            <a:noFill/>
          </a:ln>
        </p:spPr>
      </p:sp>
      <p:sp>
        <p:nvSpPr>
          <p:cNvPr id="2430" name="Google Shape;2430;p35"/>
          <p:cNvSpPr/>
          <p:nvPr/>
        </p:nvSpPr>
        <p:spPr>
          <a:xfrm>
            <a:off x="405657" y="5595521"/>
            <a:ext cx="711164" cy="728380"/>
          </a:xfrm>
          <a:custGeom>
            <a:avLst/>
            <a:gdLst/>
            <a:ahLst/>
            <a:cxnLst/>
            <a:rect l="l" t="t" r="r" b="b"/>
            <a:pathLst>
              <a:path w="799061" h="818405" extrusionOk="0">
                <a:moveTo>
                  <a:pt x="0" y="0"/>
                </a:moveTo>
                <a:lnTo>
                  <a:pt x="799061" y="0"/>
                </a:lnTo>
                <a:lnTo>
                  <a:pt x="799061" y="818405"/>
                </a:lnTo>
                <a:lnTo>
                  <a:pt x="0" y="818405"/>
                </a:lnTo>
                <a:lnTo>
                  <a:pt x="0" y="0"/>
                </a:lnTo>
                <a:close/>
              </a:path>
            </a:pathLst>
          </a:custGeom>
          <a:blipFill rotWithShape="1">
            <a:blip r:embed="rId19" cstate="email">
              <a:alphaModFix/>
              <a:extLst>
                <a:ext uri="{28A0092B-C50C-407E-A947-70E740481C1C}">
                  <a14:useLocalDpi xmlns:a14="http://schemas.microsoft.com/office/drawing/2010/main"/>
                </a:ext>
              </a:extLst>
            </a:blip>
            <a:stretch>
              <a:fillRect/>
            </a:stretch>
          </a:blipFill>
          <a:ln>
            <a:noFill/>
          </a:ln>
        </p:spPr>
      </p:sp>
      <p:sp>
        <p:nvSpPr>
          <p:cNvPr id="2431" name="Google Shape;2431;p35"/>
          <p:cNvSpPr/>
          <p:nvPr/>
        </p:nvSpPr>
        <p:spPr>
          <a:xfrm>
            <a:off x="553007" y="5738200"/>
            <a:ext cx="181216" cy="221332"/>
          </a:xfrm>
          <a:custGeom>
            <a:avLst/>
            <a:gdLst/>
            <a:ahLst/>
            <a:cxnLst/>
            <a:rect l="l" t="t" r="r" b="b"/>
            <a:pathLst>
              <a:path w="203613" h="248688" extrusionOk="0">
                <a:moveTo>
                  <a:pt x="0" y="0"/>
                </a:moveTo>
                <a:lnTo>
                  <a:pt x="203614" y="0"/>
                </a:lnTo>
                <a:lnTo>
                  <a:pt x="203614" y="248688"/>
                </a:lnTo>
                <a:lnTo>
                  <a:pt x="0" y="248688"/>
                </a:lnTo>
                <a:lnTo>
                  <a:pt x="0" y="0"/>
                </a:lnTo>
                <a:close/>
              </a:path>
            </a:pathLst>
          </a:custGeom>
          <a:blipFill rotWithShape="1">
            <a:blip r:embed="rId20" cstate="email">
              <a:alphaModFix/>
              <a:extLst>
                <a:ext uri="{28A0092B-C50C-407E-A947-70E740481C1C}">
                  <a14:useLocalDpi xmlns:a14="http://schemas.microsoft.com/office/drawing/2010/main"/>
                </a:ext>
              </a:extLst>
            </a:blip>
            <a:stretch>
              <a:fillRect/>
            </a:stretch>
          </a:blipFill>
          <a:ln>
            <a:noFill/>
          </a:ln>
        </p:spPr>
      </p:sp>
      <p:sp>
        <p:nvSpPr>
          <p:cNvPr id="2432" name="Google Shape;2432;p35"/>
          <p:cNvSpPr txBox="1"/>
          <p:nvPr/>
        </p:nvSpPr>
        <p:spPr>
          <a:xfrm>
            <a:off x="513225" y="2174450"/>
            <a:ext cx="3578700" cy="8865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800"/>
              <a:buFont typeface="Arial"/>
              <a:buNone/>
            </a:pPr>
            <a:r>
              <a:rPr lang="en-US" sz="1800" b="0" i="0" u="none" strike="noStrike" cap="none">
                <a:solidFill>
                  <a:srgbClr val="FFFFFF"/>
                </a:solidFill>
                <a:latin typeface="Inter"/>
                <a:ea typeface="Inter"/>
                <a:cs typeface="Inter"/>
                <a:sym typeface="Inter"/>
              </a:rPr>
              <a:t>MINISTOP, a member of AEON Group, is a leading convenience store chain in Japan</a:t>
            </a:r>
            <a:endParaRPr sz="1200" b="0" i="0" u="none" strike="noStrike" cap="none">
              <a:solidFill>
                <a:srgbClr val="000000"/>
              </a:solidFill>
              <a:latin typeface="Arial"/>
              <a:ea typeface="Arial"/>
              <a:cs typeface="Arial"/>
              <a:sym typeface="Arial"/>
            </a:endParaRPr>
          </a:p>
        </p:txBody>
      </p:sp>
      <p:sp>
        <p:nvSpPr>
          <p:cNvPr id="2433" name="Google Shape;2433;p35"/>
          <p:cNvSpPr txBox="1"/>
          <p:nvPr/>
        </p:nvSpPr>
        <p:spPr>
          <a:xfrm>
            <a:off x="1253869" y="3798781"/>
            <a:ext cx="1854300" cy="5019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Headquartered </a:t>
            </a:r>
            <a:endParaRPr sz="1200" b="0" i="0" u="none" strike="noStrike" cap="none">
              <a:solidFill>
                <a:srgbClr val="000000"/>
              </a:solidFill>
              <a:latin typeface="Arial"/>
              <a:ea typeface="Arial"/>
              <a:cs typeface="Arial"/>
              <a:sym typeface="Arial"/>
            </a:endParaRPr>
          </a:p>
          <a:p>
            <a:pPr marL="0" marR="0" lvl="0" indent="0" algn="l" rtl="0">
              <a:lnSpc>
                <a:spcPct val="11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in Chiba, Japan</a:t>
            </a:r>
            <a:endParaRPr sz="1200" b="0" i="0" u="none" strike="noStrike" cap="none">
              <a:solidFill>
                <a:srgbClr val="000000"/>
              </a:solidFill>
              <a:latin typeface="Arial"/>
              <a:ea typeface="Arial"/>
              <a:cs typeface="Arial"/>
              <a:sym typeface="Arial"/>
            </a:endParaRPr>
          </a:p>
        </p:txBody>
      </p:sp>
      <p:sp>
        <p:nvSpPr>
          <p:cNvPr id="2434" name="Google Shape;2434;p35"/>
          <p:cNvSpPr txBox="1"/>
          <p:nvPr/>
        </p:nvSpPr>
        <p:spPr>
          <a:xfrm>
            <a:off x="1253860" y="4677042"/>
            <a:ext cx="1410300" cy="5019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600"/>
              <a:buFont typeface="Arial"/>
              <a:buNone/>
            </a:pPr>
            <a:r>
              <a:rPr lang="en-US" sz="1600" b="0" i="0" u="none" strike="noStrike" cap="none">
                <a:solidFill>
                  <a:srgbClr val="FFFFFF"/>
                </a:solidFill>
                <a:latin typeface="Inter"/>
                <a:ea typeface="Inter"/>
                <a:cs typeface="Inter"/>
                <a:sym typeface="Inter"/>
              </a:rPr>
              <a:t>Founded in</a:t>
            </a:r>
            <a:endParaRPr sz="1200" b="0" i="0" u="none" strike="noStrike" cap="none">
              <a:solidFill>
                <a:srgbClr val="000000"/>
              </a:solidFill>
              <a:latin typeface="Arial"/>
              <a:ea typeface="Arial"/>
              <a:cs typeface="Arial"/>
              <a:sym typeface="Arial"/>
            </a:endParaRPr>
          </a:p>
          <a:p>
            <a:pPr marL="0" marR="0" lvl="0" indent="0" algn="l" rtl="0">
              <a:lnSpc>
                <a:spcPct val="11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1980</a:t>
            </a:r>
            <a:endParaRPr sz="1200" b="0" i="0" u="none" strike="noStrike" cap="none">
              <a:solidFill>
                <a:srgbClr val="000000"/>
              </a:solidFill>
              <a:latin typeface="Arial"/>
              <a:ea typeface="Arial"/>
              <a:cs typeface="Arial"/>
              <a:sym typeface="Arial"/>
            </a:endParaRPr>
          </a:p>
        </p:txBody>
      </p:sp>
      <p:sp>
        <p:nvSpPr>
          <p:cNvPr id="2435" name="Google Shape;2435;p35"/>
          <p:cNvSpPr txBox="1"/>
          <p:nvPr/>
        </p:nvSpPr>
        <p:spPr>
          <a:xfrm>
            <a:off x="1257480" y="5729944"/>
            <a:ext cx="2625300" cy="4848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2100+ stores in Japan</a:t>
            </a:r>
            <a:endParaRPr sz="1200" b="0" i="0" u="none" strike="noStrike" cap="none">
              <a:solidFill>
                <a:srgbClr val="000000"/>
              </a:solidFill>
              <a:latin typeface="Arial"/>
              <a:ea typeface="Arial"/>
              <a:cs typeface="Arial"/>
              <a:sym typeface="Arial"/>
            </a:endParaRPr>
          </a:p>
          <a:p>
            <a:pPr marL="0" marR="0" lvl="0" indent="0" algn="l" rtl="0">
              <a:lnSpc>
                <a:spcPct val="110000"/>
              </a:lnSpc>
              <a:spcBef>
                <a:spcPts val="0"/>
              </a:spcBef>
              <a:spcAft>
                <a:spcPts val="0"/>
              </a:spcAft>
              <a:buClr>
                <a:srgbClr val="000000"/>
              </a:buClr>
              <a:buSzPts val="1500"/>
              <a:buFont typeface="Arial"/>
              <a:buNone/>
            </a:pPr>
            <a:r>
              <a:rPr lang="en-US" sz="1500" b="1" i="0" u="none" strike="noStrike" cap="none">
                <a:solidFill>
                  <a:srgbClr val="FFF800"/>
                </a:solidFill>
                <a:latin typeface="Inter"/>
                <a:ea typeface="Inter"/>
                <a:cs typeface="Inter"/>
                <a:sym typeface="Inter"/>
              </a:rPr>
              <a:t>3250+ stores worldwide</a:t>
            </a:r>
            <a:endParaRPr sz="1200" b="0" i="0" u="none" strike="noStrike" cap="none">
              <a:solidFill>
                <a:srgbClr val="000000"/>
              </a:solidFill>
              <a:latin typeface="Arial"/>
              <a:ea typeface="Arial"/>
              <a:cs typeface="Arial"/>
              <a:sym typeface="Arial"/>
            </a:endParaRPr>
          </a:p>
        </p:txBody>
      </p:sp>
      <p:sp>
        <p:nvSpPr>
          <p:cNvPr id="2436" name="Google Shape;2436;p35"/>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21" cstate="email">
              <a:alphaModFix/>
              <a:extLst>
                <a:ext uri="{28A0092B-C50C-407E-A947-70E740481C1C}">
                  <a14:useLocalDpi xmlns:a14="http://schemas.microsoft.com/office/drawing/2010/main"/>
                </a:ext>
              </a:extLst>
            </a:blip>
            <a:stretch>
              <a:fillRect b="-5"/>
            </a:stretch>
          </a:blipFill>
          <a:ln>
            <a:noFill/>
          </a:ln>
        </p:spPr>
      </p:sp>
      <p:grpSp>
        <p:nvGrpSpPr>
          <p:cNvPr id="2437" name="Google Shape;2437;p35"/>
          <p:cNvGrpSpPr/>
          <p:nvPr/>
        </p:nvGrpSpPr>
        <p:grpSpPr>
          <a:xfrm>
            <a:off x="872534" y="8351050"/>
            <a:ext cx="846442" cy="699635"/>
            <a:chOff x="0" y="0"/>
            <a:chExt cx="1269600" cy="1049400"/>
          </a:xfrm>
        </p:grpSpPr>
        <p:sp>
          <p:nvSpPr>
            <p:cNvPr id="2438" name="Google Shape;2438;p35"/>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2439" name="Google Shape;2439;p35"/>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b="0" i="0" u="none" strike="noStrike" cap="none" dirty="0">
                  <a:solidFill>
                    <a:schemeClr val="lt1"/>
                  </a:solidFill>
                  <a:latin typeface="Inter"/>
                  <a:ea typeface="Inter"/>
                  <a:cs typeface="Inter"/>
                  <a:sym typeface="Inter"/>
                </a:rPr>
                <a:t>34</a:t>
              </a:r>
              <a:endParaRPr sz="1200" b="0" i="0" u="none" strike="noStrike" cap="none" dirty="0">
                <a:solidFill>
                  <a:schemeClr val="lt1"/>
                </a:solidFill>
                <a:latin typeface="Arial"/>
                <a:ea typeface="Arial"/>
                <a:cs typeface="Arial"/>
                <a:sym typeface="Arial"/>
              </a:endParaRPr>
            </a:p>
          </p:txBody>
        </p:sp>
      </p:grpSp>
      <p:grpSp>
        <p:nvGrpSpPr>
          <p:cNvPr id="2" name="Google Shape;2248;p33">
            <a:extLst>
              <a:ext uri="{FF2B5EF4-FFF2-40B4-BE49-F238E27FC236}">
                <a16:creationId xmlns:a16="http://schemas.microsoft.com/office/drawing/2014/main" id="{9F84A3E9-0F92-3143-5794-79B1B52542D9}"/>
              </a:ext>
            </a:extLst>
          </p:cNvPr>
          <p:cNvGrpSpPr/>
          <p:nvPr/>
        </p:nvGrpSpPr>
        <p:grpSpPr>
          <a:xfrm>
            <a:off x="1395688" y="647442"/>
            <a:ext cx="922772" cy="955213"/>
            <a:chOff x="0" y="-28575"/>
            <a:chExt cx="812800" cy="841375"/>
          </a:xfrm>
        </p:grpSpPr>
        <p:sp>
          <p:nvSpPr>
            <p:cNvPr id="3" name="Google Shape;2249;p33">
              <a:extLst>
                <a:ext uri="{FF2B5EF4-FFF2-40B4-BE49-F238E27FC236}">
                  <a16:creationId xmlns:a16="http://schemas.microsoft.com/office/drawing/2014/main" id="{F2892A7C-1846-2A9C-C9D3-A719E3F80AE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Google Shape;2250;p33">
              <a:extLst>
                <a:ext uri="{FF2B5EF4-FFF2-40B4-BE49-F238E27FC236}">
                  <a16:creationId xmlns:a16="http://schemas.microsoft.com/office/drawing/2014/main" id="{40FB18D3-3C1A-BE2E-3020-9F6E6FF34FC3}"/>
                </a:ext>
              </a:extLst>
            </p:cNvPr>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5" name="Google Shape;2251;p33">
            <a:extLst>
              <a:ext uri="{FF2B5EF4-FFF2-40B4-BE49-F238E27FC236}">
                <a16:creationId xmlns:a16="http://schemas.microsoft.com/office/drawing/2014/main" id="{90545B25-B317-4567-F373-B391B4F1FFF9}"/>
              </a:ext>
            </a:extLst>
          </p:cNvPr>
          <p:cNvSpPr txBox="1"/>
          <p:nvPr/>
        </p:nvSpPr>
        <p:spPr>
          <a:xfrm>
            <a:off x="1583178" y="924950"/>
            <a:ext cx="547800" cy="40005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dirty="0">
                <a:solidFill>
                  <a:schemeClr val="dk2"/>
                </a:solidFill>
                <a:latin typeface="Inter"/>
                <a:ea typeface="Inter"/>
                <a:cs typeface="Inter"/>
                <a:sym typeface="Inter"/>
              </a:rPr>
              <a:t>03</a:t>
            </a:r>
            <a:endParaRPr sz="1800" b="0" i="0" u="none" strike="noStrike" cap="none" dirty="0">
              <a:solidFill>
                <a:schemeClr val="dk2"/>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43"/>
        <p:cNvGrpSpPr/>
        <p:nvPr/>
      </p:nvGrpSpPr>
      <p:grpSpPr>
        <a:xfrm>
          <a:off x="0" y="0"/>
          <a:ext cx="0" cy="0"/>
          <a:chOff x="0" y="0"/>
          <a:chExt cx="0" cy="0"/>
        </a:xfrm>
      </p:grpSpPr>
      <p:grpSp>
        <p:nvGrpSpPr>
          <p:cNvPr id="2444" name="Google Shape;2444;p36"/>
          <p:cNvGrpSpPr/>
          <p:nvPr/>
        </p:nvGrpSpPr>
        <p:grpSpPr>
          <a:xfrm>
            <a:off x="-49530" y="-360045"/>
            <a:ext cx="4204335" cy="9542145"/>
            <a:chOff x="0" y="-66675"/>
            <a:chExt cx="2748684" cy="2776008"/>
          </a:xfrm>
        </p:grpSpPr>
        <p:sp>
          <p:nvSpPr>
            <p:cNvPr id="2445" name="Google Shape;2445;p36"/>
            <p:cNvSpPr/>
            <p:nvPr/>
          </p:nvSpPr>
          <p:spPr>
            <a:xfrm>
              <a:off x="0" y="0"/>
              <a:ext cx="2748684" cy="2709333"/>
            </a:xfrm>
            <a:custGeom>
              <a:avLst/>
              <a:gdLst/>
              <a:ahLst/>
              <a:cxnLst/>
              <a:rect l="l" t="t" r="r" b="b"/>
              <a:pathLst>
                <a:path w="2748684" h="2709333" extrusionOk="0">
                  <a:moveTo>
                    <a:pt x="0" y="0"/>
                  </a:moveTo>
                  <a:lnTo>
                    <a:pt x="2748684" y="0"/>
                  </a:lnTo>
                  <a:lnTo>
                    <a:pt x="2748684" y="2709333"/>
                  </a:lnTo>
                  <a:lnTo>
                    <a:pt x="0" y="2709333"/>
                  </a:lnTo>
                  <a:close/>
                </a:path>
              </a:pathLst>
            </a:custGeom>
            <a:solidFill>
              <a:srgbClr val="003A86"/>
            </a:solidFill>
            <a:ln>
              <a:noFill/>
            </a:ln>
          </p:spPr>
        </p:sp>
        <p:sp>
          <p:nvSpPr>
            <p:cNvPr id="2446" name="Google Shape;2446;p36"/>
            <p:cNvSpPr txBox="1"/>
            <p:nvPr/>
          </p:nvSpPr>
          <p:spPr>
            <a:xfrm>
              <a:off x="0" y="-66675"/>
              <a:ext cx="2748600" cy="2775900"/>
            </a:xfrm>
            <a:prstGeom prst="rect">
              <a:avLst/>
            </a:prstGeom>
            <a:noFill/>
            <a:ln>
              <a:noFill/>
            </a:ln>
          </p:spPr>
          <p:txBody>
            <a:bodyPr spcFirstLastPara="1" wrap="square" lIns="45150" tIns="45150" rIns="45150" bIns="45150" anchor="ctr" anchorCtr="0">
              <a:noAutofit/>
            </a:bodyPr>
            <a:lstStyle/>
            <a:p>
              <a:pPr marL="0" marR="0" lvl="0" indent="0" algn="ctr" rtl="0">
                <a:lnSpc>
                  <a:spcPct val="160000"/>
                </a:lnSpc>
                <a:spcBef>
                  <a:spcPts val="0"/>
                </a:spcBef>
                <a:spcAft>
                  <a:spcPts val="0"/>
                </a:spcAft>
                <a:buClr>
                  <a:srgbClr val="000000"/>
                </a:buClr>
                <a:buSzPts val="1600"/>
                <a:buFont typeface="Arial"/>
                <a:buNone/>
              </a:pPr>
              <a:endParaRPr sz="600" b="0" i="0" u="none" strike="noStrike" cap="none">
                <a:solidFill>
                  <a:schemeClr val="dk1"/>
                </a:solidFill>
                <a:latin typeface="Calibri"/>
                <a:ea typeface="Calibri"/>
                <a:cs typeface="Calibri"/>
                <a:sym typeface="Calibri"/>
              </a:endParaRPr>
            </a:p>
          </p:txBody>
        </p:sp>
      </p:grpSp>
      <p:grpSp>
        <p:nvGrpSpPr>
          <p:cNvPr id="2447" name="Google Shape;2447;p36"/>
          <p:cNvGrpSpPr/>
          <p:nvPr/>
        </p:nvGrpSpPr>
        <p:grpSpPr>
          <a:xfrm>
            <a:off x="7096760" y="31750"/>
            <a:ext cx="9159240" cy="9275490"/>
            <a:chOff x="11013" y="439"/>
            <a:chExt cx="13470" cy="13641"/>
          </a:xfrm>
        </p:grpSpPr>
        <p:pic>
          <p:nvPicPr>
            <p:cNvPr id="2448" name="Google Shape;2448;p3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1013" y="439"/>
              <a:ext cx="13470" cy="13641"/>
            </a:xfrm>
            <a:prstGeom prst="rect">
              <a:avLst/>
            </a:prstGeom>
            <a:noFill/>
            <a:ln>
              <a:noFill/>
            </a:ln>
          </p:spPr>
        </p:pic>
        <p:sp>
          <p:nvSpPr>
            <p:cNvPr id="2449" name="Google Shape;2449;p36"/>
            <p:cNvSpPr txBox="1"/>
            <p:nvPr/>
          </p:nvSpPr>
          <p:spPr>
            <a:xfrm>
              <a:off x="11748" y="7960"/>
              <a:ext cx="2595" cy="33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1400" b="1" i="0" u="none" strike="noStrike" cap="none">
                  <a:solidFill>
                    <a:srgbClr val="3083C5"/>
                  </a:solidFill>
                  <a:latin typeface="Plus Jakarta Sans"/>
                  <a:ea typeface="Plus Jakarta Sans"/>
                  <a:cs typeface="Plus Jakarta Sans"/>
                  <a:sym typeface="Plus Jakarta Sans"/>
                </a:rPr>
                <a:t>Procurement</a:t>
              </a:r>
              <a:endParaRPr sz="1400" b="1" i="0" u="none" strike="noStrike" cap="none">
                <a:solidFill>
                  <a:srgbClr val="3083C5"/>
                </a:solidFill>
                <a:latin typeface="Plus Jakarta Sans"/>
                <a:ea typeface="Plus Jakarta Sans"/>
                <a:cs typeface="Plus Jakarta Sans"/>
                <a:sym typeface="Plus Jakarta Sans"/>
              </a:endParaRPr>
            </a:p>
          </p:txBody>
        </p:sp>
        <p:sp>
          <p:nvSpPr>
            <p:cNvPr id="2450" name="Google Shape;2450;p36"/>
            <p:cNvSpPr txBox="1"/>
            <p:nvPr/>
          </p:nvSpPr>
          <p:spPr>
            <a:xfrm>
              <a:off x="11460" y="5163"/>
              <a:ext cx="2369" cy="33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1400" b="1" i="0" u="none" strike="noStrike" cap="none">
                  <a:solidFill>
                    <a:srgbClr val="F9C513"/>
                  </a:solidFill>
                  <a:latin typeface="Plus Jakarta Sans"/>
                  <a:ea typeface="Plus Jakarta Sans"/>
                  <a:cs typeface="Plus Jakarta Sans"/>
                  <a:sym typeface="Plus Jakarta Sans"/>
                </a:rPr>
                <a:t>Warehouse</a:t>
              </a:r>
              <a:endParaRPr sz="1400" b="1" i="0" u="none" strike="noStrike" cap="none">
                <a:solidFill>
                  <a:srgbClr val="F9C513"/>
                </a:solidFill>
                <a:latin typeface="Plus Jakarta Sans"/>
                <a:ea typeface="Plus Jakarta Sans"/>
                <a:cs typeface="Plus Jakarta Sans"/>
                <a:sym typeface="Plus Jakarta Sans"/>
              </a:endParaRPr>
            </a:p>
          </p:txBody>
        </p:sp>
        <p:sp>
          <p:nvSpPr>
            <p:cNvPr id="2451" name="Google Shape;2451;p36"/>
            <p:cNvSpPr txBox="1"/>
            <p:nvPr/>
          </p:nvSpPr>
          <p:spPr>
            <a:xfrm>
              <a:off x="19275" y="3713"/>
              <a:ext cx="1969" cy="33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1400" b="1" i="0" u="none" strike="noStrike" cap="none">
                  <a:solidFill>
                    <a:srgbClr val="4DC2BC"/>
                  </a:solidFill>
                  <a:latin typeface="Plus Jakarta Sans"/>
                  <a:ea typeface="Plus Jakarta Sans"/>
                  <a:cs typeface="Plus Jakarta Sans"/>
                  <a:sym typeface="Plus Jakarta Sans"/>
                </a:rPr>
                <a:t>Shipping</a:t>
              </a:r>
              <a:endParaRPr sz="1400" b="1" i="0" u="none" strike="noStrike" cap="none">
                <a:solidFill>
                  <a:srgbClr val="4DC2BC"/>
                </a:solidFill>
                <a:latin typeface="Plus Jakarta Sans"/>
                <a:ea typeface="Plus Jakarta Sans"/>
                <a:cs typeface="Plus Jakarta Sans"/>
                <a:sym typeface="Plus Jakarta Sans"/>
              </a:endParaRPr>
            </a:p>
          </p:txBody>
        </p:sp>
        <p:sp>
          <p:nvSpPr>
            <p:cNvPr id="2452" name="Google Shape;2452;p36"/>
            <p:cNvSpPr txBox="1"/>
            <p:nvPr/>
          </p:nvSpPr>
          <p:spPr>
            <a:xfrm>
              <a:off x="13343" y="3713"/>
              <a:ext cx="1817" cy="652"/>
            </a:xfrm>
            <a:prstGeom prst="rect">
              <a:avLst/>
            </a:prstGeom>
            <a:noFill/>
            <a:ln>
              <a:noFill/>
            </a:ln>
          </p:spPr>
          <p:txBody>
            <a:bodyPr spcFirstLastPara="1" wrap="square" lIns="0" tIns="12700" rIns="0" bIns="0" anchor="t" anchorCtr="0">
              <a:spAutoFit/>
            </a:bodyPr>
            <a:lstStyle/>
            <a:p>
              <a:pPr marL="295275" marR="5080" lvl="0" indent="-283210" algn="l" rtl="0">
                <a:lnSpc>
                  <a:spcPct val="100000"/>
                </a:lnSpc>
                <a:spcBef>
                  <a:spcPts val="0"/>
                </a:spcBef>
                <a:spcAft>
                  <a:spcPts val="0"/>
                </a:spcAft>
                <a:buClr>
                  <a:srgbClr val="000000"/>
                </a:buClr>
                <a:buSzPts val="2000"/>
                <a:buFont typeface="Arial"/>
                <a:buNone/>
              </a:pPr>
              <a:r>
                <a:rPr lang="en-US" sz="1400" b="1" i="0" u="none" strike="noStrike" cap="none">
                  <a:solidFill>
                    <a:srgbClr val="D2DE3A"/>
                  </a:solidFill>
                  <a:latin typeface="Plus Jakarta Sans"/>
                  <a:ea typeface="Plus Jakarta Sans"/>
                  <a:cs typeface="Plus Jakarta Sans"/>
                  <a:sym typeface="Plus Jakarta Sans"/>
                </a:rPr>
                <a:t>Franchise Partner</a:t>
              </a:r>
              <a:endParaRPr sz="1400" b="1" i="0" u="none" strike="noStrike" cap="none">
                <a:solidFill>
                  <a:srgbClr val="D2DE3A"/>
                </a:solidFill>
                <a:latin typeface="Plus Jakarta Sans"/>
                <a:ea typeface="Plus Jakarta Sans"/>
                <a:cs typeface="Plus Jakarta Sans"/>
                <a:sym typeface="Plus Jakarta Sans"/>
              </a:endParaRPr>
            </a:p>
          </p:txBody>
        </p:sp>
        <p:sp>
          <p:nvSpPr>
            <p:cNvPr id="2453" name="Google Shape;2453;p36"/>
            <p:cNvSpPr txBox="1"/>
            <p:nvPr/>
          </p:nvSpPr>
          <p:spPr>
            <a:xfrm>
              <a:off x="12071" y="9137"/>
              <a:ext cx="3532" cy="1578"/>
            </a:xfrm>
            <a:prstGeom prst="rect">
              <a:avLst/>
            </a:prstGeom>
            <a:noFill/>
            <a:ln>
              <a:noFill/>
            </a:ln>
          </p:spPr>
          <p:txBody>
            <a:bodyPr spcFirstLastPara="1" wrap="square" lIns="0" tIns="166350" rIns="0" bIns="0" anchor="t" anchorCtr="0">
              <a:spAutoFit/>
            </a:bodyPr>
            <a:lstStyle/>
            <a:p>
              <a:pPr marL="73660" marR="0" lvl="0" indent="0" algn="l" rtl="0">
                <a:lnSpc>
                  <a:spcPct val="100000"/>
                </a:lnSpc>
                <a:spcBef>
                  <a:spcPts val="0"/>
                </a:spcBef>
                <a:spcAft>
                  <a:spcPts val="0"/>
                </a:spcAft>
                <a:buClr>
                  <a:srgbClr val="000000"/>
                </a:buClr>
                <a:buSzPts val="2000"/>
                <a:buFont typeface="Arial"/>
                <a:buNone/>
              </a:pPr>
              <a:r>
                <a:rPr lang="en-US" sz="1400" b="1" i="0" u="none" strike="noStrike" cap="none">
                  <a:solidFill>
                    <a:srgbClr val="1752A4"/>
                  </a:solidFill>
                  <a:latin typeface="Plus Jakarta Sans"/>
                  <a:ea typeface="Plus Jakarta Sans"/>
                  <a:cs typeface="Plus Jakarta Sans"/>
                  <a:sym typeface="Plus Jakarta Sans"/>
                </a:rPr>
                <a:t>Headquarter</a:t>
              </a:r>
              <a:endParaRPr sz="1400" b="0" i="0" u="none" strike="noStrike" cap="none">
                <a:solidFill>
                  <a:srgbClr val="000000"/>
                </a:solidFill>
                <a:latin typeface="Plus Jakarta Sans"/>
                <a:ea typeface="Plus Jakarta Sans"/>
                <a:cs typeface="Plus Jakarta Sans"/>
                <a:sym typeface="Plus Jakarta Sans"/>
              </a:endParaRPr>
            </a:p>
            <a:p>
              <a:pPr marL="381000" marR="0" lvl="0" indent="-285750" algn="l" rtl="0">
                <a:lnSpc>
                  <a:spcPct val="100000"/>
                </a:lnSpc>
                <a:spcBef>
                  <a:spcPts val="420"/>
                </a:spcBef>
                <a:spcAft>
                  <a:spcPts val="0"/>
                </a:spcAft>
                <a:buClr>
                  <a:srgbClr val="4D4D4F"/>
                </a:buClr>
                <a:buSzPts val="2100"/>
                <a:buFont typeface="Arial"/>
                <a:buChar char="•"/>
              </a:pPr>
              <a:r>
                <a:rPr lang="en-US" sz="1600" b="0" i="0" u="none" strike="noStrike" cap="none" baseline="30000">
                  <a:solidFill>
                    <a:srgbClr val="4D4D4F"/>
                  </a:solidFill>
                  <a:latin typeface="Plus Jakarta Sans"/>
                  <a:ea typeface="Plus Jakarta Sans"/>
                  <a:cs typeface="Plus Jakarta Sans"/>
                  <a:sym typeface="Plus Jakarta Sans"/>
                </a:rPr>
                <a:t>Administration </a:t>
              </a:r>
              <a:endParaRPr sz="1600" b="0" i="0" u="none" strike="noStrike" cap="none" baseline="30000">
                <a:solidFill>
                  <a:srgbClr val="4D4D4F"/>
                </a:solidFill>
                <a:latin typeface="Plus Jakarta Sans"/>
                <a:ea typeface="Plus Jakarta Sans"/>
                <a:cs typeface="Plus Jakarta Sans"/>
                <a:sym typeface="Plus Jakarta Sans"/>
              </a:endParaRPr>
            </a:p>
            <a:p>
              <a:pPr marL="381000" marR="0" lvl="0" indent="-285750" algn="l" rtl="0">
                <a:lnSpc>
                  <a:spcPct val="100000"/>
                </a:lnSpc>
                <a:spcBef>
                  <a:spcPts val="0"/>
                </a:spcBef>
                <a:spcAft>
                  <a:spcPts val="0"/>
                </a:spcAft>
                <a:buClr>
                  <a:srgbClr val="4D4D4F"/>
                </a:buClr>
                <a:buSzPts val="2100"/>
                <a:buFont typeface="Arial"/>
                <a:buChar char="•"/>
              </a:pPr>
              <a:r>
                <a:rPr lang="en-US" sz="1600" b="0" i="0" u="none" strike="noStrike" cap="none" baseline="30000">
                  <a:solidFill>
                    <a:srgbClr val="4D4D4F"/>
                  </a:solidFill>
                  <a:latin typeface="Plus Jakarta Sans"/>
                  <a:ea typeface="Plus Jakarta Sans"/>
                  <a:cs typeface="Plus Jakarta Sans"/>
                  <a:sym typeface="Plus Jakarta Sans"/>
                </a:rPr>
                <a:t>Finance </a:t>
              </a:r>
              <a:endParaRPr sz="1600" b="0" i="0" u="none" strike="noStrike" cap="none" baseline="30000">
                <a:solidFill>
                  <a:srgbClr val="4D4D4F"/>
                </a:solidFill>
                <a:latin typeface="Plus Jakarta Sans"/>
                <a:ea typeface="Plus Jakarta Sans"/>
                <a:cs typeface="Plus Jakarta Sans"/>
                <a:sym typeface="Plus Jakarta Sans"/>
              </a:endParaRPr>
            </a:p>
            <a:p>
              <a:pPr marL="381000" marR="0" lvl="0" indent="-285750" algn="l" rtl="0">
                <a:lnSpc>
                  <a:spcPct val="100000"/>
                </a:lnSpc>
                <a:spcBef>
                  <a:spcPts val="0"/>
                </a:spcBef>
                <a:spcAft>
                  <a:spcPts val="0"/>
                </a:spcAft>
                <a:buClr>
                  <a:srgbClr val="4D4D4F"/>
                </a:buClr>
                <a:buSzPts val="2100"/>
                <a:buFont typeface="Arial"/>
                <a:buChar char="•"/>
              </a:pPr>
              <a:r>
                <a:rPr lang="en-US" sz="1600" b="0" i="0" u="none" strike="noStrike" cap="none" baseline="30000">
                  <a:solidFill>
                    <a:srgbClr val="4D4D4F"/>
                  </a:solidFill>
                  <a:latin typeface="Plus Jakarta Sans"/>
                  <a:ea typeface="Plus Jakarta Sans"/>
                  <a:cs typeface="Plus Jakarta Sans"/>
                  <a:sym typeface="Plus Jakarta Sans"/>
                </a:rPr>
                <a:t>Information technology</a:t>
              </a:r>
              <a:endParaRPr sz="1600" b="0" i="0" u="none" strike="noStrike" cap="none" baseline="30000">
                <a:solidFill>
                  <a:srgbClr val="4D4D4F"/>
                </a:solidFill>
                <a:latin typeface="Plus Jakarta Sans"/>
                <a:ea typeface="Plus Jakarta Sans"/>
                <a:cs typeface="Plus Jakarta Sans"/>
                <a:sym typeface="Plus Jakarta Sans"/>
              </a:endParaRPr>
            </a:p>
            <a:p>
              <a:pPr marL="381000" marR="0" lvl="0" indent="-285750" algn="l" rtl="0">
                <a:lnSpc>
                  <a:spcPct val="100000"/>
                </a:lnSpc>
                <a:spcBef>
                  <a:spcPts val="0"/>
                </a:spcBef>
                <a:spcAft>
                  <a:spcPts val="0"/>
                </a:spcAft>
                <a:buClr>
                  <a:srgbClr val="4D4D4F"/>
                </a:buClr>
                <a:buSzPts val="2100"/>
                <a:buFont typeface="Arial"/>
                <a:buChar char="•"/>
              </a:pPr>
              <a:r>
                <a:rPr lang="en-US" sz="1600" b="0" i="0" u="none" strike="noStrike" cap="none" baseline="30000">
                  <a:solidFill>
                    <a:srgbClr val="4D4D4F"/>
                  </a:solidFill>
                  <a:latin typeface="Plus Jakarta Sans"/>
                  <a:ea typeface="Plus Jakarta Sans"/>
                  <a:cs typeface="Plus Jakarta Sans"/>
                  <a:sym typeface="Plus Jakarta Sans"/>
                </a:rPr>
                <a:t>Marketing</a:t>
              </a:r>
              <a:endParaRPr sz="1600" b="0" i="0" u="none" strike="noStrike" cap="none" baseline="30000">
                <a:solidFill>
                  <a:srgbClr val="4D4D4F"/>
                </a:solidFill>
                <a:latin typeface="Plus Jakarta Sans"/>
                <a:ea typeface="Plus Jakarta Sans"/>
                <a:cs typeface="Plus Jakarta Sans"/>
                <a:sym typeface="Plus Jakarta Sans"/>
              </a:endParaRPr>
            </a:p>
          </p:txBody>
        </p:sp>
        <p:sp>
          <p:nvSpPr>
            <p:cNvPr id="2454" name="Google Shape;2454;p36"/>
            <p:cNvSpPr txBox="1"/>
            <p:nvPr/>
          </p:nvSpPr>
          <p:spPr>
            <a:xfrm>
              <a:off x="21628" y="5522"/>
              <a:ext cx="2595" cy="1501"/>
            </a:xfrm>
            <a:prstGeom prst="rect">
              <a:avLst/>
            </a:prstGeom>
            <a:noFill/>
            <a:ln>
              <a:noFill/>
            </a:ln>
          </p:spPr>
          <p:txBody>
            <a:bodyPr spcFirstLastPara="1" wrap="square" lIns="0" tIns="166350" rIns="0" bIns="0" anchor="t" anchorCtr="0">
              <a:spAutoFit/>
            </a:bodyPr>
            <a:lstStyle/>
            <a:p>
              <a:pPr marL="107950" marR="0" lvl="0" indent="0" algn="l" rtl="0">
                <a:lnSpc>
                  <a:spcPct val="100000"/>
                </a:lnSpc>
                <a:spcBef>
                  <a:spcPts val="0"/>
                </a:spcBef>
                <a:spcAft>
                  <a:spcPts val="0"/>
                </a:spcAft>
                <a:buClr>
                  <a:srgbClr val="000000"/>
                </a:buClr>
                <a:buSzPts val="2000"/>
                <a:buFont typeface="Arial"/>
                <a:buNone/>
              </a:pPr>
              <a:r>
                <a:rPr lang="en-US" sz="1400" b="1" i="0" u="none" strike="noStrike" cap="none">
                  <a:solidFill>
                    <a:srgbClr val="1752A4"/>
                  </a:solidFill>
                  <a:latin typeface="Plus Jakarta Sans"/>
                  <a:ea typeface="Plus Jakarta Sans"/>
                  <a:cs typeface="Plus Jakarta Sans"/>
                  <a:sym typeface="Plus Jakarta Sans"/>
                </a:rPr>
                <a:t>Store</a:t>
              </a:r>
              <a:endParaRPr sz="1400" b="0" i="0" u="none" strike="noStrike" cap="none">
                <a:solidFill>
                  <a:srgbClr val="000000"/>
                </a:solidFill>
                <a:latin typeface="Plus Jakarta Sans"/>
                <a:ea typeface="Plus Jakarta Sans"/>
                <a:cs typeface="Plus Jakarta Sans"/>
                <a:sym typeface="Plus Jakarta Sans"/>
              </a:endParaRPr>
            </a:p>
            <a:p>
              <a:pPr marL="250190" marR="0" lvl="0" indent="-212725" algn="l" rtl="0">
                <a:lnSpc>
                  <a:spcPct val="100000"/>
                </a:lnSpc>
                <a:spcBef>
                  <a:spcPts val="845"/>
                </a:spcBef>
                <a:spcAft>
                  <a:spcPts val="0"/>
                </a:spcAft>
                <a:buClr>
                  <a:srgbClr val="4D4D4F"/>
                </a:buClr>
                <a:buSzPts val="1400"/>
                <a:buFont typeface="Plus Jakarta Sans"/>
                <a:buChar char="•"/>
              </a:pPr>
              <a:r>
                <a:rPr lang="en-US" sz="900" b="0" i="0" u="none" strike="noStrike" cap="none">
                  <a:solidFill>
                    <a:srgbClr val="4E4E4F"/>
                  </a:solidFill>
                  <a:latin typeface="Plus Jakarta Sans"/>
                  <a:ea typeface="Plus Jakarta Sans"/>
                  <a:cs typeface="Plus Jakarta Sans"/>
                  <a:sym typeface="Plus Jakarta Sans"/>
                </a:rPr>
                <a:t>Store Advisor</a:t>
              </a:r>
              <a:endParaRPr sz="900" b="0" i="0" u="none" strike="noStrike" cap="none">
                <a:solidFill>
                  <a:srgbClr val="000000"/>
                </a:solidFill>
                <a:latin typeface="Plus Jakarta Sans"/>
                <a:ea typeface="Plus Jakarta Sans"/>
                <a:cs typeface="Plus Jakarta Sans"/>
                <a:sym typeface="Plus Jakarta Sans"/>
              </a:endParaRPr>
            </a:p>
            <a:p>
              <a:pPr marL="250190" marR="0" lvl="0" indent="-212725" algn="l" rtl="0">
                <a:lnSpc>
                  <a:spcPct val="100000"/>
                </a:lnSpc>
                <a:spcBef>
                  <a:spcPts val="450"/>
                </a:spcBef>
                <a:spcAft>
                  <a:spcPts val="0"/>
                </a:spcAft>
                <a:buClr>
                  <a:srgbClr val="4D4D4F"/>
                </a:buClr>
                <a:buSzPts val="1400"/>
                <a:buFont typeface="Plus Jakarta Sans"/>
                <a:buChar char="•"/>
              </a:pPr>
              <a:r>
                <a:rPr lang="en-US" sz="900" b="0" i="0" u="none" strike="noStrike" cap="none">
                  <a:solidFill>
                    <a:srgbClr val="4E4E4F"/>
                  </a:solidFill>
                  <a:latin typeface="Plus Jakarta Sans"/>
                  <a:ea typeface="Plus Jakarta Sans"/>
                  <a:cs typeface="Plus Jakarta Sans"/>
                  <a:sym typeface="Plus Jakarta Sans"/>
                </a:rPr>
                <a:t>Store Manager</a:t>
              </a:r>
              <a:endParaRPr sz="900" b="0" i="0" u="none" strike="noStrike" cap="none">
                <a:solidFill>
                  <a:srgbClr val="000000"/>
                </a:solidFill>
                <a:latin typeface="Plus Jakarta Sans"/>
                <a:ea typeface="Plus Jakarta Sans"/>
                <a:cs typeface="Plus Jakarta Sans"/>
                <a:sym typeface="Plus Jakarta Sans"/>
              </a:endParaRPr>
            </a:p>
            <a:p>
              <a:pPr marL="250190" marR="0" lvl="0" indent="-212725" algn="l" rtl="0">
                <a:lnSpc>
                  <a:spcPct val="100000"/>
                </a:lnSpc>
                <a:spcBef>
                  <a:spcPts val="450"/>
                </a:spcBef>
                <a:spcAft>
                  <a:spcPts val="0"/>
                </a:spcAft>
                <a:buClr>
                  <a:srgbClr val="4D4D4F"/>
                </a:buClr>
                <a:buSzPts val="1400"/>
                <a:buFont typeface="Plus Jakarta Sans"/>
                <a:buChar char="•"/>
              </a:pPr>
              <a:r>
                <a:rPr lang="en-US" sz="900" b="0" i="0" u="none" strike="noStrike" cap="none">
                  <a:solidFill>
                    <a:srgbClr val="4E4E4F"/>
                  </a:solidFill>
                  <a:latin typeface="Plus Jakarta Sans"/>
                  <a:ea typeface="Plus Jakarta Sans"/>
                  <a:cs typeface="Plus Jakarta Sans"/>
                  <a:sym typeface="Plus Jakarta Sans"/>
                </a:rPr>
                <a:t>Franchise Partner</a:t>
              </a:r>
              <a:endParaRPr sz="900" b="0" i="0" u="none" strike="noStrike" cap="none">
                <a:solidFill>
                  <a:srgbClr val="4E4E4F"/>
                </a:solidFill>
                <a:latin typeface="Plus Jakarta Sans"/>
                <a:ea typeface="Plus Jakarta Sans"/>
                <a:cs typeface="Plus Jakarta Sans"/>
                <a:sym typeface="Plus Jakarta Sans"/>
              </a:endParaRPr>
            </a:p>
          </p:txBody>
        </p:sp>
      </p:grpSp>
      <p:sp>
        <p:nvSpPr>
          <p:cNvPr id="2455" name="Google Shape;2455;p36"/>
          <p:cNvSpPr txBox="1"/>
          <p:nvPr/>
        </p:nvSpPr>
        <p:spPr>
          <a:xfrm>
            <a:off x="8848090" y="4152265"/>
            <a:ext cx="192405" cy="15113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900" b="0" i="0" u="none" strike="noStrike" cap="none">
                <a:solidFill>
                  <a:srgbClr val="FFFFFF"/>
                </a:solidFill>
                <a:latin typeface="Noto Sans JP"/>
                <a:ea typeface="Noto Sans JP"/>
                <a:cs typeface="Noto Sans JP"/>
                <a:sym typeface="Noto Sans JP"/>
              </a:rPr>
              <a:t>•</a:t>
            </a:r>
            <a:endParaRPr sz="900" b="0" i="0" u="none" strike="noStrike" cap="none">
              <a:solidFill>
                <a:srgbClr val="FFFFFF"/>
              </a:solidFill>
              <a:latin typeface="Noto Sans JP"/>
              <a:ea typeface="Noto Sans JP"/>
              <a:cs typeface="Noto Sans JP"/>
              <a:sym typeface="Noto Sans JP"/>
            </a:endParaRPr>
          </a:p>
        </p:txBody>
      </p:sp>
      <p:sp>
        <p:nvSpPr>
          <p:cNvPr id="2456" name="Google Shape;2456;p36"/>
          <p:cNvSpPr/>
          <p:nvPr/>
        </p:nvSpPr>
        <p:spPr>
          <a:xfrm>
            <a:off x="1067683" y="2357511"/>
            <a:ext cx="1969770" cy="447039"/>
          </a:xfrm>
          <a:custGeom>
            <a:avLst/>
            <a:gdLst/>
            <a:ahLst/>
            <a:cxnLst/>
            <a:rect l="l" t="t" r="r" b="b"/>
            <a:pathLst>
              <a:path w="1969770" h="447039" extrusionOk="0">
                <a:moveTo>
                  <a:pt x="1905787" y="0"/>
                </a:moveTo>
                <a:lnTo>
                  <a:pt x="63423" y="0"/>
                </a:lnTo>
                <a:lnTo>
                  <a:pt x="38736" y="4982"/>
                </a:lnTo>
                <a:lnTo>
                  <a:pt x="18576" y="18570"/>
                </a:lnTo>
                <a:lnTo>
                  <a:pt x="4984" y="38726"/>
                </a:lnTo>
                <a:lnTo>
                  <a:pt x="0" y="63411"/>
                </a:lnTo>
                <a:lnTo>
                  <a:pt x="0" y="383260"/>
                </a:lnTo>
                <a:lnTo>
                  <a:pt x="4984" y="407940"/>
                </a:lnTo>
                <a:lnTo>
                  <a:pt x="18576" y="428096"/>
                </a:lnTo>
                <a:lnTo>
                  <a:pt x="38736" y="441687"/>
                </a:lnTo>
                <a:lnTo>
                  <a:pt x="63423" y="446671"/>
                </a:lnTo>
                <a:lnTo>
                  <a:pt x="1905787" y="446671"/>
                </a:lnTo>
                <a:lnTo>
                  <a:pt x="1930472" y="441687"/>
                </a:lnTo>
                <a:lnTo>
                  <a:pt x="1950627" y="428096"/>
                </a:lnTo>
                <a:lnTo>
                  <a:pt x="1964216" y="407940"/>
                </a:lnTo>
                <a:lnTo>
                  <a:pt x="1969198" y="383260"/>
                </a:lnTo>
                <a:lnTo>
                  <a:pt x="1969198" y="63411"/>
                </a:lnTo>
                <a:lnTo>
                  <a:pt x="1964216" y="38726"/>
                </a:lnTo>
                <a:lnTo>
                  <a:pt x="1950627" y="18570"/>
                </a:lnTo>
                <a:lnTo>
                  <a:pt x="1930472" y="4982"/>
                </a:lnTo>
                <a:lnTo>
                  <a:pt x="1905787" y="0"/>
                </a:lnTo>
                <a:close/>
              </a:path>
            </a:pathLst>
          </a:custGeom>
          <a:solidFill>
            <a:srgbClr val="FFF800"/>
          </a:solidFill>
          <a:ln>
            <a:noFill/>
          </a:ln>
        </p:spPr>
        <p:txBody>
          <a:bodyPr spcFirstLastPara="1" wrap="square" lIns="0" tIns="0" rIns="0" bIns="0" anchor="ctr" anchorCtr="0">
            <a:noAutofit/>
          </a:bodyPr>
          <a:lstStyle/>
          <a:p>
            <a:pPr marL="20955"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595959"/>
                </a:solidFill>
                <a:latin typeface="Plus Jakarta Sans"/>
                <a:ea typeface="Plus Jakarta Sans"/>
                <a:cs typeface="Plus Jakarta Sans"/>
                <a:sym typeface="Plus Jakarta Sans"/>
              </a:rPr>
              <a:t>CHALLENGE</a:t>
            </a:r>
            <a:endParaRPr sz="2000" b="1" i="0" u="none" strike="noStrike" cap="none">
              <a:solidFill>
                <a:srgbClr val="595959"/>
              </a:solidFill>
              <a:latin typeface="Plus Jakarta Sans"/>
              <a:ea typeface="Plus Jakarta Sans"/>
              <a:cs typeface="Plus Jakarta Sans"/>
              <a:sym typeface="Plus Jakarta Sans"/>
            </a:endParaRPr>
          </a:p>
        </p:txBody>
      </p:sp>
      <p:sp>
        <p:nvSpPr>
          <p:cNvPr id="2457" name="Google Shape;2457;p36"/>
          <p:cNvSpPr txBox="1"/>
          <p:nvPr/>
        </p:nvSpPr>
        <p:spPr>
          <a:xfrm>
            <a:off x="312033" y="2990850"/>
            <a:ext cx="3481070" cy="2676525"/>
          </a:xfrm>
          <a:prstGeom prst="rect">
            <a:avLst/>
          </a:prstGeom>
          <a:noFill/>
          <a:ln>
            <a:noFill/>
          </a:ln>
        </p:spPr>
        <p:txBody>
          <a:bodyPr spcFirstLastPara="1" wrap="square" lIns="0" tIns="12700" rIns="0" bIns="0" anchor="t" anchorCtr="0">
            <a:spAutoFit/>
          </a:bodyPr>
          <a:lstStyle/>
          <a:p>
            <a:pPr marL="297815" marR="5080" lvl="0" indent="-285750" algn="l" rtl="0">
              <a:lnSpc>
                <a:spcPct val="127000"/>
              </a:lnSpc>
              <a:spcBef>
                <a:spcPts val="1605"/>
              </a:spcBef>
              <a:spcAft>
                <a:spcPts val="0"/>
              </a:spcAft>
              <a:buClr>
                <a:srgbClr val="4D4D4F"/>
              </a:buClr>
              <a:buSzPts val="1400"/>
              <a:buFont typeface="Arial"/>
              <a:buChar char="•"/>
            </a:pPr>
            <a:r>
              <a:rPr lang="en-US" sz="1400" b="0" i="0" u="none" strike="noStrike" cap="none">
                <a:solidFill>
                  <a:schemeClr val="lt1"/>
                </a:solidFill>
                <a:latin typeface="Plus Jakarta Sans"/>
                <a:ea typeface="Plus Jakarta Sans"/>
                <a:cs typeface="Plus Jakarta Sans"/>
                <a:sym typeface="Plus Jakarta Sans"/>
              </a:rPr>
              <a:t>VTI has to acquire thorough know-how in retail industry generally and in customer business speciﬁcally in order to utilise up-to-date softwares &amp; technologies</a:t>
            </a:r>
            <a:endParaRPr sz="1400" b="0" i="0" u="none" strike="noStrike" cap="none">
              <a:solidFill>
                <a:schemeClr val="lt1"/>
              </a:solidFill>
              <a:latin typeface="Plus Jakarta Sans"/>
              <a:ea typeface="Plus Jakarta Sans"/>
              <a:cs typeface="Plus Jakarta Sans"/>
              <a:sym typeface="Plus Jakarta Sans"/>
            </a:endParaRPr>
          </a:p>
          <a:p>
            <a:pPr marL="297815" marR="5080" lvl="0" indent="-196850" algn="l" rtl="0">
              <a:lnSpc>
                <a:spcPct val="127000"/>
              </a:lnSpc>
              <a:spcBef>
                <a:spcPts val="1605"/>
              </a:spcBef>
              <a:spcAft>
                <a:spcPts val="0"/>
              </a:spcAft>
              <a:buClr>
                <a:srgbClr val="4D4D4F"/>
              </a:buClr>
              <a:buSzPts val="1400"/>
              <a:buFont typeface="Arial"/>
              <a:buNone/>
            </a:pPr>
            <a:endParaRPr sz="1400" b="0" i="0" u="none" strike="noStrike" cap="none">
              <a:solidFill>
                <a:schemeClr val="lt1"/>
              </a:solidFill>
              <a:latin typeface="Plus Jakarta Sans"/>
              <a:ea typeface="Plus Jakarta Sans"/>
              <a:cs typeface="Plus Jakarta Sans"/>
              <a:sym typeface="Plus Jakarta Sans"/>
            </a:endParaRPr>
          </a:p>
          <a:p>
            <a:pPr marL="297815" marR="412115" lvl="0" indent="-285750" algn="l" rtl="0">
              <a:lnSpc>
                <a:spcPct val="127000"/>
              </a:lnSpc>
              <a:spcBef>
                <a:spcPts val="0"/>
              </a:spcBef>
              <a:spcAft>
                <a:spcPts val="0"/>
              </a:spcAft>
              <a:buClr>
                <a:srgbClr val="4D4D4F"/>
              </a:buClr>
              <a:buSzPts val="1400"/>
              <a:buFont typeface="Arial"/>
              <a:buChar char="•"/>
            </a:pPr>
            <a:r>
              <a:rPr lang="en-US" sz="1400" b="0" i="0" u="none" strike="noStrike" cap="none">
                <a:solidFill>
                  <a:schemeClr val="lt1"/>
                </a:solidFill>
                <a:latin typeface="Plus Jakarta Sans"/>
                <a:ea typeface="Plus Jakarta Sans"/>
                <a:cs typeface="Plus Jakarta Sans"/>
                <a:sym typeface="Plus Jakarta Sans"/>
              </a:rPr>
              <a:t>Involving in high-level processes with such a new business as micro-market</a:t>
            </a:r>
            <a:endParaRPr sz="1400" b="0" i="0" u="none" strike="noStrike" cap="none">
              <a:solidFill>
                <a:schemeClr val="lt1"/>
              </a:solidFill>
              <a:latin typeface="Plus Jakarta Sans"/>
              <a:ea typeface="Plus Jakarta Sans"/>
              <a:cs typeface="Plus Jakarta Sans"/>
              <a:sym typeface="Plus Jakarta Sans"/>
            </a:endParaRPr>
          </a:p>
        </p:txBody>
      </p:sp>
      <p:sp>
        <p:nvSpPr>
          <p:cNvPr id="2458" name="Google Shape;2458;p36"/>
          <p:cNvSpPr txBox="1"/>
          <p:nvPr/>
        </p:nvSpPr>
        <p:spPr>
          <a:xfrm>
            <a:off x="4493846" y="7978410"/>
            <a:ext cx="9090600" cy="723900"/>
          </a:xfrm>
          <a:prstGeom prst="rect">
            <a:avLst/>
          </a:prstGeom>
          <a:noFill/>
          <a:ln>
            <a:noFill/>
          </a:ln>
        </p:spPr>
        <p:txBody>
          <a:bodyPr spcFirstLastPara="1" wrap="square" lIns="0" tIns="12700" rIns="0" bIns="0" anchor="ctr" anchorCtr="0">
            <a:spAutoFit/>
          </a:bodyPr>
          <a:lstStyle/>
          <a:p>
            <a:pPr marL="245745" marR="0" lvl="0" indent="-233680" algn="l" rtl="0">
              <a:lnSpc>
                <a:spcPct val="115000"/>
              </a:lnSpc>
              <a:spcBef>
                <a:spcPts val="207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Comprehensive understanding of retail business acquired, therefrom building a centralized operation management system from headquarter to stores</a:t>
            </a:r>
            <a:endParaRPr sz="1400" b="0" i="0" u="none" strike="noStrike" cap="none">
              <a:solidFill>
                <a:srgbClr val="000000"/>
              </a:solidFill>
              <a:latin typeface="Plus Jakarta Sans"/>
              <a:ea typeface="Plus Jakarta Sans"/>
              <a:cs typeface="Plus Jakarta Sans"/>
              <a:sym typeface="Plus Jakarta Sans"/>
            </a:endParaRPr>
          </a:p>
          <a:p>
            <a:pPr marL="245745" marR="802005" lvl="0" indent="-233680" algn="l" rtl="0">
              <a:lnSpc>
                <a:spcPct val="115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Sufficient business knowledge accumulated for future micro-market projects</a:t>
            </a:r>
            <a:endParaRPr sz="1400" b="0" i="0" u="none" strike="noStrike" cap="none">
              <a:solidFill>
                <a:srgbClr val="000000"/>
              </a:solidFill>
              <a:latin typeface="Plus Jakarta Sans"/>
              <a:ea typeface="Plus Jakarta Sans"/>
              <a:cs typeface="Plus Jakarta Sans"/>
              <a:sym typeface="Plus Jakarta Sans"/>
            </a:endParaRPr>
          </a:p>
        </p:txBody>
      </p:sp>
      <p:sp>
        <p:nvSpPr>
          <p:cNvPr id="2459" name="Google Shape;2459;p36"/>
          <p:cNvSpPr txBox="1"/>
          <p:nvPr/>
        </p:nvSpPr>
        <p:spPr>
          <a:xfrm>
            <a:off x="4602371" y="2245360"/>
            <a:ext cx="2771775" cy="831850"/>
          </a:xfrm>
          <a:prstGeom prst="rect">
            <a:avLst/>
          </a:prstGeom>
          <a:noFill/>
          <a:ln>
            <a:noFill/>
          </a:ln>
        </p:spPr>
        <p:txBody>
          <a:bodyPr spcFirstLastPara="1" wrap="square" lIns="0" tIns="12700" rIns="0" bIns="0" anchor="ctr" anchorCtr="0">
            <a:spAutoFit/>
          </a:bodyPr>
          <a:lstStyle/>
          <a:p>
            <a:pPr marL="12700" marR="5080" lvl="0" indent="0" algn="l" rtl="0">
              <a:lnSpc>
                <a:spcPct val="127000"/>
              </a:lnSpc>
              <a:spcBef>
                <a:spcPts val="1615"/>
              </a:spcBef>
              <a:spcAft>
                <a:spcPts val="0"/>
              </a:spcAft>
              <a:buClr>
                <a:srgbClr val="000000"/>
              </a:buClr>
              <a:buSzPts val="1400"/>
              <a:buFont typeface="Arial"/>
              <a:buNone/>
            </a:pPr>
            <a:r>
              <a:rPr lang="en-US" sz="1400" b="0" i="0" u="none" strike="noStrike" cap="none">
                <a:solidFill>
                  <a:srgbClr val="4D4D4F"/>
                </a:solidFill>
                <a:latin typeface="Plus Jakarta Sans"/>
                <a:ea typeface="Plus Jakarta Sans"/>
                <a:cs typeface="Plus Jakarta Sans"/>
                <a:sym typeface="Plus Jakarta Sans"/>
              </a:rPr>
              <a:t>Learn by digging deep into retail systems and operations during development</a:t>
            </a:r>
            <a:endParaRPr sz="1400" b="0" i="0" u="none" strike="noStrike" cap="none">
              <a:solidFill>
                <a:srgbClr val="000000"/>
              </a:solidFill>
              <a:latin typeface="Plus Jakarta Sans"/>
              <a:ea typeface="Plus Jakarta Sans"/>
              <a:cs typeface="Plus Jakarta Sans"/>
              <a:sym typeface="Plus Jakarta Sans"/>
            </a:endParaRPr>
          </a:p>
        </p:txBody>
      </p:sp>
      <p:sp>
        <p:nvSpPr>
          <p:cNvPr id="2460" name="Google Shape;2460;p36"/>
          <p:cNvSpPr txBox="1"/>
          <p:nvPr/>
        </p:nvSpPr>
        <p:spPr>
          <a:xfrm>
            <a:off x="4738820" y="691004"/>
            <a:ext cx="11298600" cy="42291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 </a:t>
            </a:r>
            <a:r>
              <a:rPr lang="en-US" sz="2500" b="1" i="0" u="none" strike="noStrike" cap="none">
                <a:solidFill>
                  <a:srgbClr val="004AAD"/>
                </a:solidFill>
                <a:latin typeface="Inter"/>
                <a:ea typeface="Inter"/>
                <a:cs typeface="Inter"/>
                <a:sym typeface="Inter"/>
              </a:rPr>
              <a:t>COMPREHENSIVE RETAIL SYSTEM DEVELOPMENT (1/4)</a:t>
            </a:r>
            <a:endParaRPr sz="1200" b="0" i="0" u="none" strike="noStrike" cap="none">
              <a:solidFill>
                <a:srgbClr val="000000"/>
              </a:solidFill>
              <a:latin typeface="Arial"/>
              <a:ea typeface="Arial"/>
              <a:cs typeface="Arial"/>
              <a:sym typeface="Arial"/>
            </a:endParaRPr>
          </a:p>
        </p:txBody>
      </p:sp>
      <p:grpSp>
        <p:nvGrpSpPr>
          <p:cNvPr id="2461" name="Google Shape;2461;p36"/>
          <p:cNvGrpSpPr/>
          <p:nvPr/>
        </p:nvGrpSpPr>
        <p:grpSpPr>
          <a:xfrm>
            <a:off x="1591182" y="647442"/>
            <a:ext cx="922772" cy="955213"/>
            <a:chOff x="0" y="-28575"/>
            <a:chExt cx="812800" cy="841375"/>
          </a:xfrm>
        </p:grpSpPr>
        <p:sp>
          <p:nvSpPr>
            <p:cNvPr id="2462" name="Google Shape;2462;p3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3" name="Google Shape;2463;p36"/>
            <p:cNvSpPr txBox="1"/>
            <p:nvPr/>
          </p:nvSpPr>
          <p:spPr>
            <a:xfrm>
              <a:off x="76200" y="-28575"/>
              <a:ext cx="660300" cy="765300"/>
            </a:xfrm>
            <a:prstGeom prst="rect">
              <a:avLst/>
            </a:prstGeom>
            <a:noFill/>
            <a:ln>
              <a:noFill/>
            </a:ln>
          </p:spPr>
          <p:txBody>
            <a:bodyPr spcFirstLastPara="1" wrap="square" lIns="45150" tIns="45150" rIns="45150" bIns="45150" anchor="ctr" anchorCtr="0">
              <a:noAutofit/>
            </a:bodyPr>
            <a:lstStyle/>
            <a:p>
              <a:pPr marL="0" marR="0" lvl="0" indent="0" algn="ctr" rtl="0">
                <a:lnSpc>
                  <a:spcPct val="165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grpSp>
      <p:sp>
        <p:nvSpPr>
          <p:cNvPr id="2464" name="Google Shape;2464;p36"/>
          <p:cNvSpPr txBox="1"/>
          <p:nvPr/>
        </p:nvSpPr>
        <p:spPr>
          <a:xfrm>
            <a:off x="1778668" y="950350"/>
            <a:ext cx="547800" cy="4000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dk2"/>
                </a:solidFill>
                <a:latin typeface="Inter"/>
                <a:ea typeface="Inter"/>
                <a:cs typeface="Inter"/>
                <a:sym typeface="Inter"/>
              </a:rPr>
              <a:t>04</a:t>
            </a:r>
            <a:endParaRPr sz="1800" b="0" i="0" u="none" strike="noStrike" cap="none">
              <a:solidFill>
                <a:schemeClr val="dk2"/>
              </a:solidFill>
              <a:latin typeface="Arial"/>
              <a:ea typeface="Arial"/>
              <a:cs typeface="Arial"/>
              <a:sym typeface="Arial"/>
            </a:endParaRPr>
          </a:p>
        </p:txBody>
      </p:sp>
      <p:cxnSp>
        <p:nvCxnSpPr>
          <p:cNvPr id="2465" name="Google Shape;2465;p36"/>
          <p:cNvCxnSpPr/>
          <p:nvPr/>
        </p:nvCxnSpPr>
        <p:spPr>
          <a:xfrm>
            <a:off x="4602371" y="2070568"/>
            <a:ext cx="5541600"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466" name="Google Shape;2466;p36"/>
          <p:cNvSpPr txBox="1"/>
          <p:nvPr/>
        </p:nvSpPr>
        <p:spPr>
          <a:xfrm>
            <a:off x="4602371" y="1724321"/>
            <a:ext cx="3310500" cy="30734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Approach</a:t>
            </a:r>
            <a:endParaRPr sz="1200" b="0" i="0" u="none" strike="noStrike" cap="none">
              <a:solidFill>
                <a:srgbClr val="000000"/>
              </a:solidFill>
              <a:latin typeface="Arial"/>
              <a:ea typeface="Arial"/>
              <a:cs typeface="Arial"/>
              <a:sym typeface="Arial"/>
            </a:endParaRPr>
          </a:p>
        </p:txBody>
      </p:sp>
      <p:cxnSp>
        <p:nvCxnSpPr>
          <p:cNvPr id="2467" name="Google Shape;2467;p36"/>
          <p:cNvCxnSpPr/>
          <p:nvPr/>
        </p:nvCxnSpPr>
        <p:spPr>
          <a:xfrm>
            <a:off x="4493846" y="7887438"/>
            <a:ext cx="5541600"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468" name="Google Shape;2468;p36"/>
          <p:cNvSpPr txBox="1"/>
          <p:nvPr/>
        </p:nvSpPr>
        <p:spPr>
          <a:xfrm>
            <a:off x="4493846" y="7541191"/>
            <a:ext cx="3310500" cy="307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Result</a:t>
            </a:r>
            <a:endParaRPr sz="1200" b="0" i="0" u="none" strike="noStrike" cap="none">
              <a:solidFill>
                <a:srgbClr val="000000"/>
              </a:solidFill>
              <a:latin typeface="Arial"/>
              <a:ea typeface="Arial"/>
              <a:cs typeface="Arial"/>
              <a:sym typeface="Arial"/>
            </a:endParaRPr>
          </a:p>
        </p:txBody>
      </p:sp>
      <p:sp>
        <p:nvSpPr>
          <p:cNvPr id="2" name="Google Shape;2436;p35">
            <a:extLst>
              <a:ext uri="{FF2B5EF4-FFF2-40B4-BE49-F238E27FC236}">
                <a16:creationId xmlns:a16="http://schemas.microsoft.com/office/drawing/2014/main" id="{61D4B0BD-3A80-CB9E-B514-7506D4745CD9}"/>
              </a:ext>
            </a:extLst>
          </p:cNvPr>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b="-5"/>
            </a:stretch>
          </a:blipFill>
          <a:ln>
            <a:noFill/>
          </a:ln>
        </p:spPr>
      </p:sp>
      <p:grpSp>
        <p:nvGrpSpPr>
          <p:cNvPr id="3" name="Google Shape;2437;p35">
            <a:extLst>
              <a:ext uri="{FF2B5EF4-FFF2-40B4-BE49-F238E27FC236}">
                <a16:creationId xmlns:a16="http://schemas.microsoft.com/office/drawing/2014/main" id="{17730271-F798-47C4-0721-8BEBD3E360DE}"/>
              </a:ext>
            </a:extLst>
          </p:cNvPr>
          <p:cNvGrpSpPr/>
          <p:nvPr/>
        </p:nvGrpSpPr>
        <p:grpSpPr>
          <a:xfrm>
            <a:off x="872534" y="8351050"/>
            <a:ext cx="846442" cy="699635"/>
            <a:chOff x="0" y="0"/>
            <a:chExt cx="1269600" cy="1049400"/>
          </a:xfrm>
        </p:grpSpPr>
        <p:sp>
          <p:nvSpPr>
            <p:cNvPr id="4" name="Google Shape;2438;p35">
              <a:extLst>
                <a:ext uri="{FF2B5EF4-FFF2-40B4-BE49-F238E27FC236}">
                  <a16:creationId xmlns:a16="http://schemas.microsoft.com/office/drawing/2014/main" id="{13E8AFB7-DFCF-9B5E-7DED-749147FFC337}"/>
                </a:ext>
              </a:extLst>
            </p:cNvPr>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5" name="Google Shape;2439;p35">
              <a:extLst>
                <a:ext uri="{FF2B5EF4-FFF2-40B4-BE49-F238E27FC236}">
                  <a16:creationId xmlns:a16="http://schemas.microsoft.com/office/drawing/2014/main" id="{B9C6A121-8452-60E1-B478-39CE2384FF78}"/>
                </a:ext>
              </a:extLst>
            </p:cNvPr>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b="0" i="0" u="none" strike="noStrike" cap="none" dirty="0">
                  <a:solidFill>
                    <a:schemeClr val="lt1"/>
                  </a:solidFill>
                  <a:latin typeface="Inter"/>
                  <a:ea typeface="Inter"/>
                  <a:cs typeface="Inter"/>
                  <a:sym typeface="Inter"/>
                </a:rPr>
                <a:t>35</a:t>
              </a:r>
              <a:endParaRPr sz="1200" b="0" i="0" u="none" strike="noStrike" cap="none" dirty="0">
                <a:solidFill>
                  <a:schemeClr val="lt1"/>
                </a:solidFill>
                <a:latin typeface="Arial"/>
                <a:ea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72"/>
        <p:cNvGrpSpPr/>
        <p:nvPr/>
      </p:nvGrpSpPr>
      <p:grpSpPr>
        <a:xfrm>
          <a:off x="0" y="0"/>
          <a:ext cx="0" cy="0"/>
          <a:chOff x="0" y="0"/>
          <a:chExt cx="0" cy="0"/>
        </a:xfrm>
      </p:grpSpPr>
      <p:sp>
        <p:nvSpPr>
          <p:cNvPr id="2473" name="Google Shape;2473;p37"/>
          <p:cNvSpPr txBox="1"/>
          <p:nvPr/>
        </p:nvSpPr>
        <p:spPr>
          <a:xfrm>
            <a:off x="-255905" y="374015"/>
            <a:ext cx="4488180" cy="1298575"/>
          </a:xfrm>
          <a:prstGeom prst="rect">
            <a:avLst/>
          </a:prstGeom>
          <a:noFill/>
          <a:ln>
            <a:noFill/>
          </a:ln>
        </p:spPr>
        <p:txBody>
          <a:bodyPr spcFirstLastPara="1" wrap="square" lIns="45150" tIns="45150" rIns="45150" bIns="45150" anchor="ctr" anchorCtr="0">
            <a:noAutofit/>
          </a:bodyPr>
          <a:lstStyle/>
          <a:p>
            <a:pPr marL="0" marR="0" lvl="0" indent="0" algn="ctr" rtl="0">
              <a:lnSpc>
                <a:spcPct val="132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2474" name="Google Shape;2474;p37"/>
          <p:cNvSpPr/>
          <p:nvPr/>
        </p:nvSpPr>
        <p:spPr>
          <a:xfrm>
            <a:off x="15642358" y="6017751"/>
            <a:ext cx="46355" cy="45720"/>
          </a:xfrm>
          <a:custGeom>
            <a:avLst/>
            <a:gdLst/>
            <a:ahLst/>
            <a:cxnLst/>
            <a:rect l="l" t="t" r="r" b="b"/>
            <a:pathLst>
              <a:path w="46355" h="45720" extrusionOk="0">
                <a:moveTo>
                  <a:pt x="22847" y="0"/>
                </a:moveTo>
                <a:lnTo>
                  <a:pt x="13957" y="1794"/>
                </a:lnTo>
                <a:lnTo>
                  <a:pt x="6694" y="6689"/>
                </a:lnTo>
                <a:lnTo>
                  <a:pt x="1796" y="13951"/>
                </a:lnTo>
                <a:lnTo>
                  <a:pt x="0" y="22847"/>
                </a:lnTo>
                <a:lnTo>
                  <a:pt x="1796" y="31735"/>
                </a:lnTo>
                <a:lnTo>
                  <a:pt x="6694" y="38993"/>
                </a:lnTo>
                <a:lnTo>
                  <a:pt x="13957" y="43887"/>
                </a:lnTo>
                <a:lnTo>
                  <a:pt x="22847" y="45681"/>
                </a:lnTo>
                <a:lnTo>
                  <a:pt x="23088" y="45681"/>
                </a:lnTo>
                <a:lnTo>
                  <a:pt x="31958" y="43887"/>
                </a:lnTo>
                <a:lnTo>
                  <a:pt x="39177" y="38993"/>
                </a:lnTo>
                <a:lnTo>
                  <a:pt x="44032" y="31735"/>
                </a:lnTo>
                <a:lnTo>
                  <a:pt x="45808" y="22847"/>
                </a:lnTo>
                <a:lnTo>
                  <a:pt x="43994" y="13951"/>
                </a:lnTo>
                <a:lnTo>
                  <a:pt x="39057" y="6689"/>
                </a:lnTo>
                <a:lnTo>
                  <a:pt x="31755" y="1794"/>
                </a:lnTo>
                <a:lnTo>
                  <a:pt x="22847" y="0"/>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5" name="Google Shape;2475;p37"/>
          <p:cNvSpPr/>
          <p:nvPr/>
        </p:nvSpPr>
        <p:spPr>
          <a:xfrm>
            <a:off x="14359370" y="5090058"/>
            <a:ext cx="1559559" cy="1071245"/>
          </a:xfrm>
          <a:custGeom>
            <a:avLst/>
            <a:gdLst/>
            <a:ahLst/>
            <a:cxnLst/>
            <a:rect l="l" t="t" r="r" b="b"/>
            <a:pathLst>
              <a:path w="1559559" h="1071245" extrusionOk="0">
                <a:moveTo>
                  <a:pt x="240982" y="877303"/>
                </a:moveTo>
                <a:lnTo>
                  <a:pt x="239179" y="868413"/>
                </a:lnTo>
                <a:lnTo>
                  <a:pt x="234289" y="861148"/>
                </a:lnTo>
                <a:lnTo>
                  <a:pt x="227037" y="856259"/>
                </a:lnTo>
                <a:lnTo>
                  <a:pt x="218147" y="854456"/>
                </a:lnTo>
                <a:lnTo>
                  <a:pt x="169316" y="854456"/>
                </a:lnTo>
                <a:lnTo>
                  <a:pt x="160426" y="856259"/>
                </a:lnTo>
                <a:lnTo>
                  <a:pt x="153162" y="861148"/>
                </a:lnTo>
                <a:lnTo>
                  <a:pt x="148272" y="868413"/>
                </a:lnTo>
                <a:lnTo>
                  <a:pt x="146481" y="877303"/>
                </a:lnTo>
                <a:lnTo>
                  <a:pt x="148272" y="886193"/>
                </a:lnTo>
                <a:lnTo>
                  <a:pt x="153162" y="893457"/>
                </a:lnTo>
                <a:lnTo>
                  <a:pt x="160426" y="898347"/>
                </a:lnTo>
                <a:lnTo>
                  <a:pt x="169316" y="900137"/>
                </a:lnTo>
                <a:lnTo>
                  <a:pt x="218147" y="900137"/>
                </a:lnTo>
                <a:lnTo>
                  <a:pt x="227037" y="898347"/>
                </a:lnTo>
                <a:lnTo>
                  <a:pt x="234289" y="893457"/>
                </a:lnTo>
                <a:lnTo>
                  <a:pt x="239179" y="886193"/>
                </a:lnTo>
                <a:lnTo>
                  <a:pt x="240982" y="877303"/>
                </a:lnTo>
                <a:close/>
              </a:path>
              <a:path w="1559559" h="1071245" extrusionOk="0">
                <a:moveTo>
                  <a:pt x="265404" y="779653"/>
                </a:moveTo>
                <a:lnTo>
                  <a:pt x="263601" y="770763"/>
                </a:lnTo>
                <a:lnTo>
                  <a:pt x="258711" y="763498"/>
                </a:lnTo>
                <a:lnTo>
                  <a:pt x="251447" y="758596"/>
                </a:lnTo>
                <a:lnTo>
                  <a:pt x="242557" y="756805"/>
                </a:lnTo>
                <a:lnTo>
                  <a:pt x="96075" y="756805"/>
                </a:lnTo>
                <a:lnTo>
                  <a:pt x="87185" y="758596"/>
                </a:lnTo>
                <a:lnTo>
                  <a:pt x="79933" y="763498"/>
                </a:lnTo>
                <a:lnTo>
                  <a:pt x="75031" y="770763"/>
                </a:lnTo>
                <a:lnTo>
                  <a:pt x="73240" y="779653"/>
                </a:lnTo>
                <a:lnTo>
                  <a:pt x="75031" y="788543"/>
                </a:lnTo>
                <a:lnTo>
                  <a:pt x="79933" y="795794"/>
                </a:lnTo>
                <a:lnTo>
                  <a:pt x="87185" y="800696"/>
                </a:lnTo>
                <a:lnTo>
                  <a:pt x="96075" y="802487"/>
                </a:lnTo>
                <a:lnTo>
                  <a:pt x="242557" y="802487"/>
                </a:lnTo>
                <a:lnTo>
                  <a:pt x="251447" y="800696"/>
                </a:lnTo>
                <a:lnTo>
                  <a:pt x="258711" y="795794"/>
                </a:lnTo>
                <a:lnTo>
                  <a:pt x="263601" y="788543"/>
                </a:lnTo>
                <a:lnTo>
                  <a:pt x="265404" y="779653"/>
                </a:lnTo>
                <a:close/>
              </a:path>
              <a:path w="1559559" h="1071245" extrusionOk="0">
                <a:moveTo>
                  <a:pt x="289814" y="682002"/>
                </a:moveTo>
                <a:lnTo>
                  <a:pt x="288023" y="673100"/>
                </a:lnTo>
                <a:lnTo>
                  <a:pt x="283121" y="665848"/>
                </a:lnTo>
                <a:lnTo>
                  <a:pt x="275856" y="660946"/>
                </a:lnTo>
                <a:lnTo>
                  <a:pt x="266966" y="659155"/>
                </a:lnTo>
                <a:lnTo>
                  <a:pt x="22834" y="659155"/>
                </a:lnTo>
                <a:lnTo>
                  <a:pt x="13944" y="660946"/>
                </a:lnTo>
                <a:lnTo>
                  <a:pt x="6692" y="665848"/>
                </a:lnTo>
                <a:lnTo>
                  <a:pt x="1790" y="673100"/>
                </a:lnTo>
                <a:lnTo>
                  <a:pt x="0" y="682002"/>
                </a:lnTo>
                <a:lnTo>
                  <a:pt x="1790" y="690892"/>
                </a:lnTo>
                <a:lnTo>
                  <a:pt x="6692" y="698144"/>
                </a:lnTo>
                <a:lnTo>
                  <a:pt x="13944" y="703046"/>
                </a:lnTo>
                <a:lnTo>
                  <a:pt x="22834" y="704837"/>
                </a:lnTo>
                <a:lnTo>
                  <a:pt x="266966" y="704837"/>
                </a:lnTo>
                <a:lnTo>
                  <a:pt x="275856" y="703046"/>
                </a:lnTo>
                <a:lnTo>
                  <a:pt x="283121" y="698144"/>
                </a:lnTo>
                <a:lnTo>
                  <a:pt x="288023" y="690892"/>
                </a:lnTo>
                <a:lnTo>
                  <a:pt x="289814" y="682002"/>
                </a:lnTo>
                <a:close/>
              </a:path>
              <a:path w="1559559" h="1071245" extrusionOk="0">
                <a:moveTo>
                  <a:pt x="387464" y="364629"/>
                </a:moveTo>
                <a:lnTo>
                  <a:pt x="385673" y="355739"/>
                </a:lnTo>
                <a:lnTo>
                  <a:pt x="380771" y="348475"/>
                </a:lnTo>
                <a:lnTo>
                  <a:pt x="373519" y="343573"/>
                </a:lnTo>
                <a:lnTo>
                  <a:pt x="364629" y="341782"/>
                </a:lnTo>
                <a:lnTo>
                  <a:pt x="340207" y="341782"/>
                </a:lnTo>
                <a:lnTo>
                  <a:pt x="331317" y="343573"/>
                </a:lnTo>
                <a:lnTo>
                  <a:pt x="324065" y="348475"/>
                </a:lnTo>
                <a:lnTo>
                  <a:pt x="319163" y="355739"/>
                </a:lnTo>
                <a:lnTo>
                  <a:pt x="317373" y="364629"/>
                </a:lnTo>
                <a:lnTo>
                  <a:pt x="319163" y="373519"/>
                </a:lnTo>
                <a:lnTo>
                  <a:pt x="324065" y="380771"/>
                </a:lnTo>
                <a:lnTo>
                  <a:pt x="331317" y="385673"/>
                </a:lnTo>
                <a:lnTo>
                  <a:pt x="340207" y="387477"/>
                </a:lnTo>
                <a:lnTo>
                  <a:pt x="364629" y="387477"/>
                </a:lnTo>
                <a:lnTo>
                  <a:pt x="373519" y="385673"/>
                </a:lnTo>
                <a:lnTo>
                  <a:pt x="380771" y="380771"/>
                </a:lnTo>
                <a:lnTo>
                  <a:pt x="385673" y="373519"/>
                </a:lnTo>
                <a:lnTo>
                  <a:pt x="387464" y="364629"/>
                </a:lnTo>
                <a:close/>
              </a:path>
              <a:path w="1559559" h="1071245" extrusionOk="0">
                <a:moveTo>
                  <a:pt x="571982" y="950544"/>
                </a:moveTo>
                <a:lnTo>
                  <a:pt x="570166" y="941654"/>
                </a:lnTo>
                <a:lnTo>
                  <a:pt x="565238" y="934389"/>
                </a:lnTo>
                <a:lnTo>
                  <a:pt x="557936" y="929500"/>
                </a:lnTo>
                <a:lnTo>
                  <a:pt x="549021" y="927696"/>
                </a:lnTo>
                <a:lnTo>
                  <a:pt x="540131" y="929500"/>
                </a:lnTo>
                <a:lnTo>
                  <a:pt x="532866" y="934389"/>
                </a:lnTo>
                <a:lnTo>
                  <a:pt x="527977" y="941654"/>
                </a:lnTo>
                <a:lnTo>
                  <a:pt x="526173" y="950544"/>
                </a:lnTo>
                <a:lnTo>
                  <a:pt x="527977" y="959434"/>
                </a:lnTo>
                <a:lnTo>
                  <a:pt x="532866" y="966698"/>
                </a:lnTo>
                <a:lnTo>
                  <a:pt x="540131" y="971588"/>
                </a:lnTo>
                <a:lnTo>
                  <a:pt x="549021" y="973378"/>
                </a:lnTo>
                <a:lnTo>
                  <a:pt x="549262" y="973378"/>
                </a:lnTo>
                <a:lnTo>
                  <a:pt x="558139" y="971588"/>
                </a:lnTo>
                <a:lnTo>
                  <a:pt x="565353" y="966698"/>
                </a:lnTo>
                <a:lnTo>
                  <a:pt x="570204" y="959434"/>
                </a:lnTo>
                <a:lnTo>
                  <a:pt x="571982" y="950544"/>
                </a:lnTo>
                <a:close/>
              </a:path>
              <a:path w="1559559" h="1071245" extrusionOk="0">
                <a:moveTo>
                  <a:pt x="607174" y="584352"/>
                </a:moveTo>
                <a:lnTo>
                  <a:pt x="605383" y="575449"/>
                </a:lnTo>
                <a:lnTo>
                  <a:pt x="600494" y="568185"/>
                </a:lnTo>
                <a:lnTo>
                  <a:pt x="593229" y="563295"/>
                </a:lnTo>
                <a:lnTo>
                  <a:pt x="584339" y="561505"/>
                </a:lnTo>
                <a:lnTo>
                  <a:pt x="575449" y="563295"/>
                </a:lnTo>
                <a:lnTo>
                  <a:pt x="568185" y="568185"/>
                </a:lnTo>
                <a:lnTo>
                  <a:pt x="563295" y="575449"/>
                </a:lnTo>
                <a:lnTo>
                  <a:pt x="561492" y="584352"/>
                </a:lnTo>
                <a:lnTo>
                  <a:pt x="561492" y="608761"/>
                </a:lnTo>
                <a:lnTo>
                  <a:pt x="563295" y="617651"/>
                </a:lnTo>
                <a:lnTo>
                  <a:pt x="568185" y="624903"/>
                </a:lnTo>
                <a:lnTo>
                  <a:pt x="575449" y="629793"/>
                </a:lnTo>
                <a:lnTo>
                  <a:pt x="584339" y="631596"/>
                </a:lnTo>
                <a:lnTo>
                  <a:pt x="593229" y="629793"/>
                </a:lnTo>
                <a:lnTo>
                  <a:pt x="600494" y="624903"/>
                </a:lnTo>
                <a:lnTo>
                  <a:pt x="605383" y="617651"/>
                </a:lnTo>
                <a:lnTo>
                  <a:pt x="607174" y="608761"/>
                </a:lnTo>
                <a:lnTo>
                  <a:pt x="607174" y="584352"/>
                </a:lnTo>
                <a:close/>
              </a:path>
              <a:path w="1559559" h="1071245" extrusionOk="0">
                <a:moveTo>
                  <a:pt x="607174" y="120484"/>
                </a:moveTo>
                <a:lnTo>
                  <a:pt x="605383" y="111594"/>
                </a:lnTo>
                <a:lnTo>
                  <a:pt x="600494" y="104343"/>
                </a:lnTo>
                <a:lnTo>
                  <a:pt x="593229" y="99453"/>
                </a:lnTo>
                <a:lnTo>
                  <a:pt x="584339" y="97650"/>
                </a:lnTo>
                <a:lnTo>
                  <a:pt x="575449" y="99453"/>
                </a:lnTo>
                <a:lnTo>
                  <a:pt x="568185" y="104343"/>
                </a:lnTo>
                <a:lnTo>
                  <a:pt x="563295" y="111594"/>
                </a:lnTo>
                <a:lnTo>
                  <a:pt x="561492" y="120484"/>
                </a:lnTo>
                <a:lnTo>
                  <a:pt x="561492" y="144894"/>
                </a:lnTo>
                <a:lnTo>
                  <a:pt x="563295" y="153797"/>
                </a:lnTo>
                <a:lnTo>
                  <a:pt x="568185" y="161061"/>
                </a:lnTo>
                <a:lnTo>
                  <a:pt x="575449" y="165950"/>
                </a:lnTo>
                <a:lnTo>
                  <a:pt x="584339" y="167741"/>
                </a:lnTo>
                <a:lnTo>
                  <a:pt x="593229" y="165950"/>
                </a:lnTo>
                <a:lnTo>
                  <a:pt x="600494" y="161061"/>
                </a:lnTo>
                <a:lnTo>
                  <a:pt x="605383" y="153797"/>
                </a:lnTo>
                <a:lnTo>
                  <a:pt x="607174" y="144894"/>
                </a:lnTo>
                <a:lnTo>
                  <a:pt x="607174" y="120484"/>
                </a:lnTo>
                <a:close/>
              </a:path>
              <a:path w="1559559" h="1071245" extrusionOk="0">
                <a:moveTo>
                  <a:pt x="778078" y="193738"/>
                </a:moveTo>
                <a:lnTo>
                  <a:pt x="776401" y="185140"/>
                </a:lnTo>
                <a:lnTo>
                  <a:pt x="771385" y="177584"/>
                </a:lnTo>
                <a:lnTo>
                  <a:pt x="763828" y="172567"/>
                </a:lnTo>
                <a:lnTo>
                  <a:pt x="755230" y="170891"/>
                </a:lnTo>
                <a:lnTo>
                  <a:pt x="746633" y="172567"/>
                </a:lnTo>
                <a:lnTo>
                  <a:pt x="739076" y="177584"/>
                </a:lnTo>
                <a:lnTo>
                  <a:pt x="616204" y="300469"/>
                </a:lnTo>
                <a:lnTo>
                  <a:pt x="610323" y="297942"/>
                </a:lnTo>
                <a:lnTo>
                  <a:pt x="610323" y="364629"/>
                </a:lnTo>
                <a:lnTo>
                  <a:pt x="608279" y="374726"/>
                </a:lnTo>
                <a:lnTo>
                  <a:pt x="602703" y="382993"/>
                </a:lnTo>
                <a:lnTo>
                  <a:pt x="594448" y="388569"/>
                </a:lnTo>
                <a:lnTo>
                  <a:pt x="584339" y="390613"/>
                </a:lnTo>
                <a:lnTo>
                  <a:pt x="574243" y="388569"/>
                </a:lnTo>
                <a:lnTo>
                  <a:pt x="565975" y="382993"/>
                </a:lnTo>
                <a:lnTo>
                  <a:pt x="560400" y="374726"/>
                </a:lnTo>
                <a:lnTo>
                  <a:pt x="558355" y="364629"/>
                </a:lnTo>
                <a:lnTo>
                  <a:pt x="560400" y="354520"/>
                </a:lnTo>
                <a:lnTo>
                  <a:pt x="602703" y="346265"/>
                </a:lnTo>
                <a:lnTo>
                  <a:pt x="610323" y="364629"/>
                </a:lnTo>
                <a:lnTo>
                  <a:pt x="610323" y="297942"/>
                </a:lnTo>
                <a:lnTo>
                  <a:pt x="608787" y="297268"/>
                </a:lnTo>
                <a:lnTo>
                  <a:pt x="600964" y="294906"/>
                </a:lnTo>
                <a:lnTo>
                  <a:pt x="592797" y="293458"/>
                </a:lnTo>
                <a:lnTo>
                  <a:pt x="584339" y="292963"/>
                </a:lnTo>
                <a:lnTo>
                  <a:pt x="556475" y="298602"/>
                </a:lnTo>
                <a:lnTo>
                  <a:pt x="533692" y="313969"/>
                </a:lnTo>
                <a:lnTo>
                  <a:pt x="518312" y="336753"/>
                </a:lnTo>
                <a:lnTo>
                  <a:pt x="512673" y="364629"/>
                </a:lnTo>
                <a:lnTo>
                  <a:pt x="513168" y="373075"/>
                </a:lnTo>
                <a:lnTo>
                  <a:pt x="514629" y="381241"/>
                </a:lnTo>
                <a:lnTo>
                  <a:pt x="516978" y="389064"/>
                </a:lnTo>
                <a:lnTo>
                  <a:pt x="520166" y="396494"/>
                </a:lnTo>
                <a:lnTo>
                  <a:pt x="470535" y="446138"/>
                </a:lnTo>
                <a:lnTo>
                  <a:pt x="465518" y="453682"/>
                </a:lnTo>
                <a:lnTo>
                  <a:pt x="463854" y="462280"/>
                </a:lnTo>
                <a:lnTo>
                  <a:pt x="465518" y="470877"/>
                </a:lnTo>
                <a:lnTo>
                  <a:pt x="470535" y="478434"/>
                </a:lnTo>
                <a:lnTo>
                  <a:pt x="474992" y="482892"/>
                </a:lnTo>
                <a:lnTo>
                  <a:pt x="480834" y="485127"/>
                </a:lnTo>
                <a:lnTo>
                  <a:pt x="492531" y="485127"/>
                </a:lnTo>
                <a:lnTo>
                  <a:pt x="498386" y="482892"/>
                </a:lnTo>
                <a:lnTo>
                  <a:pt x="552475" y="428790"/>
                </a:lnTo>
                <a:lnTo>
                  <a:pt x="559892" y="431977"/>
                </a:lnTo>
                <a:lnTo>
                  <a:pt x="567715" y="434340"/>
                </a:lnTo>
                <a:lnTo>
                  <a:pt x="575881" y="435787"/>
                </a:lnTo>
                <a:lnTo>
                  <a:pt x="584339" y="436295"/>
                </a:lnTo>
                <a:lnTo>
                  <a:pt x="612216" y="430644"/>
                </a:lnTo>
                <a:lnTo>
                  <a:pt x="650367" y="392493"/>
                </a:lnTo>
                <a:lnTo>
                  <a:pt x="656005" y="364629"/>
                </a:lnTo>
                <a:lnTo>
                  <a:pt x="655510" y="356171"/>
                </a:lnTo>
                <a:lnTo>
                  <a:pt x="654050" y="348005"/>
                </a:lnTo>
                <a:lnTo>
                  <a:pt x="651700" y="340182"/>
                </a:lnTo>
                <a:lnTo>
                  <a:pt x="651040" y="338645"/>
                </a:lnTo>
                <a:lnTo>
                  <a:pt x="648500" y="332765"/>
                </a:lnTo>
                <a:lnTo>
                  <a:pt x="680796" y="300469"/>
                </a:lnTo>
                <a:lnTo>
                  <a:pt x="771385" y="209892"/>
                </a:lnTo>
                <a:lnTo>
                  <a:pt x="776401" y="202323"/>
                </a:lnTo>
                <a:lnTo>
                  <a:pt x="778078" y="193738"/>
                </a:lnTo>
                <a:close/>
              </a:path>
              <a:path w="1559559" h="1071245" extrusionOk="0">
                <a:moveTo>
                  <a:pt x="851319" y="364617"/>
                </a:moveTo>
                <a:lnTo>
                  <a:pt x="849515" y="355727"/>
                </a:lnTo>
                <a:lnTo>
                  <a:pt x="844626" y="348475"/>
                </a:lnTo>
                <a:lnTo>
                  <a:pt x="837361" y="343573"/>
                </a:lnTo>
                <a:lnTo>
                  <a:pt x="828471" y="341782"/>
                </a:lnTo>
                <a:lnTo>
                  <a:pt x="804062" y="341782"/>
                </a:lnTo>
                <a:lnTo>
                  <a:pt x="795172" y="343573"/>
                </a:lnTo>
                <a:lnTo>
                  <a:pt x="787908" y="348475"/>
                </a:lnTo>
                <a:lnTo>
                  <a:pt x="783018" y="355727"/>
                </a:lnTo>
                <a:lnTo>
                  <a:pt x="781227" y="364617"/>
                </a:lnTo>
                <a:lnTo>
                  <a:pt x="783018" y="373519"/>
                </a:lnTo>
                <a:lnTo>
                  <a:pt x="787908" y="380771"/>
                </a:lnTo>
                <a:lnTo>
                  <a:pt x="795172" y="385673"/>
                </a:lnTo>
                <a:lnTo>
                  <a:pt x="804062" y="387464"/>
                </a:lnTo>
                <a:lnTo>
                  <a:pt x="828471" y="387464"/>
                </a:lnTo>
                <a:lnTo>
                  <a:pt x="837361" y="385673"/>
                </a:lnTo>
                <a:lnTo>
                  <a:pt x="844626" y="380771"/>
                </a:lnTo>
                <a:lnTo>
                  <a:pt x="849515" y="373519"/>
                </a:lnTo>
                <a:lnTo>
                  <a:pt x="851319" y="364617"/>
                </a:lnTo>
                <a:close/>
              </a:path>
              <a:path w="1559559" h="1071245" extrusionOk="0">
                <a:moveTo>
                  <a:pt x="948969" y="364629"/>
                </a:moveTo>
                <a:lnTo>
                  <a:pt x="945642" y="315214"/>
                </a:lnTo>
                <a:lnTo>
                  <a:pt x="935926" y="267804"/>
                </a:lnTo>
                <a:lnTo>
                  <a:pt x="920267" y="222834"/>
                </a:lnTo>
                <a:lnTo>
                  <a:pt x="903287" y="189039"/>
                </a:lnTo>
                <a:lnTo>
                  <a:pt x="903287" y="364629"/>
                </a:lnTo>
                <a:lnTo>
                  <a:pt x="899820" y="411695"/>
                </a:lnTo>
                <a:lnTo>
                  <a:pt x="889762" y="456641"/>
                </a:lnTo>
                <a:lnTo>
                  <a:pt x="873594" y="498957"/>
                </a:lnTo>
                <a:lnTo>
                  <a:pt x="851839" y="538162"/>
                </a:lnTo>
                <a:lnTo>
                  <a:pt x="824966" y="573760"/>
                </a:lnTo>
                <a:lnTo>
                  <a:pt x="793483" y="605243"/>
                </a:lnTo>
                <a:lnTo>
                  <a:pt x="757885" y="632104"/>
                </a:lnTo>
                <a:lnTo>
                  <a:pt x="718680" y="653872"/>
                </a:lnTo>
                <a:lnTo>
                  <a:pt x="676351" y="670039"/>
                </a:lnTo>
                <a:lnTo>
                  <a:pt x="631405" y="680097"/>
                </a:lnTo>
                <a:lnTo>
                  <a:pt x="584339" y="683564"/>
                </a:lnTo>
                <a:lnTo>
                  <a:pt x="537273" y="680097"/>
                </a:lnTo>
                <a:lnTo>
                  <a:pt x="492328" y="670039"/>
                </a:lnTo>
                <a:lnTo>
                  <a:pt x="449999" y="653872"/>
                </a:lnTo>
                <a:lnTo>
                  <a:pt x="410794" y="632104"/>
                </a:lnTo>
                <a:lnTo>
                  <a:pt x="375208" y="605243"/>
                </a:lnTo>
                <a:lnTo>
                  <a:pt x="343725" y="573760"/>
                </a:lnTo>
                <a:lnTo>
                  <a:pt x="316852" y="538162"/>
                </a:lnTo>
                <a:lnTo>
                  <a:pt x="295084" y="498957"/>
                </a:lnTo>
                <a:lnTo>
                  <a:pt x="278917" y="456641"/>
                </a:lnTo>
                <a:lnTo>
                  <a:pt x="268859" y="411695"/>
                </a:lnTo>
                <a:lnTo>
                  <a:pt x="265391" y="364629"/>
                </a:lnTo>
                <a:lnTo>
                  <a:pt x="268859" y="317563"/>
                </a:lnTo>
                <a:lnTo>
                  <a:pt x="278917" y="272618"/>
                </a:lnTo>
                <a:lnTo>
                  <a:pt x="295084" y="230289"/>
                </a:lnTo>
                <a:lnTo>
                  <a:pt x="316852" y="191084"/>
                </a:lnTo>
                <a:lnTo>
                  <a:pt x="343725" y="155486"/>
                </a:lnTo>
                <a:lnTo>
                  <a:pt x="375208" y="124015"/>
                </a:lnTo>
                <a:lnTo>
                  <a:pt x="410794" y="97142"/>
                </a:lnTo>
                <a:lnTo>
                  <a:pt x="449999" y="75374"/>
                </a:lnTo>
                <a:lnTo>
                  <a:pt x="492328" y="59207"/>
                </a:lnTo>
                <a:lnTo>
                  <a:pt x="537273" y="49149"/>
                </a:lnTo>
                <a:lnTo>
                  <a:pt x="584339" y="45681"/>
                </a:lnTo>
                <a:lnTo>
                  <a:pt x="631405" y="49149"/>
                </a:lnTo>
                <a:lnTo>
                  <a:pt x="676351" y="59207"/>
                </a:lnTo>
                <a:lnTo>
                  <a:pt x="718680" y="75374"/>
                </a:lnTo>
                <a:lnTo>
                  <a:pt x="757885" y="97142"/>
                </a:lnTo>
                <a:lnTo>
                  <a:pt x="793483" y="124015"/>
                </a:lnTo>
                <a:lnTo>
                  <a:pt x="824966" y="155486"/>
                </a:lnTo>
                <a:lnTo>
                  <a:pt x="851839" y="191084"/>
                </a:lnTo>
                <a:lnTo>
                  <a:pt x="873594" y="230289"/>
                </a:lnTo>
                <a:lnTo>
                  <a:pt x="889762" y="272618"/>
                </a:lnTo>
                <a:lnTo>
                  <a:pt x="899820" y="317563"/>
                </a:lnTo>
                <a:lnTo>
                  <a:pt x="903287" y="364629"/>
                </a:lnTo>
                <a:lnTo>
                  <a:pt x="903287" y="189039"/>
                </a:lnTo>
                <a:lnTo>
                  <a:pt x="872896" y="141947"/>
                </a:lnTo>
                <a:lnTo>
                  <a:pt x="842048" y="106908"/>
                </a:lnTo>
                <a:lnTo>
                  <a:pt x="807021" y="76073"/>
                </a:lnTo>
                <a:lnTo>
                  <a:pt x="768235" y="49847"/>
                </a:lnTo>
                <a:lnTo>
                  <a:pt x="759929" y="45681"/>
                </a:lnTo>
                <a:lnTo>
                  <a:pt x="726135" y="28702"/>
                </a:lnTo>
                <a:lnTo>
                  <a:pt x="681164" y="13042"/>
                </a:lnTo>
                <a:lnTo>
                  <a:pt x="633755" y="3340"/>
                </a:lnTo>
                <a:lnTo>
                  <a:pt x="584339" y="0"/>
                </a:lnTo>
                <a:lnTo>
                  <a:pt x="534936" y="3340"/>
                </a:lnTo>
                <a:lnTo>
                  <a:pt x="487527" y="13042"/>
                </a:lnTo>
                <a:lnTo>
                  <a:pt x="442544" y="28702"/>
                </a:lnTo>
                <a:lnTo>
                  <a:pt x="400456" y="49860"/>
                </a:lnTo>
                <a:lnTo>
                  <a:pt x="361670" y="76073"/>
                </a:lnTo>
                <a:lnTo>
                  <a:pt x="326631" y="106921"/>
                </a:lnTo>
                <a:lnTo>
                  <a:pt x="295783" y="141947"/>
                </a:lnTo>
                <a:lnTo>
                  <a:pt x="269570" y="180733"/>
                </a:lnTo>
                <a:lnTo>
                  <a:pt x="248412" y="222834"/>
                </a:lnTo>
                <a:lnTo>
                  <a:pt x="232765" y="267804"/>
                </a:lnTo>
                <a:lnTo>
                  <a:pt x="223050" y="315214"/>
                </a:lnTo>
                <a:lnTo>
                  <a:pt x="219710" y="364629"/>
                </a:lnTo>
                <a:lnTo>
                  <a:pt x="223050" y="414045"/>
                </a:lnTo>
                <a:lnTo>
                  <a:pt x="232765" y="461454"/>
                </a:lnTo>
                <a:lnTo>
                  <a:pt x="248412" y="506425"/>
                </a:lnTo>
                <a:lnTo>
                  <a:pt x="269570" y="548513"/>
                </a:lnTo>
                <a:lnTo>
                  <a:pt x="295783" y="587298"/>
                </a:lnTo>
                <a:lnTo>
                  <a:pt x="326631" y="622338"/>
                </a:lnTo>
                <a:lnTo>
                  <a:pt x="361670" y="653173"/>
                </a:lnTo>
                <a:lnTo>
                  <a:pt x="400456" y="679399"/>
                </a:lnTo>
                <a:lnTo>
                  <a:pt x="442544" y="700544"/>
                </a:lnTo>
                <a:lnTo>
                  <a:pt x="487527" y="716203"/>
                </a:lnTo>
                <a:lnTo>
                  <a:pt x="534936" y="725906"/>
                </a:lnTo>
                <a:lnTo>
                  <a:pt x="584339" y="729246"/>
                </a:lnTo>
                <a:lnTo>
                  <a:pt x="633755" y="725906"/>
                </a:lnTo>
                <a:lnTo>
                  <a:pt x="681164" y="716203"/>
                </a:lnTo>
                <a:lnTo>
                  <a:pt x="726135" y="700544"/>
                </a:lnTo>
                <a:lnTo>
                  <a:pt x="759929" y="683564"/>
                </a:lnTo>
                <a:lnTo>
                  <a:pt x="768235" y="679399"/>
                </a:lnTo>
                <a:lnTo>
                  <a:pt x="807021" y="653173"/>
                </a:lnTo>
                <a:lnTo>
                  <a:pt x="842048" y="622338"/>
                </a:lnTo>
                <a:lnTo>
                  <a:pt x="872896" y="587298"/>
                </a:lnTo>
                <a:lnTo>
                  <a:pt x="899121" y="548513"/>
                </a:lnTo>
                <a:lnTo>
                  <a:pt x="920267" y="506425"/>
                </a:lnTo>
                <a:lnTo>
                  <a:pt x="935926" y="461454"/>
                </a:lnTo>
                <a:lnTo>
                  <a:pt x="945642" y="414045"/>
                </a:lnTo>
                <a:lnTo>
                  <a:pt x="948969" y="364629"/>
                </a:lnTo>
                <a:close/>
              </a:path>
              <a:path w="1559559" h="1071245" extrusionOk="0">
                <a:moveTo>
                  <a:pt x="1559306" y="720458"/>
                </a:moveTo>
                <a:lnTo>
                  <a:pt x="1556397" y="702271"/>
                </a:lnTo>
                <a:lnTo>
                  <a:pt x="1548384" y="686346"/>
                </a:lnTo>
                <a:lnTo>
                  <a:pt x="1535531" y="673608"/>
                </a:lnTo>
                <a:lnTo>
                  <a:pt x="1515465" y="659269"/>
                </a:lnTo>
                <a:lnTo>
                  <a:pt x="1515465" y="715429"/>
                </a:lnTo>
                <a:lnTo>
                  <a:pt x="1513433" y="725246"/>
                </a:lnTo>
                <a:lnTo>
                  <a:pt x="1511515" y="732396"/>
                </a:lnTo>
                <a:lnTo>
                  <a:pt x="1480223" y="732396"/>
                </a:lnTo>
                <a:lnTo>
                  <a:pt x="1471333" y="734187"/>
                </a:lnTo>
                <a:lnTo>
                  <a:pt x="1464068" y="739089"/>
                </a:lnTo>
                <a:lnTo>
                  <a:pt x="1459179" y="746353"/>
                </a:lnTo>
                <a:lnTo>
                  <a:pt x="1457375" y="755243"/>
                </a:lnTo>
                <a:lnTo>
                  <a:pt x="1459179" y="764133"/>
                </a:lnTo>
                <a:lnTo>
                  <a:pt x="1464068" y="771385"/>
                </a:lnTo>
                <a:lnTo>
                  <a:pt x="1471333" y="776274"/>
                </a:lnTo>
                <a:lnTo>
                  <a:pt x="1480223" y="778078"/>
                </a:lnTo>
                <a:lnTo>
                  <a:pt x="1499285" y="778078"/>
                </a:lnTo>
                <a:lnTo>
                  <a:pt x="1467739" y="895807"/>
                </a:lnTo>
                <a:lnTo>
                  <a:pt x="1462214" y="907542"/>
                </a:lnTo>
                <a:lnTo>
                  <a:pt x="1453134" y="917473"/>
                </a:lnTo>
                <a:lnTo>
                  <a:pt x="1441843" y="924521"/>
                </a:lnTo>
                <a:lnTo>
                  <a:pt x="1429677" y="927608"/>
                </a:lnTo>
                <a:lnTo>
                  <a:pt x="1428711" y="910780"/>
                </a:lnTo>
                <a:lnTo>
                  <a:pt x="1425194" y="894791"/>
                </a:lnTo>
                <a:lnTo>
                  <a:pt x="1395336" y="850823"/>
                </a:lnTo>
                <a:lnTo>
                  <a:pt x="1383919" y="843800"/>
                </a:lnTo>
                <a:lnTo>
                  <a:pt x="1383919" y="930313"/>
                </a:lnTo>
                <a:lnTo>
                  <a:pt x="1381417" y="944638"/>
                </a:lnTo>
                <a:lnTo>
                  <a:pt x="1366685" y="975702"/>
                </a:lnTo>
                <a:lnTo>
                  <a:pt x="1342440" y="1001407"/>
                </a:lnTo>
                <a:lnTo>
                  <a:pt x="1312240" y="1018895"/>
                </a:lnTo>
                <a:lnTo>
                  <a:pt x="1279664" y="1025359"/>
                </a:lnTo>
                <a:lnTo>
                  <a:pt x="1266659" y="1024140"/>
                </a:lnTo>
                <a:lnTo>
                  <a:pt x="1231290" y="996365"/>
                </a:lnTo>
                <a:lnTo>
                  <a:pt x="1227734" y="970838"/>
                </a:lnTo>
                <a:lnTo>
                  <a:pt x="1230236" y="956449"/>
                </a:lnTo>
                <a:lnTo>
                  <a:pt x="1243876" y="927709"/>
                </a:lnTo>
                <a:lnTo>
                  <a:pt x="1244981" y="925372"/>
                </a:lnTo>
                <a:lnTo>
                  <a:pt x="1269225" y="899680"/>
                </a:lnTo>
                <a:lnTo>
                  <a:pt x="1299413" y="882180"/>
                </a:lnTo>
                <a:lnTo>
                  <a:pt x="1331988" y="875728"/>
                </a:lnTo>
                <a:lnTo>
                  <a:pt x="1344993" y="876935"/>
                </a:lnTo>
                <a:lnTo>
                  <a:pt x="1380363" y="904709"/>
                </a:lnTo>
                <a:lnTo>
                  <a:pt x="1383919" y="930313"/>
                </a:lnTo>
                <a:lnTo>
                  <a:pt x="1383919" y="843800"/>
                </a:lnTo>
                <a:lnTo>
                  <a:pt x="1376819" y="839431"/>
                </a:lnTo>
                <a:lnTo>
                  <a:pt x="1355547" y="832421"/>
                </a:lnTo>
                <a:lnTo>
                  <a:pt x="1331988" y="830046"/>
                </a:lnTo>
                <a:lnTo>
                  <a:pt x="1288529" y="837438"/>
                </a:lnTo>
                <a:lnTo>
                  <a:pt x="1248498" y="857897"/>
                </a:lnTo>
                <a:lnTo>
                  <a:pt x="1215186" y="888847"/>
                </a:lnTo>
                <a:lnTo>
                  <a:pt x="1191856" y="927709"/>
                </a:lnTo>
                <a:lnTo>
                  <a:pt x="1067041" y="927709"/>
                </a:lnTo>
                <a:lnTo>
                  <a:pt x="1107135" y="778078"/>
                </a:lnTo>
                <a:lnTo>
                  <a:pt x="1382572" y="778078"/>
                </a:lnTo>
                <a:lnTo>
                  <a:pt x="1391462" y="776274"/>
                </a:lnTo>
                <a:lnTo>
                  <a:pt x="1398727" y="771385"/>
                </a:lnTo>
                <a:lnTo>
                  <a:pt x="1403616" y="764133"/>
                </a:lnTo>
                <a:lnTo>
                  <a:pt x="1405407" y="755243"/>
                </a:lnTo>
                <a:lnTo>
                  <a:pt x="1403616" y="746353"/>
                </a:lnTo>
                <a:lnTo>
                  <a:pt x="1398727" y="739089"/>
                </a:lnTo>
                <a:lnTo>
                  <a:pt x="1391462" y="734187"/>
                </a:lnTo>
                <a:lnTo>
                  <a:pt x="1382572" y="732396"/>
                </a:lnTo>
                <a:lnTo>
                  <a:pt x="1119378" y="732396"/>
                </a:lnTo>
                <a:lnTo>
                  <a:pt x="1211795" y="387477"/>
                </a:lnTo>
                <a:lnTo>
                  <a:pt x="1407756" y="387477"/>
                </a:lnTo>
                <a:lnTo>
                  <a:pt x="1415681" y="389775"/>
                </a:lnTo>
                <a:lnTo>
                  <a:pt x="1415923" y="439445"/>
                </a:lnTo>
                <a:lnTo>
                  <a:pt x="1314589" y="439445"/>
                </a:lnTo>
                <a:lnTo>
                  <a:pt x="1287157" y="444525"/>
                </a:lnTo>
                <a:lnTo>
                  <a:pt x="1242682" y="479374"/>
                </a:lnTo>
                <a:lnTo>
                  <a:pt x="1210995" y="578434"/>
                </a:lnTo>
                <a:lnTo>
                  <a:pt x="1208595" y="593407"/>
                </a:lnTo>
                <a:lnTo>
                  <a:pt x="1209433" y="607872"/>
                </a:lnTo>
                <a:lnTo>
                  <a:pt x="1229880" y="642975"/>
                </a:lnTo>
                <a:lnTo>
                  <a:pt x="1268793" y="656018"/>
                </a:lnTo>
                <a:lnTo>
                  <a:pt x="1432369" y="656018"/>
                </a:lnTo>
                <a:lnTo>
                  <a:pt x="1515465" y="715429"/>
                </a:lnTo>
                <a:lnTo>
                  <a:pt x="1515465" y="659269"/>
                </a:lnTo>
                <a:lnTo>
                  <a:pt x="1462481" y="621385"/>
                </a:lnTo>
                <a:lnTo>
                  <a:pt x="1462430" y="610336"/>
                </a:lnTo>
                <a:lnTo>
                  <a:pt x="1461833" y="485127"/>
                </a:lnTo>
                <a:lnTo>
                  <a:pt x="1461427" y="400494"/>
                </a:lnTo>
                <a:lnTo>
                  <a:pt x="1444256" y="358381"/>
                </a:lnTo>
                <a:lnTo>
                  <a:pt x="1416735" y="344627"/>
                </a:lnTo>
                <a:lnTo>
                  <a:pt x="1416735" y="610336"/>
                </a:lnTo>
                <a:lnTo>
                  <a:pt x="1264932" y="610336"/>
                </a:lnTo>
                <a:lnTo>
                  <a:pt x="1259700" y="609511"/>
                </a:lnTo>
                <a:lnTo>
                  <a:pt x="1254010" y="602094"/>
                </a:lnTo>
                <a:lnTo>
                  <a:pt x="1253439" y="596519"/>
                </a:lnTo>
                <a:lnTo>
                  <a:pt x="1274749" y="517017"/>
                </a:lnTo>
                <a:lnTo>
                  <a:pt x="1280553" y="504863"/>
                </a:lnTo>
                <a:lnTo>
                  <a:pt x="1290129" y="494690"/>
                </a:lnTo>
                <a:lnTo>
                  <a:pt x="1301965" y="487718"/>
                </a:lnTo>
                <a:lnTo>
                  <a:pt x="1314589" y="485127"/>
                </a:lnTo>
                <a:lnTo>
                  <a:pt x="1416138" y="485127"/>
                </a:lnTo>
                <a:lnTo>
                  <a:pt x="1416735" y="610336"/>
                </a:lnTo>
                <a:lnTo>
                  <a:pt x="1416735" y="344627"/>
                </a:lnTo>
                <a:lnTo>
                  <a:pt x="1401114" y="341782"/>
                </a:lnTo>
                <a:lnTo>
                  <a:pt x="1223810" y="341782"/>
                </a:lnTo>
                <a:lnTo>
                  <a:pt x="1224483" y="332828"/>
                </a:lnTo>
                <a:lnTo>
                  <a:pt x="1201724" y="297091"/>
                </a:lnTo>
                <a:lnTo>
                  <a:pt x="1182954" y="292963"/>
                </a:lnTo>
                <a:lnTo>
                  <a:pt x="1023772" y="292963"/>
                </a:lnTo>
                <a:lnTo>
                  <a:pt x="1014882" y="294754"/>
                </a:lnTo>
                <a:lnTo>
                  <a:pt x="1007630" y="299643"/>
                </a:lnTo>
                <a:lnTo>
                  <a:pt x="1002728" y="306908"/>
                </a:lnTo>
                <a:lnTo>
                  <a:pt x="1000937" y="315798"/>
                </a:lnTo>
                <a:lnTo>
                  <a:pt x="1002728" y="324688"/>
                </a:lnTo>
                <a:lnTo>
                  <a:pt x="1007630" y="331952"/>
                </a:lnTo>
                <a:lnTo>
                  <a:pt x="1014882" y="336842"/>
                </a:lnTo>
                <a:lnTo>
                  <a:pt x="1023772" y="338645"/>
                </a:lnTo>
                <a:lnTo>
                  <a:pt x="1177594" y="338645"/>
                </a:lnTo>
                <a:lnTo>
                  <a:pt x="1019759" y="927696"/>
                </a:lnTo>
                <a:lnTo>
                  <a:pt x="672871" y="927696"/>
                </a:lnTo>
                <a:lnTo>
                  <a:pt x="671906" y="910780"/>
                </a:lnTo>
                <a:lnTo>
                  <a:pt x="668388" y="894791"/>
                </a:lnTo>
                <a:lnTo>
                  <a:pt x="638530" y="850823"/>
                </a:lnTo>
                <a:lnTo>
                  <a:pt x="627113" y="843800"/>
                </a:lnTo>
                <a:lnTo>
                  <a:pt x="627113" y="930313"/>
                </a:lnTo>
                <a:lnTo>
                  <a:pt x="624611" y="944638"/>
                </a:lnTo>
                <a:lnTo>
                  <a:pt x="609879" y="975702"/>
                </a:lnTo>
                <a:lnTo>
                  <a:pt x="585622" y="1001407"/>
                </a:lnTo>
                <a:lnTo>
                  <a:pt x="555434" y="1018895"/>
                </a:lnTo>
                <a:lnTo>
                  <a:pt x="522846" y="1025359"/>
                </a:lnTo>
                <a:lnTo>
                  <a:pt x="509841" y="1024140"/>
                </a:lnTo>
                <a:lnTo>
                  <a:pt x="474484" y="996365"/>
                </a:lnTo>
                <a:lnTo>
                  <a:pt x="470928" y="970838"/>
                </a:lnTo>
                <a:lnTo>
                  <a:pt x="473430" y="956449"/>
                </a:lnTo>
                <a:lnTo>
                  <a:pt x="512419" y="899680"/>
                </a:lnTo>
                <a:lnTo>
                  <a:pt x="575183" y="875728"/>
                </a:lnTo>
                <a:lnTo>
                  <a:pt x="588187" y="876935"/>
                </a:lnTo>
                <a:lnTo>
                  <a:pt x="623557" y="904709"/>
                </a:lnTo>
                <a:lnTo>
                  <a:pt x="627113" y="930313"/>
                </a:lnTo>
                <a:lnTo>
                  <a:pt x="627113" y="843800"/>
                </a:lnTo>
                <a:lnTo>
                  <a:pt x="620014" y="839431"/>
                </a:lnTo>
                <a:lnTo>
                  <a:pt x="598741" y="832421"/>
                </a:lnTo>
                <a:lnTo>
                  <a:pt x="575183" y="830046"/>
                </a:lnTo>
                <a:lnTo>
                  <a:pt x="531723" y="837438"/>
                </a:lnTo>
                <a:lnTo>
                  <a:pt x="491693" y="857897"/>
                </a:lnTo>
                <a:lnTo>
                  <a:pt x="458368" y="888847"/>
                </a:lnTo>
                <a:lnTo>
                  <a:pt x="435051" y="927696"/>
                </a:lnTo>
                <a:lnTo>
                  <a:pt x="334657" y="927696"/>
                </a:lnTo>
                <a:lnTo>
                  <a:pt x="379285" y="761149"/>
                </a:lnTo>
                <a:lnTo>
                  <a:pt x="354088" y="732599"/>
                </a:lnTo>
                <a:lnTo>
                  <a:pt x="345808" y="735457"/>
                </a:lnTo>
                <a:lnTo>
                  <a:pt x="339204" y="741197"/>
                </a:lnTo>
                <a:lnTo>
                  <a:pt x="335153" y="749325"/>
                </a:lnTo>
                <a:lnTo>
                  <a:pt x="289369" y="920216"/>
                </a:lnTo>
                <a:lnTo>
                  <a:pt x="287782" y="930313"/>
                </a:lnTo>
                <a:lnTo>
                  <a:pt x="288404" y="940117"/>
                </a:lnTo>
                <a:lnTo>
                  <a:pt x="319532" y="972324"/>
                </a:lnTo>
                <a:lnTo>
                  <a:pt x="329298" y="973391"/>
                </a:lnTo>
                <a:lnTo>
                  <a:pt x="425170" y="973391"/>
                </a:lnTo>
                <a:lnTo>
                  <a:pt x="426123" y="990231"/>
                </a:lnTo>
                <a:lnTo>
                  <a:pt x="444233" y="1034694"/>
                </a:lnTo>
                <a:lnTo>
                  <a:pt x="478028" y="1061656"/>
                </a:lnTo>
                <a:lnTo>
                  <a:pt x="522846" y="1071041"/>
                </a:lnTo>
                <a:lnTo>
                  <a:pt x="566318" y="1063650"/>
                </a:lnTo>
                <a:lnTo>
                  <a:pt x="606348" y="1043190"/>
                </a:lnTo>
                <a:lnTo>
                  <a:pt x="625551" y="1025359"/>
                </a:lnTo>
                <a:lnTo>
                  <a:pt x="639660" y="1012240"/>
                </a:lnTo>
                <a:lnTo>
                  <a:pt x="662990" y="973391"/>
                </a:lnTo>
                <a:lnTo>
                  <a:pt x="1181976" y="973391"/>
                </a:lnTo>
                <a:lnTo>
                  <a:pt x="1192504" y="1021156"/>
                </a:lnTo>
                <a:lnTo>
                  <a:pt x="1234833" y="1061656"/>
                </a:lnTo>
                <a:lnTo>
                  <a:pt x="1279664" y="1071041"/>
                </a:lnTo>
                <a:lnTo>
                  <a:pt x="1323136" y="1063650"/>
                </a:lnTo>
                <a:lnTo>
                  <a:pt x="1363154" y="1043190"/>
                </a:lnTo>
                <a:lnTo>
                  <a:pt x="1382356" y="1025359"/>
                </a:lnTo>
                <a:lnTo>
                  <a:pt x="1396466" y="1012240"/>
                </a:lnTo>
                <a:lnTo>
                  <a:pt x="1419796" y="973391"/>
                </a:lnTo>
                <a:lnTo>
                  <a:pt x="1427899" y="973391"/>
                </a:lnTo>
                <a:lnTo>
                  <a:pt x="1480134" y="954328"/>
                </a:lnTo>
                <a:lnTo>
                  <a:pt x="1511871" y="907630"/>
                </a:lnTo>
                <a:lnTo>
                  <a:pt x="1556791" y="739965"/>
                </a:lnTo>
                <a:lnTo>
                  <a:pt x="1559306" y="720458"/>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476" name="Google Shape;2476;p37"/>
          <p:cNvGrpSpPr/>
          <p:nvPr/>
        </p:nvGrpSpPr>
        <p:grpSpPr>
          <a:xfrm>
            <a:off x="11371293" y="1575205"/>
            <a:ext cx="4492607" cy="3552878"/>
            <a:chOff x="11371293" y="1575205"/>
            <a:chExt cx="4492607" cy="3552878"/>
          </a:xfrm>
        </p:grpSpPr>
        <p:sp>
          <p:nvSpPr>
            <p:cNvPr id="2477" name="Google Shape;2477;p37"/>
            <p:cNvSpPr/>
            <p:nvPr/>
          </p:nvSpPr>
          <p:spPr>
            <a:xfrm>
              <a:off x="14753285" y="1575205"/>
              <a:ext cx="1110615" cy="1149985"/>
            </a:xfrm>
            <a:custGeom>
              <a:avLst/>
              <a:gdLst/>
              <a:ahLst/>
              <a:cxnLst/>
              <a:rect l="l" t="t" r="r" b="b"/>
              <a:pathLst>
                <a:path w="1110615" h="1149985" extrusionOk="0">
                  <a:moveTo>
                    <a:pt x="611390" y="1073962"/>
                  </a:moveTo>
                  <a:lnTo>
                    <a:pt x="609981" y="1066965"/>
                  </a:lnTo>
                  <a:lnTo>
                    <a:pt x="606132" y="1061237"/>
                  </a:lnTo>
                  <a:lnTo>
                    <a:pt x="600405" y="1057389"/>
                  </a:lnTo>
                  <a:lnTo>
                    <a:pt x="593407" y="1055979"/>
                  </a:lnTo>
                  <a:lnTo>
                    <a:pt x="516686" y="1055979"/>
                  </a:lnTo>
                  <a:lnTo>
                    <a:pt x="509689" y="1057389"/>
                  </a:lnTo>
                  <a:lnTo>
                    <a:pt x="503974" y="1061237"/>
                  </a:lnTo>
                  <a:lnTo>
                    <a:pt x="500126" y="1066965"/>
                  </a:lnTo>
                  <a:lnTo>
                    <a:pt x="498703" y="1073962"/>
                  </a:lnTo>
                  <a:lnTo>
                    <a:pt x="500126" y="1080960"/>
                  </a:lnTo>
                  <a:lnTo>
                    <a:pt x="503974" y="1086675"/>
                  </a:lnTo>
                  <a:lnTo>
                    <a:pt x="509689" y="1090523"/>
                  </a:lnTo>
                  <a:lnTo>
                    <a:pt x="516686" y="1091946"/>
                  </a:lnTo>
                  <a:lnTo>
                    <a:pt x="593407" y="1091946"/>
                  </a:lnTo>
                  <a:lnTo>
                    <a:pt x="600405" y="1090523"/>
                  </a:lnTo>
                  <a:lnTo>
                    <a:pt x="606132" y="1086675"/>
                  </a:lnTo>
                  <a:lnTo>
                    <a:pt x="609981" y="1080960"/>
                  </a:lnTo>
                  <a:lnTo>
                    <a:pt x="611390" y="1073962"/>
                  </a:lnTo>
                  <a:close/>
                </a:path>
                <a:path w="1110615" h="1149985" extrusionOk="0">
                  <a:moveTo>
                    <a:pt x="649757" y="325907"/>
                  </a:moveTo>
                  <a:lnTo>
                    <a:pt x="648335" y="318909"/>
                  </a:lnTo>
                  <a:lnTo>
                    <a:pt x="644486" y="313194"/>
                  </a:lnTo>
                  <a:lnTo>
                    <a:pt x="638771" y="309333"/>
                  </a:lnTo>
                  <a:lnTo>
                    <a:pt x="631774" y="307924"/>
                  </a:lnTo>
                  <a:lnTo>
                    <a:pt x="478332" y="307924"/>
                  </a:lnTo>
                  <a:lnTo>
                    <a:pt x="471322" y="309333"/>
                  </a:lnTo>
                  <a:lnTo>
                    <a:pt x="465607" y="313194"/>
                  </a:lnTo>
                  <a:lnTo>
                    <a:pt x="461759" y="318909"/>
                  </a:lnTo>
                  <a:lnTo>
                    <a:pt x="460349" y="325907"/>
                  </a:lnTo>
                  <a:lnTo>
                    <a:pt x="461759" y="332905"/>
                  </a:lnTo>
                  <a:lnTo>
                    <a:pt x="465607" y="338620"/>
                  </a:lnTo>
                  <a:lnTo>
                    <a:pt x="471322" y="342480"/>
                  </a:lnTo>
                  <a:lnTo>
                    <a:pt x="478332" y="343890"/>
                  </a:lnTo>
                  <a:lnTo>
                    <a:pt x="631774" y="343890"/>
                  </a:lnTo>
                  <a:lnTo>
                    <a:pt x="638771" y="342480"/>
                  </a:lnTo>
                  <a:lnTo>
                    <a:pt x="644486" y="338620"/>
                  </a:lnTo>
                  <a:lnTo>
                    <a:pt x="648335" y="332905"/>
                  </a:lnTo>
                  <a:lnTo>
                    <a:pt x="649757" y="325907"/>
                  </a:lnTo>
                  <a:close/>
                </a:path>
                <a:path w="1110615" h="1149985" extrusionOk="0">
                  <a:moveTo>
                    <a:pt x="649757" y="249186"/>
                  </a:moveTo>
                  <a:lnTo>
                    <a:pt x="648335" y="242189"/>
                  </a:lnTo>
                  <a:lnTo>
                    <a:pt x="644486" y="236474"/>
                  </a:lnTo>
                  <a:lnTo>
                    <a:pt x="638771" y="232613"/>
                  </a:lnTo>
                  <a:lnTo>
                    <a:pt x="631774" y="231203"/>
                  </a:lnTo>
                  <a:lnTo>
                    <a:pt x="478332" y="231203"/>
                  </a:lnTo>
                  <a:lnTo>
                    <a:pt x="471322" y="232613"/>
                  </a:lnTo>
                  <a:lnTo>
                    <a:pt x="465607" y="236474"/>
                  </a:lnTo>
                  <a:lnTo>
                    <a:pt x="461759" y="242189"/>
                  </a:lnTo>
                  <a:lnTo>
                    <a:pt x="460349" y="249186"/>
                  </a:lnTo>
                  <a:lnTo>
                    <a:pt x="461759" y="256184"/>
                  </a:lnTo>
                  <a:lnTo>
                    <a:pt x="465607" y="261899"/>
                  </a:lnTo>
                  <a:lnTo>
                    <a:pt x="471322" y="265760"/>
                  </a:lnTo>
                  <a:lnTo>
                    <a:pt x="478332" y="267169"/>
                  </a:lnTo>
                  <a:lnTo>
                    <a:pt x="631774" y="267169"/>
                  </a:lnTo>
                  <a:lnTo>
                    <a:pt x="638771" y="265760"/>
                  </a:lnTo>
                  <a:lnTo>
                    <a:pt x="644486" y="261899"/>
                  </a:lnTo>
                  <a:lnTo>
                    <a:pt x="648335" y="256184"/>
                  </a:lnTo>
                  <a:lnTo>
                    <a:pt x="649757" y="249186"/>
                  </a:lnTo>
                  <a:close/>
                </a:path>
                <a:path w="1110615" h="1149985" extrusionOk="0">
                  <a:moveTo>
                    <a:pt x="649757" y="172466"/>
                  </a:moveTo>
                  <a:lnTo>
                    <a:pt x="648335" y="165455"/>
                  </a:lnTo>
                  <a:lnTo>
                    <a:pt x="644486" y="159740"/>
                  </a:lnTo>
                  <a:lnTo>
                    <a:pt x="638771" y="155892"/>
                  </a:lnTo>
                  <a:lnTo>
                    <a:pt x="631774" y="154482"/>
                  </a:lnTo>
                  <a:lnTo>
                    <a:pt x="478332" y="154482"/>
                  </a:lnTo>
                  <a:lnTo>
                    <a:pt x="471322" y="155892"/>
                  </a:lnTo>
                  <a:lnTo>
                    <a:pt x="465607" y="159740"/>
                  </a:lnTo>
                  <a:lnTo>
                    <a:pt x="461759" y="165455"/>
                  </a:lnTo>
                  <a:lnTo>
                    <a:pt x="460349" y="172466"/>
                  </a:lnTo>
                  <a:lnTo>
                    <a:pt x="461759" y="179463"/>
                  </a:lnTo>
                  <a:lnTo>
                    <a:pt x="465607" y="185178"/>
                  </a:lnTo>
                  <a:lnTo>
                    <a:pt x="471322" y="189026"/>
                  </a:lnTo>
                  <a:lnTo>
                    <a:pt x="478332" y="190449"/>
                  </a:lnTo>
                  <a:lnTo>
                    <a:pt x="631774" y="190449"/>
                  </a:lnTo>
                  <a:lnTo>
                    <a:pt x="638771" y="189026"/>
                  </a:lnTo>
                  <a:lnTo>
                    <a:pt x="644486" y="185178"/>
                  </a:lnTo>
                  <a:lnTo>
                    <a:pt x="648335" y="179463"/>
                  </a:lnTo>
                  <a:lnTo>
                    <a:pt x="649757" y="172466"/>
                  </a:lnTo>
                  <a:close/>
                </a:path>
                <a:path w="1110615" h="1149985" extrusionOk="0">
                  <a:moveTo>
                    <a:pt x="841565" y="1073962"/>
                  </a:moveTo>
                  <a:lnTo>
                    <a:pt x="840155" y="1066965"/>
                  </a:lnTo>
                  <a:lnTo>
                    <a:pt x="836295" y="1061237"/>
                  </a:lnTo>
                  <a:lnTo>
                    <a:pt x="830580" y="1057389"/>
                  </a:lnTo>
                  <a:lnTo>
                    <a:pt x="823582" y="1055979"/>
                  </a:lnTo>
                  <a:lnTo>
                    <a:pt x="746861" y="1055979"/>
                  </a:lnTo>
                  <a:lnTo>
                    <a:pt x="739863" y="1057389"/>
                  </a:lnTo>
                  <a:lnTo>
                    <a:pt x="734148" y="1061237"/>
                  </a:lnTo>
                  <a:lnTo>
                    <a:pt x="730288" y="1066965"/>
                  </a:lnTo>
                  <a:lnTo>
                    <a:pt x="728878" y="1073962"/>
                  </a:lnTo>
                  <a:lnTo>
                    <a:pt x="730288" y="1080960"/>
                  </a:lnTo>
                  <a:lnTo>
                    <a:pt x="734148" y="1086675"/>
                  </a:lnTo>
                  <a:lnTo>
                    <a:pt x="739863" y="1090523"/>
                  </a:lnTo>
                  <a:lnTo>
                    <a:pt x="746861" y="1091946"/>
                  </a:lnTo>
                  <a:lnTo>
                    <a:pt x="823582" y="1091946"/>
                  </a:lnTo>
                  <a:lnTo>
                    <a:pt x="830580" y="1090523"/>
                  </a:lnTo>
                  <a:lnTo>
                    <a:pt x="836295" y="1086675"/>
                  </a:lnTo>
                  <a:lnTo>
                    <a:pt x="840155" y="1080960"/>
                  </a:lnTo>
                  <a:lnTo>
                    <a:pt x="841565" y="1073962"/>
                  </a:lnTo>
                  <a:close/>
                </a:path>
                <a:path w="1110615" h="1149985" extrusionOk="0">
                  <a:moveTo>
                    <a:pt x="841565" y="843788"/>
                  </a:moveTo>
                  <a:lnTo>
                    <a:pt x="840155" y="836790"/>
                  </a:lnTo>
                  <a:lnTo>
                    <a:pt x="836295" y="831075"/>
                  </a:lnTo>
                  <a:lnTo>
                    <a:pt x="830580" y="827214"/>
                  </a:lnTo>
                  <a:lnTo>
                    <a:pt x="823582" y="825804"/>
                  </a:lnTo>
                  <a:lnTo>
                    <a:pt x="746861" y="825804"/>
                  </a:lnTo>
                  <a:lnTo>
                    <a:pt x="739863" y="827214"/>
                  </a:lnTo>
                  <a:lnTo>
                    <a:pt x="734148" y="831075"/>
                  </a:lnTo>
                  <a:lnTo>
                    <a:pt x="730288" y="836790"/>
                  </a:lnTo>
                  <a:lnTo>
                    <a:pt x="728878" y="843788"/>
                  </a:lnTo>
                  <a:lnTo>
                    <a:pt x="730288" y="850785"/>
                  </a:lnTo>
                  <a:lnTo>
                    <a:pt x="734148" y="856500"/>
                  </a:lnTo>
                  <a:lnTo>
                    <a:pt x="739863" y="860361"/>
                  </a:lnTo>
                  <a:lnTo>
                    <a:pt x="746861" y="861771"/>
                  </a:lnTo>
                  <a:lnTo>
                    <a:pt x="823582" y="861771"/>
                  </a:lnTo>
                  <a:lnTo>
                    <a:pt x="830580" y="860361"/>
                  </a:lnTo>
                  <a:lnTo>
                    <a:pt x="836295" y="856500"/>
                  </a:lnTo>
                  <a:lnTo>
                    <a:pt x="840155" y="850785"/>
                  </a:lnTo>
                  <a:lnTo>
                    <a:pt x="841565" y="843788"/>
                  </a:lnTo>
                  <a:close/>
                </a:path>
                <a:path w="1110615" h="1149985" extrusionOk="0">
                  <a:moveTo>
                    <a:pt x="1110094" y="377494"/>
                  </a:moveTo>
                  <a:lnTo>
                    <a:pt x="1107135" y="371919"/>
                  </a:lnTo>
                  <a:lnTo>
                    <a:pt x="1074127" y="349529"/>
                  </a:lnTo>
                  <a:lnTo>
                    <a:pt x="1074127" y="392976"/>
                  </a:lnTo>
                  <a:lnTo>
                    <a:pt x="1074127" y="1113523"/>
                  </a:lnTo>
                  <a:lnTo>
                    <a:pt x="918286" y="1113523"/>
                  </a:lnTo>
                  <a:lnTo>
                    <a:pt x="918286" y="919314"/>
                  </a:lnTo>
                  <a:lnTo>
                    <a:pt x="918286" y="689152"/>
                  </a:lnTo>
                  <a:lnTo>
                    <a:pt x="918286" y="497344"/>
                  </a:lnTo>
                  <a:lnTo>
                    <a:pt x="938657" y="497344"/>
                  </a:lnTo>
                  <a:lnTo>
                    <a:pt x="945667" y="495922"/>
                  </a:lnTo>
                  <a:lnTo>
                    <a:pt x="951382" y="492074"/>
                  </a:lnTo>
                  <a:lnTo>
                    <a:pt x="955230" y="486359"/>
                  </a:lnTo>
                  <a:lnTo>
                    <a:pt x="956640" y="479361"/>
                  </a:lnTo>
                  <a:lnTo>
                    <a:pt x="956640" y="461365"/>
                  </a:lnTo>
                  <a:lnTo>
                    <a:pt x="956640" y="420611"/>
                  </a:lnTo>
                  <a:lnTo>
                    <a:pt x="956640" y="402640"/>
                  </a:lnTo>
                  <a:lnTo>
                    <a:pt x="955230" y="395630"/>
                  </a:lnTo>
                  <a:lnTo>
                    <a:pt x="951382" y="389915"/>
                  </a:lnTo>
                  <a:lnTo>
                    <a:pt x="945667" y="386067"/>
                  </a:lnTo>
                  <a:lnTo>
                    <a:pt x="938657" y="384657"/>
                  </a:lnTo>
                  <a:lnTo>
                    <a:pt x="920673" y="384657"/>
                  </a:lnTo>
                  <a:lnTo>
                    <a:pt x="920673" y="420611"/>
                  </a:lnTo>
                  <a:lnTo>
                    <a:pt x="920673" y="461365"/>
                  </a:lnTo>
                  <a:lnTo>
                    <a:pt x="189407" y="461365"/>
                  </a:lnTo>
                  <a:lnTo>
                    <a:pt x="189407" y="420611"/>
                  </a:lnTo>
                  <a:lnTo>
                    <a:pt x="920673" y="420611"/>
                  </a:lnTo>
                  <a:lnTo>
                    <a:pt x="920673" y="384657"/>
                  </a:lnTo>
                  <a:lnTo>
                    <a:pt x="171424" y="384657"/>
                  </a:lnTo>
                  <a:lnTo>
                    <a:pt x="164426" y="386067"/>
                  </a:lnTo>
                  <a:lnTo>
                    <a:pt x="158711" y="389915"/>
                  </a:lnTo>
                  <a:lnTo>
                    <a:pt x="154863" y="395643"/>
                  </a:lnTo>
                  <a:lnTo>
                    <a:pt x="153441" y="402640"/>
                  </a:lnTo>
                  <a:lnTo>
                    <a:pt x="153441" y="479361"/>
                  </a:lnTo>
                  <a:lnTo>
                    <a:pt x="154863" y="486359"/>
                  </a:lnTo>
                  <a:lnTo>
                    <a:pt x="158711" y="492074"/>
                  </a:lnTo>
                  <a:lnTo>
                    <a:pt x="164426" y="495922"/>
                  </a:lnTo>
                  <a:lnTo>
                    <a:pt x="171424" y="497344"/>
                  </a:lnTo>
                  <a:lnTo>
                    <a:pt x="191808" y="497344"/>
                  </a:lnTo>
                  <a:lnTo>
                    <a:pt x="191808" y="651979"/>
                  </a:lnTo>
                  <a:lnTo>
                    <a:pt x="193230" y="658977"/>
                  </a:lnTo>
                  <a:lnTo>
                    <a:pt x="197078" y="664692"/>
                  </a:lnTo>
                  <a:lnTo>
                    <a:pt x="202793" y="668540"/>
                  </a:lnTo>
                  <a:lnTo>
                    <a:pt x="209791" y="669963"/>
                  </a:lnTo>
                  <a:lnTo>
                    <a:pt x="216801" y="668540"/>
                  </a:lnTo>
                  <a:lnTo>
                    <a:pt x="222516" y="664692"/>
                  </a:lnTo>
                  <a:lnTo>
                    <a:pt x="226364" y="658977"/>
                  </a:lnTo>
                  <a:lnTo>
                    <a:pt x="227774" y="651979"/>
                  </a:lnTo>
                  <a:lnTo>
                    <a:pt x="227774" y="497344"/>
                  </a:lnTo>
                  <a:lnTo>
                    <a:pt x="882319" y="497344"/>
                  </a:lnTo>
                  <a:lnTo>
                    <a:pt x="882319" y="1113523"/>
                  </a:lnTo>
                  <a:lnTo>
                    <a:pt x="688111" y="1113523"/>
                  </a:lnTo>
                  <a:lnTo>
                    <a:pt x="688111" y="919314"/>
                  </a:lnTo>
                  <a:lnTo>
                    <a:pt x="728865" y="919314"/>
                  </a:lnTo>
                  <a:lnTo>
                    <a:pt x="728865" y="1016419"/>
                  </a:lnTo>
                  <a:lnTo>
                    <a:pt x="730288" y="1023416"/>
                  </a:lnTo>
                  <a:lnTo>
                    <a:pt x="734136" y="1029131"/>
                  </a:lnTo>
                  <a:lnTo>
                    <a:pt x="739851" y="1032979"/>
                  </a:lnTo>
                  <a:lnTo>
                    <a:pt x="746848" y="1034402"/>
                  </a:lnTo>
                  <a:lnTo>
                    <a:pt x="823582" y="1034402"/>
                  </a:lnTo>
                  <a:lnTo>
                    <a:pt x="830592" y="1032979"/>
                  </a:lnTo>
                  <a:lnTo>
                    <a:pt x="836307" y="1029131"/>
                  </a:lnTo>
                  <a:lnTo>
                    <a:pt x="840155" y="1023416"/>
                  </a:lnTo>
                  <a:lnTo>
                    <a:pt x="841565" y="1016419"/>
                  </a:lnTo>
                  <a:lnTo>
                    <a:pt x="841565" y="998435"/>
                  </a:lnTo>
                  <a:lnTo>
                    <a:pt x="841565" y="919314"/>
                  </a:lnTo>
                  <a:lnTo>
                    <a:pt x="882319" y="919314"/>
                  </a:lnTo>
                  <a:lnTo>
                    <a:pt x="882319" y="883348"/>
                  </a:lnTo>
                  <a:lnTo>
                    <a:pt x="805586" y="883348"/>
                  </a:lnTo>
                  <a:lnTo>
                    <a:pt x="805586" y="919314"/>
                  </a:lnTo>
                  <a:lnTo>
                    <a:pt x="805586" y="998435"/>
                  </a:lnTo>
                  <a:lnTo>
                    <a:pt x="764832" y="998435"/>
                  </a:lnTo>
                  <a:lnTo>
                    <a:pt x="764832" y="919314"/>
                  </a:lnTo>
                  <a:lnTo>
                    <a:pt x="805586" y="919314"/>
                  </a:lnTo>
                  <a:lnTo>
                    <a:pt x="805586" y="883348"/>
                  </a:lnTo>
                  <a:lnTo>
                    <a:pt x="688111" y="883348"/>
                  </a:lnTo>
                  <a:lnTo>
                    <a:pt x="688111" y="689152"/>
                  </a:lnTo>
                  <a:lnTo>
                    <a:pt x="728878" y="689152"/>
                  </a:lnTo>
                  <a:lnTo>
                    <a:pt x="728878" y="786244"/>
                  </a:lnTo>
                  <a:lnTo>
                    <a:pt x="730300" y="793242"/>
                  </a:lnTo>
                  <a:lnTo>
                    <a:pt x="734148" y="798957"/>
                  </a:lnTo>
                  <a:lnTo>
                    <a:pt x="739863" y="802817"/>
                  </a:lnTo>
                  <a:lnTo>
                    <a:pt x="746848" y="804227"/>
                  </a:lnTo>
                  <a:lnTo>
                    <a:pt x="823582" y="804227"/>
                  </a:lnTo>
                  <a:lnTo>
                    <a:pt x="830592" y="802805"/>
                  </a:lnTo>
                  <a:lnTo>
                    <a:pt x="836307" y="798957"/>
                  </a:lnTo>
                  <a:lnTo>
                    <a:pt x="840155" y="793242"/>
                  </a:lnTo>
                  <a:lnTo>
                    <a:pt x="841565" y="786244"/>
                  </a:lnTo>
                  <a:lnTo>
                    <a:pt x="841565" y="768273"/>
                  </a:lnTo>
                  <a:lnTo>
                    <a:pt x="841565" y="689152"/>
                  </a:lnTo>
                  <a:lnTo>
                    <a:pt x="882319" y="689152"/>
                  </a:lnTo>
                  <a:lnTo>
                    <a:pt x="882319" y="653186"/>
                  </a:lnTo>
                  <a:lnTo>
                    <a:pt x="805586" y="653186"/>
                  </a:lnTo>
                  <a:lnTo>
                    <a:pt x="805586" y="689152"/>
                  </a:lnTo>
                  <a:lnTo>
                    <a:pt x="805586" y="768273"/>
                  </a:lnTo>
                  <a:lnTo>
                    <a:pt x="764832" y="768273"/>
                  </a:lnTo>
                  <a:lnTo>
                    <a:pt x="764832" y="689152"/>
                  </a:lnTo>
                  <a:lnTo>
                    <a:pt x="805586" y="689152"/>
                  </a:lnTo>
                  <a:lnTo>
                    <a:pt x="805586" y="653186"/>
                  </a:lnTo>
                  <a:lnTo>
                    <a:pt x="670128" y="653186"/>
                  </a:lnTo>
                  <a:lnTo>
                    <a:pt x="663130" y="654596"/>
                  </a:lnTo>
                  <a:lnTo>
                    <a:pt x="657415" y="658444"/>
                  </a:lnTo>
                  <a:lnTo>
                    <a:pt x="653567" y="664171"/>
                  </a:lnTo>
                  <a:lnTo>
                    <a:pt x="652145" y="671169"/>
                  </a:lnTo>
                  <a:lnTo>
                    <a:pt x="652145" y="883348"/>
                  </a:lnTo>
                  <a:lnTo>
                    <a:pt x="652145" y="919314"/>
                  </a:lnTo>
                  <a:lnTo>
                    <a:pt x="652145" y="1113523"/>
                  </a:lnTo>
                  <a:lnTo>
                    <a:pt x="457936" y="1113523"/>
                  </a:lnTo>
                  <a:lnTo>
                    <a:pt x="457936" y="919314"/>
                  </a:lnTo>
                  <a:lnTo>
                    <a:pt x="498703" y="919314"/>
                  </a:lnTo>
                  <a:lnTo>
                    <a:pt x="498703" y="1016419"/>
                  </a:lnTo>
                  <a:lnTo>
                    <a:pt x="500126" y="1023416"/>
                  </a:lnTo>
                  <a:lnTo>
                    <a:pt x="503974" y="1029131"/>
                  </a:lnTo>
                  <a:lnTo>
                    <a:pt x="509689" y="1032979"/>
                  </a:lnTo>
                  <a:lnTo>
                    <a:pt x="516686" y="1034402"/>
                  </a:lnTo>
                  <a:lnTo>
                    <a:pt x="593407" y="1034402"/>
                  </a:lnTo>
                  <a:lnTo>
                    <a:pt x="600417" y="1032979"/>
                  </a:lnTo>
                  <a:lnTo>
                    <a:pt x="606132" y="1029131"/>
                  </a:lnTo>
                  <a:lnTo>
                    <a:pt x="609981" y="1023416"/>
                  </a:lnTo>
                  <a:lnTo>
                    <a:pt x="611390" y="1016419"/>
                  </a:lnTo>
                  <a:lnTo>
                    <a:pt x="611390" y="998435"/>
                  </a:lnTo>
                  <a:lnTo>
                    <a:pt x="611390" y="919314"/>
                  </a:lnTo>
                  <a:lnTo>
                    <a:pt x="652145" y="919314"/>
                  </a:lnTo>
                  <a:lnTo>
                    <a:pt x="652145" y="883348"/>
                  </a:lnTo>
                  <a:lnTo>
                    <a:pt x="575424" y="883348"/>
                  </a:lnTo>
                  <a:lnTo>
                    <a:pt x="575424" y="919314"/>
                  </a:lnTo>
                  <a:lnTo>
                    <a:pt x="575424" y="998435"/>
                  </a:lnTo>
                  <a:lnTo>
                    <a:pt x="534670" y="998435"/>
                  </a:lnTo>
                  <a:lnTo>
                    <a:pt x="534670" y="919314"/>
                  </a:lnTo>
                  <a:lnTo>
                    <a:pt x="575424" y="919314"/>
                  </a:lnTo>
                  <a:lnTo>
                    <a:pt x="575424" y="883348"/>
                  </a:lnTo>
                  <a:lnTo>
                    <a:pt x="439966" y="883348"/>
                  </a:lnTo>
                  <a:lnTo>
                    <a:pt x="432968" y="884758"/>
                  </a:lnTo>
                  <a:lnTo>
                    <a:pt x="427253" y="888606"/>
                  </a:lnTo>
                  <a:lnTo>
                    <a:pt x="423405" y="894334"/>
                  </a:lnTo>
                  <a:lnTo>
                    <a:pt x="421982" y="901331"/>
                  </a:lnTo>
                  <a:lnTo>
                    <a:pt x="421982" y="1113523"/>
                  </a:lnTo>
                  <a:lnTo>
                    <a:pt x="227774" y="1113523"/>
                  </a:lnTo>
                  <a:lnTo>
                    <a:pt x="227774" y="728700"/>
                  </a:lnTo>
                  <a:lnTo>
                    <a:pt x="226364" y="721702"/>
                  </a:lnTo>
                  <a:lnTo>
                    <a:pt x="222516" y="715987"/>
                  </a:lnTo>
                  <a:lnTo>
                    <a:pt x="216801" y="712139"/>
                  </a:lnTo>
                  <a:lnTo>
                    <a:pt x="209791" y="710730"/>
                  </a:lnTo>
                  <a:lnTo>
                    <a:pt x="202793" y="712139"/>
                  </a:lnTo>
                  <a:lnTo>
                    <a:pt x="197078" y="715987"/>
                  </a:lnTo>
                  <a:lnTo>
                    <a:pt x="193230" y="721702"/>
                  </a:lnTo>
                  <a:lnTo>
                    <a:pt x="191808" y="728700"/>
                  </a:lnTo>
                  <a:lnTo>
                    <a:pt x="191808" y="1113523"/>
                  </a:lnTo>
                  <a:lnTo>
                    <a:pt x="35966" y="1113523"/>
                  </a:lnTo>
                  <a:lnTo>
                    <a:pt x="35966" y="392976"/>
                  </a:lnTo>
                  <a:lnTo>
                    <a:pt x="555040" y="40754"/>
                  </a:lnTo>
                  <a:lnTo>
                    <a:pt x="1074127" y="392976"/>
                  </a:lnTo>
                  <a:lnTo>
                    <a:pt x="1074127" y="349529"/>
                  </a:lnTo>
                  <a:lnTo>
                    <a:pt x="619099" y="40754"/>
                  </a:lnTo>
                  <a:lnTo>
                    <a:pt x="559041" y="0"/>
                  </a:lnTo>
                  <a:lnTo>
                    <a:pt x="551040" y="0"/>
                  </a:lnTo>
                  <a:lnTo>
                    <a:pt x="2959" y="371919"/>
                  </a:lnTo>
                  <a:lnTo>
                    <a:pt x="0" y="377494"/>
                  </a:lnTo>
                  <a:lnTo>
                    <a:pt x="0" y="1131506"/>
                  </a:lnTo>
                  <a:lnTo>
                    <a:pt x="1422" y="1138504"/>
                  </a:lnTo>
                  <a:lnTo>
                    <a:pt x="5270" y="1144219"/>
                  </a:lnTo>
                  <a:lnTo>
                    <a:pt x="10985" y="1148067"/>
                  </a:lnTo>
                  <a:lnTo>
                    <a:pt x="17983" y="1149489"/>
                  </a:lnTo>
                  <a:lnTo>
                    <a:pt x="1092111" y="1149489"/>
                  </a:lnTo>
                  <a:lnTo>
                    <a:pt x="1099121" y="1148067"/>
                  </a:lnTo>
                  <a:lnTo>
                    <a:pt x="1104836" y="1144219"/>
                  </a:lnTo>
                  <a:lnTo>
                    <a:pt x="1108684" y="1138504"/>
                  </a:lnTo>
                  <a:lnTo>
                    <a:pt x="1110094" y="1131506"/>
                  </a:lnTo>
                  <a:lnTo>
                    <a:pt x="1110094" y="1113523"/>
                  </a:lnTo>
                  <a:lnTo>
                    <a:pt x="1110094" y="377494"/>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78" name="Google Shape;2478;p3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1371293" y="2077529"/>
              <a:ext cx="4247292" cy="3050554"/>
            </a:xfrm>
            <a:prstGeom prst="rect">
              <a:avLst/>
            </a:prstGeom>
            <a:noFill/>
            <a:ln>
              <a:noFill/>
            </a:ln>
          </p:spPr>
        </p:pic>
        <p:sp>
          <p:nvSpPr>
            <p:cNvPr id="2479" name="Google Shape;2479;p37"/>
            <p:cNvSpPr/>
            <p:nvPr/>
          </p:nvSpPr>
          <p:spPr>
            <a:xfrm>
              <a:off x="11758585" y="2547503"/>
              <a:ext cx="3472815" cy="2193290"/>
            </a:xfrm>
            <a:custGeom>
              <a:avLst/>
              <a:gdLst/>
              <a:ahLst/>
              <a:cxnLst/>
              <a:rect l="l" t="t" r="r" b="b"/>
              <a:pathLst>
                <a:path w="3472815" h="2193290" extrusionOk="0">
                  <a:moveTo>
                    <a:pt x="3382581" y="0"/>
                  </a:moveTo>
                  <a:lnTo>
                    <a:pt x="89992" y="0"/>
                  </a:lnTo>
                  <a:lnTo>
                    <a:pt x="54960" y="7071"/>
                  </a:lnTo>
                  <a:lnTo>
                    <a:pt x="26355" y="26355"/>
                  </a:lnTo>
                  <a:lnTo>
                    <a:pt x="7071" y="54960"/>
                  </a:lnTo>
                  <a:lnTo>
                    <a:pt x="0" y="89992"/>
                  </a:lnTo>
                  <a:lnTo>
                    <a:pt x="0" y="2103107"/>
                  </a:lnTo>
                  <a:lnTo>
                    <a:pt x="7071" y="2138141"/>
                  </a:lnTo>
                  <a:lnTo>
                    <a:pt x="26355" y="2166750"/>
                  </a:lnTo>
                  <a:lnTo>
                    <a:pt x="54960" y="2186039"/>
                  </a:lnTo>
                  <a:lnTo>
                    <a:pt x="89992" y="2193112"/>
                  </a:lnTo>
                  <a:lnTo>
                    <a:pt x="3382581" y="2193112"/>
                  </a:lnTo>
                  <a:lnTo>
                    <a:pt x="3417615" y="2186039"/>
                  </a:lnTo>
                  <a:lnTo>
                    <a:pt x="3446224" y="2166750"/>
                  </a:lnTo>
                  <a:lnTo>
                    <a:pt x="3465513" y="2138141"/>
                  </a:lnTo>
                  <a:lnTo>
                    <a:pt x="3472586" y="2103107"/>
                  </a:lnTo>
                  <a:lnTo>
                    <a:pt x="3472586" y="89992"/>
                  </a:lnTo>
                  <a:lnTo>
                    <a:pt x="3465513" y="54960"/>
                  </a:lnTo>
                  <a:lnTo>
                    <a:pt x="3446224" y="26355"/>
                  </a:lnTo>
                  <a:lnTo>
                    <a:pt x="3417615" y="7071"/>
                  </a:lnTo>
                  <a:lnTo>
                    <a:pt x="3382581"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0" name="Google Shape;2480;p37"/>
            <p:cNvSpPr/>
            <p:nvPr/>
          </p:nvSpPr>
          <p:spPr>
            <a:xfrm>
              <a:off x="11758581" y="2201383"/>
              <a:ext cx="3472815" cy="875664"/>
            </a:xfrm>
            <a:custGeom>
              <a:avLst/>
              <a:gdLst/>
              <a:ahLst/>
              <a:cxnLst/>
              <a:rect l="l" t="t" r="r" b="b"/>
              <a:pathLst>
                <a:path w="3472815" h="875664" extrusionOk="0">
                  <a:moveTo>
                    <a:pt x="3324758" y="0"/>
                  </a:moveTo>
                  <a:lnTo>
                    <a:pt x="147828" y="0"/>
                  </a:lnTo>
                  <a:lnTo>
                    <a:pt x="101105" y="7535"/>
                  </a:lnTo>
                  <a:lnTo>
                    <a:pt x="60525" y="28520"/>
                  </a:lnTo>
                  <a:lnTo>
                    <a:pt x="28524" y="60520"/>
                  </a:lnTo>
                  <a:lnTo>
                    <a:pt x="7537" y="101100"/>
                  </a:lnTo>
                  <a:lnTo>
                    <a:pt x="0" y="147827"/>
                  </a:lnTo>
                  <a:lnTo>
                    <a:pt x="0" y="708609"/>
                  </a:lnTo>
                  <a:lnTo>
                    <a:pt x="1603260" y="708609"/>
                  </a:lnTo>
                  <a:lnTo>
                    <a:pt x="1736293" y="875169"/>
                  </a:lnTo>
                  <a:lnTo>
                    <a:pt x="1869325" y="708609"/>
                  </a:lnTo>
                  <a:lnTo>
                    <a:pt x="3472586" y="708609"/>
                  </a:lnTo>
                  <a:lnTo>
                    <a:pt x="3472586" y="147827"/>
                  </a:lnTo>
                  <a:lnTo>
                    <a:pt x="3465049" y="101100"/>
                  </a:lnTo>
                  <a:lnTo>
                    <a:pt x="3444061" y="60520"/>
                  </a:lnTo>
                  <a:lnTo>
                    <a:pt x="3412060" y="28520"/>
                  </a:lnTo>
                  <a:lnTo>
                    <a:pt x="3371480" y="7535"/>
                  </a:lnTo>
                  <a:lnTo>
                    <a:pt x="3324758" y="0"/>
                  </a:lnTo>
                  <a:close/>
                </a:path>
              </a:pathLst>
            </a:custGeom>
            <a:solidFill>
              <a:srgbClr val="2D9FA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81" name="Google Shape;2481;p37"/>
          <p:cNvGrpSpPr/>
          <p:nvPr/>
        </p:nvGrpSpPr>
        <p:grpSpPr>
          <a:xfrm>
            <a:off x="11371224" y="5545658"/>
            <a:ext cx="4247308" cy="3050559"/>
            <a:chOff x="11371224" y="5545658"/>
            <a:chExt cx="4247308" cy="3050559"/>
          </a:xfrm>
        </p:grpSpPr>
        <p:pic>
          <p:nvPicPr>
            <p:cNvPr id="2482" name="Google Shape;2482;p3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1371224" y="5545658"/>
              <a:ext cx="4247308" cy="3050559"/>
            </a:xfrm>
            <a:prstGeom prst="rect">
              <a:avLst/>
            </a:prstGeom>
            <a:noFill/>
            <a:ln>
              <a:noFill/>
            </a:ln>
          </p:spPr>
        </p:pic>
        <p:sp>
          <p:nvSpPr>
            <p:cNvPr id="2483" name="Google Shape;2483;p37"/>
            <p:cNvSpPr/>
            <p:nvPr/>
          </p:nvSpPr>
          <p:spPr>
            <a:xfrm>
              <a:off x="11758585" y="6015638"/>
              <a:ext cx="3472815" cy="2193290"/>
            </a:xfrm>
            <a:custGeom>
              <a:avLst/>
              <a:gdLst/>
              <a:ahLst/>
              <a:cxnLst/>
              <a:rect l="l" t="t" r="r" b="b"/>
              <a:pathLst>
                <a:path w="3472815" h="2193290" extrusionOk="0">
                  <a:moveTo>
                    <a:pt x="3382581" y="0"/>
                  </a:moveTo>
                  <a:lnTo>
                    <a:pt x="89992" y="0"/>
                  </a:lnTo>
                  <a:lnTo>
                    <a:pt x="54960" y="7071"/>
                  </a:lnTo>
                  <a:lnTo>
                    <a:pt x="26355" y="26355"/>
                  </a:lnTo>
                  <a:lnTo>
                    <a:pt x="7071" y="54960"/>
                  </a:lnTo>
                  <a:lnTo>
                    <a:pt x="0" y="89992"/>
                  </a:lnTo>
                  <a:lnTo>
                    <a:pt x="0" y="2103107"/>
                  </a:lnTo>
                  <a:lnTo>
                    <a:pt x="7071" y="2138141"/>
                  </a:lnTo>
                  <a:lnTo>
                    <a:pt x="26355" y="2166750"/>
                  </a:lnTo>
                  <a:lnTo>
                    <a:pt x="54960" y="2186039"/>
                  </a:lnTo>
                  <a:lnTo>
                    <a:pt x="89992" y="2193112"/>
                  </a:lnTo>
                  <a:lnTo>
                    <a:pt x="3382581" y="2193112"/>
                  </a:lnTo>
                  <a:lnTo>
                    <a:pt x="3417615" y="2186039"/>
                  </a:lnTo>
                  <a:lnTo>
                    <a:pt x="3446224" y="2166750"/>
                  </a:lnTo>
                  <a:lnTo>
                    <a:pt x="3465513" y="2138141"/>
                  </a:lnTo>
                  <a:lnTo>
                    <a:pt x="3472586" y="2103107"/>
                  </a:lnTo>
                  <a:lnTo>
                    <a:pt x="3472586" y="89992"/>
                  </a:lnTo>
                  <a:lnTo>
                    <a:pt x="3465513" y="54960"/>
                  </a:lnTo>
                  <a:lnTo>
                    <a:pt x="3446224" y="26355"/>
                  </a:lnTo>
                  <a:lnTo>
                    <a:pt x="3417615" y="7071"/>
                  </a:lnTo>
                  <a:lnTo>
                    <a:pt x="3382581"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4" name="Google Shape;2484;p37"/>
            <p:cNvSpPr/>
            <p:nvPr/>
          </p:nvSpPr>
          <p:spPr>
            <a:xfrm>
              <a:off x="11758581" y="5669518"/>
              <a:ext cx="3472815" cy="875665"/>
            </a:xfrm>
            <a:custGeom>
              <a:avLst/>
              <a:gdLst/>
              <a:ahLst/>
              <a:cxnLst/>
              <a:rect l="l" t="t" r="r" b="b"/>
              <a:pathLst>
                <a:path w="3472815" h="875665" extrusionOk="0">
                  <a:moveTo>
                    <a:pt x="3324758" y="0"/>
                  </a:moveTo>
                  <a:lnTo>
                    <a:pt x="147828" y="0"/>
                  </a:lnTo>
                  <a:lnTo>
                    <a:pt x="101105" y="7535"/>
                  </a:lnTo>
                  <a:lnTo>
                    <a:pt x="60525" y="28520"/>
                  </a:lnTo>
                  <a:lnTo>
                    <a:pt x="28524" y="60520"/>
                  </a:lnTo>
                  <a:lnTo>
                    <a:pt x="7537" y="101100"/>
                  </a:lnTo>
                  <a:lnTo>
                    <a:pt x="0" y="147827"/>
                  </a:lnTo>
                  <a:lnTo>
                    <a:pt x="0" y="708609"/>
                  </a:lnTo>
                  <a:lnTo>
                    <a:pt x="1603260" y="708609"/>
                  </a:lnTo>
                  <a:lnTo>
                    <a:pt x="1736293" y="875169"/>
                  </a:lnTo>
                  <a:lnTo>
                    <a:pt x="1869325" y="708609"/>
                  </a:lnTo>
                  <a:lnTo>
                    <a:pt x="3472586" y="708609"/>
                  </a:lnTo>
                  <a:lnTo>
                    <a:pt x="3472586" y="147827"/>
                  </a:lnTo>
                  <a:lnTo>
                    <a:pt x="3465049" y="101100"/>
                  </a:lnTo>
                  <a:lnTo>
                    <a:pt x="3444061" y="60520"/>
                  </a:lnTo>
                  <a:lnTo>
                    <a:pt x="3412060" y="28520"/>
                  </a:lnTo>
                  <a:lnTo>
                    <a:pt x="3371480" y="7535"/>
                  </a:lnTo>
                  <a:lnTo>
                    <a:pt x="3324758" y="0"/>
                  </a:lnTo>
                  <a:close/>
                </a:path>
              </a:pathLst>
            </a:custGeom>
            <a:solidFill>
              <a:srgbClr val="006B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85" name="Google Shape;2485;p37"/>
          <p:cNvSpPr/>
          <p:nvPr/>
        </p:nvSpPr>
        <p:spPr>
          <a:xfrm>
            <a:off x="4969776" y="5578614"/>
            <a:ext cx="1030604" cy="1030604"/>
          </a:xfrm>
          <a:custGeom>
            <a:avLst/>
            <a:gdLst/>
            <a:ahLst/>
            <a:cxnLst/>
            <a:rect l="l" t="t" r="r" b="b"/>
            <a:pathLst>
              <a:path w="1030604" h="1030604" extrusionOk="0">
                <a:moveTo>
                  <a:pt x="51777" y="410260"/>
                </a:moveTo>
                <a:lnTo>
                  <a:pt x="44437" y="402920"/>
                </a:lnTo>
                <a:lnTo>
                  <a:pt x="26492" y="402920"/>
                </a:lnTo>
                <a:lnTo>
                  <a:pt x="19189" y="410260"/>
                </a:lnTo>
                <a:lnTo>
                  <a:pt x="19189" y="428205"/>
                </a:lnTo>
                <a:lnTo>
                  <a:pt x="26517" y="435508"/>
                </a:lnTo>
                <a:lnTo>
                  <a:pt x="35496" y="435508"/>
                </a:lnTo>
                <a:lnTo>
                  <a:pt x="44475" y="435508"/>
                </a:lnTo>
                <a:lnTo>
                  <a:pt x="51777" y="428205"/>
                </a:lnTo>
                <a:lnTo>
                  <a:pt x="51777" y="410260"/>
                </a:lnTo>
                <a:close/>
              </a:path>
              <a:path w="1030604" h="1030604" extrusionOk="0">
                <a:moveTo>
                  <a:pt x="51777" y="333514"/>
                </a:moveTo>
                <a:lnTo>
                  <a:pt x="44437" y="326174"/>
                </a:lnTo>
                <a:lnTo>
                  <a:pt x="26492" y="326174"/>
                </a:lnTo>
                <a:lnTo>
                  <a:pt x="19189" y="333514"/>
                </a:lnTo>
                <a:lnTo>
                  <a:pt x="19189" y="351459"/>
                </a:lnTo>
                <a:lnTo>
                  <a:pt x="26517" y="358762"/>
                </a:lnTo>
                <a:lnTo>
                  <a:pt x="35496" y="358762"/>
                </a:lnTo>
                <a:lnTo>
                  <a:pt x="44475" y="358762"/>
                </a:lnTo>
                <a:lnTo>
                  <a:pt x="51777" y="351459"/>
                </a:lnTo>
                <a:lnTo>
                  <a:pt x="51777" y="333514"/>
                </a:lnTo>
                <a:close/>
              </a:path>
              <a:path w="1030604" h="1030604" extrusionOk="0">
                <a:moveTo>
                  <a:pt x="90170" y="1005014"/>
                </a:moveTo>
                <a:lnTo>
                  <a:pt x="82842" y="997686"/>
                </a:lnTo>
                <a:lnTo>
                  <a:pt x="64884" y="997686"/>
                </a:lnTo>
                <a:lnTo>
                  <a:pt x="57556" y="1005014"/>
                </a:lnTo>
                <a:lnTo>
                  <a:pt x="57556" y="1022972"/>
                </a:lnTo>
                <a:lnTo>
                  <a:pt x="64884" y="1030300"/>
                </a:lnTo>
                <a:lnTo>
                  <a:pt x="73863" y="1030300"/>
                </a:lnTo>
                <a:lnTo>
                  <a:pt x="82842" y="1030300"/>
                </a:lnTo>
                <a:lnTo>
                  <a:pt x="90170" y="1022972"/>
                </a:lnTo>
                <a:lnTo>
                  <a:pt x="90170" y="1005014"/>
                </a:lnTo>
                <a:close/>
              </a:path>
              <a:path w="1030604" h="1030604" extrusionOk="0">
                <a:moveTo>
                  <a:pt x="128536" y="371868"/>
                </a:moveTo>
                <a:lnTo>
                  <a:pt x="121208" y="364540"/>
                </a:lnTo>
                <a:lnTo>
                  <a:pt x="103251" y="364540"/>
                </a:lnTo>
                <a:lnTo>
                  <a:pt x="95948" y="371868"/>
                </a:lnTo>
                <a:lnTo>
                  <a:pt x="95948" y="389826"/>
                </a:lnTo>
                <a:lnTo>
                  <a:pt x="103251" y="397154"/>
                </a:lnTo>
                <a:lnTo>
                  <a:pt x="112229" y="397154"/>
                </a:lnTo>
                <a:lnTo>
                  <a:pt x="121208" y="397154"/>
                </a:lnTo>
                <a:lnTo>
                  <a:pt x="128536" y="389826"/>
                </a:lnTo>
                <a:lnTo>
                  <a:pt x="128536" y="371868"/>
                </a:lnTo>
                <a:close/>
              </a:path>
              <a:path w="1030604" h="1030604" extrusionOk="0">
                <a:moveTo>
                  <a:pt x="282028" y="929411"/>
                </a:moveTo>
                <a:lnTo>
                  <a:pt x="279730" y="929411"/>
                </a:lnTo>
                <a:lnTo>
                  <a:pt x="279730" y="921791"/>
                </a:lnTo>
                <a:lnTo>
                  <a:pt x="277037" y="921791"/>
                </a:lnTo>
                <a:lnTo>
                  <a:pt x="277037" y="920521"/>
                </a:lnTo>
                <a:lnTo>
                  <a:pt x="172669" y="920521"/>
                </a:lnTo>
                <a:lnTo>
                  <a:pt x="172669" y="921791"/>
                </a:lnTo>
                <a:lnTo>
                  <a:pt x="172669" y="929411"/>
                </a:lnTo>
                <a:lnTo>
                  <a:pt x="172669" y="944651"/>
                </a:lnTo>
                <a:lnTo>
                  <a:pt x="172669" y="953541"/>
                </a:lnTo>
                <a:lnTo>
                  <a:pt x="279590" y="953541"/>
                </a:lnTo>
                <a:lnTo>
                  <a:pt x="279590" y="944651"/>
                </a:lnTo>
                <a:lnTo>
                  <a:pt x="282028" y="944651"/>
                </a:lnTo>
                <a:lnTo>
                  <a:pt x="282028" y="929411"/>
                </a:lnTo>
                <a:close/>
              </a:path>
              <a:path w="1030604" h="1030604" extrusionOk="0">
                <a:moveTo>
                  <a:pt x="358749" y="998550"/>
                </a:moveTo>
                <a:lnTo>
                  <a:pt x="349580" y="998550"/>
                </a:lnTo>
                <a:lnTo>
                  <a:pt x="349580" y="997280"/>
                </a:lnTo>
                <a:lnTo>
                  <a:pt x="139280" y="997280"/>
                </a:lnTo>
                <a:lnTo>
                  <a:pt x="139280" y="998550"/>
                </a:lnTo>
                <a:lnTo>
                  <a:pt x="136601" y="998550"/>
                </a:lnTo>
                <a:lnTo>
                  <a:pt x="136601" y="1006170"/>
                </a:lnTo>
                <a:lnTo>
                  <a:pt x="134302" y="1006170"/>
                </a:lnTo>
                <a:lnTo>
                  <a:pt x="134302" y="1021410"/>
                </a:lnTo>
                <a:lnTo>
                  <a:pt x="136740" y="1021410"/>
                </a:lnTo>
                <a:lnTo>
                  <a:pt x="136740" y="1030300"/>
                </a:lnTo>
                <a:lnTo>
                  <a:pt x="358749" y="1030300"/>
                </a:lnTo>
                <a:lnTo>
                  <a:pt x="358749" y="1021410"/>
                </a:lnTo>
                <a:lnTo>
                  <a:pt x="358749" y="1006170"/>
                </a:lnTo>
                <a:lnTo>
                  <a:pt x="358749" y="998550"/>
                </a:lnTo>
                <a:close/>
              </a:path>
              <a:path w="1030604" h="1030604" extrusionOk="0">
                <a:moveTo>
                  <a:pt x="358762" y="928255"/>
                </a:moveTo>
                <a:lnTo>
                  <a:pt x="351459" y="920953"/>
                </a:lnTo>
                <a:lnTo>
                  <a:pt x="333502" y="920953"/>
                </a:lnTo>
                <a:lnTo>
                  <a:pt x="326174" y="928255"/>
                </a:lnTo>
                <a:lnTo>
                  <a:pt x="326174" y="946213"/>
                </a:lnTo>
                <a:lnTo>
                  <a:pt x="333502" y="953541"/>
                </a:lnTo>
                <a:lnTo>
                  <a:pt x="342480" y="953541"/>
                </a:lnTo>
                <a:lnTo>
                  <a:pt x="351459" y="953541"/>
                </a:lnTo>
                <a:lnTo>
                  <a:pt x="358762" y="946213"/>
                </a:lnTo>
                <a:lnTo>
                  <a:pt x="358762" y="928255"/>
                </a:lnTo>
                <a:close/>
              </a:path>
              <a:path w="1030604" h="1030604" extrusionOk="0">
                <a:moveTo>
                  <a:pt x="454698" y="7340"/>
                </a:moveTo>
                <a:lnTo>
                  <a:pt x="447370" y="0"/>
                </a:lnTo>
                <a:lnTo>
                  <a:pt x="429412" y="0"/>
                </a:lnTo>
                <a:lnTo>
                  <a:pt x="422109" y="7340"/>
                </a:lnTo>
                <a:lnTo>
                  <a:pt x="422109" y="25285"/>
                </a:lnTo>
                <a:lnTo>
                  <a:pt x="429412" y="32588"/>
                </a:lnTo>
                <a:lnTo>
                  <a:pt x="438391" y="32588"/>
                </a:lnTo>
                <a:lnTo>
                  <a:pt x="447370" y="32588"/>
                </a:lnTo>
                <a:lnTo>
                  <a:pt x="454698" y="25285"/>
                </a:lnTo>
                <a:lnTo>
                  <a:pt x="454698" y="7340"/>
                </a:lnTo>
                <a:close/>
              </a:path>
              <a:path w="1030604" h="1030604" extrusionOk="0">
                <a:moveTo>
                  <a:pt x="531456" y="7340"/>
                </a:moveTo>
                <a:lnTo>
                  <a:pt x="524129" y="0"/>
                </a:lnTo>
                <a:lnTo>
                  <a:pt x="506171" y="0"/>
                </a:lnTo>
                <a:lnTo>
                  <a:pt x="498843" y="7340"/>
                </a:lnTo>
                <a:lnTo>
                  <a:pt x="498843" y="25285"/>
                </a:lnTo>
                <a:lnTo>
                  <a:pt x="506171" y="32588"/>
                </a:lnTo>
                <a:lnTo>
                  <a:pt x="515150" y="32588"/>
                </a:lnTo>
                <a:lnTo>
                  <a:pt x="524129" y="32588"/>
                </a:lnTo>
                <a:lnTo>
                  <a:pt x="531456" y="25285"/>
                </a:lnTo>
                <a:lnTo>
                  <a:pt x="531456" y="7340"/>
                </a:lnTo>
                <a:close/>
              </a:path>
              <a:path w="1030604" h="1030604" extrusionOk="0">
                <a:moveTo>
                  <a:pt x="608203" y="7340"/>
                </a:moveTo>
                <a:lnTo>
                  <a:pt x="600875" y="0"/>
                </a:lnTo>
                <a:lnTo>
                  <a:pt x="582917" y="0"/>
                </a:lnTo>
                <a:lnTo>
                  <a:pt x="575589" y="7340"/>
                </a:lnTo>
                <a:lnTo>
                  <a:pt x="575589" y="25285"/>
                </a:lnTo>
                <a:lnTo>
                  <a:pt x="582917" y="32588"/>
                </a:lnTo>
                <a:lnTo>
                  <a:pt x="591896" y="32588"/>
                </a:lnTo>
                <a:lnTo>
                  <a:pt x="600875" y="32588"/>
                </a:lnTo>
                <a:lnTo>
                  <a:pt x="608203" y="25285"/>
                </a:lnTo>
                <a:lnTo>
                  <a:pt x="608203" y="7340"/>
                </a:lnTo>
                <a:close/>
              </a:path>
              <a:path w="1030604" h="1030604" extrusionOk="0">
                <a:moveTo>
                  <a:pt x="704088" y="382524"/>
                </a:moveTo>
                <a:lnTo>
                  <a:pt x="704037" y="374027"/>
                </a:lnTo>
                <a:lnTo>
                  <a:pt x="694524" y="364515"/>
                </a:lnTo>
                <a:lnTo>
                  <a:pt x="648347" y="318338"/>
                </a:lnTo>
                <a:lnTo>
                  <a:pt x="648347" y="364515"/>
                </a:lnTo>
                <a:lnTo>
                  <a:pt x="633145" y="364515"/>
                </a:lnTo>
                <a:lnTo>
                  <a:pt x="633145" y="608177"/>
                </a:lnTo>
                <a:lnTo>
                  <a:pt x="633145" y="652348"/>
                </a:lnTo>
                <a:lnTo>
                  <a:pt x="397141" y="652348"/>
                </a:lnTo>
                <a:lnTo>
                  <a:pt x="397141" y="608177"/>
                </a:lnTo>
                <a:lnTo>
                  <a:pt x="633145" y="608177"/>
                </a:lnTo>
                <a:lnTo>
                  <a:pt x="633145" y="364515"/>
                </a:lnTo>
                <a:lnTo>
                  <a:pt x="633133" y="397154"/>
                </a:lnTo>
                <a:lnTo>
                  <a:pt x="633133" y="575627"/>
                </a:lnTo>
                <a:lnTo>
                  <a:pt x="397141" y="575602"/>
                </a:lnTo>
                <a:lnTo>
                  <a:pt x="397141" y="397154"/>
                </a:lnTo>
                <a:lnTo>
                  <a:pt x="441274" y="397154"/>
                </a:lnTo>
                <a:lnTo>
                  <a:pt x="441274" y="575602"/>
                </a:lnTo>
                <a:lnTo>
                  <a:pt x="473887" y="575602"/>
                </a:lnTo>
                <a:lnTo>
                  <a:pt x="473887" y="397154"/>
                </a:lnTo>
                <a:lnTo>
                  <a:pt x="556387" y="397154"/>
                </a:lnTo>
                <a:lnTo>
                  <a:pt x="556387" y="575602"/>
                </a:lnTo>
                <a:lnTo>
                  <a:pt x="620522" y="575602"/>
                </a:lnTo>
                <a:lnTo>
                  <a:pt x="589000" y="575538"/>
                </a:lnTo>
                <a:lnTo>
                  <a:pt x="589000" y="397154"/>
                </a:lnTo>
                <a:lnTo>
                  <a:pt x="633133" y="397154"/>
                </a:lnTo>
                <a:lnTo>
                  <a:pt x="633133" y="364515"/>
                </a:lnTo>
                <a:lnTo>
                  <a:pt x="381965" y="364515"/>
                </a:lnTo>
                <a:lnTo>
                  <a:pt x="515137" y="231165"/>
                </a:lnTo>
                <a:lnTo>
                  <a:pt x="648347" y="364515"/>
                </a:lnTo>
                <a:lnTo>
                  <a:pt x="648347" y="318338"/>
                </a:lnTo>
                <a:lnTo>
                  <a:pt x="561187" y="231165"/>
                </a:lnTo>
                <a:lnTo>
                  <a:pt x="523570" y="193548"/>
                </a:lnTo>
                <a:lnTo>
                  <a:pt x="519582" y="191871"/>
                </a:lnTo>
                <a:lnTo>
                  <a:pt x="510806" y="191871"/>
                </a:lnTo>
                <a:lnTo>
                  <a:pt x="506615" y="193636"/>
                </a:lnTo>
                <a:lnTo>
                  <a:pt x="326275" y="374027"/>
                </a:lnTo>
                <a:lnTo>
                  <a:pt x="326174" y="382524"/>
                </a:lnTo>
                <a:lnTo>
                  <a:pt x="326364" y="397154"/>
                </a:lnTo>
                <a:lnTo>
                  <a:pt x="364528" y="397154"/>
                </a:lnTo>
                <a:lnTo>
                  <a:pt x="364578" y="677633"/>
                </a:lnTo>
                <a:lnTo>
                  <a:pt x="371856" y="684936"/>
                </a:lnTo>
                <a:lnTo>
                  <a:pt x="658418" y="684936"/>
                </a:lnTo>
                <a:lnTo>
                  <a:pt x="665695" y="677633"/>
                </a:lnTo>
                <a:lnTo>
                  <a:pt x="665759" y="652348"/>
                </a:lnTo>
                <a:lnTo>
                  <a:pt x="665759" y="608177"/>
                </a:lnTo>
                <a:lnTo>
                  <a:pt x="665759" y="575627"/>
                </a:lnTo>
                <a:lnTo>
                  <a:pt x="665759" y="397154"/>
                </a:lnTo>
                <a:lnTo>
                  <a:pt x="703554" y="397154"/>
                </a:lnTo>
                <a:lnTo>
                  <a:pt x="704088" y="382524"/>
                </a:lnTo>
                <a:close/>
              </a:path>
              <a:path w="1030604" h="1030604" extrusionOk="0">
                <a:moveTo>
                  <a:pt x="704113" y="928255"/>
                </a:moveTo>
                <a:lnTo>
                  <a:pt x="696785" y="920953"/>
                </a:lnTo>
                <a:lnTo>
                  <a:pt x="678827" y="920953"/>
                </a:lnTo>
                <a:lnTo>
                  <a:pt x="671525" y="928255"/>
                </a:lnTo>
                <a:lnTo>
                  <a:pt x="671525" y="946213"/>
                </a:lnTo>
                <a:lnTo>
                  <a:pt x="678827" y="953541"/>
                </a:lnTo>
                <a:lnTo>
                  <a:pt x="687806" y="953541"/>
                </a:lnTo>
                <a:lnTo>
                  <a:pt x="696785" y="953541"/>
                </a:lnTo>
                <a:lnTo>
                  <a:pt x="704113" y="946213"/>
                </a:lnTo>
                <a:lnTo>
                  <a:pt x="704113" y="928255"/>
                </a:lnTo>
                <a:close/>
              </a:path>
              <a:path w="1030604" h="1030604" extrusionOk="0">
                <a:moveTo>
                  <a:pt x="857618" y="929411"/>
                </a:moveTo>
                <a:lnTo>
                  <a:pt x="855319" y="929411"/>
                </a:lnTo>
                <a:lnTo>
                  <a:pt x="855319" y="921791"/>
                </a:lnTo>
                <a:lnTo>
                  <a:pt x="852614" y="921791"/>
                </a:lnTo>
                <a:lnTo>
                  <a:pt x="852614" y="920521"/>
                </a:lnTo>
                <a:lnTo>
                  <a:pt x="748258" y="920521"/>
                </a:lnTo>
                <a:lnTo>
                  <a:pt x="748258" y="921791"/>
                </a:lnTo>
                <a:lnTo>
                  <a:pt x="748258" y="929411"/>
                </a:lnTo>
                <a:lnTo>
                  <a:pt x="748258" y="944651"/>
                </a:lnTo>
                <a:lnTo>
                  <a:pt x="748258" y="953541"/>
                </a:lnTo>
                <a:lnTo>
                  <a:pt x="855179" y="953541"/>
                </a:lnTo>
                <a:lnTo>
                  <a:pt x="855179" y="944651"/>
                </a:lnTo>
                <a:lnTo>
                  <a:pt x="857618" y="944651"/>
                </a:lnTo>
                <a:lnTo>
                  <a:pt x="857618" y="929411"/>
                </a:lnTo>
                <a:close/>
              </a:path>
              <a:path w="1030604" h="1030604" extrusionOk="0">
                <a:moveTo>
                  <a:pt x="895972" y="998550"/>
                </a:moveTo>
                <a:lnTo>
                  <a:pt x="886790" y="998550"/>
                </a:lnTo>
                <a:lnTo>
                  <a:pt x="886790" y="997280"/>
                </a:lnTo>
                <a:lnTo>
                  <a:pt x="676490" y="997280"/>
                </a:lnTo>
                <a:lnTo>
                  <a:pt x="676490" y="998550"/>
                </a:lnTo>
                <a:lnTo>
                  <a:pt x="673811" y="998550"/>
                </a:lnTo>
                <a:lnTo>
                  <a:pt x="673811" y="1006170"/>
                </a:lnTo>
                <a:lnTo>
                  <a:pt x="671525" y="1006170"/>
                </a:lnTo>
                <a:lnTo>
                  <a:pt x="671525" y="1021410"/>
                </a:lnTo>
                <a:lnTo>
                  <a:pt x="673950" y="1021410"/>
                </a:lnTo>
                <a:lnTo>
                  <a:pt x="673950" y="1030300"/>
                </a:lnTo>
                <a:lnTo>
                  <a:pt x="895972" y="1030300"/>
                </a:lnTo>
                <a:lnTo>
                  <a:pt x="895972" y="1021410"/>
                </a:lnTo>
                <a:lnTo>
                  <a:pt x="895972" y="1006170"/>
                </a:lnTo>
                <a:lnTo>
                  <a:pt x="895972" y="998550"/>
                </a:lnTo>
                <a:close/>
              </a:path>
              <a:path w="1030604" h="1030604" extrusionOk="0">
                <a:moveTo>
                  <a:pt x="934351" y="371868"/>
                </a:moveTo>
                <a:lnTo>
                  <a:pt x="927049" y="364540"/>
                </a:lnTo>
                <a:lnTo>
                  <a:pt x="909091" y="364540"/>
                </a:lnTo>
                <a:lnTo>
                  <a:pt x="901763" y="371868"/>
                </a:lnTo>
                <a:lnTo>
                  <a:pt x="901763" y="389826"/>
                </a:lnTo>
                <a:lnTo>
                  <a:pt x="909091" y="397154"/>
                </a:lnTo>
                <a:lnTo>
                  <a:pt x="918070" y="397154"/>
                </a:lnTo>
                <a:lnTo>
                  <a:pt x="927049" y="397154"/>
                </a:lnTo>
                <a:lnTo>
                  <a:pt x="934351" y="389826"/>
                </a:lnTo>
                <a:lnTo>
                  <a:pt x="934351" y="371868"/>
                </a:lnTo>
                <a:close/>
              </a:path>
              <a:path w="1030604" h="1030604" extrusionOk="0">
                <a:moveTo>
                  <a:pt x="972731" y="1005014"/>
                </a:moveTo>
                <a:lnTo>
                  <a:pt x="965403" y="997686"/>
                </a:lnTo>
                <a:lnTo>
                  <a:pt x="947445" y="997686"/>
                </a:lnTo>
                <a:lnTo>
                  <a:pt x="940142" y="1005014"/>
                </a:lnTo>
                <a:lnTo>
                  <a:pt x="940142" y="1022972"/>
                </a:lnTo>
                <a:lnTo>
                  <a:pt x="947445" y="1030300"/>
                </a:lnTo>
                <a:lnTo>
                  <a:pt x="956424" y="1030300"/>
                </a:lnTo>
                <a:lnTo>
                  <a:pt x="965403" y="1030300"/>
                </a:lnTo>
                <a:lnTo>
                  <a:pt x="972731" y="1022972"/>
                </a:lnTo>
                <a:lnTo>
                  <a:pt x="972731" y="1005014"/>
                </a:lnTo>
                <a:close/>
              </a:path>
              <a:path w="1030604" h="1030604" extrusionOk="0">
                <a:moveTo>
                  <a:pt x="1011097" y="410260"/>
                </a:moveTo>
                <a:lnTo>
                  <a:pt x="1003795" y="402920"/>
                </a:lnTo>
                <a:lnTo>
                  <a:pt x="985837" y="402920"/>
                </a:lnTo>
                <a:lnTo>
                  <a:pt x="978509" y="410260"/>
                </a:lnTo>
                <a:lnTo>
                  <a:pt x="978509" y="428205"/>
                </a:lnTo>
                <a:lnTo>
                  <a:pt x="985837" y="435508"/>
                </a:lnTo>
                <a:lnTo>
                  <a:pt x="994816" y="435508"/>
                </a:lnTo>
                <a:lnTo>
                  <a:pt x="1003795" y="435508"/>
                </a:lnTo>
                <a:lnTo>
                  <a:pt x="1011097" y="428205"/>
                </a:lnTo>
                <a:lnTo>
                  <a:pt x="1011097" y="410260"/>
                </a:lnTo>
                <a:close/>
              </a:path>
              <a:path w="1030604" h="1030604" extrusionOk="0">
                <a:moveTo>
                  <a:pt x="1011097" y="333514"/>
                </a:moveTo>
                <a:lnTo>
                  <a:pt x="1003795" y="326174"/>
                </a:lnTo>
                <a:lnTo>
                  <a:pt x="985837" y="326174"/>
                </a:lnTo>
                <a:lnTo>
                  <a:pt x="978509" y="333514"/>
                </a:lnTo>
                <a:lnTo>
                  <a:pt x="978509" y="351459"/>
                </a:lnTo>
                <a:lnTo>
                  <a:pt x="985837" y="358762"/>
                </a:lnTo>
                <a:lnTo>
                  <a:pt x="994816" y="358762"/>
                </a:lnTo>
                <a:lnTo>
                  <a:pt x="1003795" y="358762"/>
                </a:lnTo>
                <a:lnTo>
                  <a:pt x="1011097" y="351459"/>
                </a:lnTo>
                <a:lnTo>
                  <a:pt x="1011097" y="333514"/>
                </a:lnTo>
                <a:close/>
              </a:path>
              <a:path w="1030604" h="1030604" extrusionOk="0">
                <a:moveTo>
                  <a:pt x="1030287" y="73990"/>
                </a:moveTo>
                <a:lnTo>
                  <a:pt x="1024470" y="46050"/>
                </a:lnTo>
                <a:lnTo>
                  <a:pt x="1016127" y="33350"/>
                </a:lnTo>
                <a:lnTo>
                  <a:pt x="1008621" y="21920"/>
                </a:lnTo>
                <a:lnTo>
                  <a:pt x="997699" y="14833"/>
                </a:lnTo>
                <a:lnTo>
                  <a:pt x="997699" y="73990"/>
                </a:lnTo>
                <a:lnTo>
                  <a:pt x="994511" y="90500"/>
                </a:lnTo>
                <a:lnTo>
                  <a:pt x="985748" y="103200"/>
                </a:lnTo>
                <a:lnTo>
                  <a:pt x="972642" y="112090"/>
                </a:lnTo>
                <a:lnTo>
                  <a:pt x="956424" y="115900"/>
                </a:lnTo>
                <a:lnTo>
                  <a:pt x="940219" y="112090"/>
                </a:lnTo>
                <a:lnTo>
                  <a:pt x="927125" y="103200"/>
                </a:lnTo>
                <a:lnTo>
                  <a:pt x="918362" y="90500"/>
                </a:lnTo>
                <a:lnTo>
                  <a:pt x="915174" y="73990"/>
                </a:lnTo>
                <a:lnTo>
                  <a:pt x="918362" y="58750"/>
                </a:lnTo>
                <a:lnTo>
                  <a:pt x="927125" y="44780"/>
                </a:lnTo>
                <a:lnTo>
                  <a:pt x="940219" y="35890"/>
                </a:lnTo>
                <a:lnTo>
                  <a:pt x="956424" y="33350"/>
                </a:lnTo>
                <a:lnTo>
                  <a:pt x="972642" y="35890"/>
                </a:lnTo>
                <a:lnTo>
                  <a:pt x="985748" y="44780"/>
                </a:lnTo>
                <a:lnTo>
                  <a:pt x="994511" y="58750"/>
                </a:lnTo>
                <a:lnTo>
                  <a:pt x="997699" y="73990"/>
                </a:lnTo>
                <a:lnTo>
                  <a:pt x="997699" y="14833"/>
                </a:lnTo>
                <a:lnTo>
                  <a:pt x="985139" y="6680"/>
                </a:lnTo>
                <a:lnTo>
                  <a:pt x="956424" y="330"/>
                </a:lnTo>
                <a:lnTo>
                  <a:pt x="932434" y="4140"/>
                </a:lnTo>
                <a:lnTo>
                  <a:pt x="911542" y="15570"/>
                </a:lnTo>
                <a:lnTo>
                  <a:pt x="895286" y="33350"/>
                </a:lnTo>
                <a:lnTo>
                  <a:pt x="885253" y="56210"/>
                </a:lnTo>
                <a:lnTo>
                  <a:pt x="884682" y="58750"/>
                </a:lnTo>
                <a:lnTo>
                  <a:pt x="698030" y="58750"/>
                </a:lnTo>
                <a:lnTo>
                  <a:pt x="690753" y="65100"/>
                </a:lnTo>
                <a:lnTo>
                  <a:pt x="690702" y="164160"/>
                </a:lnTo>
                <a:lnTo>
                  <a:pt x="686371" y="161620"/>
                </a:lnTo>
                <a:lnTo>
                  <a:pt x="659447" y="148920"/>
                </a:lnTo>
                <a:lnTo>
                  <a:pt x="645985" y="142570"/>
                </a:lnTo>
                <a:lnTo>
                  <a:pt x="603592" y="127330"/>
                </a:lnTo>
                <a:lnTo>
                  <a:pt x="559777" y="118440"/>
                </a:lnTo>
                <a:lnTo>
                  <a:pt x="515150" y="115900"/>
                </a:lnTo>
                <a:lnTo>
                  <a:pt x="470509" y="118440"/>
                </a:lnTo>
                <a:lnTo>
                  <a:pt x="426694" y="127330"/>
                </a:lnTo>
                <a:lnTo>
                  <a:pt x="384302" y="142570"/>
                </a:lnTo>
                <a:lnTo>
                  <a:pt x="343916" y="161620"/>
                </a:lnTo>
                <a:lnTo>
                  <a:pt x="339585" y="164160"/>
                </a:lnTo>
                <a:lnTo>
                  <a:pt x="339585" y="90500"/>
                </a:lnTo>
                <a:lnTo>
                  <a:pt x="339534" y="65100"/>
                </a:lnTo>
                <a:lnTo>
                  <a:pt x="332232" y="58750"/>
                </a:lnTo>
                <a:lnTo>
                  <a:pt x="145605" y="58750"/>
                </a:lnTo>
                <a:lnTo>
                  <a:pt x="145034" y="56210"/>
                </a:lnTo>
                <a:lnTo>
                  <a:pt x="135001" y="33350"/>
                </a:lnTo>
                <a:lnTo>
                  <a:pt x="118745" y="15570"/>
                </a:lnTo>
                <a:lnTo>
                  <a:pt x="115112" y="13589"/>
                </a:lnTo>
                <a:lnTo>
                  <a:pt x="115112" y="73990"/>
                </a:lnTo>
                <a:lnTo>
                  <a:pt x="111912" y="90500"/>
                </a:lnTo>
                <a:lnTo>
                  <a:pt x="103162" y="103200"/>
                </a:lnTo>
                <a:lnTo>
                  <a:pt x="90068" y="112090"/>
                </a:lnTo>
                <a:lnTo>
                  <a:pt x="73863" y="115900"/>
                </a:lnTo>
                <a:lnTo>
                  <a:pt x="57658" y="112090"/>
                </a:lnTo>
                <a:lnTo>
                  <a:pt x="44564" y="103200"/>
                </a:lnTo>
                <a:lnTo>
                  <a:pt x="35801" y="90500"/>
                </a:lnTo>
                <a:lnTo>
                  <a:pt x="32613" y="73990"/>
                </a:lnTo>
                <a:lnTo>
                  <a:pt x="35801" y="58750"/>
                </a:lnTo>
                <a:lnTo>
                  <a:pt x="44564" y="44780"/>
                </a:lnTo>
                <a:lnTo>
                  <a:pt x="57658" y="35890"/>
                </a:lnTo>
                <a:lnTo>
                  <a:pt x="73863" y="33350"/>
                </a:lnTo>
                <a:lnTo>
                  <a:pt x="90068" y="35890"/>
                </a:lnTo>
                <a:lnTo>
                  <a:pt x="103162" y="44780"/>
                </a:lnTo>
                <a:lnTo>
                  <a:pt x="111912" y="58750"/>
                </a:lnTo>
                <a:lnTo>
                  <a:pt x="115112" y="73990"/>
                </a:lnTo>
                <a:lnTo>
                  <a:pt x="115112" y="13589"/>
                </a:lnTo>
                <a:lnTo>
                  <a:pt x="97853" y="4140"/>
                </a:lnTo>
                <a:lnTo>
                  <a:pt x="73863" y="330"/>
                </a:lnTo>
                <a:lnTo>
                  <a:pt x="45148" y="6680"/>
                </a:lnTo>
                <a:lnTo>
                  <a:pt x="21666" y="21920"/>
                </a:lnTo>
                <a:lnTo>
                  <a:pt x="5816" y="46050"/>
                </a:lnTo>
                <a:lnTo>
                  <a:pt x="0" y="73990"/>
                </a:lnTo>
                <a:lnTo>
                  <a:pt x="5816" y="103200"/>
                </a:lnTo>
                <a:lnTo>
                  <a:pt x="21666" y="127330"/>
                </a:lnTo>
                <a:lnTo>
                  <a:pt x="45148" y="142570"/>
                </a:lnTo>
                <a:lnTo>
                  <a:pt x="73863" y="148920"/>
                </a:lnTo>
                <a:lnTo>
                  <a:pt x="97853" y="143840"/>
                </a:lnTo>
                <a:lnTo>
                  <a:pt x="118745" y="132410"/>
                </a:lnTo>
                <a:lnTo>
                  <a:pt x="135001" y="115900"/>
                </a:lnTo>
                <a:lnTo>
                  <a:pt x="145034" y="93040"/>
                </a:lnTo>
                <a:lnTo>
                  <a:pt x="145605" y="90500"/>
                </a:lnTo>
                <a:lnTo>
                  <a:pt x="306971" y="90500"/>
                </a:lnTo>
                <a:lnTo>
                  <a:pt x="305866" y="188290"/>
                </a:lnTo>
                <a:lnTo>
                  <a:pt x="266611" y="222580"/>
                </a:lnTo>
                <a:lnTo>
                  <a:pt x="233718" y="263220"/>
                </a:lnTo>
                <a:lnTo>
                  <a:pt x="207530" y="307670"/>
                </a:lnTo>
                <a:lnTo>
                  <a:pt x="188391" y="355930"/>
                </a:lnTo>
                <a:lnTo>
                  <a:pt x="176657" y="405460"/>
                </a:lnTo>
                <a:lnTo>
                  <a:pt x="172669" y="458800"/>
                </a:lnTo>
                <a:lnTo>
                  <a:pt x="173228" y="476580"/>
                </a:lnTo>
                <a:lnTo>
                  <a:pt x="174891" y="495630"/>
                </a:lnTo>
                <a:lnTo>
                  <a:pt x="177647" y="514680"/>
                </a:lnTo>
                <a:lnTo>
                  <a:pt x="181495" y="535000"/>
                </a:lnTo>
                <a:lnTo>
                  <a:pt x="182295" y="537540"/>
                </a:lnTo>
                <a:lnTo>
                  <a:pt x="72275" y="537540"/>
                </a:lnTo>
                <a:lnTo>
                  <a:pt x="63893" y="538810"/>
                </a:lnTo>
                <a:lnTo>
                  <a:pt x="57607" y="545160"/>
                </a:lnTo>
                <a:lnTo>
                  <a:pt x="57607" y="769950"/>
                </a:lnTo>
                <a:lnTo>
                  <a:pt x="55460" y="771220"/>
                </a:lnTo>
                <a:lnTo>
                  <a:pt x="33020" y="781380"/>
                </a:lnTo>
                <a:lnTo>
                  <a:pt x="15494" y="796620"/>
                </a:lnTo>
                <a:lnTo>
                  <a:pt x="4076" y="818210"/>
                </a:lnTo>
                <a:lnTo>
                  <a:pt x="0" y="842340"/>
                </a:lnTo>
                <a:lnTo>
                  <a:pt x="5816" y="870280"/>
                </a:lnTo>
                <a:lnTo>
                  <a:pt x="21666" y="894410"/>
                </a:lnTo>
                <a:lnTo>
                  <a:pt x="45148" y="909650"/>
                </a:lnTo>
                <a:lnTo>
                  <a:pt x="73863" y="916000"/>
                </a:lnTo>
                <a:lnTo>
                  <a:pt x="102577" y="909650"/>
                </a:lnTo>
                <a:lnTo>
                  <a:pt x="126060" y="894410"/>
                </a:lnTo>
                <a:lnTo>
                  <a:pt x="133565" y="882980"/>
                </a:lnTo>
                <a:lnTo>
                  <a:pt x="141909" y="870280"/>
                </a:lnTo>
                <a:lnTo>
                  <a:pt x="147726" y="842340"/>
                </a:lnTo>
                <a:lnTo>
                  <a:pt x="143649" y="818210"/>
                </a:lnTo>
                <a:lnTo>
                  <a:pt x="134264" y="800430"/>
                </a:lnTo>
                <a:lnTo>
                  <a:pt x="132257" y="796620"/>
                </a:lnTo>
                <a:lnTo>
                  <a:pt x="115112" y="781710"/>
                </a:lnTo>
                <a:lnTo>
                  <a:pt x="115112" y="842340"/>
                </a:lnTo>
                <a:lnTo>
                  <a:pt x="111912" y="857580"/>
                </a:lnTo>
                <a:lnTo>
                  <a:pt x="103162" y="871550"/>
                </a:lnTo>
                <a:lnTo>
                  <a:pt x="90068" y="880440"/>
                </a:lnTo>
                <a:lnTo>
                  <a:pt x="73863" y="882980"/>
                </a:lnTo>
                <a:lnTo>
                  <a:pt x="57658" y="880440"/>
                </a:lnTo>
                <a:lnTo>
                  <a:pt x="44564" y="871550"/>
                </a:lnTo>
                <a:lnTo>
                  <a:pt x="35801" y="857580"/>
                </a:lnTo>
                <a:lnTo>
                  <a:pt x="32613" y="842340"/>
                </a:lnTo>
                <a:lnTo>
                  <a:pt x="35801" y="825830"/>
                </a:lnTo>
                <a:lnTo>
                  <a:pt x="44564" y="813130"/>
                </a:lnTo>
                <a:lnTo>
                  <a:pt x="57658" y="804240"/>
                </a:lnTo>
                <a:lnTo>
                  <a:pt x="73863" y="800430"/>
                </a:lnTo>
                <a:lnTo>
                  <a:pt x="90068" y="804240"/>
                </a:lnTo>
                <a:lnTo>
                  <a:pt x="103162" y="813130"/>
                </a:lnTo>
                <a:lnTo>
                  <a:pt x="111912" y="825830"/>
                </a:lnTo>
                <a:lnTo>
                  <a:pt x="115112" y="842340"/>
                </a:lnTo>
                <a:lnTo>
                  <a:pt x="115112" y="781710"/>
                </a:lnTo>
                <a:lnTo>
                  <a:pt x="114744" y="781380"/>
                </a:lnTo>
                <a:lnTo>
                  <a:pt x="92354" y="771220"/>
                </a:lnTo>
                <a:lnTo>
                  <a:pt x="90195" y="769950"/>
                </a:lnTo>
                <a:lnTo>
                  <a:pt x="90195" y="570560"/>
                </a:lnTo>
                <a:lnTo>
                  <a:pt x="191947" y="570560"/>
                </a:lnTo>
                <a:lnTo>
                  <a:pt x="192659" y="571830"/>
                </a:lnTo>
                <a:lnTo>
                  <a:pt x="213321" y="618820"/>
                </a:lnTo>
                <a:lnTo>
                  <a:pt x="240182" y="662000"/>
                </a:lnTo>
                <a:lnTo>
                  <a:pt x="272618" y="700100"/>
                </a:lnTo>
                <a:lnTo>
                  <a:pt x="309981" y="731850"/>
                </a:lnTo>
                <a:lnTo>
                  <a:pt x="351663" y="758520"/>
                </a:lnTo>
                <a:lnTo>
                  <a:pt x="397002" y="778840"/>
                </a:lnTo>
                <a:lnTo>
                  <a:pt x="445401" y="792810"/>
                </a:lnTo>
                <a:lnTo>
                  <a:pt x="496201" y="799160"/>
                </a:lnTo>
                <a:lnTo>
                  <a:pt x="498919" y="800430"/>
                </a:lnTo>
                <a:lnTo>
                  <a:pt x="498919" y="885520"/>
                </a:lnTo>
                <a:lnTo>
                  <a:pt x="496773" y="885520"/>
                </a:lnTo>
                <a:lnTo>
                  <a:pt x="474319" y="895680"/>
                </a:lnTo>
                <a:lnTo>
                  <a:pt x="456780" y="912190"/>
                </a:lnTo>
                <a:lnTo>
                  <a:pt x="445363" y="932510"/>
                </a:lnTo>
                <a:lnTo>
                  <a:pt x="441286" y="956640"/>
                </a:lnTo>
                <a:lnTo>
                  <a:pt x="447103" y="985850"/>
                </a:lnTo>
                <a:lnTo>
                  <a:pt x="462953" y="1008710"/>
                </a:lnTo>
                <a:lnTo>
                  <a:pt x="486435" y="1025220"/>
                </a:lnTo>
                <a:lnTo>
                  <a:pt x="515150" y="1030300"/>
                </a:lnTo>
                <a:lnTo>
                  <a:pt x="543864" y="1025220"/>
                </a:lnTo>
                <a:lnTo>
                  <a:pt x="567347" y="1008710"/>
                </a:lnTo>
                <a:lnTo>
                  <a:pt x="574382" y="998550"/>
                </a:lnTo>
                <a:lnTo>
                  <a:pt x="583196" y="985850"/>
                </a:lnTo>
                <a:lnTo>
                  <a:pt x="589013" y="956640"/>
                </a:lnTo>
                <a:lnTo>
                  <a:pt x="584936" y="932510"/>
                </a:lnTo>
                <a:lnTo>
                  <a:pt x="575652" y="916000"/>
                </a:lnTo>
                <a:lnTo>
                  <a:pt x="573519" y="912190"/>
                </a:lnTo>
                <a:lnTo>
                  <a:pt x="556399" y="896086"/>
                </a:lnTo>
                <a:lnTo>
                  <a:pt x="556399" y="956640"/>
                </a:lnTo>
                <a:lnTo>
                  <a:pt x="553199" y="973150"/>
                </a:lnTo>
                <a:lnTo>
                  <a:pt x="544449" y="985850"/>
                </a:lnTo>
                <a:lnTo>
                  <a:pt x="531355" y="994740"/>
                </a:lnTo>
                <a:lnTo>
                  <a:pt x="515150" y="998550"/>
                </a:lnTo>
                <a:lnTo>
                  <a:pt x="498944" y="994740"/>
                </a:lnTo>
                <a:lnTo>
                  <a:pt x="485851" y="985850"/>
                </a:lnTo>
                <a:lnTo>
                  <a:pt x="477088" y="973150"/>
                </a:lnTo>
                <a:lnTo>
                  <a:pt x="473900" y="956640"/>
                </a:lnTo>
                <a:lnTo>
                  <a:pt x="477088" y="941400"/>
                </a:lnTo>
                <a:lnTo>
                  <a:pt x="485851" y="927430"/>
                </a:lnTo>
                <a:lnTo>
                  <a:pt x="498944" y="918540"/>
                </a:lnTo>
                <a:lnTo>
                  <a:pt x="515150" y="916000"/>
                </a:lnTo>
                <a:lnTo>
                  <a:pt x="531355" y="918540"/>
                </a:lnTo>
                <a:lnTo>
                  <a:pt x="544449" y="927430"/>
                </a:lnTo>
                <a:lnTo>
                  <a:pt x="553199" y="941400"/>
                </a:lnTo>
                <a:lnTo>
                  <a:pt x="556399" y="956640"/>
                </a:lnTo>
                <a:lnTo>
                  <a:pt x="556399" y="896086"/>
                </a:lnTo>
                <a:lnTo>
                  <a:pt x="555967" y="895680"/>
                </a:lnTo>
                <a:lnTo>
                  <a:pt x="533514" y="885520"/>
                </a:lnTo>
                <a:lnTo>
                  <a:pt x="531368" y="885520"/>
                </a:lnTo>
                <a:lnTo>
                  <a:pt x="531368" y="800430"/>
                </a:lnTo>
                <a:lnTo>
                  <a:pt x="534085" y="799160"/>
                </a:lnTo>
                <a:lnTo>
                  <a:pt x="584873" y="792810"/>
                </a:lnTo>
                <a:lnTo>
                  <a:pt x="633260" y="778840"/>
                </a:lnTo>
                <a:lnTo>
                  <a:pt x="678611" y="758520"/>
                </a:lnTo>
                <a:lnTo>
                  <a:pt x="720293" y="731850"/>
                </a:lnTo>
                <a:lnTo>
                  <a:pt x="757656" y="700100"/>
                </a:lnTo>
                <a:lnTo>
                  <a:pt x="790092" y="662000"/>
                </a:lnTo>
                <a:lnTo>
                  <a:pt x="816965" y="618820"/>
                </a:lnTo>
                <a:lnTo>
                  <a:pt x="837628" y="571830"/>
                </a:lnTo>
                <a:lnTo>
                  <a:pt x="838339" y="570560"/>
                </a:lnTo>
                <a:lnTo>
                  <a:pt x="940117" y="570560"/>
                </a:lnTo>
                <a:lnTo>
                  <a:pt x="940117" y="769950"/>
                </a:lnTo>
                <a:lnTo>
                  <a:pt x="937971" y="771220"/>
                </a:lnTo>
                <a:lnTo>
                  <a:pt x="915555" y="781380"/>
                </a:lnTo>
                <a:lnTo>
                  <a:pt x="898029" y="796620"/>
                </a:lnTo>
                <a:lnTo>
                  <a:pt x="886625" y="818210"/>
                </a:lnTo>
                <a:lnTo>
                  <a:pt x="882561" y="842340"/>
                </a:lnTo>
                <a:lnTo>
                  <a:pt x="888377" y="870280"/>
                </a:lnTo>
                <a:lnTo>
                  <a:pt x="904227" y="894410"/>
                </a:lnTo>
                <a:lnTo>
                  <a:pt x="927709" y="909650"/>
                </a:lnTo>
                <a:lnTo>
                  <a:pt x="956424" y="916000"/>
                </a:lnTo>
                <a:lnTo>
                  <a:pt x="985139" y="909650"/>
                </a:lnTo>
                <a:lnTo>
                  <a:pt x="1008621" y="894410"/>
                </a:lnTo>
                <a:lnTo>
                  <a:pt x="1016127" y="882980"/>
                </a:lnTo>
                <a:lnTo>
                  <a:pt x="1024470" y="870280"/>
                </a:lnTo>
                <a:lnTo>
                  <a:pt x="1030287" y="842340"/>
                </a:lnTo>
                <a:lnTo>
                  <a:pt x="1026210" y="818210"/>
                </a:lnTo>
                <a:lnTo>
                  <a:pt x="1016825" y="800430"/>
                </a:lnTo>
                <a:lnTo>
                  <a:pt x="1014818" y="796620"/>
                </a:lnTo>
                <a:lnTo>
                  <a:pt x="997699" y="781723"/>
                </a:lnTo>
                <a:lnTo>
                  <a:pt x="997699" y="842340"/>
                </a:lnTo>
                <a:lnTo>
                  <a:pt x="994511" y="857580"/>
                </a:lnTo>
                <a:lnTo>
                  <a:pt x="985748" y="871550"/>
                </a:lnTo>
                <a:lnTo>
                  <a:pt x="972642" y="880440"/>
                </a:lnTo>
                <a:lnTo>
                  <a:pt x="956424" y="882980"/>
                </a:lnTo>
                <a:lnTo>
                  <a:pt x="940219" y="880440"/>
                </a:lnTo>
                <a:lnTo>
                  <a:pt x="927125" y="871550"/>
                </a:lnTo>
                <a:lnTo>
                  <a:pt x="918362" y="857580"/>
                </a:lnTo>
                <a:lnTo>
                  <a:pt x="915174" y="842340"/>
                </a:lnTo>
                <a:lnTo>
                  <a:pt x="918362" y="825830"/>
                </a:lnTo>
                <a:lnTo>
                  <a:pt x="927125" y="813130"/>
                </a:lnTo>
                <a:lnTo>
                  <a:pt x="940219" y="804240"/>
                </a:lnTo>
                <a:lnTo>
                  <a:pt x="956424" y="800430"/>
                </a:lnTo>
                <a:lnTo>
                  <a:pt x="972642" y="804240"/>
                </a:lnTo>
                <a:lnTo>
                  <a:pt x="985748" y="813130"/>
                </a:lnTo>
                <a:lnTo>
                  <a:pt x="994511" y="825830"/>
                </a:lnTo>
                <a:lnTo>
                  <a:pt x="997699" y="842340"/>
                </a:lnTo>
                <a:lnTo>
                  <a:pt x="997699" y="781723"/>
                </a:lnTo>
                <a:lnTo>
                  <a:pt x="997305" y="781380"/>
                </a:lnTo>
                <a:lnTo>
                  <a:pt x="974890" y="771220"/>
                </a:lnTo>
                <a:lnTo>
                  <a:pt x="972731" y="769950"/>
                </a:lnTo>
                <a:lnTo>
                  <a:pt x="972731" y="570560"/>
                </a:lnTo>
                <a:lnTo>
                  <a:pt x="972705" y="545160"/>
                </a:lnTo>
                <a:lnTo>
                  <a:pt x="965428" y="537540"/>
                </a:lnTo>
                <a:lnTo>
                  <a:pt x="847991" y="537540"/>
                </a:lnTo>
                <a:lnTo>
                  <a:pt x="848791" y="533730"/>
                </a:lnTo>
                <a:lnTo>
                  <a:pt x="852639" y="514680"/>
                </a:lnTo>
                <a:lnTo>
                  <a:pt x="855395" y="495630"/>
                </a:lnTo>
                <a:lnTo>
                  <a:pt x="857059" y="476580"/>
                </a:lnTo>
                <a:lnTo>
                  <a:pt x="857618" y="458800"/>
                </a:lnTo>
                <a:lnTo>
                  <a:pt x="853617" y="405460"/>
                </a:lnTo>
                <a:lnTo>
                  <a:pt x="841857" y="355930"/>
                </a:lnTo>
                <a:lnTo>
                  <a:pt x="825004" y="313664"/>
                </a:lnTo>
                <a:lnTo>
                  <a:pt x="825004" y="458800"/>
                </a:lnTo>
                <a:lnTo>
                  <a:pt x="821639" y="504520"/>
                </a:lnTo>
                <a:lnTo>
                  <a:pt x="811860" y="547700"/>
                </a:lnTo>
                <a:lnTo>
                  <a:pt x="796163" y="588340"/>
                </a:lnTo>
                <a:lnTo>
                  <a:pt x="775017" y="626440"/>
                </a:lnTo>
                <a:lnTo>
                  <a:pt x="748906" y="662000"/>
                </a:lnTo>
                <a:lnTo>
                  <a:pt x="718324" y="692480"/>
                </a:lnTo>
                <a:lnTo>
                  <a:pt x="683742" y="717880"/>
                </a:lnTo>
                <a:lnTo>
                  <a:pt x="645655" y="739470"/>
                </a:lnTo>
                <a:lnTo>
                  <a:pt x="604532" y="754710"/>
                </a:lnTo>
                <a:lnTo>
                  <a:pt x="560870" y="764870"/>
                </a:lnTo>
                <a:lnTo>
                  <a:pt x="515150" y="768680"/>
                </a:lnTo>
                <a:lnTo>
                  <a:pt x="469417" y="764870"/>
                </a:lnTo>
                <a:lnTo>
                  <a:pt x="425754" y="754710"/>
                </a:lnTo>
                <a:lnTo>
                  <a:pt x="384632" y="739470"/>
                </a:lnTo>
                <a:lnTo>
                  <a:pt x="346544" y="717880"/>
                </a:lnTo>
                <a:lnTo>
                  <a:pt x="311962" y="692480"/>
                </a:lnTo>
                <a:lnTo>
                  <a:pt x="281381" y="662000"/>
                </a:lnTo>
                <a:lnTo>
                  <a:pt x="255270" y="626440"/>
                </a:lnTo>
                <a:lnTo>
                  <a:pt x="234124" y="588340"/>
                </a:lnTo>
                <a:lnTo>
                  <a:pt x="218427" y="547700"/>
                </a:lnTo>
                <a:lnTo>
                  <a:pt x="208648" y="504520"/>
                </a:lnTo>
                <a:lnTo>
                  <a:pt x="205282" y="458800"/>
                </a:lnTo>
                <a:lnTo>
                  <a:pt x="208648" y="413080"/>
                </a:lnTo>
                <a:lnTo>
                  <a:pt x="218427" y="368630"/>
                </a:lnTo>
                <a:lnTo>
                  <a:pt x="234124" y="327990"/>
                </a:lnTo>
                <a:lnTo>
                  <a:pt x="255270" y="289890"/>
                </a:lnTo>
                <a:lnTo>
                  <a:pt x="281381" y="255600"/>
                </a:lnTo>
                <a:lnTo>
                  <a:pt x="311962" y="223850"/>
                </a:lnTo>
                <a:lnTo>
                  <a:pt x="346544" y="198450"/>
                </a:lnTo>
                <a:lnTo>
                  <a:pt x="384632" y="176860"/>
                </a:lnTo>
                <a:lnTo>
                  <a:pt x="425754" y="161620"/>
                </a:lnTo>
                <a:lnTo>
                  <a:pt x="469417" y="151460"/>
                </a:lnTo>
                <a:lnTo>
                  <a:pt x="515150" y="148920"/>
                </a:lnTo>
                <a:lnTo>
                  <a:pt x="560870" y="151460"/>
                </a:lnTo>
                <a:lnTo>
                  <a:pt x="604532" y="161620"/>
                </a:lnTo>
                <a:lnTo>
                  <a:pt x="645655" y="176860"/>
                </a:lnTo>
                <a:lnTo>
                  <a:pt x="683742" y="198450"/>
                </a:lnTo>
                <a:lnTo>
                  <a:pt x="718324" y="223850"/>
                </a:lnTo>
                <a:lnTo>
                  <a:pt x="748906" y="255600"/>
                </a:lnTo>
                <a:lnTo>
                  <a:pt x="775017" y="289890"/>
                </a:lnTo>
                <a:lnTo>
                  <a:pt x="796163" y="327990"/>
                </a:lnTo>
                <a:lnTo>
                  <a:pt x="811860" y="368630"/>
                </a:lnTo>
                <a:lnTo>
                  <a:pt x="821639" y="413080"/>
                </a:lnTo>
                <a:lnTo>
                  <a:pt x="825004" y="458800"/>
                </a:lnTo>
                <a:lnTo>
                  <a:pt x="825004" y="313664"/>
                </a:lnTo>
                <a:lnTo>
                  <a:pt x="822617" y="307670"/>
                </a:lnTo>
                <a:lnTo>
                  <a:pt x="796239" y="263220"/>
                </a:lnTo>
                <a:lnTo>
                  <a:pt x="763041" y="221310"/>
                </a:lnTo>
                <a:lnTo>
                  <a:pt x="723315" y="185750"/>
                </a:lnTo>
                <a:lnTo>
                  <a:pt x="723315" y="164160"/>
                </a:lnTo>
                <a:lnTo>
                  <a:pt x="723315" y="90500"/>
                </a:lnTo>
                <a:lnTo>
                  <a:pt x="884682" y="90500"/>
                </a:lnTo>
                <a:lnTo>
                  <a:pt x="885253" y="93040"/>
                </a:lnTo>
                <a:lnTo>
                  <a:pt x="895286" y="115900"/>
                </a:lnTo>
                <a:lnTo>
                  <a:pt x="911542" y="132410"/>
                </a:lnTo>
                <a:lnTo>
                  <a:pt x="932434" y="143840"/>
                </a:lnTo>
                <a:lnTo>
                  <a:pt x="956424" y="148920"/>
                </a:lnTo>
                <a:lnTo>
                  <a:pt x="985139" y="142570"/>
                </a:lnTo>
                <a:lnTo>
                  <a:pt x="1008621" y="127330"/>
                </a:lnTo>
                <a:lnTo>
                  <a:pt x="1016127" y="115900"/>
                </a:lnTo>
                <a:lnTo>
                  <a:pt x="1024470" y="103200"/>
                </a:lnTo>
                <a:lnTo>
                  <a:pt x="1030287" y="73990"/>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6" name="Google Shape;2486;p37"/>
          <p:cNvSpPr/>
          <p:nvPr/>
        </p:nvSpPr>
        <p:spPr>
          <a:xfrm>
            <a:off x="5312323" y="2401953"/>
            <a:ext cx="345439" cy="317500"/>
          </a:xfrm>
          <a:custGeom>
            <a:avLst/>
            <a:gdLst/>
            <a:ahLst/>
            <a:cxnLst/>
            <a:rect l="l" t="t" r="r" b="b"/>
            <a:pathLst>
              <a:path w="345439" h="317500" extrusionOk="0">
                <a:moveTo>
                  <a:pt x="284162" y="0"/>
                </a:moveTo>
                <a:lnTo>
                  <a:pt x="60782" y="0"/>
                </a:lnTo>
                <a:lnTo>
                  <a:pt x="48764" y="1130"/>
                </a:lnTo>
                <a:lnTo>
                  <a:pt x="10710" y="25091"/>
                </a:lnTo>
                <a:lnTo>
                  <a:pt x="0" y="57784"/>
                </a:lnTo>
                <a:lnTo>
                  <a:pt x="0" y="297929"/>
                </a:lnTo>
                <a:lnTo>
                  <a:pt x="1515" y="305372"/>
                </a:lnTo>
                <a:lnTo>
                  <a:pt x="5640" y="311470"/>
                </a:lnTo>
                <a:lnTo>
                  <a:pt x="11738" y="315592"/>
                </a:lnTo>
                <a:lnTo>
                  <a:pt x="19177" y="317106"/>
                </a:lnTo>
                <a:lnTo>
                  <a:pt x="26578" y="315592"/>
                </a:lnTo>
                <a:lnTo>
                  <a:pt x="32585" y="311470"/>
                </a:lnTo>
                <a:lnTo>
                  <a:pt x="36614" y="305372"/>
                </a:lnTo>
                <a:lnTo>
                  <a:pt x="38100" y="297929"/>
                </a:lnTo>
                <a:lnTo>
                  <a:pt x="38100" y="52654"/>
                </a:lnTo>
                <a:lnTo>
                  <a:pt x="40525" y="47790"/>
                </a:lnTo>
                <a:lnTo>
                  <a:pt x="48628" y="40512"/>
                </a:lnTo>
                <a:lnTo>
                  <a:pt x="54305" y="38074"/>
                </a:lnTo>
                <a:lnTo>
                  <a:pt x="153428" y="38074"/>
                </a:lnTo>
                <a:lnTo>
                  <a:pt x="153428" y="297941"/>
                </a:lnTo>
                <a:lnTo>
                  <a:pt x="154944" y="305380"/>
                </a:lnTo>
                <a:lnTo>
                  <a:pt x="159069" y="311478"/>
                </a:lnTo>
                <a:lnTo>
                  <a:pt x="165167" y="315603"/>
                </a:lnTo>
                <a:lnTo>
                  <a:pt x="172605" y="317118"/>
                </a:lnTo>
                <a:lnTo>
                  <a:pt x="180005" y="315603"/>
                </a:lnTo>
                <a:lnTo>
                  <a:pt x="186007" y="311478"/>
                </a:lnTo>
                <a:lnTo>
                  <a:pt x="190032" y="305380"/>
                </a:lnTo>
                <a:lnTo>
                  <a:pt x="191503" y="297941"/>
                </a:lnTo>
                <a:lnTo>
                  <a:pt x="191503" y="38074"/>
                </a:lnTo>
                <a:lnTo>
                  <a:pt x="290906" y="38074"/>
                </a:lnTo>
                <a:lnTo>
                  <a:pt x="296595" y="40512"/>
                </a:lnTo>
                <a:lnTo>
                  <a:pt x="304685" y="47802"/>
                </a:lnTo>
                <a:lnTo>
                  <a:pt x="306844" y="52666"/>
                </a:lnTo>
                <a:lnTo>
                  <a:pt x="306844" y="297929"/>
                </a:lnTo>
                <a:lnTo>
                  <a:pt x="308360" y="305372"/>
                </a:lnTo>
                <a:lnTo>
                  <a:pt x="312485" y="311470"/>
                </a:lnTo>
                <a:lnTo>
                  <a:pt x="318583" y="315592"/>
                </a:lnTo>
                <a:lnTo>
                  <a:pt x="326021" y="317106"/>
                </a:lnTo>
                <a:lnTo>
                  <a:pt x="333425" y="315592"/>
                </a:lnTo>
                <a:lnTo>
                  <a:pt x="339436" y="311470"/>
                </a:lnTo>
                <a:lnTo>
                  <a:pt x="343470" y="305372"/>
                </a:lnTo>
                <a:lnTo>
                  <a:pt x="344944" y="297929"/>
                </a:lnTo>
                <a:lnTo>
                  <a:pt x="344944" y="57784"/>
                </a:lnTo>
                <a:lnTo>
                  <a:pt x="326555" y="16471"/>
                </a:lnTo>
                <a:lnTo>
                  <a:pt x="296217" y="1128"/>
                </a:lnTo>
                <a:lnTo>
                  <a:pt x="284162" y="0"/>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487" name="Google Shape;2487;p37"/>
          <p:cNvGrpSpPr/>
          <p:nvPr/>
        </p:nvGrpSpPr>
        <p:grpSpPr>
          <a:xfrm>
            <a:off x="5277764" y="1576234"/>
            <a:ext cx="718820" cy="723900"/>
            <a:chOff x="5277764" y="1576234"/>
            <a:chExt cx="718820" cy="723900"/>
          </a:xfrm>
        </p:grpSpPr>
        <p:sp>
          <p:nvSpPr>
            <p:cNvPr id="2488" name="Google Shape;2488;p37"/>
            <p:cNvSpPr/>
            <p:nvPr/>
          </p:nvSpPr>
          <p:spPr>
            <a:xfrm>
              <a:off x="5277764" y="1576234"/>
              <a:ext cx="718820" cy="723900"/>
            </a:xfrm>
            <a:custGeom>
              <a:avLst/>
              <a:gdLst/>
              <a:ahLst/>
              <a:cxnLst/>
              <a:rect l="l" t="t" r="r" b="b"/>
              <a:pathLst>
                <a:path w="718820" h="723900" extrusionOk="0">
                  <a:moveTo>
                    <a:pt x="162598" y="588556"/>
                  </a:moveTo>
                  <a:lnTo>
                    <a:pt x="161124" y="581164"/>
                  </a:lnTo>
                  <a:lnTo>
                    <a:pt x="157086" y="575157"/>
                  </a:lnTo>
                  <a:lnTo>
                    <a:pt x="151079" y="571131"/>
                  </a:lnTo>
                  <a:lnTo>
                    <a:pt x="143687" y="569645"/>
                  </a:lnTo>
                  <a:lnTo>
                    <a:pt x="124510" y="569645"/>
                  </a:lnTo>
                  <a:lnTo>
                    <a:pt x="124510" y="607745"/>
                  </a:lnTo>
                  <a:lnTo>
                    <a:pt x="124510" y="685533"/>
                  </a:lnTo>
                  <a:lnTo>
                    <a:pt x="38074" y="685533"/>
                  </a:lnTo>
                  <a:lnTo>
                    <a:pt x="38074" y="607745"/>
                  </a:lnTo>
                  <a:lnTo>
                    <a:pt x="124510" y="607745"/>
                  </a:lnTo>
                  <a:lnTo>
                    <a:pt x="124510" y="569645"/>
                  </a:lnTo>
                  <a:lnTo>
                    <a:pt x="18897" y="569645"/>
                  </a:lnTo>
                  <a:lnTo>
                    <a:pt x="11493" y="571131"/>
                  </a:lnTo>
                  <a:lnTo>
                    <a:pt x="5486" y="575157"/>
                  </a:lnTo>
                  <a:lnTo>
                    <a:pt x="1460" y="581164"/>
                  </a:lnTo>
                  <a:lnTo>
                    <a:pt x="0" y="588556"/>
                  </a:lnTo>
                  <a:lnTo>
                    <a:pt x="0" y="704710"/>
                  </a:lnTo>
                  <a:lnTo>
                    <a:pt x="1473" y="712114"/>
                  </a:lnTo>
                  <a:lnTo>
                    <a:pt x="5499" y="718108"/>
                  </a:lnTo>
                  <a:lnTo>
                    <a:pt x="11506" y="722134"/>
                  </a:lnTo>
                  <a:lnTo>
                    <a:pt x="18897" y="723595"/>
                  </a:lnTo>
                  <a:lnTo>
                    <a:pt x="143687" y="723595"/>
                  </a:lnTo>
                  <a:lnTo>
                    <a:pt x="151091" y="722134"/>
                  </a:lnTo>
                  <a:lnTo>
                    <a:pt x="157099" y="718108"/>
                  </a:lnTo>
                  <a:lnTo>
                    <a:pt x="161124" y="712114"/>
                  </a:lnTo>
                  <a:lnTo>
                    <a:pt x="162598" y="704710"/>
                  </a:lnTo>
                  <a:lnTo>
                    <a:pt x="162598" y="685533"/>
                  </a:lnTo>
                  <a:lnTo>
                    <a:pt x="162598" y="607745"/>
                  </a:lnTo>
                  <a:lnTo>
                    <a:pt x="162598" y="588556"/>
                  </a:lnTo>
                  <a:close/>
                </a:path>
                <a:path w="718820" h="723900" extrusionOk="0">
                  <a:moveTo>
                    <a:pt x="162598" y="357606"/>
                  </a:moveTo>
                  <a:lnTo>
                    <a:pt x="161124" y="350215"/>
                  </a:lnTo>
                  <a:lnTo>
                    <a:pt x="157086" y="344208"/>
                  </a:lnTo>
                  <a:lnTo>
                    <a:pt x="151079" y="340182"/>
                  </a:lnTo>
                  <a:lnTo>
                    <a:pt x="143687" y="338696"/>
                  </a:lnTo>
                  <a:lnTo>
                    <a:pt x="124510" y="338696"/>
                  </a:lnTo>
                  <a:lnTo>
                    <a:pt x="124510" y="376796"/>
                  </a:lnTo>
                  <a:lnTo>
                    <a:pt x="124510" y="454583"/>
                  </a:lnTo>
                  <a:lnTo>
                    <a:pt x="38074" y="454583"/>
                  </a:lnTo>
                  <a:lnTo>
                    <a:pt x="38074" y="376796"/>
                  </a:lnTo>
                  <a:lnTo>
                    <a:pt x="124510" y="376796"/>
                  </a:lnTo>
                  <a:lnTo>
                    <a:pt x="124510" y="338696"/>
                  </a:lnTo>
                  <a:lnTo>
                    <a:pt x="18897" y="338696"/>
                  </a:lnTo>
                  <a:lnTo>
                    <a:pt x="11493" y="340182"/>
                  </a:lnTo>
                  <a:lnTo>
                    <a:pt x="5486" y="344208"/>
                  </a:lnTo>
                  <a:lnTo>
                    <a:pt x="1460" y="350227"/>
                  </a:lnTo>
                  <a:lnTo>
                    <a:pt x="0" y="357606"/>
                  </a:lnTo>
                  <a:lnTo>
                    <a:pt x="0" y="473760"/>
                  </a:lnTo>
                  <a:lnTo>
                    <a:pt x="1473" y="481164"/>
                  </a:lnTo>
                  <a:lnTo>
                    <a:pt x="5499" y="487159"/>
                  </a:lnTo>
                  <a:lnTo>
                    <a:pt x="11506" y="491197"/>
                  </a:lnTo>
                  <a:lnTo>
                    <a:pt x="18897" y="492658"/>
                  </a:lnTo>
                  <a:lnTo>
                    <a:pt x="143687" y="492658"/>
                  </a:lnTo>
                  <a:lnTo>
                    <a:pt x="151091" y="491185"/>
                  </a:lnTo>
                  <a:lnTo>
                    <a:pt x="157099" y="487159"/>
                  </a:lnTo>
                  <a:lnTo>
                    <a:pt x="161124" y="481152"/>
                  </a:lnTo>
                  <a:lnTo>
                    <a:pt x="162598" y="473760"/>
                  </a:lnTo>
                  <a:lnTo>
                    <a:pt x="162598" y="454583"/>
                  </a:lnTo>
                  <a:lnTo>
                    <a:pt x="162598" y="376796"/>
                  </a:lnTo>
                  <a:lnTo>
                    <a:pt x="162598" y="357606"/>
                  </a:lnTo>
                  <a:close/>
                </a:path>
                <a:path w="718820" h="723900" extrusionOk="0">
                  <a:moveTo>
                    <a:pt x="351929" y="473760"/>
                  </a:moveTo>
                  <a:lnTo>
                    <a:pt x="350456" y="466331"/>
                  </a:lnTo>
                  <a:lnTo>
                    <a:pt x="346430" y="460235"/>
                  </a:lnTo>
                  <a:lnTo>
                    <a:pt x="340423" y="456107"/>
                  </a:lnTo>
                  <a:lnTo>
                    <a:pt x="333032" y="454583"/>
                  </a:lnTo>
                  <a:lnTo>
                    <a:pt x="289547" y="454583"/>
                  </a:lnTo>
                  <a:lnTo>
                    <a:pt x="289547" y="357619"/>
                  </a:lnTo>
                  <a:lnTo>
                    <a:pt x="288061" y="350227"/>
                  </a:lnTo>
                  <a:lnTo>
                    <a:pt x="284035" y="344220"/>
                  </a:lnTo>
                  <a:lnTo>
                    <a:pt x="278028" y="340182"/>
                  </a:lnTo>
                  <a:lnTo>
                    <a:pt x="270637" y="338709"/>
                  </a:lnTo>
                  <a:lnTo>
                    <a:pt x="263182" y="340194"/>
                  </a:lnTo>
                  <a:lnTo>
                    <a:pt x="257073" y="344220"/>
                  </a:lnTo>
                  <a:lnTo>
                    <a:pt x="252958" y="350227"/>
                  </a:lnTo>
                  <a:lnTo>
                    <a:pt x="251447" y="357619"/>
                  </a:lnTo>
                  <a:lnTo>
                    <a:pt x="251447" y="473760"/>
                  </a:lnTo>
                  <a:lnTo>
                    <a:pt x="252958" y="481164"/>
                  </a:lnTo>
                  <a:lnTo>
                    <a:pt x="257086" y="487172"/>
                  </a:lnTo>
                  <a:lnTo>
                    <a:pt x="263194" y="491210"/>
                  </a:lnTo>
                  <a:lnTo>
                    <a:pt x="270637" y="492671"/>
                  </a:lnTo>
                  <a:lnTo>
                    <a:pt x="333032" y="492671"/>
                  </a:lnTo>
                  <a:lnTo>
                    <a:pt x="340423" y="491197"/>
                  </a:lnTo>
                  <a:lnTo>
                    <a:pt x="346430" y="487172"/>
                  </a:lnTo>
                  <a:lnTo>
                    <a:pt x="350456" y="481164"/>
                  </a:lnTo>
                  <a:lnTo>
                    <a:pt x="351929" y="473760"/>
                  </a:lnTo>
                  <a:close/>
                </a:path>
                <a:path w="718820" h="723900" extrusionOk="0">
                  <a:moveTo>
                    <a:pt x="414324" y="588556"/>
                  </a:moveTo>
                  <a:lnTo>
                    <a:pt x="412800" y="581164"/>
                  </a:lnTo>
                  <a:lnTo>
                    <a:pt x="408686" y="575157"/>
                  </a:lnTo>
                  <a:lnTo>
                    <a:pt x="402590" y="571131"/>
                  </a:lnTo>
                  <a:lnTo>
                    <a:pt x="395160" y="569645"/>
                  </a:lnTo>
                  <a:lnTo>
                    <a:pt x="376262" y="569645"/>
                  </a:lnTo>
                  <a:lnTo>
                    <a:pt x="376262" y="607745"/>
                  </a:lnTo>
                  <a:lnTo>
                    <a:pt x="376262" y="685533"/>
                  </a:lnTo>
                  <a:lnTo>
                    <a:pt x="289560" y="685533"/>
                  </a:lnTo>
                  <a:lnTo>
                    <a:pt x="289560" y="607745"/>
                  </a:lnTo>
                  <a:lnTo>
                    <a:pt x="376262" y="607745"/>
                  </a:lnTo>
                  <a:lnTo>
                    <a:pt x="376262" y="569645"/>
                  </a:lnTo>
                  <a:lnTo>
                    <a:pt x="270637" y="569645"/>
                  </a:lnTo>
                  <a:lnTo>
                    <a:pt x="263182" y="571131"/>
                  </a:lnTo>
                  <a:lnTo>
                    <a:pt x="257086" y="575157"/>
                  </a:lnTo>
                  <a:lnTo>
                    <a:pt x="252958" y="581164"/>
                  </a:lnTo>
                  <a:lnTo>
                    <a:pt x="251447" y="588556"/>
                  </a:lnTo>
                  <a:lnTo>
                    <a:pt x="251447" y="704710"/>
                  </a:lnTo>
                  <a:lnTo>
                    <a:pt x="252958" y="712114"/>
                  </a:lnTo>
                  <a:lnTo>
                    <a:pt x="257086" y="718108"/>
                  </a:lnTo>
                  <a:lnTo>
                    <a:pt x="263194" y="722134"/>
                  </a:lnTo>
                  <a:lnTo>
                    <a:pt x="270637" y="723595"/>
                  </a:lnTo>
                  <a:lnTo>
                    <a:pt x="395160" y="723595"/>
                  </a:lnTo>
                  <a:lnTo>
                    <a:pt x="402590" y="722134"/>
                  </a:lnTo>
                  <a:lnTo>
                    <a:pt x="408686" y="718108"/>
                  </a:lnTo>
                  <a:lnTo>
                    <a:pt x="412800" y="712114"/>
                  </a:lnTo>
                  <a:lnTo>
                    <a:pt x="414324" y="704710"/>
                  </a:lnTo>
                  <a:lnTo>
                    <a:pt x="414324" y="685533"/>
                  </a:lnTo>
                  <a:lnTo>
                    <a:pt x="414324" y="607745"/>
                  </a:lnTo>
                  <a:lnTo>
                    <a:pt x="414324" y="588556"/>
                  </a:lnTo>
                  <a:close/>
                </a:path>
                <a:path w="718820" h="723900" extrusionOk="0">
                  <a:moveTo>
                    <a:pt x="718477" y="206629"/>
                  </a:moveTo>
                  <a:lnTo>
                    <a:pt x="714260" y="165036"/>
                  </a:lnTo>
                  <a:lnTo>
                    <a:pt x="702195" y="126276"/>
                  </a:lnTo>
                  <a:lnTo>
                    <a:pt x="683133" y="91160"/>
                  </a:lnTo>
                  <a:lnTo>
                    <a:pt x="680377" y="87807"/>
                  </a:lnTo>
                  <a:lnTo>
                    <a:pt x="680377" y="206629"/>
                  </a:lnTo>
                  <a:lnTo>
                    <a:pt x="680034" y="217627"/>
                  </a:lnTo>
                  <a:lnTo>
                    <a:pt x="671995" y="259257"/>
                  </a:lnTo>
                  <a:lnTo>
                    <a:pt x="511835" y="538048"/>
                  </a:lnTo>
                  <a:lnTo>
                    <a:pt x="363804" y="287655"/>
                  </a:lnTo>
                  <a:lnTo>
                    <a:pt x="348424" y="249034"/>
                  </a:lnTo>
                  <a:lnTo>
                    <a:pt x="343293" y="206629"/>
                  </a:lnTo>
                  <a:lnTo>
                    <a:pt x="346722" y="172707"/>
                  </a:lnTo>
                  <a:lnTo>
                    <a:pt x="372008" y="112471"/>
                  </a:lnTo>
                  <a:lnTo>
                    <a:pt x="417410" y="66916"/>
                  </a:lnTo>
                  <a:lnTo>
                    <a:pt x="477761" y="41516"/>
                  </a:lnTo>
                  <a:lnTo>
                    <a:pt x="511835" y="38074"/>
                  </a:lnTo>
                  <a:lnTo>
                    <a:pt x="545757" y="41516"/>
                  </a:lnTo>
                  <a:lnTo>
                    <a:pt x="605993" y="66916"/>
                  </a:lnTo>
                  <a:lnTo>
                    <a:pt x="651560" y="112471"/>
                  </a:lnTo>
                  <a:lnTo>
                    <a:pt x="676948" y="172707"/>
                  </a:lnTo>
                  <a:lnTo>
                    <a:pt x="680377" y="206629"/>
                  </a:lnTo>
                  <a:lnTo>
                    <a:pt x="680377" y="87807"/>
                  </a:lnTo>
                  <a:lnTo>
                    <a:pt x="630656" y="38074"/>
                  </a:lnTo>
                  <a:lnTo>
                    <a:pt x="592188" y="16281"/>
                  </a:lnTo>
                  <a:lnTo>
                    <a:pt x="553427" y="4216"/>
                  </a:lnTo>
                  <a:lnTo>
                    <a:pt x="511835" y="0"/>
                  </a:lnTo>
                  <a:lnTo>
                    <a:pt x="470090" y="4216"/>
                  </a:lnTo>
                  <a:lnTo>
                    <a:pt x="431279" y="16281"/>
                  </a:lnTo>
                  <a:lnTo>
                    <a:pt x="396201" y="35331"/>
                  </a:lnTo>
                  <a:lnTo>
                    <a:pt x="365683" y="60502"/>
                  </a:lnTo>
                  <a:lnTo>
                    <a:pt x="340398" y="91173"/>
                  </a:lnTo>
                  <a:lnTo>
                    <a:pt x="321373" y="126276"/>
                  </a:lnTo>
                  <a:lnTo>
                    <a:pt x="309372" y="165036"/>
                  </a:lnTo>
                  <a:lnTo>
                    <a:pt x="305193" y="206629"/>
                  </a:lnTo>
                  <a:lnTo>
                    <a:pt x="305600" y="219900"/>
                  </a:lnTo>
                  <a:lnTo>
                    <a:pt x="311683" y="258495"/>
                  </a:lnTo>
                  <a:lnTo>
                    <a:pt x="325386" y="295986"/>
                  </a:lnTo>
                  <a:lnTo>
                    <a:pt x="495084" y="584784"/>
                  </a:lnTo>
                  <a:lnTo>
                    <a:pt x="509168" y="594283"/>
                  </a:lnTo>
                  <a:lnTo>
                    <a:pt x="516394" y="593801"/>
                  </a:lnTo>
                  <a:lnTo>
                    <a:pt x="555815" y="538048"/>
                  </a:lnTo>
                  <a:lnTo>
                    <a:pt x="692277" y="307124"/>
                  </a:lnTo>
                  <a:lnTo>
                    <a:pt x="708037" y="271272"/>
                  </a:lnTo>
                  <a:lnTo>
                    <a:pt x="716724" y="232968"/>
                  </a:lnTo>
                  <a:lnTo>
                    <a:pt x="718032" y="219900"/>
                  </a:lnTo>
                  <a:lnTo>
                    <a:pt x="718477" y="206629"/>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89" name="Google Shape;2489;p37"/>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679415" y="1672658"/>
              <a:ext cx="220394" cy="220395"/>
            </a:xfrm>
            <a:prstGeom prst="rect">
              <a:avLst/>
            </a:prstGeom>
            <a:noFill/>
            <a:ln>
              <a:noFill/>
            </a:ln>
          </p:spPr>
        </p:pic>
      </p:grpSp>
      <p:grpSp>
        <p:nvGrpSpPr>
          <p:cNvPr id="2490" name="Google Shape;2490;p37"/>
          <p:cNvGrpSpPr/>
          <p:nvPr/>
        </p:nvGrpSpPr>
        <p:grpSpPr>
          <a:xfrm>
            <a:off x="632174" y="1806904"/>
            <a:ext cx="5462759" cy="3779817"/>
            <a:chOff x="632174" y="1806904"/>
            <a:chExt cx="5462759" cy="3779817"/>
          </a:xfrm>
        </p:grpSpPr>
        <p:sp>
          <p:nvSpPr>
            <p:cNvPr id="2491" name="Google Shape;2491;p37"/>
            <p:cNvSpPr/>
            <p:nvPr/>
          </p:nvSpPr>
          <p:spPr>
            <a:xfrm>
              <a:off x="4875098" y="1806904"/>
              <a:ext cx="1219835" cy="991235"/>
            </a:xfrm>
            <a:custGeom>
              <a:avLst/>
              <a:gdLst/>
              <a:ahLst/>
              <a:cxnLst/>
              <a:rect l="l" t="t" r="r" b="b"/>
              <a:pathLst>
                <a:path w="1219835" h="991235" extrusionOk="0">
                  <a:moveTo>
                    <a:pt x="933424" y="436219"/>
                  </a:moveTo>
                  <a:lnTo>
                    <a:pt x="931951" y="428777"/>
                  </a:lnTo>
                  <a:lnTo>
                    <a:pt x="927912" y="422681"/>
                  </a:lnTo>
                  <a:lnTo>
                    <a:pt x="921905" y="418553"/>
                  </a:lnTo>
                  <a:lnTo>
                    <a:pt x="914514" y="417029"/>
                  </a:lnTo>
                  <a:lnTo>
                    <a:pt x="907059" y="418553"/>
                  </a:lnTo>
                  <a:lnTo>
                    <a:pt x="900963" y="422681"/>
                  </a:lnTo>
                  <a:lnTo>
                    <a:pt x="896848" y="428777"/>
                  </a:lnTo>
                  <a:lnTo>
                    <a:pt x="895350" y="436219"/>
                  </a:lnTo>
                  <a:lnTo>
                    <a:pt x="895350" y="874052"/>
                  </a:lnTo>
                  <a:lnTo>
                    <a:pt x="324332" y="874052"/>
                  </a:lnTo>
                  <a:lnTo>
                    <a:pt x="324332" y="52946"/>
                  </a:lnTo>
                  <a:lnTo>
                    <a:pt x="326491" y="48069"/>
                  </a:lnTo>
                  <a:lnTo>
                    <a:pt x="334594" y="40525"/>
                  </a:lnTo>
                  <a:lnTo>
                    <a:pt x="340258" y="38354"/>
                  </a:lnTo>
                  <a:lnTo>
                    <a:pt x="647636" y="38354"/>
                  </a:lnTo>
                  <a:lnTo>
                    <a:pt x="655027" y="36842"/>
                  </a:lnTo>
                  <a:lnTo>
                    <a:pt x="647636" y="0"/>
                  </a:lnTo>
                  <a:lnTo>
                    <a:pt x="347014" y="0"/>
                  </a:lnTo>
                  <a:lnTo>
                    <a:pt x="304609" y="16751"/>
                  </a:lnTo>
                  <a:lnTo>
                    <a:pt x="286232" y="58077"/>
                  </a:lnTo>
                  <a:lnTo>
                    <a:pt x="286232" y="892975"/>
                  </a:lnTo>
                  <a:lnTo>
                    <a:pt x="287693" y="900417"/>
                  </a:lnTo>
                  <a:lnTo>
                    <a:pt x="291731" y="906513"/>
                  </a:lnTo>
                  <a:lnTo>
                    <a:pt x="297738" y="910628"/>
                  </a:lnTo>
                  <a:lnTo>
                    <a:pt x="305142" y="912139"/>
                  </a:lnTo>
                  <a:lnTo>
                    <a:pt x="914514" y="912139"/>
                  </a:lnTo>
                  <a:lnTo>
                    <a:pt x="921905" y="910628"/>
                  </a:lnTo>
                  <a:lnTo>
                    <a:pt x="927912" y="906513"/>
                  </a:lnTo>
                  <a:lnTo>
                    <a:pt x="931938" y="900417"/>
                  </a:lnTo>
                  <a:lnTo>
                    <a:pt x="933424" y="892975"/>
                  </a:lnTo>
                  <a:lnTo>
                    <a:pt x="933424" y="436219"/>
                  </a:lnTo>
                  <a:close/>
                </a:path>
                <a:path w="1219835" h="991235" extrusionOk="0">
                  <a:moveTo>
                    <a:pt x="1219530" y="933094"/>
                  </a:moveTo>
                  <a:lnTo>
                    <a:pt x="1125728" y="694715"/>
                  </a:lnTo>
                  <a:lnTo>
                    <a:pt x="1088872" y="661555"/>
                  </a:lnTo>
                  <a:lnTo>
                    <a:pt x="1071702" y="659066"/>
                  </a:lnTo>
                  <a:lnTo>
                    <a:pt x="1002550" y="659066"/>
                  </a:lnTo>
                  <a:lnTo>
                    <a:pt x="995146" y="660539"/>
                  </a:lnTo>
                  <a:lnTo>
                    <a:pt x="989152" y="664565"/>
                  </a:lnTo>
                  <a:lnTo>
                    <a:pt x="985126" y="670572"/>
                  </a:lnTo>
                  <a:lnTo>
                    <a:pt x="983665" y="677976"/>
                  </a:lnTo>
                  <a:lnTo>
                    <a:pt x="985126" y="685419"/>
                  </a:lnTo>
                  <a:lnTo>
                    <a:pt x="989152" y="691515"/>
                  </a:lnTo>
                  <a:lnTo>
                    <a:pt x="995146" y="695642"/>
                  </a:lnTo>
                  <a:lnTo>
                    <a:pt x="1002550" y="697153"/>
                  </a:lnTo>
                  <a:lnTo>
                    <a:pt x="1080096" y="697153"/>
                  </a:lnTo>
                  <a:lnTo>
                    <a:pt x="1087386" y="701192"/>
                  </a:lnTo>
                  <a:lnTo>
                    <a:pt x="1181392" y="929995"/>
                  </a:lnTo>
                  <a:lnTo>
                    <a:pt x="1181658" y="932954"/>
                  </a:lnTo>
                  <a:lnTo>
                    <a:pt x="1180846" y="942149"/>
                  </a:lnTo>
                  <a:lnTo>
                    <a:pt x="1176540" y="947813"/>
                  </a:lnTo>
                  <a:lnTo>
                    <a:pt x="1168146" y="952144"/>
                  </a:lnTo>
                  <a:lnTo>
                    <a:pt x="1164907" y="952957"/>
                  </a:lnTo>
                  <a:lnTo>
                    <a:pt x="54762" y="952957"/>
                  </a:lnTo>
                  <a:lnTo>
                    <a:pt x="37757" y="932954"/>
                  </a:lnTo>
                  <a:lnTo>
                    <a:pt x="38290" y="929995"/>
                  </a:lnTo>
                  <a:lnTo>
                    <a:pt x="132283" y="701205"/>
                  </a:lnTo>
                  <a:lnTo>
                    <a:pt x="139585" y="697153"/>
                  </a:lnTo>
                  <a:lnTo>
                    <a:pt x="216560" y="697153"/>
                  </a:lnTo>
                  <a:lnTo>
                    <a:pt x="223951" y="695629"/>
                  </a:lnTo>
                  <a:lnTo>
                    <a:pt x="216560" y="659066"/>
                  </a:lnTo>
                  <a:lnTo>
                    <a:pt x="147955" y="659066"/>
                  </a:lnTo>
                  <a:lnTo>
                    <a:pt x="102895" y="679919"/>
                  </a:lnTo>
                  <a:lnTo>
                    <a:pt x="4254" y="912431"/>
                  </a:lnTo>
                  <a:lnTo>
                    <a:pt x="0" y="933094"/>
                  </a:lnTo>
                  <a:lnTo>
                    <a:pt x="203" y="939990"/>
                  </a:lnTo>
                  <a:lnTo>
                    <a:pt x="19646" y="976553"/>
                  </a:lnTo>
                  <a:lnTo>
                    <a:pt x="58547" y="991044"/>
                  </a:lnTo>
                  <a:lnTo>
                    <a:pt x="1161110" y="991044"/>
                  </a:lnTo>
                  <a:lnTo>
                    <a:pt x="1199870" y="976553"/>
                  </a:lnTo>
                  <a:lnTo>
                    <a:pt x="1219187" y="939990"/>
                  </a:lnTo>
                  <a:lnTo>
                    <a:pt x="1219530" y="933094"/>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92" name="Google Shape;2492;p37"/>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632174" y="2077529"/>
              <a:ext cx="5191079" cy="3509192"/>
            </a:xfrm>
            <a:prstGeom prst="rect">
              <a:avLst/>
            </a:prstGeom>
            <a:noFill/>
            <a:ln>
              <a:noFill/>
            </a:ln>
          </p:spPr>
        </p:pic>
        <p:sp>
          <p:nvSpPr>
            <p:cNvPr id="2493" name="Google Shape;2493;p37"/>
            <p:cNvSpPr/>
            <p:nvPr/>
          </p:nvSpPr>
          <p:spPr>
            <a:xfrm>
              <a:off x="1019595" y="2547501"/>
              <a:ext cx="4416425" cy="2651760"/>
            </a:xfrm>
            <a:custGeom>
              <a:avLst/>
              <a:gdLst/>
              <a:ahLst/>
              <a:cxnLst/>
              <a:rect l="l" t="t" r="r" b="b"/>
              <a:pathLst>
                <a:path w="4416425" h="2651760" extrusionOk="0">
                  <a:moveTo>
                    <a:pt x="4326242" y="0"/>
                  </a:moveTo>
                  <a:lnTo>
                    <a:pt x="90004" y="0"/>
                  </a:lnTo>
                  <a:lnTo>
                    <a:pt x="54971" y="7072"/>
                  </a:lnTo>
                  <a:lnTo>
                    <a:pt x="26362" y="26360"/>
                  </a:lnTo>
                  <a:lnTo>
                    <a:pt x="7073" y="54965"/>
                  </a:lnTo>
                  <a:lnTo>
                    <a:pt x="0" y="89992"/>
                  </a:lnTo>
                  <a:lnTo>
                    <a:pt x="0" y="2561742"/>
                  </a:lnTo>
                  <a:lnTo>
                    <a:pt x="7073" y="2596776"/>
                  </a:lnTo>
                  <a:lnTo>
                    <a:pt x="26362" y="2625385"/>
                  </a:lnTo>
                  <a:lnTo>
                    <a:pt x="54971" y="2644674"/>
                  </a:lnTo>
                  <a:lnTo>
                    <a:pt x="90004" y="2651747"/>
                  </a:lnTo>
                  <a:lnTo>
                    <a:pt x="4326242" y="2651747"/>
                  </a:lnTo>
                  <a:lnTo>
                    <a:pt x="4361276" y="2644674"/>
                  </a:lnTo>
                  <a:lnTo>
                    <a:pt x="4389885" y="2625385"/>
                  </a:lnTo>
                  <a:lnTo>
                    <a:pt x="4409174" y="2596776"/>
                  </a:lnTo>
                  <a:lnTo>
                    <a:pt x="4416247" y="2561742"/>
                  </a:lnTo>
                  <a:lnTo>
                    <a:pt x="4416247" y="89992"/>
                  </a:lnTo>
                  <a:lnTo>
                    <a:pt x="4409174" y="54965"/>
                  </a:lnTo>
                  <a:lnTo>
                    <a:pt x="4389885" y="26360"/>
                  </a:lnTo>
                  <a:lnTo>
                    <a:pt x="4361276" y="7072"/>
                  </a:lnTo>
                  <a:lnTo>
                    <a:pt x="4326242"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4" name="Google Shape;2494;p37"/>
            <p:cNvSpPr/>
            <p:nvPr/>
          </p:nvSpPr>
          <p:spPr>
            <a:xfrm>
              <a:off x="1019590" y="2201383"/>
              <a:ext cx="4416425" cy="875664"/>
            </a:xfrm>
            <a:custGeom>
              <a:avLst/>
              <a:gdLst/>
              <a:ahLst/>
              <a:cxnLst/>
              <a:rect l="l" t="t" r="r" b="b"/>
              <a:pathLst>
                <a:path w="4416425" h="875664" extrusionOk="0">
                  <a:moveTo>
                    <a:pt x="4268419" y="0"/>
                  </a:moveTo>
                  <a:lnTo>
                    <a:pt x="147840" y="0"/>
                  </a:lnTo>
                  <a:lnTo>
                    <a:pt x="101112" y="7535"/>
                  </a:lnTo>
                  <a:lnTo>
                    <a:pt x="60528" y="28520"/>
                  </a:lnTo>
                  <a:lnTo>
                    <a:pt x="28525" y="60520"/>
                  </a:lnTo>
                  <a:lnTo>
                    <a:pt x="7537" y="101100"/>
                  </a:lnTo>
                  <a:lnTo>
                    <a:pt x="0" y="147827"/>
                  </a:lnTo>
                  <a:lnTo>
                    <a:pt x="0" y="708609"/>
                  </a:lnTo>
                  <a:lnTo>
                    <a:pt x="2075091" y="708609"/>
                  </a:lnTo>
                  <a:lnTo>
                    <a:pt x="2208123" y="875169"/>
                  </a:lnTo>
                  <a:lnTo>
                    <a:pt x="2341156" y="708609"/>
                  </a:lnTo>
                  <a:lnTo>
                    <a:pt x="4416247" y="708609"/>
                  </a:lnTo>
                  <a:lnTo>
                    <a:pt x="4416247" y="147827"/>
                  </a:lnTo>
                  <a:lnTo>
                    <a:pt x="4408710" y="101100"/>
                  </a:lnTo>
                  <a:lnTo>
                    <a:pt x="4387722" y="60520"/>
                  </a:lnTo>
                  <a:lnTo>
                    <a:pt x="4355721" y="28520"/>
                  </a:lnTo>
                  <a:lnTo>
                    <a:pt x="4315141" y="7535"/>
                  </a:lnTo>
                  <a:lnTo>
                    <a:pt x="4268419" y="0"/>
                  </a:lnTo>
                  <a:close/>
                </a:path>
              </a:pathLst>
            </a:custGeom>
            <a:solidFill>
              <a:srgbClr val="D2E03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95" name="Google Shape;2495;p37"/>
          <p:cNvSpPr txBox="1"/>
          <p:nvPr/>
        </p:nvSpPr>
        <p:spPr>
          <a:xfrm>
            <a:off x="2440753" y="2412800"/>
            <a:ext cx="1845600" cy="3207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Headquarters</a:t>
            </a:r>
            <a:endParaRPr sz="2000" b="0" i="0" u="none" strike="noStrike" cap="none">
              <a:solidFill>
                <a:srgbClr val="000000"/>
              </a:solidFill>
              <a:latin typeface="Plus Jakarta Sans"/>
              <a:ea typeface="Plus Jakarta Sans"/>
              <a:cs typeface="Plus Jakarta Sans"/>
              <a:sym typeface="Plus Jakarta Sans"/>
            </a:endParaRPr>
          </a:p>
        </p:txBody>
      </p:sp>
      <p:grpSp>
        <p:nvGrpSpPr>
          <p:cNvPr id="2496" name="Google Shape;2496;p37"/>
          <p:cNvGrpSpPr/>
          <p:nvPr/>
        </p:nvGrpSpPr>
        <p:grpSpPr>
          <a:xfrm>
            <a:off x="632174" y="1577479"/>
            <a:ext cx="10916647" cy="7018711"/>
            <a:chOff x="632174" y="1577479"/>
            <a:chExt cx="10916647" cy="7018711"/>
          </a:xfrm>
        </p:grpSpPr>
        <p:sp>
          <p:nvSpPr>
            <p:cNvPr id="2497" name="Google Shape;2497;p37"/>
            <p:cNvSpPr/>
            <p:nvPr/>
          </p:nvSpPr>
          <p:spPr>
            <a:xfrm>
              <a:off x="3156877" y="5405437"/>
              <a:ext cx="63500" cy="557529"/>
            </a:xfrm>
            <a:custGeom>
              <a:avLst/>
              <a:gdLst/>
              <a:ahLst/>
              <a:cxnLst/>
              <a:rect l="l" t="t" r="r" b="b"/>
              <a:pathLst>
                <a:path w="63500" h="557529" extrusionOk="0">
                  <a:moveTo>
                    <a:pt x="63436" y="0"/>
                  </a:moveTo>
                  <a:lnTo>
                    <a:pt x="0" y="0"/>
                  </a:lnTo>
                  <a:lnTo>
                    <a:pt x="0" y="557212"/>
                  </a:lnTo>
                  <a:lnTo>
                    <a:pt x="63436" y="557212"/>
                  </a:lnTo>
                  <a:lnTo>
                    <a:pt x="63436" y="0"/>
                  </a:lnTo>
                  <a:close/>
                </a:path>
              </a:pathLst>
            </a:custGeom>
            <a:solidFill>
              <a:srgbClr val="EA891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98" name="Google Shape;2498;p37"/>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632174" y="6014466"/>
              <a:ext cx="5191079" cy="2581724"/>
            </a:xfrm>
            <a:prstGeom prst="rect">
              <a:avLst/>
            </a:prstGeom>
            <a:noFill/>
            <a:ln>
              <a:noFill/>
            </a:ln>
          </p:spPr>
        </p:pic>
        <p:sp>
          <p:nvSpPr>
            <p:cNvPr id="2499" name="Google Shape;2499;p37"/>
            <p:cNvSpPr/>
            <p:nvPr/>
          </p:nvSpPr>
          <p:spPr>
            <a:xfrm>
              <a:off x="1019595" y="6484430"/>
              <a:ext cx="4416425" cy="1724659"/>
            </a:xfrm>
            <a:custGeom>
              <a:avLst/>
              <a:gdLst/>
              <a:ahLst/>
              <a:cxnLst/>
              <a:rect l="l" t="t" r="r" b="b"/>
              <a:pathLst>
                <a:path w="4416425" h="1724659" extrusionOk="0">
                  <a:moveTo>
                    <a:pt x="4326242" y="0"/>
                  </a:moveTo>
                  <a:lnTo>
                    <a:pt x="90004" y="0"/>
                  </a:lnTo>
                  <a:lnTo>
                    <a:pt x="54971" y="7073"/>
                  </a:lnTo>
                  <a:lnTo>
                    <a:pt x="26362" y="26362"/>
                  </a:lnTo>
                  <a:lnTo>
                    <a:pt x="7073" y="54971"/>
                  </a:lnTo>
                  <a:lnTo>
                    <a:pt x="0" y="90004"/>
                  </a:lnTo>
                  <a:lnTo>
                    <a:pt x="0" y="1634286"/>
                  </a:lnTo>
                  <a:lnTo>
                    <a:pt x="7073" y="1669320"/>
                  </a:lnTo>
                  <a:lnTo>
                    <a:pt x="26362" y="1697929"/>
                  </a:lnTo>
                  <a:lnTo>
                    <a:pt x="54971" y="1717218"/>
                  </a:lnTo>
                  <a:lnTo>
                    <a:pt x="90004" y="1724291"/>
                  </a:lnTo>
                  <a:lnTo>
                    <a:pt x="4326242" y="1724291"/>
                  </a:lnTo>
                  <a:lnTo>
                    <a:pt x="4361276" y="1717218"/>
                  </a:lnTo>
                  <a:lnTo>
                    <a:pt x="4389885" y="1697929"/>
                  </a:lnTo>
                  <a:lnTo>
                    <a:pt x="4409174" y="1669320"/>
                  </a:lnTo>
                  <a:lnTo>
                    <a:pt x="4416247" y="1634286"/>
                  </a:lnTo>
                  <a:lnTo>
                    <a:pt x="4416247" y="90004"/>
                  </a:lnTo>
                  <a:lnTo>
                    <a:pt x="4409174" y="54971"/>
                  </a:lnTo>
                  <a:lnTo>
                    <a:pt x="4389885" y="26362"/>
                  </a:lnTo>
                  <a:lnTo>
                    <a:pt x="4361276" y="7073"/>
                  </a:lnTo>
                  <a:lnTo>
                    <a:pt x="4326242"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0" name="Google Shape;2500;p37"/>
            <p:cNvSpPr/>
            <p:nvPr/>
          </p:nvSpPr>
          <p:spPr>
            <a:xfrm>
              <a:off x="1019581" y="5826734"/>
              <a:ext cx="4416425" cy="1186815"/>
            </a:xfrm>
            <a:custGeom>
              <a:avLst/>
              <a:gdLst/>
              <a:ahLst/>
              <a:cxnLst/>
              <a:rect l="l" t="t" r="r" b="b"/>
              <a:pathLst>
                <a:path w="4416425" h="1186815" extrusionOk="0">
                  <a:moveTo>
                    <a:pt x="2296337" y="0"/>
                  </a:moveTo>
                  <a:lnTo>
                    <a:pt x="2041702" y="0"/>
                  </a:lnTo>
                  <a:lnTo>
                    <a:pt x="2169020" y="220522"/>
                  </a:lnTo>
                  <a:lnTo>
                    <a:pt x="2296337" y="0"/>
                  </a:lnTo>
                  <a:close/>
                </a:path>
                <a:path w="4416425" h="1186815" extrusionOk="0">
                  <a:moveTo>
                    <a:pt x="4416247" y="459409"/>
                  </a:moveTo>
                  <a:lnTo>
                    <a:pt x="4408716" y="412686"/>
                  </a:lnTo>
                  <a:lnTo>
                    <a:pt x="4387723" y="372110"/>
                  </a:lnTo>
                  <a:lnTo>
                    <a:pt x="4355719" y="340106"/>
                  </a:lnTo>
                  <a:lnTo>
                    <a:pt x="4315142" y="319125"/>
                  </a:lnTo>
                  <a:lnTo>
                    <a:pt x="4268419" y="311581"/>
                  </a:lnTo>
                  <a:lnTo>
                    <a:pt x="147840" y="311581"/>
                  </a:lnTo>
                  <a:lnTo>
                    <a:pt x="101117" y="319125"/>
                  </a:lnTo>
                  <a:lnTo>
                    <a:pt x="60528" y="340106"/>
                  </a:lnTo>
                  <a:lnTo>
                    <a:pt x="28524" y="372110"/>
                  </a:lnTo>
                  <a:lnTo>
                    <a:pt x="7543" y="412686"/>
                  </a:lnTo>
                  <a:lnTo>
                    <a:pt x="0" y="459409"/>
                  </a:lnTo>
                  <a:lnTo>
                    <a:pt x="0" y="1020191"/>
                  </a:lnTo>
                  <a:lnTo>
                    <a:pt x="2075091" y="1020191"/>
                  </a:lnTo>
                  <a:lnTo>
                    <a:pt x="2208123" y="1186751"/>
                  </a:lnTo>
                  <a:lnTo>
                    <a:pt x="2341156" y="1020191"/>
                  </a:lnTo>
                  <a:lnTo>
                    <a:pt x="4416247" y="1020191"/>
                  </a:lnTo>
                  <a:lnTo>
                    <a:pt x="4416247" y="459409"/>
                  </a:lnTo>
                  <a:close/>
                </a:path>
              </a:pathLst>
            </a:custGeom>
            <a:solidFill>
              <a:srgbClr val="EA891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1" name="Google Shape;2501;p37"/>
            <p:cNvSpPr/>
            <p:nvPr/>
          </p:nvSpPr>
          <p:spPr>
            <a:xfrm>
              <a:off x="5698960" y="3745852"/>
              <a:ext cx="906145" cy="254635"/>
            </a:xfrm>
            <a:custGeom>
              <a:avLst/>
              <a:gdLst/>
              <a:ahLst/>
              <a:cxnLst/>
              <a:rect l="l" t="t" r="r" b="b"/>
              <a:pathLst>
                <a:path w="906145" h="254635" extrusionOk="0">
                  <a:moveTo>
                    <a:pt x="905852" y="127317"/>
                  </a:moveTo>
                  <a:lnTo>
                    <a:pt x="685330" y="0"/>
                  </a:lnTo>
                  <a:lnTo>
                    <a:pt x="685330" y="95592"/>
                  </a:lnTo>
                  <a:lnTo>
                    <a:pt x="0" y="95592"/>
                  </a:lnTo>
                  <a:lnTo>
                    <a:pt x="0" y="159029"/>
                  </a:lnTo>
                  <a:lnTo>
                    <a:pt x="685330" y="159029"/>
                  </a:lnTo>
                  <a:lnTo>
                    <a:pt x="685330" y="254635"/>
                  </a:lnTo>
                  <a:lnTo>
                    <a:pt x="905852" y="127317"/>
                  </a:lnTo>
                  <a:close/>
                </a:path>
              </a:pathLst>
            </a:custGeom>
            <a:solidFill>
              <a:srgbClr val="D2E03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2" name="Google Shape;2502;p37"/>
            <p:cNvSpPr/>
            <p:nvPr/>
          </p:nvSpPr>
          <p:spPr>
            <a:xfrm>
              <a:off x="10020211" y="5146471"/>
              <a:ext cx="1125220" cy="1123950"/>
            </a:xfrm>
            <a:custGeom>
              <a:avLst/>
              <a:gdLst/>
              <a:ahLst/>
              <a:cxnLst/>
              <a:rect l="l" t="t" r="r" b="b"/>
              <a:pathLst>
                <a:path w="1125220" h="1123950" extrusionOk="0">
                  <a:moveTo>
                    <a:pt x="521220" y="873747"/>
                  </a:moveTo>
                  <a:lnTo>
                    <a:pt x="514337" y="866876"/>
                  </a:lnTo>
                  <a:lnTo>
                    <a:pt x="497420" y="866876"/>
                  </a:lnTo>
                  <a:lnTo>
                    <a:pt x="490512" y="873747"/>
                  </a:lnTo>
                  <a:lnTo>
                    <a:pt x="490512" y="909535"/>
                  </a:lnTo>
                  <a:lnTo>
                    <a:pt x="497420" y="916444"/>
                  </a:lnTo>
                  <a:lnTo>
                    <a:pt x="505879" y="916444"/>
                  </a:lnTo>
                  <a:lnTo>
                    <a:pt x="514337" y="916444"/>
                  </a:lnTo>
                  <a:lnTo>
                    <a:pt x="521220" y="909535"/>
                  </a:lnTo>
                  <a:lnTo>
                    <a:pt x="521220" y="873747"/>
                  </a:lnTo>
                  <a:close/>
                </a:path>
                <a:path w="1125220" h="1123950" extrusionOk="0">
                  <a:moveTo>
                    <a:pt x="634415" y="873747"/>
                  </a:moveTo>
                  <a:lnTo>
                    <a:pt x="627507" y="866876"/>
                  </a:lnTo>
                  <a:lnTo>
                    <a:pt x="610590" y="866876"/>
                  </a:lnTo>
                  <a:lnTo>
                    <a:pt x="603707" y="873747"/>
                  </a:lnTo>
                  <a:lnTo>
                    <a:pt x="603707" y="909535"/>
                  </a:lnTo>
                  <a:lnTo>
                    <a:pt x="610590" y="916444"/>
                  </a:lnTo>
                  <a:lnTo>
                    <a:pt x="619048" y="916444"/>
                  </a:lnTo>
                  <a:lnTo>
                    <a:pt x="627507" y="916444"/>
                  </a:lnTo>
                  <a:lnTo>
                    <a:pt x="634415" y="909535"/>
                  </a:lnTo>
                  <a:lnTo>
                    <a:pt x="634415" y="873747"/>
                  </a:lnTo>
                  <a:close/>
                </a:path>
                <a:path w="1125220" h="1123950" extrusionOk="0">
                  <a:moveTo>
                    <a:pt x="1124915" y="1071880"/>
                  </a:moveTo>
                  <a:lnTo>
                    <a:pt x="1120686" y="1051560"/>
                  </a:lnTo>
                  <a:lnTo>
                    <a:pt x="1119060" y="1049020"/>
                  </a:lnTo>
                  <a:lnTo>
                    <a:pt x="1109281" y="1033780"/>
                  </a:lnTo>
                  <a:lnTo>
                    <a:pt x="1094244" y="1023581"/>
                  </a:lnTo>
                  <a:lnTo>
                    <a:pt x="1094244" y="1071880"/>
                  </a:lnTo>
                  <a:lnTo>
                    <a:pt x="1094244" y="1093470"/>
                  </a:lnTo>
                  <a:lnTo>
                    <a:pt x="30670" y="1093470"/>
                  </a:lnTo>
                  <a:lnTo>
                    <a:pt x="30670" y="1071880"/>
                  </a:lnTo>
                  <a:lnTo>
                    <a:pt x="32435" y="1062990"/>
                  </a:lnTo>
                  <a:lnTo>
                    <a:pt x="37236" y="1055370"/>
                  </a:lnTo>
                  <a:lnTo>
                    <a:pt x="44348" y="1050290"/>
                  </a:lnTo>
                  <a:lnTo>
                    <a:pt x="53060" y="1049020"/>
                  </a:lnTo>
                  <a:lnTo>
                    <a:pt x="1071854" y="1049020"/>
                  </a:lnTo>
                  <a:lnTo>
                    <a:pt x="1080579" y="1050290"/>
                  </a:lnTo>
                  <a:lnTo>
                    <a:pt x="1087691" y="1055370"/>
                  </a:lnTo>
                  <a:lnTo>
                    <a:pt x="1092492" y="1062990"/>
                  </a:lnTo>
                  <a:lnTo>
                    <a:pt x="1094244" y="1071880"/>
                  </a:lnTo>
                  <a:lnTo>
                    <a:pt x="1094244" y="1023581"/>
                  </a:lnTo>
                  <a:lnTo>
                    <a:pt x="1092441" y="1022350"/>
                  </a:lnTo>
                  <a:lnTo>
                    <a:pt x="1071854" y="1018540"/>
                  </a:lnTo>
                  <a:lnTo>
                    <a:pt x="1030579" y="1018540"/>
                  </a:lnTo>
                  <a:lnTo>
                    <a:pt x="1030579" y="632460"/>
                  </a:lnTo>
                  <a:lnTo>
                    <a:pt x="1033373" y="632460"/>
                  </a:lnTo>
                  <a:lnTo>
                    <a:pt x="1062443" y="621030"/>
                  </a:lnTo>
                  <a:lnTo>
                    <a:pt x="1082560" y="603250"/>
                  </a:lnTo>
                  <a:lnTo>
                    <a:pt x="1085430" y="600710"/>
                  </a:lnTo>
                  <a:lnTo>
                    <a:pt x="1100569" y="574040"/>
                  </a:lnTo>
                  <a:lnTo>
                    <a:pt x="1106055" y="543560"/>
                  </a:lnTo>
                  <a:lnTo>
                    <a:pt x="1106055" y="520700"/>
                  </a:lnTo>
                  <a:lnTo>
                    <a:pt x="1106055" y="502920"/>
                  </a:lnTo>
                  <a:lnTo>
                    <a:pt x="1105268" y="500380"/>
                  </a:lnTo>
                  <a:lnTo>
                    <a:pt x="1098931" y="490220"/>
                  </a:lnTo>
                  <a:lnTo>
                    <a:pt x="1075385" y="452462"/>
                  </a:lnTo>
                  <a:lnTo>
                    <a:pt x="1075385" y="520700"/>
                  </a:lnTo>
                  <a:lnTo>
                    <a:pt x="1075385" y="543560"/>
                  </a:lnTo>
                  <a:lnTo>
                    <a:pt x="1070648" y="566420"/>
                  </a:lnTo>
                  <a:lnTo>
                    <a:pt x="1057744" y="585470"/>
                  </a:lnTo>
                  <a:lnTo>
                    <a:pt x="1038631" y="598170"/>
                  </a:lnTo>
                  <a:lnTo>
                    <a:pt x="1015238" y="603250"/>
                  </a:lnTo>
                  <a:lnTo>
                    <a:pt x="999896" y="599922"/>
                  </a:lnTo>
                  <a:lnTo>
                    <a:pt x="999896" y="632460"/>
                  </a:lnTo>
                  <a:lnTo>
                    <a:pt x="999896" y="1018540"/>
                  </a:lnTo>
                  <a:lnTo>
                    <a:pt x="841921" y="1018540"/>
                  </a:lnTo>
                  <a:lnTo>
                    <a:pt x="841921" y="769620"/>
                  </a:lnTo>
                  <a:lnTo>
                    <a:pt x="837692" y="749300"/>
                  </a:lnTo>
                  <a:lnTo>
                    <a:pt x="835939" y="746760"/>
                  </a:lnTo>
                  <a:lnTo>
                    <a:pt x="826287" y="732790"/>
                  </a:lnTo>
                  <a:lnTo>
                    <a:pt x="811250" y="722591"/>
                  </a:lnTo>
                  <a:lnTo>
                    <a:pt x="811250" y="769620"/>
                  </a:lnTo>
                  <a:lnTo>
                    <a:pt x="811250" y="1018540"/>
                  </a:lnTo>
                  <a:lnTo>
                    <a:pt x="577799" y="1018540"/>
                  </a:lnTo>
                  <a:lnTo>
                    <a:pt x="577799" y="746760"/>
                  </a:lnTo>
                  <a:lnTo>
                    <a:pt x="788860" y="746760"/>
                  </a:lnTo>
                  <a:lnTo>
                    <a:pt x="797585" y="749300"/>
                  </a:lnTo>
                  <a:lnTo>
                    <a:pt x="804697" y="754380"/>
                  </a:lnTo>
                  <a:lnTo>
                    <a:pt x="809498" y="760730"/>
                  </a:lnTo>
                  <a:lnTo>
                    <a:pt x="811250" y="769620"/>
                  </a:lnTo>
                  <a:lnTo>
                    <a:pt x="811250" y="722591"/>
                  </a:lnTo>
                  <a:lnTo>
                    <a:pt x="809447" y="721360"/>
                  </a:lnTo>
                  <a:lnTo>
                    <a:pt x="788860" y="716280"/>
                  </a:lnTo>
                  <a:lnTo>
                    <a:pt x="547116" y="716280"/>
                  </a:lnTo>
                  <a:lnTo>
                    <a:pt x="547116" y="746760"/>
                  </a:lnTo>
                  <a:lnTo>
                    <a:pt x="547116" y="1018540"/>
                  </a:lnTo>
                  <a:lnTo>
                    <a:pt x="313664" y="1018540"/>
                  </a:lnTo>
                  <a:lnTo>
                    <a:pt x="313664" y="769620"/>
                  </a:lnTo>
                  <a:lnTo>
                    <a:pt x="315429" y="760730"/>
                  </a:lnTo>
                  <a:lnTo>
                    <a:pt x="320230" y="754380"/>
                  </a:lnTo>
                  <a:lnTo>
                    <a:pt x="327342" y="749300"/>
                  </a:lnTo>
                  <a:lnTo>
                    <a:pt x="336054" y="746760"/>
                  </a:lnTo>
                  <a:lnTo>
                    <a:pt x="547116" y="746760"/>
                  </a:lnTo>
                  <a:lnTo>
                    <a:pt x="547116" y="716280"/>
                  </a:lnTo>
                  <a:lnTo>
                    <a:pt x="336054" y="716280"/>
                  </a:lnTo>
                  <a:lnTo>
                    <a:pt x="315480" y="721360"/>
                  </a:lnTo>
                  <a:lnTo>
                    <a:pt x="298627" y="732790"/>
                  </a:lnTo>
                  <a:lnTo>
                    <a:pt x="287223" y="749300"/>
                  </a:lnTo>
                  <a:lnTo>
                    <a:pt x="282981" y="769620"/>
                  </a:lnTo>
                  <a:lnTo>
                    <a:pt x="282981" y="1018540"/>
                  </a:lnTo>
                  <a:lnTo>
                    <a:pt x="125018" y="1018540"/>
                  </a:lnTo>
                  <a:lnTo>
                    <a:pt x="125018" y="632460"/>
                  </a:lnTo>
                  <a:lnTo>
                    <a:pt x="127812" y="632460"/>
                  </a:lnTo>
                  <a:lnTo>
                    <a:pt x="143700" y="627380"/>
                  </a:lnTo>
                  <a:lnTo>
                    <a:pt x="158305" y="619760"/>
                  </a:lnTo>
                  <a:lnTo>
                    <a:pt x="171272" y="609600"/>
                  </a:lnTo>
                  <a:lnTo>
                    <a:pt x="176758" y="603250"/>
                  </a:lnTo>
                  <a:lnTo>
                    <a:pt x="182257" y="596900"/>
                  </a:lnTo>
                  <a:lnTo>
                    <a:pt x="185115" y="593090"/>
                  </a:lnTo>
                  <a:lnTo>
                    <a:pt x="187985" y="596900"/>
                  </a:lnTo>
                  <a:lnTo>
                    <a:pt x="202450" y="612140"/>
                  </a:lnTo>
                  <a:lnTo>
                    <a:pt x="219925" y="624840"/>
                  </a:lnTo>
                  <a:lnTo>
                    <a:pt x="239610" y="631190"/>
                  </a:lnTo>
                  <a:lnTo>
                    <a:pt x="260667" y="633730"/>
                  </a:lnTo>
                  <a:lnTo>
                    <a:pt x="274866" y="632460"/>
                  </a:lnTo>
                  <a:lnTo>
                    <a:pt x="288569" y="629920"/>
                  </a:lnTo>
                  <a:lnTo>
                    <a:pt x="301574" y="623570"/>
                  </a:lnTo>
                  <a:lnTo>
                    <a:pt x="313728" y="617220"/>
                  </a:lnTo>
                  <a:lnTo>
                    <a:pt x="319151" y="612140"/>
                  </a:lnTo>
                  <a:lnTo>
                    <a:pt x="324218" y="608330"/>
                  </a:lnTo>
                  <a:lnTo>
                    <a:pt x="328891" y="603250"/>
                  </a:lnTo>
                  <a:lnTo>
                    <a:pt x="333184" y="596900"/>
                  </a:lnTo>
                  <a:lnTo>
                    <a:pt x="336054" y="593090"/>
                  </a:lnTo>
                  <a:lnTo>
                    <a:pt x="370852" y="624840"/>
                  </a:lnTo>
                  <a:lnTo>
                    <a:pt x="411594" y="633730"/>
                  </a:lnTo>
                  <a:lnTo>
                    <a:pt x="425792" y="632460"/>
                  </a:lnTo>
                  <a:lnTo>
                    <a:pt x="439496" y="629920"/>
                  </a:lnTo>
                  <a:lnTo>
                    <a:pt x="452501" y="623570"/>
                  </a:lnTo>
                  <a:lnTo>
                    <a:pt x="464654" y="617220"/>
                  </a:lnTo>
                  <a:lnTo>
                    <a:pt x="470077" y="612140"/>
                  </a:lnTo>
                  <a:lnTo>
                    <a:pt x="475145" y="608330"/>
                  </a:lnTo>
                  <a:lnTo>
                    <a:pt x="479818" y="603250"/>
                  </a:lnTo>
                  <a:lnTo>
                    <a:pt x="484111" y="596900"/>
                  </a:lnTo>
                  <a:lnTo>
                    <a:pt x="486981" y="593090"/>
                  </a:lnTo>
                  <a:lnTo>
                    <a:pt x="521779" y="624840"/>
                  </a:lnTo>
                  <a:lnTo>
                    <a:pt x="562521" y="633730"/>
                  </a:lnTo>
                  <a:lnTo>
                    <a:pt x="576719" y="632460"/>
                  </a:lnTo>
                  <a:lnTo>
                    <a:pt x="590423" y="629920"/>
                  </a:lnTo>
                  <a:lnTo>
                    <a:pt x="603427" y="623570"/>
                  </a:lnTo>
                  <a:lnTo>
                    <a:pt x="615581" y="617220"/>
                  </a:lnTo>
                  <a:lnTo>
                    <a:pt x="620979" y="612140"/>
                  </a:lnTo>
                  <a:lnTo>
                    <a:pt x="626033" y="608330"/>
                  </a:lnTo>
                  <a:lnTo>
                    <a:pt x="630745" y="603250"/>
                  </a:lnTo>
                  <a:lnTo>
                    <a:pt x="635101" y="596900"/>
                  </a:lnTo>
                  <a:lnTo>
                    <a:pt x="637933" y="593090"/>
                  </a:lnTo>
                  <a:lnTo>
                    <a:pt x="672719" y="624840"/>
                  </a:lnTo>
                  <a:lnTo>
                    <a:pt x="713447" y="633730"/>
                  </a:lnTo>
                  <a:lnTo>
                    <a:pt x="727646" y="632460"/>
                  </a:lnTo>
                  <a:lnTo>
                    <a:pt x="741349" y="629920"/>
                  </a:lnTo>
                  <a:lnTo>
                    <a:pt x="754354" y="623570"/>
                  </a:lnTo>
                  <a:lnTo>
                    <a:pt x="766508" y="617220"/>
                  </a:lnTo>
                  <a:lnTo>
                    <a:pt x="771906" y="612140"/>
                  </a:lnTo>
                  <a:lnTo>
                    <a:pt x="776960" y="608330"/>
                  </a:lnTo>
                  <a:lnTo>
                    <a:pt x="781672" y="603250"/>
                  </a:lnTo>
                  <a:lnTo>
                    <a:pt x="786028" y="596900"/>
                  </a:lnTo>
                  <a:lnTo>
                    <a:pt x="788860" y="593090"/>
                  </a:lnTo>
                  <a:lnTo>
                    <a:pt x="823658" y="624840"/>
                  </a:lnTo>
                  <a:lnTo>
                    <a:pt x="864374" y="633730"/>
                  </a:lnTo>
                  <a:lnTo>
                    <a:pt x="878573" y="632460"/>
                  </a:lnTo>
                  <a:lnTo>
                    <a:pt x="892276" y="629920"/>
                  </a:lnTo>
                  <a:lnTo>
                    <a:pt x="905294" y="623570"/>
                  </a:lnTo>
                  <a:lnTo>
                    <a:pt x="917448" y="617220"/>
                  </a:lnTo>
                  <a:lnTo>
                    <a:pt x="922832" y="612140"/>
                  </a:lnTo>
                  <a:lnTo>
                    <a:pt x="927887" y="608330"/>
                  </a:lnTo>
                  <a:lnTo>
                    <a:pt x="932599" y="603250"/>
                  </a:lnTo>
                  <a:lnTo>
                    <a:pt x="936955" y="596900"/>
                  </a:lnTo>
                  <a:lnTo>
                    <a:pt x="939787" y="593090"/>
                  </a:lnTo>
                  <a:lnTo>
                    <a:pt x="981214" y="627380"/>
                  </a:lnTo>
                  <a:lnTo>
                    <a:pt x="997102" y="632460"/>
                  </a:lnTo>
                  <a:lnTo>
                    <a:pt x="999896" y="632460"/>
                  </a:lnTo>
                  <a:lnTo>
                    <a:pt x="999896" y="599922"/>
                  </a:lnTo>
                  <a:lnTo>
                    <a:pt x="991857" y="598170"/>
                  </a:lnTo>
                  <a:lnTo>
                    <a:pt x="984211" y="593090"/>
                  </a:lnTo>
                  <a:lnTo>
                    <a:pt x="972756" y="585470"/>
                  </a:lnTo>
                  <a:lnTo>
                    <a:pt x="959866" y="566420"/>
                  </a:lnTo>
                  <a:lnTo>
                    <a:pt x="955128" y="543560"/>
                  </a:lnTo>
                  <a:lnTo>
                    <a:pt x="955128" y="520700"/>
                  </a:lnTo>
                  <a:lnTo>
                    <a:pt x="1075385" y="520700"/>
                  </a:lnTo>
                  <a:lnTo>
                    <a:pt x="1075385" y="452462"/>
                  </a:lnTo>
                  <a:lnTo>
                    <a:pt x="1063155" y="432854"/>
                  </a:lnTo>
                  <a:lnTo>
                    <a:pt x="1063155" y="490220"/>
                  </a:lnTo>
                  <a:lnTo>
                    <a:pt x="949286" y="490220"/>
                  </a:lnTo>
                  <a:lnTo>
                    <a:pt x="924458" y="440410"/>
                  </a:lnTo>
                  <a:lnTo>
                    <a:pt x="924458" y="520700"/>
                  </a:lnTo>
                  <a:lnTo>
                    <a:pt x="924458" y="543560"/>
                  </a:lnTo>
                  <a:lnTo>
                    <a:pt x="919721" y="566420"/>
                  </a:lnTo>
                  <a:lnTo>
                    <a:pt x="906818" y="585470"/>
                  </a:lnTo>
                  <a:lnTo>
                    <a:pt x="887704" y="598170"/>
                  </a:lnTo>
                  <a:lnTo>
                    <a:pt x="864311" y="603250"/>
                  </a:lnTo>
                  <a:lnTo>
                    <a:pt x="840930" y="598170"/>
                  </a:lnTo>
                  <a:lnTo>
                    <a:pt x="833285" y="593090"/>
                  </a:lnTo>
                  <a:lnTo>
                    <a:pt x="821829" y="585470"/>
                  </a:lnTo>
                  <a:lnTo>
                    <a:pt x="808939" y="566420"/>
                  </a:lnTo>
                  <a:lnTo>
                    <a:pt x="804202" y="543560"/>
                  </a:lnTo>
                  <a:lnTo>
                    <a:pt x="804202" y="520700"/>
                  </a:lnTo>
                  <a:lnTo>
                    <a:pt x="924458" y="520700"/>
                  </a:lnTo>
                  <a:lnTo>
                    <a:pt x="924458" y="440410"/>
                  </a:lnTo>
                  <a:lnTo>
                    <a:pt x="914958" y="421347"/>
                  </a:lnTo>
                  <a:lnTo>
                    <a:pt x="914958" y="490220"/>
                  </a:lnTo>
                  <a:lnTo>
                    <a:pt x="799401" y="490220"/>
                  </a:lnTo>
                  <a:lnTo>
                    <a:pt x="773493" y="420890"/>
                  </a:lnTo>
                  <a:lnTo>
                    <a:pt x="773493" y="520700"/>
                  </a:lnTo>
                  <a:lnTo>
                    <a:pt x="773493" y="543560"/>
                  </a:lnTo>
                  <a:lnTo>
                    <a:pt x="768769" y="566420"/>
                  </a:lnTo>
                  <a:lnTo>
                    <a:pt x="755878" y="585470"/>
                  </a:lnTo>
                  <a:lnTo>
                    <a:pt x="736765" y="598170"/>
                  </a:lnTo>
                  <a:lnTo>
                    <a:pt x="713384" y="603250"/>
                  </a:lnTo>
                  <a:lnTo>
                    <a:pt x="690003" y="598170"/>
                  </a:lnTo>
                  <a:lnTo>
                    <a:pt x="682358" y="593090"/>
                  </a:lnTo>
                  <a:lnTo>
                    <a:pt x="670902" y="585470"/>
                  </a:lnTo>
                  <a:lnTo>
                    <a:pt x="658012" y="566420"/>
                  </a:lnTo>
                  <a:lnTo>
                    <a:pt x="653275" y="543560"/>
                  </a:lnTo>
                  <a:lnTo>
                    <a:pt x="653275" y="520700"/>
                  </a:lnTo>
                  <a:lnTo>
                    <a:pt x="773493" y="520700"/>
                  </a:lnTo>
                  <a:lnTo>
                    <a:pt x="773493" y="420890"/>
                  </a:lnTo>
                  <a:lnTo>
                    <a:pt x="766787" y="402945"/>
                  </a:lnTo>
                  <a:lnTo>
                    <a:pt x="766787" y="490220"/>
                  </a:lnTo>
                  <a:lnTo>
                    <a:pt x="651408" y="490220"/>
                  </a:lnTo>
                  <a:lnTo>
                    <a:pt x="636384" y="369570"/>
                  </a:lnTo>
                  <a:lnTo>
                    <a:pt x="721677" y="369570"/>
                  </a:lnTo>
                  <a:lnTo>
                    <a:pt x="766787" y="490220"/>
                  </a:lnTo>
                  <a:lnTo>
                    <a:pt x="766787" y="402945"/>
                  </a:lnTo>
                  <a:lnTo>
                    <a:pt x="754316" y="369570"/>
                  </a:lnTo>
                  <a:lnTo>
                    <a:pt x="854811" y="369570"/>
                  </a:lnTo>
                  <a:lnTo>
                    <a:pt x="914958" y="490220"/>
                  </a:lnTo>
                  <a:lnTo>
                    <a:pt x="914958" y="421347"/>
                  </a:lnTo>
                  <a:lnTo>
                    <a:pt x="889152" y="369570"/>
                  </a:lnTo>
                  <a:lnTo>
                    <a:pt x="989025" y="372110"/>
                  </a:lnTo>
                  <a:lnTo>
                    <a:pt x="1063155" y="490220"/>
                  </a:lnTo>
                  <a:lnTo>
                    <a:pt x="1063155" y="432854"/>
                  </a:lnTo>
                  <a:lnTo>
                    <a:pt x="1023696" y="369570"/>
                  </a:lnTo>
                  <a:lnTo>
                    <a:pt x="1009434" y="346710"/>
                  </a:lnTo>
                  <a:lnTo>
                    <a:pt x="1006563" y="341630"/>
                  </a:lnTo>
                  <a:lnTo>
                    <a:pt x="1001661" y="339090"/>
                  </a:lnTo>
                  <a:lnTo>
                    <a:pt x="747585" y="339090"/>
                  </a:lnTo>
                  <a:lnTo>
                    <a:pt x="747585" y="294640"/>
                  </a:lnTo>
                  <a:lnTo>
                    <a:pt x="845451" y="294640"/>
                  </a:lnTo>
                  <a:lnTo>
                    <a:pt x="866051" y="290830"/>
                  </a:lnTo>
                  <a:lnTo>
                    <a:pt x="882904" y="279400"/>
                  </a:lnTo>
                  <a:lnTo>
                    <a:pt x="892670" y="264160"/>
                  </a:lnTo>
                  <a:lnTo>
                    <a:pt x="894295" y="261620"/>
                  </a:lnTo>
                  <a:lnTo>
                    <a:pt x="898512" y="241300"/>
                  </a:lnTo>
                  <a:lnTo>
                    <a:pt x="898512" y="53340"/>
                  </a:lnTo>
                  <a:lnTo>
                    <a:pt x="894295" y="31750"/>
                  </a:lnTo>
                  <a:lnTo>
                    <a:pt x="893419" y="30480"/>
                  </a:lnTo>
                  <a:lnTo>
                    <a:pt x="882904" y="15240"/>
                  </a:lnTo>
                  <a:lnTo>
                    <a:pt x="867829" y="5016"/>
                  </a:lnTo>
                  <a:lnTo>
                    <a:pt x="867829" y="53340"/>
                  </a:lnTo>
                  <a:lnTo>
                    <a:pt x="867829" y="241300"/>
                  </a:lnTo>
                  <a:lnTo>
                    <a:pt x="866076" y="250190"/>
                  </a:lnTo>
                  <a:lnTo>
                    <a:pt x="861288" y="257810"/>
                  </a:lnTo>
                  <a:lnTo>
                    <a:pt x="854176" y="261620"/>
                  </a:lnTo>
                  <a:lnTo>
                    <a:pt x="845451" y="264160"/>
                  </a:lnTo>
                  <a:lnTo>
                    <a:pt x="716902" y="264160"/>
                  </a:lnTo>
                  <a:lnTo>
                    <a:pt x="716902" y="294640"/>
                  </a:lnTo>
                  <a:lnTo>
                    <a:pt x="716902" y="339090"/>
                  </a:lnTo>
                  <a:lnTo>
                    <a:pt x="622566" y="339090"/>
                  </a:lnTo>
                  <a:lnTo>
                    <a:pt x="622566" y="520700"/>
                  </a:lnTo>
                  <a:lnTo>
                    <a:pt x="622566" y="543560"/>
                  </a:lnTo>
                  <a:lnTo>
                    <a:pt x="617842" y="566420"/>
                  </a:lnTo>
                  <a:lnTo>
                    <a:pt x="604951" y="585470"/>
                  </a:lnTo>
                  <a:lnTo>
                    <a:pt x="585838" y="598170"/>
                  </a:lnTo>
                  <a:lnTo>
                    <a:pt x="562457" y="603250"/>
                  </a:lnTo>
                  <a:lnTo>
                    <a:pt x="539076" y="598170"/>
                  </a:lnTo>
                  <a:lnTo>
                    <a:pt x="531431" y="593090"/>
                  </a:lnTo>
                  <a:lnTo>
                    <a:pt x="519976" y="585470"/>
                  </a:lnTo>
                  <a:lnTo>
                    <a:pt x="507085" y="566420"/>
                  </a:lnTo>
                  <a:lnTo>
                    <a:pt x="502348" y="543560"/>
                  </a:lnTo>
                  <a:lnTo>
                    <a:pt x="502348" y="520700"/>
                  </a:lnTo>
                  <a:lnTo>
                    <a:pt x="622566" y="520700"/>
                  </a:lnTo>
                  <a:lnTo>
                    <a:pt x="622566" y="339090"/>
                  </a:lnTo>
                  <a:lnTo>
                    <a:pt x="620598" y="339090"/>
                  </a:lnTo>
                  <a:lnTo>
                    <a:pt x="620598" y="490220"/>
                  </a:lnTo>
                  <a:lnTo>
                    <a:pt x="504317" y="490220"/>
                  </a:lnTo>
                  <a:lnTo>
                    <a:pt x="519341" y="369570"/>
                  </a:lnTo>
                  <a:lnTo>
                    <a:pt x="605574" y="369570"/>
                  </a:lnTo>
                  <a:lnTo>
                    <a:pt x="620598" y="490220"/>
                  </a:lnTo>
                  <a:lnTo>
                    <a:pt x="620598" y="339090"/>
                  </a:lnTo>
                  <a:lnTo>
                    <a:pt x="488530" y="339090"/>
                  </a:lnTo>
                  <a:lnTo>
                    <a:pt x="488530" y="369570"/>
                  </a:lnTo>
                  <a:lnTo>
                    <a:pt x="473506" y="490220"/>
                  </a:lnTo>
                  <a:lnTo>
                    <a:pt x="471639" y="490220"/>
                  </a:lnTo>
                  <a:lnTo>
                    <a:pt x="471639" y="520700"/>
                  </a:lnTo>
                  <a:lnTo>
                    <a:pt x="471639" y="543560"/>
                  </a:lnTo>
                  <a:lnTo>
                    <a:pt x="466915" y="566420"/>
                  </a:lnTo>
                  <a:lnTo>
                    <a:pt x="454025" y="585470"/>
                  </a:lnTo>
                  <a:lnTo>
                    <a:pt x="434911" y="598170"/>
                  </a:lnTo>
                  <a:lnTo>
                    <a:pt x="411530" y="603250"/>
                  </a:lnTo>
                  <a:lnTo>
                    <a:pt x="388150" y="598170"/>
                  </a:lnTo>
                  <a:lnTo>
                    <a:pt x="380504" y="593090"/>
                  </a:lnTo>
                  <a:lnTo>
                    <a:pt x="369049" y="585470"/>
                  </a:lnTo>
                  <a:lnTo>
                    <a:pt x="356158" y="566420"/>
                  </a:lnTo>
                  <a:lnTo>
                    <a:pt x="351421" y="543560"/>
                  </a:lnTo>
                  <a:lnTo>
                    <a:pt x="351421" y="520700"/>
                  </a:lnTo>
                  <a:lnTo>
                    <a:pt x="471639" y="520700"/>
                  </a:lnTo>
                  <a:lnTo>
                    <a:pt x="471639" y="490220"/>
                  </a:lnTo>
                  <a:lnTo>
                    <a:pt x="358127" y="490220"/>
                  </a:lnTo>
                  <a:lnTo>
                    <a:pt x="403237" y="369570"/>
                  </a:lnTo>
                  <a:lnTo>
                    <a:pt x="488530" y="369570"/>
                  </a:lnTo>
                  <a:lnTo>
                    <a:pt x="488530" y="339090"/>
                  </a:lnTo>
                  <a:lnTo>
                    <a:pt x="408000" y="339090"/>
                  </a:lnTo>
                  <a:lnTo>
                    <a:pt x="408000" y="294640"/>
                  </a:lnTo>
                  <a:lnTo>
                    <a:pt x="716902" y="294640"/>
                  </a:lnTo>
                  <a:lnTo>
                    <a:pt x="716902" y="264160"/>
                  </a:lnTo>
                  <a:lnTo>
                    <a:pt x="279463" y="264160"/>
                  </a:lnTo>
                  <a:lnTo>
                    <a:pt x="270751" y="261620"/>
                  </a:lnTo>
                  <a:lnTo>
                    <a:pt x="263639" y="257810"/>
                  </a:lnTo>
                  <a:lnTo>
                    <a:pt x="258838" y="250190"/>
                  </a:lnTo>
                  <a:lnTo>
                    <a:pt x="257073" y="241300"/>
                  </a:lnTo>
                  <a:lnTo>
                    <a:pt x="257073" y="53340"/>
                  </a:lnTo>
                  <a:lnTo>
                    <a:pt x="258838" y="44450"/>
                  </a:lnTo>
                  <a:lnTo>
                    <a:pt x="263639" y="36830"/>
                  </a:lnTo>
                  <a:lnTo>
                    <a:pt x="270751" y="31750"/>
                  </a:lnTo>
                  <a:lnTo>
                    <a:pt x="279463" y="30480"/>
                  </a:lnTo>
                  <a:lnTo>
                    <a:pt x="845451" y="30480"/>
                  </a:lnTo>
                  <a:lnTo>
                    <a:pt x="854176" y="31750"/>
                  </a:lnTo>
                  <a:lnTo>
                    <a:pt x="861288" y="36830"/>
                  </a:lnTo>
                  <a:lnTo>
                    <a:pt x="866076" y="44450"/>
                  </a:lnTo>
                  <a:lnTo>
                    <a:pt x="867829" y="53340"/>
                  </a:lnTo>
                  <a:lnTo>
                    <a:pt x="867829" y="5016"/>
                  </a:lnTo>
                  <a:lnTo>
                    <a:pt x="866051" y="3810"/>
                  </a:lnTo>
                  <a:lnTo>
                    <a:pt x="845451" y="0"/>
                  </a:lnTo>
                  <a:lnTo>
                    <a:pt x="279463" y="0"/>
                  </a:lnTo>
                  <a:lnTo>
                    <a:pt x="258876" y="3810"/>
                  </a:lnTo>
                  <a:lnTo>
                    <a:pt x="242011" y="15240"/>
                  </a:lnTo>
                  <a:lnTo>
                    <a:pt x="230619" y="31750"/>
                  </a:lnTo>
                  <a:lnTo>
                    <a:pt x="226402" y="53340"/>
                  </a:lnTo>
                  <a:lnTo>
                    <a:pt x="226402" y="241300"/>
                  </a:lnTo>
                  <a:lnTo>
                    <a:pt x="230619" y="261620"/>
                  </a:lnTo>
                  <a:lnTo>
                    <a:pt x="242011" y="279400"/>
                  </a:lnTo>
                  <a:lnTo>
                    <a:pt x="258876" y="290830"/>
                  </a:lnTo>
                  <a:lnTo>
                    <a:pt x="279463" y="294640"/>
                  </a:lnTo>
                  <a:lnTo>
                    <a:pt x="377329" y="294640"/>
                  </a:lnTo>
                  <a:lnTo>
                    <a:pt x="377329" y="339090"/>
                  </a:lnTo>
                  <a:lnTo>
                    <a:pt x="370598" y="339090"/>
                  </a:lnTo>
                  <a:lnTo>
                    <a:pt x="370598" y="369570"/>
                  </a:lnTo>
                  <a:lnTo>
                    <a:pt x="325513" y="490220"/>
                  </a:lnTo>
                  <a:lnTo>
                    <a:pt x="320713" y="490220"/>
                  </a:lnTo>
                  <a:lnTo>
                    <a:pt x="320713" y="520700"/>
                  </a:lnTo>
                  <a:lnTo>
                    <a:pt x="320713" y="543560"/>
                  </a:lnTo>
                  <a:lnTo>
                    <a:pt x="315988" y="566420"/>
                  </a:lnTo>
                  <a:lnTo>
                    <a:pt x="303098" y="585470"/>
                  </a:lnTo>
                  <a:lnTo>
                    <a:pt x="283984" y="598170"/>
                  </a:lnTo>
                  <a:lnTo>
                    <a:pt x="260604" y="603250"/>
                  </a:lnTo>
                  <a:lnTo>
                    <a:pt x="237223" y="598170"/>
                  </a:lnTo>
                  <a:lnTo>
                    <a:pt x="229577" y="593090"/>
                  </a:lnTo>
                  <a:lnTo>
                    <a:pt x="218097" y="585470"/>
                  </a:lnTo>
                  <a:lnTo>
                    <a:pt x="205193" y="566420"/>
                  </a:lnTo>
                  <a:lnTo>
                    <a:pt x="200456" y="543560"/>
                  </a:lnTo>
                  <a:lnTo>
                    <a:pt x="200456" y="520700"/>
                  </a:lnTo>
                  <a:lnTo>
                    <a:pt x="320713" y="520700"/>
                  </a:lnTo>
                  <a:lnTo>
                    <a:pt x="320713" y="490220"/>
                  </a:lnTo>
                  <a:lnTo>
                    <a:pt x="209956" y="490220"/>
                  </a:lnTo>
                  <a:lnTo>
                    <a:pt x="270103" y="369570"/>
                  </a:lnTo>
                  <a:lnTo>
                    <a:pt x="370598" y="369570"/>
                  </a:lnTo>
                  <a:lnTo>
                    <a:pt x="370598" y="339090"/>
                  </a:lnTo>
                  <a:lnTo>
                    <a:pt x="235762" y="339090"/>
                  </a:lnTo>
                  <a:lnTo>
                    <a:pt x="235762" y="369570"/>
                  </a:lnTo>
                  <a:lnTo>
                    <a:pt x="175615" y="490220"/>
                  </a:lnTo>
                  <a:lnTo>
                    <a:pt x="169786" y="490220"/>
                  </a:lnTo>
                  <a:lnTo>
                    <a:pt x="169786" y="520700"/>
                  </a:lnTo>
                  <a:lnTo>
                    <a:pt x="169786" y="543560"/>
                  </a:lnTo>
                  <a:lnTo>
                    <a:pt x="165061" y="566420"/>
                  </a:lnTo>
                  <a:lnTo>
                    <a:pt x="152171" y="585470"/>
                  </a:lnTo>
                  <a:lnTo>
                    <a:pt x="133057" y="598170"/>
                  </a:lnTo>
                  <a:lnTo>
                    <a:pt x="109677" y="603250"/>
                  </a:lnTo>
                  <a:lnTo>
                    <a:pt x="86296" y="598170"/>
                  </a:lnTo>
                  <a:lnTo>
                    <a:pt x="67170" y="585470"/>
                  </a:lnTo>
                  <a:lnTo>
                    <a:pt x="54267" y="566420"/>
                  </a:lnTo>
                  <a:lnTo>
                    <a:pt x="49530" y="543560"/>
                  </a:lnTo>
                  <a:lnTo>
                    <a:pt x="49530" y="520700"/>
                  </a:lnTo>
                  <a:lnTo>
                    <a:pt x="169786" y="520700"/>
                  </a:lnTo>
                  <a:lnTo>
                    <a:pt x="169786" y="490220"/>
                  </a:lnTo>
                  <a:lnTo>
                    <a:pt x="61760" y="490220"/>
                  </a:lnTo>
                  <a:lnTo>
                    <a:pt x="136931" y="369570"/>
                  </a:lnTo>
                  <a:lnTo>
                    <a:pt x="235762" y="369570"/>
                  </a:lnTo>
                  <a:lnTo>
                    <a:pt x="235762" y="339090"/>
                  </a:lnTo>
                  <a:lnTo>
                    <a:pt x="123253" y="339090"/>
                  </a:lnTo>
                  <a:lnTo>
                    <a:pt x="118351" y="341630"/>
                  </a:lnTo>
                  <a:lnTo>
                    <a:pt x="115506" y="346710"/>
                  </a:lnTo>
                  <a:lnTo>
                    <a:pt x="19646" y="500380"/>
                  </a:lnTo>
                  <a:lnTo>
                    <a:pt x="18859" y="502920"/>
                  </a:lnTo>
                  <a:lnTo>
                    <a:pt x="18859" y="543560"/>
                  </a:lnTo>
                  <a:lnTo>
                    <a:pt x="24358" y="574040"/>
                  </a:lnTo>
                  <a:lnTo>
                    <a:pt x="39484" y="600710"/>
                  </a:lnTo>
                  <a:lnTo>
                    <a:pt x="62484" y="621030"/>
                  </a:lnTo>
                  <a:lnTo>
                    <a:pt x="91541" y="632460"/>
                  </a:lnTo>
                  <a:lnTo>
                    <a:pt x="94335" y="632460"/>
                  </a:lnTo>
                  <a:lnTo>
                    <a:pt x="94335" y="1018540"/>
                  </a:lnTo>
                  <a:lnTo>
                    <a:pt x="53060" y="1018540"/>
                  </a:lnTo>
                  <a:lnTo>
                    <a:pt x="32486" y="1022350"/>
                  </a:lnTo>
                  <a:lnTo>
                    <a:pt x="15633" y="1033780"/>
                  </a:lnTo>
                  <a:lnTo>
                    <a:pt x="4241" y="1051560"/>
                  </a:lnTo>
                  <a:lnTo>
                    <a:pt x="0" y="1071880"/>
                  </a:lnTo>
                  <a:lnTo>
                    <a:pt x="0" y="1117600"/>
                  </a:lnTo>
                  <a:lnTo>
                    <a:pt x="6870" y="1123950"/>
                  </a:lnTo>
                  <a:lnTo>
                    <a:pt x="1118044" y="1123950"/>
                  </a:lnTo>
                  <a:lnTo>
                    <a:pt x="1124915" y="1117600"/>
                  </a:lnTo>
                  <a:lnTo>
                    <a:pt x="1124915" y="1093470"/>
                  </a:lnTo>
                  <a:lnTo>
                    <a:pt x="1124915" y="1071880"/>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03" name="Google Shape;2503;p37"/>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10326871" y="5221831"/>
              <a:ext cx="291958" cy="147374"/>
            </a:xfrm>
            <a:prstGeom prst="rect">
              <a:avLst/>
            </a:prstGeom>
            <a:noFill/>
            <a:ln>
              <a:noFill/>
            </a:ln>
          </p:spPr>
        </p:pic>
        <p:pic>
          <p:nvPicPr>
            <p:cNvPr id="2504" name="Google Shape;2504;p37"/>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10647035" y="5225356"/>
              <a:ext cx="89331" cy="140322"/>
            </a:xfrm>
            <a:prstGeom prst="rect">
              <a:avLst/>
            </a:prstGeom>
            <a:noFill/>
            <a:ln>
              <a:noFill/>
            </a:ln>
          </p:spPr>
        </p:pic>
        <p:pic>
          <p:nvPicPr>
            <p:cNvPr id="2505" name="Google Shape;2505;p37"/>
            <p:cNvPicPr preferRelativeResize="0"/>
            <p:nvPr/>
          </p:nvPicPr>
          <p:blipFill rotWithShape="1">
            <a:blip r:embed="rId10" cstate="email">
              <a:alphaModFix/>
              <a:extLst>
                <a:ext uri="{28A0092B-C50C-407E-A947-70E740481C1C}">
                  <a14:useLocalDpi xmlns:a14="http://schemas.microsoft.com/office/drawing/2010/main"/>
                </a:ext>
              </a:extLst>
            </a:blip>
            <a:srcRect/>
            <a:stretch/>
          </p:blipFill>
          <p:spPr>
            <a:xfrm>
              <a:off x="10761864" y="5225360"/>
              <a:ext cx="73126" cy="140322"/>
            </a:xfrm>
            <a:prstGeom prst="rect">
              <a:avLst/>
            </a:prstGeom>
            <a:noFill/>
            <a:ln>
              <a:noFill/>
            </a:ln>
          </p:spPr>
        </p:pic>
        <p:sp>
          <p:nvSpPr>
            <p:cNvPr id="2506" name="Google Shape;2506;p37"/>
            <p:cNvSpPr/>
            <p:nvPr/>
          </p:nvSpPr>
          <p:spPr>
            <a:xfrm>
              <a:off x="9923818" y="1577479"/>
              <a:ext cx="1221740" cy="1220470"/>
            </a:xfrm>
            <a:custGeom>
              <a:avLst/>
              <a:gdLst/>
              <a:ahLst/>
              <a:cxnLst/>
              <a:rect l="l" t="t" r="r" b="b"/>
              <a:pathLst>
                <a:path w="1221740" h="1220470" extrusionOk="0">
                  <a:moveTo>
                    <a:pt x="689673" y="392849"/>
                  </a:moveTo>
                  <a:lnTo>
                    <a:pt x="685203" y="366763"/>
                  </a:lnTo>
                  <a:lnTo>
                    <a:pt x="672833" y="344411"/>
                  </a:lnTo>
                  <a:lnTo>
                    <a:pt x="654100" y="327279"/>
                  </a:lnTo>
                  <a:lnTo>
                    <a:pt x="630567" y="316826"/>
                  </a:lnTo>
                  <a:lnTo>
                    <a:pt x="630567" y="274624"/>
                  </a:lnTo>
                  <a:lnTo>
                    <a:pt x="591146" y="274624"/>
                  </a:lnTo>
                  <a:lnTo>
                    <a:pt x="591146" y="316826"/>
                  </a:lnTo>
                  <a:lnTo>
                    <a:pt x="567601" y="327279"/>
                  </a:lnTo>
                  <a:lnTo>
                    <a:pt x="548868" y="344411"/>
                  </a:lnTo>
                  <a:lnTo>
                    <a:pt x="536498" y="366763"/>
                  </a:lnTo>
                  <a:lnTo>
                    <a:pt x="532041" y="392849"/>
                  </a:lnTo>
                  <a:lnTo>
                    <a:pt x="538238" y="423506"/>
                  </a:lnTo>
                  <a:lnTo>
                    <a:pt x="555142" y="448564"/>
                  </a:lnTo>
                  <a:lnTo>
                    <a:pt x="580199" y="465467"/>
                  </a:lnTo>
                  <a:lnTo>
                    <a:pt x="626173" y="474776"/>
                  </a:lnTo>
                  <a:lnTo>
                    <a:pt x="638708" y="483222"/>
                  </a:lnTo>
                  <a:lnTo>
                    <a:pt x="647153" y="495757"/>
                  </a:lnTo>
                  <a:lnTo>
                    <a:pt x="650265" y="511086"/>
                  </a:lnTo>
                  <a:lnTo>
                    <a:pt x="647153" y="526415"/>
                  </a:lnTo>
                  <a:lnTo>
                    <a:pt x="638708" y="538937"/>
                  </a:lnTo>
                  <a:lnTo>
                    <a:pt x="626173" y="547395"/>
                  </a:lnTo>
                  <a:lnTo>
                    <a:pt x="610857" y="550494"/>
                  </a:lnTo>
                  <a:lnTo>
                    <a:pt x="595528" y="547395"/>
                  </a:lnTo>
                  <a:lnTo>
                    <a:pt x="582993" y="538937"/>
                  </a:lnTo>
                  <a:lnTo>
                    <a:pt x="574548" y="526415"/>
                  </a:lnTo>
                  <a:lnTo>
                    <a:pt x="571449" y="511086"/>
                  </a:lnTo>
                  <a:lnTo>
                    <a:pt x="532041" y="511086"/>
                  </a:lnTo>
                  <a:lnTo>
                    <a:pt x="536498" y="537171"/>
                  </a:lnTo>
                  <a:lnTo>
                    <a:pt x="548868" y="559523"/>
                  </a:lnTo>
                  <a:lnTo>
                    <a:pt x="567601" y="576656"/>
                  </a:lnTo>
                  <a:lnTo>
                    <a:pt x="591146" y="587095"/>
                  </a:lnTo>
                  <a:lnTo>
                    <a:pt x="591146" y="629310"/>
                  </a:lnTo>
                  <a:lnTo>
                    <a:pt x="630567" y="629310"/>
                  </a:lnTo>
                  <a:lnTo>
                    <a:pt x="630567" y="587095"/>
                  </a:lnTo>
                  <a:lnTo>
                    <a:pt x="654100" y="576656"/>
                  </a:lnTo>
                  <a:lnTo>
                    <a:pt x="672833" y="559523"/>
                  </a:lnTo>
                  <a:lnTo>
                    <a:pt x="685203" y="537171"/>
                  </a:lnTo>
                  <a:lnTo>
                    <a:pt x="689673" y="511086"/>
                  </a:lnTo>
                  <a:lnTo>
                    <a:pt x="683463" y="480428"/>
                  </a:lnTo>
                  <a:lnTo>
                    <a:pt x="666559" y="455371"/>
                  </a:lnTo>
                  <a:lnTo>
                    <a:pt x="641502" y="438467"/>
                  </a:lnTo>
                  <a:lnTo>
                    <a:pt x="595528" y="429158"/>
                  </a:lnTo>
                  <a:lnTo>
                    <a:pt x="582993" y="420712"/>
                  </a:lnTo>
                  <a:lnTo>
                    <a:pt x="574548" y="408178"/>
                  </a:lnTo>
                  <a:lnTo>
                    <a:pt x="571449" y="392849"/>
                  </a:lnTo>
                  <a:lnTo>
                    <a:pt x="574548" y="377532"/>
                  </a:lnTo>
                  <a:lnTo>
                    <a:pt x="582993" y="364998"/>
                  </a:lnTo>
                  <a:lnTo>
                    <a:pt x="595528" y="356552"/>
                  </a:lnTo>
                  <a:lnTo>
                    <a:pt x="610857" y="353441"/>
                  </a:lnTo>
                  <a:lnTo>
                    <a:pt x="626173" y="356552"/>
                  </a:lnTo>
                  <a:lnTo>
                    <a:pt x="638708" y="364998"/>
                  </a:lnTo>
                  <a:lnTo>
                    <a:pt x="647153" y="377532"/>
                  </a:lnTo>
                  <a:lnTo>
                    <a:pt x="650265" y="392849"/>
                  </a:lnTo>
                  <a:lnTo>
                    <a:pt x="689673" y="392849"/>
                  </a:lnTo>
                  <a:close/>
                </a:path>
                <a:path w="1221740" h="1220470" extrusionOk="0">
                  <a:moveTo>
                    <a:pt x="1024648" y="156387"/>
                  </a:moveTo>
                  <a:lnTo>
                    <a:pt x="394106" y="156387"/>
                  </a:lnTo>
                  <a:lnTo>
                    <a:pt x="394106" y="195795"/>
                  </a:lnTo>
                  <a:lnTo>
                    <a:pt x="1024648" y="195795"/>
                  </a:lnTo>
                  <a:lnTo>
                    <a:pt x="1024648" y="156387"/>
                  </a:lnTo>
                  <a:close/>
                </a:path>
                <a:path w="1221740" h="1220470" extrusionOk="0">
                  <a:moveTo>
                    <a:pt x="1024648" y="77571"/>
                  </a:moveTo>
                  <a:lnTo>
                    <a:pt x="394106" y="77571"/>
                  </a:lnTo>
                  <a:lnTo>
                    <a:pt x="394106" y="116979"/>
                  </a:lnTo>
                  <a:lnTo>
                    <a:pt x="1024648" y="116979"/>
                  </a:lnTo>
                  <a:lnTo>
                    <a:pt x="1024648" y="77571"/>
                  </a:lnTo>
                  <a:close/>
                </a:path>
                <a:path w="1221740" h="1220470" extrusionOk="0">
                  <a:moveTo>
                    <a:pt x="1221701" y="354330"/>
                  </a:moveTo>
                  <a:lnTo>
                    <a:pt x="1182293" y="354330"/>
                  </a:lnTo>
                  <a:lnTo>
                    <a:pt x="1182293" y="393700"/>
                  </a:lnTo>
                  <a:lnTo>
                    <a:pt x="1182293" y="472440"/>
                  </a:lnTo>
                  <a:lnTo>
                    <a:pt x="906424" y="472440"/>
                  </a:lnTo>
                  <a:lnTo>
                    <a:pt x="906424" y="514350"/>
                  </a:lnTo>
                  <a:lnTo>
                    <a:pt x="784313" y="433070"/>
                  </a:lnTo>
                  <a:lnTo>
                    <a:pt x="906424" y="351790"/>
                  </a:lnTo>
                  <a:lnTo>
                    <a:pt x="906424" y="393700"/>
                  </a:lnTo>
                  <a:lnTo>
                    <a:pt x="1182293" y="393700"/>
                  </a:lnTo>
                  <a:lnTo>
                    <a:pt x="1182293" y="354330"/>
                  </a:lnTo>
                  <a:lnTo>
                    <a:pt x="1103477" y="354330"/>
                  </a:lnTo>
                  <a:lnTo>
                    <a:pt x="1103477" y="39370"/>
                  </a:lnTo>
                  <a:lnTo>
                    <a:pt x="1103477" y="0"/>
                  </a:lnTo>
                  <a:lnTo>
                    <a:pt x="1064056" y="0"/>
                  </a:lnTo>
                  <a:lnTo>
                    <a:pt x="1064056" y="39370"/>
                  </a:lnTo>
                  <a:lnTo>
                    <a:pt x="1064056" y="354330"/>
                  </a:lnTo>
                  <a:lnTo>
                    <a:pt x="945832" y="354330"/>
                  </a:lnTo>
                  <a:lnTo>
                    <a:pt x="945832" y="351790"/>
                  </a:lnTo>
                  <a:lnTo>
                    <a:pt x="945832" y="278130"/>
                  </a:lnTo>
                  <a:lnTo>
                    <a:pt x="713257" y="433070"/>
                  </a:lnTo>
                  <a:lnTo>
                    <a:pt x="945832" y="588010"/>
                  </a:lnTo>
                  <a:lnTo>
                    <a:pt x="945832" y="514350"/>
                  </a:lnTo>
                  <a:lnTo>
                    <a:pt x="945832" y="511810"/>
                  </a:lnTo>
                  <a:lnTo>
                    <a:pt x="1064056" y="511810"/>
                  </a:lnTo>
                  <a:lnTo>
                    <a:pt x="1064056" y="584200"/>
                  </a:lnTo>
                  <a:lnTo>
                    <a:pt x="881595" y="636270"/>
                  </a:lnTo>
                  <a:lnTo>
                    <a:pt x="898664" y="690880"/>
                  </a:lnTo>
                  <a:lnTo>
                    <a:pt x="652983" y="707390"/>
                  </a:lnTo>
                  <a:lnTo>
                    <a:pt x="613054" y="716280"/>
                  </a:lnTo>
                  <a:lnTo>
                    <a:pt x="558304" y="742950"/>
                  </a:lnTo>
                  <a:lnTo>
                    <a:pt x="543953" y="736600"/>
                  </a:lnTo>
                  <a:lnTo>
                    <a:pt x="529056" y="731520"/>
                  </a:lnTo>
                  <a:lnTo>
                    <a:pt x="513753" y="728980"/>
                  </a:lnTo>
                  <a:lnTo>
                    <a:pt x="359333" y="728980"/>
                  </a:lnTo>
                  <a:lnTo>
                    <a:pt x="341795" y="720090"/>
                  </a:lnTo>
                  <a:lnTo>
                    <a:pt x="266649" y="681990"/>
                  </a:lnTo>
                  <a:lnTo>
                    <a:pt x="280568" y="637540"/>
                  </a:lnTo>
                  <a:lnTo>
                    <a:pt x="231749" y="619899"/>
                  </a:lnTo>
                  <a:lnTo>
                    <a:pt x="231749" y="661670"/>
                  </a:lnTo>
                  <a:lnTo>
                    <a:pt x="143154" y="944880"/>
                  </a:lnTo>
                  <a:lnTo>
                    <a:pt x="39408" y="944880"/>
                  </a:lnTo>
                  <a:lnTo>
                    <a:pt x="39408" y="591820"/>
                  </a:lnTo>
                  <a:lnTo>
                    <a:pt x="231749" y="661670"/>
                  </a:lnTo>
                  <a:lnTo>
                    <a:pt x="231749" y="619899"/>
                  </a:lnTo>
                  <a:lnTo>
                    <a:pt x="157632" y="593090"/>
                  </a:lnTo>
                  <a:lnTo>
                    <a:pt x="157632" y="591820"/>
                  </a:lnTo>
                  <a:lnTo>
                    <a:pt x="157632" y="579120"/>
                  </a:lnTo>
                  <a:lnTo>
                    <a:pt x="157632" y="511810"/>
                  </a:lnTo>
                  <a:lnTo>
                    <a:pt x="275869" y="511810"/>
                  </a:lnTo>
                  <a:lnTo>
                    <a:pt x="275869" y="588010"/>
                  </a:lnTo>
                  <a:lnTo>
                    <a:pt x="386435" y="514350"/>
                  </a:lnTo>
                  <a:lnTo>
                    <a:pt x="508444" y="433070"/>
                  </a:lnTo>
                  <a:lnTo>
                    <a:pt x="437388" y="385737"/>
                  </a:lnTo>
                  <a:lnTo>
                    <a:pt x="437388" y="433070"/>
                  </a:lnTo>
                  <a:lnTo>
                    <a:pt x="315277" y="514350"/>
                  </a:lnTo>
                  <a:lnTo>
                    <a:pt x="315277" y="472440"/>
                  </a:lnTo>
                  <a:lnTo>
                    <a:pt x="39408" y="472440"/>
                  </a:lnTo>
                  <a:lnTo>
                    <a:pt x="39408" y="393700"/>
                  </a:lnTo>
                  <a:lnTo>
                    <a:pt x="315277" y="393700"/>
                  </a:lnTo>
                  <a:lnTo>
                    <a:pt x="315277" y="351790"/>
                  </a:lnTo>
                  <a:lnTo>
                    <a:pt x="437388" y="433070"/>
                  </a:lnTo>
                  <a:lnTo>
                    <a:pt x="437388" y="385737"/>
                  </a:lnTo>
                  <a:lnTo>
                    <a:pt x="386435" y="351790"/>
                  </a:lnTo>
                  <a:lnTo>
                    <a:pt x="275869" y="278130"/>
                  </a:lnTo>
                  <a:lnTo>
                    <a:pt x="275869" y="354330"/>
                  </a:lnTo>
                  <a:lnTo>
                    <a:pt x="157632" y="354330"/>
                  </a:lnTo>
                  <a:lnTo>
                    <a:pt x="157632" y="236220"/>
                  </a:lnTo>
                  <a:lnTo>
                    <a:pt x="354685" y="236220"/>
                  </a:lnTo>
                  <a:lnTo>
                    <a:pt x="354685" y="196850"/>
                  </a:lnTo>
                  <a:lnTo>
                    <a:pt x="354685" y="48260"/>
                  </a:lnTo>
                  <a:lnTo>
                    <a:pt x="354685" y="39370"/>
                  </a:lnTo>
                  <a:lnTo>
                    <a:pt x="1064056" y="39370"/>
                  </a:lnTo>
                  <a:lnTo>
                    <a:pt x="1064056" y="0"/>
                  </a:lnTo>
                  <a:lnTo>
                    <a:pt x="315277" y="0"/>
                  </a:lnTo>
                  <a:lnTo>
                    <a:pt x="315277" y="48260"/>
                  </a:lnTo>
                  <a:lnTo>
                    <a:pt x="315277" y="196850"/>
                  </a:lnTo>
                  <a:lnTo>
                    <a:pt x="182168" y="196850"/>
                  </a:lnTo>
                  <a:lnTo>
                    <a:pt x="315277" y="48260"/>
                  </a:lnTo>
                  <a:lnTo>
                    <a:pt x="315277" y="0"/>
                  </a:lnTo>
                  <a:lnTo>
                    <a:pt x="306514" y="0"/>
                  </a:lnTo>
                  <a:lnTo>
                    <a:pt x="118224" y="208280"/>
                  </a:lnTo>
                  <a:lnTo>
                    <a:pt x="118224" y="354330"/>
                  </a:lnTo>
                  <a:lnTo>
                    <a:pt x="0" y="354330"/>
                  </a:lnTo>
                  <a:lnTo>
                    <a:pt x="0" y="511810"/>
                  </a:lnTo>
                  <a:lnTo>
                    <a:pt x="118224" y="511810"/>
                  </a:lnTo>
                  <a:lnTo>
                    <a:pt x="118224" y="579120"/>
                  </a:lnTo>
                  <a:lnTo>
                    <a:pt x="42875" y="551180"/>
                  </a:lnTo>
                  <a:lnTo>
                    <a:pt x="0" y="551180"/>
                  </a:lnTo>
                  <a:lnTo>
                    <a:pt x="0" y="984250"/>
                  </a:lnTo>
                  <a:lnTo>
                    <a:pt x="172123" y="984250"/>
                  </a:lnTo>
                  <a:lnTo>
                    <a:pt x="182448" y="951230"/>
                  </a:lnTo>
                  <a:lnTo>
                    <a:pt x="265722" y="1002030"/>
                  </a:lnTo>
                  <a:lnTo>
                    <a:pt x="320929" y="1016000"/>
                  </a:lnTo>
                  <a:lnTo>
                    <a:pt x="318528" y="1022350"/>
                  </a:lnTo>
                  <a:lnTo>
                    <a:pt x="316750" y="1028700"/>
                  </a:lnTo>
                  <a:lnTo>
                    <a:pt x="315658" y="1035050"/>
                  </a:lnTo>
                  <a:lnTo>
                    <a:pt x="315277" y="1041400"/>
                  </a:lnTo>
                  <a:lnTo>
                    <a:pt x="319925" y="1064260"/>
                  </a:lnTo>
                  <a:lnTo>
                    <a:pt x="332613" y="1084580"/>
                  </a:lnTo>
                  <a:lnTo>
                    <a:pt x="351459" y="1097280"/>
                  </a:lnTo>
                  <a:lnTo>
                    <a:pt x="374611" y="1102360"/>
                  </a:lnTo>
                  <a:lnTo>
                    <a:pt x="380009" y="1125220"/>
                  </a:lnTo>
                  <a:lnTo>
                    <a:pt x="393255" y="1144270"/>
                  </a:lnTo>
                  <a:lnTo>
                    <a:pt x="412483" y="1156970"/>
                  </a:lnTo>
                  <a:lnTo>
                    <a:pt x="435889" y="1162050"/>
                  </a:lnTo>
                  <a:lnTo>
                    <a:pt x="442912" y="1162050"/>
                  </a:lnTo>
                  <a:lnTo>
                    <a:pt x="449770" y="1160780"/>
                  </a:lnTo>
                  <a:lnTo>
                    <a:pt x="456311" y="1158240"/>
                  </a:lnTo>
                  <a:lnTo>
                    <a:pt x="464883" y="1176020"/>
                  </a:lnTo>
                  <a:lnTo>
                    <a:pt x="478155" y="1188720"/>
                  </a:lnTo>
                  <a:lnTo>
                    <a:pt x="495096" y="1197610"/>
                  </a:lnTo>
                  <a:lnTo>
                    <a:pt x="514718" y="1201420"/>
                  </a:lnTo>
                  <a:lnTo>
                    <a:pt x="524459" y="1200150"/>
                  </a:lnTo>
                  <a:lnTo>
                    <a:pt x="533882" y="1197610"/>
                  </a:lnTo>
                  <a:lnTo>
                    <a:pt x="542823" y="1193800"/>
                  </a:lnTo>
                  <a:lnTo>
                    <a:pt x="551078" y="1188720"/>
                  </a:lnTo>
                  <a:lnTo>
                    <a:pt x="565670" y="1203960"/>
                  </a:lnTo>
                  <a:lnTo>
                    <a:pt x="574687" y="1211580"/>
                  </a:lnTo>
                  <a:lnTo>
                    <a:pt x="584835" y="1216660"/>
                  </a:lnTo>
                  <a:lnTo>
                    <a:pt x="595845" y="1220470"/>
                  </a:lnTo>
                  <a:lnTo>
                    <a:pt x="610857" y="1220470"/>
                  </a:lnTo>
                  <a:lnTo>
                    <a:pt x="657656" y="1197610"/>
                  </a:lnTo>
                  <a:lnTo>
                    <a:pt x="666203" y="1182370"/>
                  </a:lnTo>
                  <a:lnTo>
                    <a:pt x="675322" y="1189990"/>
                  </a:lnTo>
                  <a:lnTo>
                    <a:pt x="685761" y="1196340"/>
                  </a:lnTo>
                  <a:lnTo>
                    <a:pt x="697230" y="1200150"/>
                  </a:lnTo>
                  <a:lnTo>
                    <a:pt x="709371" y="1201420"/>
                  </a:lnTo>
                  <a:lnTo>
                    <a:pt x="728865" y="1197610"/>
                  </a:lnTo>
                  <a:lnTo>
                    <a:pt x="745578" y="1188720"/>
                  </a:lnTo>
                  <a:lnTo>
                    <a:pt x="751408" y="1182370"/>
                  </a:lnTo>
                  <a:lnTo>
                    <a:pt x="752576" y="1181100"/>
                  </a:lnTo>
                  <a:lnTo>
                    <a:pt x="758418" y="1174750"/>
                  </a:lnTo>
                  <a:lnTo>
                    <a:pt x="764057" y="1162050"/>
                  </a:lnTo>
                  <a:lnTo>
                    <a:pt x="766305" y="1156970"/>
                  </a:lnTo>
                  <a:lnTo>
                    <a:pt x="773226" y="1160780"/>
                  </a:lnTo>
                  <a:lnTo>
                    <a:pt x="780567" y="1162050"/>
                  </a:lnTo>
                  <a:lnTo>
                    <a:pt x="788200" y="1162050"/>
                  </a:lnTo>
                  <a:lnTo>
                    <a:pt x="807681" y="1158240"/>
                  </a:lnTo>
                  <a:lnTo>
                    <a:pt x="810069" y="1156970"/>
                  </a:lnTo>
                  <a:lnTo>
                    <a:pt x="824395" y="1149350"/>
                  </a:lnTo>
                  <a:lnTo>
                    <a:pt x="837234" y="1135380"/>
                  </a:lnTo>
                  <a:lnTo>
                    <a:pt x="842873" y="1122680"/>
                  </a:lnTo>
                  <a:lnTo>
                    <a:pt x="845121" y="1117600"/>
                  </a:lnTo>
                  <a:lnTo>
                    <a:pt x="852043" y="1120140"/>
                  </a:lnTo>
                  <a:lnTo>
                    <a:pt x="859383" y="1122680"/>
                  </a:lnTo>
                  <a:lnTo>
                    <a:pt x="867016" y="1122680"/>
                  </a:lnTo>
                  <a:lnTo>
                    <a:pt x="890003" y="1117600"/>
                  </a:lnTo>
                  <a:lnTo>
                    <a:pt x="908799" y="1104900"/>
                  </a:lnTo>
                  <a:lnTo>
                    <a:pt x="921486" y="1085850"/>
                  </a:lnTo>
                  <a:lnTo>
                    <a:pt x="921994" y="1083310"/>
                  </a:lnTo>
                  <a:lnTo>
                    <a:pt x="926134" y="1062990"/>
                  </a:lnTo>
                  <a:lnTo>
                    <a:pt x="926134" y="1056640"/>
                  </a:lnTo>
                  <a:lnTo>
                    <a:pt x="925360" y="1047750"/>
                  </a:lnTo>
                  <a:lnTo>
                    <a:pt x="923074" y="1037590"/>
                  </a:lnTo>
                  <a:lnTo>
                    <a:pt x="919365" y="1029970"/>
                  </a:lnTo>
                  <a:lnTo>
                    <a:pt x="914285" y="1021080"/>
                  </a:lnTo>
                  <a:lnTo>
                    <a:pt x="907757" y="1012190"/>
                  </a:lnTo>
                  <a:lnTo>
                    <a:pt x="942746" y="984250"/>
                  </a:lnTo>
                  <a:lnTo>
                    <a:pt x="945934" y="981710"/>
                  </a:lnTo>
                  <a:lnTo>
                    <a:pt x="980922" y="953770"/>
                  </a:lnTo>
                  <a:lnTo>
                    <a:pt x="990473" y="984250"/>
                  </a:lnTo>
                  <a:lnTo>
                    <a:pt x="1221701" y="984250"/>
                  </a:lnTo>
                  <a:lnTo>
                    <a:pt x="1221701" y="953770"/>
                  </a:lnTo>
                  <a:lnTo>
                    <a:pt x="1221701" y="944880"/>
                  </a:lnTo>
                  <a:lnTo>
                    <a:pt x="1221701" y="591820"/>
                  </a:lnTo>
                  <a:lnTo>
                    <a:pt x="1221701" y="574040"/>
                  </a:lnTo>
                  <a:lnTo>
                    <a:pt x="1221701" y="551180"/>
                  </a:lnTo>
                  <a:lnTo>
                    <a:pt x="1182293" y="551180"/>
                  </a:lnTo>
                  <a:lnTo>
                    <a:pt x="1182293" y="591820"/>
                  </a:lnTo>
                  <a:lnTo>
                    <a:pt x="1182293" y="944880"/>
                  </a:lnTo>
                  <a:lnTo>
                    <a:pt x="1019429" y="944880"/>
                  </a:lnTo>
                  <a:lnTo>
                    <a:pt x="968324" y="781494"/>
                  </a:lnTo>
                  <a:lnTo>
                    <a:pt x="968324" y="914400"/>
                  </a:lnTo>
                  <a:lnTo>
                    <a:pt x="886714" y="979639"/>
                  </a:lnTo>
                  <a:lnTo>
                    <a:pt x="886714" y="1052830"/>
                  </a:lnTo>
                  <a:lnTo>
                    <a:pt x="886714" y="1062990"/>
                  </a:lnTo>
                  <a:lnTo>
                    <a:pt x="885164" y="1070610"/>
                  </a:lnTo>
                  <a:lnTo>
                    <a:pt x="880948" y="1076960"/>
                  </a:lnTo>
                  <a:lnTo>
                    <a:pt x="874687" y="1082040"/>
                  </a:lnTo>
                  <a:lnTo>
                    <a:pt x="867016" y="1083310"/>
                  </a:lnTo>
                  <a:lnTo>
                    <a:pt x="860844" y="1083310"/>
                  </a:lnTo>
                  <a:lnTo>
                    <a:pt x="854964" y="1080770"/>
                  </a:lnTo>
                  <a:lnTo>
                    <a:pt x="812152" y="1023620"/>
                  </a:lnTo>
                  <a:lnTo>
                    <a:pt x="809294" y="1019810"/>
                  </a:lnTo>
                  <a:lnTo>
                    <a:pt x="807897" y="1014730"/>
                  </a:lnTo>
                  <a:lnTo>
                    <a:pt x="807897" y="1092200"/>
                  </a:lnTo>
                  <a:lnTo>
                    <a:pt x="807897" y="1102360"/>
                  </a:lnTo>
                  <a:lnTo>
                    <a:pt x="806348" y="1109980"/>
                  </a:lnTo>
                  <a:lnTo>
                    <a:pt x="802132" y="1116330"/>
                  </a:lnTo>
                  <a:lnTo>
                    <a:pt x="795870" y="1121410"/>
                  </a:lnTo>
                  <a:lnTo>
                    <a:pt x="788200" y="1122680"/>
                  </a:lnTo>
                  <a:lnTo>
                    <a:pt x="782027" y="1122680"/>
                  </a:lnTo>
                  <a:lnTo>
                    <a:pt x="776135" y="1120140"/>
                  </a:lnTo>
                  <a:lnTo>
                    <a:pt x="772439" y="1115060"/>
                  </a:lnTo>
                  <a:lnTo>
                    <a:pt x="733336" y="1062990"/>
                  </a:lnTo>
                  <a:lnTo>
                    <a:pt x="730478" y="1059180"/>
                  </a:lnTo>
                  <a:lnTo>
                    <a:pt x="729081" y="1054100"/>
                  </a:lnTo>
                  <a:lnTo>
                    <a:pt x="729081" y="1131570"/>
                  </a:lnTo>
                  <a:lnTo>
                    <a:pt x="729081" y="1141730"/>
                  </a:lnTo>
                  <a:lnTo>
                    <a:pt x="727532" y="1149350"/>
                  </a:lnTo>
                  <a:lnTo>
                    <a:pt x="723303" y="1155700"/>
                  </a:lnTo>
                  <a:lnTo>
                    <a:pt x="717042" y="1160780"/>
                  </a:lnTo>
                  <a:lnTo>
                    <a:pt x="709371" y="1162050"/>
                  </a:lnTo>
                  <a:lnTo>
                    <a:pt x="703211" y="1162050"/>
                  </a:lnTo>
                  <a:lnTo>
                    <a:pt x="697318" y="1159510"/>
                  </a:lnTo>
                  <a:lnTo>
                    <a:pt x="670140" y="1122680"/>
                  </a:lnTo>
                  <a:lnTo>
                    <a:pt x="654202" y="1101090"/>
                  </a:lnTo>
                  <a:lnTo>
                    <a:pt x="651649" y="1098550"/>
                  </a:lnTo>
                  <a:lnTo>
                    <a:pt x="650265" y="1093470"/>
                  </a:lnTo>
                  <a:lnTo>
                    <a:pt x="650265" y="1085850"/>
                  </a:lnTo>
                  <a:lnTo>
                    <a:pt x="650265" y="1083310"/>
                  </a:lnTo>
                  <a:lnTo>
                    <a:pt x="651814" y="1075690"/>
                  </a:lnTo>
                  <a:lnTo>
                    <a:pt x="656043" y="1069340"/>
                  </a:lnTo>
                  <a:lnTo>
                    <a:pt x="662305" y="1065530"/>
                  </a:lnTo>
                  <a:lnTo>
                    <a:pt x="669963" y="1062990"/>
                  </a:lnTo>
                  <a:lnTo>
                    <a:pt x="676135" y="1062990"/>
                  </a:lnTo>
                  <a:lnTo>
                    <a:pt x="682015" y="1066800"/>
                  </a:lnTo>
                  <a:lnTo>
                    <a:pt x="727684" y="1127760"/>
                  </a:lnTo>
                  <a:lnTo>
                    <a:pt x="729081" y="1131570"/>
                  </a:lnTo>
                  <a:lnTo>
                    <a:pt x="729081" y="1054100"/>
                  </a:lnTo>
                  <a:lnTo>
                    <a:pt x="729081" y="1043940"/>
                  </a:lnTo>
                  <a:lnTo>
                    <a:pt x="730631" y="1036320"/>
                  </a:lnTo>
                  <a:lnTo>
                    <a:pt x="734860" y="1029970"/>
                  </a:lnTo>
                  <a:lnTo>
                    <a:pt x="736942" y="1028700"/>
                  </a:lnTo>
                  <a:lnTo>
                    <a:pt x="741121" y="1026160"/>
                  </a:lnTo>
                  <a:lnTo>
                    <a:pt x="748779" y="1023620"/>
                  </a:lnTo>
                  <a:lnTo>
                    <a:pt x="754951" y="1023620"/>
                  </a:lnTo>
                  <a:lnTo>
                    <a:pt x="760844" y="1027430"/>
                  </a:lnTo>
                  <a:lnTo>
                    <a:pt x="806500" y="1088390"/>
                  </a:lnTo>
                  <a:lnTo>
                    <a:pt x="807897" y="1092200"/>
                  </a:lnTo>
                  <a:lnTo>
                    <a:pt x="807897" y="1014730"/>
                  </a:lnTo>
                  <a:lnTo>
                    <a:pt x="807897" y="1004570"/>
                  </a:lnTo>
                  <a:lnTo>
                    <a:pt x="809447" y="996950"/>
                  </a:lnTo>
                  <a:lnTo>
                    <a:pt x="813676" y="990600"/>
                  </a:lnTo>
                  <a:lnTo>
                    <a:pt x="815771" y="989330"/>
                  </a:lnTo>
                  <a:lnTo>
                    <a:pt x="819937" y="986790"/>
                  </a:lnTo>
                  <a:lnTo>
                    <a:pt x="827608" y="984250"/>
                  </a:lnTo>
                  <a:lnTo>
                    <a:pt x="833767" y="984250"/>
                  </a:lnTo>
                  <a:lnTo>
                    <a:pt x="839660" y="988060"/>
                  </a:lnTo>
                  <a:lnTo>
                    <a:pt x="885329" y="1049020"/>
                  </a:lnTo>
                  <a:lnTo>
                    <a:pt x="886714" y="1052830"/>
                  </a:lnTo>
                  <a:lnTo>
                    <a:pt x="886714" y="979639"/>
                  </a:lnTo>
                  <a:lnTo>
                    <a:pt x="884123" y="981710"/>
                  </a:lnTo>
                  <a:lnTo>
                    <a:pt x="874890" y="969010"/>
                  </a:lnTo>
                  <a:lnTo>
                    <a:pt x="865428" y="958850"/>
                  </a:lnTo>
                  <a:lnTo>
                    <a:pt x="854036" y="951230"/>
                  </a:lnTo>
                  <a:lnTo>
                    <a:pt x="841248" y="947420"/>
                  </a:lnTo>
                  <a:lnTo>
                    <a:pt x="827608" y="944880"/>
                  </a:lnTo>
                  <a:lnTo>
                    <a:pt x="808113" y="948690"/>
                  </a:lnTo>
                  <a:lnTo>
                    <a:pt x="791413" y="957580"/>
                  </a:lnTo>
                  <a:lnTo>
                    <a:pt x="778560" y="971550"/>
                  </a:lnTo>
                  <a:lnTo>
                    <a:pt x="770674" y="989330"/>
                  </a:lnTo>
                  <a:lnTo>
                    <a:pt x="763752" y="986790"/>
                  </a:lnTo>
                  <a:lnTo>
                    <a:pt x="756412" y="984250"/>
                  </a:lnTo>
                  <a:lnTo>
                    <a:pt x="748779" y="984250"/>
                  </a:lnTo>
                  <a:lnTo>
                    <a:pt x="729297" y="988060"/>
                  </a:lnTo>
                  <a:lnTo>
                    <a:pt x="712584" y="996950"/>
                  </a:lnTo>
                  <a:lnTo>
                    <a:pt x="699744" y="1010920"/>
                  </a:lnTo>
                  <a:lnTo>
                    <a:pt x="691857" y="1028700"/>
                  </a:lnTo>
                  <a:lnTo>
                    <a:pt x="684936" y="1026160"/>
                  </a:lnTo>
                  <a:lnTo>
                    <a:pt x="677595" y="1023620"/>
                  </a:lnTo>
                  <a:lnTo>
                    <a:pt x="669963" y="1023620"/>
                  </a:lnTo>
                  <a:lnTo>
                    <a:pt x="646976" y="1028700"/>
                  </a:lnTo>
                  <a:lnTo>
                    <a:pt x="630555" y="1039812"/>
                  </a:lnTo>
                  <a:lnTo>
                    <a:pt x="630555" y="1153160"/>
                  </a:lnTo>
                  <a:lnTo>
                    <a:pt x="630555" y="1162050"/>
                  </a:lnTo>
                  <a:lnTo>
                    <a:pt x="629005" y="1169670"/>
                  </a:lnTo>
                  <a:lnTo>
                    <a:pt x="624789" y="1176020"/>
                  </a:lnTo>
                  <a:lnTo>
                    <a:pt x="618528" y="1179830"/>
                  </a:lnTo>
                  <a:lnTo>
                    <a:pt x="610857" y="1181100"/>
                  </a:lnTo>
                  <a:lnTo>
                    <a:pt x="602272" y="1181100"/>
                  </a:lnTo>
                  <a:lnTo>
                    <a:pt x="597192" y="1179830"/>
                  </a:lnTo>
                  <a:lnTo>
                    <a:pt x="579729" y="1162050"/>
                  </a:lnTo>
                  <a:lnTo>
                    <a:pt x="573493" y="1155700"/>
                  </a:lnTo>
                  <a:lnTo>
                    <a:pt x="571436" y="1150620"/>
                  </a:lnTo>
                  <a:lnTo>
                    <a:pt x="571436" y="1141730"/>
                  </a:lnTo>
                  <a:lnTo>
                    <a:pt x="572985" y="1134110"/>
                  </a:lnTo>
                  <a:lnTo>
                    <a:pt x="577215" y="1127760"/>
                  </a:lnTo>
                  <a:lnTo>
                    <a:pt x="583476" y="1123950"/>
                  </a:lnTo>
                  <a:lnTo>
                    <a:pt x="591146" y="1122680"/>
                  </a:lnTo>
                  <a:lnTo>
                    <a:pt x="599719" y="1122680"/>
                  </a:lnTo>
                  <a:lnTo>
                    <a:pt x="604799" y="1125220"/>
                  </a:lnTo>
                  <a:lnTo>
                    <a:pt x="628510" y="1148080"/>
                  </a:lnTo>
                  <a:lnTo>
                    <a:pt x="630555" y="1153160"/>
                  </a:lnTo>
                  <a:lnTo>
                    <a:pt x="630555" y="1039812"/>
                  </a:lnTo>
                  <a:lnTo>
                    <a:pt x="628192" y="1041400"/>
                  </a:lnTo>
                  <a:lnTo>
                    <a:pt x="615505" y="1060450"/>
                  </a:lnTo>
                  <a:lnTo>
                    <a:pt x="610857" y="1083310"/>
                  </a:lnTo>
                  <a:lnTo>
                    <a:pt x="610857" y="1085850"/>
                  </a:lnTo>
                  <a:lnTo>
                    <a:pt x="600176" y="1083310"/>
                  </a:lnTo>
                  <a:lnTo>
                    <a:pt x="591146" y="1083310"/>
                  </a:lnTo>
                  <a:lnTo>
                    <a:pt x="568159" y="1088390"/>
                  </a:lnTo>
                  <a:lnTo>
                    <a:pt x="549363" y="1101090"/>
                  </a:lnTo>
                  <a:lnTo>
                    <a:pt x="536689" y="1118870"/>
                  </a:lnTo>
                  <a:lnTo>
                    <a:pt x="532028" y="1141730"/>
                  </a:lnTo>
                  <a:lnTo>
                    <a:pt x="532028" y="1148080"/>
                  </a:lnTo>
                  <a:lnTo>
                    <a:pt x="532447" y="1150620"/>
                  </a:lnTo>
                  <a:lnTo>
                    <a:pt x="532765" y="1153160"/>
                  </a:lnTo>
                  <a:lnTo>
                    <a:pt x="526224" y="1159510"/>
                  </a:lnTo>
                  <a:lnTo>
                    <a:pt x="520522" y="1162050"/>
                  </a:lnTo>
                  <a:lnTo>
                    <a:pt x="514718" y="1162050"/>
                  </a:lnTo>
                  <a:lnTo>
                    <a:pt x="506120" y="1160780"/>
                  </a:lnTo>
                  <a:lnTo>
                    <a:pt x="502615" y="1158240"/>
                  </a:lnTo>
                  <a:lnTo>
                    <a:pt x="499097" y="1155700"/>
                  </a:lnTo>
                  <a:lnTo>
                    <a:pt x="494360" y="1148080"/>
                  </a:lnTo>
                  <a:lnTo>
                    <a:pt x="492620" y="1140460"/>
                  </a:lnTo>
                  <a:lnTo>
                    <a:pt x="492620" y="1134110"/>
                  </a:lnTo>
                  <a:lnTo>
                    <a:pt x="494906" y="1129030"/>
                  </a:lnTo>
                  <a:lnTo>
                    <a:pt x="501192" y="1122680"/>
                  </a:lnTo>
                  <a:lnTo>
                    <a:pt x="585368" y="1037590"/>
                  </a:lnTo>
                  <a:lnTo>
                    <a:pt x="557504" y="1009650"/>
                  </a:lnTo>
                  <a:lnTo>
                    <a:pt x="451523" y="1116330"/>
                  </a:lnTo>
                  <a:lnTo>
                    <a:pt x="447395" y="1120140"/>
                  </a:lnTo>
                  <a:lnTo>
                    <a:pt x="441706" y="1122680"/>
                  </a:lnTo>
                  <a:lnTo>
                    <a:pt x="435889" y="1122680"/>
                  </a:lnTo>
                  <a:lnTo>
                    <a:pt x="427304" y="1121410"/>
                  </a:lnTo>
                  <a:lnTo>
                    <a:pt x="420281" y="1116330"/>
                  </a:lnTo>
                  <a:lnTo>
                    <a:pt x="415544" y="1108710"/>
                  </a:lnTo>
                  <a:lnTo>
                    <a:pt x="413804" y="1101090"/>
                  </a:lnTo>
                  <a:lnTo>
                    <a:pt x="413804" y="1094740"/>
                  </a:lnTo>
                  <a:lnTo>
                    <a:pt x="416090" y="1089660"/>
                  </a:lnTo>
                  <a:lnTo>
                    <a:pt x="442683" y="1062990"/>
                  </a:lnTo>
                  <a:lnTo>
                    <a:pt x="526262" y="979170"/>
                  </a:lnTo>
                  <a:lnTo>
                    <a:pt x="498398" y="951230"/>
                  </a:lnTo>
                  <a:lnTo>
                    <a:pt x="388289" y="1061720"/>
                  </a:lnTo>
                  <a:lnTo>
                    <a:pt x="382587" y="1062990"/>
                  </a:lnTo>
                  <a:lnTo>
                    <a:pt x="376783" y="1062990"/>
                  </a:lnTo>
                  <a:lnTo>
                    <a:pt x="368185" y="1061720"/>
                  </a:lnTo>
                  <a:lnTo>
                    <a:pt x="361162" y="1056640"/>
                  </a:lnTo>
                  <a:lnTo>
                    <a:pt x="356425" y="1050290"/>
                  </a:lnTo>
                  <a:lnTo>
                    <a:pt x="354685" y="1041400"/>
                  </a:lnTo>
                  <a:lnTo>
                    <a:pt x="354685" y="1035050"/>
                  </a:lnTo>
                  <a:lnTo>
                    <a:pt x="356971" y="1029970"/>
                  </a:lnTo>
                  <a:lnTo>
                    <a:pt x="403796" y="982980"/>
                  </a:lnTo>
                  <a:lnTo>
                    <a:pt x="489839" y="896620"/>
                  </a:lnTo>
                  <a:lnTo>
                    <a:pt x="499935" y="890270"/>
                  </a:lnTo>
                  <a:lnTo>
                    <a:pt x="511695" y="886460"/>
                  </a:lnTo>
                  <a:lnTo>
                    <a:pt x="523913" y="886460"/>
                  </a:lnTo>
                  <a:lnTo>
                    <a:pt x="535419" y="891540"/>
                  </a:lnTo>
                  <a:lnTo>
                    <a:pt x="609409" y="935990"/>
                  </a:lnTo>
                  <a:lnTo>
                    <a:pt x="617372" y="939800"/>
                  </a:lnTo>
                  <a:lnTo>
                    <a:pt x="625754" y="942340"/>
                  </a:lnTo>
                  <a:lnTo>
                    <a:pt x="634466" y="944880"/>
                  </a:lnTo>
                  <a:lnTo>
                    <a:pt x="643356" y="944880"/>
                  </a:lnTo>
                  <a:lnTo>
                    <a:pt x="669023" y="939800"/>
                  </a:lnTo>
                  <a:lnTo>
                    <a:pt x="690016" y="925830"/>
                  </a:lnTo>
                  <a:lnTo>
                    <a:pt x="704176" y="905510"/>
                  </a:lnTo>
                  <a:lnTo>
                    <a:pt x="709371" y="878840"/>
                  </a:lnTo>
                  <a:lnTo>
                    <a:pt x="709371" y="872490"/>
                  </a:lnTo>
                  <a:lnTo>
                    <a:pt x="691400" y="826770"/>
                  </a:lnTo>
                  <a:lnTo>
                    <a:pt x="669963" y="811403"/>
                  </a:lnTo>
                  <a:lnTo>
                    <a:pt x="669963" y="872490"/>
                  </a:lnTo>
                  <a:lnTo>
                    <a:pt x="669963" y="878840"/>
                  </a:lnTo>
                  <a:lnTo>
                    <a:pt x="667867" y="889000"/>
                  </a:lnTo>
                  <a:lnTo>
                    <a:pt x="662165" y="897890"/>
                  </a:lnTo>
                  <a:lnTo>
                    <a:pt x="653719" y="904240"/>
                  </a:lnTo>
                  <a:lnTo>
                    <a:pt x="643356" y="905510"/>
                  </a:lnTo>
                  <a:lnTo>
                    <a:pt x="638556" y="905510"/>
                  </a:lnTo>
                  <a:lnTo>
                    <a:pt x="633844" y="904240"/>
                  </a:lnTo>
                  <a:lnTo>
                    <a:pt x="604278" y="886460"/>
                  </a:lnTo>
                  <a:lnTo>
                    <a:pt x="555701" y="857250"/>
                  </a:lnTo>
                  <a:lnTo>
                    <a:pt x="532028" y="848360"/>
                  </a:lnTo>
                  <a:lnTo>
                    <a:pt x="506895" y="847090"/>
                  </a:lnTo>
                  <a:lnTo>
                    <a:pt x="482739" y="854710"/>
                  </a:lnTo>
                  <a:lnTo>
                    <a:pt x="461975" y="868680"/>
                  </a:lnTo>
                  <a:lnTo>
                    <a:pt x="348640" y="982980"/>
                  </a:lnTo>
                  <a:lnTo>
                    <a:pt x="283502" y="966470"/>
                  </a:lnTo>
                  <a:lnTo>
                    <a:pt x="258089" y="951230"/>
                  </a:lnTo>
                  <a:lnTo>
                    <a:pt x="247510" y="944880"/>
                  </a:lnTo>
                  <a:lnTo>
                    <a:pt x="194564" y="913130"/>
                  </a:lnTo>
                  <a:lnTo>
                    <a:pt x="254762" y="720090"/>
                  </a:lnTo>
                  <a:lnTo>
                    <a:pt x="350037" y="768350"/>
                  </a:lnTo>
                  <a:lnTo>
                    <a:pt x="511886" y="768350"/>
                  </a:lnTo>
                  <a:lnTo>
                    <a:pt x="550341" y="782320"/>
                  </a:lnTo>
                  <a:lnTo>
                    <a:pt x="657491" y="849630"/>
                  </a:lnTo>
                  <a:lnTo>
                    <a:pt x="669963" y="872490"/>
                  </a:lnTo>
                  <a:lnTo>
                    <a:pt x="669963" y="811403"/>
                  </a:lnTo>
                  <a:lnTo>
                    <a:pt x="598538" y="767080"/>
                  </a:lnTo>
                  <a:lnTo>
                    <a:pt x="618083" y="756920"/>
                  </a:lnTo>
                  <a:lnTo>
                    <a:pt x="627075" y="753110"/>
                  </a:lnTo>
                  <a:lnTo>
                    <a:pt x="636333" y="749300"/>
                  </a:lnTo>
                  <a:lnTo>
                    <a:pt x="655586" y="746760"/>
                  </a:lnTo>
                  <a:lnTo>
                    <a:pt x="710260" y="742950"/>
                  </a:lnTo>
                  <a:lnTo>
                    <a:pt x="910742" y="728980"/>
                  </a:lnTo>
                  <a:lnTo>
                    <a:pt x="968324" y="914400"/>
                  </a:lnTo>
                  <a:lnTo>
                    <a:pt x="968324" y="781494"/>
                  </a:lnTo>
                  <a:lnTo>
                    <a:pt x="951903" y="728980"/>
                  </a:lnTo>
                  <a:lnTo>
                    <a:pt x="931252" y="662940"/>
                  </a:lnTo>
                  <a:lnTo>
                    <a:pt x="1182293" y="591820"/>
                  </a:lnTo>
                  <a:lnTo>
                    <a:pt x="1182293" y="551180"/>
                  </a:lnTo>
                  <a:lnTo>
                    <a:pt x="1103477" y="574040"/>
                  </a:lnTo>
                  <a:lnTo>
                    <a:pt x="1103477" y="511810"/>
                  </a:lnTo>
                  <a:lnTo>
                    <a:pt x="1221701" y="511810"/>
                  </a:lnTo>
                  <a:lnTo>
                    <a:pt x="1221701" y="354330"/>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7" name="Google Shape;2507;p37"/>
            <p:cNvSpPr/>
            <p:nvPr/>
          </p:nvSpPr>
          <p:spPr>
            <a:xfrm>
              <a:off x="10642676" y="3745852"/>
              <a:ext cx="906145" cy="254635"/>
            </a:xfrm>
            <a:custGeom>
              <a:avLst/>
              <a:gdLst/>
              <a:ahLst/>
              <a:cxnLst/>
              <a:rect l="l" t="t" r="r" b="b"/>
              <a:pathLst>
                <a:path w="906145" h="254635" extrusionOk="0">
                  <a:moveTo>
                    <a:pt x="905852" y="127317"/>
                  </a:moveTo>
                  <a:lnTo>
                    <a:pt x="685330" y="0"/>
                  </a:lnTo>
                  <a:lnTo>
                    <a:pt x="685330" y="95592"/>
                  </a:lnTo>
                  <a:lnTo>
                    <a:pt x="0" y="95592"/>
                  </a:lnTo>
                  <a:lnTo>
                    <a:pt x="0" y="159029"/>
                  </a:lnTo>
                  <a:lnTo>
                    <a:pt x="685330" y="159029"/>
                  </a:lnTo>
                  <a:lnTo>
                    <a:pt x="685330" y="254635"/>
                  </a:lnTo>
                  <a:lnTo>
                    <a:pt x="905852" y="127317"/>
                  </a:lnTo>
                  <a:close/>
                </a:path>
              </a:pathLst>
            </a:custGeom>
            <a:solidFill>
              <a:srgbClr val="38CD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08" name="Google Shape;2508;p37"/>
          <p:cNvSpPr txBox="1"/>
          <p:nvPr/>
        </p:nvSpPr>
        <p:spPr>
          <a:xfrm>
            <a:off x="1674825" y="5579975"/>
            <a:ext cx="1485300" cy="228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E18324"/>
                </a:solidFill>
                <a:latin typeface="Plus Jakarta Sans"/>
                <a:ea typeface="Plus Jakarta Sans"/>
                <a:cs typeface="Plus Jakarta Sans"/>
                <a:sym typeface="Plus Jakarta Sans"/>
              </a:rPr>
              <a:t>CONSIGNMENT</a:t>
            </a:r>
            <a:endParaRPr sz="1400" b="0" i="0" u="none" strike="noStrike" cap="none">
              <a:solidFill>
                <a:srgbClr val="000000"/>
              </a:solidFill>
              <a:latin typeface="Plus Jakarta Sans"/>
              <a:ea typeface="Plus Jakarta Sans"/>
              <a:cs typeface="Plus Jakarta Sans"/>
              <a:sym typeface="Plus Jakarta Sans"/>
            </a:endParaRPr>
          </a:p>
        </p:txBody>
      </p:sp>
      <p:sp>
        <p:nvSpPr>
          <p:cNvPr id="2509" name="Google Shape;2509;p37"/>
          <p:cNvSpPr/>
          <p:nvPr/>
        </p:nvSpPr>
        <p:spPr>
          <a:xfrm>
            <a:off x="13367551" y="4920678"/>
            <a:ext cx="254634" cy="641985"/>
          </a:xfrm>
          <a:custGeom>
            <a:avLst/>
            <a:gdLst/>
            <a:ahLst/>
            <a:cxnLst/>
            <a:rect l="l" t="t" r="r" b="b"/>
            <a:pathLst>
              <a:path w="254634" h="641985" extrusionOk="0">
                <a:moveTo>
                  <a:pt x="254635" y="421284"/>
                </a:moveTo>
                <a:lnTo>
                  <a:pt x="159029" y="421284"/>
                </a:lnTo>
                <a:lnTo>
                  <a:pt x="159029" y="0"/>
                </a:lnTo>
                <a:lnTo>
                  <a:pt x="95605" y="0"/>
                </a:lnTo>
                <a:lnTo>
                  <a:pt x="95605" y="421284"/>
                </a:lnTo>
                <a:lnTo>
                  <a:pt x="0" y="421284"/>
                </a:lnTo>
                <a:lnTo>
                  <a:pt x="127317" y="641807"/>
                </a:lnTo>
                <a:lnTo>
                  <a:pt x="254635" y="421284"/>
                </a:lnTo>
                <a:close/>
              </a:path>
            </a:pathLst>
          </a:custGeom>
          <a:solidFill>
            <a:srgbClr val="2D9FA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0" name="Google Shape;2510;p37"/>
          <p:cNvSpPr txBox="1"/>
          <p:nvPr/>
        </p:nvSpPr>
        <p:spPr>
          <a:xfrm>
            <a:off x="13606350" y="5008775"/>
            <a:ext cx="1559400" cy="228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2D9FA1"/>
                </a:solidFill>
                <a:latin typeface="Plus Jakarta Sans"/>
                <a:ea typeface="Plus Jakarta Sans"/>
                <a:cs typeface="Plus Jakarta Sans"/>
                <a:sym typeface="Plus Jakarta Sans"/>
              </a:rPr>
              <a:t>FORWARDING</a:t>
            </a:r>
            <a:endParaRPr sz="1400" b="0" i="0" u="none" strike="noStrike" cap="none">
              <a:solidFill>
                <a:srgbClr val="000000"/>
              </a:solidFill>
              <a:latin typeface="Plus Jakarta Sans"/>
              <a:ea typeface="Plus Jakarta Sans"/>
              <a:cs typeface="Plus Jakarta Sans"/>
              <a:sym typeface="Plus Jakarta Sans"/>
            </a:endParaRPr>
          </a:p>
        </p:txBody>
      </p:sp>
      <p:sp>
        <p:nvSpPr>
          <p:cNvPr id="2511" name="Google Shape;2511;p37"/>
          <p:cNvSpPr txBox="1"/>
          <p:nvPr/>
        </p:nvSpPr>
        <p:spPr>
          <a:xfrm>
            <a:off x="5714250" y="3511525"/>
            <a:ext cx="810900" cy="228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D2DE3A"/>
                </a:solidFill>
                <a:latin typeface="Plus Jakarta Sans"/>
                <a:ea typeface="Plus Jakarta Sans"/>
                <a:cs typeface="Plus Jakarta Sans"/>
                <a:sym typeface="Plus Jakarta Sans"/>
              </a:rPr>
              <a:t>ORDER</a:t>
            </a:r>
            <a:endParaRPr sz="1400" b="0" i="0" u="none" strike="noStrike" cap="none">
              <a:solidFill>
                <a:srgbClr val="000000"/>
              </a:solidFill>
              <a:latin typeface="Plus Jakarta Sans"/>
              <a:ea typeface="Plus Jakarta Sans"/>
              <a:cs typeface="Plus Jakarta Sans"/>
              <a:sym typeface="Plus Jakarta Sans"/>
            </a:endParaRPr>
          </a:p>
        </p:txBody>
      </p:sp>
      <p:sp>
        <p:nvSpPr>
          <p:cNvPr id="2512" name="Google Shape;2512;p37"/>
          <p:cNvSpPr txBox="1"/>
          <p:nvPr/>
        </p:nvSpPr>
        <p:spPr>
          <a:xfrm>
            <a:off x="1164274" y="3119200"/>
            <a:ext cx="2190900" cy="13848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Store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In-house procurement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0" algn="l" rtl="0">
              <a:lnSpc>
                <a:spcPct val="100000"/>
              </a:lnSpc>
              <a:spcBef>
                <a:spcPts val="460"/>
              </a:spcBef>
              <a:spcAft>
                <a:spcPts val="0"/>
              </a:spcAft>
              <a:buClr>
                <a:srgbClr val="000000"/>
              </a:buClr>
              <a:buSzPts val="1400"/>
              <a:buFont typeface="Arial"/>
              <a:buNone/>
            </a:pPr>
            <a:r>
              <a:rPr lang="en-US" sz="1400" b="0" i="0" u="none" strike="noStrike" cap="none">
                <a:solidFill>
                  <a:srgbClr val="4D4D4F"/>
                </a:solidFill>
                <a:latin typeface="Plus Jakarta Sans"/>
                <a:ea typeface="Plus Jakarta Sans"/>
                <a:cs typeface="Plus Jakarta Sans"/>
                <a:sym typeface="Plus Jakarta Sans"/>
              </a:rPr>
              <a:t>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Marketing</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Product management</a:t>
            </a:r>
            <a:endParaRPr sz="1400" b="0" i="0" u="none" strike="noStrike" cap="none">
              <a:solidFill>
                <a:srgbClr val="000000"/>
              </a:solidFill>
              <a:latin typeface="Plus Jakarta Sans"/>
              <a:ea typeface="Plus Jakarta Sans"/>
              <a:cs typeface="Plus Jakarta Sans"/>
              <a:sym typeface="Plus Jakarta Sans"/>
            </a:endParaRPr>
          </a:p>
        </p:txBody>
      </p:sp>
      <p:sp>
        <p:nvSpPr>
          <p:cNvPr id="2513" name="Google Shape;2513;p37"/>
          <p:cNvSpPr txBox="1"/>
          <p:nvPr/>
        </p:nvSpPr>
        <p:spPr>
          <a:xfrm>
            <a:off x="3308375" y="3119550"/>
            <a:ext cx="2088600" cy="11103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Business analysis</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Franchise promotion</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Production control</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Finance</a:t>
            </a:r>
            <a:endParaRPr sz="1400" b="0" i="0" u="none" strike="noStrike" cap="none">
              <a:solidFill>
                <a:srgbClr val="000000"/>
              </a:solidFill>
              <a:latin typeface="Plus Jakarta Sans"/>
              <a:ea typeface="Plus Jakarta Sans"/>
              <a:cs typeface="Plus Jakarta Sans"/>
              <a:sym typeface="Plus Jakarta Sans"/>
            </a:endParaRPr>
          </a:p>
        </p:txBody>
      </p:sp>
      <p:grpSp>
        <p:nvGrpSpPr>
          <p:cNvPr id="2514" name="Google Shape;2514;p37"/>
          <p:cNvGrpSpPr/>
          <p:nvPr/>
        </p:nvGrpSpPr>
        <p:grpSpPr>
          <a:xfrm>
            <a:off x="6538562" y="2077528"/>
            <a:ext cx="4663260" cy="3050554"/>
            <a:chOff x="6538698" y="2077529"/>
            <a:chExt cx="4247436" cy="3050554"/>
          </a:xfrm>
        </p:grpSpPr>
        <p:pic>
          <p:nvPicPr>
            <p:cNvPr id="2515" name="Google Shape;2515;p37"/>
            <p:cNvPicPr preferRelativeResize="0"/>
            <p:nvPr/>
          </p:nvPicPr>
          <p:blipFill rotWithShape="1">
            <a:blip r:embed="rId11" cstate="email">
              <a:alphaModFix/>
              <a:extLst>
                <a:ext uri="{28A0092B-C50C-407E-A947-70E740481C1C}">
                  <a14:useLocalDpi xmlns:a14="http://schemas.microsoft.com/office/drawing/2010/main"/>
                </a:ext>
              </a:extLst>
            </a:blip>
            <a:srcRect/>
            <a:stretch/>
          </p:blipFill>
          <p:spPr>
            <a:xfrm>
              <a:off x="6538698" y="2077529"/>
              <a:ext cx="4247436" cy="3050554"/>
            </a:xfrm>
            <a:prstGeom prst="rect">
              <a:avLst/>
            </a:prstGeom>
            <a:noFill/>
            <a:ln>
              <a:noFill/>
            </a:ln>
          </p:spPr>
        </p:pic>
        <p:sp>
          <p:nvSpPr>
            <p:cNvPr id="2516" name="Google Shape;2516;p37"/>
            <p:cNvSpPr/>
            <p:nvPr/>
          </p:nvSpPr>
          <p:spPr>
            <a:xfrm>
              <a:off x="6926127" y="2547503"/>
              <a:ext cx="3472815" cy="2193290"/>
            </a:xfrm>
            <a:custGeom>
              <a:avLst/>
              <a:gdLst/>
              <a:ahLst/>
              <a:cxnLst/>
              <a:rect l="l" t="t" r="r" b="b"/>
              <a:pathLst>
                <a:path w="3472815" h="2193290" extrusionOk="0">
                  <a:moveTo>
                    <a:pt x="3382581" y="0"/>
                  </a:moveTo>
                  <a:lnTo>
                    <a:pt x="89992" y="0"/>
                  </a:lnTo>
                  <a:lnTo>
                    <a:pt x="54960" y="7071"/>
                  </a:lnTo>
                  <a:lnTo>
                    <a:pt x="26355" y="26355"/>
                  </a:lnTo>
                  <a:lnTo>
                    <a:pt x="7071" y="54960"/>
                  </a:lnTo>
                  <a:lnTo>
                    <a:pt x="0" y="89992"/>
                  </a:lnTo>
                  <a:lnTo>
                    <a:pt x="0" y="2103107"/>
                  </a:lnTo>
                  <a:lnTo>
                    <a:pt x="7071" y="2138141"/>
                  </a:lnTo>
                  <a:lnTo>
                    <a:pt x="26355" y="2166750"/>
                  </a:lnTo>
                  <a:lnTo>
                    <a:pt x="54960" y="2186039"/>
                  </a:lnTo>
                  <a:lnTo>
                    <a:pt x="89992" y="2193112"/>
                  </a:lnTo>
                  <a:lnTo>
                    <a:pt x="3382581" y="2193112"/>
                  </a:lnTo>
                  <a:lnTo>
                    <a:pt x="3417615" y="2186039"/>
                  </a:lnTo>
                  <a:lnTo>
                    <a:pt x="3446224" y="2166750"/>
                  </a:lnTo>
                  <a:lnTo>
                    <a:pt x="3465513" y="2138141"/>
                  </a:lnTo>
                  <a:lnTo>
                    <a:pt x="3472586" y="2103107"/>
                  </a:lnTo>
                  <a:lnTo>
                    <a:pt x="3472586" y="89992"/>
                  </a:lnTo>
                  <a:lnTo>
                    <a:pt x="3465513" y="54960"/>
                  </a:lnTo>
                  <a:lnTo>
                    <a:pt x="3446224" y="26355"/>
                  </a:lnTo>
                  <a:lnTo>
                    <a:pt x="3417615" y="7071"/>
                  </a:lnTo>
                  <a:lnTo>
                    <a:pt x="3382581"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7" name="Google Shape;2517;p37"/>
            <p:cNvSpPr/>
            <p:nvPr/>
          </p:nvSpPr>
          <p:spPr>
            <a:xfrm>
              <a:off x="6926122" y="2201383"/>
              <a:ext cx="3472815" cy="875664"/>
            </a:xfrm>
            <a:custGeom>
              <a:avLst/>
              <a:gdLst/>
              <a:ahLst/>
              <a:cxnLst/>
              <a:rect l="l" t="t" r="r" b="b"/>
              <a:pathLst>
                <a:path w="3472815" h="875664" extrusionOk="0">
                  <a:moveTo>
                    <a:pt x="3324758" y="0"/>
                  </a:moveTo>
                  <a:lnTo>
                    <a:pt x="147828" y="0"/>
                  </a:lnTo>
                  <a:lnTo>
                    <a:pt x="101105" y="7535"/>
                  </a:lnTo>
                  <a:lnTo>
                    <a:pt x="60525" y="28520"/>
                  </a:lnTo>
                  <a:lnTo>
                    <a:pt x="28524" y="60520"/>
                  </a:lnTo>
                  <a:lnTo>
                    <a:pt x="7537" y="101100"/>
                  </a:lnTo>
                  <a:lnTo>
                    <a:pt x="0" y="147827"/>
                  </a:lnTo>
                  <a:lnTo>
                    <a:pt x="0" y="708609"/>
                  </a:lnTo>
                  <a:lnTo>
                    <a:pt x="1603260" y="708609"/>
                  </a:lnTo>
                  <a:lnTo>
                    <a:pt x="1736293" y="875169"/>
                  </a:lnTo>
                  <a:lnTo>
                    <a:pt x="1869325" y="708609"/>
                  </a:lnTo>
                  <a:lnTo>
                    <a:pt x="3472586" y="708609"/>
                  </a:lnTo>
                  <a:lnTo>
                    <a:pt x="3472586" y="147827"/>
                  </a:lnTo>
                  <a:lnTo>
                    <a:pt x="3465049" y="101100"/>
                  </a:lnTo>
                  <a:lnTo>
                    <a:pt x="3444061" y="60520"/>
                  </a:lnTo>
                  <a:lnTo>
                    <a:pt x="3412060" y="28520"/>
                  </a:lnTo>
                  <a:lnTo>
                    <a:pt x="3371480" y="7535"/>
                  </a:lnTo>
                  <a:lnTo>
                    <a:pt x="3324758" y="0"/>
                  </a:lnTo>
                  <a:close/>
                </a:path>
              </a:pathLst>
            </a:custGeom>
            <a:solidFill>
              <a:srgbClr val="38CD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18" name="Google Shape;2518;p37"/>
          <p:cNvSpPr txBox="1"/>
          <p:nvPr/>
        </p:nvSpPr>
        <p:spPr>
          <a:xfrm>
            <a:off x="7852592" y="2412800"/>
            <a:ext cx="2035200" cy="3207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Procurement</a:t>
            </a:r>
            <a:endParaRPr sz="2000" b="0" i="0" u="none" strike="noStrike" cap="none">
              <a:solidFill>
                <a:srgbClr val="000000"/>
              </a:solidFill>
              <a:latin typeface="Plus Jakarta Sans"/>
              <a:ea typeface="Plus Jakarta Sans"/>
              <a:cs typeface="Plus Jakarta Sans"/>
              <a:sym typeface="Plus Jakarta Sans"/>
            </a:endParaRPr>
          </a:p>
        </p:txBody>
      </p:sp>
      <p:sp>
        <p:nvSpPr>
          <p:cNvPr id="2519" name="Google Shape;2519;p37"/>
          <p:cNvSpPr txBox="1"/>
          <p:nvPr/>
        </p:nvSpPr>
        <p:spPr>
          <a:xfrm>
            <a:off x="7257975" y="3119250"/>
            <a:ext cx="2361000" cy="5613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Order receiving</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Delivery to warehouse</a:t>
            </a:r>
            <a:endParaRPr sz="1400" b="0" i="0" u="none" strike="noStrike" cap="none">
              <a:solidFill>
                <a:srgbClr val="000000"/>
              </a:solidFill>
              <a:latin typeface="Plus Jakarta Sans"/>
              <a:ea typeface="Plus Jakarta Sans"/>
              <a:cs typeface="Plus Jakarta Sans"/>
              <a:sym typeface="Plus Jakarta Sans"/>
            </a:endParaRPr>
          </a:p>
        </p:txBody>
      </p:sp>
      <p:sp>
        <p:nvSpPr>
          <p:cNvPr id="2520" name="Google Shape;2520;p37"/>
          <p:cNvSpPr txBox="1"/>
          <p:nvPr/>
        </p:nvSpPr>
        <p:spPr>
          <a:xfrm>
            <a:off x="12784796" y="2412800"/>
            <a:ext cx="1665600" cy="3207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Warehouse</a:t>
            </a:r>
            <a:endParaRPr sz="2000" b="0" i="0" u="none" strike="noStrike" cap="none">
              <a:solidFill>
                <a:srgbClr val="000000"/>
              </a:solidFill>
              <a:latin typeface="Plus Jakarta Sans"/>
              <a:ea typeface="Plus Jakarta Sans"/>
              <a:cs typeface="Plus Jakarta Sans"/>
              <a:sym typeface="Plus Jakarta Sans"/>
            </a:endParaRPr>
          </a:p>
        </p:txBody>
      </p:sp>
      <p:sp>
        <p:nvSpPr>
          <p:cNvPr id="2521" name="Google Shape;2521;p37"/>
          <p:cNvSpPr txBox="1"/>
          <p:nvPr/>
        </p:nvSpPr>
        <p:spPr>
          <a:xfrm>
            <a:off x="12064701" y="3119250"/>
            <a:ext cx="2738700" cy="5613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Warehouse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Periodic stock management</a:t>
            </a:r>
            <a:endParaRPr sz="1400" b="0" i="0" u="none" strike="noStrike" cap="none">
              <a:solidFill>
                <a:srgbClr val="000000"/>
              </a:solidFill>
              <a:latin typeface="Plus Jakarta Sans"/>
              <a:ea typeface="Plus Jakarta Sans"/>
              <a:cs typeface="Plus Jakarta Sans"/>
              <a:sym typeface="Plus Jakarta Sans"/>
            </a:endParaRPr>
          </a:p>
        </p:txBody>
      </p:sp>
      <p:grpSp>
        <p:nvGrpSpPr>
          <p:cNvPr id="2522" name="Google Shape;2522;p37"/>
          <p:cNvGrpSpPr/>
          <p:nvPr/>
        </p:nvGrpSpPr>
        <p:grpSpPr>
          <a:xfrm>
            <a:off x="6538698" y="5545658"/>
            <a:ext cx="4247436" cy="3050559"/>
            <a:chOff x="6538698" y="5545658"/>
            <a:chExt cx="4247436" cy="3050559"/>
          </a:xfrm>
        </p:grpSpPr>
        <p:pic>
          <p:nvPicPr>
            <p:cNvPr id="2523" name="Google Shape;2523;p37"/>
            <p:cNvPicPr preferRelativeResize="0"/>
            <p:nvPr/>
          </p:nvPicPr>
          <p:blipFill rotWithShape="1">
            <a:blip r:embed="rId12" cstate="email">
              <a:alphaModFix/>
              <a:extLst>
                <a:ext uri="{28A0092B-C50C-407E-A947-70E740481C1C}">
                  <a14:useLocalDpi xmlns:a14="http://schemas.microsoft.com/office/drawing/2010/main"/>
                </a:ext>
              </a:extLst>
            </a:blip>
            <a:srcRect/>
            <a:stretch/>
          </p:blipFill>
          <p:spPr>
            <a:xfrm>
              <a:off x="6538698" y="5545658"/>
              <a:ext cx="4247436" cy="3050559"/>
            </a:xfrm>
            <a:prstGeom prst="rect">
              <a:avLst/>
            </a:prstGeom>
            <a:noFill/>
            <a:ln>
              <a:noFill/>
            </a:ln>
          </p:spPr>
        </p:pic>
        <p:sp>
          <p:nvSpPr>
            <p:cNvPr id="2524" name="Google Shape;2524;p37"/>
            <p:cNvSpPr/>
            <p:nvPr/>
          </p:nvSpPr>
          <p:spPr>
            <a:xfrm>
              <a:off x="6926127" y="6015638"/>
              <a:ext cx="3472815" cy="2193290"/>
            </a:xfrm>
            <a:custGeom>
              <a:avLst/>
              <a:gdLst/>
              <a:ahLst/>
              <a:cxnLst/>
              <a:rect l="l" t="t" r="r" b="b"/>
              <a:pathLst>
                <a:path w="3472815" h="2193290" extrusionOk="0">
                  <a:moveTo>
                    <a:pt x="3382581" y="0"/>
                  </a:moveTo>
                  <a:lnTo>
                    <a:pt x="89992" y="0"/>
                  </a:lnTo>
                  <a:lnTo>
                    <a:pt x="54960" y="7071"/>
                  </a:lnTo>
                  <a:lnTo>
                    <a:pt x="26355" y="26355"/>
                  </a:lnTo>
                  <a:lnTo>
                    <a:pt x="7071" y="54960"/>
                  </a:lnTo>
                  <a:lnTo>
                    <a:pt x="0" y="89992"/>
                  </a:lnTo>
                  <a:lnTo>
                    <a:pt x="0" y="2103107"/>
                  </a:lnTo>
                  <a:lnTo>
                    <a:pt x="7071" y="2138141"/>
                  </a:lnTo>
                  <a:lnTo>
                    <a:pt x="26355" y="2166750"/>
                  </a:lnTo>
                  <a:lnTo>
                    <a:pt x="54960" y="2186039"/>
                  </a:lnTo>
                  <a:lnTo>
                    <a:pt x="89992" y="2193112"/>
                  </a:lnTo>
                  <a:lnTo>
                    <a:pt x="3382581" y="2193112"/>
                  </a:lnTo>
                  <a:lnTo>
                    <a:pt x="3417615" y="2186039"/>
                  </a:lnTo>
                  <a:lnTo>
                    <a:pt x="3446224" y="2166750"/>
                  </a:lnTo>
                  <a:lnTo>
                    <a:pt x="3465513" y="2138141"/>
                  </a:lnTo>
                  <a:lnTo>
                    <a:pt x="3472586" y="2103107"/>
                  </a:lnTo>
                  <a:lnTo>
                    <a:pt x="3472586" y="89992"/>
                  </a:lnTo>
                  <a:lnTo>
                    <a:pt x="3465513" y="54960"/>
                  </a:lnTo>
                  <a:lnTo>
                    <a:pt x="3446224" y="26355"/>
                  </a:lnTo>
                  <a:lnTo>
                    <a:pt x="3417615" y="7071"/>
                  </a:lnTo>
                  <a:lnTo>
                    <a:pt x="3382581"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5" name="Google Shape;2525;p37"/>
            <p:cNvSpPr/>
            <p:nvPr/>
          </p:nvSpPr>
          <p:spPr>
            <a:xfrm>
              <a:off x="6926122" y="5669518"/>
              <a:ext cx="3472815" cy="875665"/>
            </a:xfrm>
            <a:custGeom>
              <a:avLst/>
              <a:gdLst/>
              <a:ahLst/>
              <a:cxnLst/>
              <a:rect l="l" t="t" r="r" b="b"/>
              <a:pathLst>
                <a:path w="3472815" h="875665" extrusionOk="0">
                  <a:moveTo>
                    <a:pt x="3324758" y="0"/>
                  </a:moveTo>
                  <a:lnTo>
                    <a:pt x="147828" y="0"/>
                  </a:lnTo>
                  <a:lnTo>
                    <a:pt x="101105" y="7535"/>
                  </a:lnTo>
                  <a:lnTo>
                    <a:pt x="60525" y="28520"/>
                  </a:lnTo>
                  <a:lnTo>
                    <a:pt x="28524" y="60520"/>
                  </a:lnTo>
                  <a:lnTo>
                    <a:pt x="7537" y="101100"/>
                  </a:lnTo>
                  <a:lnTo>
                    <a:pt x="0" y="147827"/>
                  </a:lnTo>
                  <a:lnTo>
                    <a:pt x="0" y="708609"/>
                  </a:lnTo>
                  <a:lnTo>
                    <a:pt x="1603260" y="708609"/>
                  </a:lnTo>
                  <a:lnTo>
                    <a:pt x="1736293" y="875169"/>
                  </a:lnTo>
                  <a:lnTo>
                    <a:pt x="1869325" y="708609"/>
                  </a:lnTo>
                  <a:lnTo>
                    <a:pt x="3472586" y="708609"/>
                  </a:lnTo>
                  <a:lnTo>
                    <a:pt x="3472586" y="147827"/>
                  </a:lnTo>
                  <a:lnTo>
                    <a:pt x="3465049" y="101100"/>
                  </a:lnTo>
                  <a:lnTo>
                    <a:pt x="3444061" y="60520"/>
                  </a:lnTo>
                  <a:lnTo>
                    <a:pt x="3412060" y="28520"/>
                  </a:lnTo>
                  <a:lnTo>
                    <a:pt x="3371480" y="7535"/>
                  </a:lnTo>
                  <a:lnTo>
                    <a:pt x="3324758" y="0"/>
                  </a:lnTo>
                  <a:close/>
                </a:path>
              </a:pathLst>
            </a:custGeom>
            <a:solidFill>
              <a:srgbClr val="038F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26" name="Google Shape;2526;p37"/>
          <p:cNvSpPr txBox="1"/>
          <p:nvPr/>
        </p:nvSpPr>
        <p:spPr>
          <a:xfrm>
            <a:off x="8147166" y="5880925"/>
            <a:ext cx="1030500" cy="3207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Store</a:t>
            </a:r>
            <a:endParaRPr sz="2000" b="0" i="0" u="none" strike="noStrike" cap="none">
              <a:solidFill>
                <a:srgbClr val="000000"/>
              </a:solidFill>
              <a:latin typeface="Plus Jakarta Sans"/>
              <a:ea typeface="Plus Jakarta Sans"/>
              <a:cs typeface="Plus Jakarta Sans"/>
              <a:sym typeface="Plus Jakarta Sans"/>
            </a:endParaRPr>
          </a:p>
        </p:txBody>
      </p:sp>
      <p:sp>
        <p:nvSpPr>
          <p:cNvPr id="2527" name="Google Shape;2527;p37"/>
          <p:cNvSpPr txBox="1"/>
          <p:nvPr/>
        </p:nvSpPr>
        <p:spPr>
          <a:xfrm>
            <a:off x="7257975" y="6523875"/>
            <a:ext cx="3058500" cy="13848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Sales</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Product adjustment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Human Resources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Cash ﬂow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Stock Receiving Management</a:t>
            </a:r>
            <a:endParaRPr sz="1400" b="0" i="0" u="none" strike="noStrike" cap="none">
              <a:solidFill>
                <a:srgbClr val="000000"/>
              </a:solidFill>
              <a:latin typeface="Plus Jakarta Sans"/>
              <a:ea typeface="Plus Jakarta Sans"/>
              <a:cs typeface="Plus Jakarta Sans"/>
              <a:sym typeface="Plus Jakarta Sans"/>
            </a:endParaRPr>
          </a:p>
        </p:txBody>
      </p:sp>
      <p:sp>
        <p:nvSpPr>
          <p:cNvPr id="2528" name="Google Shape;2528;p37"/>
          <p:cNvSpPr txBox="1"/>
          <p:nvPr/>
        </p:nvSpPr>
        <p:spPr>
          <a:xfrm>
            <a:off x="2132608" y="6325208"/>
            <a:ext cx="2190900" cy="3207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Franchise partner</a:t>
            </a:r>
            <a:endParaRPr sz="2000" b="0" i="0" u="none" strike="noStrike" cap="none">
              <a:solidFill>
                <a:srgbClr val="000000"/>
              </a:solidFill>
              <a:latin typeface="Plus Jakarta Sans"/>
              <a:ea typeface="Plus Jakarta Sans"/>
              <a:cs typeface="Plus Jakarta Sans"/>
              <a:sym typeface="Plus Jakarta Sans"/>
            </a:endParaRPr>
          </a:p>
        </p:txBody>
      </p:sp>
      <p:sp>
        <p:nvSpPr>
          <p:cNvPr id="2529" name="Google Shape;2529;p37"/>
          <p:cNvSpPr txBox="1"/>
          <p:nvPr/>
        </p:nvSpPr>
        <p:spPr>
          <a:xfrm>
            <a:off x="1291601" y="7031650"/>
            <a:ext cx="2517900" cy="8358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Business analysis</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Store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Financial management</a:t>
            </a:r>
            <a:endParaRPr sz="1400" b="0" i="0" u="none" strike="noStrike" cap="none">
              <a:solidFill>
                <a:srgbClr val="000000"/>
              </a:solidFill>
              <a:latin typeface="Plus Jakarta Sans"/>
              <a:ea typeface="Plus Jakarta Sans"/>
              <a:cs typeface="Plus Jakarta Sans"/>
              <a:sym typeface="Plus Jakarta Sans"/>
            </a:endParaRPr>
          </a:p>
        </p:txBody>
      </p:sp>
      <p:sp>
        <p:nvSpPr>
          <p:cNvPr id="2530" name="Google Shape;2530;p37"/>
          <p:cNvSpPr txBox="1"/>
          <p:nvPr/>
        </p:nvSpPr>
        <p:spPr>
          <a:xfrm>
            <a:off x="12806221" y="5880735"/>
            <a:ext cx="1377315" cy="32004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Delivery</a:t>
            </a:r>
            <a:endParaRPr sz="2000" b="0" i="0" u="none" strike="noStrike" cap="none">
              <a:solidFill>
                <a:srgbClr val="000000"/>
              </a:solidFill>
              <a:latin typeface="Plus Jakarta Sans"/>
              <a:ea typeface="Plus Jakarta Sans"/>
              <a:cs typeface="Plus Jakarta Sans"/>
              <a:sym typeface="Plus Jakarta Sans"/>
            </a:endParaRPr>
          </a:p>
        </p:txBody>
      </p:sp>
      <p:sp>
        <p:nvSpPr>
          <p:cNvPr id="2531" name="Google Shape;2531;p37"/>
          <p:cNvSpPr txBox="1"/>
          <p:nvPr/>
        </p:nvSpPr>
        <p:spPr>
          <a:xfrm>
            <a:off x="12064702" y="6523875"/>
            <a:ext cx="2517900" cy="5613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Product Delivery</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Delivery management</a:t>
            </a:r>
            <a:endParaRPr sz="1400" b="0" i="0" u="none" strike="noStrike" cap="none">
              <a:solidFill>
                <a:srgbClr val="000000"/>
              </a:solidFill>
              <a:latin typeface="Plus Jakarta Sans"/>
              <a:ea typeface="Plus Jakarta Sans"/>
              <a:cs typeface="Plus Jakarta Sans"/>
              <a:sym typeface="Plus Jakarta Sans"/>
            </a:endParaRPr>
          </a:p>
        </p:txBody>
      </p:sp>
      <p:sp>
        <p:nvSpPr>
          <p:cNvPr id="2532" name="Google Shape;2532;p37"/>
          <p:cNvSpPr/>
          <p:nvPr/>
        </p:nvSpPr>
        <p:spPr>
          <a:xfrm>
            <a:off x="10630434" y="7213980"/>
            <a:ext cx="906145" cy="254634"/>
          </a:xfrm>
          <a:custGeom>
            <a:avLst/>
            <a:gdLst/>
            <a:ahLst/>
            <a:cxnLst/>
            <a:rect l="l" t="t" r="r" b="b"/>
            <a:pathLst>
              <a:path w="906145" h="254634" extrusionOk="0">
                <a:moveTo>
                  <a:pt x="905865" y="95605"/>
                </a:moveTo>
                <a:lnTo>
                  <a:pt x="220522" y="95605"/>
                </a:lnTo>
                <a:lnTo>
                  <a:pt x="220522" y="0"/>
                </a:lnTo>
                <a:lnTo>
                  <a:pt x="0" y="127317"/>
                </a:lnTo>
                <a:lnTo>
                  <a:pt x="220522" y="254635"/>
                </a:lnTo>
                <a:lnTo>
                  <a:pt x="220522" y="159042"/>
                </a:lnTo>
                <a:lnTo>
                  <a:pt x="905865" y="159042"/>
                </a:lnTo>
                <a:lnTo>
                  <a:pt x="905865" y="95605"/>
                </a:lnTo>
                <a:close/>
              </a:path>
            </a:pathLst>
          </a:custGeom>
          <a:solidFill>
            <a:srgbClr val="006B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3" name="Google Shape;2533;p37"/>
          <p:cNvSpPr txBox="1"/>
          <p:nvPr/>
        </p:nvSpPr>
        <p:spPr>
          <a:xfrm>
            <a:off x="10709127" y="6965525"/>
            <a:ext cx="1030500" cy="228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186CB5"/>
                </a:solidFill>
                <a:latin typeface="Plus Jakarta Sans"/>
                <a:ea typeface="Plus Jakarta Sans"/>
                <a:cs typeface="Plus Jakarta Sans"/>
                <a:sym typeface="Plus Jakarta Sans"/>
              </a:rPr>
              <a:t>SHIPPING</a:t>
            </a:r>
            <a:endParaRPr sz="1400" b="0" i="0" u="none" strike="noStrike" cap="none">
              <a:solidFill>
                <a:srgbClr val="000000"/>
              </a:solidFill>
              <a:latin typeface="Plus Jakarta Sans"/>
              <a:ea typeface="Plus Jakarta Sans"/>
              <a:cs typeface="Plus Jakarta Sans"/>
              <a:sym typeface="Plus Jakarta Sans"/>
            </a:endParaRPr>
          </a:p>
        </p:txBody>
      </p:sp>
      <p:pic>
        <p:nvPicPr>
          <p:cNvPr id="2534" name="Google Shape;2534;p37"/>
          <p:cNvPicPr preferRelativeResize="0"/>
          <p:nvPr/>
        </p:nvPicPr>
        <p:blipFill rotWithShape="1">
          <a:blip r:embed="rId13" cstate="email">
            <a:alphaModFix/>
            <a:extLst>
              <a:ext uri="{28A0092B-C50C-407E-A947-70E740481C1C}">
                <a14:useLocalDpi xmlns:a14="http://schemas.microsoft.com/office/drawing/2010/main"/>
              </a:ext>
            </a:extLst>
          </a:blip>
          <a:srcRect/>
          <a:stretch/>
        </p:blipFill>
        <p:spPr>
          <a:xfrm>
            <a:off x="4796767" y="4545885"/>
            <a:ext cx="1845633" cy="1486017"/>
          </a:xfrm>
          <a:prstGeom prst="rect">
            <a:avLst/>
          </a:prstGeom>
          <a:noFill/>
          <a:ln>
            <a:noFill/>
          </a:ln>
        </p:spPr>
      </p:pic>
      <p:sp>
        <p:nvSpPr>
          <p:cNvPr id="2535" name="Google Shape;2535;p37"/>
          <p:cNvSpPr txBox="1"/>
          <p:nvPr/>
        </p:nvSpPr>
        <p:spPr>
          <a:xfrm rot="1859550">
            <a:off x="5868576" y="5417774"/>
            <a:ext cx="922851" cy="206159"/>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000000"/>
              </a:buClr>
              <a:buSzPts val="1400"/>
              <a:buFont typeface="Arial"/>
              <a:buNone/>
            </a:pPr>
            <a:r>
              <a:rPr lang="en-US" sz="1400" b="1" i="0" u="none" strike="noStrike" cap="none">
                <a:solidFill>
                  <a:srgbClr val="038FE6"/>
                </a:solidFill>
                <a:latin typeface="Plus Jakarta Sans"/>
                <a:ea typeface="Plus Jakarta Sans"/>
                <a:cs typeface="Plus Jakarta Sans"/>
                <a:sym typeface="Plus Jakarta Sans"/>
              </a:rPr>
              <a:t>EARNINGS</a:t>
            </a:r>
            <a:endParaRPr sz="1400" b="0" i="0" u="none" strike="noStrike" cap="none">
              <a:solidFill>
                <a:srgbClr val="000000"/>
              </a:solidFill>
              <a:latin typeface="Plus Jakarta Sans"/>
              <a:ea typeface="Plus Jakarta Sans"/>
              <a:cs typeface="Plus Jakarta Sans"/>
              <a:sym typeface="Plus Jakarta Sans"/>
            </a:endParaRPr>
          </a:p>
        </p:txBody>
      </p:sp>
      <p:pic>
        <p:nvPicPr>
          <p:cNvPr id="2536" name="Google Shape;2536;p37"/>
          <p:cNvPicPr preferRelativeResize="0"/>
          <p:nvPr/>
        </p:nvPicPr>
        <p:blipFill rotWithShape="1">
          <a:blip r:embed="rId14" cstate="email">
            <a:alphaModFix/>
            <a:extLst>
              <a:ext uri="{28A0092B-C50C-407E-A947-70E740481C1C}">
                <a14:useLocalDpi xmlns:a14="http://schemas.microsoft.com/office/drawing/2010/main"/>
              </a:ext>
            </a:extLst>
          </a:blip>
          <a:srcRect/>
          <a:stretch/>
        </p:blipFill>
        <p:spPr>
          <a:xfrm>
            <a:off x="9758940" y="7569203"/>
            <a:ext cx="810960" cy="808383"/>
          </a:xfrm>
          <a:prstGeom prst="rect">
            <a:avLst/>
          </a:prstGeom>
          <a:noFill/>
          <a:ln>
            <a:noFill/>
          </a:ln>
        </p:spPr>
      </p:pic>
      <p:sp>
        <p:nvSpPr>
          <p:cNvPr id="2537" name="Google Shape;2537;p37"/>
          <p:cNvSpPr txBox="1"/>
          <p:nvPr/>
        </p:nvSpPr>
        <p:spPr>
          <a:xfrm>
            <a:off x="10852025" y="3227475"/>
            <a:ext cx="1030500" cy="469800"/>
          </a:xfrm>
          <a:prstGeom prst="rect">
            <a:avLst/>
          </a:prstGeom>
          <a:noFill/>
          <a:ln>
            <a:noFill/>
          </a:ln>
        </p:spPr>
        <p:txBody>
          <a:bodyPr spcFirstLastPara="1" wrap="square" lIns="0" tIns="12700" rIns="0" bIns="0" anchor="t" anchorCtr="0">
            <a:spAutoFit/>
          </a:bodyPr>
          <a:lstStyle/>
          <a:p>
            <a:pPr marL="12700" marR="5080" lvl="0" indent="0" algn="l" rtl="0">
              <a:lnSpc>
                <a:spcPct val="112000"/>
              </a:lnSpc>
              <a:spcBef>
                <a:spcPts val="0"/>
              </a:spcBef>
              <a:spcAft>
                <a:spcPts val="0"/>
              </a:spcAft>
              <a:buClr>
                <a:srgbClr val="000000"/>
              </a:buClr>
              <a:buSzPts val="1400"/>
              <a:buFont typeface="Arial"/>
              <a:buNone/>
            </a:pPr>
            <a:r>
              <a:rPr lang="en-US" sz="1400" b="1" i="0" u="none" strike="noStrike" cap="none">
                <a:solidFill>
                  <a:srgbClr val="4DC2BC"/>
                </a:solidFill>
                <a:latin typeface="Plus Jakarta Sans"/>
                <a:ea typeface="Plus Jakarta Sans"/>
                <a:cs typeface="Plus Jakarta Sans"/>
                <a:sym typeface="Plus Jakarta Sans"/>
              </a:rPr>
              <a:t>GOODS RECEIVED</a:t>
            </a:r>
            <a:endParaRPr sz="1400" b="0" i="0" u="none" strike="noStrike" cap="none">
              <a:solidFill>
                <a:srgbClr val="000000"/>
              </a:solidFill>
              <a:latin typeface="Plus Jakarta Sans"/>
              <a:ea typeface="Plus Jakarta Sans"/>
              <a:cs typeface="Plus Jakarta Sans"/>
              <a:sym typeface="Plus Jakarta Sans"/>
            </a:endParaRPr>
          </a:p>
        </p:txBody>
      </p:sp>
      <p:sp>
        <p:nvSpPr>
          <p:cNvPr id="2538" name="Google Shape;2538;p37"/>
          <p:cNvSpPr txBox="1"/>
          <p:nvPr/>
        </p:nvSpPr>
        <p:spPr>
          <a:xfrm>
            <a:off x="4738820" y="691004"/>
            <a:ext cx="11298600" cy="62547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 </a:t>
            </a:r>
            <a:r>
              <a:rPr lang="en-US" sz="2500" b="1" i="0" u="none" strike="noStrike" cap="none">
                <a:solidFill>
                  <a:srgbClr val="004AAD"/>
                </a:solidFill>
                <a:latin typeface="Inter"/>
                <a:ea typeface="Inter"/>
                <a:cs typeface="Inter"/>
                <a:sym typeface="Inter"/>
              </a:rPr>
              <a:t>COMPREHENSIVE RETAIL SYSTEM DEVELOPMENT (2/4)</a:t>
            </a:r>
            <a:endParaRPr sz="2500" b="1" i="0" u="none" strike="noStrike" cap="none">
              <a:solidFill>
                <a:srgbClr val="004AAD"/>
              </a:solidFill>
              <a:latin typeface="Inter"/>
              <a:ea typeface="Inter"/>
              <a:cs typeface="Inter"/>
              <a:sym typeface="Inter"/>
            </a:endParaRPr>
          </a:p>
          <a:p>
            <a:pPr marL="0" marR="0" lvl="0" indent="0" algn="l" rtl="0">
              <a:lnSpc>
                <a:spcPct val="110000"/>
              </a:lnSpc>
              <a:spcBef>
                <a:spcPts val="0"/>
              </a:spcBef>
              <a:spcAft>
                <a:spcPts val="0"/>
              </a:spcAft>
              <a:buClr>
                <a:srgbClr val="000000"/>
              </a:buClr>
              <a:buSzPts val="2500"/>
              <a:buFont typeface="Arial"/>
              <a:buNone/>
            </a:pPr>
            <a:endParaRPr sz="1200" b="0" i="0" u="none" strike="noStrike" cap="none">
              <a:solidFill>
                <a:srgbClr val="000000"/>
              </a:solidFill>
              <a:latin typeface="Arial"/>
              <a:ea typeface="Arial"/>
              <a:cs typeface="Arial"/>
              <a:sym typeface="Arial"/>
            </a:endParaRPr>
          </a:p>
        </p:txBody>
      </p:sp>
      <p:sp>
        <p:nvSpPr>
          <p:cNvPr id="2539" name="Google Shape;2539;p37"/>
          <p:cNvSpPr/>
          <p:nvPr/>
        </p:nvSpPr>
        <p:spPr>
          <a:xfrm>
            <a:off x="-255905" y="584835"/>
            <a:ext cx="4488815" cy="1087755"/>
          </a:xfrm>
          <a:custGeom>
            <a:avLst/>
            <a:gdLst/>
            <a:ahLst/>
            <a:cxnLst/>
            <a:rect l="l" t="t" r="r" b="b"/>
            <a:pathLst>
              <a:path w="812800" h="197009" extrusionOk="0">
                <a:moveTo>
                  <a:pt x="0" y="0"/>
                </a:moveTo>
                <a:lnTo>
                  <a:pt x="812800" y="0"/>
                </a:lnTo>
                <a:lnTo>
                  <a:pt x="812800" y="197009"/>
                </a:lnTo>
                <a:lnTo>
                  <a:pt x="0" y="197009"/>
                </a:lnTo>
                <a:close/>
              </a:path>
            </a:pathLst>
          </a:custGeom>
          <a:solidFill>
            <a:srgbClr val="003A86"/>
          </a:solidFill>
          <a:ln>
            <a:noFill/>
          </a:ln>
        </p:spPr>
      </p:sp>
      <p:sp>
        <p:nvSpPr>
          <p:cNvPr id="2540" name="Google Shape;2540;p37"/>
          <p:cNvSpPr txBox="1"/>
          <p:nvPr/>
        </p:nvSpPr>
        <p:spPr>
          <a:xfrm>
            <a:off x="281940" y="739775"/>
            <a:ext cx="3943985" cy="777875"/>
          </a:xfrm>
          <a:prstGeom prst="rect">
            <a:avLst/>
          </a:prstGeom>
          <a:noFill/>
          <a:ln>
            <a:noFill/>
          </a:ln>
        </p:spPr>
        <p:txBody>
          <a:bodyPr spcFirstLastPara="1" wrap="square" lIns="0" tIns="0" rIns="0" bIns="0" anchor="ctr" anchorCtr="0">
            <a:spAutoFit/>
          </a:bodyPr>
          <a:lstStyle/>
          <a:p>
            <a:pPr marL="0" marR="0" lvl="0" indent="0" algn="l" rtl="0">
              <a:lnSpc>
                <a:spcPct val="110000"/>
              </a:lnSpc>
              <a:spcBef>
                <a:spcPts val="0"/>
              </a:spcBef>
              <a:spcAft>
                <a:spcPts val="0"/>
              </a:spcAft>
              <a:buClr>
                <a:srgbClr val="000000"/>
              </a:buClr>
              <a:buSzPts val="2500"/>
              <a:buFont typeface="Arial"/>
              <a:buNone/>
            </a:pPr>
            <a:r>
              <a:rPr lang="en-US" sz="2300" b="1" i="0" u="none" strike="noStrike" cap="none">
                <a:solidFill>
                  <a:schemeClr val="lt1"/>
                </a:solidFill>
                <a:latin typeface="Inter"/>
                <a:ea typeface="Inter"/>
                <a:cs typeface="Inter"/>
                <a:sym typeface="Inter"/>
              </a:rPr>
              <a:t>HIGH-LEVEL PROCESS DEVELOPMENT</a:t>
            </a:r>
            <a:endParaRPr sz="2300" b="1" i="0" u="none" strike="noStrike" cap="none">
              <a:solidFill>
                <a:schemeClr val="lt1"/>
              </a:solidFill>
              <a:latin typeface="Inter"/>
              <a:ea typeface="Inter"/>
              <a:cs typeface="Inter"/>
              <a:sym typeface="Inter"/>
            </a:endParaRPr>
          </a:p>
        </p:txBody>
      </p:sp>
      <p:sp>
        <p:nvSpPr>
          <p:cNvPr id="6" name="Google Shape;1967;p26">
            <a:extLst>
              <a:ext uri="{FF2B5EF4-FFF2-40B4-BE49-F238E27FC236}">
                <a16:creationId xmlns:a16="http://schemas.microsoft.com/office/drawing/2014/main" id="{DCDFB59B-E428-3715-2829-6A291D3F30F7}"/>
              </a:ext>
            </a:extLst>
          </p:cNvPr>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5" cstate="email">
              <a:alphaModFix/>
              <a:extLst>
                <a:ext uri="{28A0092B-C50C-407E-A947-70E740481C1C}">
                  <a14:useLocalDpi xmlns:a14="http://schemas.microsoft.com/office/drawing/2010/main"/>
                </a:ext>
              </a:extLst>
            </a:blip>
            <a:stretch>
              <a:fillRect b="-5"/>
            </a:stretch>
          </a:blipFill>
          <a:ln>
            <a:noFill/>
          </a:ln>
        </p:spPr>
      </p:sp>
      <p:grpSp>
        <p:nvGrpSpPr>
          <p:cNvPr id="7" name="Google Shape;1968;p26">
            <a:extLst>
              <a:ext uri="{FF2B5EF4-FFF2-40B4-BE49-F238E27FC236}">
                <a16:creationId xmlns:a16="http://schemas.microsoft.com/office/drawing/2014/main" id="{94C13FFB-48C1-7390-75CD-17C30C00ED04}"/>
              </a:ext>
            </a:extLst>
          </p:cNvPr>
          <p:cNvGrpSpPr/>
          <p:nvPr/>
        </p:nvGrpSpPr>
        <p:grpSpPr>
          <a:xfrm>
            <a:off x="872534" y="8351050"/>
            <a:ext cx="846442" cy="699635"/>
            <a:chOff x="0" y="0"/>
            <a:chExt cx="1269600" cy="1049400"/>
          </a:xfrm>
        </p:grpSpPr>
        <p:sp>
          <p:nvSpPr>
            <p:cNvPr id="8" name="Google Shape;1969;p26">
              <a:extLst>
                <a:ext uri="{FF2B5EF4-FFF2-40B4-BE49-F238E27FC236}">
                  <a16:creationId xmlns:a16="http://schemas.microsoft.com/office/drawing/2014/main" id="{ECA1E56A-3EE1-B7BA-C3A3-B28D1B403FD4}"/>
                </a:ext>
              </a:extLst>
            </p:cNvPr>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9" name="Google Shape;1970;p26">
              <a:extLst>
                <a:ext uri="{FF2B5EF4-FFF2-40B4-BE49-F238E27FC236}">
                  <a16:creationId xmlns:a16="http://schemas.microsoft.com/office/drawing/2014/main" id="{54EB38E7-0C6F-9304-AE5A-5CFF8EDEEF66}"/>
                </a:ext>
              </a:extLst>
            </p:cNvPr>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dirty="0">
                  <a:solidFill>
                    <a:srgbClr val="585858"/>
                  </a:solidFill>
                  <a:latin typeface="Inter"/>
                  <a:ea typeface="Inter"/>
                  <a:sym typeface="Inter"/>
                </a:rPr>
                <a:t>36</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544"/>
        <p:cNvGrpSpPr/>
        <p:nvPr/>
      </p:nvGrpSpPr>
      <p:grpSpPr>
        <a:xfrm>
          <a:off x="0" y="0"/>
          <a:ext cx="0" cy="0"/>
          <a:chOff x="0" y="0"/>
          <a:chExt cx="0" cy="0"/>
        </a:xfrm>
      </p:grpSpPr>
      <p:grpSp>
        <p:nvGrpSpPr>
          <p:cNvPr id="2545" name="Google Shape;2545;p38"/>
          <p:cNvGrpSpPr/>
          <p:nvPr/>
        </p:nvGrpSpPr>
        <p:grpSpPr>
          <a:xfrm>
            <a:off x="7129081" y="5097172"/>
            <a:ext cx="1044575" cy="1043939"/>
            <a:chOff x="7129081" y="5097172"/>
            <a:chExt cx="1044575" cy="1043939"/>
          </a:xfrm>
        </p:grpSpPr>
        <p:sp>
          <p:nvSpPr>
            <p:cNvPr id="2546" name="Google Shape;2546;p38"/>
            <p:cNvSpPr/>
            <p:nvPr/>
          </p:nvSpPr>
          <p:spPr>
            <a:xfrm>
              <a:off x="7129081" y="5097172"/>
              <a:ext cx="1044575" cy="1043939"/>
            </a:xfrm>
            <a:custGeom>
              <a:avLst/>
              <a:gdLst/>
              <a:ahLst/>
              <a:cxnLst/>
              <a:rect l="l" t="t" r="r" b="b"/>
              <a:pathLst>
                <a:path w="1044575" h="1043939" extrusionOk="0">
                  <a:moveTo>
                    <a:pt x="556793" y="947419"/>
                  </a:moveTo>
                  <a:lnTo>
                    <a:pt x="521995" y="947419"/>
                  </a:lnTo>
                  <a:lnTo>
                    <a:pt x="521995" y="975360"/>
                  </a:lnTo>
                  <a:lnTo>
                    <a:pt x="527465" y="1002029"/>
                  </a:lnTo>
                  <a:lnTo>
                    <a:pt x="542383" y="1023619"/>
                  </a:lnTo>
                  <a:lnTo>
                    <a:pt x="564509" y="1038860"/>
                  </a:lnTo>
                  <a:lnTo>
                    <a:pt x="591604" y="1043939"/>
                  </a:lnTo>
                  <a:lnTo>
                    <a:pt x="974407" y="1043939"/>
                  </a:lnTo>
                  <a:lnTo>
                    <a:pt x="1001494" y="1038860"/>
                  </a:lnTo>
                  <a:lnTo>
                    <a:pt x="1023616" y="1023619"/>
                  </a:lnTo>
                  <a:lnTo>
                    <a:pt x="1033268" y="1009650"/>
                  </a:lnTo>
                  <a:lnTo>
                    <a:pt x="591604" y="1009650"/>
                  </a:lnTo>
                  <a:lnTo>
                    <a:pt x="578053" y="1007110"/>
                  </a:lnTo>
                  <a:lnTo>
                    <a:pt x="566988" y="999489"/>
                  </a:lnTo>
                  <a:lnTo>
                    <a:pt x="559528" y="988060"/>
                  </a:lnTo>
                  <a:lnTo>
                    <a:pt x="556793" y="975360"/>
                  </a:lnTo>
                  <a:lnTo>
                    <a:pt x="556793" y="947419"/>
                  </a:lnTo>
                  <a:close/>
                </a:path>
                <a:path w="1044575" h="1043939" extrusionOk="0">
                  <a:moveTo>
                    <a:pt x="1033561" y="505459"/>
                  </a:moveTo>
                  <a:lnTo>
                    <a:pt x="974407" y="505459"/>
                  </a:lnTo>
                  <a:lnTo>
                    <a:pt x="987951" y="507999"/>
                  </a:lnTo>
                  <a:lnTo>
                    <a:pt x="999012" y="515619"/>
                  </a:lnTo>
                  <a:lnTo>
                    <a:pt x="1006470" y="527049"/>
                  </a:lnTo>
                  <a:lnTo>
                    <a:pt x="1009205" y="539749"/>
                  </a:lnTo>
                  <a:lnTo>
                    <a:pt x="1009205" y="975360"/>
                  </a:lnTo>
                  <a:lnTo>
                    <a:pt x="1006470" y="988060"/>
                  </a:lnTo>
                  <a:lnTo>
                    <a:pt x="999012" y="999489"/>
                  </a:lnTo>
                  <a:lnTo>
                    <a:pt x="987951" y="1007110"/>
                  </a:lnTo>
                  <a:lnTo>
                    <a:pt x="974407" y="1009650"/>
                  </a:lnTo>
                  <a:lnTo>
                    <a:pt x="1033268" y="1009650"/>
                  </a:lnTo>
                  <a:lnTo>
                    <a:pt x="1038533" y="1002029"/>
                  </a:lnTo>
                  <a:lnTo>
                    <a:pt x="1044003" y="975360"/>
                  </a:lnTo>
                  <a:lnTo>
                    <a:pt x="1044003" y="539749"/>
                  </a:lnTo>
                  <a:lnTo>
                    <a:pt x="1038533" y="513080"/>
                  </a:lnTo>
                  <a:lnTo>
                    <a:pt x="1033561" y="505459"/>
                  </a:lnTo>
                  <a:close/>
                </a:path>
                <a:path w="1044575" h="1043939" extrusionOk="0">
                  <a:moveTo>
                    <a:pt x="278396" y="0"/>
                  </a:moveTo>
                  <a:lnTo>
                    <a:pt x="214392" y="6349"/>
                  </a:lnTo>
                  <a:lnTo>
                    <a:pt x="170559" y="20320"/>
                  </a:lnTo>
                  <a:lnTo>
                    <a:pt x="143192" y="36829"/>
                  </a:lnTo>
                  <a:lnTo>
                    <a:pt x="128587" y="53339"/>
                  </a:lnTo>
                  <a:lnTo>
                    <a:pt x="113967" y="55879"/>
                  </a:lnTo>
                  <a:lnTo>
                    <a:pt x="74396" y="74929"/>
                  </a:lnTo>
                  <a:lnTo>
                    <a:pt x="43517" y="116839"/>
                  </a:lnTo>
                  <a:lnTo>
                    <a:pt x="35028" y="163829"/>
                  </a:lnTo>
                  <a:lnTo>
                    <a:pt x="34798" y="331469"/>
                  </a:lnTo>
                  <a:lnTo>
                    <a:pt x="38705" y="354330"/>
                  </a:lnTo>
                  <a:lnTo>
                    <a:pt x="49590" y="374649"/>
                  </a:lnTo>
                  <a:lnTo>
                    <a:pt x="66280" y="389889"/>
                  </a:lnTo>
                  <a:lnTo>
                    <a:pt x="87604" y="398780"/>
                  </a:lnTo>
                  <a:lnTo>
                    <a:pt x="99476" y="450849"/>
                  </a:lnTo>
                  <a:lnTo>
                    <a:pt x="124875" y="497839"/>
                  </a:lnTo>
                  <a:lnTo>
                    <a:pt x="161938" y="534669"/>
                  </a:lnTo>
                  <a:lnTo>
                    <a:pt x="208800" y="561340"/>
                  </a:lnTo>
                  <a:lnTo>
                    <a:pt x="208800" y="582930"/>
                  </a:lnTo>
                  <a:lnTo>
                    <a:pt x="150418" y="627380"/>
                  </a:lnTo>
                  <a:lnTo>
                    <a:pt x="123300" y="631190"/>
                  </a:lnTo>
                  <a:lnTo>
                    <a:pt x="97293" y="638810"/>
                  </a:lnTo>
                  <a:lnTo>
                    <a:pt x="50596" y="666750"/>
                  </a:lnTo>
                  <a:lnTo>
                    <a:pt x="14106" y="711200"/>
                  </a:lnTo>
                  <a:lnTo>
                    <a:pt x="0" y="765810"/>
                  </a:lnTo>
                  <a:lnTo>
                    <a:pt x="0" y="887729"/>
                  </a:lnTo>
                  <a:lnTo>
                    <a:pt x="5468" y="915669"/>
                  </a:lnTo>
                  <a:lnTo>
                    <a:pt x="20381" y="937260"/>
                  </a:lnTo>
                  <a:lnTo>
                    <a:pt x="42503" y="952500"/>
                  </a:lnTo>
                  <a:lnTo>
                    <a:pt x="69596" y="957579"/>
                  </a:lnTo>
                  <a:lnTo>
                    <a:pt x="487197" y="957579"/>
                  </a:lnTo>
                  <a:lnTo>
                    <a:pt x="505244" y="955039"/>
                  </a:lnTo>
                  <a:lnTo>
                    <a:pt x="513840" y="952500"/>
                  </a:lnTo>
                  <a:lnTo>
                    <a:pt x="521995" y="947419"/>
                  </a:lnTo>
                  <a:lnTo>
                    <a:pt x="556793" y="947419"/>
                  </a:lnTo>
                  <a:lnTo>
                    <a:pt x="556793" y="923289"/>
                  </a:lnTo>
                  <a:lnTo>
                    <a:pt x="69596" y="923289"/>
                  </a:lnTo>
                  <a:lnTo>
                    <a:pt x="56052" y="919479"/>
                  </a:lnTo>
                  <a:lnTo>
                    <a:pt x="44991" y="913129"/>
                  </a:lnTo>
                  <a:lnTo>
                    <a:pt x="37533" y="901700"/>
                  </a:lnTo>
                  <a:lnTo>
                    <a:pt x="34798" y="887729"/>
                  </a:lnTo>
                  <a:lnTo>
                    <a:pt x="34798" y="765810"/>
                  </a:lnTo>
                  <a:lnTo>
                    <a:pt x="45712" y="725169"/>
                  </a:lnTo>
                  <a:lnTo>
                    <a:pt x="72961" y="693419"/>
                  </a:lnTo>
                  <a:lnTo>
                    <a:pt x="119033" y="668019"/>
                  </a:lnTo>
                  <a:lnTo>
                    <a:pt x="136169" y="664210"/>
                  </a:lnTo>
                  <a:lnTo>
                    <a:pt x="190703" y="664210"/>
                  </a:lnTo>
                  <a:lnTo>
                    <a:pt x="180263" y="648969"/>
                  </a:lnTo>
                  <a:lnTo>
                    <a:pt x="224561" y="614680"/>
                  </a:lnTo>
                  <a:lnTo>
                    <a:pt x="273241" y="614680"/>
                  </a:lnTo>
                  <a:lnTo>
                    <a:pt x="243598" y="585469"/>
                  </a:lnTo>
                  <a:lnTo>
                    <a:pt x="243598" y="571499"/>
                  </a:lnTo>
                  <a:lnTo>
                    <a:pt x="348005" y="571499"/>
                  </a:lnTo>
                  <a:lnTo>
                    <a:pt x="348005" y="561340"/>
                  </a:lnTo>
                  <a:lnTo>
                    <a:pt x="385940" y="539749"/>
                  </a:lnTo>
                  <a:lnTo>
                    <a:pt x="278396" y="539749"/>
                  </a:lnTo>
                  <a:lnTo>
                    <a:pt x="228898" y="532130"/>
                  </a:lnTo>
                  <a:lnTo>
                    <a:pt x="185909" y="509269"/>
                  </a:lnTo>
                  <a:lnTo>
                    <a:pt x="152009" y="476249"/>
                  </a:lnTo>
                  <a:lnTo>
                    <a:pt x="129777" y="433069"/>
                  </a:lnTo>
                  <a:lnTo>
                    <a:pt x="121793" y="383539"/>
                  </a:lnTo>
                  <a:lnTo>
                    <a:pt x="121793" y="373380"/>
                  </a:lnTo>
                  <a:lnTo>
                    <a:pt x="114007" y="365759"/>
                  </a:lnTo>
                  <a:lnTo>
                    <a:pt x="104394" y="365759"/>
                  </a:lnTo>
                  <a:lnTo>
                    <a:pt x="90850" y="363219"/>
                  </a:lnTo>
                  <a:lnTo>
                    <a:pt x="79789" y="355599"/>
                  </a:lnTo>
                  <a:lnTo>
                    <a:pt x="72331" y="344169"/>
                  </a:lnTo>
                  <a:lnTo>
                    <a:pt x="69596" y="331469"/>
                  </a:lnTo>
                  <a:lnTo>
                    <a:pt x="69596" y="269239"/>
                  </a:lnTo>
                  <a:lnTo>
                    <a:pt x="77393" y="261619"/>
                  </a:lnTo>
                  <a:lnTo>
                    <a:pt x="142904" y="261619"/>
                  </a:lnTo>
                  <a:lnTo>
                    <a:pt x="146616" y="243839"/>
                  </a:lnTo>
                  <a:lnTo>
                    <a:pt x="153654" y="233679"/>
                  </a:lnTo>
                  <a:lnTo>
                    <a:pt x="112979" y="233679"/>
                  </a:lnTo>
                  <a:lnTo>
                    <a:pt x="105240" y="229870"/>
                  </a:lnTo>
                  <a:lnTo>
                    <a:pt x="69596" y="229870"/>
                  </a:lnTo>
                  <a:lnTo>
                    <a:pt x="69695" y="170179"/>
                  </a:lnTo>
                  <a:lnTo>
                    <a:pt x="75987" y="129539"/>
                  </a:lnTo>
                  <a:lnTo>
                    <a:pt x="105770" y="96520"/>
                  </a:lnTo>
                  <a:lnTo>
                    <a:pt x="139204" y="87629"/>
                  </a:lnTo>
                  <a:lnTo>
                    <a:pt x="146405" y="87629"/>
                  </a:lnTo>
                  <a:lnTo>
                    <a:pt x="152793" y="82549"/>
                  </a:lnTo>
                  <a:lnTo>
                    <a:pt x="214968" y="41909"/>
                  </a:lnTo>
                  <a:lnTo>
                    <a:pt x="278396" y="35559"/>
                  </a:lnTo>
                  <a:lnTo>
                    <a:pt x="411633" y="35559"/>
                  </a:lnTo>
                  <a:lnTo>
                    <a:pt x="410329" y="34289"/>
                  </a:lnTo>
                  <a:lnTo>
                    <a:pt x="403275" y="29209"/>
                  </a:lnTo>
                  <a:lnTo>
                    <a:pt x="379220" y="16509"/>
                  </a:lnTo>
                  <a:lnTo>
                    <a:pt x="350313" y="7620"/>
                  </a:lnTo>
                  <a:lnTo>
                    <a:pt x="316668" y="2539"/>
                  </a:lnTo>
                  <a:lnTo>
                    <a:pt x="278396" y="0"/>
                  </a:lnTo>
                  <a:close/>
                </a:path>
                <a:path w="1044575" h="1043939" extrusionOk="0">
                  <a:moveTo>
                    <a:pt x="190703" y="664210"/>
                  </a:moveTo>
                  <a:lnTo>
                    <a:pt x="136169" y="664210"/>
                  </a:lnTo>
                  <a:lnTo>
                    <a:pt x="134621" y="711200"/>
                  </a:lnTo>
                  <a:lnTo>
                    <a:pt x="139532" y="756919"/>
                  </a:lnTo>
                  <a:lnTo>
                    <a:pt x="150696" y="801369"/>
                  </a:lnTo>
                  <a:lnTo>
                    <a:pt x="167909" y="844550"/>
                  </a:lnTo>
                  <a:lnTo>
                    <a:pt x="190964" y="885189"/>
                  </a:lnTo>
                  <a:lnTo>
                    <a:pt x="219659" y="923289"/>
                  </a:lnTo>
                  <a:lnTo>
                    <a:pt x="337070" y="923289"/>
                  </a:lnTo>
                  <a:lnTo>
                    <a:pt x="338008" y="922019"/>
                  </a:lnTo>
                  <a:lnTo>
                    <a:pt x="269735" y="922019"/>
                  </a:lnTo>
                  <a:lnTo>
                    <a:pt x="263144" y="919479"/>
                  </a:lnTo>
                  <a:lnTo>
                    <a:pt x="258699" y="913129"/>
                  </a:lnTo>
                  <a:lnTo>
                    <a:pt x="254546" y="909319"/>
                  </a:lnTo>
                  <a:lnTo>
                    <a:pt x="250977" y="905510"/>
                  </a:lnTo>
                  <a:lnTo>
                    <a:pt x="247180" y="900429"/>
                  </a:lnTo>
                  <a:lnTo>
                    <a:pt x="250895" y="859789"/>
                  </a:lnTo>
                  <a:lnTo>
                    <a:pt x="216001" y="859789"/>
                  </a:lnTo>
                  <a:lnTo>
                    <a:pt x="195905" y="820419"/>
                  </a:lnTo>
                  <a:lnTo>
                    <a:pt x="181394" y="781050"/>
                  </a:lnTo>
                  <a:lnTo>
                    <a:pt x="172635" y="737869"/>
                  </a:lnTo>
                  <a:lnTo>
                    <a:pt x="169799" y="694690"/>
                  </a:lnTo>
                  <a:lnTo>
                    <a:pt x="255028" y="694690"/>
                  </a:lnTo>
                  <a:lnTo>
                    <a:pt x="257365" y="692150"/>
                  </a:lnTo>
                  <a:lnTo>
                    <a:pt x="209842" y="692150"/>
                  </a:lnTo>
                  <a:lnTo>
                    <a:pt x="190703" y="664210"/>
                  </a:lnTo>
                  <a:close/>
                </a:path>
                <a:path w="1044575" h="1043939" extrusionOk="0">
                  <a:moveTo>
                    <a:pt x="502803" y="664210"/>
                  </a:moveTo>
                  <a:lnTo>
                    <a:pt x="420560" y="664210"/>
                  </a:lnTo>
                  <a:lnTo>
                    <a:pt x="437724" y="668019"/>
                  </a:lnTo>
                  <a:lnTo>
                    <a:pt x="454129" y="674369"/>
                  </a:lnTo>
                  <a:lnTo>
                    <a:pt x="499347" y="708660"/>
                  </a:lnTo>
                  <a:lnTo>
                    <a:pt x="518769" y="745490"/>
                  </a:lnTo>
                  <a:lnTo>
                    <a:pt x="521995" y="765810"/>
                  </a:lnTo>
                  <a:lnTo>
                    <a:pt x="521995" y="887729"/>
                  </a:lnTo>
                  <a:lnTo>
                    <a:pt x="519262" y="901700"/>
                  </a:lnTo>
                  <a:lnTo>
                    <a:pt x="511806" y="913129"/>
                  </a:lnTo>
                  <a:lnTo>
                    <a:pt x="500746" y="919479"/>
                  </a:lnTo>
                  <a:lnTo>
                    <a:pt x="487197" y="923289"/>
                  </a:lnTo>
                  <a:lnTo>
                    <a:pt x="556793" y="923289"/>
                  </a:lnTo>
                  <a:lnTo>
                    <a:pt x="556793" y="681990"/>
                  </a:lnTo>
                  <a:lnTo>
                    <a:pt x="521995" y="681990"/>
                  </a:lnTo>
                  <a:lnTo>
                    <a:pt x="517093" y="676910"/>
                  </a:lnTo>
                  <a:lnTo>
                    <a:pt x="511835" y="671829"/>
                  </a:lnTo>
                  <a:lnTo>
                    <a:pt x="506234" y="666750"/>
                  </a:lnTo>
                  <a:lnTo>
                    <a:pt x="502803" y="664210"/>
                  </a:lnTo>
                  <a:close/>
                </a:path>
                <a:path w="1044575" h="1043939" extrusionOk="0">
                  <a:moveTo>
                    <a:pt x="332168" y="765810"/>
                  </a:moveTo>
                  <a:lnTo>
                    <a:pt x="297307" y="765810"/>
                  </a:lnTo>
                  <a:lnTo>
                    <a:pt x="309664" y="901700"/>
                  </a:lnTo>
                  <a:lnTo>
                    <a:pt x="305943" y="905510"/>
                  </a:lnTo>
                  <a:lnTo>
                    <a:pt x="302120" y="909319"/>
                  </a:lnTo>
                  <a:lnTo>
                    <a:pt x="292392" y="919479"/>
                  </a:lnTo>
                  <a:lnTo>
                    <a:pt x="284759" y="922019"/>
                  </a:lnTo>
                  <a:lnTo>
                    <a:pt x="338008" y="922019"/>
                  </a:lnTo>
                  <a:lnTo>
                    <a:pt x="367086" y="882650"/>
                  </a:lnTo>
                  <a:lnTo>
                    <a:pt x="379678" y="859789"/>
                  </a:lnTo>
                  <a:lnTo>
                    <a:pt x="340817" y="859789"/>
                  </a:lnTo>
                  <a:lnTo>
                    <a:pt x="332168" y="765810"/>
                  </a:lnTo>
                  <a:close/>
                </a:path>
                <a:path w="1044575" h="1043939" extrusionOk="0">
                  <a:moveTo>
                    <a:pt x="343662" y="731519"/>
                  </a:moveTo>
                  <a:lnTo>
                    <a:pt x="213093" y="731519"/>
                  </a:lnTo>
                  <a:lnTo>
                    <a:pt x="225767" y="753110"/>
                  </a:lnTo>
                  <a:lnTo>
                    <a:pt x="216001" y="859789"/>
                  </a:lnTo>
                  <a:lnTo>
                    <a:pt x="250895" y="859789"/>
                  </a:lnTo>
                  <a:lnTo>
                    <a:pt x="259486" y="765810"/>
                  </a:lnTo>
                  <a:lnTo>
                    <a:pt x="332168" y="765810"/>
                  </a:lnTo>
                  <a:lnTo>
                    <a:pt x="331000" y="753110"/>
                  </a:lnTo>
                  <a:lnTo>
                    <a:pt x="343662" y="731519"/>
                  </a:lnTo>
                  <a:close/>
                </a:path>
                <a:path w="1044575" h="1043939" extrusionOk="0">
                  <a:moveTo>
                    <a:pt x="422105" y="694690"/>
                  </a:moveTo>
                  <a:lnTo>
                    <a:pt x="387286" y="694690"/>
                  </a:lnTo>
                  <a:lnTo>
                    <a:pt x="387286" y="695960"/>
                  </a:lnTo>
                  <a:lnTo>
                    <a:pt x="384508" y="739140"/>
                  </a:lnTo>
                  <a:lnTo>
                    <a:pt x="375719" y="781050"/>
                  </a:lnTo>
                  <a:lnTo>
                    <a:pt x="361097" y="821689"/>
                  </a:lnTo>
                  <a:lnTo>
                    <a:pt x="340817" y="859789"/>
                  </a:lnTo>
                  <a:lnTo>
                    <a:pt x="379678" y="859789"/>
                  </a:lnTo>
                  <a:lnTo>
                    <a:pt x="390871" y="839469"/>
                  </a:lnTo>
                  <a:lnTo>
                    <a:pt x="408153" y="793750"/>
                  </a:lnTo>
                  <a:lnTo>
                    <a:pt x="418661" y="745490"/>
                  </a:lnTo>
                  <a:lnTo>
                    <a:pt x="422122" y="695960"/>
                  </a:lnTo>
                  <a:lnTo>
                    <a:pt x="422105" y="694690"/>
                  </a:lnTo>
                  <a:close/>
                </a:path>
                <a:path w="1044575" h="1043939" extrusionOk="0">
                  <a:moveTo>
                    <a:pt x="255028" y="694690"/>
                  </a:moveTo>
                  <a:lnTo>
                    <a:pt x="169799" y="694690"/>
                  </a:lnTo>
                  <a:lnTo>
                    <a:pt x="187617" y="721360"/>
                  </a:lnTo>
                  <a:lnTo>
                    <a:pt x="188252" y="722629"/>
                  </a:lnTo>
                  <a:lnTo>
                    <a:pt x="188925" y="722629"/>
                  </a:lnTo>
                  <a:lnTo>
                    <a:pt x="194042" y="727710"/>
                  </a:lnTo>
                  <a:lnTo>
                    <a:pt x="199975" y="730250"/>
                  </a:lnTo>
                  <a:lnTo>
                    <a:pt x="206425" y="731519"/>
                  </a:lnTo>
                  <a:lnTo>
                    <a:pt x="253606" y="731519"/>
                  </a:lnTo>
                  <a:lnTo>
                    <a:pt x="241007" y="709929"/>
                  </a:lnTo>
                  <a:lnTo>
                    <a:pt x="255028" y="694690"/>
                  </a:lnTo>
                  <a:close/>
                </a:path>
                <a:path w="1044575" h="1043939" extrusionOk="0">
                  <a:moveTo>
                    <a:pt x="325382" y="669290"/>
                  </a:moveTo>
                  <a:lnTo>
                    <a:pt x="278396" y="669290"/>
                  </a:lnTo>
                  <a:lnTo>
                    <a:pt x="315785" y="709929"/>
                  </a:lnTo>
                  <a:lnTo>
                    <a:pt x="303187" y="731519"/>
                  </a:lnTo>
                  <a:lnTo>
                    <a:pt x="350331" y="731519"/>
                  </a:lnTo>
                  <a:lnTo>
                    <a:pt x="356784" y="730250"/>
                  </a:lnTo>
                  <a:lnTo>
                    <a:pt x="362717" y="727710"/>
                  </a:lnTo>
                  <a:lnTo>
                    <a:pt x="367830" y="722629"/>
                  </a:lnTo>
                  <a:lnTo>
                    <a:pt x="368515" y="722629"/>
                  </a:lnTo>
                  <a:lnTo>
                    <a:pt x="369138" y="721360"/>
                  </a:lnTo>
                  <a:lnTo>
                    <a:pt x="387286" y="694690"/>
                  </a:lnTo>
                  <a:lnTo>
                    <a:pt x="422105" y="694690"/>
                  </a:lnTo>
                  <a:lnTo>
                    <a:pt x="422070" y="692150"/>
                  </a:lnTo>
                  <a:lnTo>
                    <a:pt x="346951" y="692150"/>
                  </a:lnTo>
                  <a:lnTo>
                    <a:pt x="325382" y="669290"/>
                  </a:lnTo>
                  <a:close/>
                </a:path>
                <a:path w="1044575" h="1043939" extrusionOk="0">
                  <a:moveTo>
                    <a:pt x="273241" y="614680"/>
                  </a:moveTo>
                  <a:lnTo>
                    <a:pt x="224561" y="614680"/>
                  </a:lnTo>
                  <a:lnTo>
                    <a:pt x="254139" y="645160"/>
                  </a:lnTo>
                  <a:lnTo>
                    <a:pt x="209842" y="692150"/>
                  </a:lnTo>
                  <a:lnTo>
                    <a:pt x="257365" y="692150"/>
                  </a:lnTo>
                  <a:lnTo>
                    <a:pt x="278396" y="669290"/>
                  </a:lnTo>
                  <a:lnTo>
                    <a:pt x="325382" y="669290"/>
                  </a:lnTo>
                  <a:lnTo>
                    <a:pt x="302615" y="645160"/>
                  </a:lnTo>
                  <a:lnTo>
                    <a:pt x="327274" y="619760"/>
                  </a:lnTo>
                  <a:lnTo>
                    <a:pt x="278396" y="619760"/>
                  </a:lnTo>
                  <a:lnTo>
                    <a:pt x="273241" y="614680"/>
                  </a:lnTo>
                  <a:close/>
                </a:path>
                <a:path w="1044575" h="1043939" extrusionOk="0">
                  <a:moveTo>
                    <a:pt x="389697" y="614680"/>
                  </a:moveTo>
                  <a:lnTo>
                    <a:pt x="332206" y="614680"/>
                  </a:lnTo>
                  <a:lnTo>
                    <a:pt x="376478" y="648969"/>
                  </a:lnTo>
                  <a:lnTo>
                    <a:pt x="346951" y="692150"/>
                  </a:lnTo>
                  <a:lnTo>
                    <a:pt x="422070" y="692150"/>
                  </a:lnTo>
                  <a:lnTo>
                    <a:pt x="421999" y="687069"/>
                  </a:lnTo>
                  <a:lnTo>
                    <a:pt x="421665" y="678179"/>
                  </a:lnTo>
                  <a:lnTo>
                    <a:pt x="421168" y="670560"/>
                  </a:lnTo>
                  <a:lnTo>
                    <a:pt x="420560" y="664210"/>
                  </a:lnTo>
                  <a:lnTo>
                    <a:pt x="502803" y="664210"/>
                  </a:lnTo>
                  <a:lnTo>
                    <a:pt x="483934" y="650240"/>
                  </a:lnTo>
                  <a:lnTo>
                    <a:pt x="459524" y="638810"/>
                  </a:lnTo>
                  <a:lnTo>
                    <a:pt x="433504" y="631190"/>
                  </a:lnTo>
                  <a:lnTo>
                    <a:pt x="406374" y="627380"/>
                  </a:lnTo>
                  <a:lnTo>
                    <a:pt x="389697" y="614680"/>
                  </a:lnTo>
                  <a:close/>
                </a:path>
                <a:path w="1044575" h="1043939" extrusionOk="0">
                  <a:moveTo>
                    <a:pt x="974407" y="469899"/>
                  </a:moveTo>
                  <a:lnTo>
                    <a:pt x="591604" y="469899"/>
                  </a:lnTo>
                  <a:lnTo>
                    <a:pt x="564509" y="476249"/>
                  </a:lnTo>
                  <a:lnTo>
                    <a:pt x="542383" y="490219"/>
                  </a:lnTo>
                  <a:lnTo>
                    <a:pt x="527465" y="513080"/>
                  </a:lnTo>
                  <a:lnTo>
                    <a:pt x="521995" y="539749"/>
                  </a:lnTo>
                  <a:lnTo>
                    <a:pt x="521995" y="681990"/>
                  </a:lnTo>
                  <a:lnTo>
                    <a:pt x="556793" y="681990"/>
                  </a:lnTo>
                  <a:lnTo>
                    <a:pt x="556806" y="539749"/>
                  </a:lnTo>
                  <a:lnTo>
                    <a:pt x="559539" y="527049"/>
                  </a:lnTo>
                  <a:lnTo>
                    <a:pt x="566994" y="515619"/>
                  </a:lnTo>
                  <a:lnTo>
                    <a:pt x="578055" y="507999"/>
                  </a:lnTo>
                  <a:lnTo>
                    <a:pt x="591604" y="505459"/>
                  </a:lnTo>
                  <a:lnTo>
                    <a:pt x="1033561" y="505459"/>
                  </a:lnTo>
                  <a:lnTo>
                    <a:pt x="1023616" y="490219"/>
                  </a:lnTo>
                  <a:lnTo>
                    <a:pt x="1001494" y="476249"/>
                  </a:lnTo>
                  <a:lnTo>
                    <a:pt x="974407" y="469899"/>
                  </a:lnTo>
                  <a:close/>
                </a:path>
                <a:path w="1044575" h="1043939" extrusionOk="0">
                  <a:moveTo>
                    <a:pt x="348005" y="571499"/>
                  </a:moveTo>
                  <a:lnTo>
                    <a:pt x="313194" y="571499"/>
                  </a:lnTo>
                  <a:lnTo>
                    <a:pt x="313194" y="585469"/>
                  </a:lnTo>
                  <a:lnTo>
                    <a:pt x="278396" y="619760"/>
                  </a:lnTo>
                  <a:lnTo>
                    <a:pt x="327274" y="619760"/>
                  </a:lnTo>
                  <a:lnTo>
                    <a:pt x="332206" y="614680"/>
                  </a:lnTo>
                  <a:lnTo>
                    <a:pt x="389697" y="614680"/>
                  </a:lnTo>
                  <a:lnTo>
                    <a:pt x="348005" y="582930"/>
                  </a:lnTo>
                  <a:lnTo>
                    <a:pt x="348005" y="571499"/>
                  </a:lnTo>
                  <a:close/>
                </a:path>
                <a:path w="1044575" h="1043939" extrusionOk="0">
                  <a:moveTo>
                    <a:pt x="287145" y="574040"/>
                  </a:moveTo>
                  <a:lnTo>
                    <a:pt x="269650" y="574040"/>
                  </a:lnTo>
                  <a:lnTo>
                    <a:pt x="278396" y="575310"/>
                  </a:lnTo>
                  <a:lnTo>
                    <a:pt x="287145" y="574040"/>
                  </a:lnTo>
                  <a:close/>
                </a:path>
                <a:path w="1044575" h="1043939" extrusionOk="0">
                  <a:moveTo>
                    <a:pt x="313194" y="571499"/>
                  </a:moveTo>
                  <a:lnTo>
                    <a:pt x="243598" y="571499"/>
                  </a:lnTo>
                  <a:lnTo>
                    <a:pt x="260926" y="574040"/>
                  </a:lnTo>
                  <a:lnTo>
                    <a:pt x="295871" y="574040"/>
                  </a:lnTo>
                  <a:lnTo>
                    <a:pt x="313194" y="571499"/>
                  </a:lnTo>
                  <a:close/>
                </a:path>
                <a:path w="1044575" h="1043939" extrusionOk="0">
                  <a:moveTo>
                    <a:pt x="522008" y="261619"/>
                  </a:moveTo>
                  <a:lnTo>
                    <a:pt x="479412" y="261619"/>
                  </a:lnTo>
                  <a:lnTo>
                    <a:pt x="487197" y="269239"/>
                  </a:lnTo>
                  <a:lnTo>
                    <a:pt x="487197" y="331469"/>
                  </a:lnTo>
                  <a:lnTo>
                    <a:pt x="484462" y="344169"/>
                  </a:lnTo>
                  <a:lnTo>
                    <a:pt x="477004" y="355599"/>
                  </a:lnTo>
                  <a:lnTo>
                    <a:pt x="465942" y="363219"/>
                  </a:lnTo>
                  <a:lnTo>
                    <a:pt x="452399" y="365759"/>
                  </a:lnTo>
                  <a:lnTo>
                    <a:pt x="442785" y="365759"/>
                  </a:lnTo>
                  <a:lnTo>
                    <a:pt x="435000" y="373380"/>
                  </a:lnTo>
                  <a:lnTo>
                    <a:pt x="435000" y="383539"/>
                  </a:lnTo>
                  <a:lnTo>
                    <a:pt x="427016" y="433069"/>
                  </a:lnTo>
                  <a:lnTo>
                    <a:pt x="404784" y="476249"/>
                  </a:lnTo>
                  <a:lnTo>
                    <a:pt x="370883" y="509269"/>
                  </a:lnTo>
                  <a:lnTo>
                    <a:pt x="327894" y="532130"/>
                  </a:lnTo>
                  <a:lnTo>
                    <a:pt x="278396" y="539749"/>
                  </a:lnTo>
                  <a:lnTo>
                    <a:pt x="385940" y="539749"/>
                  </a:lnTo>
                  <a:lnTo>
                    <a:pt x="394867" y="534669"/>
                  </a:lnTo>
                  <a:lnTo>
                    <a:pt x="431928" y="497839"/>
                  </a:lnTo>
                  <a:lnTo>
                    <a:pt x="457324" y="450849"/>
                  </a:lnTo>
                  <a:lnTo>
                    <a:pt x="469188" y="398780"/>
                  </a:lnTo>
                  <a:lnTo>
                    <a:pt x="490518" y="389889"/>
                  </a:lnTo>
                  <a:lnTo>
                    <a:pt x="507209" y="374649"/>
                  </a:lnTo>
                  <a:lnTo>
                    <a:pt x="518094" y="354330"/>
                  </a:lnTo>
                  <a:lnTo>
                    <a:pt x="522008" y="331469"/>
                  </a:lnTo>
                  <a:lnTo>
                    <a:pt x="522008" y="261619"/>
                  </a:lnTo>
                  <a:close/>
                </a:path>
                <a:path w="1044575" h="1043939" extrusionOk="0">
                  <a:moveTo>
                    <a:pt x="142904" y="261619"/>
                  </a:moveTo>
                  <a:lnTo>
                    <a:pt x="96608" y="261619"/>
                  </a:lnTo>
                  <a:lnTo>
                    <a:pt x="104394" y="269239"/>
                  </a:lnTo>
                  <a:lnTo>
                    <a:pt x="104394" y="288289"/>
                  </a:lnTo>
                  <a:lnTo>
                    <a:pt x="112191" y="295909"/>
                  </a:lnTo>
                  <a:lnTo>
                    <a:pt x="131406" y="295909"/>
                  </a:lnTo>
                  <a:lnTo>
                    <a:pt x="139192" y="288289"/>
                  </a:lnTo>
                  <a:lnTo>
                    <a:pt x="139192" y="279399"/>
                  </a:lnTo>
                  <a:lnTo>
                    <a:pt x="142904" y="261619"/>
                  </a:lnTo>
                  <a:close/>
                </a:path>
                <a:path w="1044575" h="1043939" extrusionOk="0">
                  <a:moveTo>
                    <a:pt x="416436" y="194309"/>
                  </a:moveTo>
                  <a:lnTo>
                    <a:pt x="355041" y="194309"/>
                  </a:lnTo>
                  <a:lnTo>
                    <a:pt x="371861" y="201929"/>
                  </a:lnTo>
                  <a:lnTo>
                    <a:pt x="392583" y="218439"/>
                  </a:lnTo>
                  <a:lnTo>
                    <a:pt x="410174" y="243839"/>
                  </a:lnTo>
                  <a:lnTo>
                    <a:pt x="417601" y="279399"/>
                  </a:lnTo>
                  <a:lnTo>
                    <a:pt x="417601" y="288289"/>
                  </a:lnTo>
                  <a:lnTo>
                    <a:pt x="425386" y="295909"/>
                  </a:lnTo>
                  <a:lnTo>
                    <a:pt x="444601" y="295909"/>
                  </a:lnTo>
                  <a:lnTo>
                    <a:pt x="452399" y="288289"/>
                  </a:lnTo>
                  <a:lnTo>
                    <a:pt x="452399" y="269239"/>
                  </a:lnTo>
                  <a:lnTo>
                    <a:pt x="460184" y="261619"/>
                  </a:lnTo>
                  <a:lnTo>
                    <a:pt x="522008" y="261619"/>
                  </a:lnTo>
                  <a:lnTo>
                    <a:pt x="522008" y="233679"/>
                  </a:lnTo>
                  <a:lnTo>
                    <a:pt x="443826" y="233679"/>
                  </a:lnTo>
                  <a:lnTo>
                    <a:pt x="429105" y="208279"/>
                  </a:lnTo>
                  <a:lnTo>
                    <a:pt x="416436" y="194309"/>
                  </a:lnTo>
                  <a:close/>
                </a:path>
                <a:path w="1044575" h="1043939" extrusionOk="0">
                  <a:moveTo>
                    <a:pt x="205640" y="157479"/>
                  </a:moveTo>
                  <a:lnTo>
                    <a:pt x="147308" y="186689"/>
                  </a:lnTo>
                  <a:lnTo>
                    <a:pt x="112979" y="233679"/>
                  </a:lnTo>
                  <a:lnTo>
                    <a:pt x="153654" y="233679"/>
                  </a:lnTo>
                  <a:lnTo>
                    <a:pt x="164211" y="218439"/>
                  </a:lnTo>
                  <a:lnTo>
                    <a:pt x="184958" y="201929"/>
                  </a:lnTo>
                  <a:lnTo>
                    <a:pt x="201841" y="194309"/>
                  </a:lnTo>
                  <a:lnTo>
                    <a:pt x="416436" y="194309"/>
                  </a:lnTo>
                  <a:lnTo>
                    <a:pt x="414132" y="191770"/>
                  </a:lnTo>
                  <a:lnTo>
                    <a:pt x="278396" y="191770"/>
                  </a:lnTo>
                  <a:lnTo>
                    <a:pt x="263033" y="190499"/>
                  </a:lnTo>
                  <a:lnTo>
                    <a:pt x="248600" y="186689"/>
                  </a:lnTo>
                  <a:lnTo>
                    <a:pt x="235746" y="177799"/>
                  </a:lnTo>
                  <a:lnTo>
                    <a:pt x="225120" y="167639"/>
                  </a:lnTo>
                  <a:lnTo>
                    <a:pt x="219670" y="161289"/>
                  </a:lnTo>
                  <a:lnTo>
                    <a:pt x="213009" y="158749"/>
                  </a:lnTo>
                  <a:lnTo>
                    <a:pt x="205640" y="157479"/>
                  </a:lnTo>
                  <a:close/>
                </a:path>
                <a:path w="1044575" h="1043939" extrusionOk="0">
                  <a:moveTo>
                    <a:pt x="476250" y="227329"/>
                  </a:moveTo>
                  <a:lnTo>
                    <a:pt x="465097" y="227329"/>
                  </a:lnTo>
                  <a:lnTo>
                    <a:pt x="454152" y="228599"/>
                  </a:lnTo>
                  <a:lnTo>
                    <a:pt x="443826" y="233679"/>
                  </a:lnTo>
                  <a:lnTo>
                    <a:pt x="522008" y="233679"/>
                  </a:lnTo>
                  <a:lnTo>
                    <a:pt x="522008" y="229870"/>
                  </a:lnTo>
                  <a:lnTo>
                    <a:pt x="487197" y="229870"/>
                  </a:lnTo>
                  <a:lnTo>
                    <a:pt x="476250" y="227329"/>
                  </a:lnTo>
                  <a:close/>
                </a:path>
                <a:path w="1044575" h="1043939" extrusionOk="0">
                  <a:moveTo>
                    <a:pt x="91716" y="227329"/>
                  </a:moveTo>
                  <a:lnTo>
                    <a:pt x="80557" y="227329"/>
                  </a:lnTo>
                  <a:lnTo>
                    <a:pt x="69596" y="229870"/>
                  </a:lnTo>
                  <a:lnTo>
                    <a:pt x="105240" y="229870"/>
                  </a:lnTo>
                  <a:lnTo>
                    <a:pt x="102660" y="228599"/>
                  </a:lnTo>
                  <a:lnTo>
                    <a:pt x="91716" y="227329"/>
                  </a:lnTo>
                  <a:close/>
                </a:path>
                <a:path w="1044575" h="1043939" extrusionOk="0">
                  <a:moveTo>
                    <a:pt x="411633" y="35559"/>
                  </a:moveTo>
                  <a:lnTo>
                    <a:pt x="278396" y="35559"/>
                  </a:lnTo>
                  <a:lnTo>
                    <a:pt x="317397" y="38099"/>
                  </a:lnTo>
                  <a:lnTo>
                    <a:pt x="347229" y="43179"/>
                  </a:lnTo>
                  <a:lnTo>
                    <a:pt x="383971" y="58420"/>
                  </a:lnTo>
                  <a:lnTo>
                    <a:pt x="403466" y="82549"/>
                  </a:lnTo>
                  <a:lnTo>
                    <a:pt x="410108" y="87629"/>
                  </a:lnTo>
                  <a:lnTo>
                    <a:pt x="417601" y="87629"/>
                  </a:lnTo>
                  <a:lnTo>
                    <a:pt x="440502" y="91439"/>
                  </a:lnTo>
                  <a:lnTo>
                    <a:pt x="475294" y="119379"/>
                  </a:lnTo>
                  <a:lnTo>
                    <a:pt x="486410" y="157479"/>
                  </a:lnTo>
                  <a:lnTo>
                    <a:pt x="487197" y="229870"/>
                  </a:lnTo>
                  <a:lnTo>
                    <a:pt x="522008" y="229870"/>
                  </a:lnTo>
                  <a:lnTo>
                    <a:pt x="521920" y="170179"/>
                  </a:lnTo>
                  <a:lnTo>
                    <a:pt x="506523" y="104139"/>
                  </a:lnTo>
                  <a:lnTo>
                    <a:pt x="459674" y="60959"/>
                  </a:lnTo>
                  <a:lnTo>
                    <a:pt x="428129" y="53339"/>
                  </a:lnTo>
                  <a:lnTo>
                    <a:pt x="422797" y="46989"/>
                  </a:lnTo>
                  <a:lnTo>
                    <a:pt x="416850" y="40639"/>
                  </a:lnTo>
                  <a:lnTo>
                    <a:pt x="411633" y="35559"/>
                  </a:lnTo>
                  <a:close/>
                </a:path>
                <a:path w="1044575" h="1043939" extrusionOk="0">
                  <a:moveTo>
                    <a:pt x="355041" y="194309"/>
                  </a:moveTo>
                  <a:lnTo>
                    <a:pt x="201841" y="194309"/>
                  </a:lnTo>
                  <a:lnTo>
                    <a:pt x="217828" y="208279"/>
                  </a:lnTo>
                  <a:lnTo>
                    <a:pt x="236404" y="218439"/>
                  </a:lnTo>
                  <a:lnTo>
                    <a:pt x="256837" y="224789"/>
                  </a:lnTo>
                  <a:lnTo>
                    <a:pt x="278396" y="227329"/>
                  </a:lnTo>
                  <a:lnTo>
                    <a:pt x="299975" y="224789"/>
                  </a:lnTo>
                  <a:lnTo>
                    <a:pt x="320428" y="218439"/>
                  </a:lnTo>
                  <a:lnTo>
                    <a:pt x="339027" y="208279"/>
                  </a:lnTo>
                  <a:lnTo>
                    <a:pt x="355041" y="194309"/>
                  </a:lnTo>
                  <a:close/>
                </a:path>
                <a:path w="1044575" h="1043939" extrusionOk="0">
                  <a:moveTo>
                    <a:pt x="351085" y="157479"/>
                  </a:moveTo>
                  <a:lnTo>
                    <a:pt x="343585" y="158749"/>
                  </a:lnTo>
                  <a:lnTo>
                    <a:pt x="336838" y="162559"/>
                  </a:lnTo>
                  <a:lnTo>
                    <a:pt x="331368" y="167639"/>
                  </a:lnTo>
                  <a:lnTo>
                    <a:pt x="320751" y="179070"/>
                  </a:lnTo>
                  <a:lnTo>
                    <a:pt x="307959" y="186689"/>
                  </a:lnTo>
                  <a:lnTo>
                    <a:pt x="293627" y="190499"/>
                  </a:lnTo>
                  <a:lnTo>
                    <a:pt x="278396" y="191770"/>
                  </a:lnTo>
                  <a:lnTo>
                    <a:pt x="414132" y="191770"/>
                  </a:lnTo>
                  <a:lnTo>
                    <a:pt x="409525" y="186689"/>
                  </a:lnTo>
                  <a:lnTo>
                    <a:pt x="385842" y="170179"/>
                  </a:lnTo>
                  <a:lnTo>
                    <a:pt x="358813" y="158749"/>
                  </a:lnTo>
                  <a:lnTo>
                    <a:pt x="351085" y="157479"/>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47" name="Google Shape;2547;p3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7320653" y="5514886"/>
              <a:ext cx="173650" cy="68376"/>
            </a:xfrm>
            <a:prstGeom prst="rect">
              <a:avLst/>
            </a:prstGeom>
            <a:noFill/>
            <a:ln>
              <a:noFill/>
            </a:ln>
          </p:spPr>
        </p:pic>
        <p:sp>
          <p:nvSpPr>
            <p:cNvPr id="2548" name="Google Shape;2548;p38"/>
            <p:cNvSpPr/>
            <p:nvPr/>
          </p:nvSpPr>
          <p:spPr>
            <a:xfrm>
              <a:off x="7738287" y="5654141"/>
              <a:ext cx="347979" cy="400050"/>
            </a:xfrm>
            <a:custGeom>
              <a:avLst/>
              <a:gdLst/>
              <a:ahLst/>
              <a:cxnLst/>
              <a:rect l="l" t="t" r="r" b="b"/>
              <a:pathLst>
                <a:path w="347979" h="400050" extrusionOk="0">
                  <a:moveTo>
                    <a:pt x="103974" y="330288"/>
                  </a:moveTo>
                  <a:lnTo>
                    <a:pt x="102590" y="323761"/>
                  </a:lnTo>
                  <a:lnTo>
                    <a:pt x="98666" y="318071"/>
                  </a:lnTo>
                  <a:lnTo>
                    <a:pt x="92989" y="314413"/>
                  </a:lnTo>
                  <a:lnTo>
                    <a:pt x="86575" y="313194"/>
                  </a:lnTo>
                  <a:lnTo>
                    <a:pt x="80162" y="314413"/>
                  </a:lnTo>
                  <a:lnTo>
                    <a:pt x="74485" y="318071"/>
                  </a:lnTo>
                  <a:lnTo>
                    <a:pt x="34594" y="357974"/>
                  </a:lnTo>
                  <a:lnTo>
                    <a:pt x="29489" y="352882"/>
                  </a:lnTo>
                  <a:lnTo>
                    <a:pt x="0" y="365391"/>
                  </a:lnTo>
                  <a:lnTo>
                    <a:pt x="1219" y="371805"/>
                  </a:lnTo>
                  <a:lnTo>
                    <a:pt x="4889" y="377482"/>
                  </a:lnTo>
                  <a:lnTo>
                    <a:pt x="22288" y="394881"/>
                  </a:lnTo>
                  <a:lnTo>
                    <a:pt x="28041" y="398703"/>
                  </a:lnTo>
                  <a:lnTo>
                    <a:pt x="34582" y="399973"/>
                  </a:lnTo>
                  <a:lnTo>
                    <a:pt x="41135" y="398703"/>
                  </a:lnTo>
                  <a:lnTo>
                    <a:pt x="46888" y="394881"/>
                  </a:lnTo>
                  <a:lnTo>
                    <a:pt x="99098" y="342684"/>
                  </a:lnTo>
                  <a:lnTo>
                    <a:pt x="102819" y="336854"/>
                  </a:lnTo>
                  <a:lnTo>
                    <a:pt x="103974" y="330288"/>
                  </a:lnTo>
                  <a:close/>
                </a:path>
                <a:path w="347979" h="400050" extrusionOk="0">
                  <a:moveTo>
                    <a:pt x="103974" y="225894"/>
                  </a:moveTo>
                  <a:lnTo>
                    <a:pt x="102590" y="219367"/>
                  </a:lnTo>
                  <a:lnTo>
                    <a:pt x="98666" y="213677"/>
                  </a:lnTo>
                  <a:lnTo>
                    <a:pt x="92989" y="210019"/>
                  </a:lnTo>
                  <a:lnTo>
                    <a:pt x="86575" y="208800"/>
                  </a:lnTo>
                  <a:lnTo>
                    <a:pt x="80162" y="210019"/>
                  </a:lnTo>
                  <a:lnTo>
                    <a:pt x="74485" y="213677"/>
                  </a:lnTo>
                  <a:lnTo>
                    <a:pt x="34594" y="253580"/>
                  </a:lnTo>
                  <a:lnTo>
                    <a:pt x="29489" y="248488"/>
                  </a:lnTo>
                  <a:lnTo>
                    <a:pt x="0" y="260997"/>
                  </a:lnTo>
                  <a:lnTo>
                    <a:pt x="1219" y="267411"/>
                  </a:lnTo>
                  <a:lnTo>
                    <a:pt x="4889" y="273088"/>
                  </a:lnTo>
                  <a:lnTo>
                    <a:pt x="22288" y="290487"/>
                  </a:lnTo>
                  <a:lnTo>
                    <a:pt x="28041" y="294309"/>
                  </a:lnTo>
                  <a:lnTo>
                    <a:pt x="34582" y="295579"/>
                  </a:lnTo>
                  <a:lnTo>
                    <a:pt x="41135" y="294309"/>
                  </a:lnTo>
                  <a:lnTo>
                    <a:pt x="46888" y="290487"/>
                  </a:lnTo>
                  <a:lnTo>
                    <a:pt x="99098" y="238290"/>
                  </a:lnTo>
                  <a:lnTo>
                    <a:pt x="102819" y="232460"/>
                  </a:lnTo>
                  <a:lnTo>
                    <a:pt x="103974" y="225894"/>
                  </a:lnTo>
                  <a:close/>
                </a:path>
                <a:path w="347979" h="400050" extrusionOk="0">
                  <a:moveTo>
                    <a:pt x="103974" y="121488"/>
                  </a:moveTo>
                  <a:lnTo>
                    <a:pt x="102590" y="114960"/>
                  </a:lnTo>
                  <a:lnTo>
                    <a:pt x="98666" y="109270"/>
                  </a:lnTo>
                  <a:lnTo>
                    <a:pt x="92989" y="105613"/>
                  </a:lnTo>
                  <a:lnTo>
                    <a:pt x="86575" y="104394"/>
                  </a:lnTo>
                  <a:lnTo>
                    <a:pt x="80162" y="105613"/>
                  </a:lnTo>
                  <a:lnTo>
                    <a:pt x="74485" y="109270"/>
                  </a:lnTo>
                  <a:lnTo>
                    <a:pt x="34594" y="149174"/>
                  </a:lnTo>
                  <a:lnTo>
                    <a:pt x="29489" y="144081"/>
                  </a:lnTo>
                  <a:lnTo>
                    <a:pt x="0" y="156591"/>
                  </a:lnTo>
                  <a:lnTo>
                    <a:pt x="1219" y="163004"/>
                  </a:lnTo>
                  <a:lnTo>
                    <a:pt x="4889" y="168681"/>
                  </a:lnTo>
                  <a:lnTo>
                    <a:pt x="22288" y="186080"/>
                  </a:lnTo>
                  <a:lnTo>
                    <a:pt x="28041" y="189903"/>
                  </a:lnTo>
                  <a:lnTo>
                    <a:pt x="34582" y="191173"/>
                  </a:lnTo>
                  <a:lnTo>
                    <a:pt x="41135" y="189903"/>
                  </a:lnTo>
                  <a:lnTo>
                    <a:pt x="46888" y="186080"/>
                  </a:lnTo>
                  <a:lnTo>
                    <a:pt x="99098" y="133883"/>
                  </a:lnTo>
                  <a:lnTo>
                    <a:pt x="102819" y="128054"/>
                  </a:lnTo>
                  <a:lnTo>
                    <a:pt x="103974" y="121488"/>
                  </a:lnTo>
                  <a:close/>
                </a:path>
                <a:path w="347979" h="400050" extrusionOk="0">
                  <a:moveTo>
                    <a:pt x="103974" y="17081"/>
                  </a:moveTo>
                  <a:lnTo>
                    <a:pt x="102590" y="10566"/>
                  </a:lnTo>
                  <a:lnTo>
                    <a:pt x="98666" y="4876"/>
                  </a:lnTo>
                  <a:lnTo>
                    <a:pt x="92989" y="1219"/>
                  </a:lnTo>
                  <a:lnTo>
                    <a:pt x="86575" y="0"/>
                  </a:lnTo>
                  <a:lnTo>
                    <a:pt x="80162" y="1219"/>
                  </a:lnTo>
                  <a:lnTo>
                    <a:pt x="74485" y="4876"/>
                  </a:lnTo>
                  <a:lnTo>
                    <a:pt x="34594" y="44780"/>
                  </a:lnTo>
                  <a:lnTo>
                    <a:pt x="29489" y="39687"/>
                  </a:lnTo>
                  <a:lnTo>
                    <a:pt x="0" y="52197"/>
                  </a:lnTo>
                  <a:lnTo>
                    <a:pt x="1219" y="58610"/>
                  </a:lnTo>
                  <a:lnTo>
                    <a:pt x="4889" y="64287"/>
                  </a:lnTo>
                  <a:lnTo>
                    <a:pt x="22288" y="81686"/>
                  </a:lnTo>
                  <a:lnTo>
                    <a:pt x="28041" y="85509"/>
                  </a:lnTo>
                  <a:lnTo>
                    <a:pt x="34582" y="86779"/>
                  </a:lnTo>
                  <a:lnTo>
                    <a:pt x="41135" y="85509"/>
                  </a:lnTo>
                  <a:lnTo>
                    <a:pt x="46888" y="81686"/>
                  </a:lnTo>
                  <a:lnTo>
                    <a:pt x="99098" y="29489"/>
                  </a:lnTo>
                  <a:lnTo>
                    <a:pt x="102819" y="23660"/>
                  </a:lnTo>
                  <a:lnTo>
                    <a:pt x="103974" y="17081"/>
                  </a:lnTo>
                  <a:close/>
                </a:path>
                <a:path w="347979" h="400050" extrusionOk="0">
                  <a:moveTo>
                    <a:pt x="347789" y="355574"/>
                  </a:moveTo>
                  <a:lnTo>
                    <a:pt x="340004" y="347789"/>
                  </a:lnTo>
                  <a:lnTo>
                    <a:pt x="146773" y="347789"/>
                  </a:lnTo>
                  <a:lnTo>
                    <a:pt x="138988" y="355574"/>
                  </a:lnTo>
                  <a:lnTo>
                    <a:pt x="138988" y="374802"/>
                  </a:lnTo>
                  <a:lnTo>
                    <a:pt x="146773" y="382587"/>
                  </a:lnTo>
                  <a:lnTo>
                    <a:pt x="156387" y="382587"/>
                  </a:lnTo>
                  <a:lnTo>
                    <a:pt x="340004" y="382587"/>
                  </a:lnTo>
                  <a:lnTo>
                    <a:pt x="347789" y="374802"/>
                  </a:lnTo>
                  <a:lnTo>
                    <a:pt x="347789" y="355574"/>
                  </a:lnTo>
                  <a:close/>
                </a:path>
                <a:path w="347979" h="400050" extrusionOk="0">
                  <a:moveTo>
                    <a:pt x="347789" y="251167"/>
                  </a:moveTo>
                  <a:lnTo>
                    <a:pt x="340004" y="243382"/>
                  </a:lnTo>
                  <a:lnTo>
                    <a:pt x="146773" y="243382"/>
                  </a:lnTo>
                  <a:lnTo>
                    <a:pt x="138988" y="251167"/>
                  </a:lnTo>
                  <a:lnTo>
                    <a:pt x="138988" y="270395"/>
                  </a:lnTo>
                  <a:lnTo>
                    <a:pt x="146773" y="278180"/>
                  </a:lnTo>
                  <a:lnTo>
                    <a:pt x="156387" y="278180"/>
                  </a:lnTo>
                  <a:lnTo>
                    <a:pt x="340004" y="278180"/>
                  </a:lnTo>
                  <a:lnTo>
                    <a:pt x="347789" y="270395"/>
                  </a:lnTo>
                  <a:lnTo>
                    <a:pt x="347789" y="251167"/>
                  </a:lnTo>
                  <a:close/>
                </a:path>
                <a:path w="347979" h="400050" extrusionOk="0">
                  <a:moveTo>
                    <a:pt x="347789" y="146761"/>
                  </a:moveTo>
                  <a:lnTo>
                    <a:pt x="340004" y="138976"/>
                  </a:lnTo>
                  <a:lnTo>
                    <a:pt x="146773" y="138976"/>
                  </a:lnTo>
                  <a:lnTo>
                    <a:pt x="138988" y="146761"/>
                  </a:lnTo>
                  <a:lnTo>
                    <a:pt x="138988" y="166001"/>
                  </a:lnTo>
                  <a:lnTo>
                    <a:pt x="146773" y="173786"/>
                  </a:lnTo>
                  <a:lnTo>
                    <a:pt x="156387" y="173786"/>
                  </a:lnTo>
                  <a:lnTo>
                    <a:pt x="340004" y="173786"/>
                  </a:lnTo>
                  <a:lnTo>
                    <a:pt x="347789" y="166001"/>
                  </a:lnTo>
                  <a:lnTo>
                    <a:pt x="347789" y="146761"/>
                  </a:lnTo>
                  <a:close/>
                </a:path>
                <a:path w="347979" h="400050" extrusionOk="0">
                  <a:moveTo>
                    <a:pt x="347789" y="42367"/>
                  </a:moveTo>
                  <a:lnTo>
                    <a:pt x="340004" y="34582"/>
                  </a:lnTo>
                  <a:lnTo>
                    <a:pt x="146773" y="34582"/>
                  </a:lnTo>
                  <a:lnTo>
                    <a:pt x="138988" y="42367"/>
                  </a:lnTo>
                  <a:lnTo>
                    <a:pt x="138988" y="61595"/>
                  </a:lnTo>
                  <a:lnTo>
                    <a:pt x="146773" y="69380"/>
                  </a:lnTo>
                  <a:lnTo>
                    <a:pt x="156387" y="69380"/>
                  </a:lnTo>
                  <a:lnTo>
                    <a:pt x="340004" y="69380"/>
                  </a:lnTo>
                  <a:lnTo>
                    <a:pt x="347789" y="61595"/>
                  </a:lnTo>
                  <a:lnTo>
                    <a:pt x="347789" y="42367"/>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549" name="Google Shape;2549;p3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905438" y="5063841"/>
            <a:ext cx="1110373" cy="1128868"/>
          </a:xfrm>
          <a:prstGeom prst="rect">
            <a:avLst/>
          </a:prstGeom>
          <a:noFill/>
          <a:ln>
            <a:noFill/>
          </a:ln>
        </p:spPr>
      </p:pic>
      <p:grpSp>
        <p:nvGrpSpPr>
          <p:cNvPr id="2550" name="Google Shape;2550;p38"/>
          <p:cNvGrpSpPr/>
          <p:nvPr/>
        </p:nvGrpSpPr>
        <p:grpSpPr>
          <a:xfrm>
            <a:off x="14782825" y="5062664"/>
            <a:ext cx="1082675" cy="1082675"/>
            <a:chOff x="14782825" y="5062664"/>
            <a:chExt cx="1082675" cy="1082675"/>
          </a:xfrm>
        </p:grpSpPr>
        <p:sp>
          <p:nvSpPr>
            <p:cNvPr id="2551" name="Google Shape;2551;p38"/>
            <p:cNvSpPr/>
            <p:nvPr/>
          </p:nvSpPr>
          <p:spPr>
            <a:xfrm>
              <a:off x="14782825" y="5062664"/>
              <a:ext cx="1082675" cy="1082675"/>
            </a:xfrm>
            <a:custGeom>
              <a:avLst/>
              <a:gdLst/>
              <a:ahLst/>
              <a:cxnLst/>
              <a:rect l="l" t="t" r="r" b="b"/>
              <a:pathLst>
                <a:path w="1082675" h="1082675" extrusionOk="0">
                  <a:moveTo>
                    <a:pt x="659904" y="209892"/>
                  </a:moveTo>
                  <a:lnTo>
                    <a:pt x="652322" y="202311"/>
                  </a:lnTo>
                  <a:lnTo>
                    <a:pt x="642962" y="202311"/>
                  </a:lnTo>
                  <a:lnTo>
                    <a:pt x="633603" y="202311"/>
                  </a:lnTo>
                  <a:lnTo>
                    <a:pt x="626021" y="209892"/>
                  </a:lnTo>
                  <a:lnTo>
                    <a:pt x="626021" y="228612"/>
                  </a:lnTo>
                  <a:lnTo>
                    <a:pt x="633603" y="236207"/>
                  </a:lnTo>
                  <a:lnTo>
                    <a:pt x="652322" y="236207"/>
                  </a:lnTo>
                  <a:lnTo>
                    <a:pt x="659904" y="228612"/>
                  </a:lnTo>
                  <a:lnTo>
                    <a:pt x="659904" y="209892"/>
                  </a:lnTo>
                  <a:close/>
                </a:path>
                <a:path w="1082675" h="1082675" extrusionOk="0">
                  <a:moveTo>
                    <a:pt x="727684" y="209892"/>
                  </a:moveTo>
                  <a:lnTo>
                    <a:pt x="720102" y="202311"/>
                  </a:lnTo>
                  <a:lnTo>
                    <a:pt x="710742" y="202311"/>
                  </a:lnTo>
                  <a:lnTo>
                    <a:pt x="701382" y="202311"/>
                  </a:lnTo>
                  <a:lnTo>
                    <a:pt x="693801" y="209892"/>
                  </a:lnTo>
                  <a:lnTo>
                    <a:pt x="693801" y="228612"/>
                  </a:lnTo>
                  <a:lnTo>
                    <a:pt x="701382" y="236207"/>
                  </a:lnTo>
                  <a:lnTo>
                    <a:pt x="720102" y="236207"/>
                  </a:lnTo>
                  <a:lnTo>
                    <a:pt x="727684" y="228612"/>
                  </a:lnTo>
                  <a:lnTo>
                    <a:pt x="727684" y="209892"/>
                  </a:lnTo>
                  <a:close/>
                </a:path>
                <a:path w="1082675" h="1082675" extrusionOk="0">
                  <a:moveTo>
                    <a:pt x="795477" y="209892"/>
                  </a:moveTo>
                  <a:lnTo>
                    <a:pt x="787895" y="202311"/>
                  </a:lnTo>
                  <a:lnTo>
                    <a:pt x="778535" y="202311"/>
                  </a:lnTo>
                  <a:lnTo>
                    <a:pt x="769175" y="202311"/>
                  </a:lnTo>
                  <a:lnTo>
                    <a:pt x="761593" y="209892"/>
                  </a:lnTo>
                  <a:lnTo>
                    <a:pt x="761593" y="228612"/>
                  </a:lnTo>
                  <a:lnTo>
                    <a:pt x="769175" y="236207"/>
                  </a:lnTo>
                  <a:lnTo>
                    <a:pt x="787895" y="236207"/>
                  </a:lnTo>
                  <a:lnTo>
                    <a:pt x="795477" y="228612"/>
                  </a:lnTo>
                  <a:lnTo>
                    <a:pt x="795477" y="209892"/>
                  </a:lnTo>
                  <a:close/>
                </a:path>
                <a:path w="1082675" h="1082675" extrusionOk="0">
                  <a:moveTo>
                    <a:pt x="862228" y="159639"/>
                  </a:moveTo>
                  <a:lnTo>
                    <a:pt x="855116" y="152527"/>
                  </a:lnTo>
                  <a:lnTo>
                    <a:pt x="830440" y="152527"/>
                  </a:lnTo>
                  <a:lnTo>
                    <a:pt x="830440" y="184302"/>
                  </a:lnTo>
                  <a:lnTo>
                    <a:pt x="830440" y="254215"/>
                  </a:lnTo>
                  <a:lnTo>
                    <a:pt x="830440" y="285991"/>
                  </a:lnTo>
                  <a:lnTo>
                    <a:pt x="830440" y="644017"/>
                  </a:lnTo>
                  <a:lnTo>
                    <a:pt x="252107" y="644017"/>
                  </a:lnTo>
                  <a:lnTo>
                    <a:pt x="252107" y="285991"/>
                  </a:lnTo>
                  <a:lnTo>
                    <a:pt x="830440" y="285991"/>
                  </a:lnTo>
                  <a:lnTo>
                    <a:pt x="830440" y="254215"/>
                  </a:lnTo>
                  <a:lnTo>
                    <a:pt x="252107" y="254215"/>
                  </a:lnTo>
                  <a:lnTo>
                    <a:pt x="252107" y="184302"/>
                  </a:lnTo>
                  <a:lnTo>
                    <a:pt x="830440" y="184302"/>
                  </a:lnTo>
                  <a:lnTo>
                    <a:pt x="830440" y="152527"/>
                  </a:lnTo>
                  <a:lnTo>
                    <a:pt x="227444" y="152527"/>
                  </a:lnTo>
                  <a:lnTo>
                    <a:pt x="220332" y="159639"/>
                  </a:lnTo>
                  <a:lnTo>
                    <a:pt x="220332" y="668667"/>
                  </a:lnTo>
                  <a:lnTo>
                    <a:pt x="227444" y="675779"/>
                  </a:lnTo>
                  <a:lnTo>
                    <a:pt x="855116" y="675779"/>
                  </a:lnTo>
                  <a:lnTo>
                    <a:pt x="862228" y="668667"/>
                  </a:lnTo>
                  <a:lnTo>
                    <a:pt x="862228" y="644017"/>
                  </a:lnTo>
                  <a:lnTo>
                    <a:pt x="862228" y="285991"/>
                  </a:lnTo>
                  <a:lnTo>
                    <a:pt x="862228" y="254215"/>
                  </a:lnTo>
                  <a:lnTo>
                    <a:pt x="862228" y="184302"/>
                  </a:lnTo>
                  <a:lnTo>
                    <a:pt x="862228" y="159639"/>
                  </a:lnTo>
                  <a:close/>
                </a:path>
                <a:path w="1082675" h="1082675" extrusionOk="0">
                  <a:moveTo>
                    <a:pt x="1082535" y="49784"/>
                  </a:moveTo>
                  <a:lnTo>
                    <a:pt x="1078890" y="31775"/>
                  </a:lnTo>
                  <a:lnTo>
                    <a:pt x="1078623" y="30429"/>
                  </a:lnTo>
                  <a:lnTo>
                    <a:pt x="1067943" y="14605"/>
                  </a:lnTo>
                  <a:lnTo>
                    <a:pt x="1052118" y="3924"/>
                  </a:lnTo>
                  <a:lnTo>
                    <a:pt x="1032751" y="0"/>
                  </a:lnTo>
                  <a:lnTo>
                    <a:pt x="49784" y="0"/>
                  </a:lnTo>
                  <a:lnTo>
                    <a:pt x="30429" y="3924"/>
                  </a:lnTo>
                  <a:lnTo>
                    <a:pt x="14605" y="14605"/>
                  </a:lnTo>
                  <a:lnTo>
                    <a:pt x="3924" y="30429"/>
                  </a:lnTo>
                  <a:lnTo>
                    <a:pt x="0" y="49784"/>
                  </a:lnTo>
                  <a:lnTo>
                    <a:pt x="0" y="416115"/>
                  </a:lnTo>
                  <a:lnTo>
                    <a:pt x="7112" y="423227"/>
                  </a:lnTo>
                  <a:lnTo>
                    <a:pt x="24663" y="423227"/>
                  </a:lnTo>
                  <a:lnTo>
                    <a:pt x="31788" y="416115"/>
                  </a:lnTo>
                  <a:lnTo>
                    <a:pt x="31788" y="116509"/>
                  </a:lnTo>
                  <a:lnTo>
                    <a:pt x="881176" y="116509"/>
                  </a:lnTo>
                  <a:lnTo>
                    <a:pt x="888288" y="109397"/>
                  </a:lnTo>
                  <a:lnTo>
                    <a:pt x="888288" y="91846"/>
                  </a:lnTo>
                  <a:lnTo>
                    <a:pt x="881176" y="84734"/>
                  </a:lnTo>
                  <a:lnTo>
                    <a:pt x="31788" y="84734"/>
                  </a:lnTo>
                  <a:lnTo>
                    <a:pt x="31788" y="49784"/>
                  </a:lnTo>
                  <a:lnTo>
                    <a:pt x="33197" y="42786"/>
                  </a:lnTo>
                  <a:lnTo>
                    <a:pt x="37058" y="37058"/>
                  </a:lnTo>
                  <a:lnTo>
                    <a:pt x="42786" y="33197"/>
                  </a:lnTo>
                  <a:lnTo>
                    <a:pt x="49784" y="31775"/>
                  </a:lnTo>
                  <a:lnTo>
                    <a:pt x="1032751" y="31775"/>
                  </a:lnTo>
                  <a:lnTo>
                    <a:pt x="1039749" y="33197"/>
                  </a:lnTo>
                  <a:lnTo>
                    <a:pt x="1045476" y="37058"/>
                  </a:lnTo>
                  <a:lnTo>
                    <a:pt x="1049337" y="42786"/>
                  </a:lnTo>
                  <a:lnTo>
                    <a:pt x="1050759" y="49784"/>
                  </a:lnTo>
                  <a:lnTo>
                    <a:pt x="1050759" y="84734"/>
                  </a:lnTo>
                  <a:lnTo>
                    <a:pt x="940714" y="84734"/>
                  </a:lnTo>
                  <a:lnTo>
                    <a:pt x="933602" y="91846"/>
                  </a:lnTo>
                  <a:lnTo>
                    <a:pt x="933602" y="109397"/>
                  </a:lnTo>
                  <a:lnTo>
                    <a:pt x="940714" y="116509"/>
                  </a:lnTo>
                  <a:lnTo>
                    <a:pt x="1050759" y="116509"/>
                  </a:lnTo>
                  <a:lnTo>
                    <a:pt x="1050759" y="711796"/>
                  </a:lnTo>
                  <a:lnTo>
                    <a:pt x="1050759" y="743572"/>
                  </a:lnTo>
                  <a:lnTo>
                    <a:pt x="1050759" y="795477"/>
                  </a:lnTo>
                  <a:lnTo>
                    <a:pt x="1049337" y="802487"/>
                  </a:lnTo>
                  <a:lnTo>
                    <a:pt x="1045476" y="808215"/>
                  </a:lnTo>
                  <a:lnTo>
                    <a:pt x="1039749" y="812076"/>
                  </a:lnTo>
                  <a:lnTo>
                    <a:pt x="1032751" y="813485"/>
                  </a:lnTo>
                  <a:lnTo>
                    <a:pt x="627062" y="813485"/>
                  </a:lnTo>
                  <a:lnTo>
                    <a:pt x="627062" y="845261"/>
                  </a:lnTo>
                  <a:lnTo>
                    <a:pt x="627037" y="957592"/>
                  </a:lnTo>
                  <a:lnTo>
                    <a:pt x="572960" y="980122"/>
                  </a:lnTo>
                  <a:lnTo>
                    <a:pt x="541274" y="982954"/>
                  </a:lnTo>
                  <a:lnTo>
                    <a:pt x="509549" y="980122"/>
                  </a:lnTo>
                  <a:lnTo>
                    <a:pt x="484720" y="973264"/>
                  </a:lnTo>
                  <a:lnTo>
                    <a:pt x="466725" y="964920"/>
                  </a:lnTo>
                  <a:lnTo>
                    <a:pt x="455472" y="957592"/>
                  </a:lnTo>
                  <a:lnTo>
                    <a:pt x="455472" y="845261"/>
                  </a:lnTo>
                  <a:lnTo>
                    <a:pt x="627062" y="845261"/>
                  </a:lnTo>
                  <a:lnTo>
                    <a:pt x="627062" y="813485"/>
                  </a:lnTo>
                  <a:lnTo>
                    <a:pt x="49784" y="813485"/>
                  </a:lnTo>
                  <a:lnTo>
                    <a:pt x="42786" y="812076"/>
                  </a:lnTo>
                  <a:lnTo>
                    <a:pt x="37058" y="808215"/>
                  </a:lnTo>
                  <a:lnTo>
                    <a:pt x="33197" y="802487"/>
                  </a:lnTo>
                  <a:lnTo>
                    <a:pt x="31788" y="795477"/>
                  </a:lnTo>
                  <a:lnTo>
                    <a:pt x="31788" y="743572"/>
                  </a:lnTo>
                  <a:lnTo>
                    <a:pt x="1050759" y="743572"/>
                  </a:lnTo>
                  <a:lnTo>
                    <a:pt x="1050759" y="711796"/>
                  </a:lnTo>
                  <a:lnTo>
                    <a:pt x="31788" y="711796"/>
                  </a:lnTo>
                  <a:lnTo>
                    <a:pt x="31788" y="471716"/>
                  </a:lnTo>
                  <a:lnTo>
                    <a:pt x="24663" y="464604"/>
                  </a:lnTo>
                  <a:lnTo>
                    <a:pt x="7112" y="464604"/>
                  </a:lnTo>
                  <a:lnTo>
                    <a:pt x="0" y="471716"/>
                  </a:lnTo>
                  <a:lnTo>
                    <a:pt x="0" y="795477"/>
                  </a:lnTo>
                  <a:lnTo>
                    <a:pt x="3924" y="814844"/>
                  </a:lnTo>
                  <a:lnTo>
                    <a:pt x="14605" y="830668"/>
                  </a:lnTo>
                  <a:lnTo>
                    <a:pt x="30429" y="841349"/>
                  </a:lnTo>
                  <a:lnTo>
                    <a:pt x="49784" y="845261"/>
                  </a:lnTo>
                  <a:lnTo>
                    <a:pt x="423697" y="845261"/>
                  </a:lnTo>
                  <a:lnTo>
                    <a:pt x="423697" y="955954"/>
                  </a:lnTo>
                  <a:lnTo>
                    <a:pt x="341884" y="1005039"/>
                  </a:lnTo>
                  <a:lnTo>
                    <a:pt x="338963" y="1010208"/>
                  </a:lnTo>
                  <a:lnTo>
                    <a:pt x="338963" y="1075410"/>
                  </a:lnTo>
                  <a:lnTo>
                    <a:pt x="346075" y="1082522"/>
                  </a:lnTo>
                  <a:lnTo>
                    <a:pt x="736473" y="1082522"/>
                  </a:lnTo>
                  <a:lnTo>
                    <a:pt x="743585" y="1075410"/>
                  </a:lnTo>
                  <a:lnTo>
                    <a:pt x="743585" y="1050747"/>
                  </a:lnTo>
                  <a:lnTo>
                    <a:pt x="743585" y="1010208"/>
                  </a:lnTo>
                  <a:lnTo>
                    <a:pt x="740651" y="1005039"/>
                  </a:lnTo>
                  <a:lnTo>
                    <a:pt x="711809" y="987742"/>
                  </a:lnTo>
                  <a:lnTo>
                    <a:pt x="711809" y="1024788"/>
                  </a:lnTo>
                  <a:lnTo>
                    <a:pt x="711809" y="1050747"/>
                  </a:lnTo>
                  <a:lnTo>
                    <a:pt x="370738" y="1050747"/>
                  </a:lnTo>
                  <a:lnTo>
                    <a:pt x="370738" y="1024788"/>
                  </a:lnTo>
                  <a:lnTo>
                    <a:pt x="438238" y="984288"/>
                  </a:lnTo>
                  <a:lnTo>
                    <a:pt x="453542" y="993825"/>
                  </a:lnTo>
                  <a:lnTo>
                    <a:pt x="475830" y="1003769"/>
                  </a:lnTo>
                  <a:lnTo>
                    <a:pt x="505079" y="1011580"/>
                  </a:lnTo>
                  <a:lnTo>
                    <a:pt x="541274" y="1014742"/>
                  </a:lnTo>
                  <a:lnTo>
                    <a:pt x="577456" y="1011580"/>
                  </a:lnTo>
                  <a:lnTo>
                    <a:pt x="606704" y="1003769"/>
                  </a:lnTo>
                  <a:lnTo>
                    <a:pt x="628992" y="993825"/>
                  </a:lnTo>
                  <a:lnTo>
                    <a:pt x="644296" y="984288"/>
                  </a:lnTo>
                  <a:lnTo>
                    <a:pt x="711809" y="1024788"/>
                  </a:lnTo>
                  <a:lnTo>
                    <a:pt x="711809" y="987742"/>
                  </a:lnTo>
                  <a:lnTo>
                    <a:pt x="706069" y="984288"/>
                  </a:lnTo>
                  <a:lnTo>
                    <a:pt x="703846" y="982954"/>
                  </a:lnTo>
                  <a:lnTo>
                    <a:pt x="658850" y="955954"/>
                  </a:lnTo>
                  <a:lnTo>
                    <a:pt x="658850" y="845261"/>
                  </a:lnTo>
                  <a:lnTo>
                    <a:pt x="1032751" y="845261"/>
                  </a:lnTo>
                  <a:lnTo>
                    <a:pt x="1052118" y="841349"/>
                  </a:lnTo>
                  <a:lnTo>
                    <a:pt x="1067943" y="830668"/>
                  </a:lnTo>
                  <a:lnTo>
                    <a:pt x="1078623" y="814844"/>
                  </a:lnTo>
                  <a:lnTo>
                    <a:pt x="1078890" y="813485"/>
                  </a:lnTo>
                  <a:lnTo>
                    <a:pt x="1082535" y="795477"/>
                  </a:lnTo>
                  <a:lnTo>
                    <a:pt x="1082535" y="743572"/>
                  </a:lnTo>
                  <a:lnTo>
                    <a:pt x="1082535" y="711796"/>
                  </a:lnTo>
                  <a:lnTo>
                    <a:pt x="1082535" y="49784"/>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52" name="Google Shape;2552;p38"/>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15442279" y="5435512"/>
              <a:ext cx="101088" cy="167266"/>
            </a:xfrm>
            <a:prstGeom prst="rect">
              <a:avLst/>
            </a:prstGeom>
            <a:noFill/>
            <a:ln>
              <a:noFill/>
            </a:ln>
          </p:spPr>
        </p:pic>
        <p:pic>
          <p:nvPicPr>
            <p:cNvPr id="2553" name="Google Shape;2553;p38"/>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15104840" y="5435512"/>
              <a:ext cx="101088" cy="167271"/>
            </a:xfrm>
            <a:prstGeom prst="rect">
              <a:avLst/>
            </a:prstGeom>
            <a:noFill/>
            <a:ln>
              <a:noFill/>
            </a:ln>
          </p:spPr>
        </p:pic>
        <p:pic>
          <p:nvPicPr>
            <p:cNvPr id="2554" name="Google Shape;2554;p38"/>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15238910" y="5435512"/>
              <a:ext cx="168871" cy="167271"/>
            </a:xfrm>
            <a:prstGeom prst="rect">
              <a:avLst/>
            </a:prstGeom>
            <a:noFill/>
            <a:ln>
              <a:noFill/>
            </a:ln>
          </p:spPr>
        </p:pic>
      </p:grpSp>
      <p:sp>
        <p:nvSpPr>
          <p:cNvPr id="2555" name="Google Shape;2555;p38"/>
          <p:cNvSpPr/>
          <p:nvPr/>
        </p:nvSpPr>
        <p:spPr>
          <a:xfrm>
            <a:off x="15342339" y="2351926"/>
            <a:ext cx="45719" cy="45719"/>
          </a:xfrm>
          <a:custGeom>
            <a:avLst/>
            <a:gdLst/>
            <a:ahLst/>
            <a:cxnLst/>
            <a:rect l="l" t="t" r="r" b="b"/>
            <a:pathLst>
              <a:path w="45719" h="45719" extrusionOk="0">
                <a:moveTo>
                  <a:pt x="22823" y="0"/>
                </a:moveTo>
                <a:lnTo>
                  <a:pt x="14234" y="1666"/>
                </a:lnTo>
                <a:lnTo>
                  <a:pt x="6677" y="6667"/>
                </a:lnTo>
                <a:lnTo>
                  <a:pt x="1669" y="14224"/>
                </a:lnTo>
                <a:lnTo>
                  <a:pt x="0" y="22815"/>
                </a:lnTo>
                <a:lnTo>
                  <a:pt x="1669" y="31406"/>
                </a:lnTo>
                <a:lnTo>
                  <a:pt x="6677" y="38963"/>
                </a:lnTo>
                <a:lnTo>
                  <a:pt x="14234" y="43971"/>
                </a:lnTo>
                <a:lnTo>
                  <a:pt x="22823" y="45640"/>
                </a:lnTo>
                <a:lnTo>
                  <a:pt x="31410" y="43971"/>
                </a:lnTo>
                <a:lnTo>
                  <a:pt x="38960" y="38963"/>
                </a:lnTo>
                <a:lnTo>
                  <a:pt x="43968" y="31406"/>
                </a:lnTo>
                <a:lnTo>
                  <a:pt x="45637" y="22815"/>
                </a:lnTo>
                <a:lnTo>
                  <a:pt x="43968" y="14224"/>
                </a:lnTo>
                <a:lnTo>
                  <a:pt x="38960" y="6667"/>
                </a:lnTo>
                <a:lnTo>
                  <a:pt x="31410" y="1666"/>
                </a:lnTo>
                <a:lnTo>
                  <a:pt x="22823" y="0"/>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6" name="Google Shape;2556;p38"/>
          <p:cNvSpPr/>
          <p:nvPr/>
        </p:nvSpPr>
        <p:spPr>
          <a:xfrm>
            <a:off x="14844242" y="1598269"/>
            <a:ext cx="1168400" cy="1169035"/>
          </a:xfrm>
          <a:custGeom>
            <a:avLst/>
            <a:gdLst/>
            <a:ahLst/>
            <a:cxnLst/>
            <a:rect l="l" t="t" r="r" b="b"/>
            <a:pathLst>
              <a:path w="1168400" h="1169035" extrusionOk="0">
                <a:moveTo>
                  <a:pt x="743889" y="296646"/>
                </a:moveTo>
                <a:lnTo>
                  <a:pt x="738492" y="270014"/>
                </a:lnTo>
                <a:lnTo>
                  <a:pt x="723811" y="248259"/>
                </a:lnTo>
                <a:lnTo>
                  <a:pt x="702056" y="233565"/>
                </a:lnTo>
                <a:lnTo>
                  <a:pt x="666559" y="226390"/>
                </a:lnTo>
                <a:lnTo>
                  <a:pt x="659295" y="221488"/>
                </a:lnTo>
                <a:lnTo>
                  <a:pt x="654405" y="214236"/>
                </a:lnTo>
                <a:lnTo>
                  <a:pt x="652614" y="205371"/>
                </a:lnTo>
                <a:lnTo>
                  <a:pt x="654405" y="196494"/>
                </a:lnTo>
                <a:lnTo>
                  <a:pt x="659295" y="189242"/>
                </a:lnTo>
                <a:lnTo>
                  <a:pt x="666559" y="184340"/>
                </a:lnTo>
                <a:lnTo>
                  <a:pt x="675436" y="182549"/>
                </a:lnTo>
                <a:lnTo>
                  <a:pt x="681558" y="183311"/>
                </a:lnTo>
                <a:lnTo>
                  <a:pt x="687768" y="185585"/>
                </a:lnTo>
                <a:lnTo>
                  <a:pt x="693991" y="189318"/>
                </a:lnTo>
                <a:lnTo>
                  <a:pt x="700112" y="194475"/>
                </a:lnTo>
                <a:lnTo>
                  <a:pt x="707732" y="199364"/>
                </a:lnTo>
                <a:lnTo>
                  <a:pt x="738797" y="177698"/>
                </a:lnTo>
                <a:lnTo>
                  <a:pt x="736981" y="169151"/>
                </a:lnTo>
                <a:lnTo>
                  <a:pt x="706259" y="143840"/>
                </a:lnTo>
                <a:lnTo>
                  <a:pt x="698246" y="140677"/>
                </a:lnTo>
                <a:lnTo>
                  <a:pt x="698246" y="114096"/>
                </a:lnTo>
                <a:lnTo>
                  <a:pt x="696442" y="105206"/>
                </a:lnTo>
                <a:lnTo>
                  <a:pt x="691565" y="97955"/>
                </a:lnTo>
                <a:lnTo>
                  <a:pt x="684314" y="93065"/>
                </a:lnTo>
                <a:lnTo>
                  <a:pt x="675436" y="91274"/>
                </a:lnTo>
                <a:lnTo>
                  <a:pt x="666546" y="93065"/>
                </a:lnTo>
                <a:lnTo>
                  <a:pt x="659295" y="97955"/>
                </a:lnTo>
                <a:lnTo>
                  <a:pt x="654405" y="105206"/>
                </a:lnTo>
                <a:lnTo>
                  <a:pt x="652614" y="114096"/>
                </a:lnTo>
                <a:lnTo>
                  <a:pt x="652614" y="140830"/>
                </a:lnTo>
                <a:lnTo>
                  <a:pt x="634276" y="150710"/>
                </a:lnTo>
                <a:lnTo>
                  <a:pt x="619823" y="165481"/>
                </a:lnTo>
                <a:lnTo>
                  <a:pt x="610362" y="184061"/>
                </a:lnTo>
                <a:lnTo>
                  <a:pt x="606971" y="205371"/>
                </a:lnTo>
                <a:lnTo>
                  <a:pt x="612355" y="231990"/>
                </a:lnTo>
                <a:lnTo>
                  <a:pt x="627037" y="253746"/>
                </a:lnTo>
                <a:lnTo>
                  <a:pt x="648804" y="268439"/>
                </a:lnTo>
                <a:lnTo>
                  <a:pt x="684301" y="275615"/>
                </a:lnTo>
                <a:lnTo>
                  <a:pt x="691553" y="280517"/>
                </a:lnTo>
                <a:lnTo>
                  <a:pt x="696442" y="287769"/>
                </a:lnTo>
                <a:lnTo>
                  <a:pt x="698246" y="296646"/>
                </a:lnTo>
                <a:lnTo>
                  <a:pt x="696442" y="305511"/>
                </a:lnTo>
                <a:lnTo>
                  <a:pt x="691553" y="312762"/>
                </a:lnTo>
                <a:lnTo>
                  <a:pt x="684301" y="317665"/>
                </a:lnTo>
                <a:lnTo>
                  <a:pt x="675436" y="319455"/>
                </a:lnTo>
                <a:lnTo>
                  <a:pt x="668007" y="318325"/>
                </a:lnTo>
                <a:lnTo>
                  <a:pt x="660463" y="314998"/>
                </a:lnTo>
                <a:lnTo>
                  <a:pt x="653008" y="309587"/>
                </a:lnTo>
                <a:lnTo>
                  <a:pt x="645807" y="302196"/>
                </a:lnTo>
                <a:lnTo>
                  <a:pt x="638708" y="296545"/>
                </a:lnTo>
                <a:lnTo>
                  <a:pt x="630301" y="294144"/>
                </a:lnTo>
                <a:lnTo>
                  <a:pt x="621601" y="295071"/>
                </a:lnTo>
                <a:lnTo>
                  <a:pt x="613651" y="299415"/>
                </a:lnTo>
                <a:lnTo>
                  <a:pt x="607999" y="306501"/>
                </a:lnTo>
                <a:lnTo>
                  <a:pt x="605586" y="314921"/>
                </a:lnTo>
                <a:lnTo>
                  <a:pt x="606513" y="323621"/>
                </a:lnTo>
                <a:lnTo>
                  <a:pt x="641388" y="356527"/>
                </a:lnTo>
                <a:lnTo>
                  <a:pt x="652614" y="361276"/>
                </a:lnTo>
                <a:lnTo>
                  <a:pt x="652614" y="387908"/>
                </a:lnTo>
                <a:lnTo>
                  <a:pt x="654405" y="396798"/>
                </a:lnTo>
                <a:lnTo>
                  <a:pt x="659295" y="404050"/>
                </a:lnTo>
                <a:lnTo>
                  <a:pt x="666546" y="408940"/>
                </a:lnTo>
                <a:lnTo>
                  <a:pt x="675436" y="410730"/>
                </a:lnTo>
                <a:lnTo>
                  <a:pt x="684314" y="408940"/>
                </a:lnTo>
                <a:lnTo>
                  <a:pt x="691565" y="404050"/>
                </a:lnTo>
                <a:lnTo>
                  <a:pt x="696442" y="396798"/>
                </a:lnTo>
                <a:lnTo>
                  <a:pt x="698246" y="387908"/>
                </a:lnTo>
                <a:lnTo>
                  <a:pt x="698246" y="361175"/>
                </a:lnTo>
                <a:lnTo>
                  <a:pt x="716572" y="351294"/>
                </a:lnTo>
                <a:lnTo>
                  <a:pt x="731024" y="336524"/>
                </a:lnTo>
                <a:lnTo>
                  <a:pt x="740486" y="317957"/>
                </a:lnTo>
                <a:lnTo>
                  <a:pt x="743889" y="296646"/>
                </a:lnTo>
                <a:close/>
              </a:path>
              <a:path w="1168400" h="1169035" extrusionOk="0">
                <a:moveTo>
                  <a:pt x="930998" y="251002"/>
                </a:moveTo>
                <a:lnTo>
                  <a:pt x="926947" y="205943"/>
                </a:lnTo>
                <a:lnTo>
                  <a:pt x="915263" y="163499"/>
                </a:lnTo>
                <a:lnTo>
                  <a:pt x="896670" y="124409"/>
                </a:lnTo>
                <a:lnTo>
                  <a:pt x="885367" y="108432"/>
                </a:lnTo>
                <a:lnTo>
                  <a:pt x="885367" y="251002"/>
                </a:lnTo>
                <a:lnTo>
                  <a:pt x="879932" y="298030"/>
                </a:lnTo>
                <a:lnTo>
                  <a:pt x="864450" y="341236"/>
                </a:lnTo>
                <a:lnTo>
                  <a:pt x="840193" y="379374"/>
                </a:lnTo>
                <a:lnTo>
                  <a:pt x="808367" y="411200"/>
                </a:lnTo>
                <a:lnTo>
                  <a:pt x="770229" y="435470"/>
                </a:lnTo>
                <a:lnTo>
                  <a:pt x="727024" y="450938"/>
                </a:lnTo>
                <a:lnTo>
                  <a:pt x="679996" y="456374"/>
                </a:lnTo>
                <a:lnTo>
                  <a:pt x="632955" y="450938"/>
                </a:lnTo>
                <a:lnTo>
                  <a:pt x="589749" y="435470"/>
                </a:lnTo>
                <a:lnTo>
                  <a:pt x="551611" y="411200"/>
                </a:lnTo>
                <a:lnTo>
                  <a:pt x="519785" y="379374"/>
                </a:lnTo>
                <a:lnTo>
                  <a:pt x="495528" y="341236"/>
                </a:lnTo>
                <a:lnTo>
                  <a:pt x="480047" y="298030"/>
                </a:lnTo>
                <a:lnTo>
                  <a:pt x="474624" y="251002"/>
                </a:lnTo>
                <a:lnTo>
                  <a:pt x="480047" y="203974"/>
                </a:lnTo>
                <a:lnTo>
                  <a:pt x="495528" y="160769"/>
                </a:lnTo>
                <a:lnTo>
                  <a:pt x="519785" y="122631"/>
                </a:lnTo>
                <a:lnTo>
                  <a:pt x="551611" y="90817"/>
                </a:lnTo>
                <a:lnTo>
                  <a:pt x="589749" y="66548"/>
                </a:lnTo>
                <a:lnTo>
                  <a:pt x="632955" y="51079"/>
                </a:lnTo>
                <a:lnTo>
                  <a:pt x="679996" y="45643"/>
                </a:lnTo>
                <a:lnTo>
                  <a:pt x="727024" y="51079"/>
                </a:lnTo>
                <a:lnTo>
                  <a:pt x="770229" y="66548"/>
                </a:lnTo>
                <a:lnTo>
                  <a:pt x="808367" y="90817"/>
                </a:lnTo>
                <a:lnTo>
                  <a:pt x="840193" y="122631"/>
                </a:lnTo>
                <a:lnTo>
                  <a:pt x="864450" y="160769"/>
                </a:lnTo>
                <a:lnTo>
                  <a:pt x="879932" y="203974"/>
                </a:lnTo>
                <a:lnTo>
                  <a:pt x="885367" y="251002"/>
                </a:lnTo>
                <a:lnTo>
                  <a:pt x="885367" y="108432"/>
                </a:lnTo>
                <a:lnTo>
                  <a:pt x="841616" y="59105"/>
                </a:lnTo>
                <a:lnTo>
                  <a:pt x="806577" y="34315"/>
                </a:lnTo>
                <a:lnTo>
                  <a:pt x="767486" y="15722"/>
                </a:lnTo>
                <a:lnTo>
                  <a:pt x="725055" y="4051"/>
                </a:lnTo>
                <a:lnTo>
                  <a:pt x="679996" y="0"/>
                </a:lnTo>
                <a:lnTo>
                  <a:pt x="634923" y="4051"/>
                </a:lnTo>
                <a:lnTo>
                  <a:pt x="592493" y="15722"/>
                </a:lnTo>
                <a:lnTo>
                  <a:pt x="553402" y="34315"/>
                </a:lnTo>
                <a:lnTo>
                  <a:pt x="518363" y="59105"/>
                </a:lnTo>
                <a:lnTo>
                  <a:pt x="488086" y="89369"/>
                </a:lnTo>
                <a:lnTo>
                  <a:pt x="463308" y="124409"/>
                </a:lnTo>
                <a:lnTo>
                  <a:pt x="444715" y="163499"/>
                </a:lnTo>
                <a:lnTo>
                  <a:pt x="433031" y="205943"/>
                </a:lnTo>
                <a:lnTo>
                  <a:pt x="428993" y="251002"/>
                </a:lnTo>
                <a:lnTo>
                  <a:pt x="433031" y="296062"/>
                </a:lnTo>
                <a:lnTo>
                  <a:pt x="444715" y="338493"/>
                </a:lnTo>
                <a:lnTo>
                  <a:pt x="463308" y="377596"/>
                </a:lnTo>
                <a:lnTo>
                  <a:pt x="488086" y="412635"/>
                </a:lnTo>
                <a:lnTo>
                  <a:pt x="518363" y="442899"/>
                </a:lnTo>
                <a:lnTo>
                  <a:pt x="553402" y="467690"/>
                </a:lnTo>
                <a:lnTo>
                  <a:pt x="592493" y="486283"/>
                </a:lnTo>
                <a:lnTo>
                  <a:pt x="634923" y="497967"/>
                </a:lnTo>
                <a:lnTo>
                  <a:pt x="679996" y="502018"/>
                </a:lnTo>
                <a:lnTo>
                  <a:pt x="725055" y="497967"/>
                </a:lnTo>
                <a:lnTo>
                  <a:pt x="767486" y="486283"/>
                </a:lnTo>
                <a:lnTo>
                  <a:pt x="806577" y="467690"/>
                </a:lnTo>
                <a:lnTo>
                  <a:pt x="841616" y="442899"/>
                </a:lnTo>
                <a:lnTo>
                  <a:pt x="871893" y="412635"/>
                </a:lnTo>
                <a:lnTo>
                  <a:pt x="896670" y="377596"/>
                </a:lnTo>
                <a:lnTo>
                  <a:pt x="915263" y="338493"/>
                </a:lnTo>
                <a:lnTo>
                  <a:pt x="926947" y="296062"/>
                </a:lnTo>
                <a:lnTo>
                  <a:pt x="930998" y="251002"/>
                </a:lnTo>
                <a:close/>
              </a:path>
              <a:path w="1168400" h="1169035" extrusionOk="0">
                <a:moveTo>
                  <a:pt x="1167942" y="568172"/>
                </a:moveTo>
                <a:lnTo>
                  <a:pt x="1158405" y="534479"/>
                </a:lnTo>
                <a:lnTo>
                  <a:pt x="1155166" y="530377"/>
                </a:lnTo>
                <a:lnTo>
                  <a:pt x="1135926" y="506056"/>
                </a:lnTo>
                <a:lnTo>
                  <a:pt x="1122489" y="498690"/>
                </a:lnTo>
                <a:lnTo>
                  <a:pt x="1122489" y="571982"/>
                </a:lnTo>
                <a:lnTo>
                  <a:pt x="1120584" y="589419"/>
                </a:lnTo>
                <a:lnTo>
                  <a:pt x="907173" y="850011"/>
                </a:lnTo>
                <a:lnTo>
                  <a:pt x="856208" y="883005"/>
                </a:lnTo>
                <a:lnTo>
                  <a:pt x="796569" y="894486"/>
                </a:lnTo>
                <a:lnTo>
                  <a:pt x="493229" y="894486"/>
                </a:lnTo>
                <a:lnTo>
                  <a:pt x="471309" y="896594"/>
                </a:lnTo>
                <a:lnTo>
                  <a:pt x="450469" y="902754"/>
                </a:lnTo>
                <a:lnTo>
                  <a:pt x="431215" y="912787"/>
                </a:lnTo>
                <a:lnTo>
                  <a:pt x="414020" y="926477"/>
                </a:lnTo>
                <a:lnTo>
                  <a:pt x="394627" y="945197"/>
                </a:lnTo>
                <a:lnTo>
                  <a:pt x="380072" y="930656"/>
                </a:lnTo>
                <a:lnTo>
                  <a:pt x="380072" y="1004836"/>
                </a:lnTo>
                <a:lnTo>
                  <a:pt x="378383" y="1013358"/>
                </a:lnTo>
                <a:lnTo>
                  <a:pt x="373532" y="1020686"/>
                </a:lnTo>
                <a:lnTo>
                  <a:pt x="279209" y="1113599"/>
                </a:lnTo>
                <a:lnTo>
                  <a:pt x="55003" y="887679"/>
                </a:lnTo>
                <a:lnTo>
                  <a:pt x="147510" y="794905"/>
                </a:lnTo>
                <a:lnTo>
                  <a:pt x="153809" y="790435"/>
                </a:lnTo>
                <a:lnTo>
                  <a:pt x="161010" y="788365"/>
                </a:lnTo>
                <a:lnTo>
                  <a:pt x="168529" y="788746"/>
                </a:lnTo>
                <a:lnTo>
                  <a:pt x="175768" y="791692"/>
                </a:lnTo>
                <a:lnTo>
                  <a:pt x="177533" y="792899"/>
                </a:lnTo>
                <a:lnTo>
                  <a:pt x="183197" y="798296"/>
                </a:lnTo>
                <a:lnTo>
                  <a:pt x="272516" y="887679"/>
                </a:lnTo>
                <a:lnTo>
                  <a:pt x="373405" y="988529"/>
                </a:lnTo>
                <a:lnTo>
                  <a:pt x="378460" y="996213"/>
                </a:lnTo>
                <a:lnTo>
                  <a:pt x="380072" y="1004836"/>
                </a:lnTo>
                <a:lnTo>
                  <a:pt x="380072" y="930656"/>
                </a:lnTo>
                <a:lnTo>
                  <a:pt x="237782" y="788365"/>
                </a:lnTo>
                <a:lnTo>
                  <a:pt x="215861" y="766432"/>
                </a:lnTo>
                <a:lnTo>
                  <a:pt x="231368" y="743750"/>
                </a:lnTo>
                <a:lnTo>
                  <a:pt x="245173" y="723557"/>
                </a:lnTo>
                <a:lnTo>
                  <a:pt x="282448" y="689305"/>
                </a:lnTo>
                <a:lnTo>
                  <a:pt x="326821" y="664197"/>
                </a:lnTo>
                <a:lnTo>
                  <a:pt x="377469" y="648754"/>
                </a:lnTo>
                <a:lnTo>
                  <a:pt x="433552" y="643483"/>
                </a:lnTo>
                <a:lnTo>
                  <a:pt x="459524" y="644804"/>
                </a:lnTo>
                <a:lnTo>
                  <a:pt x="485051" y="648754"/>
                </a:lnTo>
                <a:lnTo>
                  <a:pt x="509841" y="655269"/>
                </a:lnTo>
                <a:lnTo>
                  <a:pt x="534009" y="664387"/>
                </a:lnTo>
                <a:lnTo>
                  <a:pt x="536892" y="665657"/>
                </a:lnTo>
                <a:lnTo>
                  <a:pt x="540004" y="666305"/>
                </a:lnTo>
                <a:lnTo>
                  <a:pt x="802284" y="666305"/>
                </a:lnTo>
                <a:lnTo>
                  <a:pt x="819848" y="669861"/>
                </a:lnTo>
                <a:lnTo>
                  <a:pt x="834377" y="679577"/>
                </a:lnTo>
                <a:lnTo>
                  <a:pt x="844257" y="694067"/>
                </a:lnTo>
                <a:lnTo>
                  <a:pt x="847915" y="711936"/>
                </a:lnTo>
                <a:lnTo>
                  <a:pt x="844321" y="729691"/>
                </a:lnTo>
                <a:lnTo>
                  <a:pt x="834529" y="744207"/>
                </a:lnTo>
                <a:lnTo>
                  <a:pt x="820026" y="753986"/>
                </a:lnTo>
                <a:lnTo>
                  <a:pt x="802284" y="757580"/>
                </a:lnTo>
                <a:lnTo>
                  <a:pt x="616102" y="757580"/>
                </a:lnTo>
                <a:lnTo>
                  <a:pt x="607212" y="759371"/>
                </a:lnTo>
                <a:lnTo>
                  <a:pt x="599973" y="764260"/>
                </a:lnTo>
                <a:lnTo>
                  <a:pt x="595083" y="771512"/>
                </a:lnTo>
                <a:lnTo>
                  <a:pt x="593293" y="780389"/>
                </a:lnTo>
                <a:lnTo>
                  <a:pt x="595083" y="789279"/>
                </a:lnTo>
                <a:lnTo>
                  <a:pt x="599973" y="796531"/>
                </a:lnTo>
                <a:lnTo>
                  <a:pt x="607212" y="801420"/>
                </a:lnTo>
                <a:lnTo>
                  <a:pt x="616102" y="803211"/>
                </a:lnTo>
                <a:lnTo>
                  <a:pt x="802284" y="803211"/>
                </a:lnTo>
                <a:lnTo>
                  <a:pt x="837768" y="796036"/>
                </a:lnTo>
                <a:lnTo>
                  <a:pt x="866787" y="776452"/>
                </a:lnTo>
                <a:lnTo>
                  <a:pt x="886358" y="747433"/>
                </a:lnTo>
                <a:lnTo>
                  <a:pt x="893546" y="711936"/>
                </a:lnTo>
                <a:lnTo>
                  <a:pt x="893546" y="707923"/>
                </a:lnTo>
                <a:lnTo>
                  <a:pt x="893267" y="703948"/>
                </a:lnTo>
                <a:lnTo>
                  <a:pt x="892746" y="699998"/>
                </a:lnTo>
                <a:lnTo>
                  <a:pt x="936879" y="654634"/>
                </a:lnTo>
                <a:lnTo>
                  <a:pt x="1036789" y="551942"/>
                </a:lnTo>
                <a:lnTo>
                  <a:pt x="1042149" y="546366"/>
                </a:lnTo>
                <a:lnTo>
                  <a:pt x="1056360" y="535139"/>
                </a:lnTo>
                <a:lnTo>
                  <a:pt x="1073213" y="530377"/>
                </a:lnTo>
                <a:lnTo>
                  <a:pt x="1090612" y="532257"/>
                </a:lnTo>
                <a:lnTo>
                  <a:pt x="1106487" y="540931"/>
                </a:lnTo>
                <a:lnTo>
                  <a:pt x="1117727" y="555129"/>
                </a:lnTo>
                <a:lnTo>
                  <a:pt x="1122489" y="571982"/>
                </a:lnTo>
                <a:lnTo>
                  <a:pt x="1122489" y="498690"/>
                </a:lnTo>
                <a:lnTo>
                  <a:pt x="1104366" y="488746"/>
                </a:lnTo>
                <a:lnTo>
                  <a:pt x="1069771" y="484911"/>
                </a:lnTo>
                <a:lnTo>
                  <a:pt x="1036243" y="494195"/>
                </a:lnTo>
                <a:lnTo>
                  <a:pt x="1007872" y="516242"/>
                </a:lnTo>
                <a:lnTo>
                  <a:pt x="873226" y="654634"/>
                </a:lnTo>
                <a:lnTo>
                  <a:pt x="861923" y="643483"/>
                </a:lnTo>
                <a:lnTo>
                  <a:pt x="858901" y="640499"/>
                </a:lnTo>
                <a:lnTo>
                  <a:pt x="841870" y="629805"/>
                </a:lnTo>
                <a:lnTo>
                  <a:pt x="822782" y="623036"/>
                </a:lnTo>
                <a:lnTo>
                  <a:pt x="802284" y="620661"/>
                </a:lnTo>
                <a:lnTo>
                  <a:pt x="547827" y="620661"/>
                </a:lnTo>
                <a:lnTo>
                  <a:pt x="520268" y="610704"/>
                </a:lnTo>
                <a:lnTo>
                  <a:pt x="491972" y="603567"/>
                </a:lnTo>
                <a:lnTo>
                  <a:pt x="463042" y="599274"/>
                </a:lnTo>
                <a:lnTo>
                  <a:pt x="433565" y="597839"/>
                </a:lnTo>
                <a:lnTo>
                  <a:pt x="379920" y="602043"/>
                </a:lnTo>
                <a:lnTo>
                  <a:pt x="329450" y="614527"/>
                </a:lnTo>
                <a:lnTo>
                  <a:pt x="283006" y="635114"/>
                </a:lnTo>
                <a:lnTo>
                  <a:pt x="241414" y="663625"/>
                </a:lnTo>
                <a:lnTo>
                  <a:pt x="205549" y="699909"/>
                </a:lnTo>
                <a:lnTo>
                  <a:pt x="176250" y="743750"/>
                </a:lnTo>
                <a:lnTo>
                  <a:pt x="159867" y="742657"/>
                </a:lnTo>
                <a:lnTo>
                  <a:pt x="115214" y="762660"/>
                </a:lnTo>
                <a:lnTo>
                  <a:pt x="6667" y="871524"/>
                </a:lnTo>
                <a:lnTo>
                  <a:pt x="0" y="887615"/>
                </a:lnTo>
                <a:lnTo>
                  <a:pt x="1651" y="896175"/>
                </a:lnTo>
                <a:lnTo>
                  <a:pt x="6629" y="903719"/>
                </a:lnTo>
                <a:lnTo>
                  <a:pt x="262839" y="1161872"/>
                </a:lnTo>
                <a:lnTo>
                  <a:pt x="270332" y="1166914"/>
                </a:lnTo>
                <a:lnTo>
                  <a:pt x="278892" y="1168628"/>
                </a:lnTo>
                <a:lnTo>
                  <a:pt x="287464" y="1167015"/>
                </a:lnTo>
                <a:lnTo>
                  <a:pt x="295046" y="1162062"/>
                </a:lnTo>
                <a:lnTo>
                  <a:pt x="344233" y="1113599"/>
                </a:lnTo>
                <a:lnTo>
                  <a:pt x="405676" y="1053071"/>
                </a:lnTo>
                <a:lnTo>
                  <a:pt x="417296" y="1037488"/>
                </a:lnTo>
                <a:lnTo>
                  <a:pt x="423938" y="1019695"/>
                </a:lnTo>
                <a:lnTo>
                  <a:pt x="425500" y="1000899"/>
                </a:lnTo>
                <a:lnTo>
                  <a:pt x="421919" y="982268"/>
                </a:lnTo>
                <a:lnTo>
                  <a:pt x="445706" y="959319"/>
                </a:lnTo>
                <a:lnTo>
                  <a:pt x="480072" y="941374"/>
                </a:lnTo>
                <a:lnTo>
                  <a:pt x="493229" y="940117"/>
                </a:lnTo>
                <a:lnTo>
                  <a:pt x="796569" y="940117"/>
                </a:lnTo>
                <a:lnTo>
                  <a:pt x="836231" y="936307"/>
                </a:lnTo>
                <a:lnTo>
                  <a:pt x="873912" y="925093"/>
                </a:lnTo>
                <a:lnTo>
                  <a:pt x="908723" y="906856"/>
                </a:lnTo>
                <a:lnTo>
                  <a:pt x="939812" y="881926"/>
                </a:lnTo>
                <a:lnTo>
                  <a:pt x="1146771" y="634707"/>
                </a:lnTo>
                <a:lnTo>
                  <a:pt x="1164183" y="602970"/>
                </a:lnTo>
                <a:lnTo>
                  <a:pt x="1167942" y="568172"/>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7" name="Google Shape;2557;p38"/>
          <p:cNvSpPr/>
          <p:nvPr/>
        </p:nvSpPr>
        <p:spPr>
          <a:xfrm>
            <a:off x="10905083" y="1555686"/>
            <a:ext cx="1160145" cy="1201420"/>
          </a:xfrm>
          <a:custGeom>
            <a:avLst/>
            <a:gdLst/>
            <a:ahLst/>
            <a:cxnLst/>
            <a:rect l="l" t="t" r="r" b="b"/>
            <a:pathLst>
              <a:path w="1160145" h="1201420" extrusionOk="0">
                <a:moveTo>
                  <a:pt x="638911" y="1122311"/>
                </a:moveTo>
                <a:lnTo>
                  <a:pt x="637438" y="1114996"/>
                </a:lnTo>
                <a:lnTo>
                  <a:pt x="633399" y="1109014"/>
                </a:lnTo>
                <a:lnTo>
                  <a:pt x="627430" y="1104988"/>
                </a:lnTo>
                <a:lnTo>
                  <a:pt x="620115" y="1103515"/>
                </a:lnTo>
                <a:lnTo>
                  <a:pt x="539940" y="1103515"/>
                </a:lnTo>
                <a:lnTo>
                  <a:pt x="532625" y="1104988"/>
                </a:lnTo>
                <a:lnTo>
                  <a:pt x="526656" y="1109027"/>
                </a:lnTo>
                <a:lnTo>
                  <a:pt x="522617" y="1114996"/>
                </a:lnTo>
                <a:lnTo>
                  <a:pt x="521144" y="1122311"/>
                </a:lnTo>
                <a:lnTo>
                  <a:pt x="522617" y="1129626"/>
                </a:lnTo>
                <a:lnTo>
                  <a:pt x="526656" y="1135595"/>
                </a:lnTo>
                <a:lnTo>
                  <a:pt x="532625" y="1139621"/>
                </a:lnTo>
                <a:lnTo>
                  <a:pt x="539940" y="1141095"/>
                </a:lnTo>
                <a:lnTo>
                  <a:pt x="620115" y="1141095"/>
                </a:lnTo>
                <a:lnTo>
                  <a:pt x="627430" y="1139621"/>
                </a:lnTo>
                <a:lnTo>
                  <a:pt x="633399" y="1135595"/>
                </a:lnTo>
                <a:lnTo>
                  <a:pt x="637438" y="1129626"/>
                </a:lnTo>
                <a:lnTo>
                  <a:pt x="638911" y="1122311"/>
                </a:lnTo>
                <a:close/>
              </a:path>
              <a:path w="1160145" h="1201420" extrusionOk="0">
                <a:moveTo>
                  <a:pt x="678992" y="340588"/>
                </a:moveTo>
                <a:lnTo>
                  <a:pt x="677519" y="333260"/>
                </a:lnTo>
                <a:lnTo>
                  <a:pt x="673493" y="327291"/>
                </a:lnTo>
                <a:lnTo>
                  <a:pt x="667512" y="323265"/>
                </a:lnTo>
                <a:lnTo>
                  <a:pt x="660196" y="321792"/>
                </a:lnTo>
                <a:lnTo>
                  <a:pt x="499846" y="321792"/>
                </a:lnTo>
                <a:lnTo>
                  <a:pt x="492531" y="323265"/>
                </a:lnTo>
                <a:lnTo>
                  <a:pt x="486562" y="327291"/>
                </a:lnTo>
                <a:lnTo>
                  <a:pt x="482536" y="333260"/>
                </a:lnTo>
                <a:lnTo>
                  <a:pt x="481050" y="340588"/>
                </a:lnTo>
                <a:lnTo>
                  <a:pt x="482536" y="347891"/>
                </a:lnTo>
                <a:lnTo>
                  <a:pt x="486562" y="353872"/>
                </a:lnTo>
                <a:lnTo>
                  <a:pt x="492531" y="357886"/>
                </a:lnTo>
                <a:lnTo>
                  <a:pt x="499846" y="359371"/>
                </a:lnTo>
                <a:lnTo>
                  <a:pt x="660196" y="359371"/>
                </a:lnTo>
                <a:lnTo>
                  <a:pt x="667524" y="357886"/>
                </a:lnTo>
                <a:lnTo>
                  <a:pt x="673493" y="353872"/>
                </a:lnTo>
                <a:lnTo>
                  <a:pt x="677519" y="347891"/>
                </a:lnTo>
                <a:lnTo>
                  <a:pt x="678992" y="340588"/>
                </a:lnTo>
                <a:close/>
              </a:path>
              <a:path w="1160145" h="1201420" extrusionOk="0">
                <a:moveTo>
                  <a:pt x="678992" y="260413"/>
                </a:moveTo>
                <a:lnTo>
                  <a:pt x="677519" y="253085"/>
                </a:lnTo>
                <a:lnTo>
                  <a:pt x="673493" y="247116"/>
                </a:lnTo>
                <a:lnTo>
                  <a:pt x="667512" y="243090"/>
                </a:lnTo>
                <a:lnTo>
                  <a:pt x="660196" y="241617"/>
                </a:lnTo>
                <a:lnTo>
                  <a:pt x="499846" y="241617"/>
                </a:lnTo>
                <a:lnTo>
                  <a:pt x="492531" y="243090"/>
                </a:lnTo>
                <a:lnTo>
                  <a:pt x="486562" y="247116"/>
                </a:lnTo>
                <a:lnTo>
                  <a:pt x="482536" y="253085"/>
                </a:lnTo>
                <a:lnTo>
                  <a:pt x="481050" y="260413"/>
                </a:lnTo>
                <a:lnTo>
                  <a:pt x="482536" y="267716"/>
                </a:lnTo>
                <a:lnTo>
                  <a:pt x="486562" y="273685"/>
                </a:lnTo>
                <a:lnTo>
                  <a:pt x="492531" y="277710"/>
                </a:lnTo>
                <a:lnTo>
                  <a:pt x="499846" y="279196"/>
                </a:lnTo>
                <a:lnTo>
                  <a:pt x="660196" y="279196"/>
                </a:lnTo>
                <a:lnTo>
                  <a:pt x="667524" y="277710"/>
                </a:lnTo>
                <a:lnTo>
                  <a:pt x="673493" y="273685"/>
                </a:lnTo>
                <a:lnTo>
                  <a:pt x="677519" y="267716"/>
                </a:lnTo>
                <a:lnTo>
                  <a:pt x="678992" y="260413"/>
                </a:lnTo>
                <a:close/>
              </a:path>
              <a:path w="1160145" h="1201420" extrusionOk="0">
                <a:moveTo>
                  <a:pt x="678992" y="180225"/>
                </a:moveTo>
                <a:lnTo>
                  <a:pt x="677519" y="172910"/>
                </a:lnTo>
                <a:lnTo>
                  <a:pt x="673493" y="166941"/>
                </a:lnTo>
                <a:lnTo>
                  <a:pt x="667512" y="162915"/>
                </a:lnTo>
                <a:lnTo>
                  <a:pt x="660196" y="161429"/>
                </a:lnTo>
                <a:lnTo>
                  <a:pt x="499846" y="161429"/>
                </a:lnTo>
                <a:lnTo>
                  <a:pt x="492531" y="162915"/>
                </a:lnTo>
                <a:lnTo>
                  <a:pt x="486562" y="166941"/>
                </a:lnTo>
                <a:lnTo>
                  <a:pt x="482536" y="172910"/>
                </a:lnTo>
                <a:lnTo>
                  <a:pt x="481050" y="180225"/>
                </a:lnTo>
                <a:lnTo>
                  <a:pt x="482536" y="187540"/>
                </a:lnTo>
                <a:lnTo>
                  <a:pt x="486562" y="193509"/>
                </a:lnTo>
                <a:lnTo>
                  <a:pt x="492531" y="197535"/>
                </a:lnTo>
                <a:lnTo>
                  <a:pt x="499846" y="199009"/>
                </a:lnTo>
                <a:lnTo>
                  <a:pt x="660196" y="199009"/>
                </a:lnTo>
                <a:lnTo>
                  <a:pt x="667524" y="197535"/>
                </a:lnTo>
                <a:lnTo>
                  <a:pt x="673493" y="193509"/>
                </a:lnTo>
                <a:lnTo>
                  <a:pt x="677519" y="187540"/>
                </a:lnTo>
                <a:lnTo>
                  <a:pt x="678992" y="180225"/>
                </a:lnTo>
                <a:close/>
              </a:path>
              <a:path w="1160145" h="1201420" extrusionOk="0">
                <a:moveTo>
                  <a:pt x="879436" y="1122311"/>
                </a:moveTo>
                <a:lnTo>
                  <a:pt x="877963" y="1114996"/>
                </a:lnTo>
                <a:lnTo>
                  <a:pt x="873937" y="1109014"/>
                </a:lnTo>
                <a:lnTo>
                  <a:pt x="867956" y="1104988"/>
                </a:lnTo>
                <a:lnTo>
                  <a:pt x="860640" y="1103515"/>
                </a:lnTo>
                <a:lnTo>
                  <a:pt x="780465" y="1103515"/>
                </a:lnTo>
                <a:lnTo>
                  <a:pt x="773163" y="1104988"/>
                </a:lnTo>
                <a:lnTo>
                  <a:pt x="767181" y="1109027"/>
                </a:lnTo>
                <a:lnTo>
                  <a:pt x="763155" y="1114996"/>
                </a:lnTo>
                <a:lnTo>
                  <a:pt x="761669" y="1122311"/>
                </a:lnTo>
                <a:lnTo>
                  <a:pt x="763155" y="1129626"/>
                </a:lnTo>
                <a:lnTo>
                  <a:pt x="767181" y="1135595"/>
                </a:lnTo>
                <a:lnTo>
                  <a:pt x="773150" y="1139621"/>
                </a:lnTo>
                <a:lnTo>
                  <a:pt x="780465" y="1141095"/>
                </a:lnTo>
                <a:lnTo>
                  <a:pt x="860640" y="1141095"/>
                </a:lnTo>
                <a:lnTo>
                  <a:pt x="867956" y="1139621"/>
                </a:lnTo>
                <a:lnTo>
                  <a:pt x="873937" y="1135595"/>
                </a:lnTo>
                <a:lnTo>
                  <a:pt x="877963" y="1129626"/>
                </a:lnTo>
                <a:lnTo>
                  <a:pt x="879436" y="1122311"/>
                </a:lnTo>
                <a:close/>
              </a:path>
              <a:path w="1160145" h="1201420" extrusionOk="0">
                <a:moveTo>
                  <a:pt x="879436" y="881786"/>
                </a:moveTo>
                <a:lnTo>
                  <a:pt x="877963" y="874458"/>
                </a:lnTo>
                <a:lnTo>
                  <a:pt x="873937" y="868489"/>
                </a:lnTo>
                <a:lnTo>
                  <a:pt x="867956" y="864463"/>
                </a:lnTo>
                <a:lnTo>
                  <a:pt x="860640" y="862990"/>
                </a:lnTo>
                <a:lnTo>
                  <a:pt x="780465" y="862990"/>
                </a:lnTo>
                <a:lnTo>
                  <a:pt x="773163" y="864463"/>
                </a:lnTo>
                <a:lnTo>
                  <a:pt x="767181" y="868489"/>
                </a:lnTo>
                <a:lnTo>
                  <a:pt x="763155" y="874458"/>
                </a:lnTo>
                <a:lnTo>
                  <a:pt x="761669" y="881786"/>
                </a:lnTo>
                <a:lnTo>
                  <a:pt x="763155" y="889088"/>
                </a:lnTo>
                <a:lnTo>
                  <a:pt x="767181" y="895070"/>
                </a:lnTo>
                <a:lnTo>
                  <a:pt x="773150" y="899083"/>
                </a:lnTo>
                <a:lnTo>
                  <a:pt x="780465" y="900569"/>
                </a:lnTo>
                <a:lnTo>
                  <a:pt x="860640" y="900569"/>
                </a:lnTo>
                <a:lnTo>
                  <a:pt x="867956" y="899083"/>
                </a:lnTo>
                <a:lnTo>
                  <a:pt x="873937" y="895070"/>
                </a:lnTo>
                <a:lnTo>
                  <a:pt x="877963" y="889088"/>
                </a:lnTo>
                <a:lnTo>
                  <a:pt x="879436" y="881786"/>
                </a:lnTo>
                <a:close/>
              </a:path>
              <a:path w="1160145" h="1201420" extrusionOk="0">
                <a:moveTo>
                  <a:pt x="1160056" y="394487"/>
                </a:moveTo>
                <a:lnTo>
                  <a:pt x="1156970" y="388658"/>
                </a:lnTo>
                <a:lnTo>
                  <a:pt x="1122476" y="365264"/>
                </a:lnTo>
                <a:lnTo>
                  <a:pt x="1122476" y="410667"/>
                </a:lnTo>
                <a:lnTo>
                  <a:pt x="1122476" y="1163650"/>
                </a:lnTo>
                <a:lnTo>
                  <a:pt x="959612" y="1163650"/>
                </a:lnTo>
                <a:lnTo>
                  <a:pt x="959612" y="960704"/>
                </a:lnTo>
                <a:lnTo>
                  <a:pt x="959612" y="720166"/>
                </a:lnTo>
                <a:lnTo>
                  <a:pt x="959612" y="519722"/>
                </a:lnTo>
                <a:lnTo>
                  <a:pt x="980909" y="519722"/>
                </a:lnTo>
                <a:lnTo>
                  <a:pt x="988237" y="518248"/>
                </a:lnTo>
                <a:lnTo>
                  <a:pt x="994206" y="514223"/>
                </a:lnTo>
                <a:lnTo>
                  <a:pt x="998232" y="508254"/>
                </a:lnTo>
                <a:lnTo>
                  <a:pt x="999705" y="500938"/>
                </a:lnTo>
                <a:lnTo>
                  <a:pt x="999705" y="482142"/>
                </a:lnTo>
                <a:lnTo>
                  <a:pt x="999705" y="439547"/>
                </a:lnTo>
                <a:lnTo>
                  <a:pt x="999705" y="420763"/>
                </a:lnTo>
                <a:lnTo>
                  <a:pt x="998232" y="413448"/>
                </a:lnTo>
                <a:lnTo>
                  <a:pt x="994206" y="407466"/>
                </a:lnTo>
                <a:lnTo>
                  <a:pt x="988225" y="403440"/>
                </a:lnTo>
                <a:lnTo>
                  <a:pt x="980909" y="401967"/>
                </a:lnTo>
                <a:lnTo>
                  <a:pt x="962113" y="401967"/>
                </a:lnTo>
                <a:lnTo>
                  <a:pt x="962113" y="439547"/>
                </a:lnTo>
                <a:lnTo>
                  <a:pt x="962113" y="482142"/>
                </a:lnTo>
                <a:lnTo>
                  <a:pt x="197929" y="482142"/>
                </a:lnTo>
                <a:lnTo>
                  <a:pt x="197929" y="439547"/>
                </a:lnTo>
                <a:lnTo>
                  <a:pt x="962113" y="439547"/>
                </a:lnTo>
                <a:lnTo>
                  <a:pt x="962113" y="401967"/>
                </a:lnTo>
                <a:lnTo>
                  <a:pt x="179133" y="401967"/>
                </a:lnTo>
                <a:lnTo>
                  <a:pt x="171818" y="403440"/>
                </a:lnTo>
                <a:lnTo>
                  <a:pt x="165849" y="407466"/>
                </a:lnTo>
                <a:lnTo>
                  <a:pt x="161823" y="413448"/>
                </a:lnTo>
                <a:lnTo>
                  <a:pt x="160350" y="420763"/>
                </a:lnTo>
                <a:lnTo>
                  <a:pt x="160350" y="500938"/>
                </a:lnTo>
                <a:lnTo>
                  <a:pt x="161823" y="508254"/>
                </a:lnTo>
                <a:lnTo>
                  <a:pt x="165849" y="514223"/>
                </a:lnTo>
                <a:lnTo>
                  <a:pt x="171818" y="518248"/>
                </a:lnTo>
                <a:lnTo>
                  <a:pt x="179133" y="519722"/>
                </a:lnTo>
                <a:lnTo>
                  <a:pt x="200431" y="519722"/>
                </a:lnTo>
                <a:lnTo>
                  <a:pt x="200431" y="681329"/>
                </a:lnTo>
                <a:lnTo>
                  <a:pt x="201917" y="688644"/>
                </a:lnTo>
                <a:lnTo>
                  <a:pt x="205943" y="694626"/>
                </a:lnTo>
                <a:lnTo>
                  <a:pt x="211912" y="698652"/>
                </a:lnTo>
                <a:lnTo>
                  <a:pt x="219227" y="700125"/>
                </a:lnTo>
                <a:lnTo>
                  <a:pt x="226555" y="698652"/>
                </a:lnTo>
                <a:lnTo>
                  <a:pt x="232524" y="694613"/>
                </a:lnTo>
                <a:lnTo>
                  <a:pt x="236550" y="688644"/>
                </a:lnTo>
                <a:lnTo>
                  <a:pt x="238023" y="681329"/>
                </a:lnTo>
                <a:lnTo>
                  <a:pt x="238023" y="519722"/>
                </a:lnTo>
                <a:lnTo>
                  <a:pt x="922032" y="519722"/>
                </a:lnTo>
                <a:lnTo>
                  <a:pt x="922032" y="1163650"/>
                </a:lnTo>
                <a:lnTo>
                  <a:pt x="719086" y="1163650"/>
                </a:lnTo>
                <a:lnTo>
                  <a:pt x="719086" y="960704"/>
                </a:lnTo>
                <a:lnTo>
                  <a:pt x="761682" y="960704"/>
                </a:lnTo>
                <a:lnTo>
                  <a:pt x="761682" y="1062177"/>
                </a:lnTo>
                <a:lnTo>
                  <a:pt x="763155" y="1069492"/>
                </a:lnTo>
                <a:lnTo>
                  <a:pt x="767181" y="1075461"/>
                </a:lnTo>
                <a:lnTo>
                  <a:pt x="773150" y="1079500"/>
                </a:lnTo>
                <a:lnTo>
                  <a:pt x="780465" y="1080973"/>
                </a:lnTo>
                <a:lnTo>
                  <a:pt x="860640" y="1080973"/>
                </a:lnTo>
                <a:lnTo>
                  <a:pt x="867968" y="1079500"/>
                </a:lnTo>
                <a:lnTo>
                  <a:pt x="873937" y="1075461"/>
                </a:lnTo>
                <a:lnTo>
                  <a:pt x="877963" y="1069492"/>
                </a:lnTo>
                <a:lnTo>
                  <a:pt x="879436" y="1062177"/>
                </a:lnTo>
                <a:lnTo>
                  <a:pt x="879436" y="1043381"/>
                </a:lnTo>
                <a:lnTo>
                  <a:pt x="879436" y="960704"/>
                </a:lnTo>
                <a:lnTo>
                  <a:pt x="922032" y="960704"/>
                </a:lnTo>
                <a:lnTo>
                  <a:pt x="922032" y="923112"/>
                </a:lnTo>
                <a:lnTo>
                  <a:pt x="841857" y="923112"/>
                </a:lnTo>
                <a:lnTo>
                  <a:pt x="841857" y="960704"/>
                </a:lnTo>
                <a:lnTo>
                  <a:pt x="841857" y="1043381"/>
                </a:lnTo>
                <a:lnTo>
                  <a:pt x="799261" y="1043381"/>
                </a:lnTo>
                <a:lnTo>
                  <a:pt x="799261" y="960704"/>
                </a:lnTo>
                <a:lnTo>
                  <a:pt x="841857" y="960704"/>
                </a:lnTo>
                <a:lnTo>
                  <a:pt x="841857" y="923112"/>
                </a:lnTo>
                <a:lnTo>
                  <a:pt x="719086" y="923112"/>
                </a:lnTo>
                <a:lnTo>
                  <a:pt x="719086" y="720166"/>
                </a:lnTo>
                <a:lnTo>
                  <a:pt x="761682" y="720166"/>
                </a:lnTo>
                <a:lnTo>
                  <a:pt x="761682" y="821639"/>
                </a:lnTo>
                <a:lnTo>
                  <a:pt x="763155" y="828954"/>
                </a:lnTo>
                <a:lnTo>
                  <a:pt x="767181" y="834936"/>
                </a:lnTo>
                <a:lnTo>
                  <a:pt x="773150" y="838962"/>
                </a:lnTo>
                <a:lnTo>
                  <a:pt x="780465" y="840435"/>
                </a:lnTo>
                <a:lnTo>
                  <a:pt x="860653" y="840435"/>
                </a:lnTo>
                <a:lnTo>
                  <a:pt x="867968" y="838962"/>
                </a:lnTo>
                <a:lnTo>
                  <a:pt x="873937" y="834936"/>
                </a:lnTo>
                <a:lnTo>
                  <a:pt x="877963" y="828954"/>
                </a:lnTo>
                <a:lnTo>
                  <a:pt x="879436" y="821639"/>
                </a:lnTo>
                <a:lnTo>
                  <a:pt x="879436" y="802843"/>
                </a:lnTo>
                <a:lnTo>
                  <a:pt x="879436" y="720166"/>
                </a:lnTo>
                <a:lnTo>
                  <a:pt x="922032" y="720166"/>
                </a:lnTo>
                <a:lnTo>
                  <a:pt x="922032" y="682586"/>
                </a:lnTo>
                <a:lnTo>
                  <a:pt x="841857" y="682586"/>
                </a:lnTo>
                <a:lnTo>
                  <a:pt x="841857" y="720166"/>
                </a:lnTo>
                <a:lnTo>
                  <a:pt x="841857" y="802843"/>
                </a:lnTo>
                <a:lnTo>
                  <a:pt x="799261" y="802843"/>
                </a:lnTo>
                <a:lnTo>
                  <a:pt x="799261" y="720166"/>
                </a:lnTo>
                <a:lnTo>
                  <a:pt x="841857" y="720166"/>
                </a:lnTo>
                <a:lnTo>
                  <a:pt x="841857" y="682586"/>
                </a:lnTo>
                <a:lnTo>
                  <a:pt x="700290" y="682586"/>
                </a:lnTo>
                <a:lnTo>
                  <a:pt x="692975" y="684060"/>
                </a:lnTo>
                <a:lnTo>
                  <a:pt x="687006" y="688098"/>
                </a:lnTo>
                <a:lnTo>
                  <a:pt x="682980" y="694067"/>
                </a:lnTo>
                <a:lnTo>
                  <a:pt x="681507" y="701382"/>
                </a:lnTo>
                <a:lnTo>
                  <a:pt x="681507" y="923112"/>
                </a:lnTo>
                <a:lnTo>
                  <a:pt x="681507" y="960704"/>
                </a:lnTo>
                <a:lnTo>
                  <a:pt x="681507" y="1163650"/>
                </a:lnTo>
                <a:lnTo>
                  <a:pt x="478548" y="1163650"/>
                </a:lnTo>
                <a:lnTo>
                  <a:pt x="478548" y="960704"/>
                </a:lnTo>
                <a:lnTo>
                  <a:pt x="521144" y="960704"/>
                </a:lnTo>
                <a:lnTo>
                  <a:pt x="521144" y="1062177"/>
                </a:lnTo>
                <a:lnTo>
                  <a:pt x="522617" y="1069492"/>
                </a:lnTo>
                <a:lnTo>
                  <a:pt x="526643" y="1075461"/>
                </a:lnTo>
                <a:lnTo>
                  <a:pt x="532625" y="1079500"/>
                </a:lnTo>
                <a:lnTo>
                  <a:pt x="539940" y="1080973"/>
                </a:lnTo>
                <a:lnTo>
                  <a:pt x="620115" y="1080973"/>
                </a:lnTo>
                <a:lnTo>
                  <a:pt x="627430" y="1079500"/>
                </a:lnTo>
                <a:lnTo>
                  <a:pt x="633412" y="1075461"/>
                </a:lnTo>
                <a:lnTo>
                  <a:pt x="637438" y="1069492"/>
                </a:lnTo>
                <a:lnTo>
                  <a:pt x="638911" y="1062177"/>
                </a:lnTo>
                <a:lnTo>
                  <a:pt x="638911" y="1043381"/>
                </a:lnTo>
                <a:lnTo>
                  <a:pt x="638911" y="960704"/>
                </a:lnTo>
                <a:lnTo>
                  <a:pt x="681507" y="960704"/>
                </a:lnTo>
                <a:lnTo>
                  <a:pt x="681507" y="923112"/>
                </a:lnTo>
                <a:lnTo>
                  <a:pt x="601332" y="923112"/>
                </a:lnTo>
                <a:lnTo>
                  <a:pt x="601332" y="960704"/>
                </a:lnTo>
                <a:lnTo>
                  <a:pt x="601332" y="1043381"/>
                </a:lnTo>
                <a:lnTo>
                  <a:pt x="558736" y="1043381"/>
                </a:lnTo>
                <a:lnTo>
                  <a:pt x="558736" y="960704"/>
                </a:lnTo>
                <a:lnTo>
                  <a:pt x="601332" y="960704"/>
                </a:lnTo>
                <a:lnTo>
                  <a:pt x="601332" y="923112"/>
                </a:lnTo>
                <a:lnTo>
                  <a:pt x="459765" y="923112"/>
                </a:lnTo>
                <a:lnTo>
                  <a:pt x="452450" y="924585"/>
                </a:lnTo>
                <a:lnTo>
                  <a:pt x="446468" y="928624"/>
                </a:lnTo>
                <a:lnTo>
                  <a:pt x="442442" y="934593"/>
                </a:lnTo>
                <a:lnTo>
                  <a:pt x="440969" y="941908"/>
                </a:lnTo>
                <a:lnTo>
                  <a:pt x="440969" y="1163650"/>
                </a:lnTo>
                <a:lnTo>
                  <a:pt x="238023" y="1163650"/>
                </a:lnTo>
                <a:lnTo>
                  <a:pt x="238023" y="761504"/>
                </a:lnTo>
                <a:lnTo>
                  <a:pt x="236550" y="754189"/>
                </a:lnTo>
                <a:lnTo>
                  <a:pt x="232524" y="748220"/>
                </a:lnTo>
                <a:lnTo>
                  <a:pt x="226542" y="744194"/>
                </a:lnTo>
                <a:lnTo>
                  <a:pt x="219227" y="742721"/>
                </a:lnTo>
                <a:lnTo>
                  <a:pt x="211912" y="744194"/>
                </a:lnTo>
                <a:lnTo>
                  <a:pt x="205943" y="748220"/>
                </a:lnTo>
                <a:lnTo>
                  <a:pt x="201917" y="754189"/>
                </a:lnTo>
                <a:lnTo>
                  <a:pt x="200431" y="761504"/>
                </a:lnTo>
                <a:lnTo>
                  <a:pt x="200431" y="1163650"/>
                </a:lnTo>
                <a:lnTo>
                  <a:pt x="37579" y="1163650"/>
                </a:lnTo>
                <a:lnTo>
                  <a:pt x="37579" y="410667"/>
                </a:lnTo>
                <a:lnTo>
                  <a:pt x="580021" y="42583"/>
                </a:lnTo>
                <a:lnTo>
                  <a:pt x="1122476" y="410667"/>
                </a:lnTo>
                <a:lnTo>
                  <a:pt x="1122476" y="365264"/>
                </a:lnTo>
                <a:lnTo>
                  <a:pt x="646963" y="42583"/>
                </a:lnTo>
                <a:lnTo>
                  <a:pt x="584212" y="0"/>
                </a:lnTo>
                <a:lnTo>
                  <a:pt x="575843" y="0"/>
                </a:lnTo>
                <a:lnTo>
                  <a:pt x="3086" y="388658"/>
                </a:lnTo>
                <a:lnTo>
                  <a:pt x="0" y="394487"/>
                </a:lnTo>
                <a:lnTo>
                  <a:pt x="0" y="1182446"/>
                </a:lnTo>
                <a:lnTo>
                  <a:pt x="1473" y="1189761"/>
                </a:lnTo>
                <a:lnTo>
                  <a:pt x="5499" y="1195730"/>
                </a:lnTo>
                <a:lnTo>
                  <a:pt x="11468" y="1199756"/>
                </a:lnTo>
                <a:lnTo>
                  <a:pt x="18783" y="1201229"/>
                </a:lnTo>
                <a:lnTo>
                  <a:pt x="1141272" y="1201229"/>
                </a:lnTo>
                <a:lnTo>
                  <a:pt x="1148588" y="1199756"/>
                </a:lnTo>
                <a:lnTo>
                  <a:pt x="1154557" y="1195730"/>
                </a:lnTo>
                <a:lnTo>
                  <a:pt x="1158582" y="1189761"/>
                </a:lnTo>
                <a:lnTo>
                  <a:pt x="1160056" y="1182446"/>
                </a:lnTo>
                <a:lnTo>
                  <a:pt x="1160056" y="1163650"/>
                </a:lnTo>
                <a:lnTo>
                  <a:pt x="1160056" y="394487"/>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58" name="Google Shape;2558;p38"/>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7147598" y="1638940"/>
            <a:ext cx="1094312" cy="1090066"/>
          </a:xfrm>
          <a:prstGeom prst="rect">
            <a:avLst/>
          </a:prstGeom>
          <a:noFill/>
          <a:ln>
            <a:noFill/>
          </a:ln>
        </p:spPr>
      </p:pic>
      <p:sp>
        <p:nvSpPr>
          <p:cNvPr id="2559" name="Google Shape;2559;p38"/>
          <p:cNvSpPr/>
          <p:nvPr/>
        </p:nvSpPr>
        <p:spPr>
          <a:xfrm>
            <a:off x="3105480" y="1738744"/>
            <a:ext cx="1296670" cy="1023619"/>
          </a:xfrm>
          <a:custGeom>
            <a:avLst/>
            <a:gdLst/>
            <a:ahLst/>
            <a:cxnLst/>
            <a:rect l="l" t="t" r="r" b="b"/>
            <a:pathLst>
              <a:path w="1296670" h="1023619" extrusionOk="0">
                <a:moveTo>
                  <a:pt x="139953" y="0"/>
                </a:moveTo>
                <a:lnTo>
                  <a:pt x="85486" y="11429"/>
                </a:lnTo>
                <a:lnTo>
                  <a:pt x="40982" y="40640"/>
                </a:lnTo>
                <a:lnTo>
                  <a:pt x="10990" y="85090"/>
                </a:lnTo>
                <a:lnTo>
                  <a:pt x="0" y="139700"/>
                </a:lnTo>
                <a:lnTo>
                  <a:pt x="0" y="883920"/>
                </a:lnTo>
                <a:lnTo>
                  <a:pt x="10990" y="938530"/>
                </a:lnTo>
                <a:lnTo>
                  <a:pt x="40982" y="982980"/>
                </a:lnTo>
                <a:lnTo>
                  <a:pt x="85486" y="1013460"/>
                </a:lnTo>
                <a:lnTo>
                  <a:pt x="139953" y="1023620"/>
                </a:lnTo>
                <a:lnTo>
                  <a:pt x="665683" y="1023620"/>
                </a:lnTo>
                <a:lnTo>
                  <a:pt x="673064" y="1022350"/>
                </a:lnTo>
                <a:lnTo>
                  <a:pt x="679086" y="1018540"/>
                </a:lnTo>
                <a:lnTo>
                  <a:pt x="683144" y="1012190"/>
                </a:lnTo>
                <a:lnTo>
                  <a:pt x="684631" y="1005840"/>
                </a:lnTo>
                <a:lnTo>
                  <a:pt x="683144" y="998220"/>
                </a:lnTo>
                <a:lnTo>
                  <a:pt x="679086" y="991870"/>
                </a:lnTo>
                <a:lnTo>
                  <a:pt x="673064" y="988060"/>
                </a:lnTo>
                <a:lnTo>
                  <a:pt x="665683" y="986790"/>
                </a:lnTo>
                <a:lnTo>
                  <a:pt x="139953" y="986790"/>
                </a:lnTo>
                <a:lnTo>
                  <a:pt x="119413" y="984250"/>
                </a:lnTo>
                <a:lnTo>
                  <a:pt x="82943" y="969010"/>
                </a:lnTo>
                <a:lnTo>
                  <a:pt x="55373" y="941070"/>
                </a:lnTo>
                <a:lnTo>
                  <a:pt x="40032" y="905510"/>
                </a:lnTo>
                <a:lnTo>
                  <a:pt x="37960" y="883920"/>
                </a:lnTo>
                <a:lnTo>
                  <a:pt x="40032" y="863600"/>
                </a:lnTo>
                <a:lnTo>
                  <a:pt x="55373" y="826770"/>
                </a:lnTo>
                <a:lnTo>
                  <a:pt x="82945" y="800100"/>
                </a:lnTo>
                <a:lnTo>
                  <a:pt x="105065" y="788670"/>
                </a:lnTo>
                <a:lnTo>
                  <a:pt x="37960" y="788670"/>
                </a:lnTo>
                <a:lnTo>
                  <a:pt x="37960" y="139700"/>
                </a:lnTo>
                <a:lnTo>
                  <a:pt x="40032" y="119379"/>
                </a:lnTo>
                <a:lnTo>
                  <a:pt x="55373" y="82550"/>
                </a:lnTo>
                <a:lnTo>
                  <a:pt x="82945" y="54610"/>
                </a:lnTo>
                <a:lnTo>
                  <a:pt x="119419" y="39370"/>
                </a:lnTo>
                <a:lnTo>
                  <a:pt x="139953" y="38100"/>
                </a:lnTo>
                <a:lnTo>
                  <a:pt x="231825" y="38100"/>
                </a:lnTo>
                <a:lnTo>
                  <a:pt x="231825" y="36829"/>
                </a:lnTo>
                <a:lnTo>
                  <a:pt x="228447" y="30479"/>
                </a:lnTo>
                <a:lnTo>
                  <a:pt x="223354" y="27940"/>
                </a:lnTo>
                <a:lnTo>
                  <a:pt x="204388" y="15240"/>
                </a:lnTo>
                <a:lnTo>
                  <a:pt x="183859" y="6350"/>
                </a:lnTo>
                <a:lnTo>
                  <a:pt x="162227" y="1270"/>
                </a:lnTo>
                <a:lnTo>
                  <a:pt x="139953" y="0"/>
                </a:lnTo>
                <a:close/>
              </a:path>
              <a:path w="1296670" h="1023619" extrusionOk="0">
                <a:moveTo>
                  <a:pt x="1296352" y="279400"/>
                </a:moveTo>
                <a:lnTo>
                  <a:pt x="1258392" y="279400"/>
                </a:lnTo>
                <a:lnTo>
                  <a:pt x="1258392" y="986790"/>
                </a:lnTo>
                <a:lnTo>
                  <a:pt x="751674" y="986790"/>
                </a:lnTo>
                <a:lnTo>
                  <a:pt x="744294" y="988060"/>
                </a:lnTo>
                <a:lnTo>
                  <a:pt x="738271" y="991870"/>
                </a:lnTo>
                <a:lnTo>
                  <a:pt x="734213" y="998220"/>
                </a:lnTo>
                <a:lnTo>
                  <a:pt x="732726" y="1005840"/>
                </a:lnTo>
                <a:lnTo>
                  <a:pt x="734213" y="1012190"/>
                </a:lnTo>
                <a:lnTo>
                  <a:pt x="738271" y="1018540"/>
                </a:lnTo>
                <a:lnTo>
                  <a:pt x="744294" y="1022350"/>
                </a:lnTo>
                <a:lnTo>
                  <a:pt x="751674" y="1023620"/>
                </a:lnTo>
                <a:lnTo>
                  <a:pt x="1277404" y="1023620"/>
                </a:lnTo>
                <a:lnTo>
                  <a:pt x="1284784" y="1022350"/>
                </a:lnTo>
                <a:lnTo>
                  <a:pt x="1290807" y="1018540"/>
                </a:lnTo>
                <a:lnTo>
                  <a:pt x="1294865" y="1012190"/>
                </a:lnTo>
                <a:lnTo>
                  <a:pt x="1296352" y="1005840"/>
                </a:lnTo>
                <a:lnTo>
                  <a:pt x="1296352" y="279400"/>
                </a:lnTo>
                <a:close/>
              </a:path>
              <a:path w="1296670" h="1023619" extrusionOk="0">
                <a:moveTo>
                  <a:pt x="602665" y="656590"/>
                </a:moveTo>
                <a:lnTo>
                  <a:pt x="447789" y="656590"/>
                </a:lnTo>
                <a:lnTo>
                  <a:pt x="440408" y="657860"/>
                </a:lnTo>
                <a:lnTo>
                  <a:pt x="434386" y="661670"/>
                </a:lnTo>
                <a:lnTo>
                  <a:pt x="430328" y="668020"/>
                </a:lnTo>
                <a:lnTo>
                  <a:pt x="428840" y="675640"/>
                </a:lnTo>
                <a:lnTo>
                  <a:pt x="428840" y="783590"/>
                </a:lnTo>
                <a:lnTo>
                  <a:pt x="292976" y="783590"/>
                </a:lnTo>
                <a:lnTo>
                  <a:pt x="285583" y="784860"/>
                </a:lnTo>
                <a:lnTo>
                  <a:pt x="279534" y="789940"/>
                </a:lnTo>
                <a:lnTo>
                  <a:pt x="275450" y="795020"/>
                </a:lnTo>
                <a:lnTo>
                  <a:pt x="273951" y="802640"/>
                </a:lnTo>
                <a:lnTo>
                  <a:pt x="273951" y="922020"/>
                </a:lnTo>
                <a:lnTo>
                  <a:pt x="275450" y="929640"/>
                </a:lnTo>
                <a:lnTo>
                  <a:pt x="279534" y="935990"/>
                </a:lnTo>
                <a:lnTo>
                  <a:pt x="285583" y="939800"/>
                </a:lnTo>
                <a:lnTo>
                  <a:pt x="292976" y="941070"/>
                </a:lnTo>
                <a:lnTo>
                  <a:pt x="912304" y="941070"/>
                </a:lnTo>
                <a:lnTo>
                  <a:pt x="919695" y="939800"/>
                </a:lnTo>
                <a:lnTo>
                  <a:pt x="925739" y="935990"/>
                </a:lnTo>
                <a:lnTo>
                  <a:pt x="929819" y="929640"/>
                </a:lnTo>
                <a:lnTo>
                  <a:pt x="931316" y="922020"/>
                </a:lnTo>
                <a:lnTo>
                  <a:pt x="931316" y="902970"/>
                </a:lnTo>
                <a:lnTo>
                  <a:pt x="311924" y="902970"/>
                </a:lnTo>
                <a:lnTo>
                  <a:pt x="311924" y="821690"/>
                </a:lnTo>
                <a:lnTo>
                  <a:pt x="466813" y="821690"/>
                </a:lnTo>
                <a:lnTo>
                  <a:pt x="466813" y="694690"/>
                </a:lnTo>
                <a:lnTo>
                  <a:pt x="621614" y="694690"/>
                </a:lnTo>
                <a:lnTo>
                  <a:pt x="621614" y="675640"/>
                </a:lnTo>
                <a:lnTo>
                  <a:pt x="620126" y="668020"/>
                </a:lnTo>
                <a:lnTo>
                  <a:pt x="616069" y="661670"/>
                </a:lnTo>
                <a:lnTo>
                  <a:pt x="610046" y="657860"/>
                </a:lnTo>
                <a:lnTo>
                  <a:pt x="602665" y="656590"/>
                </a:lnTo>
                <a:close/>
              </a:path>
              <a:path w="1296670" h="1023619" extrusionOk="0">
                <a:moveTo>
                  <a:pt x="1032738" y="279400"/>
                </a:moveTo>
                <a:lnTo>
                  <a:pt x="994689" y="279400"/>
                </a:lnTo>
                <a:lnTo>
                  <a:pt x="994689" y="767079"/>
                </a:lnTo>
                <a:lnTo>
                  <a:pt x="1077950" y="930910"/>
                </a:lnTo>
                <a:lnTo>
                  <a:pt x="1096120" y="941070"/>
                </a:lnTo>
                <a:lnTo>
                  <a:pt x="1103363" y="939800"/>
                </a:lnTo>
                <a:lnTo>
                  <a:pt x="1107160" y="937260"/>
                </a:lnTo>
                <a:lnTo>
                  <a:pt x="1110030" y="934720"/>
                </a:lnTo>
                <a:lnTo>
                  <a:pt x="1111834" y="930910"/>
                </a:lnTo>
                <a:lnTo>
                  <a:pt x="1137623" y="880110"/>
                </a:lnTo>
                <a:lnTo>
                  <a:pt x="1094892" y="880110"/>
                </a:lnTo>
                <a:lnTo>
                  <a:pt x="1044575" y="781050"/>
                </a:lnTo>
                <a:lnTo>
                  <a:pt x="1187912" y="781050"/>
                </a:lnTo>
                <a:lnTo>
                  <a:pt x="1191780" y="773429"/>
                </a:lnTo>
                <a:lnTo>
                  <a:pt x="1193787" y="769620"/>
                </a:lnTo>
                <a:lnTo>
                  <a:pt x="1195006" y="767079"/>
                </a:lnTo>
                <a:lnTo>
                  <a:pt x="1195006" y="742950"/>
                </a:lnTo>
                <a:lnTo>
                  <a:pt x="1032738" y="742950"/>
                </a:lnTo>
                <a:lnTo>
                  <a:pt x="1032738" y="279400"/>
                </a:lnTo>
                <a:close/>
              </a:path>
              <a:path w="1296670" h="1023619" extrusionOk="0">
                <a:moveTo>
                  <a:pt x="466813" y="821690"/>
                </a:moveTo>
                <a:lnTo>
                  <a:pt x="428840" y="821690"/>
                </a:lnTo>
                <a:lnTo>
                  <a:pt x="428840" y="902970"/>
                </a:lnTo>
                <a:lnTo>
                  <a:pt x="466813" y="902970"/>
                </a:lnTo>
                <a:lnTo>
                  <a:pt x="466813" y="821690"/>
                </a:lnTo>
                <a:close/>
              </a:path>
              <a:path w="1296670" h="1023619" extrusionOk="0">
                <a:moveTo>
                  <a:pt x="621614" y="694690"/>
                </a:moveTo>
                <a:lnTo>
                  <a:pt x="583653" y="694690"/>
                </a:lnTo>
                <a:lnTo>
                  <a:pt x="583653" y="902970"/>
                </a:lnTo>
                <a:lnTo>
                  <a:pt x="621626" y="902970"/>
                </a:lnTo>
                <a:lnTo>
                  <a:pt x="621626" y="748029"/>
                </a:lnTo>
                <a:lnTo>
                  <a:pt x="776503" y="748029"/>
                </a:lnTo>
                <a:lnTo>
                  <a:pt x="776503" y="728979"/>
                </a:lnTo>
                <a:lnTo>
                  <a:pt x="775004" y="721360"/>
                </a:lnTo>
                <a:lnTo>
                  <a:pt x="770920" y="715010"/>
                </a:lnTo>
                <a:lnTo>
                  <a:pt x="764871" y="711200"/>
                </a:lnTo>
                <a:lnTo>
                  <a:pt x="757478" y="709929"/>
                </a:lnTo>
                <a:lnTo>
                  <a:pt x="621614" y="709929"/>
                </a:lnTo>
                <a:lnTo>
                  <a:pt x="621614" y="694690"/>
                </a:lnTo>
                <a:close/>
              </a:path>
              <a:path w="1296670" h="1023619" extrusionOk="0">
                <a:moveTo>
                  <a:pt x="776503" y="748029"/>
                </a:moveTo>
                <a:lnTo>
                  <a:pt x="738479" y="748029"/>
                </a:lnTo>
                <a:lnTo>
                  <a:pt x="738479" y="902970"/>
                </a:lnTo>
                <a:lnTo>
                  <a:pt x="776503" y="902970"/>
                </a:lnTo>
                <a:lnTo>
                  <a:pt x="776503" y="821690"/>
                </a:lnTo>
                <a:lnTo>
                  <a:pt x="931316" y="821690"/>
                </a:lnTo>
                <a:lnTo>
                  <a:pt x="931316" y="802640"/>
                </a:lnTo>
                <a:lnTo>
                  <a:pt x="929817" y="795020"/>
                </a:lnTo>
                <a:lnTo>
                  <a:pt x="925733" y="789940"/>
                </a:lnTo>
                <a:lnTo>
                  <a:pt x="919684" y="784860"/>
                </a:lnTo>
                <a:lnTo>
                  <a:pt x="912291" y="783590"/>
                </a:lnTo>
                <a:lnTo>
                  <a:pt x="776503" y="783590"/>
                </a:lnTo>
                <a:lnTo>
                  <a:pt x="776503" y="748029"/>
                </a:lnTo>
                <a:close/>
              </a:path>
              <a:path w="1296670" h="1023619" extrusionOk="0">
                <a:moveTo>
                  <a:pt x="931316" y="821690"/>
                </a:moveTo>
                <a:lnTo>
                  <a:pt x="893356" y="821690"/>
                </a:lnTo>
                <a:lnTo>
                  <a:pt x="893356" y="902970"/>
                </a:lnTo>
                <a:lnTo>
                  <a:pt x="931316" y="902970"/>
                </a:lnTo>
                <a:lnTo>
                  <a:pt x="931316" y="821690"/>
                </a:lnTo>
                <a:close/>
              </a:path>
              <a:path w="1296670" h="1023619" extrusionOk="0">
                <a:moveTo>
                  <a:pt x="1187912" y="781050"/>
                </a:moveTo>
                <a:lnTo>
                  <a:pt x="1145133" y="781050"/>
                </a:lnTo>
                <a:lnTo>
                  <a:pt x="1094892" y="880110"/>
                </a:lnTo>
                <a:lnTo>
                  <a:pt x="1137623" y="880110"/>
                </a:lnTo>
                <a:lnTo>
                  <a:pt x="1187912" y="781050"/>
                </a:lnTo>
                <a:close/>
              </a:path>
              <a:path w="1296670" h="1023619" extrusionOk="0">
                <a:moveTo>
                  <a:pt x="231825" y="782320"/>
                </a:moveTo>
                <a:lnTo>
                  <a:pt x="148452" y="782320"/>
                </a:lnTo>
                <a:lnTo>
                  <a:pt x="164698" y="784860"/>
                </a:lnTo>
                <a:lnTo>
                  <a:pt x="180120" y="789940"/>
                </a:lnTo>
                <a:lnTo>
                  <a:pt x="187563" y="793750"/>
                </a:lnTo>
                <a:lnTo>
                  <a:pt x="194667" y="797560"/>
                </a:lnTo>
                <a:lnTo>
                  <a:pt x="201383" y="802640"/>
                </a:lnTo>
                <a:lnTo>
                  <a:pt x="208197" y="806450"/>
                </a:lnTo>
                <a:lnTo>
                  <a:pt x="215471" y="806450"/>
                </a:lnTo>
                <a:lnTo>
                  <a:pt x="222340" y="803910"/>
                </a:lnTo>
                <a:lnTo>
                  <a:pt x="227939" y="798829"/>
                </a:lnTo>
                <a:lnTo>
                  <a:pt x="230530" y="796290"/>
                </a:lnTo>
                <a:lnTo>
                  <a:pt x="231825" y="791210"/>
                </a:lnTo>
                <a:lnTo>
                  <a:pt x="231825" y="782320"/>
                </a:lnTo>
                <a:close/>
              </a:path>
              <a:path w="1296670" h="1023619" extrusionOk="0">
                <a:moveTo>
                  <a:pt x="151427" y="744220"/>
                </a:moveTo>
                <a:lnTo>
                  <a:pt x="139953" y="744220"/>
                </a:lnTo>
                <a:lnTo>
                  <a:pt x="111757" y="746760"/>
                </a:lnTo>
                <a:lnTo>
                  <a:pt x="85480" y="755650"/>
                </a:lnTo>
                <a:lnTo>
                  <a:pt x="61694" y="768350"/>
                </a:lnTo>
                <a:lnTo>
                  <a:pt x="40970" y="784860"/>
                </a:lnTo>
                <a:lnTo>
                  <a:pt x="37960" y="788670"/>
                </a:lnTo>
                <a:lnTo>
                  <a:pt x="105065" y="788670"/>
                </a:lnTo>
                <a:lnTo>
                  <a:pt x="119419" y="784860"/>
                </a:lnTo>
                <a:lnTo>
                  <a:pt x="139953" y="782320"/>
                </a:lnTo>
                <a:lnTo>
                  <a:pt x="231825" y="782320"/>
                </a:lnTo>
                <a:lnTo>
                  <a:pt x="231825" y="755650"/>
                </a:lnTo>
                <a:lnTo>
                  <a:pt x="193852" y="755650"/>
                </a:lnTo>
                <a:lnTo>
                  <a:pt x="184454" y="751840"/>
                </a:lnTo>
                <a:lnTo>
                  <a:pt x="173702" y="748029"/>
                </a:lnTo>
                <a:lnTo>
                  <a:pt x="162685" y="746760"/>
                </a:lnTo>
                <a:lnTo>
                  <a:pt x="151427" y="744220"/>
                </a:lnTo>
                <a:close/>
              </a:path>
              <a:path w="1296670" h="1023619" extrusionOk="0">
                <a:moveTo>
                  <a:pt x="212877" y="490220"/>
                </a:moveTo>
                <a:lnTo>
                  <a:pt x="205479" y="491490"/>
                </a:lnTo>
                <a:lnTo>
                  <a:pt x="199431" y="496570"/>
                </a:lnTo>
                <a:lnTo>
                  <a:pt x="195350" y="501650"/>
                </a:lnTo>
                <a:lnTo>
                  <a:pt x="193852" y="509270"/>
                </a:lnTo>
                <a:lnTo>
                  <a:pt x="193852" y="755650"/>
                </a:lnTo>
                <a:lnTo>
                  <a:pt x="231825" y="755650"/>
                </a:lnTo>
                <a:lnTo>
                  <a:pt x="231825" y="509270"/>
                </a:lnTo>
                <a:lnTo>
                  <a:pt x="230338" y="501650"/>
                </a:lnTo>
                <a:lnTo>
                  <a:pt x="226280" y="496570"/>
                </a:lnTo>
                <a:lnTo>
                  <a:pt x="220258" y="491490"/>
                </a:lnTo>
                <a:lnTo>
                  <a:pt x="212877" y="490220"/>
                </a:lnTo>
                <a:close/>
              </a:path>
              <a:path w="1296670" h="1023619" extrusionOk="0">
                <a:moveTo>
                  <a:pt x="1175994" y="483870"/>
                </a:moveTo>
                <a:lnTo>
                  <a:pt x="1168613" y="485140"/>
                </a:lnTo>
                <a:lnTo>
                  <a:pt x="1162591" y="490220"/>
                </a:lnTo>
                <a:lnTo>
                  <a:pt x="1158533" y="495300"/>
                </a:lnTo>
                <a:lnTo>
                  <a:pt x="1157046" y="502920"/>
                </a:lnTo>
                <a:lnTo>
                  <a:pt x="1157046" y="742950"/>
                </a:lnTo>
                <a:lnTo>
                  <a:pt x="1195006" y="742950"/>
                </a:lnTo>
                <a:lnTo>
                  <a:pt x="1195006" y="502920"/>
                </a:lnTo>
                <a:lnTo>
                  <a:pt x="1193509" y="495300"/>
                </a:lnTo>
                <a:lnTo>
                  <a:pt x="1189429" y="490220"/>
                </a:lnTo>
                <a:lnTo>
                  <a:pt x="1183385" y="485140"/>
                </a:lnTo>
                <a:lnTo>
                  <a:pt x="1175994" y="483870"/>
                </a:lnTo>
                <a:close/>
              </a:path>
              <a:path w="1296670" h="1023619" extrusionOk="0">
                <a:moveTo>
                  <a:pt x="1094892" y="241300"/>
                </a:moveTo>
                <a:lnTo>
                  <a:pt x="1087467" y="243840"/>
                </a:lnTo>
                <a:lnTo>
                  <a:pt x="1081422" y="247650"/>
                </a:lnTo>
                <a:lnTo>
                  <a:pt x="1077356" y="254000"/>
                </a:lnTo>
                <a:lnTo>
                  <a:pt x="1075867" y="260350"/>
                </a:lnTo>
                <a:lnTo>
                  <a:pt x="1075867" y="659129"/>
                </a:lnTo>
                <a:lnTo>
                  <a:pt x="1077356" y="666750"/>
                </a:lnTo>
                <a:lnTo>
                  <a:pt x="1081422" y="673100"/>
                </a:lnTo>
                <a:lnTo>
                  <a:pt x="1087467" y="676910"/>
                </a:lnTo>
                <a:lnTo>
                  <a:pt x="1094892" y="678179"/>
                </a:lnTo>
                <a:lnTo>
                  <a:pt x="1102273" y="676910"/>
                </a:lnTo>
                <a:lnTo>
                  <a:pt x="1108295" y="673100"/>
                </a:lnTo>
                <a:lnTo>
                  <a:pt x="1112353" y="666750"/>
                </a:lnTo>
                <a:lnTo>
                  <a:pt x="1113840" y="659129"/>
                </a:lnTo>
                <a:lnTo>
                  <a:pt x="1113840" y="260350"/>
                </a:lnTo>
                <a:lnTo>
                  <a:pt x="1112353" y="254000"/>
                </a:lnTo>
                <a:lnTo>
                  <a:pt x="1108295" y="247650"/>
                </a:lnTo>
                <a:lnTo>
                  <a:pt x="1102273" y="243840"/>
                </a:lnTo>
                <a:lnTo>
                  <a:pt x="1094892" y="241300"/>
                </a:lnTo>
                <a:close/>
              </a:path>
              <a:path w="1296670" h="1023619" extrusionOk="0">
                <a:moveTo>
                  <a:pt x="531545" y="339090"/>
                </a:moveTo>
                <a:lnTo>
                  <a:pt x="314007" y="339090"/>
                </a:lnTo>
                <a:lnTo>
                  <a:pt x="306582" y="340360"/>
                </a:lnTo>
                <a:lnTo>
                  <a:pt x="300537" y="344170"/>
                </a:lnTo>
                <a:lnTo>
                  <a:pt x="296471" y="350520"/>
                </a:lnTo>
                <a:lnTo>
                  <a:pt x="294982" y="358140"/>
                </a:lnTo>
                <a:lnTo>
                  <a:pt x="294982" y="575310"/>
                </a:lnTo>
                <a:lnTo>
                  <a:pt x="296471" y="582929"/>
                </a:lnTo>
                <a:lnTo>
                  <a:pt x="300537" y="589279"/>
                </a:lnTo>
                <a:lnTo>
                  <a:pt x="306582" y="593090"/>
                </a:lnTo>
                <a:lnTo>
                  <a:pt x="314007" y="594360"/>
                </a:lnTo>
                <a:lnTo>
                  <a:pt x="531545" y="594360"/>
                </a:lnTo>
                <a:lnTo>
                  <a:pt x="538926" y="593090"/>
                </a:lnTo>
                <a:lnTo>
                  <a:pt x="544949" y="589279"/>
                </a:lnTo>
                <a:lnTo>
                  <a:pt x="549006" y="582929"/>
                </a:lnTo>
                <a:lnTo>
                  <a:pt x="550494" y="575310"/>
                </a:lnTo>
                <a:lnTo>
                  <a:pt x="550494" y="556260"/>
                </a:lnTo>
                <a:lnTo>
                  <a:pt x="332943" y="556260"/>
                </a:lnTo>
                <a:lnTo>
                  <a:pt x="332943" y="377190"/>
                </a:lnTo>
                <a:lnTo>
                  <a:pt x="550494" y="377190"/>
                </a:lnTo>
                <a:lnTo>
                  <a:pt x="550494" y="358140"/>
                </a:lnTo>
                <a:lnTo>
                  <a:pt x="549006" y="350520"/>
                </a:lnTo>
                <a:lnTo>
                  <a:pt x="544949" y="344170"/>
                </a:lnTo>
                <a:lnTo>
                  <a:pt x="538926" y="340360"/>
                </a:lnTo>
                <a:lnTo>
                  <a:pt x="531545" y="339090"/>
                </a:lnTo>
                <a:close/>
              </a:path>
              <a:path w="1296670" h="1023619" extrusionOk="0">
                <a:moveTo>
                  <a:pt x="784478" y="538479"/>
                </a:moveTo>
                <a:lnTo>
                  <a:pt x="634326" y="538479"/>
                </a:lnTo>
                <a:lnTo>
                  <a:pt x="626946" y="539750"/>
                </a:lnTo>
                <a:lnTo>
                  <a:pt x="620923" y="543560"/>
                </a:lnTo>
                <a:lnTo>
                  <a:pt x="616865" y="549910"/>
                </a:lnTo>
                <a:lnTo>
                  <a:pt x="615378" y="557529"/>
                </a:lnTo>
                <a:lnTo>
                  <a:pt x="616865" y="563879"/>
                </a:lnTo>
                <a:lnTo>
                  <a:pt x="620923" y="570229"/>
                </a:lnTo>
                <a:lnTo>
                  <a:pt x="626946" y="574040"/>
                </a:lnTo>
                <a:lnTo>
                  <a:pt x="634326" y="576579"/>
                </a:lnTo>
                <a:lnTo>
                  <a:pt x="784478" y="576579"/>
                </a:lnTo>
                <a:lnTo>
                  <a:pt x="791896" y="574040"/>
                </a:lnTo>
                <a:lnTo>
                  <a:pt x="797937" y="570229"/>
                </a:lnTo>
                <a:lnTo>
                  <a:pt x="802002" y="563879"/>
                </a:lnTo>
                <a:lnTo>
                  <a:pt x="803490" y="557529"/>
                </a:lnTo>
                <a:lnTo>
                  <a:pt x="802002" y="549910"/>
                </a:lnTo>
                <a:lnTo>
                  <a:pt x="797937" y="543560"/>
                </a:lnTo>
                <a:lnTo>
                  <a:pt x="791896" y="539750"/>
                </a:lnTo>
                <a:lnTo>
                  <a:pt x="784478" y="538479"/>
                </a:lnTo>
                <a:close/>
              </a:path>
              <a:path w="1296670" h="1023619" extrusionOk="0">
                <a:moveTo>
                  <a:pt x="550494" y="377190"/>
                </a:moveTo>
                <a:lnTo>
                  <a:pt x="512521" y="377190"/>
                </a:lnTo>
                <a:lnTo>
                  <a:pt x="512521" y="556260"/>
                </a:lnTo>
                <a:lnTo>
                  <a:pt x="550494" y="556260"/>
                </a:lnTo>
                <a:lnTo>
                  <a:pt x="550494" y="377190"/>
                </a:lnTo>
                <a:close/>
              </a:path>
              <a:path w="1296670" h="1023619" extrusionOk="0">
                <a:moveTo>
                  <a:pt x="376661" y="447040"/>
                </a:moveTo>
                <a:lnTo>
                  <a:pt x="369511" y="448310"/>
                </a:lnTo>
                <a:lnTo>
                  <a:pt x="363232" y="453390"/>
                </a:lnTo>
                <a:lnTo>
                  <a:pt x="359082" y="459740"/>
                </a:lnTo>
                <a:lnTo>
                  <a:pt x="357698" y="466090"/>
                </a:lnTo>
                <a:lnTo>
                  <a:pt x="359082" y="473710"/>
                </a:lnTo>
                <a:lnTo>
                  <a:pt x="363232" y="480060"/>
                </a:lnTo>
                <a:lnTo>
                  <a:pt x="393953" y="510540"/>
                </a:lnTo>
                <a:lnTo>
                  <a:pt x="400233" y="514350"/>
                </a:lnTo>
                <a:lnTo>
                  <a:pt x="407382" y="515620"/>
                </a:lnTo>
                <a:lnTo>
                  <a:pt x="414529" y="514350"/>
                </a:lnTo>
                <a:lnTo>
                  <a:pt x="420801" y="510540"/>
                </a:lnTo>
                <a:lnTo>
                  <a:pt x="461763" y="469900"/>
                </a:lnTo>
                <a:lnTo>
                  <a:pt x="407377" y="469900"/>
                </a:lnTo>
                <a:lnTo>
                  <a:pt x="390080" y="453390"/>
                </a:lnTo>
                <a:lnTo>
                  <a:pt x="383808" y="448310"/>
                </a:lnTo>
                <a:lnTo>
                  <a:pt x="376661" y="447040"/>
                </a:lnTo>
                <a:close/>
              </a:path>
              <a:path w="1296670" h="1023619" extrusionOk="0">
                <a:moveTo>
                  <a:pt x="891336" y="447040"/>
                </a:moveTo>
                <a:lnTo>
                  <a:pt x="634326" y="447040"/>
                </a:lnTo>
                <a:lnTo>
                  <a:pt x="626946" y="449579"/>
                </a:lnTo>
                <a:lnTo>
                  <a:pt x="620923" y="453390"/>
                </a:lnTo>
                <a:lnTo>
                  <a:pt x="616865" y="458470"/>
                </a:lnTo>
                <a:lnTo>
                  <a:pt x="615378" y="466090"/>
                </a:lnTo>
                <a:lnTo>
                  <a:pt x="616865" y="473710"/>
                </a:lnTo>
                <a:lnTo>
                  <a:pt x="620923" y="480060"/>
                </a:lnTo>
                <a:lnTo>
                  <a:pt x="626946" y="483870"/>
                </a:lnTo>
                <a:lnTo>
                  <a:pt x="634326" y="485140"/>
                </a:lnTo>
                <a:lnTo>
                  <a:pt x="891336" y="485140"/>
                </a:lnTo>
                <a:lnTo>
                  <a:pt x="898717" y="483870"/>
                </a:lnTo>
                <a:lnTo>
                  <a:pt x="904740" y="480060"/>
                </a:lnTo>
                <a:lnTo>
                  <a:pt x="908797" y="473710"/>
                </a:lnTo>
                <a:lnTo>
                  <a:pt x="910285" y="466090"/>
                </a:lnTo>
                <a:lnTo>
                  <a:pt x="908799" y="458470"/>
                </a:lnTo>
                <a:lnTo>
                  <a:pt x="904744" y="453390"/>
                </a:lnTo>
                <a:lnTo>
                  <a:pt x="898723" y="449579"/>
                </a:lnTo>
                <a:lnTo>
                  <a:pt x="891336" y="447040"/>
                </a:lnTo>
                <a:close/>
              </a:path>
              <a:path w="1296670" h="1023619" extrusionOk="0">
                <a:moveTo>
                  <a:pt x="468820" y="416560"/>
                </a:moveTo>
                <a:lnTo>
                  <a:pt x="461670" y="417829"/>
                </a:lnTo>
                <a:lnTo>
                  <a:pt x="455396" y="422910"/>
                </a:lnTo>
                <a:lnTo>
                  <a:pt x="407377" y="469900"/>
                </a:lnTo>
                <a:lnTo>
                  <a:pt x="461763" y="469900"/>
                </a:lnTo>
                <a:lnTo>
                  <a:pt x="482244" y="449579"/>
                </a:lnTo>
                <a:lnTo>
                  <a:pt x="486437" y="443229"/>
                </a:lnTo>
                <a:lnTo>
                  <a:pt x="487835" y="435610"/>
                </a:lnTo>
                <a:lnTo>
                  <a:pt x="486437" y="427990"/>
                </a:lnTo>
                <a:lnTo>
                  <a:pt x="482244" y="422910"/>
                </a:lnTo>
                <a:lnTo>
                  <a:pt x="475970" y="417829"/>
                </a:lnTo>
                <a:lnTo>
                  <a:pt x="468820" y="416560"/>
                </a:lnTo>
                <a:close/>
              </a:path>
              <a:path w="1296670" h="1023619" extrusionOk="0">
                <a:moveTo>
                  <a:pt x="231825" y="38100"/>
                </a:moveTo>
                <a:lnTo>
                  <a:pt x="139953" y="38100"/>
                </a:lnTo>
                <a:lnTo>
                  <a:pt x="154201" y="39370"/>
                </a:lnTo>
                <a:lnTo>
                  <a:pt x="168008" y="41910"/>
                </a:lnTo>
                <a:lnTo>
                  <a:pt x="181262" y="46990"/>
                </a:lnTo>
                <a:lnTo>
                  <a:pt x="193852" y="53340"/>
                </a:lnTo>
                <a:lnTo>
                  <a:pt x="193852" y="422910"/>
                </a:lnTo>
                <a:lnTo>
                  <a:pt x="195351" y="430529"/>
                </a:lnTo>
                <a:lnTo>
                  <a:pt x="199436" y="436879"/>
                </a:lnTo>
                <a:lnTo>
                  <a:pt x="205484" y="440690"/>
                </a:lnTo>
                <a:lnTo>
                  <a:pt x="212877" y="441960"/>
                </a:lnTo>
                <a:lnTo>
                  <a:pt x="220258" y="440690"/>
                </a:lnTo>
                <a:lnTo>
                  <a:pt x="226280" y="436879"/>
                </a:lnTo>
                <a:lnTo>
                  <a:pt x="230338" y="430529"/>
                </a:lnTo>
                <a:lnTo>
                  <a:pt x="231825" y="422910"/>
                </a:lnTo>
                <a:lnTo>
                  <a:pt x="231825" y="279400"/>
                </a:lnTo>
                <a:lnTo>
                  <a:pt x="1032738" y="279400"/>
                </a:lnTo>
                <a:lnTo>
                  <a:pt x="1032738" y="241300"/>
                </a:lnTo>
                <a:lnTo>
                  <a:pt x="231825" y="241300"/>
                </a:lnTo>
                <a:lnTo>
                  <a:pt x="231825" y="38100"/>
                </a:lnTo>
                <a:close/>
              </a:path>
              <a:path w="1296670" h="1023619" extrusionOk="0">
                <a:moveTo>
                  <a:pt x="1195006" y="176529"/>
                </a:moveTo>
                <a:lnTo>
                  <a:pt x="1157046" y="176529"/>
                </a:lnTo>
                <a:lnTo>
                  <a:pt x="1157046" y="416560"/>
                </a:lnTo>
                <a:lnTo>
                  <a:pt x="1158533" y="424179"/>
                </a:lnTo>
                <a:lnTo>
                  <a:pt x="1162591" y="430529"/>
                </a:lnTo>
                <a:lnTo>
                  <a:pt x="1168613" y="434340"/>
                </a:lnTo>
                <a:lnTo>
                  <a:pt x="1175994" y="435610"/>
                </a:lnTo>
                <a:lnTo>
                  <a:pt x="1183385" y="434340"/>
                </a:lnTo>
                <a:lnTo>
                  <a:pt x="1189429" y="430529"/>
                </a:lnTo>
                <a:lnTo>
                  <a:pt x="1193509" y="424179"/>
                </a:lnTo>
                <a:lnTo>
                  <a:pt x="1195006" y="416560"/>
                </a:lnTo>
                <a:lnTo>
                  <a:pt x="1195006" y="279400"/>
                </a:lnTo>
                <a:lnTo>
                  <a:pt x="1296352" y="279400"/>
                </a:lnTo>
                <a:lnTo>
                  <a:pt x="1296352" y="260350"/>
                </a:lnTo>
                <a:lnTo>
                  <a:pt x="1294865" y="254000"/>
                </a:lnTo>
                <a:lnTo>
                  <a:pt x="1290807" y="247650"/>
                </a:lnTo>
                <a:lnTo>
                  <a:pt x="1284784" y="243840"/>
                </a:lnTo>
                <a:lnTo>
                  <a:pt x="1277404" y="241300"/>
                </a:lnTo>
                <a:lnTo>
                  <a:pt x="1195006" y="241300"/>
                </a:lnTo>
                <a:lnTo>
                  <a:pt x="1195006" y="176529"/>
                </a:lnTo>
                <a:close/>
              </a:path>
              <a:path w="1296670" h="1023619" extrusionOk="0">
                <a:moveTo>
                  <a:pt x="891336" y="356870"/>
                </a:moveTo>
                <a:lnTo>
                  <a:pt x="634326" y="356870"/>
                </a:lnTo>
                <a:lnTo>
                  <a:pt x="626946" y="358140"/>
                </a:lnTo>
                <a:lnTo>
                  <a:pt x="620923" y="361950"/>
                </a:lnTo>
                <a:lnTo>
                  <a:pt x="616865" y="368300"/>
                </a:lnTo>
                <a:lnTo>
                  <a:pt x="615378" y="375920"/>
                </a:lnTo>
                <a:lnTo>
                  <a:pt x="616865" y="383540"/>
                </a:lnTo>
                <a:lnTo>
                  <a:pt x="620923" y="389890"/>
                </a:lnTo>
                <a:lnTo>
                  <a:pt x="626946" y="393700"/>
                </a:lnTo>
                <a:lnTo>
                  <a:pt x="634326" y="394970"/>
                </a:lnTo>
                <a:lnTo>
                  <a:pt x="891336" y="394970"/>
                </a:lnTo>
                <a:lnTo>
                  <a:pt x="898717" y="393700"/>
                </a:lnTo>
                <a:lnTo>
                  <a:pt x="904740" y="389890"/>
                </a:lnTo>
                <a:lnTo>
                  <a:pt x="908797" y="383540"/>
                </a:lnTo>
                <a:lnTo>
                  <a:pt x="910285" y="375920"/>
                </a:lnTo>
                <a:lnTo>
                  <a:pt x="908799" y="368300"/>
                </a:lnTo>
                <a:lnTo>
                  <a:pt x="904744" y="361950"/>
                </a:lnTo>
                <a:lnTo>
                  <a:pt x="898723" y="358140"/>
                </a:lnTo>
                <a:lnTo>
                  <a:pt x="891336" y="356870"/>
                </a:lnTo>
                <a:close/>
              </a:path>
              <a:path w="1296670" h="1023619" extrusionOk="0">
                <a:moveTo>
                  <a:pt x="1126401" y="0"/>
                </a:moveTo>
                <a:lnTo>
                  <a:pt x="1063383" y="0"/>
                </a:lnTo>
                <a:lnTo>
                  <a:pt x="1049554" y="1270"/>
                </a:lnTo>
                <a:lnTo>
                  <a:pt x="1014856" y="20320"/>
                </a:lnTo>
                <a:lnTo>
                  <a:pt x="996095" y="54610"/>
                </a:lnTo>
                <a:lnTo>
                  <a:pt x="994689" y="68579"/>
                </a:lnTo>
                <a:lnTo>
                  <a:pt x="994689" y="241300"/>
                </a:lnTo>
                <a:lnTo>
                  <a:pt x="1032738" y="241300"/>
                </a:lnTo>
                <a:lnTo>
                  <a:pt x="1032738" y="176529"/>
                </a:lnTo>
                <a:lnTo>
                  <a:pt x="1195006" y="176529"/>
                </a:lnTo>
                <a:lnTo>
                  <a:pt x="1195006" y="138429"/>
                </a:lnTo>
                <a:lnTo>
                  <a:pt x="1032738" y="138429"/>
                </a:lnTo>
                <a:lnTo>
                  <a:pt x="1032738" y="59690"/>
                </a:lnTo>
                <a:lnTo>
                  <a:pt x="1036180" y="52070"/>
                </a:lnTo>
                <a:lnTo>
                  <a:pt x="1047305" y="40640"/>
                </a:lnTo>
                <a:lnTo>
                  <a:pt x="1054912" y="38100"/>
                </a:lnTo>
                <a:lnTo>
                  <a:pt x="1187463" y="38100"/>
                </a:lnTo>
                <a:lnTo>
                  <a:pt x="1183230" y="30479"/>
                </a:lnTo>
                <a:lnTo>
                  <a:pt x="1174838" y="20320"/>
                </a:lnTo>
                <a:lnTo>
                  <a:pt x="1164689" y="11429"/>
                </a:lnTo>
                <a:lnTo>
                  <a:pt x="1153044" y="5079"/>
                </a:lnTo>
                <a:lnTo>
                  <a:pt x="1140186" y="1270"/>
                </a:lnTo>
                <a:lnTo>
                  <a:pt x="1126401" y="0"/>
                </a:lnTo>
                <a:close/>
              </a:path>
              <a:path w="1296670" h="1023619" extrusionOk="0">
                <a:moveTo>
                  <a:pt x="1187463" y="38100"/>
                </a:moveTo>
                <a:lnTo>
                  <a:pt x="1134795" y="38100"/>
                </a:lnTo>
                <a:lnTo>
                  <a:pt x="1142403" y="40640"/>
                </a:lnTo>
                <a:lnTo>
                  <a:pt x="1153528" y="52070"/>
                </a:lnTo>
                <a:lnTo>
                  <a:pt x="1157046" y="59690"/>
                </a:lnTo>
                <a:lnTo>
                  <a:pt x="1157046" y="138429"/>
                </a:lnTo>
                <a:lnTo>
                  <a:pt x="1195006" y="138429"/>
                </a:lnTo>
                <a:lnTo>
                  <a:pt x="1195006" y="68579"/>
                </a:lnTo>
                <a:lnTo>
                  <a:pt x="1193601" y="54610"/>
                </a:lnTo>
                <a:lnTo>
                  <a:pt x="1189580" y="41910"/>
                </a:lnTo>
                <a:lnTo>
                  <a:pt x="1187463" y="38100"/>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0" name="Google Shape;2560;p38"/>
          <p:cNvSpPr/>
          <p:nvPr/>
        </p:nvSpPr>
        <p:spPr>
          <a:xfrm>
            <a:off x="3693071" y="3480003"/>
            <a:ext cx="749300" cy="254635"/>
          </a:xfrm>
          <a:custGeom>
            <a:avLst/>
            <a:gdLst/>
            <a:ahLst/>
            <a:cxnLst/>
            <a:rect l="l" t="t" r="r" b="b"/>
            <a:pathLst>
              <a:path w="749300" h="254635" extrusionOk="0">
                <a:moveTo>
                  <a:pt x="748919" y="127317"/>
                </a:moveTo>
                <a:lnTo>
                  <a:pt x="528396" y="0"/>
                </a:lnTo>
                <a:lnTo>
                  <a:pt x="528396" y="95592"/>
                </a:lnTo>
                <a:lnTo>
                  <a:pt x="220522" y="95592"/>
                </a:lnTo>
                <a:lnTo>
                  <a:pt x="220522" y="0"/>
                </a:lnTo>
                <a:lnTo>
                  <a:pt x="0" y="127317"/>
                </a:lnTo>
                <a:lnTo>
                  <a:pt x="220522" y="254635"/>
                </a:lnTo>
                <a:lnTo>
                  <a:pt x="220522" y="159029"/>
                </a:lnTo>
                <a:lnTo>
                  <a:pt x="528396" y="159029"/>
                </a:lnTo>
                <a:lnTo>
                  <a:pt x="528396" y="254635"/>
                </a:lnTo>
                <a:lnTo>
                  <a:pt x="748919" y="127317"/>
                </a:lnTo>
                <a:close/>
              </a:path>
            </a:pathLst>
          </a:custGeom>
          <a:solidFill>
            <a:srgbClr val="0050A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1" name="Google Shape;2561;p38"/>
          <p:cNvSpPr/>
          <p:nvPr/>
        </p:nvSpPr>
        <p:spPr>
          <a:xfrm>
            <a:off x="7558608" y="3480003"/>
            <a:ext cx="749300" cy="254635"/>
          </a:xfrm>
          <a:custGeom>
            <a:avLst/>
            <a:gdLst/>
            <a:ahLst/>
            <a:cxnLst/>
            <a:rect l="l" t="t" r="r" b="b"/>
            <a:pathLst>
              <a:path w="749300" h="254635" extrusionOk="0">
                <a:moveTo>
                  <a:pt x="748919" y="127317"/>
                </a:moveTo>
                <a:lnTo>
                  <a:pt x="528396" y="0"/>
                </a:lnTo>
                <a:lnTo>
                  <a:pt x="528396" y="95592"/>
                </a:lnTo>
                <a:lnTo>
                  <a:pt x="220522" y="95592"/>
                </a:lnTo>
                <a:lnTo>
                  <a:pt x="220522" y="0"/>
                </a:lnTo>
                <a:lnTo>
                  <a:pt x="0" y="127317"/>
                </a:lnTo>
                <a:lnTo>
                  <a:pt x="220522" y="254635"/>
                </a:lnTo>
                <a:lnTo>
                  <a:pt x="220522" y="159029"/>
                </a:lnTo>
                <a:lnTo>
                  <a:pt x="528396" y="159029"/>
                </a:lnTo>
                <a:lnTo>
                  <a:pt x="528396" y="254635"/>
                </a:lnTo>
                <a:lnTo>
                  <a:pt x="748919" y="127317"/>
                </a:lnTo>
                <a:close/>
              </a:path>
            </a:pathLst>
          </a:custGeom>
          <a:solidFill>
            <a:srgbClr val="D2E03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2" name="Google Shape;2562;p38"/>
          <p:cNvSpPr/>
          <p:nvPr/>
        </p:nvSpPr>
        <p:spPr>
          <a:xfrm>
            <a:off x="5895924" y="4844986"/>
            <a:ext cx="254635" cy="749300"/>
          </a:xfrm>
          <a:custGeom>
            <a:avLst/>
            <a:gdLst/>
            <a:ahLst/>
            <a:cxnLst/>
            <a:rect l="l" t="t" r="r" b="b"/>
            <a:pathLst>
              <a:path w="254635" h="749300" extrusionOk="0">
                <a:moveTo>
                  <a:pt x="254635" y="220522"/>
                </a:moveTo>
                <a:lnTo>
                  <a:pt x="127317" y="0"/>
                </a:lnTo>
                <a:lnTo>
                  <a:pt x="0" y="220522"/>
                </a:lnTo>
                <a:lnTo>
                  <a:pt x="95592" y="220522"/>
                </a:lnTo>
                <a:lnTo>
                  <a:pt x="95592" y="528396"/>
                </a:lnTo>
                <a:lnTo>
                  <a:pt x="0" y="528396"/>
                </a:lnTo>
                <a:lnTo>
                  <a:pt x="127317" y="748919"/>
                </a:lnTo>
                <a:lnTo>
                  <a:pt x="254635" y="528396"/>
                </a:lnTo>
                <a:lnTo>
                  <a:pt x="159029" y="528396"/>
                </a:lnTo>
                <a:lnTo>
                  <a:pt x="159029" y="220522"/>
                </a:lnTo>
                <a:lnTo>
                  <a:pt x="254635" y="220522"/>
                </a:lnTo>
                <a:close/>
              </a:path>
            </a:pathLst>
          </a:custGeom>
          <a:solidFill>
            <a:srgbClr val="FAC50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3" name="Google Shape;2563;p38"/>
          <p:cNvSpPr/>
          <p:nvPr/>
        </p:nvSpPr>
        <p:spPr>
          <a:xfrm>
            <a:off x="7582738" y="6941362"/>
            <a:ext cx="749300" cy="254634"/>
          </a:xfrm>
          <a:custGeom>
            <a:avLst/>
            <a:gdLst/>
            <a:ahLst/>
            <a:cxnLst/>
            <a:rect l="l" t="t" r="r" b="b"/>
            <a:pathLst>
              <a:path w="749300" h="254634" extrusionOk="0">
                <a:moveTo>
                  <a:pt x="748906" y="127317"/>
                </a:moveTo>
                <a:lnTo>
                  <a:pt x="528383" y="0"/>
                </a:lnTo>
                <a:lnTo>
                  <a:pt x="528383" y="95592"/>
                </a:lnTo>
                <a:lnTo>
                  <a:pt x="220522" y="95592"/>
                </a:lnTo>
                <a:lnTo>
                  <a:pt x="220522" y="0"/>
                </a:lnTo>
                <a:lnTo>
                  <a:pt x="0" y="127317"/>
                </a:lnTo>
                <a:lnTo>
                  <a:pt x="220522" y="254635"/>
                </a:lnTo>
                <a:lnTo>
                  <a:pt x="220522" y="159029"/>
                </a:lnTo>
                <a:lnTo>
                  <a:pt x="528383" y="159029"/>
                </a:lnTo>
                <a:lnTo>
                  <a:pt x="528383" y="254635"/>
                </a:lnTo>
                <a:lnTo>
                  <a:pt x="748906" y="127317"/>
                </a:lnTo>
                <a:close/>
              </a:path>
            </a:pathLst>
          </a:custGeom>
          <a:solidFill>
            <a:srgbClr val="EB8B1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564" name="Google Shape;2564;p38"/>
          <p:cNvGrpSpPr/>
          <p:nvPr/>
        </p:nvGrpSpPr>
        <p:grpSpPr>
          <a:xfrm>
            <a:off x="473881" y="2075256"/>
            <a:ext cx="3892378" cy="4078819"/>
            <a:chOff x="473881" y="2075256"/>
            <a:chExt cx="3892378" cy="4078819"/>
          </a:xfrm>
        </p:grpSpPr>
        <p:sp>
          <p:nvSpPr>
            <p:cNvPr id="2565" name="Google Shape;2565;p38"/>
            <p:cNvSpPr/>
            <p:nvPr/>
          </p:nvSpPr>
          <p:spPr>
            <a:xfrm>
              <a:off x="3836670" y="5624486"/>
              <a:ext cx="529589" cy="529589"/>
            </a:xfrm>
            <a:custGeom>
              <a:avLst/>
              <a:gdLst/>
              <a:ahLst/>
              <a:cxnLst/>
              <a:rect l="l" t="t" r="r" b="b"/>
              <a:pathLst>
                <a:path w="529589" h="529589" extrusionOk="0">
                  <a:moveTo>
                    <a:pt x="529551" y="529564"/>
                  </a:moveTo>
                  <a:lnTo>
                    <a:pt x="463651" y="283603"/>
                  </a:lnTo>
                  <a:lnTo>
                    <a:pt x="396049" y="351205"/>
                  </a:lnTo>
                  <a:lnTo>
                    <a:pt x="178346" y="133515"/>
                  </a:lnTo>
                  <a:lnTo>
                    <a:pt x="245960" y="65900"/>
                  </a:lnTo>
                  <a:lnTo>
                    <a:pt x="0" y="0"/>
                  </a:lnTo>
                  <a:lnTo>
                    <a:pt x="65900" y="245960"/>
                  </a:lnTo>
                  <a:lnTo>
                    <a:pt x="133489" y="178371"/>
                  </a:lnTo>
                  <a:lnTo>
                    <a:pt x="351193" y="396062"/>
                  </a:lnTo>
                  <a:lnTo>
                    <a:pt x="283591" y="463664"/>
                  </a:lnTo>
                  <a:lnTo>
                    <a:pt x="529551" y="529564"/>
                  </a:lnTo>
                  <a:close/>
                </a:path>
              </a:pathLst>
            </a:custGeom>
            <a:solidFill>
              <a:srgbClr val="FAC50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66" name="Google Shape;2566;p38"/>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473881" y="2075256"/>
              <a:ext cx="3641514" cy="3997594"/>
            </a:xfrm>
            <a:prstGeom prst="rect">
              <a:avLst/>
            </a:prstGeom>
            <a:noFill/>
            <a:ln>
              <a:noFill/>
            </a:ln>
          </p:spPr>
        </p:pic>
        <p:sp>
          <p:nvSpPr>
            <p:cNvPr id="2567" name="Google Shape;2567;p38"/>
            <p:cNvSpPr/>
            <p:nvPr/>
          </p:nvSpPr>
          <p:spPr>
            <a:xfrm>
              <a:off x="1027995" y="2545231"/>
              <a:ext cx="2533015" cy="3140710"/>
            </a:xfrm>
            <a:custGeom>
              <a:avLst/>
              <a:gdLst/>
              <a:ahLst/>
              <a:cxnLst/>
              <a:rect l="l" t="t" r="r" b="b"/>
              <a:pathLst>
                <a:path w="2533015" h="3140710" extrusionOk="0">
                  <a:moveTo>
                    <a:pt x="2442679" y="0"/>
                  </a:moveTo>
                  <a:lnTo>
                    <a:pt x="90004" y="0"/>
                  </a:lnTo>
                  <a:lnTo>
                    <a:pt x="54971" y="7072"/>
                  </a:lnTo>
                  <a:lnTo>
                    <a:pt x="26362" y="26360"/>
                  </a:lnTo>
                  <a:lnTo>
                    <a:pt x="7073" y="54965"/>
                  </a:lnTo>
                  <a:lnTo>
                    <a:pt x="0" y="89992"/>
                  </a:lnTo>
                  <a:lnTo>
                    <a:pt x="0" y="3050146"/>
                  </a:lnTo>
                  <a:lnTo>
                    <a:pt x="7073" y="3085180"/>
                  </a:lnTo>
                  <a:lnTo>
                    <a:pt x="26362" y="3113789"/>
                  </a:lnTo>
                  <a:lnTo>
                    <a:pt x="54971" y="3133078"/>
                  </a:lnTo>
                  <a:lnTo>
                    <a:pt x="90004" y="3140151"/>
                  </a:lnTo>
                  <a:lnTo>
                    <a:pt x="2442679" y="3140151"/>
                  </a:lnTo>
                  <a:lnTo>
                    <a:pt x="2477713" y="3133078"/>
                  </a:lnTo>
                  <a:lnTo>
                    <a:pt x="2506322" y="3113789"/>
                  </a:lnTo>
                  <a:lnTo>
                    <a:pt x="2525611" y="3085180"/>
                  </a:lnTo>
                  <a:lnTo>
                    <a:pt x="2532684" y="3050146"/>
                  </a:lnTo>
                  <a:lnTo>
                    <a:pt x="2532684" y="89992"/>
                  </a:lnTo>
                  <a:lnTo>
                    <a:pt x="2525611" y="54965"/>
                  </a:lnTo>
                  <a:lnTo>
                    <a:pt x="2506322" y="26360"/>
                  </a:lnTo>
                  <a:lnTo>
                    <a:pt x="2477713" y="7072"/>
                  </a:lnTo>
                  <a:lnTo>
                    <a:pt x="2442679"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8" name="Google Shape;2568;p38"/>
            <p:cNvSpPr/>
            <p:nvPr/>
          </p:nvSpPr>
          <p:spPr>
            <a:xfrm>
              <a:off x="1027990" y="2199115"/>
              <a:ext cx="2533015" cy="875664"/>
            </a:xfrm>
            <a:custGeom>
              <a:avLst/>
              <a:gdLst/>
              <a:ahLst/>
              <a:cxnLst/>
              <a:rect l="l" t="t" r="r" b="b"/>
              <a:pathLst>
                <a:path w="2533015" h="875664" extrusionOk="0">
                  <a:moveTo>
                    <a:pt x="2384856" y="0"/>
                  </a:moveTo>
                  <a:lnTo>
                    <a:pt x="147840" y="0"/>
                  </a:lnTo>
                  <a:lnTo>
                    <a:pt x="101112" y="7535"/>
                  </a:lnTo>
                  <a:lnTo>
                    <a:pt x="60528" y="28520"/>
                  </a:lnTo>
                  <a:lnTo>
                    <a:pt x="28525" y="60520"/>
                  </a:lnTo>
                  <a:lnTo>
                    <a:pt x="7537" y="101100"/>
                  </a:lnTo>
                  <a:lnTo>
                    <a:pt x="0" y="147827"/>
                  </a:lnTo>
                  <a:lnTo>
                    <a:pt x="0" y="708609"/>
                  </a:lnTo>
                  <a:lnTo>
                    <a:pt x="1133309" y="708609"/>
                  </a:lnTo>
                  <a:lnTo>
                    <a:pt x="1266342" y="875169"/>
                  </a:lnTo>
                  <a:lnTo>
                    <a:pt x="1399374" y="708609"/>
                  </a:lnTo>
                  <a:lnTo>
                    <a:pt x="2532684" y="708609"/>
                  </a:lnTo>
                  <a:lnTo>
                    <a:pt x="2532684" y="147827"/>
                  </a:lnTo>
                  <a:lnTo>
                    <a:pt x="2525147" y="101100"/>
                  </a:lnTo>
                  <a:lnTo>
                    <a:pt x="2504160" y="60520"/>
                  </a:lnTo>
                  <a:lnTo>
                    <a:pt x="2472158" y="28520"/>
                  </a:lnTo>
                  <a:lnTo>
                    <a:pt x="2431578" y="7535"/>
                  </a:lnTo>
                  <a:lnTo>
                    <a:pt x="2384856" y="0"/>
                  </a:lnTo>
                  <a:close/>
                </a:path>
              </a:pathLst>
            </a:custGeom>
            <a:solidFill>
              <a:srgbClr val="0050A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69" name="Google Shape;2569;p38"/>
          <p:cNvSpPr txBox="1"/>
          <p:nvPr/>
        </p:nvSpPr>
        <p:spPr>
          <a:xfrm>
            <a:off x="1745443" y="2410519"/>
            <a:ext cx="10992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Planning</a:t>
            </a:r>
            <a:endParaRPr sz="2000" b="0" i="0" u="none" strike="noStrike" cap="none">
              <a:solidFill>
                <a:srgbClr val="000000"/>
              </a:solidFill>
              <a:latin typeface="Plus Jakarta Sans"/>
              <a:ea typeface="Plus Jakarta Sans"/>
              <a:cs typeface="Plus Jakarta Sans"/>
              <a:sym typeface="Plus Jakarta Sans"/>
            </a:endParaRPr>
          </a:p>
        </p:txBody>
      </p:sp>
      <p:sp>
        <p:nvSpPr>
          <p:cNvPr id="2570" name="Google Shape;2570;p38"/>
          <p:cNvSpPr txBox="1"/>
          <p:nvPr/>
        </p:nvSpPr>
        <p:spPr>
          <a:xfrm>
            <a:off x="1122000" y="3116975"/>
            <a:ext cx="2571000" cy="834600"/>
          </a:xfrm>
          <a:prstGeom prst="rect">
            <a:avLst/>
          </a:prstGeom>
          <a:noFill/>
          <a:ln>
            <a:noFill/>
          </a:ln>
        </p:spPr>
        <p:txBody>
          <a:bodyPr spcFirstLastPara="1" wrap="square" lIns="0" tIns="12700" rIns="0" bIns="0" anchor="t" anchorCtr="0">
            <a:spAutoFit/>
          </a:bodyPr>
          <a:lstStyle/>
          <a:p>
            <a:pPr marL="224790" marR="5080" lvl="0" indent="-212725" algn="l" rtl="0">
              <a:lnSpc>
                <a:spcPct val="127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Operational management Business planning/</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investment activities</a:t>
            </a:r>
            <a:endParaRPr sz="1400" b="0" i="0" u="none" strike="noStrike" cap="none">
              <a:solidFill>
                <a:srgbClr val="000000"/>
              </a:solidFill>
              <a:latin typeface="Plus Jakarta Sans"/>
              <a:ea typeface="Plus Jakarta Sans"/>
              <a:cs typeface="Plus Jakarta Sans"/>
              <a:sym typeface="Plus Jakarta Sans"/>
            </a:endParaRPr>
          </a:p>
        </p:txBody>
      </p:sp>
      <p:grpSp>
        <p:nvGrpSpPr>
          <p:cNvPr id="2571" name="Google Shape;2571;p38"/>
          <p:cNvGrpSpPr/>
          <p:nvPr/>
        </p:nvGrpSpPr>
        <p:grpSpPr>
          <a:xfrm>
            <a:off x="4173042" y="2075256"/>
            <a:ext cx="3700398" cy="3050558"/>
            <a:chOff x="4173042" y="2075256"/>
            <a:chExt cx="3700398" cy="3050558"/>
          </a:xfrm>
        </p:grpSpPr>
        <p:pic>
          <p:nvPicPr>
            <p:cNvPr id="2572" name="Google Shape;2572;p38"/>
            <p:cNvPicPr preferRelativeResize="0"/>
            <p:nvPr/>
          </p:nvPicPr>
          <p:blipFill rotWithShape="1">
            <a:blip r:embed="rId10" cstate="email">
              <a:alphaModFix/>
              <a:extLst>
                <a:ext uri="{28A0092B-C50C-407E-A947-70E740481C1C}">
                  <a14:useLocalDpi xmlns:a14="http://schemas.microsoft.com/office/drawing/2010/main"/>
                </a:ext>
              </a:extLst>
            </a:blip>
            <a:srcRect/>
            <a:stretch/>
          </p:blipFill>
          <p:spPr>
            <a:xfrm>
              <a:off x="4173042" y="2075256"/>
              <a:ext cx="3700398" cy="3050558"/>
            </a:xfrm>
            <a:prstGeom prst="rect">
              <a:avLst/>
            </a:prstGeom>
            <a:noFill/>
            <a:ln>
              <a:noFill/>
            </a:ln>
          </p:spPr>
        </p:pic>
        <p:sp>
          <p:nvSpPr>
            <p:cNvPr id="2573" name="Google Shape;2573;p38"/>
            <p:cNvSpPr/>
            <p:nvPr/>
          </p:nvSpPr>
          <p:spPr>
            <a:xfrm>
              <a:off x="4560455" y="2545234"/>
              <a:ext cx="2926079" cy="2193290"/>
            </a:xfrm>
            <a:custGeom>
              <a:avLst/>
              <a:gdLst/>
              <a:ahLst/>
              <a:cxnLst/>
              <a:rect l="l" t="t" r="r" b="b"/>
              <a:pathLst>
                <a:path w="2926079" h="2193290" extrusionOk="0">
                  <a:moveTo>
                    <a:pt x="2835567" y="0"/>
                  </a:moveTo>
                  <a:lnTo>
                    <a:pt x="90004" y="0"/>
                  </a:lnTo>
                  <a:lnTo>
                    <a:pt x="54971" y="7071"/>
                  </a:lnTo>
                  <a:lnTo>
                    <a:pt x="26362" y="26355"/>
                  </a:lnTo>
                  <a:lnTo>
                    <a:pt x="7073" y="54960"/>
                  </a:lnTo>
                  <a:lnTo>
                    <a:pt x="0" y="89992"/>
                  </a:lnTo>
                  <a:lnTo>
                    <a:pt x="0" y="2103107"/>
                  </a:lnTo>
                  <a:lnTo>
                    <a:pt x="7073" y="2138141"/>
                  </a:lnTo>
                  <a:lnTo>
                    <a:pt x="26362" y="2166750"/>
                  </a:lnTo>
                  <a:lnTo>
                    <a:pt x="54971" y="2186039"/>
                  </a:lnTo>
                  <a:lnTo>
                    <a:pt x="90004" y="2193112"/>
                  </a:lnTo>
                  <a:lnTo>
                    <a:pt x="2835567" y="2193112"/>
                  </a:lnTo>
                  <a:lnTo>
                    <a:pt x="2870600" y="2186039"/>
                  </a:lnTo>
                  <a:lnTo>
                    <a:pt x="2899209" y="2166750"/>
                  </a:lnTo>
                  <a:lnTo>
                    <a:pt x="2918498" y="2138141"/>
                  </a:lnTo>
                  <a:lnTo>
                    <a:pt x="2925572" y="2103107"/>
                  </a:lnTo>
                  <a:lnTo>
                    <a:pt x="2925572" y="89992"/>
                  </a:lnTo>
                  <a:lnTo>
                    <a:pt x="2918498" y="54960"/>
                  </a:lnTo>
                  <a:lnTo>
                    <a:pt x="2899209" y="26355"/>
                  </a:lnTo>
                  <a:lnTo>
                    <a:pt x="2870600" y="7071"/>
                  </a:lnTo>
                  <a:lnTo>
                    <a:pt x="283556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4" name="Google Shape;2574;p38"/>
            <p:cNvSpPr/>
            <p:nvPr/>
          </p:nvSpPr>
          <p:spPr>
            <a:xfrm>
              <a:off x="4560463" y="2199115"/>
              <a:ext cx="2926079" cy="875664"/>
            </a:xfrm>
            <a:custGeom>
              <a:avLst/>
              <a:gdLst/>
              <a:ahLst/>
              <a:cxnLst/>
              <a:rect l="l" t="t" r="r" b="b"/>
              <a:pathLst>
                <a:path w="2926079" h="875664" extrusionOk="0">
                  <a:moveTo>
                    <a:pt x="2777731" y="0"/>
                  </a:moveTo>
                  <a:lnTo>
                    <a:pt x="147828" y="0"/>
                  </a:lnTo>
                  <a:lnTo>
                    <a:pt x="101100" y="7535"/>
                  </a:lnTo>
                  <a:lnTo>
                    <a:pt x="60520" y="28520"/>
                  </a:lnTo>
                  <a:lnTo>
                    <a:pt x="28520" y="60520"/>
                  </a:lnTo>
                  <a:lnTo>
                    <a:pt x="7535" y="101100"/>
                  </a:lnTo>
                  <a:lnTo>
                    <a:pt x="0" y="147827"/>
                  </a:lnTo>
                  <a:lnTo>
                    <a:pt x="0" y="708609"/>
                  </a:lnTo>
                  <a:lnTo>
                    <a:pt x="1329740" y="708609"/>
                  </a:lnTo>
                  <a:lnTo>
                    <a:pt x="1462773" y="875169"/>
                  </a:lnTo>
                  <a:lnTo>
                    <a:pt x="1595805" y="708609"/>
                  </a:lnTo>
                  <a:lnTo>
                    <a:pt x="2925559" y="708609"/>
                  </a:lnTo>
                  <a:lnTo>
                    <a:pt x="2925559" y="147827"/>
                  </a:lnTo>
                  <a:lnTo>
                    <a:pt x="2918022" y="101100"/>
                  </a:lnTo>
                  <a:lnTo>
                    <a:pt x="2897034" y="60520"/>
                  </a:lnTo>
                  <a:lnTo>
                    <a:pt x="2865033" y="28520"/>
                  </a:lnTo>
                  <a:lnTo>
                    <a:pt x="2824453" y="7535"/>
                  </a:lnTo>
                  <a:lnTo>
                    <a:pt x="2777731" y="0"/>
                  </a:lnTo>
                  <a:close/>
                </a:path>
              </a:pathLst>
            </a:custGeom>
            <a:solidFill>
              <a:srgbClr val="D2E03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75" name="Google Shape;2575;p38"/>
          <p:cNvSpPr txBox="1"/>
          <p:nvPr/>
        </p:nvSpPr>
        <p:spPr>
          <a:xfrm>
            <a:off x="5221750" y="2410525"/>
            <a:ext cx="17334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Management</a:t>
            </a:r>
            <a:endParaRPr sz="2000" b="0" i="0" u="none" strike="noStrike" cap="none">
              <a:solidFill>
                <a:srgbClr val="000000"/>
              </a:solidFill>
              <a:latin typeface="Plus Jakarta Sans"/>
              <a:ea typeface="Plus Jakarta Sans"/>
              <a:cs typeface="Plus Jakarta Sans"/>
              <a:sym typeface="Plus Jakarta Sans"/>
            </a:endParaRPr>
          </a:p>
        </p:txBody>
      </p:sp>
      <p:sp>
        <p:nvSpPr>
          <p:cNvPr id="2576" name="Google Shape;2576;p38"/>
          <p:cNvSpPr txBox="1"/>
          <p:nvPr/>
        </p:nvSpPr>
        <p:spPr>
          <a:xfrm>
            <a:off x="4772326" y="3116975"/>
            <a:ext cx="2326500" cy="1383000"/>
          </a:xfrm>
          <a:prstGeom prst="rect">
            <a:avLst/>
          </a:prstGeom>
          <a:noFill/>
          <a:ln>
            <a:noFill/>
          </a:ln>
        </p:spPr>
        <p:txBody>
          <a:bodyPr spcFirstLastPara="1" wrap="square" lIns="0" tIns="12700" rIns="0" bIns="0" anchor="t" anchorCtr="0">
            <a:spAutoFit/>
          </a:bodyPr>
          <a:lstStyle/>
          <a:p>
            <a:pPr marL="224790" marR="230505" lvl="0" indent="-212725" algn="l" rtl="0">
              <a:lnSpc>
                <a:spcPct val="127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Management plan implementation</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Store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Store data analysis</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Franchise promotion</a:t>
            </a:r>
            <a:endParaRPr sz="1400" b="0" i="0" u="none" strike="noStrike" cap="none">
              <a:solidFill>
                <a:srgbClr val="000000"/>
              </a:solidFill>
              <a:latin typeface="Plus Jakarta Sans"/>
              <a:ea typeface="Plus Jakarta Sans"/>
              <a:cs typeface="Plus Jakarta Sans"/>
              <a:sym typeface="Plus Jakarta Sans"/>
            </a:endParaRPr>
          </a:p>
        </p:txBody>
      </p:sp>
      <p:grpSp>
        <p:nvGrpSpPr>
          <p:cNvPr id="2577" name="Google Shape;2577;p38"/>
          <p:cNvGrpSpPr/>
          <p:nvPr/>
        </p:nvGrpSpPr>
        <p:grpSpPr>
          <a:xfrm>
            <a:off x="8051930" y="2075256"/>
            <a:ext cx="3700266" cy="3050558"/>
            <a:chOff x="8051930" y="2075256"/>
            <a:chExt cx="3700266" cy="3050558"/>
          </a:xfrm>
        </p:grpSpPr>
        <p:pic>
          <p:nvPicPr>
            <p:cNvPr id="2578" name="Google Shape;2578;p38"/>
            <p:cNvPicPr preferRelativeResize="0"/>
            <p:nvPr/>
          </p:nvPicPr>
          <p:blipFill rotWithShape="1">
            <a:blip r:embed="rId11" cstate="email">
              <a:alphaModFix/>
              <a:extLst>
                <a:ext uri="{28A0092B-C50C-407E-A947-70E740481C1C}">
                  <a14:useLocalDpi xmlns:a14="http://schemas.microsoft.com/office/drawing/2010/main"/>
                </a:ext>
              </a:extLst>
            </a:blip>
            <a:srcRect/>
            <a:stretch/>
          </p:blipFill>
          <p:spPr>
            <a:xfrm>
              <a:off x="8051930" y="2075256"/>
              <a:ext cx="3700266" cy="3050558"/>
            </a:xfrm>
            <a:prstGeom prst="rect">
              <a:avLst/>
            </a:prstGeom>
            <a:noFill/>
            <a:ln>
              <a:noFill/>
            </a:ln>
          </p:spPr>
        </p:pic>
        <p:sp>
          <p:nvSpPr>
            <p:cNvPr id="2579" name="Google Shape;2579;p38"/>
            <p:cNvSpPr/>
            <p:nvPr/>
          </p:nvSpPr>
          <p:spPr>
            <a:xfrm>
              <a:off x="8439216" y="2545234"/>
              <a:ext cx="2926079" cy="2193290"/>
            </a:xfrm>
            <a:custGeom>
              <a:avLst/>
              <a:gdLst/>
              <a:ahLst/>
              <a:cxnLst/>
              <a:rect l="l" t="t" r="r" b="b"/>
              <a:pathLst>
                <a:path w="2926079" h="2193290" extrusionOk="0">
                  <a:moveTo>
                    <a:pt x="2835567" y="0"/>
                  </a:moveTo>
                  <a:lnTo>
                    <a:pt x="90004" y="0"/>
                  </a:lnTo>
                  <a:lnTo>
                    <a:pt x="54971" y="7071"/>
                  </a:lnTo>
                  <a:lnTo>
                    <a:pt x="26362" y="26355"/>
                  </a:lnTo>
                  <a:lnTo>
                    <a:pt x="7073" y="54960"/>
                  </a:lnTo>
                  <a:lnTo>
                    <a:pt x="0" y="89992"/>
                  </a:lnTo>
                  <a:lnTo>
                    <a:pt x="0" y="2103107"/>
                  </a:lnTo>
                  <a:lnTo>
                    <a:pt x="7073" y="2138141"/>
                  </a:lnTo>
                  <a:lnTo>
                    <a:pt x="26362" y="2166750"/>
                  </a:lnTo>
                  <a:lnTo>
                    <a:pt x="54971" y="2186039"/>
                  </a:lnTo>
                  <a:lnTo>
                    <a:pt x="90004" y="2193112"/>
                  </a:lnTo>
                  <a:lnTo>
                    <a:pt x="2835567" y="2193112"/>
                  </a:lnTo>
                  <a:lnTo>
                    <a:pt x="2870600" y="2186039"/>
                  </a:lnTo>
                  <a:lnTo>
                    <a:pt x="2899209" y="2166750"/>
                  </a:lnTo>
                  <a:lnTo>
                    <a:pt x="2918498" y="2138141"/>
                  </a:lnTo>
                  <a:lnTo>
                    <a:pt x="2925572" y="2103107"/>
                  </a:lnTo>
                  <a:lnTo>
                    <a:pt x="2925572" y="89992"/>
                  </a:lnTo>
                  <a:lnTo>
                    <a:pt x="2918498" y="54960"/>
                  </a:lnTo>
                  <a:lnTo>
                    <a:pt x="2899209" y="26355"/>
                  </a:lnTo>
                  <a:lnTo>
                    <a:pt x="2870600" y="7071"/>
                  </a:lnTo>
                  <a:lnTo>
                    <a:pt x="283556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0" name="Google Shape;2580;p38"/>
            <p:cNvSpPr/>
            <p:nvPr/>
          </p:nvSpPr>
          <p:spPr>
            <a:xfrm>
              <a:off x="8439223" y="2199115"/>
              <a:ext cx="2926079" cy="875664"/>
            </a:xfrm>
            <a:custGeom>
              <a:avLst/>
              <a:gdLst/>
              <a:ahLst/>
              <a:cxnLst/>
              <a:rect l="l" t="t" r="r" b="b"/>
              <a:pathLst>
                <a:path w="2926079" h="875664" extrusionOk="0">
                  <a:moveTo>
                    <a:pt x="2777731" y="0"/>
                  </a:moveTo>
                  <a:lnTo>
                    <a:pt x="147828" y="0"/>
                  </a:lnTo>
                  <a:lnTo>
                    <a:pt x="101100" y="7535"/>
                  </a:lnTo>
                  <a:lnTo>
                    <a:pt x="60520" y="28520"/>
                  </a:lnTo>
                  <a:lnTo>
                    <a:pt x="28520" y="60520"/>
                  </a:lnTo>
                  <a:lnTo>
                    <a:pt x="7535" y="101100"/>
                  </a:lnTo>
                  <a:lnTo>
                    <a:pt x="0" y="147827"/>
                  </a:lnTo>
                  <a:lnTo>
                    <a:pt x="0" y="708609"/>
                  </a:lnTo>
                  <a:lnTo>
                    <a:pt x="1329740" y="708609"/>
                  </a:lnTo>
                  <a:lnTo>
                    <a:pt x="1462773" y="875169"/>
                  </a:lnTo>
                  <a:lnTo>
                    <a:pt x="1595805" y="708609"/>
                  </a:lnTo>
                  <a:lnTo>
                    <a:pt x="2925559" y="708609"/>
                  </a:lnTo>
                  <a:lnTo>
                    <a:pt x="2925559" y="147827"/>
                  </a:lnTo>
                  <a:lnTo>
                    <a:pt x="2918022" y="101100"/>
                  </a:lnTo>
                  <a:lnTo>
                    <a:pt x="2897034" y="60520"/>
                  </a:lnTo>
                  <a:lnTo>
                    <a:pt x="2865033" y="28520"/>
                  </a:lnTo>
                  <a:lnTo>
                    <a:pt x="2824453" y="7535"/>
                  </a:lnTo>
                  <a:lnTo>
                    <a:pt x="2777731" y="0"/>
                  </a:lnTo>
                  <a:close/>
                </a:path>
              </a:pathLst>
            </a:custGeom>
            <a:solidFill>
              <a:srgbClr val="38CD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81" name="Google Shape;2581;p38"/>
          <p:cNvSpPr txBox="1"/>
          <p:nvPr/>
        </p:nvSpPr>
        <p:spPr>
          <a:xfrm>
            <a:off x="8574236" y="2410519"/>
            <a:ext cx="26556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Warehouse / Delivery</a:t>
            </a:r>
            <a:endParaRPr sz="2000" b="0" i="0" u="none" strike="noStrike" cap="none">
              <a:solidFill>
                <a:srgbClr val="000000"/>
              </a:solidFill>
              <a:latin typeface="Plus Jakarta Sans"/>
              <a:ea typeface="Plus Jakarta Sans"/>
              <a:cs typeface="Plus Jakarta Sans"/>
              <a:sym typeface="Plus Jakarta Sans"/>
            </a:endParaRPr>
          </a:p>
        </p:txBody>
      </p:sp>
      <p:sp>
        <p:nvSpPr>
          <p:cNvPr id="2582" name="Google Shape;2582;p38"/>
          <p:cNvSpPr txBox="1"/>
          <p:nvPr/>
        </p:nvSpPr>
        <p:spPr>
          <a:xfrm>
            <a:off x="8663774" y="3116975"/>
            <a:ext cx="2655600" cy="13848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Receipt / shipment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0" algn="l" rtl="0">
              <a:lnSpc>
                <a:spcPct val="100000"/>
              </a:lnSpc>
              <a:spcBef>
                <a:spcPts val="455"/>
              </a:spcBef>
              <a:spcAft>
                <a:spcPts val="0"/>
              </a:spcAft>
              <a:buClr>
                <a:srgbClr val="000000"/>
              </a:buClr>
              <a:buSzPts val="1400"/>
              <a:buFont typeface="Arial"/>
              <a:buNone/>
            </a:pPr>
            <a:r>
              <a:rPr lang="en-US" sz="1400" b="0" i="0" u="none" strike="noStrike" cap="none">
                <a:solidFill>
                  <a:srgbClr val="4D4D4F"/>
                </a:solidFill>
                <a:latin typeface="Plus Jakarta Sans"/>
                <a:ea typeface="Plus Jakarta Sans"/>
                <a:cs typeface="Plus Jakarta Sans"/>
                <a:sym typeface="Plus Jakarta Sans"/>
              </a:rPr>
              <a:t>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Warehouse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Delivery plan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Carrier management</a:t>
            </a:r>
            <a:endParaRPr sz="1400" b="0" i="0" u="none" strike="noStrike" cap="none">
              <a:solidFill>
                <a:srgbClr val="000000"/>
              </a:solidFill>
              <a:latin typeface="Plus Jakarta Sans"/>
              <a:ea typeface="Plus Jakarta Sans"/>
              <a:cs typeface="Plus Jakarta Sans"/>
              <a:sym typeface="Plus Jakarta Sans"/>
            </a:endParaRPr>
          </a:p>
        </p:txBody>
      </p:sp>
      <p:grpSp>
        <p:nvGrpSpPr>
          <p:cNvPr id="2583" name="Google Shape;2583;p38"/>
          <p:cNvGrpSpPr/>
          <p:nvPr/>
        </p:nvGrpSpPr>
        <p:grpSpPr>
          <a:xfrm>
            <a:off x="11956089" y="2075256"/>
            <a:ext cx="3700218" cy="3050558"/>
            <a:chOff x="11956089" y="2075256"/>
            <a:chExt cx="3700218" cy="3050558"/>
          </a:xfrm>
        </p:grpSpPr>
        <p:pic>
          <p:nvPicPr>
            <p:cNvPr id="2584" name="Google Shape;2584;p38"/>
            <p:cNvPicPr preferRelativeResize="0"/>
            <p:nvPr/>
          </p:nvPicPr>
          <p:blipFill rotWithShape="1">
            <a:blip r:embed="rId12" cstate="email">
              <a:alphaModFix/>
              <a:extLst>
                <a:ext uri="{28A0092B-C50C-407E-A947-70E740481C1C}">
                  <a14:useLocalDpi xmlns:a14="http://schemas.microsoft.com/office/drawing/2010/main"/>
                </a:ext>
              </a:extLst>
            </a:blip>
            <a:srcRect/>
            <a:stretch/>
          </p:blipFill>
          <p:spPr>
            <a:xfrm>
              <a:off x="11956089" y="2075256"/>
              <a:ext cx="3700218" cy="3050558"/>
            </a:xfrm>
            <a:prstGeom prst="rect">
              <a:avLst/>
            </a:prstGeom>
            <a:noFill/>
            <a:ln>
              <a:noFill/>
            </a:ln>
          </p:spPr>
        </p:pic>
        <p:sp>
          <p:nvSpPr>
            <p:cNvPr id="2585" name="Google Shape;2585;p38"/>
            <p:cNvSpPr/>
            <p:nvPr/>
          </p:nvSpPr>
          <p:spPr>
            <a:xfrm>
              <a:off x="12343376" y="2545234"/>
              <a:ext cx="2926080" cy="2193290"/>
            </a:xfrm>
            <a:custGeom>
              <a:avLst/>
              <a:gdLst/>
              <a:ahLst/>
              <a:cxnLst/>
              <a:rect l="l" t="t" r="r" b="b"/>
              <a:pathLst>
                <a:path w="2926080" h="2193290" extrusionOk="0">
                  <a:moveTo>
                    <a:pt x="2835567" y="0"/>
                  </a:moveTo>
                  <a:lnTo>
                    <a:pt x="90004" y="0"/>
                  </a:lnTo>
                  <a:lnTo>
                    <a:pt x="54971" y="7071"/>
                  </a:lnTo>
                  <a:lnTo>
                    <a:pt x="26362" y="26355"/>
                  </a:lnTo>
                  <a:lnTo>
                    <a:pt x="7073" y="54960"/>
                  </a:lnTo>
                  <a:lnTo>
                    <a:pt x="0" y="89992"/>
                  </a:lnTo>
                  <a:lnTo>
                    <a:pt x="0" y="2103107"/>
                  </a:lnTo>
                  <a:lnTo>
                    <a:pt x="7073" y="2138141"/>
                  </a:lnTo>
                  <a:lnTo>
                    <a:pt x="26362" y="2166750"/>
                  </a:lnTo>
                  <a:lnTo>
                    <a:pt x="54971" y="2186039"/>
                  </a:lnTo>
                  <a:lnTo>
                    <a:pt x="90004" y="2193112"/>
                  </a:lnTo>
                  <a:lnTo>
                    <a:pt x="2835567" y="2193112"/>
                  </a:lnTo>
                  <a:lnTo>
                    <a:pt x="2870600" y="2186039"/>
                  </a:lnTo>
                  <a:lnTo>
                    <a:pt x="2899209" y="2166750"/>
                  </a:lnTo>
                  <a:lnTo>
                    <a:pt x="2918498" y="2138141"/>
                  </a:lnTo>
                  <a:lnTo>
                    <a:pt x="2925572" y="2103107"/>
                  </a:lnTo>
                  <a:lnTo>
                    <a:pt x="2925572" y="89992"/>
                  </a:lnTo>
                  <a:lnTo>
                    <a:pt x="2918498" y="54960"/>
                  </a:lnTo>
                  <a:lnTo>
                    <a:pt x="2899209" y="26355"/>
                  </a:lnTo>
                  <a:lnTo>
                    <a:pt x="2870600" y="7071"/>
                  </a:lnTo>
                  <a:lnTo>
                    <a:pt x="283556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6" name="Google Shape;2586;p38"/>
            <p:cNvSpPr/>
            <p:nvPr/>
          </p:nvSpPr>
          <p:spPr>
            <a:xfrm>
              <a:off x="12343385" y="2199115"/>
              <a:ext cx="2926080" cy="875664"/>
            </a:xfrm>
            <a:custGeom>
              <a:avLst/>
              <a:gdLst/>
              <a:ahLst/>
              <a:cxnLst/>
              <a:rect l="l" t="t" r="r" b="b"/>
              <a:pathLst>
                <a:path w="2926080" h="875664" extrusionOk="0">
                  <a:moveTo>
                    <a:pt x="2777731" y="0"/>
                  </a:moveTo>
                  <a:lnTo>
                    <a:pt x="147828" y="0"/>
                  </a:lnTo>
                  <a:lnTo>
                    <a:pt x="101100" y="7535"/>
                  </a:lnTo>
                  <a:lnTo>
                    <a:pt x="60520" y="28520"/>
                  </a:lnTo>
                  <a:lnTo>
                    <a:pt x="28520" y="60520"/>
                  </a:lnTo>
                  <a:lnTo>
                    <a:pt x="7535" y="101100"/>
                  </a:lnTo>
                  <a:lnTo>
                    <a:pt x="0" y="147827"/>
                  </a:lnTo>
                  <a:lnTo>
                    <a:pt x="0" y="708609"/>
                  </a:lnTo>
                  <a:lnTo>
                    <a:pt x="1329740" y="708609"/>
                  </a:lnTo>
                  <a:lnTo>
                    <a:pt x="1462773" y="875169"/>
                  </a:lnTo>
                  <a:lnTo>
                    <a:pt x="1595805" y="708609"/>
                  </a:lnTo>
                  <a:lnTo>
                    <a:pt x="2925559" y="708609"/>
                  </a:lnTo>
                  <a:lnTo>
                    <a:pt x="2925559" y="147827"/>
                  </a:lnTo>
                  <a:lnTo>
                    <a:pt x="2918022" y="101100"/>
                  </a:lnTo>
                  <a:lnTo>
                    <a:pt x="2897034" y="60520"/>
                  </a:lnTo>
                  <a:lnTo>
                    <a:pt x="2865033" y="28520"/>
                  </a:lnTo>
                  <a:lnTo>
                    <a:pt x="2824453" y="7535"/>
                  </a:lnTo>
                  <a:lnTo>
                    <a:pt x="2777731" y="0"/>
                  </a:lnTo>
                  <a:close/>
                </a:path>
              </a:pathLst>
            </a:custGeom>
            <a:solidFill>
              <a:srgbClr val="2D9FA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87" name="Google Shape;2587;p38"/>
          <p:cNvSpPr txBox="1"/>
          <p:nvPr/>
        </p:nvSpPr>
        <p:spPr>
          <a:xfrm>
            <a:off x="13309085" y="2410519"/>
            <a:ext cx="9945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Finance</a:t>
            </a:r>
            <a:endParaRPr sz="2000" b="0" i="0" u="none" strike="noStrike" cap="none">
              <a:solidFill>
                <a:srgbClr val="000000"/>
              </a:solidFill>
              <a:latin typeface="Plus Jakarta Sans"/>
              <a:ea typeface="Plus Jakarta Sans"/>
              <a:cs typeface="Plus Jakarta Sans"/>
              <a:sym typeface="Plus Jakarta Sans"/>
            </a:endParaRPr>
          </a:p>
        </p:txBody>
      </p:sp>
      <p:sp>
        <p:nvSpPr>
          <p:cNvPr id="2588" name="Google Shape;2588;p38"/>
          <p:cNvSpPr txBox="1"/>
          <p:nvPr/>
        </p:nvSpPr>
        <p:spPr>
          <a:xfrm>
            <a:off x="12555251" y="3116975"/>
            <a:ext cx="2326500" cy="5613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Cash ﬂow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Business results</a:t>
            </a:r>
            <a:endParaRPr sz="1400" b="0" i="0" u="none" strike="noStrike" cap="none">
              <a:solidFill>
                <a:srgbClr val="000000"/>
              </a:solidFill>
              <a:latin typeface="Plus Jakarta Sans"/>
              <a:ea typeface="Plus Jakarta Sans"/>
              <a:cs typeface="Plus Jakarta Sans"/>
              <a:sym typeface="Plus Jakarta Sans"/>
            </a:endParaRPr>
          </a:p>
        </p:txBody>
      </p:sp>
      <p:grpSp>
        <p:nvGrpSpPr>
          <p:cNvPr id="2589" name="Google Shape;2589;p38"/>
          <p:cNvGrpSpPr/>
          <p:nvPr/>
        </p:nvGrpSpPr>
        <p:grpSpPr>
          <a:xfrm>
            <a:off x="4173042" y="5543397"/>
            <a:ext cx="3700398" cy="3050554"/>
            <a:chOff x="4173042" y="5543397"/>
            <a:chExt cx="3700398" cy="3050554"/>
          </a:xfrm>
        </p:grpSpPr>
        <p:pic>
          <p:nvPicPr>
            <p:cNvPr id="2590" name="Google Shape;2590;p38"/>
            <p:cNvPicPr preferRelativeResize="0"/>
            <p:nvPr/>
          </p:nvPicPr>
          <p:blipFill rotWithShape="1">
            <a:blip r:embed="rId13" cstate="email">
              <a:alphaModFix/>
              <a:extLst>
                <a:ext uri="{28A0092B-C50C-407E-A947-70E740481C1C}">
                  <a14:useLocalDpi xmlns:a14="http://schemas.microsoft.com/office/drawing/2010/main"/>
                </a:ext>
              </a:extLst>
            </a:blip>
            <a:srcRect/>
            <a:stretch/>
          </p:blipFill>
          <p:spPr>
            <a:xfrm>
              <a:off x="4173042" y="5543397"/>
              <a:ext cx="3700398" cy="3050554"/>
            </a:xfrm>
            <a:prstGeom prst="rect">
              <a:avLst/>
            </a:prstGeom>
            <a:noFill/>
            <a:ln>
              <a:noFill/>
            </a:ln>
          </p:spPr>
        </p:pic>
        <p:sp>
          <p:nvSpPr>
            <p:cNvPr id="2591" name="Google Shape;2591;p38"/>
            <p:cNvSpPr/>
            <p:nvPr/>
          </p:nvSpPr>
          <p:spPr>
            <a:xfrm>
              <a:off x="4560455" y="6013369"/>
              <a:ext cx="2926079" cy="2193290"/>
            </a:xfrm>
            <a:custGeom>
              <a:avLst/>
              <a:gdLst/>
              <a:ahLst/>
              <a:cxnLst/>
              <a:rect l="l" t="t" r="r" b="b"/>
              <a:pathLst>
                <a:path w="2926079" h="2193290" extrusionOk="0">
                  <a:moveTo>
                    <a:pt x="2835567" y="0"/>
                  </a:moveTo>
                  <a:lnTo>
                    <a:pt x="90004" y="0"/>
                  </a:lnTo>
                  <a:lnTo>
                    <a:pt x="54971" y="7071"/>
                  </a:lnTo>
                  <a:lnTo>
                    <a:pt x="26362" y="26355"/>
                  </a:lnTo>
                  <a:lnTo>
                    <a:pt x="7073" y="54960"/>
                  </a:lnTo>
                  <a:lnTo>
                    <a:pt x="0" y="89992"/>
                  </a:lnTo>
                  <a:lnTo>
                    <a:pt x="0" y="2103107"/>
                  </a:lnTo>
                  <a:lnTo>
                    <a:pt x="7073" y="2138141"/>
                  </a:lnTo>
                  <a:lnTo>
                    <a:pt x="26362" y="2166750"/>
                  </a:lnTo>
                  <a:lnTo>
                    <a:pt x="54971" y="2186039"/>
                  </a:lnTo>
                  <a:lnTo>
                    <a:pt x="90004" y="2193112"/>
                  </a:lnTo>
                  <a:lnTo>
                    <a:pt x="2835567" y="2193112"/>
                  </a:lnTo>
                  <a:lnTo>
                    <a:pt x="2870600" y="2186039"/>
                  </a:lnTo>
                  <a:lnTo>
                    <a:pt x="2899209" y="2166750"/>
                  </a:lnTo>
                  <a:lnTo>
                    <a:pt x="2918498" y="2138141"/>
                  </a:lnTo>
                  <a:lnTo>
                    <a:pt x="2925572" y="2103107"/>
                  </a:lnTo>
                  <a:lnTo>
                    <a:pt x="2925572" y="89992"/>
                  </a:lnTo>
                  <a:lnTo>
                    <a:pt x="2918498" y="54960"/>
                  </a:lnTo>
                  <a:lnTo>
                    <a:pt x="2899209" y="26355"/>
                  </a:lnTo>
                  <a:lnTo>
                    <a:pt x="2870600" y="7071"/>
                  </a:lnTo>
                  <a:lnTo>
                    <a:pt x="283556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2" name="Google Shape;2592;p38"/>
            <p:cNvSpPr/>
            <p:nvPr/>
          </p:nvSpPr>
          <p:spPr>
            <a:xfrm>
              <a:off x="4560463" y="5667250"/>
              <a:ext cx="2926079" cy="875665"/>
            </a:xfrm>
            <a:custGeom>
              <a:avLst/>
              <a:gdLst/>
              <a:ahLst/>
              <a:cxnLst/>
              <a:rect l="l" t="t" r="r" b="b"/>
              <a:pathLst>
                <a:path w="2926079" h="875665" extrusionOk="0">
                  <a:moveTo>
                    <a:pt x="2777731" y="0"/>
                  </a:moveTo>
                  <a:lnTo>
                    <a:pt x="147828" y="0"/>
                  </a:lnTo>
                  <a:lnTo>
                    <a:pt x="101100" y="7535"/>
                  </a:lnTo>
                  <a:lnTo>
                    <a:pt x="60520" y="28520"/>
                  </a:lnTo>
                  <a:lnTo>
                    <a:pt x="28520" y="60520"/>
                  </a:lnTo>
                  <a:lnTo>
                    <a:pt x="7535" y="101100"/>
                  </a:lnTo>
                  <a:lnTo>
                    <a:pt x="0" y="147827"/>
                  </a:lnTo>
                  <a:lnTo>
                    <a:pt x="0" y="708609"/>
                  </a:lnTo>
                  <a:lnTo>
                    <a:pt x="1329740" y="708609"/>
                  </a:lnTo>
                  <a:lnTo>
                    <a:pt x="1462773" y="875169"/>
                  </a:lnTo>
                  <a:lnTo>
                    <a:pt x="1595805" y="708609"/>
                  </a:lnTo>
                  <a:lnTo>
                    <a:pt x="2925559" y="708609"/>
                  </a:lnTo>
                  <a:lnTo>
                    <a:pt x="2925559" y="147827"/>
                  </a:lnTo>
                  <a:lnTo>
                    <a:pt x="2918022" y="101100"/>
                  </a:lnTo>
                  <a:lnTo>
                    <a:pt x="2897034" y="60520"/>
                  </a:lnTo>
                  <a:lnTo>
                    <a:pt x="2865033" y="28520"/>
                  </a:lnTo>
                  <a:lnTo>
                    <a:pt x="2824453" y="7535"/>
                  </a:lnTo>
                  <a:lnTo>
                    <a:pt x="2777731" y="0"/>
                  </a:lnTo>
                  <a:close/>
                </a:path>
              </a:pathLst>
            </a:custGeom>
            <a:solidFill>
              <a:srgbClr val="FAC50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93" name="Google Shape;2593;p38"/>
          <p:cNvSpPr txBox="1"/>
          <p:nvPr/>
        </p:nvSpPr>
        <p:spPr>
          <a:xfrm>
            <a:off x="4699275" y="5878650"/>
            <a:ext cx="28593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Product management</a:t>
            </a:r>
            <a:endParaRPr sz="2000" b="0" i="0" u="none" strike="noStrike" cap="none">
              <a:solidFill>
                <a:srgbClr val="000000"/>
              </a:solidFill>
              <a:latin typeface="Plus Jakarta Sans"/>
              <a:ea typeface="Plus Jakarta Sans"/>
              <a:cs typeface="Plus Jakarta Sans"/>
              <a:sym typeface="Plus Jakarta Sans"/>
            </a:endParaRPr>
          </a:p>
        </p:txBody>
      </p:sp>
      <p:sp>
        <p:nvSpPr>
          <p:cNvPr id="2594" name="Google Shape;2594;p38"/>
          <p:cNvSpPr txBox="1"/>
          <p:nvPr/>
        </p:nvSpPr>
        <p:spPr>
          <a:xfrm>
            <a:off x="4772326" y="6508900"/>
            <a:ext cx="2478600" cy="11103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Product development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Product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Supplier research</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Demand analysis</a:t>
            </a:r>
            <a:endParaRPr sz="1400" b="0" i="0" u="none" strike="noStrike" cap="none">
              <a:solidFill>
                <a:srgbClr val="000000"/>
              </a:solidFill>
              <a:latin typeface="Plus Jakarta Sans"/>
              <a:ea typeface="Plus Jakarta Sans"/>
              <a:cs typeface="Plus Jakarta Sans"/>
              <a:sym typeface="Plus Jakarta Sans"/>
            </a:endParaRPr>
          </a:p>
        </p:txBody>
      </p:sp>
      <p:grpSp>
        <p:nvGrpSpPr>
          <p:cNvPr id="2595" name="Google Shape;2595;p38"/>
          <p:cNvGrpSpPr/>
          <p:nvPr/>
        </p:nvGrpSpPr>
        <p:grpSpPr>
          <a:xfrm>
            <a:off x="8051930" y="5543397"/>
            <a:ext cx="3700266" cy="3050554"/>
            <a:chOff x="8051930" y="5543397"/>
            <a:chExt cx="3700266" cy="3050554"/>
          </a:xfrm>
        </p:grpSpPr>
        <p:pic>
          <p:nvPicPr>
            <p:cNvPr id="2596" name="Google Shape;2596;p38"/>
            <p:cNvPicPr preferRelativeResize="0"/>
            <p:nvPr/>
          </p:nvPicPr>
          <p:blipFill rotWithShape="1">
            <a:blip r:embed="rId14" cstate="email">
              <a:alphaModFix/>
              <a:extLst>
                <a:ext uri="{28A0092B-C50C-407E-A947-70E740481C1C}">
                  <a14:useLocalDpi xmlns:a14="http://schemas.microsoft.com/office/drawing/2010/main"/>
                </a:ext>
              </a:extLst>
            </a:blip>
            <a:srcRect/>
            <a:stretch/>
          </p:blipFill>
          <p:spPr>
            <a:xfrm>
              <a:off x="8051930" y="5543397"/>
              <a:ext cx="3700266" cy="3050554"/>
            </a:xfrm>
            <a:prstGeom prst="rect">
              <a:avLst/>
            </a:prstGeom>
            <a:noFill/>
            <a:ln>
              <a:noFill/>
            </a:ln>
          </p:spPr>
        </p:pic>
        <p:sp>
          <p:nvSpPr>
            <p:cNvPr id="2597" name="Google Shape;2597;p38"/>
            <p:cNvSpPr/>
            <p:nvPr/>
          </p:nvSpPr>
          <p:spPr>
            <a:xfrm>
              <a:off x="8439216" y="6013369"/>
              <a:ext cx="2926079" cy="2193290"/>
            </a:xfrm>
            <a:custGeom>
              <a:avLst/>
              <a:gdLst/>
              <a:ahLst/>
              <a:cxnLst/>
              <a:rect l="l" t="t" r="r" b="b"/>
              <a:pathLst>
                <a:path w="2926079" h="2193290" extrusionOk="0">
                  <a:moveTo>
                    <a:pt x="2835567" y="0"/>
                  </a:moveTo>
                  <a:lnTo>
                    <a:pt x="90004" y="0"/>
                  </a:lnTo>
                  <a:lnTo>
                    <a:pt x="54971" y="7071"/>
                  </a:lnTo>
                  <a:lnTo>
                    <a:pt x="26362" y="26355"/>
                  </a:lnTo>
                  <a:lnTo>
                    <a:pt x="7073" y="54960"/>
                  </a:lnTo>
                  <a:lnTo>
                    <a:pt x="0" y="89992"/>
                  </a:lnTo>
                  <a:lnTo>
                    <a:pt x="0" y="2103107"/>
                  </a:lnTo>
                  <a:lnTo>
                    <a:pt x="7073" y="2138141"/>
                  </a:lnTo>
                  <a:lnTo>
                    <a:pt x="26362" y="2166750"/>
                  </a:lnTo>
                  <a:lnTo>
                    <a:pt x="54971" y="2186039"/>
                  </a:lnTo>
                  <a:lnTo>
                    <a:pt x="90004" y="2193112"/>
                  </a:lnTo>
                  <a:lnTo>
                    <a:pt x="2835567" y="2193112"/>
                  </a:lnTo>
                  <a:lnTo>
                    <a:pt x="2870600" y="2186039"/>
                  </a:lnTo>
                  <a:lnTo>
                    <a:pt x="2899209" y="2166750"/>
                  </a:lnTo>
                  <a:lnTo>
                    <a:pt x="2918498" y="2138141"/>
                  </a:lnTo>
                  <a:lnTo>
                    <a:pt x="2925572" y="2103107"/>
                  </a:lnTo>
                  <a:lnTo>
                    <a:pt x="2925572" y="89992"/>
                  </a:lnTo>
                  <a:lnTo>
                    <a:pt x="2918498" y="54960"/>
                  </a:lnTo>
                  <a:lnTo>
                    <a:pt x="2899209" y="26355"/>
                  </a:lnTo>
                  <a:lnTo>
                    <a:pt x="2870600" y="7071"/>
                  </a:lnTo>
                  <a:lnTo>
                    <a:pt x="283556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8" name="Google Shape;2598;p38"/>
            <p:cNvSpPr/>
            <p:nvPr/>
          </p:nvSpPr>
          <p:spPr>
            <a:xfrm>
              <a:off x="8439223" y="5667250"/>
              <a:ext cx="2926079" cy="875665"/>
            </a:xfrm>
            <a:custGeom>
              <a:avLst/>
              <a:gdLst/>
              <a:ahLst/>
              <a:cxnLst/>
              <a:rect l="l" t="t" r="r" b="b"/>
              <a:pathLst>
                <a:path w="2926079" h="875665" extrusionOk="0">
                  <a:moveTo>
                    <a:pt x="2777731" y="0"/>
                  </a:moveTo>
                  <a:lnTo>
                    <a:pt x="147828" y="0"/>
                  </a:lnTo>
                  <a:lnTo>
                    <a:pt x="101100" y="7535"/>
                  </a:lnTo>
                  <a:lnTo>
                    <a:pt x="60520" y="28520"/>
                  </a:lnTo>
                  <a:lnTo>
                    <a:pt x="28520" y="60520"/>
                  </a:lnTo>
                  <a:lnTo>
                    <a:pt x="7535" y="101100"/>
                  </a:lnTo>
                  <a:lnTo>
                    <a:pt x="0" y="147827"/>
                  </a:lnTo>
                  <a:lnTo>
                    <a:pt x="0" y="708609"/>
                  </a:lnTo>
                  <a:lnTo>
                    <a:pt x="1329740" y="708609"/>
                  </a:lnTo>
                  <a:lnTo>
                    <a:pt x="1462773" y="875169"/>
                  </a:lnTo>
                  <a:lnTo>
                    <a:pt x="1595805" y="708609"/>
                  </a:lnTo>
                  <a:lnTo>
                    <a:pt x="2925559" y="708609"/>
                  </a:lnTo>
                  <a:lnTo>
                    <a:pt x="2925559" y="147827"/>
                  </a:lnTo>
                  <a:lnTo>
                    <a:pt x="2918022" y="101100"/>
                  </a:lnTo>
                  <a:lnTo>
                    <a:pt x="2897034" y="60520"/>
                  </a:lnTo>
                  <a:lnTo>
                    <a:pt x="2865033" y="28520"/>
                  </a:lnTo>
                  <a:lnTo>
                    <a:pt x="2824453" y="7535"/>
                  </a:lnTo>
                  <a:lnTo>
                    <a:pt x="2777731" y="0"/>
                  </a:lnTo>
                  <a:close/>
                </a:path>
              </a:pathLst>
            </a:custGeom>
            <a:solidFill>
              <a:srgbClr val="EB8B1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99" name="Google Shape;2599;p38"/>
          <p:cNvSpPr txBox="1"/>
          <p:nvPr/>
        </p:nvSpPr>
        <p:spPr>
          <a:xfrm>
            <a:off x="9288975" y="5878650"/>
            <a:ext cx="12966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Marketing</a:t>
            </a:r>
            <a:endParaRPr sz="2000" b="0" i="0" u="none" strike="noStrike" cap="none">
              <a:solidFill>
                <a:srgbClr val="000000"/>
              </a:solidFill>
              <a:latin typeface="Plus Jakarta Sans"/>
              <a:ea typeface="Plus Jakarta Sans"/>
              <a:cs typeface="Plus Jakarta Sans"/>
              <a:sym typeface="Plus Jakarta Sans"/>
            </a:endParaRPr>
          </a:p>
        </p:txBody>
      </p:sp>
      <p:sp>
        <p:nvSpPr>
          <p:cNvPr id="2600" name="Google Shape;2600;p38"/>
          <p:cNvSpPr txBox="1"/>
          <p:nvPr/>
        </p:nvSpPr>
        <p:spPr>
          <a:xfrm>
            <a:off x="8663775" y="6508900"/>
            <a:ext cx="2326500" cy="11103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Product promotion plan</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Data analysis</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Market research</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Events</a:t>
            </a:r>
            <a:endParaRPr sz="1400" b="0" i="0" u="none" strike="noStrike" cap="none">
              <a:solidFill>
                <a:srgbClr val="000000"/>
              </a:solidFill>
              <a:latin typeface="Plus Jakarta Sans"/>
              <a:ea typeface="Plus Jakarta Sans"/>
              <a:cs typeface="Plus Jakarta Sans"/>
              <a:sym typeface="Plus Jakarta Sans"/>
            </a:endParaRPr>
          </a:p>
        </p:txBody>
      </p:sp>
      <p:grpSp>
        <p:nvGrpSpPr>
          <p:cNvPr id="2601" name="Google Shape;2601;p38"/>
          <p:cNvGrpSpPr/>
          <p:nvPr/>
        </p:nvGrpSpPr>
        <p:grpSpPr>
          <a:xfrm>
            <a:off x="11956088" y="5543397"/>
            <a:ext cx="3700218" cy="3050554"/>
            <a:chOff x="11956088" y="5543397"/>
            <a:chExt cx="3700218" cy="3050554"/>
          </a:xfrm>
        </p:grpSpPr>
        <p:pic>
          <p:nvPicPr>
            <p:cNvPr id="2602" name="Google Shape;2602;p38"/>
            <p:cNvPicPr preferRelativeResize="0"/>
            <p:nvPr/>
          </p:nvPicPr>
          <p:blipFill rotWithShape="1">
            <a:blip r:embed="rId15" cstate="email">
              <a:alphaModFix/>
              <a:extLst>
                <a:ext uri="{28A0092B-C50C-407E-A947-70E740481C1C}">
                  <a14:useLocalDpi xmlns:a14="http://schemas.microsoft.com/office/drawing/2010/main"/>
                </a:ext>
              </a:extLst>
            </a:blip>
            <a:srcRect/>
            <a:stretch/>
          </p:blipFill>
          <p:spPr>
            <a:xfrm>
              <a:off x="11956088" y="5543397"/>
              <a:ext cx="3700218" cy="3050554"/>
            </a:xfrm>
            <a:prstGeom prst="rect">
              <a:avLst/>
            </a:prstGeom>
            <a:noFill/>
            <a:ln>
              <a:noFill/>
            </a:ln>
          </p:spPr>
        </p:pic>
        <p:sp>
          <p:nvSpPr>
            <p:cNvPr id="2603" name="Google Shape;2603;p38"/>
            <p:cNvSpPr/>
            <p:nvPr/>
          </p:nvSpPr>
          <p:spPr>
            <a:xfrm>
              <a:off x="12343376" y="6013369"/>
              <a:ext cx="2926080" cy="2193290"/>
            </a:xfrm>
            <a:custGeom>
              <a:avLst/>
              <a:gdLst/>
              <a:ahLst/>
              <a:cxnLst/>
              <a:rect l="l" t="t" r="r" b="b"/>
              <a:pathLst>
                <a:path w="2926080" h="2193290" extrusionOk="0">
                  <a:moveTo>
                    <a:pt x="2835567" y="0"/>
                  </a:moveTo>
                  <a:lnTo>
                    <a:pt x="90004" y="0"/>
                  </a:lnTo>
                  <a:lnTo>
                    <a:pt x="54971" y="7071"/>
                  </a:lnTo>
                  <a:lnTo>
                    <a:pt x="26362" y="26355"/>
                  </a:lnTo>
                  <a:lnTo>
                    <a:pt x="7073" y="54960"/>
                  </a:lnTo>
                  <a:lnTo>
                    <a:pt x="0" y="89992"/>
                  </a:lnTo>
                  <a:lnTo>
                    <a:pt x="0" y="2103107"/>
                  </a:lnTo>
                  <a:lnTo>
                    <a:pt x="7073" y="2138141"/>
                  </a:lnTo>
                  <a:lnTo>
                    <a:pt x="26362" y="2166750"/>
                  </a:lnTo>
                  <a:lnTo>
                    <a:pt x="54971" y="2186039"/>
                  </a:lnTo>
                  <a:lnTo>
                    <a:pt x="90004" y="2193112"/>
                  </a:lnTo>
                  <a:lnTo>
                    <a:pt x="2835567" y="2193112"/>
                  </a:lnTo>
                  <a:lnTo>
                    <a:pt x="2870600" y="2186039"/>
                  </a:lnTo>
                  <a:lnTo>
                    <a:pt x="2899209" y="2166750"/>
                  </a:lnTo>
                  <a:lnTo>
                    <a:pt x="2918498" y="2138141"/>
                  </a:lnTo>
                  <a:lnTo>
                    <a:pt x="2925572" y="2103107"/>
                  </a:lnTo>
                  <a:lnTo>
                    <a:pt x="2925572" y="89992"/>
                  </a:lnTo>
                  <a:lnTo>
                    <a:pt x="2918498" y="54960"/>
                  </a:lnTo>
                  <a:lnTo>
                    <a:pt x="2899209" y="26355"/>
                  </a:lnTo>
                  <a:lnTo>
                    <a:pt x="2870600" y="7071"/>
                  </a:lnTo>
                  <a:lnTo>
                    <a:pt x="283556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4" name="Google Shape;2604;p38"/>
            <p:cNvSpPr/>
            <p:nvPr/>
          </p:nvSpPr>
          <p:spPr>
            <a:xfrm>
              <a:off x="12343384" y="5667250"/>
              <a:ext cx="2926080" cy="875665"/>
            </a:xfrm>
            <a:custGeom>
              <a:avLst/>
              <a:gdLst/>
              <a:ahLst/>
              <a:cxnLst/>
              <a:rect l="l" t="t" r="r" b="b"/>
              <a:pathLst>
                <a:path w="2926080" h="875665" extrusionOk="0">
                  <a:moveTo>
                    <a:pt x="2777731" y="0"/>
                  </a:moveTo>
                  <a:lnTo>
                    <a:pt x="147828" y="0"/>
                  </a:lnTo>
                  <a:lnTo>
                    <a:pt x="101100" y="7535"/>
                  </a:lnTo>
                  <a:lnTo>
                    <a:pt x="60520" y="28520"/>
                  </a:lnTo>
                  <a:lnTo>
                    <a:pt x="28520" y="60520"/>
                  </a:lnTo>
                  <a:lnTo>
                    <a:pt x="7535" y="101100"/>
                  </a:lnTo>
                  <a:lnTo>
                    <a:pt x="0" y="147827"/>
                  </a:lnTo>
                  <a:lnTo>
                    <a:pt x="0" y="708609"/>
                  </a:lnTo>
                  <a:lnTo>
                    <a:pt x="1329740" y="708609"/>
                  </a:lnTo>
                  <a:lnTo>
                    <a:pt x="1462773" y="875169"/>
                  </a:lnTo>
                  <a:lnTo>
                    <a:pt x="1595805" y="708609"/>
                  </a:lnTo>
                  <a:lnTo>
                    <a:pt x="2925559" y="708609"/>
                  </a:lnTo>
                  <a:lnTo>
                    <a:pt x="2925559" y="147827"/>
                  </a:lnTo>
                  <a:lnTo>
                    <a:pt x="2918022" y="101100"/>
                  </a:lnTo>
                  <a:lnTo>
                    <a:pt x="2897034" y="60520"/>
                  </a:lnTo>
                  <a:lnTo>
                    <a:pt x="2865033" y="28520"/>
                  </a:lnTo>
                  <a:lnTo>
                    <a:pt x="2824453" y="7535"/>
                  </a:lnTo>
                  <a:lnTo>
                    <a:pt x="2777731" y="0"/>
                  </a:lnTo>
                  <a:close/>
                </a:path>
              </a:pathLst>
            </a:custGeom>
            <a:solidFill>
              <a:srgbClr val="0390E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05" name="Google Shape;2605;p38"/>
          <p:cNvSpPr txBox="1"/>
          <p:nvPr/>
        </p:nvSpPr>
        <p:spPr>
          <a:xfrm>
            <a:off x="13680684" y="5878661"/>
            <a:ext cx="2514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IT</a:t>
            </a:r>
            <a:endParaRPr sz="2000" b="0" i="0" u="none" strike="noStrike" cap="none">
              <a:solidFill>
                <a:srgbClr val="000000"/>
              </a:solidFill>
              <a:latin typeface="Plus Jakarta Sans"/>
              <a:ea typeface="Plus Jakarta Sans"/>
              <a:cs typeface="Plus Jakarta Sans"/>
              <a:sym typeface="Plus Jakarta Sans"/>
            </a:endParaRPr>
          </a:p>
        </p:txBody>
      </p:sp>
      <p:sp>
        <p:nvSpPr>
          <p:cNvPr id="2606" name="Google Shape;2606;p38"/>
          <p:cNvSpPr txBox="1"/>
          <p:nvPr/>
        </p:nvSpPr>
        <p:spPr>
          <a:xfrm>
            <a:off x="12555251" y="6508900"/>
            <a:ext cx="2227500" cy="1382100"/>
          </a:xfrm>
          <a:prstGeom prst="rect">
            <a:avLst/>
          </a:prstGeom>
          <a:noFill/>
          <a:ln>
            <a:noFill/>
          </a:ln>
        </p:spPr>
        <p:txBody>
          <a:bodyPr spcFirstLastPara="1" wrap="square" lIns="0" tIns="12700" rIns="0" bIns="0" anchor="t" anchorCtr="0">
            <a:spAutoFit/>
          </a:bodyPr>
          <a:lstStyle/>
          <a:p>
            <a:pPr marL="224790" marR="186055" lvl="0" indent="-212725" algn="l" rtl="0">
              <a:lnSpc>
                <a:spcPct val="127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System operations management</a:t>
            </a:r>
            <a:endParaRPr sz="1400" b="0" i="0" u="none" strike="noStrike" cap="none">
              <a:solidFill>
                <a:srgbClr val="000000"/>
              </a:solidFill>
              <a:latin typeface="Plus Jakarta Sans"/>
              <a:ea typeface="Plus Jakarta Sans"/>
              <a:cs typeface="Plus Jakarta Sans"/>
              <a:sym typeface="Plus Jakarta Sans"/>
            </a:endParaRPr>
          </a:p>
          <a:p>
            <a:pPr marL="224790" marR="5080" lvl="0" indent="-212725" algn="l" rtl="0">
              <a:lnSpc>
                <a:spcPct val="127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System development support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Technical support</a:t>
            </a:r>
            <a:endParaRPr sz="1400" b="0" i="0" u="none" strike="noStrike" cap="none">
              <a:solidFill>
                <a:srgbClr val="000000"/>
              </a:solidFill>
              <a:latin typeface="Plus Jakarta Sans"/>
              <a:ea typeface="Plus Jakarta Sans"/>
              <a:cs typeface="Plus Jakarta Sans"/>
              <a:sym typeface="Plus Jakarta Sans"/>
            </a:endParaRPr>
          </a:p>
        </p:txBody>
      </p:sp>
      <p:grpSp>
        <p:nvGrpSpPr>
          <p:cNvPr id="2607" name="Google Shape;2607;p38"/>
          <p:cNvGrpSpPr/>
          <p:nvPr/>
        </p:nvGrpSpPr>
        <p:grpSpPr>
          <a:xfrm>
            <a:off x="6850827" y="4115306"/>
            <a:ext cx="1500985" cy="1344778"/>
            <a:chOff x="6850827" y="4115306"/>
            <a:chExt cx="1500985" cy="1344778"/>
          </a:xfrm>
        </p:grpSpPr>
        <p:sp>
          <p:nvSpPr>
            <p:cNvPr id="2608" name="Google Shape;2608;p38"/>
            <p:cNvSpPr/>
            <p:nvPr/>
          </p:nvSpPr>
          <p:spPr>
            <a:xfrm>
              <a:off x="7822222" y="4930495"/>
              <a:ext cx="529590" cy="529589"/>
            </a:xfrm>
            <a:custGeom>
              <a:avLst/>
              <a:gdLst/>
              <a:ahLst/>
              <a:cxnLst/>
              <a:rect l="l" t="t" r="r" b="b"/>
              <a:pathLst>
                <a:path w="529590" h="529589" extrusionOk="0">
                  <a:moveTo>
                    <a:pt x="529551" y="529551"/>
                  </a:moveTo>
                  <a:lnTo>
                    <a:pt x="463651" y="283591"/>
                  </a:lnTo>
                  <a:lnTo>
                    <a:pt x="396049" y="351193"/>
                  </a:lnTo>
                  <a:lnTo>
                    <a:pt x="178358" y="133502"/>
                  </a:lnTo>
                  <a:lnTo>
                    <a:pt x="245960" y="65900"/>
                  </a:lnTo>
                  <a:lnTo>
                    <a:pt x="0" y="0"/>
                  </a:lnTo>
                  <a:lnTo>
                    <a:pt x="65900" y="245960"/>
                  </a:lnTo>
                  <a:lnTo>
                    <a:pt x="133502" y="178358"/>
                  </a:lnTo>
                  <a:lnTo>
                    <a:pt x="351193" y="396049"/>
                  </a:lnTo>
                  <a:lnTo>
                    <a:pt x="283591" y="463651"/>
                  </a:lnTo>
                  <a:lnTo>
                    <a:pt x="529551" y="529551"/>
                  </a:lnTo>
                  <a:close/>
                </a:path>
              </a:pathLst>
            </a:custGeom>
            <a:solidFill>
              <a:srgbClr val="D2E03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09" name="Google Shape;2609;p38"/>
            <p:cNvPicPr preferRelativeResize="0"/>
            <p:nvPr/>
          </p:nvPicPr>
          <p:blipFill rotWithShape="1">
            <a:blip r:embed="rId16" cstate="email">
              <a:alphaModFix/>
              <a:extLst>
                <a:ext uri="{28A0092B-C50C-407E-A947-70E740481C1C}">
                  <a14:useLocalDpi xmlns:a14="http://schemas.microsoft.com/office/drawing/2010/main"/>
                </a:ext>
              </a:extLst>
            </a:blip>
            <a:srcRect/>
            <a:stretch/>
          </p:blipFill>
          <p:spPr>
            <a:xfrm>
              <a:off x="6850827" y="4115306"/>
              <a:ext cx="810960" cy="808383"/>
            </a:xfrm>
            <a:prstGeom prst="rect">
              <a:avLst/>
            </a:prstGeom>
            <a:noFill/>
            <a:ln>
              <a:noFill/>
            </a:ln>
          </p:spPr>
        </p:pic>
      </p:grpSp>
      <p:pic>
        <p:nvPicPr>
          <p:cNvPr id="2610" name="Google Shape;2610;p38"/>
          <p:cNvPicPr preferRelativeResize="0"/>
          <p:nvPr/>
        </p:nvPicPr>
        <p:blipFill rotWithShape="1">
          <a:blip r:embed="rId17" cstate="email">
            <a:alphaModFix/>
            <a:extLst>
              <a:ext uri="{28A0092B-C50C-407E-A947-70E740481C1C}">
                <a14:useLocalDpi xmlns:a14="http://schemas.microsoft.com/office/drawing/2010/main"/>
              </a:ext>
            </a:extLst>
          </a:blip>
          <a:srcRect/>
          <a:stretch/>
        </p:blipFill>
        <p:spPr>
          <a:xfrm>
            <a:off x="10710372" y="4115306"/>
            <a:ext cx="810960" cy="808383"/>
          </a:xfrm>
          <a:prstGeom prst="rect">
            <a:avLst/>
          </a:prstGeom>
          <a:noFill/>
          <a:ln>
            <a:noFill/>
          </a:ln>
        </p:spPr>
      </p:pic>
      <p:pic>
        <p:nvPicPr>
          <p:cNvPr id="2611" name="Google Shape;2611;p38"/>
          <p:cNvPicPr preferRelativeResize="0"/>
          <p:nvPr/>
        </p:nvPicPr>
        <p:blipFill rotWithShape="1">
          <a:blip r:embed="rId18" cstate="email">
            <a:alphaModFix/>
            <a:extLst>
              <a:ext uri="{28A0092B-C50C-407E-A947-70E740481C1C}">
                <a14:useLocalDpi xmlns:a14="http://schemas.microsoft.com/office/drawing/2010/main"/>
              </a:ext>
            </a:extLst>
          </a:blip>
          <a:srcRect/>
          <a:stretch/>
        </p:blipFill>
        <p:spPr>
          <a:xfrm>
            <a:off x="14650375" y="4115306"/>
            <a:ext cx="810960" cy="808383"/>
          </a:xfrm>
          <a:prstGeom prst="rect">
            <a:avLst/>
          </a:prstGeom>
          <a:noFill/>
          <a:ln>
            <a:noFill/>
          </a:ln>
        </p:spPr>
      </p:pic>
      <p:pic>
        <p:nvPicPr>
          <p:cNvPr id="2612" name="Google Shape;2612;p38"/>
          <p:cNvPicPr preferRelativeResize="0"/>
          <p:nvPr/>
        </p:nvPicPr>
        <p:blipFill rotWithShape="1">
          <a:blip r:embed="rId19" cstate="email">
            <a:alphaModFix/>
            <a:extLst>
              <a:ext uri="{28A0092B-C50C-407E-A947-70E740481C1C}">
                <a14:useLocalDpi xmlns:a14="http://schemas.microsoft.com/office/drawing/2010/main"/>
              </a:ext>
            </a:extLst>
          </a:blip>
          <a:srcRect/>
          <a:stretch/>
        </p:blipFill>
        <p:spPr>
          <a:xfrm>
            <a:off x="14650375" y="7571216"/>
            <a:ext cx="810960" cy="808383"/>
          </a:xfrm>
          <a:prstGeom prst="rect">
            <a:avLst/>
          </a:prstGeom>
          <a:noFill/>
          <a:ln>
            <a:noFill/>
          </a:ln>
        </p:spPr>
      </p:pic>
      <p:sp>
        <p:nvSpPr>
          <p:cNvPr id="2613" name="Google Shape;2613;p38"/>
          <p:cNvSpPr txBox="1"/>
          <p:nvPr/>
        </p:nvSpPr>
        <p:spPr>
          <a:xfrm>
            <a:off x="4738820" y="691004"/>
            <a:ext cx="11298600" cy="62547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 </a:t>
            </a:r>
            <a:r>
              <a:rPr lang="en-US" sz="2500" b="1" i="0" u="none" strike="noStrike" cap="none">
                <a:solidFill>
                  <a:srgbClr val="004AAD"/>
                </a:solidFill>
                <a:latin typeface="Inter"/>
                <a:ea typeface="Inter"/>
                <a:cs typeface="Inter"/>
                <a:sym typeface="Inter"/>
              </a:rPr>
              <a:t>COMPREHENSIVE RETAIL SYSTEM DEVELOPMENT (3/4)</a:t>
            </a:r>
            <a:endParaRPr sz="2500" b="1" i="0" u="none" strike="noStrike" cap="none">
              <a:solidFill>
                <a:srgbClr val="004AAD"/>
              </a:solidFill>
              <a:latin typeface="Inter"/>
              <a:ea typeface="Inter"/>
              <a:cs typeface="Inter"/>
              <a:sym typeface="Inter"/>
            </a:endParaRPr>
          </a:p>
          <a:p>
            <a:pPr marL="0" marR="0" lvl="0" indent="0" algn="l" rtl="0">
              <a:lnSpc>
                <a:spcPct val="110000"/>
              </a:lnSpc>
              <a:spcBef>
                <a:spcPts val="0"/>
              </a:spcBef>
              <a:spcAft>
                <a:spcPts val="0"/>
              </a:spcAft>
              <a:buClr>
                <a:srgbClr val="000000"/>
              </a:buClr>
              <a:buSzPts val="2500"/>
              <a:buFont typeface="Arial"/>
              <a:buNone/>
            </a:pPr>
            <a:endParaRPr sz="1200" b="0" i="0" u="none" strike="noStrike" cap="none">
              <a:solidFill>
                <a:srgbClr val="000000"/>
              </a:solidFill>
              <a:latin typeface="Arial"/>
              <a:ea typeface="Arial"/>
              <a:cs typeface="Arial"/>
              <a:sym typeface="Arial"/>
            </a:endParaRPr>
          </a:p>
        </p:txBody>
      </p:sp>
      <p:sp>
        <p:nvSpPr>
          <p:cNvPr id="2614" name="Google Shape;2614;p38"/>
          <p:cNvSpPr/>
          <p:nvPr/>
        </p:nvSpPr>
        <p:spPr>
          <a:xfrm>
            <a:off x="-255905" y="584835"/>
            <a:ext cx="4488815" cy="1087755"/>
          </a:xfrm>
          <a:custGeom>
            <a:avLst/>
            <a:gdLst/>
            <a:ahLst/>
            <a:cxnLst/>
            <a:rect l="l" t="t" r="r" b="b"/>
            <a:pathLst>
              <a:path w="812800" h="197009" extrusionOk="0">
                <a:moveTo>
                  <a:pt x="0" y="0"/>
                </a:moveTo>
                <a:lnTo>
                  <a:pt x="812800" y="0"/>
                </a:lnTo>
                <a:lnTo>
                  <a:pt x="812800" y="197009"/>
                </a:lnTo>
                <a:lnTo>
                  <a:pt x="0" y="197009"/>
                </a:lnTo>
                <a:close/>
              </a:path>
            </a:pathLst>
          </a:custGeom>
          <a:solidFill>
            <a:srgbClr val="003A86"/>
          </a:solidFill>
          <a:ln>
            <a:noFill/>
          </a:ln>
        </p:spPr>
      </p:sp>
      <p:sp>
        <p:nvSpPr>
          <p:cNvPr id="2615" name="Google Shape;2615;p38"/>
          <p:cNvSpPr txBox="1"/>
          <p:nvPr/>
        </p:nvSpPr>
        <p:spPr>
          <a:xfrm>
            <a:off x="281940" y="775018"/>
            <a:ext cx="3554730" cy="707390"/>
          </a:xfrm>
          <a:prstGeom prst="rect">
            <a:avLst/>
          </a:prstGeom>
          <a:noFill/>
          <a:ln>
            <a:noFill/>
          </a:ln>
        </p:spPr>
        <p:txBody>
          <a:bodyPr spcFirstLastPara="1" wrap="square" lIns="0" tIns="0" rIns="0" bIns="0" anchor="ctr" anchorCtr="0">
            <a:spAutoFit/>
          </a:bodyPr>
          <a:lstStyle/>
          <a:p>
            <a:pPr marL="19685" marR="0" lvl="0" indent="0" algn="l" rtl="0">
              <a:lnSpc>
                <a:spcPct val="100000"/>
              </a:lnSpc>
              <a:spcBef>
                <a:spcPts val="140"/>
              </a:spcBef>
              <a:spcAft>
                <a:spcPts val="0"/>
              </a:spcAft>
              <a:buClr>
                <a:srgbClr val="000000"/>
              </a:buClr>
              <a:buSzPts val="1400"/>
              <a:buFont typeface="Arial"/>
              <a:buNone/>
            </a:pPr>
            <a:r>
              <a:rPr lang="en-US" sz="2300" b="1" i="0" u="none" strike="noStrike" cap="none">
                <a:solidFill>
                  <a:schemeClr val="lt1"/>
                </a:solidFill>
                <a:latin typeface="Inter"/>
                <a:ea typeface="Inter"/>
                <a:cs typeface="Inter"/>
                <a:sym typeface="Inter"/>
              </a:rPr>
              <a:t>HEADQUARTERS SYSTEM</a:t>
            </a:r>
            <a:endParaRPr sz="2300" b="1" i="0" u="none" strike="noStrike" cap="none">
              <a:solidFill>
                <a:schemeClr val="lt1"/>
              </a:solidFill>
              <a:latin typeface="Inter"/>
              <a:ea typeface="Inter"/>
              <a:cs typeface="Inter"/>
              <a:sym typeface="Inter"/>
            </a:endParaRPr>
          </a:p>
        </p:txBody>
      </p:sp>
      <p:sp>
        <p:nvSpPr>
          <p:cNvPr id="2" name="Google Shape;1967;p26">
            <a:extLst>
              <a:ext uri="{FF2B5EF4-FFF2-40B4-BE49-F238E27FC236}">
                <a16:creationId xmlns:a16="http://schemas.microsoft.com/office/drawing/2014/main" id="{DE765944-B7A0-943B-8904-4EAB08B32AF6}"/>
              </a:ext>
            </a:extLst>
          </p:cNvPr>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20" cstate="email">
              <a:alphaModFix/>
              <a:extLst>
                <a:ext uri="{28A0092B-C50C-407E-A947-70E740481C1C}">
                  <a14:useLocalDpi xmlns:a14="http://schemas.microsoft.com/office/drawing/2010/main"/>
                </a:ext>
              </a:extLst>
            </a:blip>
            <a:stretch>
              <a:fillRect b="-5"/>
            </a:stretch>
          </a:blipFill>
          <a:ln>
            <a:noFill/>
          </a:ln>
        </p:spPr>
      </p:sp>
      <p:grpSp>
        <p:nvGrpSpPr>
          <p:cNvPr id="3" name="Google Shape;1968;p26">
            <a:extLst>
              <a:ext uri="{FF2B5EF4-FFF2-40B4-BE49-F238E27FC236}">
                <a16:creationId xmlns:a16="http://schemas.microsoft.com/office/drawing/2014/main" id="{2DBD2D86-732A-0412-E0BB-85DDDF4945E6}"/>
              </a:ext>
            </a:extLst>
          </p:cNvPr>
          <p:cNvGrpSpPr/>
          <p:nvPr/>
        </p:nvGrpSpPr>
        <p:grpSpPr>
          <a:xfrm>
            <a:off x="872534" y="8351050"/>
            <a:ext cx="846442" cy="699635"/>
            <a:chOff x="0" y="0"/>
            <a:chExt cx="1269600" cy="1049400"/>
          </a:xfrm>
        </p:grpSpPr>
        <p:sp>
          <p:nvSpPr>
            <p:cNvPr id="4" name="Google Shape;1969;p26">
              <a:extLst>
                <a:ext uri="{FF2B5EF4-FFF2-40B4-BE49-F238E27FC236}">
                  <a16:creationId xmlns:a16="http://schemas.microsoft.com/office/drawing/2014/main" id="{CB2DA98B-0D1B-F25D-F930-D67B4F24A7BD}"/>
                </a:ext>
              </a:extLst>
            </p:cNvPr>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5" name="Google Shape;1970;p26">
              <a:extLst>
                <a:ext uri="{FF2B5EF4-FFF2-40B4-BE49-F238E27FC236}">
                  <a16:creationId xmlns:a16="http://schemas.microsoft.com/office/drawing/2014/main" id="{48DC1E01-0C8F-BBB2-91F1-423B814A86B7}"/>
                </a:ext>
              </a:extLst>
            </p:cNvPr>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dirty="0">
                  <a:solidFill>
                    <a:srgbClr val="585858"/>
                  </a:solidFill>
                  <a:latin typeface="Inter"/>
                  <a:ea typeface="Inter"/>
                  <a:sym typeface="Inter"/>
                </a:rPr>
                <a:t>37</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19"/>
        <p:cNvGrpSpPr/>
        <p:nvPr/>
      </p:nvGrpSpPr>
      <p:grpSpPr>
        <a:xfrm>
          <a:off x="0" y="0"/>
          <a:ext cx="0" cy="0"/>
          <a:chOff x="0" y="0"/>
          <a:chExt cx="0" cy="0"/>
        </a:xfrm>
      </p:grpSpPr>
      <p:pic>
        <p:nvPicPr>
          <p:cNvPr id="2620" name="Google Shape;2620;p39"/>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9419931" y="5041353"/>
            <a:ext cx="1213332" cy="1135380"/>
          </a:xfrm>
          <a:prstGeom prst="rect">
            <a:avLst/>
          </a:prstGeom>
          <a:noFill/>
          <a:ln>
            <a:noFill/>
          </a:ln>
        </p:spPr>
      </p:pic>
      <p:sp>
        <p:nvSpPr>
          <p:cNvPr id="2621" name="Google Shape;2621;p39"/>
          <p:cNvSpPr/>
          <p:nvPr/>
        </p:nvSpPr>
        <p:spPr>
          <a:xfrm>
            <a:off x="14698192" y="1535048"/>
            <a:ext cx="1096644" cy="1096645"/>
          </a:xfrm>
          <a:custGeom>
            <a:avLst/>
            <a:gdLst/>
            <a:ahLst/>
            <a:cxnLst/>
            <a:rect l="l" t="t" r="r" b="b"/>
            <a:pathLst>
              <a:path w="1096644" h="1096645" extrusionOk="0">
                <a:moveTo>
                  <a:pt x="55092" y="436486"/>
                </a:moveTo>
                <a:lnTo>
                  <a:pt x="47282" y="428688"/>
                </a:lnTo>
                <a:lnTo>
                  <a:pt x="28194" y="428688"/>
                </a:lnTo>
                <a:lnTo>
                  <a:pt x="20421" y="436486"/>
                </a:lnTo>
                <a:lnTo>
                  <a:pt x="20421" y="455587"/>
                </a:lnTo>
                <a:lnTo>
                  <a:pt x="28219" y="463359"/>
                </a:lnTo>
                <a:lnTo>
                  <a:pt x="37769" y="463359"/>
                </a:lnTo>
                <a:lnTo>
                  <a:pt x="47320" y="463359"/>
                </a:lnTo>
                <a:lnTo>
                  <a:pt x="55092" y="455587"/>
                </a:lnTo>
                <a:lnTo>
                  <a:pt x="55092" y="436486"/>
                </a:lnTo>
                <a:close/>
              </a:path>
              <a:path w="1096644" h="1096645" extrusionOk="0">
                <a:moveTo>
                  <a:pt x="55092" y="354825"/>
                </a:moveTo>
                <a:lnTo>
                  <a:pt x="47282" y="347027"/>
                </a:lnTo>
                <a:lnTo>
                  <a:pt x="28194" y="347027"/>
                </a:lnTo>
                <a:lnTo>
                  <a:pt x="20421" y="354825"/>
                </a:lnTo>
                <a:lnTo>
                  <a:pt x="20421" y="373926"/>
                </a:lnTo>
                <a:lnTo>
                  <a:pt x="28219" y="381698"/>
                </a:lnTo>
                <a:lnTo>
                  <a:pt x="37769" y="381698"/>
                </a:lnTo>
                <a:lnTo>
                  <a:pt x="47320" y="381698"/>
                </a:lnTo>
                <a:lnTo>
                  <a:pt x="55092" y="373926"/>
                </a:lnTo>
                <a:lnTo>
                  <a:pt x="55092" y="354825"/>
                </a:lnTo>
                <a:close/>
              </a:path>
              <a:path w="1096644" h="1096645" extrusionOk="0">
                <a:moveTo>
                  <a:pt x="95935" y="1069276"/>
                </a:moveTo>
                <a:lnTo>
                  <a:pt x="88138" y="1061478"/>
                </a:lnTo>
                <a:lnTo>
                  <a:pt x="69037" y="1061478"/>
                </a:lnTo>
                <a:lnTo>
                  <a:pt x="61239" y="1069276"/>
                </a:lnTo>
                <a:lnTo>
                  <a:pt x="61239" y="1088377"/>
                </a:lnTo>
                <a:lnTo>
                  <a:pt x="69037" y="1096175"/>
                </a:lnTo>
                <a:lnTo>
                  <a:pt x="78587" y="1096175"/>
                </a:lnTo>
                <a:lnTo>
                  <a:pt x="88138" y="1096175"/>
                </a:lnTo>
                <a:lnTo>
                  <a:pt x="95935" y="1088377"/>
                </a:lnTo>
                <a:lnTo>
                  <a:pt x="95935" y="1069276"/>
                </a:lnTo>
                <a:close/>
              </a:path>
              <a:path w="1096644" h="1096645" extrusionOk="0">
                <a:moveTo>
                  <a:pt x="136740" y="395643"/>
                </a:moveTo>
                <a:lnTo>
                  <a:pt x="128943" y="387845"/>
                </a:lnTo>
                <a:lnTo>
                  <a:pt x="109842" y="387845"/>
                </a:lnTo>
                <a:lnTo>
                  <a:pt x="102069" y="395643"/>
                </a:lnTo>
                <a:lnTo>
                  <a:pt x="102069" y="414743"/>
                </a:lnTo>
                <a:lnTo>
                  <a:pt x="109842" y="422541"/>
                </a:lnTo>
                <a:lnTo>
                  <a:pt x="119392" y="422541"/>
                </a:lnTo>
                <a:lnTo>
                  <a:pt x="128943" y="422541"/>
                </a:lnTo>
                <a:lnTo>
                  <a:pt x="136740" y="414743"/>
                </a:lnTo>
                <a:lnTo>
                  <a:pt x="136740" y="395643"/>
                </a:lnTo>
                <a:close/>
              </a:path>
              <a:path w="1096644" h="1096645" extrusionOk="0">
                <a:moveTo>
                  <a:pt x="300062" y="989114"/>
                </a:moveTo>
                <a:lnTo>
                  <a:pt x="297548" y="989114"/>
                </a:lnTo>
                <a:lnTo>
                  <a:pt x="297548" y="980224"/>
                </a:lnTo>
                <a:lnTo>
                  <a:pt x="183705" y="980224"/>
                </a:lnTo>
                <a:lnTo>
                  <a:pt x="183705" y="989114"/>
                </a:lnTo>
                <a:lnTo>
                  <a:pt x="183705" y="1005624"/>
                </a:lnTo>
                <a:lnTo>
                  <a:pt x="183705" y="1014514"/>
                </a:lnTo>
                <a:lnTo>
                  <a:pt x="297307" y="1014514"/>
                </a:lnTo>
                <a:lnTo>
                  <a:pt x="297307" y="1005624"/>
                </a:lnTo>
                <a:lnTo>
                  <a:pt x="300062" y="1005624"/>
                </a:lnTo>
                <a:lnTo>
                  <a:pt x="300062" y="989114"/>
                </a:lnTo>
                <a:close/>
              </a:path>
              <a:path w="1096644" h="1096645" extrusionOk="0">
                <a:moveTo>
                  <a:pt x="381685" y="1061885"/>
                </a:moveTo>
                <a:lnTo>
                  <a:pt x="145402" y="1061885"/>
                </a:lnTo>
                <a:lnTo>
                  <a:pt x="145402" y="1070775"/>
                </a:lnTo>
                <a:lnTo>
                  <a:pt x="142887" y="1070775"/>
                </a:lnTo>
                <a:lnTo>
                  <a:pt x="142887" y="1087285"/>
                </a:lnTo>
                <a:lnTo>
                  <a:pt x="145656" y="1087285"/>
                </a:lnTo>
                <a:lnTo>
                  <a:pt x="145656" y="1096175"/>
                </a:lnTo>
                <a:lnTo>
                  <a:pt x="381685" y="1096175"/>
                </a:lnTo>
                <a:lnTo>
                  <a:pt x="381685" y="1087285"/>
                </a:lnTo>
                <a:lnTo>
                  <a:pt x="381685" y="1070775"/>
                </a:lnTo>
                <a:lnTo>
                  <a:pt x="381685" y="1061885"/>
                </a:lnTo>
                <a:close/>
              </a:path>
              <a:path w="1096644" h="1096645" extrusionOk="0">
                <a:moveTo>
                  <a:pt x="381698" y="987615"/>
                </a:moveTo>
                <a:lnTo>
                  <a:pt x="373926" y="979843"/>
                </a:lnTo>
                <a:lnTo>
                  <a:pt x="354825" y="979843"/>
                </a:lnTo>
                <a:lnTo>
                  <a:pt x="347027" y="987615"/>
                </a:lnTo>
                <a:lnTo>
                  <a:pt x="347027" y="1006716"/>
                </a:lnTo>
                <a:lnTo>
                  <a:pt x="354825" y="1014514"/>
                </a:lnTo>
                <a:lnTo>
                  <a:pt x="364375" y="1014514"/>
                </a:lnTo>
                <a:lnTo>
                  <a:pt x="373926" y="1014514"/>
                </a:lnTo>
                <a:lnTo>
                  <a:pt x="381698" y="1006716"/>
                </a:lnTo>
                <a:lnTo>
                  <a:pt x="381698" y="987615"/>
                </a:lnTo>
                <a:close/>
              </a:path>
              <a:path w="1096644" h="1096645" extrusionOk="0">
                <a:moveTo>
                  <a:pt x="483768" y="7797"/>
                </a:moveTo>
                <a:lnTo>
                  <a:pt x="475970" y="0"/>
                </a:lnTo>
                <a:lnTo>
                  <a:pt x="456869" y="0"/>
                </a:lnTo>
                <a:lnTo>
                  <a:pt x="449097" y="7797"/>
                </a:lnTo>
                <a:lnTo>
                  <a:pt x="449097" y="26898"/>
                </a:lnTo>
                <a:lnTo>
                  <a:pt x="456869" y="34671"/>
                </a:lnTo>
                <a:lnTo>
                  <a:pt x="466420" y="34671"/>
                </a:lnTo>
                <a:lnTo>
                  <a:pt x="475970" y="34671"/>
                </a:lnTo>
                <a:lnTo>
                  <a:pt x="483768" y="26898"/>
                </a:lnTo>
                <a:lnTo>
                  <a:pt x="483768" y="7797"/>
                </a:lnTo>
                <a:close/>
              </a:path>
              <a:path w="1096644" h="1096645" extrusionOk="0">
                <a:moveTo>
                  <a:pt x="565429" y="7797"/>
                </a:moveTo>
                <a:lnTo>
                  <a:pt x="557631" y="0"/>
                </a:lnTo>
                <a:lnTo>
                  <a:pt x="538530" y="0"/>
                </a:lnTo>
                <a:lnTo>
                  <a:pt x="530733" y="7797"/>
                </a:lnTo>
                <a:lnTo>
                  <a:pt x="530733" y="26898"/>
                </a:lnTo>
                <a:lnTo>
                  <a:pt x="538530" y="34671"/>
                </a:lnTo>
                <a:lnTo>
                  <a:pt x="548081" y="34671"/>
                </a:lnTo>
                <a:lnTo>
                  <a:pt x="557631" y="34671"/>
                </a:lnTo>
                <a:lnTo>
                  <a:pt x="565429" y="26898"/>
                </a:lnTo>
                <a:lnTo>
                  <a:pt x="565429" y="7797"/>
                </a:lnTo>
                <a:close/>
              </a:path>
              <a:path w="1096644" h="1096645" extrusionOk="0">
                <a:moveTo>
                  <a:pt x="647090" y="7797"/>
                </a:moveTo>
                <a:lnTo>
                  <a:pt x="639292" y="0"/>
                </a:lnTo>
                <a:lnTo>
                  <a:pt x="620191" y="0"/>
                </a:lnTo>
                <a:lnTo>
                  <a:pt x="612394" y="7797"/>
                </a:lnTo>
                <a:lnTo>
                  <a:pt x="612394" y="26898"/>
                </a:lnTo>
                <a:lnTo>
                  <a:pt x="620191" y="34671"/>
                </a:lnTo>
                <a:lnTo>
                  <a:pt x="629742" y="34671"/>
                </a:lnTo>
                <a:lnTo>
                  <a:pt x="639292" y="34671"/>
                </a:lnTo>
                <a:lnTo>
                  <a:pt x="647090" y="26898"/>
                </a:lnTo>
                <a:lnTo>
                  <a:pt x="647090" y="7797"/>
                </a:lnTo>
                <a:close/>
              </a:path>
              <a:path w="1096644" h="1096645" extrusionOk="0">
                <a:moveTo>
                  <a:pt x="749109" y="406971"/>
                </a:moveTo>
                <a:lnTo>
                  <a:pt x="749046" y="397941"/>
                </a:lnTo>
                <a:lnTo>
                  <a:pt x="738924" y="387819"/>
                </a:lnTo>
                <a:lnTo>
                  <a:pt x="689800" y="338696"/>
                </a:lnTo>
                <a:lnTo>
                  <a:pt x="689800" y="387819"/>
                </a:lnTo>
                <a:lnTo>
                  <a:pt x="673620" y="387819"/>
                </a:lnTo>
                <a:lnTo>
                  <a:pt x="673620" y="422554"/>
                </a:lnTo>
                <a:lnTo>
                  <a:pt x="673620" y="612432"/>
                </a:lnTo>
                <a:lnTo>
                  <a:pt x="673620" y="647077"/>
                </a:lnTo>
                <a:lnTo>
                  <a:pt x="673620" y="694067"/>
                </a:lnTo>
                <a:lnTo>
                  <a:pt x="422529" y="694067"/>
                </a:lnTo>
                <a:lnTo>
                  <a:pt x="422529" y="647077"/>
                </a:lnTo>
                <a:lnTo>
                  <a:pt x="673620" y="647077"/>
                </a:lnTo>
                <a:lnTo>
                  <a:pt x="673620" y="612432"/>
                </a:lnTo>
                <a:lnTo>
                  <a:pt x="422529" y="612406"/>
                </a:lnTo>
                <a:lnTo>
                  <a:pt x="422529" y="422554"/>
                </a:lnTo>
                <a:lnTo>
                  <a:pt x="469493" y="422554"/>
                </a:lnTo>
                <a:lnTo>
                  <a:pt x="469493" y="612406"/>
                </a:lnTo>
                <a:lnTo>
                  <a:pt x="504190" y="612406"/>
                </a:lnTo>
                <a:lnTo>
                  <a:pt x="504190" y="422554"/>
                </a:lnTo>
                <a:lnTo>
                  <a:pt x="591959" y="422554"/>
                </a:lnTo>
                <a:lnTo>
                  <a:pt x="591959" y="612406"/>
                </a:lnTo>
                <a:lnTo>
                  <a:pt x="660209" y="612406"/>
                </a:lnTo>
                <a:lnTo>
                  <a:pt x="626668" y="612343"/>
                </a:lnTo>
                <a:lnTo>
                  <a:pt x="626668" y="422554"/>
                </a:lnTo>
                <a:lnTo>
                  <a:pt x="673620" y="422554"/>
                </a:lnTo>
                <a:lnTo>
                  <a:pt x="673620" y="387819"/>
                </a:lnTo>
                <a:lnTo>
                  <a:pt x="406387" y="387819"/>
                </a:lnTo>
                <a:lnTo>
                  <a:pt x="548081" y="245948"/>
                </a:lnTo>
                <a:lnTo>
                  <a:pt x="689800" y="387819"/>
                </a:lnTo>
                <a:lnTo>
                  <a:pt x="689800" y="338696"/>
                </a:lnTo>
                <a:lnTo>
                  <a:pt x="597052" y="245948"/>
                </a:lnTo>
                <a:lnTo>
                  <a:pt x="557047" y="205917"/>
                </a:lnTo>
                <a:lnTo>
                  <a:pt x="552805" y="204139"/>
                </a:lnTo>
                <a:lnTo>
                  <a:pt x="543471" y="204139"/>
                </a:lnTo>
                <a:lnTo>
                  <a:pt x="539013" y="206006"/>
                </a:lnTo>
                <a:lnTo>
                  <a:pt x="347141" y="397941"/>
                </a:lnTo>
                <a:lnTo>
                  <a:pt x="347027" y="406971"/>
                </a:lnTo>
                <a:lnTo>
                  <a:pt x="347230" y="422554"/>
                </a:lnTo>
                <a:lnTo>
                  <a:pt x="387832" y="422554"/>
                </a:lnTo>
                <a:lnTo>
                  <a:pt x="387896" y="720966"/>
                </a:lnTo>
                <a:lnTo>
                  <a:pt x="395630" y="728726"/>
                </a:lnTo>
                <a:lnTo>
                  <a:pt x="700519" y="728726"/>
                </a:lnTo>
                <a:lnTo>
                  <a:pt x="708266" y="720966"/>
                </a:lnTo>
                <a:lnTo>
                  <a:pt x="708317" y="694067"/>
                </a:lnTo>
                <a:lnTo>
                  <a:pt x="708317" y="647077"/>
                </a:lnTo>
                <a:lnTo>
                  <a:pt x="708317" y="612432"/>
                </a:lnTo>
                <a:lnTo>
                  <a:pt x="708317" y="422554"/>
                </a:lnTo>
                <a:lnTo>
                  <a:pt x="748538" y="422554"/>
                </a:lnTo>
                <a:lnTo>
                  <a:pt x="749109" y="406971"/>
                </a:lnTo>
                <a:close/>
              </a:path>
              <a:path w="1096644" h="1096645" extrusionOk="0">
                <a:moveTo>
                  <a:pt x="749134" y="987615"/>
                </a:moveTo>
                <a:lnTo>
                  <a:pt x="741337" y="979843"/>
                </a:lnTo>
                <a:lnTo>
                  <a:pt x="722236" y="979843"/>
                </a:lnTo>
                <a:lnTo>
                  <a:pt x="714463" y="987615"/>
                </a:lnTo>
                <a:lnTo>
                  <a:pt x="714463" y="1006716"/>
                </a:lnTo>
                <a:lnTo>
                  <a:pt x="722236" y="1014514"/>
                </a:lnTo>
                <a:lnTo>
                  <a:pt x="731786" y="1014514"/>
                </a:lnTo>
                <a:lnTo>
                  <a:pt x="741337" y="1014514"/>
                </a:lnTo>
                <a:lnTo>
                  <a:pt x="749134" y="1006716"/>
                </a:lnTo>
                <a:lnTo>
                  <a:pt x="749134" y="987615"/>
                </a:lnTo>
                <a:close/>
              </a:path>
              <a:path w="1096644" h="1096645" extrusionOk="0">
                <a:moveTo>
                  <a:pt x="912456" y="989114"/>
                </a:moveTo>
                <a:lnTo>
                  <a:pt x="909942" y="989114"/>
                </a:lnTo>
                <a:lnTo>
                  <a:pt x="909942" y="980224"/>
                </a:lnTo>
                <a:lnTo>
                  <a:pt x="796099" y="980224"/>
                </a:lnTo>
                <a:lnTo>
                  <a:pt x="796099" y="989114"/>
                </a:lnTo>
                <a:lnTo>
                  <a:pt x="796099" y="1005624"/>
                </a:lnTo>
                <a:lnTo>
                  <a:pt x="796099" y="1014514"/>
                </a:lnTo>
                <a:lnTo>
                  <a:pt x="909701" y="1014514"/>
                </a:lnTo>
                <a:lnTo>
                  <a:pt x="909701" y="1005624"/>
                </a:lnTo>
                <a:lnTo>
                  <a:pt x="912456" y="1005624"/>
                </a:lnTo>
                <a:lnTo>
                  <a:pt x="912456" y="989114"/>
                </a:lnTo>
                <a:close/>
              </a:path>
              <a:path w="1096644" h="1096645" extrusionOk="0">
                <a:moveTo>
                  <a:pt x="953262" y="1061885"/>
                </a:moveTo>
                <a:lnTo>
                  <a:pt x="716965" y="1061885"/>
                </a:lnTo>
                <a:lnTo>
                  <a:pt x="716965" y="1070775"/>
                </a:lnTo>
                <a:lnTo>
                  <a:pt x="714463" y="1070775"/>
                </a:lnTo>
                <a:lnTo>
                  <a:pt x="714463" y="1087285"/>
                </a:lnTo>
                <a:lnTo>
                  <a:pt x="717207" y="1087285"/>
                </a:lnTo>
                <a:lnTo>
                  <a:pt x="717207" y="1096175"/>
                </a:lnTo>
                <a:lnTo>
                  <a:pt x="953262" y="1096175"/>
                </a:lnTo>
                <a:lnTo>
                  <a:pt x="953262" y="1087285"/>
                </a:lnTo>
                <a:lnTo>
                  <a:pt x="953262" y="1070775"/>
                </a:lnTo>
                <a:lnTo>
                  <a:pt x="953262" y="1061885"/>
                </a:lnTo>
                <a:close/>
              </a:path>
              <a:path w="1096644" h="1096645" extrusionOk="0">
                <a:moveTo>
                  <a:pt x="994092" y="395643"/>
                </a:moveTo>
                <a:lnTo>
                  <a:pt x="986320" y="387845"/>
                </a:lnTo>
                <a:lnTo>
                  <a:pt x="967219" y="387845"/>
                </a:lnTo>
                <a:lnTo>
                  <a:pt x="959421" y="395643"/>
                </a:lnTo>
                <a:lnTo>
                  <a:pt x="959421" y="414743"/>
                </a:lnTo>
                <a:lnTo>
                  <a:pt x="967219" y="422541"/>
                </a:lnTo>
                <a:lnTo>
                  <a:pt x="976769" y="422541"/>
                </a:lnTo>
                <a:lnTo>
                  <a:pt x="986320" y="422541"/>
                </a:lnTo>
                <a:lnTo>
                  <a:pt x="994092" y="414743"/>
                </a:lnTo>
                <a:lnTo>
                  <a:pt x="994092" y="395643"/>
                </a:lnTo>
                <a:close/>
              </a:path>
              <a:path w="1096644" h="1096645" extrusionOk="0">
                <a:moveTo>
                  <a:pt x="1034923" y="1069276"/>
                </a:moveTo>
                <a:lnTo>
                  <a:pt x="1027125" y="1061478"/>
                </a:lnTo>
                <a:lnTo>
                  <a:pt x="1008024" y="1061478"/>
                </a:lnTo>
                <a:lnTo>
                  <a:pt x="1000252" y="1069276"/>
                </a:lnTo>
                <a:lnTo>
                  <a:pt x="1000252" y="1088377"/>
                </a:lnTo>
                <a:lnTo>
                  <a:pt x="1008024" y="1096175"/>
                </a:lnTo>
                <a:lnTo>
                  <a:pt x="1017574" y="1096175"/>
                </a:lnTo>
                <a:lnTo>
                  <a:pt x="1027125" y="1096175"/>
                </a:lnTo>
                <a:lnTo>
                  <a:pt x="1034923" y="1088377"/>
                </a:lnTo>
                <a:lnTo>
                  <a:pt x="1034923" y="1069276"/>
                </a:lnTo>
                <a:close/>
              </a:path>
              <a:path w="1096644" h="1096645" extrusionOk="0">
                <a:moveTo>
                  <a:pt x="1075753" y="436486"/>
                </a:moveTo>
                <a:lnTo>
                  <a:pt x="1067981" y="428688"/>
                </a:lnTo>
                <a:lnTo>
                  <a:pt x="1048880" y="428688"/>
                </a:lnTo>
                <a:lnTo>
                  <a:pt x="1041082" y="436486"/>
                </a:lnTo>
                <a:lnTo>
                  <a:pt x="1041082" y="455587"/>
                </a:lnTo>
                <a:lnTo>
                  <a:pt x="1048880" y="463359"/>
                </a:lnTo>
                <a:lnTo>
                  <a:pt x="1058430" y="463359"/>
                </a:lnTo>
                <a:lnTo>
                  <a:pt x="1067981" y="463359"/>
                </a:lnTo>
                <a:lnTo>
                  <a:pt x="1075753" y="455587"/>
                </a:lnTo>
                <a:lnTo>
                  <a:pt x="1075753" y="436486"/>
                </a:lnTo>
                <a:close/>
              </a:path>
              <a:path w="1096644" h="1096645" extrusionOk="0">
                <a:moveTo>
                  <a:pt x="1075753" y="354825"/>
                </a:moveTo>
                <a:lnTo>
                  <a:pt x="1067981" y="347027"/>
                </a:lnTo>
                <a:lnTo>
                  <a:pt x="1048880" y="347027"/>
                </a:lnTo>
                <a:lnTo>
                  <a:pt x="1041082" y="354825"/>
                </a:lnTo>
                <a:lnTo>
                  <a:pt x="1041082" y="373926"/>
                </a:lnTo>
                <a:lnTo>
                  <a:pt x="1048880" y="381698"/>
                </a:lnTo>
                <a:lnTo>
                  <a:pt x="1058430" y="381698"/>
                </a:lnTo>
                <a:lnTo>
                  <a:pt x="1067981" y="381698"/>
                </a:lnTo>
                <a:lnTo>
                  <a:pt x="1075753" y="373926"/>
                </a:lnTo>
                <a:lnTo>
                  <a:pt x="1075753" y="354825"/>
                </a:lnTo>
                <a:close/>
              </a:path>
              <a:path w="1096644" h="1096645" extrusionOk="0">
                <a:moveTo>
                  <a:pt x="1096175" y="78905"/>
                </a:moveTo>
                <a:lnTo>
                  <a:pt x="1089977" y="48425"/>
                </a:lnTo>
                <a:lnTo>
                  <a:pt x="1081100" y="35725"/>
                </a:lnTo>
                <a:lnTo>
                  <a:pt x="1073111" y="24295"/>
                </a:lnTo>
                <a:lnTo>
                  <a:pt x="1061504" y="16040"/>
                </a:lnTo>
                <a:lnTo>
                  <a:pt x="1061504" y="78905"/>
                </a:lnTo>
                <a:lnTo>
                  <a:pt x="1058100" y="96685"/>
                </a:lnTo>
                <a:lnTo>
                  <a:pt x="1048778" y="110655"/>
                </a:lnTo>
                <a:lnTo>
                  <a:pt x="1034834" y="119545"/>
                </a:lnTo>
                <a:lnTo>
                  <a:pt x="1017587" y="123355"/>
                </a:lnTo>
                <a:lnTo>
                  <a:pt x="1000340" y="119545"/>
                </a:lnTo>
                <a:lnTo>
                  <a:pt x="986409" y="110655"/>
                </a:lnTo>
                <a:lnTo>
                  <a:pt x="977087" y="96685"/>
                </a:lnTo>
                <a:lnTo>
                  <a:pt x="973696" y="78905"/>
                </a:lnTo>
                <a:lnTo>
                  <a:pt x="977087" y="62395"/>
                </a:lnTo>
                <a:lnTo>
                  <a:pt x="986409" y="48425"/>
                </a:lnTo>
                <a:lnTo>
                  <a:pt x="1000340" y="38265"/>
                </a:lnTo>
                <a:lnTo>
                  <a:pt x="1017587" y="35725"/>
                </a:lnTo>
                <a:lnTo>
                  <a:pt x="1034834" y="38265"/>
                </a:lnTo>
                <a:lnTo>
                  <a:pt x="1048778" y="48425"/>
                </a:lnTo>
                <a:lnTo>
                  <a:pt x="1058100" y="62395"/>
                </a:lnTo>
                <a:lnTo>
                  <a:pt x="1061504" y="78905"/>
                </a:lnTo>
                <a:lnTo>
                  <a:pt x="1061504" y="16040"/>
                </a:lnTo>
                <a:lnTo>
                  <a:pt x="1048131" y="6515"/>
                </a:lnTo>
                <a:lnTo>
                  <a:pt x="1017587" y="165"/>
                </a:lnTo>
                <a:lnTo>
                  <a:pt x="992060" y="5245"/>
                </a:lnTo>
                <a:lnTo>
                  <a:pt x="969822" y="16675"/>
                </a:lnTo>
                <a:lnTo>
                  <a:pt x="952538" y="35725"/>
                </a:lnTo>
                <a:lnTo>
                  <a:pt x="941857" y="59855"/>
                </a:lnTo>
                <a:lnTo>
                  <a:pt x="941260" y="62395"/>
                </a:lnTo>
                <a:lnTo>
                  <a:pt x="742670" y="62395"/>
                </a:lnTo>
                <a:lnTo>
                  <a:pt x="734923" y="70015"/>
                </a:lnTo>
                <a:lnTo>
                  <a:pt x="734872" y="175425"/>
                </a:lnTo>
                <a:lnTo>
                  <a:pt x="730262" y="172885"/>
                </a:lnTo>
                <a:lnTo>
                  <a:pt x="699935" y="157645"/>
                </a:lnTo>
                <a:lnTo>
                  <a:pt x="687298" y="151295"/>
                </a:lnTo>
                <a:lnTo>
                  <a:pt x="642188" y="136055"/>
                </a:lnTo>
                <a:lnTo>
                  <a:pt x="595566" y="125895"/>
                </a:lnTo>
                <a:lnTo>
                  <a:pt x="548081" y="123355"/>
                </a:lnTo>
                <a:lnTo>
                  <a:pt x="500583" y="125895"/>
                </a:lnTo>
                <a:lnTo>
                  <a:pt x="453974" y="136055"/>
                </a:lnTo>
                <a:lnTo>
                  <a:pt x="408863" y="151295"/>
                </a:lnTo>
                <a:lnTo>
                  <a:pt x="365912" y="172885"/>
                </a:lnTo>
                <a:lnTo>
                  <a:pt x="361302" y="175425"/>
                </a:lnTo>
                <a:lnTo>
                  <a:pt x="361302" y="96685"/>
                </a:lnTo>
                <a:lnTo>
                  <a:pt x="361238" y="70015"/>
                </a:lnTo>
                <a:lnTo>
                  <a:pt x="353479" y="62395"/>
                </a:lnTo>
                <a:lnTo>
                  <a:pt x="154914" y="62395"/>
                </a:lnTo>
                <a:lnTo>
                  <a:pt x="154317" y="59855"/>
                </a:lnTo>
                <a:lnTo>
                  <a:pt x="143624" y="35725"/>
                </a:lnTo>
                <a:lnTo>
                  <a:pt x="126339" y="16675"/>
                </a:lnTo>
                <a:lnTo>
                  <a:pt x="122478" y="14693"/>
                </a:lnTo>
                <a:lnTo>
                  <a:pt x="122478" y="78905"/>
                </a:lnTo>
                <a:lnTo>
                  <a:pt x="119075" y="96685"/>
                </a:lnTo>
                <a:lnTo>
                  <a:pt x="109753" y="110655"/>
                </a:lnTo>
                <a:lnTo>
                  <a:pt x="95821" y="119545"/>
                </a:lnTo>
                <a:lnTo>
                  <a:pt x="78587" y="123355"/>
                </a:lnTo>
                <a:lnTo>
                  <a:pt x="61341" y="119545"/>
                </a:lnTo>
                <a:lnTo>
                  <a:pt x="47409" y="110655"/>
                </a:lnTo>
                <a:lnTo>
                  <a:pt x="38087" y="96685"/>
                </a:lnTo>
                <a:lnTo>
                  <a:pt x="34696" y="78905"/>
                </a:lnTo>
                <a:lnTo>
                  <a:pt x="38087" y="62395"/>
                </a:lnTo>
                <a:lnTo>
                  <a:pt x="47409" y="48425"/>
                </a:lnTo>
                <a:lnTo>
                  <a:pt x="61341" y="38265"/>
                </a:lnTo>
                <a:lnTo>
                  <a:pt x="78587" y="35725"/>
                </a:lnTo>
                <a:lnTo>
                  <a:pt x="95821" y="38265"/>
                </a:lnTo>
                <a:lnTo>
                  <a:pt x="109753" y="48425"/>
                </a:lnTo>
                <a:lnTo>
                  <a:pt x="119075" y="62395"/>
                </a:lnTo>
                <a:lnTo>
                  <a:pt x="122478" y="78905"/>
                </a:lnTo>
                <a:lnTo>
                  <a:pt x="122478" y="14693"/>
                </a:lnTo>
                <a:lnTo>
                  <a:pt x="104101" y="5245"/>
                </a:lnTo>
                <a:lnTo>
                  <a:pt x="78587" y="165"/>
                </a:lnTo>
                <a:lnTo>
                  <a:pt x="48031" y="6515"/>
                </a:lnTo>
                <a:lnTo>
                  <a:pt x="23037" y="24295"/>
                </a:lnTo>
                <a:lnTo>
                  <a:pt x="6184" y="48425"/>
                </a:lnTo>
                <a:lnTo>
                  <a:pt x="0" y="78905"/>
                </a:lnTo>
                <a:lnTo>
                  <a:pt x="6184" y="109385"/>
                </a:lnTo>
                <a:lnTo>
                  <a:pt x="23037" y="134785"/>
                </a:lnTo>
                <a:lnTo>
                  <a:pt x="48031" y="151295"/>
                </a:lnTo>
                <a:lnTo>
                  <a:pt x="78587" y="157645"/>
                </a:lnTo>
                <a:lnTo>
                  <a:pt x="104101" y="153835"/>
                </a:lnTo>
                <a:lnTo>
                  <a:pt x="126339" y="141135"/>
                </a:lnTo>
                <a:lnTo>
                  <a:pt x="142468" y="123355"/>
                </a:lnTo>
                <a:lnTo>
                  <a:pt x="143624" y="122085"/>
                </a:lnTo>
                <a:lnTo>
                  <a:pt x="154317" y="99225"/>
                </a:lnTo>
                <a:lnTo>
                  <a:pt x="154914" y="96685"/>
                </a:lnTo>
                <a:lnTo>
                  <a:pt x="326605" y="96685"/>
                </a:lnTo>
                <a:lnTo>
                  <a:pt x="325437" y="199555"/>
                </a:lnTo>
                <a:lnTo>
                  <a:pt x="289217" y="231305"/>
                </a:lnTo>
                <a:lnTo>
                  <a:pt x="257949" y="266865"/>
                </a:lnTo>
                <a:lnTo>
                  <a:pt x="231838" y="306235"/>
                </a:lnTo>
                <a:lnTo>
                  <a:pt x="211124" y="348145"/>
                </a:lnTo>
                <a:lnTo>
                  <a:pt x="196037" y="392595"/>
                </a:lnTo>
                <a:lnTo>
                  <a:pt x="186829" y="439585"/>
                </a:lnTo>
                <a:lnTo>
                  <a:pt x="183705" y="487845"/>
                </a:lnTo>
                <a:lnTo>
                  <a:pt x="184289" y="506895"/>
                </a:lnTo>
                <a:lnTo>
                  <a:pt x="186055" y="527215"/>
                </a:lnTo>
                <a:lnTo>
                  <a:pt x="189001" y="547535"/>
                </a:lnTo>
                <a:lnTo>
                  <a:pt x="193103" y="569125"/>
                </a:lnTo>
                <a:lnTo>
                  <a:pt x="193954" y="571665"/>
                </a:lnTo>
                <a:lnTo>
                  <a:pt x="76898" y="571665"/>
                </a:lnTo>
                <a:lnTo>
                  <a:pt x="67983" y="572935"/>
                </a:lnTo>
                <a:lnTo>
                  <a:pt x="61302" y="580555"/>
                </a:lnTo>
                <a:lnTo>
                  <a:pt x="61302" y="819315"/>
                </a:lnTo>
                <a:lnTo>
                  <a:pt x="59004" y="820585"/>
                </a:lnTo>
                <a:lnTo>
                  <a:pt x="35128" y="830745"/>
                </a:lnTo>
                <a:lnTo>
                  <a:pt x="16471" y="848525"/>
                </a:lnTo>
                <a:lnTo>
                  <a:pt x="4330" y="870115"/>
                </a:lnTo>
                <a:lnTo>
                  <a:pt x="0" y="895515"/>
                </a:lnTo>
                <a:lnTo>
                  <a:pt x="6184" y="925995"/>
                </a:lnTo>
                <a:lnTo>
                  <a:pt x="23037" y="951395"/>
                </a:lnTo>
                <a:lnTo>
                  <a:pt x="48031" y="967905"/>
                </a:lnTo>
                <a:lnTo>
                  <a:pt x="78587" y="974255"/>
                </a:lnTo>
                <a:lnTo>
                  <a:pt x="109131" y="967905"/>
                </a:lnTo>
                <a:lnTo>
                  <a:pt x="134124" y="951395"/>
                </a:lnTo>
                <a:lnTo>
                  <a:pt x="141706" y="939965"/>
                </a:lnTo>
                <a:lnTo>
                  <a:pt x="150977" y="925995"/>
                </a:lnTo>
                <a:lnTo>
                  <a:pt x="157175" y="895515"/>
                </a:lnTo>
                <a:lnTo>
                  <a:pt x="152844" y="870115"/>
                </a:lnTo>
                <a:lnTo>
                  <a:pt x="142849" y="852335"/>
                </a:lnTo>
                <a:lnTo>
                  <a:pt x="140716" y="848525"/>
                </a:lnTo>
                <a:lnTo>
                  <a:pt x="122478" y="831126"/>
                </a:lnTo>
                <a:lnTo>
                  <a:pt x="122478" y="895515"/>
                </a:lnTo>
                <a:lnTo>
                  <a:pt x="119075" y="913295"/>
                </a:lnTo>
                <a:lnTo>
                  <a:pt x="109753" y="927265"/>
                </a:lnTo>
                <a:lnTo>
                  <a:pt x="95821" y="936155"/>
                </a:lnTo>
                <a:lnTo>
                  <a:pt x="78587" y="939965"/>
                </a:lnTo>
                <a:lnTo>
                  <a:pt x="61341" y="936155"/>
                </a:lnTo>
                <a:lnTo>
                  <a:pt x="47409" y="927265"/>
                </a:lnTo>
                <a:lnTo>
                  <a:pt x="38087" y="913295"/>
                </a:lnTo>
                <a:lnTo>
                  <a:pt x="34696" y="895515"/>
                </a:lnTo>
                <a:lnTo>
                  <a:pt x="38087" y="879005"/>
                </a:lnTo>
                <a:lnTo>
                  <a:pt x="47409" y="865035"/>
                </a:lnTo>
                <a:lnTo>
                  <a:pt x="61341" y="854875"/>
                </a:lnTo>
                <a:lnTo>
                  <a:pt x="78587" y="852335"/>
                </a:lnTo>
                <a:lnTo>
                  <a:pt x="95821" y="854875"/>
                </a:lnTo>
                <a:lnTo>
                  <a:pt x="109753" y="865035"/>
                </a:lnTo>
                <a:lnTo>
                  <a:pt x="119075" y="879005"/>
                </a:lnTo>
                <a:lnTo>
                  <a:pt x="122478" y="895515"/>
                </a:lnTo>
                <a:lnTo>
                  <a:pt x="122478" y="831126"/>
                </a:lnTo>
                <a:lnTo>
                  <a:pt x="122085" y="830745"/>
                </a:lnTo>
                <a:lnTo>
                  <a:pt x="98259" y="820585"/>
                </a:lnTo>
                <a:lnTo>
                  <a:pt x="95973" y="819315"/>
                </a:lnTo>
                <a:lnTo>
                  <a:pt x="95973" y="607225"/>
                </a:lnTo>
                <a:lnTo>
                  <a:pt x="204228" y="607225"/>
                </a:lnTo>
                <a:lnTo>
                  <a:pt x="204978" y="608495"/>
                </a:lnTo>
                <a:lnTo>
                  <a:pt x="224180" y="652945"/>
                </a:lnTo>
                <a:lnTo>
                  <a:pt x="248653" y="694855"/>
                </a:lnTo>
                <a:lnTo>
                  <a:pt x="277926" y="731685"/>
                </a:lnTo>
                <a:lnTo>
                  <a:pt x="311531" y="764705"/>
                </a:lnTo>
                <a:lnTo>
                  <a:pt x="348996" y="792645"/>
                </a:lnTo>
                <a:lnTo>
                  <a:pt x="389826" y="815505"/>
                </a:lnTo>
                <a:lnTo>
                  <a:pt x="433578" y="833285"/>
                </a:lnTo>
                <a:lnTo>
                  <a:pt x="479767" y="844715"/>
                </a:lnTo>
                <a:lnTo>
                  <a:pt x="527939" y="851065"/>
                </a:lnTo>
                <a:lnTo>
                  <a:pt x="530821" y="851065"/>
                </a:lnTo>
                <a:lnTo>
                  <a:pt x="530821" y="941235"/>
                </a:lnTo>
                <a:lnTo>
                  <a:pt x="528535" y="942505"/>
                </a:lnTo>
                <a:lnTo>
                  <a:pt x="504647" y="952665"/>
                </a:lnTo>
                <a:lnTo>
                  <a:pt x="485978" y="970445"/>
                </a:lnTo>
                <a:lnTo>
                  <a:pt x="473837" y="993305"/>
                </a:lnTo>
                <a:lnTo>
                  <a:pt x="469506" y="1018705"/>
                </a:lnTo>
                <a:lnTo>
                  <a:pt x="475691" y="1049185"/>
                </a:lnTo>
                <a:lnTo>
                  <a:pt x="492544" y="1073315"/>
                </a:lnTo>
                <a:lnTo>
                  <a:pt x="517525" y="1091095"/>
                </a:lnTo>
                <a:lnTo>
                  <a:pt x="548081" y="1096175"/>
                </a:lnTo>
                <a:lnTo>
                  <a:pt x="578624" y="1091095"/>
                </a:lnTo>
                <a:lnTo>
                  <a:pt x="603618" y="1073315"/>
                </a:lnTo>
                <a:lnTo>
                  <a:pt x="611606" y="1061885"/>
                </a:lnTo>
                <a:lnTo>
                  <a:pt x="620471" y="1049185"/>
                </a:lnTo>
                <a:lnTo>
                  <a:pt x="626668" y="1018705"/>
                </a:lnTo>
                <a:lnTo>
                  <a:pt x="622325" y="993305"/>
                </a:lnTo>
                <a:lnTo>
                  <a:pt x="612203" y="974255"/>
                </a:lnTo>
                <a:lnTo>
                  <a:pt x="610184" y="970445"/>
                </a:lnTo>
                <a:lnTo>
                  <a:pt x="591972" y="953109"/>
                </a:lnTo>
                <a:lnTo>
                  <a:pt x="591972" y="1018705"/>
                </a:lnTo>
                <a:lnTo>
                  <a:pt x="588568" y="1035215"/>
                </a:lnTo>
                <a:lnTo>
                  <a:pt x="579247" y="1049185"/>
                </a:lnTo>
                <a:lnTo>
                  <a:pt x="565315" y="1059345"/>
                </a:lnTo>
                <a:lnTo>
                  <a:pt x="548081" y="1061885"/>
                </a:lnTo>
                <a:lnTo>
                  <a:pt x="530834" y="1059345"/>
                </a:lnTo>
                <a:lnTo>
                  <a:pt x="516915" y="1049185"/>
                </a:lnTo>
                <a:lnTo>
                  <a:pt x="507593" y="1035215"/>
                </a:lnTo>
                <a:lnTo>
                  <a:pt x="504202" y="1018705"/>
                </a:lnTo>
                <a:lnTo>
                  <a:pt x="507593" y="1000925"/>
                </a:lnTo>
                <a:lnTo>
                  <a:pt x="516915" y="986955"/>
                </a:lnTo>
                <a:lnTo>
                  <a:pt x="530834" y="978065"/>
                </a:lnTo>
                <a:lnTo>
                  <a:pt x="548081" y="974255"/>
                </a:lnTo>
                <a:lnTo>
                  <a:pt x="565315" y="978065"/>
                </a:lnTo>
                <a:lnTo>
                  <a:pt x="579247" y="986955"/>
                </a:lnTo>
                <a:lnTo>
                  <a:pt x="588568" y="1000925"/>
                </a:lnTo>
                <a:lnTo>
                  <a:pt x="591972" y="1018705"/>
                </a:lnTo>
                <a:lnTo>
                  <a:pt x="591972" y="953109"/>
                </a:lnTo>
                <a:lnTo>
                  <a:pt x="591515" y="952665"/>
                </a:lnTo>
                <a:lnTo>
                  <a:pt x="567639" y="942505"/>
                </a:lnTo>
                <a:lnTo>
                  <a:pt x="565340" y="941235"/>
                </a:lnTo>
                <a:lnTo>
                  <a:pt x="565340" y="851065"/>
                </a:lnTo>
                <a:lnTo>
                  <a:pt x="568236" y="851065"/>
                </a:lnTo>
                <a:lnTo>
                  <a:pt x="616381" y="844715"/>
                </a:lnTo>
                <a:lnTo>
                  <a:pt x="662571" y="833285"/>
                </a:lnTo>
                <a:lnTo>
                  <a:pt x="703199" y="816775"/>
                </a:lnTo>
                <a:lnTo>
                  <a:pt x="747166" y="792645"/>
                </a:lnTo>
                <a:lnTo>
                  <a:pt x="784618" y="764705"/>
                </a:lnTo>
                <a:lnTo>
                  <a:pt x="818222" y="731685"/>
                </a:lnTo>
                <a:lnTo>
                  <a:pt x="847496" y="694855"/>
                </a:lnTo>
                <a:lnTo>
                  <a:pt x="871982" y="652945"/>
                </a:lnTo>
                <a:lnTo>
                  <a:pt x="891197" y="608495"/>
                </a:lnTo>
                <a:lnTo>
                  <a:pt x="891946" y="607225"/>
                </a:lnTo>
                <a:lnTo>
                  <a:pt x="1000239" y="607225"/>
                </a:lnTo>
                <a:lnTo>
                  <a:pt x="1000239" y="819315"/>
                </a:lnTo>
                <a:lnTo>
                  <a:pt x="997953" y="820585"/>
                </a:lnTo>
                <a:lnTo>
                  <a:pt x="974090" y="830745"/>
                </a:lnTo>
                <a:lnTo>
                  <a:pt x="955459" y="848525"/>
                </a:lnTo>
                <a:lnTo>
                  <a:pt x="943317" y="870115"/>
                </a:lnTo>
                <a:lnTo>
                  <a:pt x="938999" y="895515"/>
                </a:lnTo>
                <a:lnTo>
                  <a:pt x="945184" y="925995"/>
                </a:lnTo>
                <a:lnTo>
                  <a:pt x="962037" y="951395"/>
                </a:lnTo>
                <a:lnTo>
                  <a:pt x="987031" y="967905"/>
                </a:lnTo>
                <a:lnTo>
                  <a:pt x="1017587" y="974255"/>
                </a:lnTo>
                <a:lnTo>
                  <a:pt x="1048131" y="967905"/>
                </a:lnTo>
                <a:lnTo>
                  <a:pt x="1073111" y="951395"/>
                </a:lnTo>
                <a:lnTo>
                  <a:pt x="1080706" y="939965"/>
                </a:lnTo>
                <a:lnTo>
                  <a:pt x="1089977" y="925995"/>
                </a:lnTo>
                <a:lnTo>
                  <a:pt x="1096175" y="895515"/>
                </a:lnTo>
                <a:lnTo>
                  <a:pt x="1091831" y="870115"/>
                </a:lnTo>
                <a:lnTo>
                  <a:pt x="1081849" y="852335"/>
                </a:lnTo>
                <a:lnTo>
                  <a:pt x="1079703" y="848525"/>
                </a:lnTo>
                <a:lnTo>
                  <a:pt x="1061504" y="831176"/>
                </a:lnTo>
                <a:lnTo>
                  <a:pt x="1061504" y="895515"/>
                </a:lnTo>
                <a:lnTo>
                  <a:pt x="1058100" y="913295"/>
                </a:lnTo>
                <a:lnTo>
                  <a:pt x="1048778" y="927265"/>
                </a:lnTo>
                <a:lnTo>
                  <a:pt x="1034834" y="936155"/>
                </a:lnTo>
                <a:lnTo>
                  <a:pt x="1017587" y="939965"/>
                </a:lnTo>
                <a:lnTo>
                  <a:pt x="1000340" y="936155"/>
                </a:lnTo>
                <a:lnTo>
                  <a:pt x="986409" y="927265"/>
                </a:lnTo>
                <a:lnTo>
                  <a:pt x="977087" y="913295"/>
                </a:lnTo>
                <a:lnTo>
                  <a:pt x="973696" y="895515"/>
                </a:lnTo>
                <a:lnTo>
                  <a:pt x="977087" y="879005"/>
                </a:lnTo>
                <a:lnTo>
                  <a:pt x="986409" y="865035"/>
                </a:lnTo>
                <a:lnTo>
                  <a:pt x="1000340" y="854875"/>
                </a:lnTo>
                <a:lnTo>
                  <a:pt x="1017587" y="852335"/>
                </a:lnTo>
                <a:lnTo>
                  <a:pt x="1034834" y="854875"/>
                </a:lnTo>
                <a:lnTo>
                  <a:pt x="1048778" y="865035"/>
                </a:lnTo>
                <a:lnTo>
                  <a:pt x="1058100" y="879005"/>
                </a:lnTo>
                <a:lnTo>
                  <a:pt x="1061504" y="895515"/>
                </a:lnTo>
                <a:lnTo>
                  <a:pt x="1061504" y="831176"/>
                </a:lnTo>
                <a:lnTo>
                  <a:pt x="1061059" y="830745"/>
                </a:lnTo>
                <a:lnTo>
                  <a:pt x="1037221" y="820585"/>
                </a:lnTo>
                <a:lnTo>
                  <a:pt x="1034935" y="819315"/>
                </a:lnTo>
                <a:lnTo>
                  <a:pt x="1034935" y="607225"/>
                </a:lnTo>
                <a:lnTo>
                  <a:pt x="1034910" y="580555"/>
                </a:lnTo>
                <a:lnTo>
                  <a:pt x="1027163" y="571665"/>
                </a:lnTo>
                <a:lnTo>
                  <a:pt x="902220" y="571665"/>
                </a:lnTo>
                <a:lnTo>
                  <a:pt x="903058" y="567855"/>
                </a:lnTo>
                <a:lnTo>
                  <a:pt x="907148" y="547535"/>
                </a:lnTo>
                <a:lnTo>
                  <a:pt x="910094" y="527215"/>
                </a:lnTo>
                <a:lnTo>
                  <a:pt x="911860" y="506895"/>
                </a:lnTo>
                <a:lnTo>
                  <a:pt x="912456" y="487845"/>
                </a:lnTo>
                <a:lnTo>
                  <a:pt x="909320" y="439585"/>
                </a:lnTo>
                <a:lnTo>
                  <a:pt x="900087" y="392595"/>
                </a:lnTo>
                <a:lnTo>
                  <a:pt x="884936" y="348145"/>
                </a:lnTo>
                <a:lnTo>
                  <a:pt x="877760" y="333717"/>
                </a:lnTo>
                <a:lnTo>
                  <a:pt x="877760" y="487845"/>
                </a:lnTo>
                <a:lnTo>
                  <a:pt x="874179" y="536105"/>
                </a:lnTo>
                <a:lnTo>
                  <a:pt x="863777" y="583095"/>
                </a:lnTo>
                <a:lnTo>
                  <a:pt x="847064" y="626275"/>
                </a:lnTo>
                <a:lnTo>
                  <a:pt x="824572" y="666915"/>
                </a:lnTo>
                <a:lnTo>
                  <a:pt x="796798" y="703745"/>
                </a:lnTo>
                <a:lnTo>
                  <a:pt x="764247" y="736765"/>
                </a:lnTo>
                <a:lnTo>
                  <a:pt x="727456" y="763435"/>
                </a:lnTo>
                <a:lnTo>
                  <a:pt x="686930" y="786295"/>
                </a:lnTo>
                <a:lnTo>
                  <a:pt x="643178" y="802805"/>
                </a:lnTo>
                <a:lnTo>
                  <a:pt x="596722" y="812965"/>
                </a:lnTo>
                <a:lnTo>
                  <a:pt x="548081" y="816775"/>
                </a:lnTo>
                <a:lnTo>
                  <a:pt x="499427" y="812965"/>
                </a:lnTo>
                <a:lnTo>
                  <a:pt x="452970" y="802805"/>
                </a:lnTo>
                <a:lnTo>
                  <a:pt x="409219" y="786295"/>
                </a:lnTo>
                <a:lnTo>
                  <a:pt x="368693" y="763435"/>
                </a:lnTo>
                <a:lnTo>
                  <a:pt x="331914" y="736765"/>
                </a:lnTo>
                <a:lnTo>
                  <a:pt x="299364" y="703745"/>
                </a:lnTo>
                <a:lnTo>
                  <a:pt x="271589" y="666915"/>
                </a:lnTo>
                <a:lnTo>
                  <a:pt x="249097" y="626275"/>
                </a:lnTo>
                <a:lnTo>
                  <a:pt x="241731" y="607225"/>
                </a:lnTo>
                <a:lnTo>
                  <a:pt x="232384" y="583095"/>
                </a:lnTo>
                <a:lnTo>
                  <a:pt x="221983" y="536105"/>
                </a:lnTo>
                <a:lnTo>
                  <a:pt x="218414" y="487845"/>
                </a:lnTo>
                <a:lnTo>
                  <a:pt x="221983" y="438315"/>
                </a:lnTo>
                <a:lnTo>
                  <a:pt x="232384" y="392595"/>
                </a:lnTo>
                <a:lnTo>
                  <a:pt x="249097" y="348145"/>
                </a:lnTo>
                <a:lnTo>
                  <a:pt x="271589" y="307505"/>
                </a:lnTo>
                <a:lnTo>
                  <a:pt x="299364" y="271945"/>
                </a:lnTo>
                <a:lnTo>
                  <a:pt x="331914" y="238925"/>
                </a:lnTo>
                <a:lnTo>
                  <a:pt x="368693" y="210985"/>
                </a:lnTo>
                <a:lnTo>
                  <a:pt x="409219" y="188125"/>
                </a:lnTo>
                <a:lnTo>
                  <a:pt x="442874" y="175425"/>
                </a:lnTo>
                <a:lnTo>
                  <a:pt x="452970" y="171615"/>
                </a:lnTo>
                <a:lnTo>
                  <a:pt x="499427" y="161455"/>
                </a:lnTo>
                <a:lnTo>
                  <a:pt x="548081" y="157645"/>
                </a:lnTo>
                <a:lnTo>
                  <a:pt x="596722" y="161455"/>
                </a:lnTo>
                <a:lnTo>
                  <a:pt x="643178" y="171615"/>
                </a:lnTo>
                <a:lnTo>
                  <a:pt x="686930" y="188125"/>
                </a:lnTo>
                <a:lnTo>
                  <a:pt x="727456" y="210985"/>
                </a:lnTo>
                <a:lnTo>
                  <a:pt x="764247" y="238925"/>
                </a:lnTo>
                <a:lnTo>
                  <a:pt x="796798" y="271945"/>
                </a:lnTo>
                <a:lnTo>
                  <a:pt x="824572" y="307505"/>
                </a:lnTo>
                <a:lnTo>
                  <a:pt x="847064" y="348145"/>
                </a:lnTo>
                <a:lnTo>
                  <a:pt x="863777" y="392595"/>
                </a:lnTo>
                <a:lnTo>
                  <a:pt x="874179" y="438315"/>
                </a:lnTo>
                <a:lnTo>
                  <a:pt x="877760" y="487845"/>
                </a:lnTo>
                <a:lnTo>
                  <a:pt x="877760" y="333717"/>
                </a:lnTo>
                <a:lnTo>
                  <a:pt x="864108" y="306235"/>
                </a:lnTo>
                <a:lnTo>
                  <a:pt x="837793" y="266865"/>
                </a:lnTo>
                <a:lnTo>
                  <a:pt x="806208" y="230035"/>
                </a:lnTo>
                <a:lnTo>
                  <a:pt x="769569" y="197015"/>
                </a:lnTo>
                <a:lnTo>
                  <a:pt x="769569" y="175425"/>
                </a:lnTo>
                <a:lnTo>
                  <a:pt x="769569" y="96685"/>
                </a:lnTo>
                <a:lnTo>
                  <a:pt x="941260" y="96685"/>
                </a:lnTo>
                <a:lnTo>
                  <a:pt x="941857" y="99225"/>
                </a:lnTo>
                <a:lnTo>
                  <a:pt x="952538" y="122085"/>
                </a:lnTo>
                <a:lnTo>
                  <a:pt x="969822" y="141135"/>
                </a:lnTo>
                <a:lnTo>
                  <a:pt x="992060" y="153835"/>
                </a:lnTo>
                <a:lnTo>
                  <a:pt x="1017587" y="157645"/>
                </a:lnTo>
                <a:lnTo>
                  <a:pt x="1048131" y="151295"/>
                </a:lnTo>
                <a:lnTo>
                  <a:pt x="1073111" y="134785"/>
                </a:lnTo>
                <a:lnTo>
                  <a:pt x="1080706" y="123355"/>
                </a:lnTo>
                <a:lnTo>
                  <a:pt x="1089977" y="109385"/>
                </a:lnTo>
                <a:lnTo>
                  <a:pt x="1096175" y="78905"/>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2" name="Google Shape;2622;p39"/>
          <p:cNvSpPr/>
          <p:nvPr/>
        </p:nvSpPr>
        <p:spPr>
          <a:xfrm>
            <a:off x="5229245" y="1683717"/>
            <a:ext cx="328295" cy="184150"/>
          </a:xfrm>
          <a:custGeom>
            <a:avLst/>
            <a:gdLst/>
            <a:ahLst/>
            <a:cxnLst/>
            <a:rect l="l" t="t" r="r" b="b"/>
            <a:pathLst>
              <a:path w="328295" h="184150" extrusionOk="0">
                <a:moveTo>
                  <a:pt x="19341" y="72888"/>
                </a:moveTo>
                <a:lnTo>
                  <a:pt x="12421" y="73790"/>
                </a:lnTo>
                <a:lnTo>
                  <a:pt x="6344" y="77220"/>
                </a:lnTo>
                <a:lnTo>
                  <a:pt x="1896" y="82918"/>
                </a:lnTo>
                <a:lnTo>
                  <a:pt x="0" y="89902"/>
                </a:lnTo>
                <a:lnTo>
                  <a:pt x="899" y="96827"/>
                </a:lnTo>
                <a:lnTo>
                  <a:pt x="4332" y="102910"/>
                </a:lnTo>
                <a:lnTo>
                  <a:pt x="10036" y="107365"/>
                </a:lnTo>
                <a:lnTo>
                  <a:pt x="162779" y="183730"/>
                </a:lnTo>
                <a:lnTo>
                  <a:pt x="171238" y="182359"/>
                </a:lnTo>
                <a:lnTo>
                  <a:pt x="211831" y="141770"/>
                </a:lnTo>
                <a:lnTo>
                  <a:pt x="160265" y="141770"/>
                </a:lnTo>
                <a:lnTo>
                  <a:pt x="26318" y="74777"/>
                </a:lnTo>
                <a:lnTo>
                  <a:pt x="19341" y="72888"/>
                </a:lnTo>
                <a:close/>
              </a:path>
              <a:path w="328295" h="184150" extrusionOk="0">
                <a:moveTo>
                  <a:pt x="309642" y="0"/>
                </a:moveTo>
                <a:lnTo>
                  <a:pt x="236770" y="0"/>
                </a:lnTo>
                <a:lnTo>
                  <a:pt x="229681" y="1431"/>
                </a:lnTo>
                <a:lnTo>
                  <a:pt x="223892" y="5333"/>
                </a:lnTo>
                <a:lnTo>
                  <a:pt x="219989" y="11122"/>
                </a:lnTo>
                <a:lnTo>
                  <a:pt x="218558" y="18211"/>
                </a:lnTo>
                <a:lnTo>
                  <a:pt x="219989" y="25308"/>
                </a:lnTo>
                <a:lnTo>
                  <a:pt x="223892" y="31100"/>
                </a:lnTo>
                <a:lnTo>
                  <a:pt x="229681" y="35004"/>
                </a:lnTo>
                <a:lnTo>
                  <a:pt x="236770" y="36436"/>
                </a:lnTo>
                <a:lnTo>
                  <a:pt x="265662" y="36436"/>
                </a:lnTo>
                <a:lnTo>
                  <a:pt x="160265" y="141770"/>
                </a:lnTo>
                <a:lnTo>
                  <a:pt x="211831" y="141770"/>
                </a:lnTo>
                <a:lnTo>
                  <a:pt x="291418" y="62191"/>
                </a:lnTo>
                <a:lnTo>
                  <a:pt x="327854" y="62191"/>
                </a:lnTo>
                <a:lnTo>
                  <a:pt x="327854" y="18211"/>
                </a:lnTo>
                <a:lnTo>
                  <a:pt x="326423" y="11122"/>
                </a:lnTo>
                <a:lnTo>
                  <a:pt x="322520" y="5333"/>
                </a:lnTo>
                <a:lnTo>
                  <a:pt x="316731" y="1431"/>
                </a:lnTo>
                <a:lnTo>
                  <a:pt x="309642" y="0"/>
                </a:lnTo>
                <a:close/>
              </a:path>
              <a:path w="328295" h="184150" extrusionOk="0">
                <a:moveTo>
                  <a:pt x="327854" y="62191"/>
                </a:moveTo>
                <a:lnTo>
                  <a:pt x="291418" y="62191"/>
                </a:lnTo>
                <a:lnTo>
                  <a:pt x="291418" y="91084"/>
                </a:lnTo>
                <a:lnTo>
                  <a:pt x="292849" y="98173"/>
                </a:lnTo>
                <a:lnTo>
                  <a:pt x="296753" y="103962"/>
                </a:lnTo>
                <a:lnTo>
                  <a:pt x="302546" y="107865"/>
                </a:lnTo>
                <a:lnTo>
                  <a:pt x="309642" y="109296"/>
                </a:lnTo>
                <a:lnTo>
                  <a:pt x="316731" y="107865"/>
                </a:lnTo>
                <a:lnTo>
                  <a:pt x="322520" y="103962"/>
                </a:lnTo>
                <a:lnTo>
                  <a:pt x="326423" y="98173"/>
                </a:lnTo>
                <a:lnTo>
                  <a:pt x="327854" y="91084"/>
                </a:lnTo>
                <a:lnTo>
                  <a:pt x="327854" y="62191"/>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3" name="Google Shape;2623;p39"/>
          <p:cNvSpPr/>
          <p:nvPr/>
        </p:nvSpPr>
        <p:spPr>
          <a:xfrm>
            <a:off x="4828673" y="2087814"/>
            <a:ext cx="109220" cy="51435"/>
          </a:xfrm>
          <a:custGeom>
            <a:avLst/>
            <a:gdLst/>
            <a:ahLst/>
            <a:cxnLst/>
            <a:rect l="l" t="t" r="r" b="b"/>
            <a:pathLst>
              <a:path w="109220" h="51435" extrusionOk="0">
                <a:moveTo>
                  <a:pt x="90636" y="1"/>
                </a:moveTo>
                <a:lnTo>
                  <a:pt x="83922" y="1280"/>
                </a:lnTo>
                <a:lnTo>
                  <a:pt x="66917" y="12203"/>
                </a:lnTo>
                <a:lnTo>
                  <a:pt x="54429" y="14565"/>
                </a:lnTo>
                <a:lnTo>
                  <a:pt x="41940" y="12203"/>
                </a:lnTo>
                <a:lnTo>
                  <a:pt x="24781" y="1215"/>
                </a:lnTo>
                <a:lnTo>
                  <a:pt x="17907" y="0"/>
                </a:lnTo>
                <a:lnTo>
                  <a:pt x="11075" y="1453"/>
                </a:lnTo>
                <a:lnTo>
                  <a:pt x="5114" y="5561"/>
                </a:lnTo>
                <a:lnTo>
                  <a:pt x="1278" y="11501"/>
                </a:lnTo>
                <a:lnTo>
                  <a:pt x="0" y="18216"/>
                </a:lnTo>
                <a:lnTo>
                  <a:pt x="1278" y="24931"/>
                </a:lnTo>
                <a:lnTo>
                  <a:pt x="40751" y="49981"/>
                </a:lnTo>
                <a:lnTo>
                  <a:pt x="54429" y="51306"/>
                </a:lnTo>
                <a:lnTo>
                  <a:pt x="68106" y="49981"/>
                </a:lnTo>
                <a:lnTo>
                  <a:pt x="103743" y="30872"/>
                </a:lnTo>
                <a:lnTo>
                  <a:pt x="108848" y="17899"/>
                </a:lnTo>
                <a:lnTo>
                  <a:pt x="107393" y="11069"/>
                </a:lnTo>
                <a:lnTo>
                  <a:pt x="103285" y="5116"/>
                </a:lnTo>
                <a:lnTo>
                  <a:pt x="97350" y="1280"/>
                </a:lnTo>
                <a:lnTo>
                  <a:pt x="90636" y="1"/>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4" name="Google Shape;2624;p39"/>
          <p:cNvSpPr/>
          <p:nvPr/>
        </p:nvSpPr>
        <p:spPr>
          <a:xfrm>
            <a:off x="4764698" y="1956963"/>
            <a:ext cx="55245" cy="36830"/>
          </a:xfrm>
          <a:custGeom>
            <a:avLst/>
            <a:gdLst/>
            <a:ahLst/>
            <a:cxnLst/>
            <a:rect l="l" t="t" r="r" b="b"/>
            <a:pathLst>
              <a:path w="55245" h="36830" extrusionOk="0">
                <a:moveTo>
                  <a:pt x="36436" y="0"/>
                </a:moveTo>
                <a:lnTo>
                  <a:pt x="18211" y="0"/>
                </a:lnTo>
                <a:lnTo>
                  <a:pt x="11122" y="1431"/>
                </a:lnTo>
                <a:lnTo>
                  <a:pt x="5333" y="5333"/>
                </a:lnTo>
                <a:lnTo>
                  <a:pt x="1431" y="11122"/>
                </a:lnTo>
                <a:lnTo>
                  <a:pt x="0" y="18211"/>
                </a:lnTo>
                <a:lnTo>
                  <a:pt x="1431" y="25300"/>
                </a:lnTo>
                <a:lnTo>
                  <a:pt x="5333" y="31089"/>
                </a:lnTo>
                <a:lnTo>
                  <a:pt x="11122" y="34992"/>
                </a:lnTo>
                <a:lnTo>
                  <a:pt x="18211" y="36423"/>
                </a:lnTo>
                <a:lnTo>
                  <a:pt x="36436" y="36423"/>
                </a:lnTo>
                <a:lnTo>
                  <a:pt x="43525" y="34992"/>
                </a:lnTo>
                <a:lnTo>
                  <a:pt x="49314" y="31089"/>
                </a:lnTo>
                <a:lnTo>
                  <a:pt x="53216" y="25300"/>
                </a:lnTo>
                <a:lnTo>
                  <a:pt x="54648" y="18211"/>
                </a:lnTo>
                <a:lnTo>
                  <a:pt x="53216" y="11122"/>
                </a:lnTo>
                <a:lnTo>
                  <a:pt x="49314" y="5333"/>
                </a:lnTo>
                <a:lnTo>
                  <a:pt x="43525" y="1431"/>
                </a:lnTo>
                <a:lnTo>
                  <a:pt x="36436" y="0"/>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5" name="Google Shape;2625;p39"/>
          <p:cNvSpPr/>
          <p:nvPr/>
        </p:nvSpPr>
        <p:spPr>
          <a:xfrm>
            <a:off x="4500550" y="1593887"/>
            <a:ext cx="1129664" cy="1164589"/>
          </a:xfrm>
          <a:custGeom>
            <a:avLst/>
            <a:gdLst/>
            <a:ahLst/>
            <a:cxnLst/>
            <a:rect l="l" t="t" r="r" b="b"/>
            <a:pathLst>
              <a:path w="1129664" h="1164589" extrusionOk="0">
                <a:moveTo>
                  <a:pt x="500951" y="381292"/>
                </a:moveTo>
                <a:lnTo>
                  <a:pt x="499529" y="374205"/>
                </a:lnTo>
                <a:lnTo>
                  <a:pt x="495617" y="368414"/>
                </a:lnTo>
                <a:lnTo>
                  <a:pt x="489826" y="364502"/>
                </a:lnTo>
                <a:lnTo>
                  <a:pt x="482727" y="363067"/>
                </a:lnTo>
                <a:lnTo>
                  <a:pt x="464515" y="363067"/>
                </a:lnTo>
                <a:lnTo>
                  <a:pt x="457428" y="364502"/>
                </a:lnTo>
                <a:lnTo>
                  <a:pt x="451637" y="368414"/>
                </a:lnTo>
                <a:lnTo>
                  <a:pt x="447738" y="374205"/>
                </a:lnTo>
                <a:lnTo>
                  <a:pt x="446303" y="381292"/>
                </a:lnTo>
                <a:lnTo>
                  <a:pt x="447738" y="388391"/>
                </a:lnTo>
                <a:lnTo>
                  <a:pt x="451637" y="394169"/>
                </a:lnTo>
                <a:lnTo>
                  <a:pt x="457428" y="398081"/>
                </a:lnTo>
                <a:lnTo>
                  <a:pt x="464515" y="399503"/>
                </a:lnTo>
                <a:lnTo>
                  <a:pt x="482727" y="399503"/>
                </a:lnTo>
                <a:lnTo>
                  <a:pt x="489826" y="398081"/>
                </a:lnTo>
                <a:lnTo>
                  <a:pt x="495617" y="394169"/>
                </a:lnTo>
                <a:lnTo>
                  <a:pt x="499529" y="388391"/>
                </a:lnTo>
                <a:lnTo>
                  <a:pt x="500951" y="381292"/>
                </a:lnTo>
                <a:close/>
              </a:path>
              <a:path w="1129664" h="1164589" extrusionOk="0">
                <a:moveTo>
                  <a:pt x="765086" y="861060"/>
                </a:moveTo>
                <a:lnTo>
                  <a:pt x="759561" y="814070"/>
                </a:lnTo>
                <a:lnTo>
                  <a:pt x="743775" y="770890"/>
                </a:lnTo>
                <a:lnTo>
                  <a:pt x="728649" y="747737"/>
                </a:lnTo>
                <a:lnTo>
                  <a:pt x="728649" y="861060"/>
                </a:lnTo>
                <a:lnTo>
                  <a:pt x="728649" y="1129030"/>
                </a:lnTo>
                <a:lnTo>
                  <a:pt x="655789" y="1129030"/>
                </a:lnTo>
                <a:lnTo>
                  <a:pt x="655789" y="965200"/>
                </a:lnTo>
                <a:lnTo>
                  <a:pt x="654354" y="957580"/>
                </a:lnTo>
                <a:lnTo>
                  <a:pt x="650455" y="952500"/>
                </a:lnTo>
                <a:lnTo>
                  <a:pt x="644664" y="948690"/>
                </a:lnTo>
                <a:lnTo>
                  <a:pt x="637565" y="946150"/>
                </a:lnTo>
                <a:lnTo>
                  <a:pt x="630478" y="948690"/>
                </a:lnTo>
                <a:lnTo>
                  <a:pt x="624687" y="952500"/>
                </a:lnTo>
                <a:lnTo>
                  <a:pt x="620788" y="957580"/>
                </a:lnTo>
                <a:lnTo>
                  <a:pt x="619353" y="965200"/>
                </a:lnTo>
                <a:lnTo>
                  <a:pt x="619353" y="1129030"/>
                </a:lnTo>
                <a:lnTo>
                  <a:pt x="471144" y="1129030"/>
                </a:lnTo>
                <a:lnTo>
                  <a:pt x="434314" y="878217"/>
                </a:lnTo>
                <a:lnTo>
                  <a:pt x="434314" y="1129030"/>
                </a:lnTo>
                <a:lnTo>
                  <a:pt x="330771" y="1129030"/>
                </a:lnTo>
                <a:lnTo>
                  <a:pt x="370954" y="855980"/>
                </a:lnTo>
                <a:lnTo>
                  <a:pt x="394131" y="855980"/>
                </a:lnTo>
                <a:lnTo>
                  <a:pt x="434314" y="1129030"/>
                </a:lnTo>
                <a:lnTo>
                  <a:pt x="434314" y="878217"/>
                </a:lnTo>
                <a:lnTo>
                  <a:pt x="431050" y="855980"/>
                </a:lnTo>
                <a:lnTo>
                  <a:pt x="428625" y="839470"/>
                </a:lnTo>
                <a:lnTo>
                  <a:pt x="437134" y="819150"/>
                </a:lnTo>
                <a:lnTo>
                  <a:pt x="440321" y="811530"/>
                </a:lnTo>
                <a:lnTo>
                  <a:pt x="442531" y="814070"/>
                </a:lnTo>
                <a:lnTo>
                  <a:pt x="448564" y="817880"/>
                </a:lnTo>
                <a:lnTo>
                  <a:pt x="455409" y="819150"/>
                </a:lnTo>
                <a:lnTo>
                  <a:pt x="462267" y="817880"/>
                </a:lnTo>
                <a:lnTo>
                  <a:pt x="468287" y="814070"/>
                </a:lnTo>
                <a:lnTo>
                  <a:pt x="469265" y="812800"/>
                </a:lnTo>
                <a:lnTo>
                  <a:pt x="470128" y="811530"/>
                </a:lnTo>
                <a:lnTo>
                  <a:pt x="494893" y="772160"/>
                </a:lnTo>
                <a:lnTo>
                  <a:pt x="532447" y="712470"/>
                </a:lnTo>
                <a:lnTo>
                  <a:pt x="536625" y="704850"/>
                </a:lnTo>
                <a:lnTo>
                  <a:pt x="539635" y="697230"/>
                </a:lnTo>
                <a:lnTo>
                  <a:pt x="541375" y="689610"/>
                </a:lnTo>
                <a:lnTo>
                  <a:pt x="594906" y="699770"/>
                </a:lnTo>
                <a:lnTo>
                  <a:pt x="638594" y="715010"/>
                </a:lnTo>
                <a:lnTo>
                  <a:pt x="675487" y="740410"/>
                </a:lnTo>
                <a:lnTo>
                  <a:pt x="703910" y="774700"/>
                </a:lnTo>
                <a:lnTo>
                  <a:pt x="722185" y="815340"/>
                </a:lnTo>
                <a:lnTo>
                  <a:pt x="728649" y="861060"/>
                </a:lnTo>
                <a:lnTo>
                  <a:pt x="728649" y="747737"/>
                </a:lnTo>
                <a:lnTo>
                  <a:pt x="718896" y="732790"/>
                </a:lnTo>
                <a:lnTo>
                  <a:pt x="686130" y="701040"/>
                </a:lnTo>
                <a:lnTo>
                  <a:pt x="666381" y="689610"/>
                </a:lnTo>
                <a:lnTo>
                  <a:pt x="646645" y="678180"/>
                </a:lnTo>
                <a:lnTo>
                  <a:pt x="601624" y="664210"/>
                </a:lnTo>
                <a:lnTo>
                  <a:pt x="540169" y="652780"/>
                </a:lnTo>
                <a:lnTo>
                  <a:pt x="535228" y="640080"/>
                </a:lnTo>
                <a:lnTo>
                  <a:pt x="529691" y="631190"/>
                </a:lnTo>
                <a:lnTo>
                  <a:pt x="528116" y="628650"/>
                </a:lnTo>
                <a:lnTo>
                  <a:pt x="526986" y="627380"/>
                </a:lnTo>
                <a:lnTo>
                  <a:pt x="519049" y="618490"/>
                </a:lnTo>
                <a:lnTo>
                  <a:pt x="508241" y="610870"/>
                </a:lnTo>
                <a:lnTo>
                  <a:pt x="506742" y="609993"/>
                </a:lnTo>
                <a:lnTo>
                  <a:pt x="506742" y="678180"/>
                </a:lnTo>
                <a:lnTo>
                  <a:pt x="501904" y="692150"/>
                </a:lnTo>
                <a:lnTo>
                  <a:pt x="452094" y="772160"/>
                </a:lnTo>
                <a:lnTo>
                  <a:pt x="434721" y="754380"/>
                </a:lnTo>
                <a:lnTo>
                  <a:pt x="412470" y="731621"/>
                </a:lnTo>
                <a:lnTo>
                  <a:pt x="412470" y="783590"/>
                </a:lnTo>
                <a:lnTo>
                  <a:pt x="397713" y="819150"/>
                </a:lnTo>
                <a:lnTo>
                  <a:pt x="367372" y="819150"/>
                </a:lnTo>
                <a:lnTo>
                  <a:pt x="364210" y="811530"/>
                </a:lnTo>
                <a:lnTo>
                  <a:pt x="352615" y="783590"/>
                </a:lnTo>
                <a:lnTo>
                  <a:pt x="364337" y="772160"/>
                </a:lnTo>
                <a:lnTo>
                  <a:pt x="382549" y="754380"/>
                </a:lnTo>
                <a:lnTo>
                  <a:pt x="412470" y="783590"/>
                </a:lnTo>
                <a:lnTo>
                  <a:pt x="412470" y="731621"/>
                </a:lnTo>
                <a:lnTo>
                  <a:pt x="411137" y="730250"/>
                </a:lnTo>
                <a:lnTo>
                  <a:pt x="432968" y="709930"/>
                </a:lnTo>
                <a:lnTo>
                  <a:pt x="435889" y="706120"/>
                </a:lnTo>
                <a:lnTo>
                  <a:pt x="450519" y="687070"/>
                </a:lnTo>
                <a:lnTo>
                  <a:pt x="463423" y="660400"/>
                </a:lnTo>
                <a:lnTo>
                  <a:pt x="471258" y="631190"/>
                </a:lnTo>
                <a:lnTo>
                  <a:pt x="489381" y="642620"/>
                </a:lnTo>
                <a:lnTo>
                  <a:pt x="500075" y="651510"/>
                </a:lnTo>
                <a:lnTo>
                  <a:pt x="505993" y="664210"/>
                </a:lnTo>
                <a:lnTo>
                  <a:pt x="506742" y="678180"/>
                </a:lnTo>
                <a:lnTo>
                  <a:pt x="506742" y="609993"/>
                </a:lnTo>
                <a:lnTo>
                  <a:pt x="490905" y="600710"/>
                </a:lnTo>
                <a:lnTo>
                  <a:pt x="486562" y="598170"/>
                </a:lnTo>
                <a:lnTo>
                  <a:pt x="497306" y="591820"/>
                </a:lnTo>
                <a:lnTo>
                  <a:pt x="533247" y="562610"/>
                </a:lnTo>
                <a:lnTo>
                  <a:pt x="560222" y="525780"/>
                </a:lnTo>
                <a:lnTo>
                  <a:pt x="577138" y="482600"/>
                </a:lnTo>
                <a:lnTo>
                  <a:pt x="582917" y="436880"/>
                </a:lnTo>
                <a:lnTo>
                  <a:pt x="592023" y="436880"/>
                </a:lnTo>
                <a:lnTo>
                  <a:pt x="616851" y="431800"/>
                </a:lnTo>
                <a:lnTo>
                  <a:pt x="637120" y="417830"/>
                </a:lnTo>
                <a:lnTo>
                  <a:pt x="649071" y="400050"/>
                </a:lnTo>
                <a:lnTo>
                  <a:pt x="650786" y="397510"/>
                </a:lnTo>
                <a:lnTo>
                  <a:pt x="655789" y="373380"/>
                </a:lnTo>
                <a:lnTo>
                  <a:pt x="655789" y="345440"/>
                </a:lnTo>
                <a:lnTo>
                  <a:pt x="655789" y="314960"/>
                </a:lnTo>
                <a:lnTo>
                  <a:pt x="655789" y="199390"/>
                </a:lnTo>
                <a:lnTo>
                  <a:pt x="645731" y="149860"/>
                </a:lnTo>
                <a:lnTo>
                  <a:pt x="619353" y="110642"/>
                </a:lnTo>
                <a:lnTo>
                  <a:pt x="619353" y="199390"/>
                </a:lnTo>
                <a:lnTo>
                  <a:pt x="619353" y="314960"/>
                </a:lnTo>
                <a:lnTo>
                  <a:pt x="619353" y="373380"/>
                </a:lnTo>
                <a:lnTo>
                  <a:pt x="617207" y="383540"/>
                </a:lnTo>
                <a:lnTo>
                  <a:pt x="611352" y="392430"/>
                </a:lnTo>
                <a:lnTo>
                  <a:pt x="602665" y="397510"/>
                </a:lnTo>
                <a:lnTo>
                  <a:pt x="592023" y="400050"/>
                </a:lnTo>
                <a:lnTo>
                  <a:pt x="582917" y="400050"/>
                </a:lnTo>
                <a:lnTo>
                  <a:pt x="582917" y="345440"/>
                </a:lnTo>
                <a:lnTo>
                  <a:pt x="592023" y="345440"/>
                </a:lnTo>
                <a:lnTo>
                  <a:pt x="602665" y="347980"/>
                </a:lnTo>
                <a:lnTo>
                  <a:pt x="611352" y="353060"/>
                </a:lnTo>
                <a:lnTo>
                  <a:pt x="617207" y="361950"/>
                </a:lnTo>
                <a:lnTo>
                  <a:pt x="619353" y="373380"/>
                </a:lnTo>
                <a:lnTo>
                  <a:pt x="619353" y="314960"/>
                </a:lnTo>
                <a:lnTo>
                  <a:pt x="612825" y="312420"/>
                </a:lnTo>
                <a:lnTo>
                  <a:pt x="592023" y="308610"/>
                </a:lnTo>
                <a:lnTo>
                  <a:pt x="582917" y="308610"/>
                </a:lnTo>
                <a:lnTo>
                  <a:pt x="582803" y="298450"/>
                </a:lnTo>
                <a:lnTo>
                  <a:pt x="573278" y="251460"/>
                </a:lnTo>
                <a:lnTo>
                  <a:pt x="546493" y="210680"/>
                </a:lnTo>
                <a:lnTo>
                  <a:pt x="546493" y="436880"/>
                </a:lnTo>
                <a:lnTo>
                  <a:pt x="541883" y="473710"/>
                </a:lnTo>
                <a:lnTo>
                  <a:pt x="506755" y="537210"/>
                </a:lnTo>
                <a:lnTo>
                  <a:pt x="440220" y="584200"/>
                </a:lnTo>
                <a:lnTo>
                  <a:pt x="434949" y="586600"/>
                </a:lnTo>
                <a:lnTo>
                  <a:pt x="434949" y="627380"/>
                </a:lnTo>
                <a:lnTo>
                  <a:pt x="428066" y="650240"/>
                </a:lnTo>
                <a:lnTo>
                  <a:pt x="416763" y="671830"/>
                </a:lnTo>
                <a:lnTo>
                  <a:pt x="401459" y="690880"/>
                </a:lnTo>
                <a:lnTo>
                  <a:pt x="382549" y="706120"/>
                </a:lnTo>
                <a:lnTo>
                  <a:pt x="371055" y="697230"/>
                </a:lnTo>
                <a:lnTo>
                  <a:pt x="360692" y="688340"/>
                </a:lnTo>
                <a:lnTo>
                  <a:pt x="354037" y="680008"/>
                </a:lnTo>
                <a:lnTo>
                  <a:pt x="354037" y="730250"/>
                </a:lnTo>
                <a:lnTo>
                  <a:pt x="336461" y="748207"/>
                </a:lnTo>
                <a:lnTo>
                  <a:pt x="336461" y="839470"/>
                </a:lnTo>
                <a:lnTo>
                  <a:pt x="293941" y="1129030"/>
                </a:lnTo>
                <a:lnTo>
                  <a:pt x="145732" y="1129030"/>
                </a:lnTo>
                <a:lnTo>
                  <a:pt x="145732" y="965200"/>
                </a:lnTo>
                <a:lnTo>
                  <a:pt x="144310" y="957580"/>
                </a:lnTo>
                <a:lnTo>
                  <a:pt x="140398" y="952500"/>
                </a:lnTo>
                <a:lnTo>
                  <a:pt x="134607" y="948690"/>
                </a:lnTo>
                <a:lnTo>
                  <a:pt x="127520" y="946150"/>
                </a:lnTo>
                <a:lnTo>
                  <a:pt x="120434" y="948690"/>
                </a:lnTo>
                <a:lnTo>
                  <a:pt x="114642" y="952500"/>
                </a:lnTo>
                <a:lnTo>
                  <a:pt x="110744" y="957580"/>
                </a:lnTo>
                <a:lnTo>
                  <a:pt x="109308" y="965200"/>
                </a:lnTo>
                <a:lnTo>
                  <a:pt x="109308" y="1129030"/>
                </a:lnTo>
                <a:lnTo>
                  <a:pt x="36436" y="1129030"/>
                </a:lnTo>
                <a:lnTo>
                  <a:pt x="36436" y="861060"/>
                </a:lnTo>
                <a:lnTo>
                  <a:pt x="42913" y="815340"/>
                </a:lnTo>
                <a:lnTo>
                  <a:pt x="61188" y="774700"/>
                </a:lnTo>
                <a:lnTo>
                  <a:pt x="89611" y="740410"/>
                </a:lnTo>
                <a:lnTo>
                  <a:pt x="126504" y="715010"/>
                </a:lnTo>
                <a:lnTo>
                  <a:pt x="170180" y="699770"/>
                </a:lnTo>
                <a:lnTo>
                  <a:pt x="223723" y="689610"/>
                </a:lnTo>
                <a:lnTo>
                  <a:pt x="225450" y="697230"/>
                </a:lnTo>
                <a:lnTo>
                  <a:pt x="228460" y="704850"/>
                </a:lnTo>
                <a:lnTo>
                  <a:pt x="232638" y="712470"/>
                </a:lnTo>
                <a:lnTo>
                  <a:pt x="294233" y="810260"/>
                </a:lnTo>
                <a:lnTo>
                  <a:pt x="299212" y="815340"/>
                </a:lnTo>
                <a:lnTo>
                  <a:pt x="305587" y="819150"/>
                </a:lnTo>
                <a:lnTo>
                  <a:pt x="312559" y="819150"/>
                </a:lnTo>
                <a:lnTo>
                  <a:pt x="319328" y="816610"/>
                </a:lnTo>
                <a:lnTo>
                  <a:pt x="320497" y="815340"/>
                </a:lnTo>
                <a:lnTo>
                  <a:pt x="321589" y="815340"/>
                </a:lnTo>
                <a:lnTo>
                  <a:pt x="324764" y="811530"/>
                </a:lnTo>
                <a:lnTo>
                  <a:pt x="336461" y="839470"/>
                </a:lnTo>
                <a:lnTo>
                  <a:pt x="336461" y="748207"/>
                </a:lnTo>
                <a:lnTo>
                  <a:pt x="312991" y="772160"/>
                </a:lnTo>
                <a:lnTo>
                  <a:pt x="263537" y="692150"/>
                </a:lnTo>
                <a:lnTo>
                  <a:pt x="262255" y="689610"/>
                </a:lnTo>
                <a:lnTo>
                  <a:pt x="260324" y="685800"/>
                </a:lnTo>
                <a:lnTo>
                  <a:pt x="258470" y="679450"/>
                </a:lnTo>
                <a:lnTo>
                  <a:pt x="258025" y="671830"/>
                </a:lnTo>
                <a:lnTo>
                  <a:pt x="259016" y="665480"/>
                </a:lnTo>
                <a:lnTo>
                  <a:pt x="293928" y="631190"/>
                </a:lnTo>
                <a:lnTo>
                  <a:pt x="301764" y="660400"/>
                </a:lnTo>
                <a:lnTo>
                  <a:pt x="314655" y="687070"/>
                </a:lnTo>
                <a:lnTo>
                  <a:pt x="332206" y="709930"/>
                </a:lnTo>
                <a:lnTo>
                  <a:pt x="354037" y="730250"/>
                </a:lnTo>
                <a:lnTo>
                  <a:pt x="354037" y="680008"/>
                </a:lnTo>
                <a:lnTo>
                  <a:pt x="351574" y="676910"/>
                </a:lnTo>
                <a:lnTo>
                  <a:pt x="343776" y="664210"/>
                </a:lnTo>
                <a:lnTo>
                  <a:pt x="339229" y="655320"/>
                </a:lnTo>
                <a:lnTo>
                  <a:pt x="335419" y="646430"/>
                </a:lnTo>
                <a:lnTo>
                  <a:pt x="332384" y="636270"/>
                </a:lnTo>
                <a:lnTo>
                  <a:pt x="331101" y="631190"/>
                </a:lnTo>
                <a:lnTo>
                  <a:pt x="330136" y="627380"/>
                </a:lnTo>
                <a:lnTo>
                  <a:pt x="355968" y="635000"/>
                </a:lnTo>
                <a:lnTo>
                  <a:pt x="382549" y="637540"/>
                </a:lnTo>
                <a:lnTo>
                  <a:pt x="409117" y="635000"/>
                </a:lnTo>
                <a:lnTo>
                  <a:pt x="434949" y="627380"/>
                </a:lnTo>
                <a:lnTo>
                  <a:pt x="434949" y="586600"/>
                </a:lnTo>
                <a:lnTo>
                  <a:pt x="412242" y="596900"/>
                </a:lnTo>
                <a:lnTo>
                  <a:pt x="382549" y="600710"/>
                </a:lnTo>
                <a:lnTo>
                  <a:pt x="352856" y="596900"/>
                </a:lnTo>
                <a:lnTo>
                  <a:pt x="324866" y="584200"/>
                </a:lnTo>
                <a:lnTo>
                  <a:pt x="287108" y="560070"/>
                </a:lnTo>
                <a:lnTo>
                  <a:pt x="280352" y="556260"/>
                </a:lnTo>
                <a:lnTo>
                  <a:pt x="273964" y="551180"/>
                </a:lnTo>
                <a:lnTo>
                  <a:pt x="267995" y="546100"/>
                </a:lnTo>
                <a:lnTo>
                  <a:pt x="291465" y="546100"/>
                </a:lnTo>
                <a:lnTo>
                  <a:pt x="298551" y="544830"/>
                </a:lnTo>
                <a:lnTo>
                  <a:pt x="304342" y="541020"/>
                </a:lnTo>
                <a:lnTo>
                  <a:pt x="308254" y="534670"/>
                </a:lnTo>
                <a:lnTo>
                  <a:pt x="309676" y="527050"/>
                </a:lnTo>
                <a:lnTo>
                  <a:pt x="308254" y="520700"/>
                </a:lnTo>
                <a:lnTo>
                  <a:pt x="304342" y="514350"/>
                </a:lnTo>
                <a:lnTo>
                  <a:pt x="298551" y="510540"/>
                </a:lnTo>
                <a:lnTo>
                  <a:pt x="291465" y="509270"/>
                </a:lnTo>
                <a:lnTo>
                  <a:pt x="238023" y="509270"/>
                </a:lnTo>
                <a:lnTo>
                  <a:pt x="229603" y="492760"/>
                </a:lnTo>
                <a:lnTo>
                  <a:pt x="223520" y="474980"/>
                </a:lnTo>
                <a:lnTo>
                  <a:pt x="222542" y="469900"/>
                </a:lnTo>
                <a:lnTo>
                  <a:pt x="219837" y="455930"/>
                </a:lnTo>
                <a:lnTo>
                  <a:pt x="218605" y="436880"/>
                </a:lnTo>
                <a:lnTo>
                  <a:pt x="218605" y="327660"/>
                </a:lnTo>
                <a:lnTo>
                  <a:pt x="218605" y="298450"/>
                </a:lnTo>
                <a:lnTo>
                  <a:pt x="222427" y="294640"/>
                </a:lnTo>
                <a:lnTo>
                  <a:pt x="226237" y="290830"/>
                </a:lnTo>
                <a:lnTo>
                  <a:pt x="235661" y="290830"/>
                </a:lnTo>
                <a:lnTo>
                  <a:pt x="282841" y="288290"/>
                </a:lnTo>
                <a:lnTo>
                  <a:pt x="329539" y="283210"/>
                </a:lnTo>
                <a:lnTo>
                  <a:pt x="375526" y="273050"/>
                </a:lnTo>
                <a:lnTo>
                  <a:pt x="420573" y="260350"/>
                </a:lnTo>
                <a:lnTo>
                  <a:pt x="464439" y="242570"/>
                </a:lnTo>
                <a:lnTo>
                  <a:pt x="506882" y="222250"/>
                </a:lnTo>
                <a:lnTo>
                  <a:pt x="519798" y="234950"/>
                </a:lnTo>
                <a:lnTo>
                  <a:pt x="544753" y="281940"/>
                </a:lnTo>
                <a:lnTo>
                  <a:pt x="546493" y="436880"/>
                </a:lnTo>
                <a:lnTo>
                  <a:pt x="546493" y="210680"/>
                </a:lnTo>
                <a:lnTo>
                  <a:pt x="545553" y="209550"/>
                </a:lnTo>
                <a:lnTo>
                  <a:pt x="522935" y="186690"/>
                </a:lnTo>
                <a:lnTo>
                  <a:pt x="517131" y="181610"/>
                </a:lnTo>
                <a:lnTo>
                  <a:pt x="508190" y="180340"/>
                </a:lnTo>
                <a:lnTo>
                  <a:pt x="501078" y="184150"/>
                </a:lnTo>
                <a:lnTo>
                  <a:pt x="459816" y="205740"/>
                </a:lnTo>
                <a:lnTo>
                  <a:pt x="417017" y="222250"/>
                </a:lnTo>
                <a:lnTo>
                  <a:pt x="372960" y="236220"/>
                </a:lnTo>
                <a:lnTo>
                  <a:pt x="327888" y="246380"/>
                </a:lnTo>
                <a:lnTo>
                  <a:pt x="282028" y="252730"/>
                </a:lnTo>
                <a:lnTo>
                  <a:pt x="235661" y="254000"/>
                </a:lnTo>
                <a:lnTo>
                  <a:pt x="219151" y="256540"/>
                </a:lnTo>
                <a:lnTo>
                  <a:pt x="204584" y="264160"/>
                </a:lnTo>
                <a:lnTo>
                  <a:pt x="197408" y="271208"/>
                </a:lnTo>
                <a:lnTo>
                  <a:pt x="197408" y="509270"/>
                </a:lnTo>
                <a:lnTo>
                  <a:pt x="163957" y="509270"/>
                </a:lnTo>
                <a:lnTo>
                  <a:pt x="156857" y="508000"/>
                </a:lnTo>
                <a:lnTo>
                  <a:pt x="151066" y="504190"/>
                </a:lnTo>
                <a:lnTo>
                  <a:pt x="147167" y="497840"/>
                </a:lnTo>
                <a:lnTo>
                  <a:pt x="145732" y="491490"/>
                </a:lnTo>
                <a:lnTo>
                  <a:pt x="145732" y="469900"/>
                </a:lnTo>
                <a:lnTo>
                  <a:pt x="151574" y="472440"/>
                </a:lnTo>
                <a:lnTo>
                  <a:pt x="186105" y="472440"/>
                </a:lnTo>
                <a:lnTo>
                  <a:pt x="188214" y="482600"/>
                </a:lnTo>
                <a:lnTo>
                  <a:pt x="190792" y="491490"/>
                </a:lnTo>
                <a:lnTo>
                  <a:pt x="193865" y="500380"/>
                </a:lnTo>
                <a:lnTo>
                  <a:pt x="197408" y="509270"/>
                </a:lnTo>
                <a:lnTo>
                  <a:pt x="197408" y="271208"/>
                </a:lnTo>
                <a:lnTo>
                  <a:pt x="192938" y="275590"/>
                </a:lnTo>
                <a:lnTo>
                  <a:pt x="185204" y="290830"/>
                </a:lnTo>
                <a:lnTo>
                  <a:pt x="182168" y="290830"/>
                </a:lnTo>
                <a:lnTo>
                  <a:pt x="182168" y="327660"/>
                </a:lnTo>
                <a:lnTo>
                  <a:pt x="182168" y="436880"/>
                </a:lnTo>
                <a:lnTo>
                  <a:pt x="163957" y="436880"/>
                </a:lnTo>
                <a:lnTo>
                  <a:pt x="156857" y="435610"/>
                </a:lnTo>
                <a:lnTo>
                  <a:pt x="151066" y="431800"/>
                </a:lnTo>
                <a:lnTo>
                  <a:pt x="147167" y="425450"/>
                </a:lnTo>
                <a:lnTo>
                  <a:pt x="145732" y="417830"/>
                </a:lnTo>
                <a:lnTo>
                  <a:pt x="145732" y="345440"/>
                </a:lnTo>
                <a:lnTo>
                  <a:pt x="147167" y="337820"/>
                </a:lnTo>
                <a:lnTo>
                  <a:pt x="151066" y="332740"/>
                </a:lnTo>
                <a:lnTo>
                  <a:pt x="156857" y="328930"/>
                </a:lnTo>
                <a:lnTo>
                  <a:pt x="163957" y="327660"/>
                </a:lnTo>
                <a:lnTo>
                  <a:pt x="182168" y="327660"/>
                </a:lnTo>
                <a:lnTo>
                  <a:pt x="182168" y="290830"/>
                </a:lnTo>
                <a:lnTo>
                  <a:pt x="157734" y="290830"/>
                </a:lnTo>
                <a:lnTo>
                  <a:pt x="151574" y="292100"/>
                </a:lnTo>
                <a:lnTo>
                  <a:pt x="145732" y="294640"/>
                </a:lnTo>
                <a:lnTo>
                  <a:pt x="145732" y="254000"/>
                </a:lnTo>
                <a:lnTo>
                  <a:pt x="151549" y="204470"/>
                </a:lnTo>
                <a:lnTo>
                  <a:pt x="168021" y="158750"/>
                </a:lnTo>
                <a:lnTo>
                  <a:pt x="193827" y="118110"/>
                </a:lnTo>
                <a:lnTo>
                  <a:pt x="227672" y="83820"/>
                </a:lnTo>
                <a:lnTo>
                  <a:pt x="268249" y="58420"/>
                </a:lnTo>
                <a:lnTo>
                  <a:pt x="314236" y="41910"/>
                </a:lnTo>
                <a:lnTo>
                  <a:pt x="364324" y="35560"/>
                </a:lnTo>
                <a:lnTo>
                  <a:pt x="402209" y="40640"/>
                </a:lnTo>
                <a:lnTo>
                  <a:pt x="437603" y="53340"/>
                </a:lnTo>
                <a:lnTo>
                  <a:pt x="469150" y="73660"/>
                </a:lnTo>
                <a:lnTo>
                  <a:pt x="495477" y="101600"/>
                </a:lnTo>
                <a:lnTo>
                  <a:pt x="498919" y="105410"/>
                </a:lnTo>
                <a:lnTo>
                  <a:pt x="504317" y="109220"/>
                </a:lnTo>
                <a:lnTo>
                  <a:pt x="528269" y="109220"/>
                </a:lnTo>
                <a:lnTo>
                  <a:pt x="563702" y="115570"/>
                </a:lnTo>
                <a:lnTo>
                  <a:pt x="592645" y="135890"/>
                </a:lnTo>
                <a:lnTo>
                  <a:pt x="612165" y="163830"/>
                </a:lnTo>
                <a:lnTo>
                  <a:pt x="619353" y="199390"/>
                </a:lnTo>
                <a:lnTo>
                  <a:pt x="619353" y="110642"/>
                </a:lnTo>
                <a:lnTo>
                  <a:pt x="618401" y="109220"/>
                </a:lnTo>
                <a:lnTo>
                  <a:pt x="577888" y="82550"/>
                </a:lnTo>
                <a:lnTo>
                  <a:pt x="528269" y="72390"/>
                </a:lnTo>
                <a:lnTo>
                  <a:pt x="518896" y="72390"/>
                </a:lnTo>
                <a:lnTo>
                  <a:pt x="487057" y="41910"/>
                </a:lnTo>
                <a:lnTo>
                  <a:pt x="476681" y="35560"/>
                </a:lnTo>
                <a:lnTo>
                  <a:pt x="449719" y="19050"/>
                </a:lnTo>
                <a:lnTo>
                  <a:pt x="408330" y="3810"/>
                </a:lnTo>
                <a:lnTo>
                  <a:pt x="364324" y="0"/>
                </a:lnTo>
                <a:lnTo>
                  <a:pt x="318503" y="3810"/>
                </a:lnTo>
                <a:lnTo>
                  <a:pt x="275386" y="15240"/>
                </a:lnTo>
                <a:lnTo>
                  <a:pt x="235673" y="34290"/>
                </a:lnTo>
                <a:lnTo>
                  <a:pt x="200101" y="59690"/>
                </a:lnTo>
                <a:lnTo>
                  <a:pt x="169367" y="90170"/>
                </a:lnTo>
                <a:lnTo>
                  <a:pt x="144208" y="125730"/>
                </a:lnTo>
                <a:lnTo>
                  <a:pt x="125323" y="165100"/>
                </a:lnTo>
                <a:lnTo>
                  <a:pt x="113461" y="208280"/>
                </a:lnTo>
                <a:lnTo>
                  <a:pt x="109423" y="252730"/>
                </a:lnTo>
                <a:lnTo>
                  <a:pt x="109308" y="491490"/>
                </a:lnTo>
                <a:lnTo>
                  <a:pt x="113601" y="513080"/>
                </a:lnTo>
                <a:lnTo>
                  <a:pt x="125310" y="529590"/>
                </a:lnTo>
                <a:lnTo>
                  <a:pt x="142684" y="541020"/>
                </a:lnTo>
                <a:lnTo>
                  <a:pt x="163957" y="546100"/>
                </a:lnTo>
                <a:lnTo>
                  <a:pt x="218414" y="546100"/>
                </a:lnTo>
                <a:lnTo>
                  <a:pt x="229146" y="558800"/>
                </a:lnTo>
                <a:lnTo>
                  <a:pt x="241007" y="570230"/>
                </a:lnTo>
                <a:lnTo>
                  <a:pt x="253911" y="581660"/>
                </a:lnTo>
                <a:lnTo>
                  <a:pt x="267779" y="591820"/>
                </a:lnTo>
                <a:lnTo>
                  <a:pt x="278523" y="598170"/>
                </a:lnTo>
                <a:lnTo>
                  <a:pt x="256946" y="610870"/>
                </a:lnTo>
                <a:lnTo>
                  <a:pt x="246113" y="618490"/>
                </a:lnTo>
                <a:lnTo>
                  <a:pt x="237020" y="628650"/>
                </a:lnTo>
                <a:lnTo>
                  <a:pt x="229882" y="640080"/>
                </a:lnTo>
                <a:lnTo>
                  <a:pt x="224917" y="652780"/>
                </a:lnTo>
                <a:lnTo>
                  <a:pt x="163461" y="664210"/>
                </a:lnTo>
                <a:lnTo>
                  <a:pt x="118440" y="678180"/>
                </a:lnTo>
                <a:lnTo>
                  <a:pt x="78955" y="701040"/>
                </a:lnTo>
                <a:lnTo>
                  <a:pt x="46189" y="732790"/>
                </a:lnTo>
                <a:lnTo>
                  <a:pt x="21323" y="770890"/>
                </a:lnTo>
                <a:lnTo>
                  <a:pt x="5524" y="814070"/>
                </a:lnTo>
                <a:lnTo>
                  <a:pt x="0" y="861060"/>
                </a:lnTo>
                <a:lnTo>
                  <a:pt x="0" y="1146810"/>
                </a:lnTo>
                <a:lnTo>
                  <a:pt x="1435" y="1154430"/>
                </a:lnTo>
                <a:lnTo>
                  <a:pt x="5346" y="1159510"/>
                </a:lnTo>
                <a:lnTo>
                  <a:pt x="11137" y="1163320"/>
                </a:lnTo>
                <a:lnTo>
                  <a:pt x="18224" y="1164590"/>
                </a:lnTo>
                <a:lnTo>
                  <a:pt x="746861" y="1164590"/>
                </a:lnTo>
                <a:lnTo>
                  <a:pt x="753960" y="1163320"/>
                </a:lnTo>
                <a:lnTo>
                  <a:pt x="759752" y="1159510"/>
                </a:lnTo>
                <a:lnTo>
                  <a:pt x="763651" y="1154430"/>
                </a:lnTo>
                <a:lnTo>
                  <a:pt x="765086" y="1146810"/>
                </a:lnTo>
                <a:lnTo>
                  <a:pt x="765086" y="1129030"/>
                </a:lnTo>
                <a:lnTo>
                  <a:pt x="765086" y="861060"/>
                </a:lnTo>
                <a:close/>
              </a:path>
              <a:path w="1129664" h="1164589" extrusionOk="0">
                <a:moveTo>
                  <a:pt x="1129411" y="618096"/>
                </a:moveTo>
                <a:lnTo>
                  <a:pt x="1127975" y="611009"/>
                </a:lnTo>
                <a:lnTo>
                  <a:pt x="1124064" y="605218"/>
                </a:lnTo>
                <a:lnTo>
                  <a:pt x="1118285" y="601319"/>
                </a:lnTo>
                <a:lnTo>
                  <a:pt x="1111199" y="599884"/>
                </a:lnTo>
                <a:lnTo>
                  <a:pt x="1092974" y="599884"/>
                </a:lnTo>
                <a:lnTo>
                  <a:pt x="1092974" y="308444"/>
                </a:lnTo>
                <a:lnTo>
                  <a:pt x="1092974" y="290207"/>
                </a:lnTo>
                <a:lnTo>
                  <a:pt x="1091539" y="283121"/>
                </a:lnTo>
                <a:lnTo>
                  <a:pt x="1087640" y="277329"/>
                </a:lnTo>
                <a:lnTo>
                  <a:pt x="1081849" y="273431"/>
                </a:lnTo>
                <a:lnTo>
                  <a:pt x="1074762" y="271995"/>
                </a:lnTo>
                <a:lnTo>
                  <a:pt x="1056551" y="271995"/>
                </a:lnTo>
                <a:lnTo>
                  <a:pt x="1056551" y="308444"/>
                </a:lnTo>
                <a:lnTo>
                  <a:pt x="1056551" y="599884"/>
                </a:lnTo>
                <a:lnTo>
                  <a:pt x="1020114" y="599884"/>
                </a:lnTo>
                <a:lnTo>
                  <a:pt x="1020114" y="308444"/>
                </a:lnTo>
                <a:lnTo>
                  <a:pt x="1056551" y="308444"/>
                </a:lnTo>
                <a:lnTo>
                  <a:pt x="1056551" y="271995"/>
                </a:lnTo>
                <a:lnTo>
                  <a:pt x="1001903" y="271995"/>
                </a:lnTo>
                <a:lnTo>
                  <a:pt x="994803" y="273431"/>
                </a:lnTo>
                <a:lnTo>
                  <a:pt x="989012" y="277329"/>
                </a:lnTo>
                <a:lnTo>
                  <a:pt x="985100" y="283121"/>
                </a:lnTo>
                <a:lnTo>
                  <a:pt x="983678" y="290207"/>
                </a:lnTo>
                <a:lnTo>
                  <a:pt x="983678" y="599884"/>
                </a:lnTo>
                <a:lnTo>
                  <a:pt x="947254" y="599884"/>
                </a:lnTo>
                <a:lnTo>
                  <a:pt x="947254" y="472389"/>
                </a:lnTo>
                <a:lnTo>
                  <a:pt x="947254" y="454152"/>
                </a:lnTo>
                <a:lnTo>
                  <a:pt x="945819" y="447065"/>
                </a:lnTo>
                <a:lnTo>
                  <a:pt x="941908" y="441274"/>
                </a:lnTo>
                <a:lnTo>
                  <a:pt x="936117" y="437375"/>
                </a:lnTo>
                <a:lnTo>
                  <a:pt x="929030" y="435940"/>
                </a:lnTo>
                <a:lnTo>
                  <a:pt x="910818" y="435940"/>
                </a:lnTo>
                <a:lnTo>
                  <a:pt x="910818" y="472389"/>
                </a:lnTo>
                <a:lnTo>
                  <a:pt x="910818" y="599884"/>
                </a:lnTo>
                <a:lnTo>
                  <a:pt x="874369" y="599884"/>
                </a:lnTo>
                <a:lnTo>
                  <a:pt x="874369" y="472389"/>
                </a:lnTo>
                <a:lnTo>
                  <a:pt x="910818" y="472389"/>
                </a:lnTo>
                <a:lnTo>
                  <a:pt x="910818" y="435940"/>
                </a:lnTo>
                <a:lnTo>
                  <a:pt x="856170" y="435940"/>
                </a:lnTo>
                <a:lnTo>
                  <a:pt x="849071" y="437375"/>
                </a:lnTo>
                <a:lnTo>
                  <a:pt x="843292" y="441274"/>
                </a:lnTo>
                <a:lnTo>
                  <a:pt x="839381" y="447065"/>
                </a:lnTo>
                <a:lnTo>
                  <a:pt x="837958" y="454152"/>
                </a:lnTo>
                <a:lnTo>
                  <a:pt x="837958" y="599884"/>
                </a:lnTo>
                <a:lnTo>
                  <a:pt x="801522" y="599884"/>
                </a:lnTo>
                <a:lnTo>
                  <a:pt x="801522" y="363093"/>
                </a:lnTo>
                <a:lnTo>
                  <a:pt x="801522" y="344855"/>
                </a:lnTo>
                <a:lnTo>
                  <a:pt x="800087" y="337769"/>
                </a:lnTo>
                <a:lnTo>
                  <a:pt x="796188" y="331978"/>
                </a:lnTo>
                <a:lnTo>
                  <a:pt x="790397" y="328079"/>
                </a:lnTo>
                <a:lnTo>
                  <a:pt x="783310" y="326644"/>
                </a:lnTo>
                <a:lnTo>
                  <a:pt x="765086" y="326644"/>
                </a:lnTo>
                <a:lnTo>
                  <a:pt x="765086" y="363093"/>
                </a:lnTo>
                <a:lnTo>
                  <a:pt x="765086" y="599884"/>
                </a:lnTo>
                <a:lnTo>
                  <a:pt x="728649" y="599884"/>
                </a:lnTo>
                <a:lnTo>
                  <a:pt x="728649" y="363093"/>
                </a:lnTo>
                <a:lnTo>
                  <a:pt x="765086" y="363093"/>
                </a:lnTo>
                <a:lnTo>
                  <a:pt x="765086" y="326644"/>
                </a:lnTo>
                <a:lnTo>
                  <a:pt x="710438" y="326644"/>
                </a:lnTo>
                <a:lnTo>
                  <a:pt x="703338" y="328079"/>
                </a:lnTo>
                <a:lnTo>
                  <a:pt x="697547" y="331978"/>
                </a:lnTo>
                <a:lnTo>
                  <a:pt x="693648" y="337769"/>
                </a:lnTo>
                <a:lnTo>
                  <a:pt x="692226" y="344855"/>
                </a:lnTo>
                <a:lnTo>
                  <a:pt x="692226" y="599884"/>
                </a:lnTo>
                <a:lnTo>
                  <a:pt x="674014" y="599884"/>
                </a:lnTo>
                <a:lnTo>
                  <a:pt x="666915" y="601319"/>
                </a:lnTo>
                <a:lnTo>
                  <a:pt x="661123" y="605218"/>
                </a:lnTo>
                <a:lnTo>
                  <a:pt x="657212" y="611009"/>
                </a:lnTo>
                <a:lnTo>
                  <a:pt x="655789" y="618096"/>
                </a:lnTo>
                <a:lnTo>
                  <a:pt x="657212" y="625195"/>
                </a:lnTo>
                <a:lnTo>
                  <a:pt x="661123" y="630974"/>
                </a:lnTo>
                <a:lnTo>
                  <a:pt x="666915" y="634885"/>
                </a:lnTo>
                <a:lnTo>
                  <a:pt x="674014" y="636308"/>
                </a:lnTo>
                <a:lnTo>
                  <a:pt x="1111199" y="636308"/>
                </a:lnTo>
                <a:lnTo>
                  <a:pt x="1118285" y="634885"/>
                </a:lnTo>
                <a:lnTo>
                  <a:pt x="1124064" y="630974"/>
                </a:lnTo>
                <a:lnTo>
                  <a:pt x="1127975" y="625195"/>
                </a:lnTo>
                <a:lnTo>
                  <a:pt x="1129411" y="618096"/>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6" name="Google Shape;2626;p39"/>
          <p:cNvSpPr/>
          <p:nvPr/>
        </p:nvSpPr>
        <p:spPr>
          <a:xfrm>
            <a:off x="8005419" y="4856606"/>
            <a:ext cx="254634" cy="749300"/>
          </a:xfrm>
          <a:custGeom>
            <a:avLst/>
            <a:gdLst/>
            <a:ahLst/>
            <a:cxnLst/>
            <a:rect l="l" t="t" r="r" b="b"/>
            <a:pathLst>
              <a:path w="254634" h="749300" extrusionOk="0">
                <a:moveTo>
                  <a:pt x="254635" y="220522"/>
                </a:moveTo>
                <a:lnTo>
                  <a:pt x="127317" y="0"/>
                </a:lnTo>
                <a:lnTo>
                  <a:pt x="0" y="220522"/>
                </a:lnTo>
                <a:lnTo>
                  <a:pt x="95605" y="220522"/>
                </a:lnTo>
                <a:lnTo>
                  <a:pt x="95605" y="528383"/>
                </a:lnTo>
                <a:lnTo>
                  <a:pt x="0" y="528383"/>
                </a:lnTo>
                <a:lnTo>
                  <a:pt x="127317" y="748906"/>
                </a:lnTo>
                <a:lnTo>
                  <a:pt x="254635" y="528383"/>
                </a:lnTo>
                <a:lnTo>
                  <a:pt x="159042" y="528383"/>
                </a:lnTo>
                <a:lnTo>
                  <a:pt x="159042" y="220522"/>
                </a:lnTo>
                <a:lnTo>
                  <a:pt x="254635" y="220522"/>
                </a:lnTo>
                <a:close/>
              </a:path>
            </a:pathLst>
          </a:custGeom>
          <a:solidFill>
            <a:srgbClr val="038F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7" name="Google Shape;2627;p39"/>
          <p:cNvSpPr/>
          <p:nvPr/>
        </p:nvSpPr>
        <p:spPr>
          <a:xfrm>
            <a:off x="10272471" y="3525151"/>
            <a:ext cx="906145" cy="254635"/>
          </a:xfrm>
          <a:custGeom>
            <a:avLst/>
            <a:gdLst/>
            <a:ahLst/>
            <a:cxnLst/>
            <a:rect l="l" t="t" r="r" b="b"/>
            <a:pathLst>
              <a:path w="906145" h="254635" extrusionOk="0">
                <a:moveTo>
                  <a:pt x="905878" y="95415"/>
                </a:moveTo>
                <a:lnTo>
                  <a:pt x="220522" y="95415"/>
                </a:lnTo>
                <a:lnTo>
                  <a:pt x="220522" y="0"/>
                </a:lnTo>
                <a:lnTo>
                  <a:pt x="0" y="127317"/>
                </a:lnTo>
                <a:lnTo>
                  <a:pt x="220522" y="254635"/>
                </a:lnTo>
                <a:lnTo>
                  <a:pt x="220522" y="158851"/>
                </a:lnTo>
                <a:lnTo>
                  <a:pt x="905878" y="158851"/>
                </a:lnTo>
                <a:lnTo>
                  <a:pt x="905878" y="95415"/>
                </a:lnTo>
                <a:close/>
              </a:path>
            </a:pathLst>
          </a:custGeom>
          <a:solidFill>
            <a:srgbClr val="EB8B1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8" name="Google Shape;2628;p39"/>
          <p:cNvSpPr/>
          <p:nvPr/>
        </p:nvSpPr>
        <p:spPr>
          <a:xfrm>
            <a:off x="5115331" y="3525151"/>
            <a:ext cx="906145" cy="254635"/>
          </a:xfrm>
          <a:custGeom>
            <a:avLst/>
            <a:gdLst/>
            <a:ahLst/>
            <a:cxnLst/>
            <a:rect l="l" t="t" r="r" b="b"/>
            <a:pathLst>
              <a:path w="906145" h="254635" extrusionOk="0">
                <a:moveTo>
                  <a:pt x="905865" y="127317"/>
                </a:moveTo>
                <a:lnTo>
                  <a:pt x="685342" y="0"/>
                </a:lnTo>
                <a:lnTo>
                  <a:pt x="685342" y="95770"/>
                </a:lnTo>
                <a:lnTo>
                  <a:pt x="0" y="95770"/>
                </a:lnTo>
                <a:lnTo>
                  <a:pt x="0" y="159207"/>
                </a:lnTo>
                <a:lnTo>
                  <a:pt x="685342" y="159207"/>
                </a:lnTo>
                <a:lnTo>
                  <a:pt x="685342" y="254635"/>
                </a:lnTo>
                <a:lnTo>
                  <a:pt x="905865" y="127317"/>
                </a:lnTo>
                <a:close/>
              </a:path>
            </a:pathLst>
          </a:custGeom>
          <a:solidFill>
            <a:srgbClr val="D2E03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9" name="Google Shape;2629;p39"/>
          <p:cNvSpPr/>
          <p:nvPr/>
        </p:nvSpPr>
        <p:spPr>
          <a:xfrm>
            <a:off x="9628505" y="1580515"/>
            <a:ext cx="1122680" cy="1122680"/>
          </a:xfrm>
          <a:custGeom>
            <a:avLst/>
            <a:gdLst/>
            <a:ahLst/>
            <a:cxnLst/>
            <a:rect l="l" t="t" r="r" b="b"/>
            <a:pathLst>
              <a:path w="1122679" h="1122680" extrusionOk="0">
                <a:moveTo>
                  <a:pt x="543064" y="72402"/>
                </a:moveTo>
                <a:lnTo>
                  <a:pt x="506857" y="72402"/>
                </a:lnTo>
                <a:lnTo>
                  <a:pt x="506857" y="108610"/>
                </a:lnTo>
                <a:lnTo>
                  <a:pt x="543064" y="108610"/>
                </a:lnTo>
                <a:lnTo>
                  <a:pt x="543064" y="72402"/>
                </a:lnTo>
                <a:close/>
              </a:path>
              <a:path w="1122679" h="1122680" extrusionOk="0">
                <a:moveTo>
                  <a:pt x="724090" y="72402"/>
                </a:moveTo>
                <a:lnTo>
                  <a:pt x="579272" y="72402"/>
                </a:lnTo>
                <a:lnTo>
                  <a:pt x="579272" y="108610"/>
                </a:lnTo>
                <a:lnTo>
                  <a:pt x="724090" y="108610"/>
                </a:lnTo>
                <a:lnTo>
                  <a:pt x="724090" y="72402"/>
                </a:lnTo>
                <a:close/>
              </a:path>
              <a:path w="1122679" h="1122680" extrusionOk="0">
                <a:moveTo>
                  <a:pt x="796493" y="72402"/>
                </a:moveTo>
                <a:lnTo>
                  <a:pt x="760285" y="72402"/>
                </a:lnTo>
                <a:lnTo>
                  <a:pt x="760285" y="108610"/>
                </a:lnTo>
                <a:lnTo>
                  <a:pt x="796493" y="108610"/>
                </a:lnTo>
                <a:lnTo>
                  <a:pt x="796493" y="72402"/>
                </a:lnTo>
                <a:close/>
              </a:path>
              <a:path w="1122679" h="1122680" extrusionOk="0">
                <a:moveTo>
                  <a:pt x="868895" y="0"/>
                </a:moveTo>
                <a:lnTo>
                  <a:pt x="832688" y="0"/>
                </a:lnTo>
                <a:lnTo>
                  <a:pt x="832688" y="36207"/>
                </a:lnTo>
                <a:lnTo>
                  <a:pt x="832688" y="144818"/>
                </a:lnTo>
                <a:lnTo>
                  <a:pt x="681329" y="144818"/>
                </a:lnTo>
                <a:lnTo>
                  <a:pt x="597357" y="214782"/>
                </a:lnTo>
                <a:lnTo>
                  <a:pt x="597357" y="144818"/>
                </a:lnTo>
                <a:lnTo>
                  <a:pt x="470649" y="144818"/>
                </a:lnTo>
                <a:lnTo>
                  <a:pt x="470649" y="36207"/>
                </a:lnTo>
                <a:lnTo>
                  <a:pt x="832688" y="36207"/>
                </a:lnTo>
                <a:lnTo>
                  <a:pt x="832688" y="0"/>
                </a:lnTo>
                <a:lnTo>
                  <a:pt x="434441" y="0"/>
                </a:lnTo>
                <a:lnTo>
                  <a:pt x="434441" y="181025"/>
                </a:lnTo>
                <a:lnTo>
                  <a:pt x="561162" y="181025"/>
                </a:lnTo>
                <a:lnTo>
                  <a:pt x="561162" y="292074"/>
                </a:lnTo>
                <a:lnTo>
                  <a:pt x="653910" y="214782"/>
                </a:lnTo>
                <a:lnTo>
                  <a:pt x="694423" y="181025"/>
                </a:lnTo>
                <a:lnTo>
                  <a:pt x="868895" y="181025"/>
                </a:lnTo>
                <a:lnTo>
                  <a:pt x="868895" y="36207"/>
                </a:lnTo>
                <a:lnTo>
                  <a:pt x="868895" y="0"/>
                </a:lnTo>
                <a:close/>
              </a:path>
              <a:path w="1122679" h="1122680" extrusionOk="0">
                <a:moveTo>
                  <a:pt x="1122324" y="1086116"/>
                </a:moveTo>
                <a:lnTo>
                  <a:pt x="921486" y="1086116"/>
                </a:lnTo>
                <a:lnTo>
                  <a:pt x="907008" y="941298"/>
                </a:lnTo>
                <a:lnTo>
                  <a:pt x="906843" y="939571"/>
                </a:lnTo>
                <a:lnTo>
                  <a:pt x="949032" y="924890"/>
                </a:lnTo>
                <a:lnTo>
                  <a:pt x="973239" y="905090"/>
                </a:lnTo>
                <a:lnTo>
                  <a:pt x="982941" y="897166"/>
                </a:lnTo>
                <a:lnTo>
                  <a:pt x="1005509" y="859396"/>
                </a:lnTo>
                <a:lnTo>
                  <a:pt x="1013714" y="814590"/>
                </a:lnTo>
                <a:lnTo>
                  <a:pt x="1013714" y="615467"/>
                </a:lnTo>
                <a:lnTo>
                  <a:pt x="1013714" y="579259"/>
                </a:lnTo>
                <a:lnTo>
                  <a:pt x="977506" y="579259"/>
                </a:lnTo>
                <a:lnTo>
                  <a:pt x="977506" y="615467"/>
                </a:lnTo>
                <a:lnTo>
                  <a:pt x="977506" y="814590"/>
                </a:lnTo>
                <a:lnTo>
                  <a:pt x="970381" y="849782"/>
                </a:lnTo>
                <a:lnTo>
                  <a:pt x="950963" y="878560"/>
                </a:lnTo>
                <a:lnTo>
                  <a:pt x="922185" y="897966"/>
                </a:lnTo>
                <a:lnTo>
                  <a:pt x="887006" y="905090"/>
                </a:lnTo>
                <a:lnTo>
                  <a:pt x="885101" y="905090"/>
                </a:lnTo>
                <a:lnTo>
                  <a:pt x="885101" y="1086116"/>
                </a:lnTo>
                <a:lnTo>
                  <a:pt x="849071" y="1086116"/>
                </a:lnTo>
                <a:lnTo>
                  <a:pt x="834593" y="941298"/>
                </a:lnTo>
                <a:lnTo>
                  <a:pt x="870623" y="941298"/>
                </a:lnTo>
                <a:lnTo>
                  <a:pt x="885101" y="1086116"/>
                </a:lnTo>
                <a:lnTo>
                  <a:pt x="885101" y="905090"/>
                </a:lnTo>
                <a:lnTo>
                  <a:pt x="812698" y="905090"/>
                </a:lnTo>
                <a:lnTo>
                  <a:pt x="812698" y="1086116"/>
                </a:lnTo>
                <a:lnTo>
                  <a:pt x="705980" y="1086116"/>
                </a:lnTo>
                <a:lnTo>
                  <a:pt x="705980" y="941298"/>
                </a:lnTo>
                <a:lnTo>
                  <a:pt x="798220" y="941298"/>
                </a:lnTo>
                <a:lnTo>
                  <a:pt x="812698" y="1086116"/>
                </a:lnTo>
                <a:lnTo>
                  <a:pt x="812698" y="905090"/>
                </a:lnTo>
                <a:lnTo>
                  <a:pt x="705980" y="905090"/>
                </a:lnTo>
                <a:lnTo>
                  <a:pt x="705980" y="868895"/>
                </a:lnTo>
                <a:lnTo>
                  <a:pt x="850798" y="868895"/>
                </a:lnTo>
                <a:lnTo>
                  <a:pt x="885990" y="861771"/>
                </a:lnTo>
                <a:lnTo>
                  <a:pt x="914768" y="842352"/>
                </a:lnTo>
                <a:lnTo>
                  <a:pt x="934186" y="813587"/>
                </a:lnTo>
                <a:lnTo>
                  <a:pt x="941311" y="778383"/>
                </a:lnTo>
                <a:lnTo>
                  <a:pt x="941311" y="615467"/>
                </a:lnTo>
                <a:lnTo>
                  <a:pt x="977506" y="615467"/>
                </a:lnTo>
                <a:lnTo>
                  <a:pt x="977506" y="579259"/>
                </a:lnTo>
                <a:lnTo>
                  <a:pt x="941311" y="579259"/>
                </a:lnTo>
                <a:lnTo>
                  <a:pt x="941311" y="554253"/>
                </a:lnTo>
                <a:lnTo>
                  <a:pt x="940790" y="550481"/>
                </a:lnTo>
                <a:lnTo>
                  <a:pt x="938847" y="536397"/>
                </a:lnTo>
                <a:lnTo>
                  <a:pt x="933869" y="524954"/>
                </a:lnTo>
                <a:lnTo>
                  <a:pt x="931824" y="520255"/>
                </a:lnTo>
                <a:lnTo>
                  <a:pt x="920724" y="506603"/>
                </a:lnTo>
                <a:lnTo>
                  <a:pt x="906043" y="496214"/>
                </a:lnTo>
                <a:lnTo>
                  <a:pt x="912698" y="488746"/>
                </a:lnTo>
                <a:lnTo>
                  <a:pt x="920661" y="479806"/>
                </a:lnTo>
                <a:lnTo>
                  <a:pt x="931773" y="460692"/>
                </a:lnTo>
                <a:lnTo>
                  <a:pt x="938834" y="439369"/>
                </a:lnTo>
                <a:lnTo>
                  <a:pt x="941311" y="416344"/>
                </a:lnTo>
                <a:lnTo>
                  <a:pt x="941311" y="380136"/>
                </a:lnTo>
                <a:lnTo>
                  <a:pt x="932751" y="337896"/>
                </a:lnTo>
                <a:lnTo>
                  <a:pt x="912406" y="307733"/>
                </a:lnTo>
                <a:lnTo>
                  <a:pt x="909459" y="303377"/>
                </a:lnTo>
                <a:lnTo>
                  <a:pt x="905103" y="300443"/>
                </a:lnTo>
                <a:lnTo>
                  <a:pt x="905103" y="380136"/>
                </a:lnTo>
                <a:lnTo>
                  <a:pt x="905103" y="416344"/>
                </a:lnTo>
                <a:lnTo>
                  <a:pt x="905103" y="552945"/>
                </a:lnTo>
                <a:lnTo>
                  <a:pt x="905103" y="778383"/>
                </a:lnTo>
                <a:lnTo>
                  <a:pt x="900823" y="799503"/>
                </a:lnTo>
                <a:lnTo>
                  <a:pt x="889165" y="816762"/>
                </a:lnTo>
                <a:lnTo>
                  <a:pt x="871905" y="828421"/>
                </a:lnTo>
                <a:lnTo>
                  <a:pt x="850798" y="832688"/>
                </a:lnTo>
                <a:lnTo>
                  <a:pt x="705980" y="832688"/>
                </a:lnTo>
                <a:lnTo>
                  <a:pt x="705980" y="796480"/>
                </a:lnTo>
                <a:lnTo>
                  <a:pt x="760285" y="796480"/>
                </a:lnTo>
                <a:lnTo>
                  <a:pt x="760285" y="760285"/>
                </a:lnTo>
                <a:lnTo>
                  <a:pt x="760285" y="724077"/>
                </a:lnTo>
                <a:lnTo>
                  <a:pt x="760285" y="713473"/>
                </a:lnTo>
                <a:lnTo>
                  <a:pt x="888555" y="585203"/>
                </a:lnTo>
                <a:lnTo>
                  <a:pt x="894791" y="577697"/>
                </a:lnTo>
                <a:lnTo>
                  <a:pt x="899579" y="569239"/>
                </a:lnTo>
                <a:lnTo>
                  <a:pt x="902868" y="560031"/>
                </a:lnTo>
                <a:lnTo>
                  <a:pt x="904582" y="550481"/>
                </a:lnTo>
                <a:lnTo>
                  <a:pt x="904748" y="551751"/>
                </a:lnTo>
                <a:lnTo>
                  <a:pt x="905103" y="552945"/>
                </a:lnTo>
                <a:lnTo>
                  <a:pt x="905103" y="416344"/>
                </a:lnTo>
                <a:lnTo>
                  <a:pt x="899401" y="444500"/>
                </a:lnTo>
                <a:lnTo>
                  <a:pt x="883869" y="467525"/>
                </a:lnTo>
                <a:lnTo>
                  <a:pt x="868883" y="477647"/>
                </a:lnTo>
                <a:lnTo>
                  <a:pt x="868883" y="550608"/>
                </a:lnTo>
                <a:lnTo>
                  <a:pt x="866749" y="555815"/>
                </a:lnTo>
                <a:lnTo>
                  <a:pt x="734695" y="687870"/>
                </a:lnTo>
                <a:lnTo>
                  <a:pt x="724090" y="687870"/>
                </a:lnTo>
                <a:lnTo>
                  <a:pt x="724090" y="724077"/>
                </a:lnTo>
                <a:lnTo>
                  <a:pt x="724090" y="760285"/>
                </a:lnTo>
                <a:lnTo>
                  <a:pt x="669785" y="760285"/>
                </a:lnTo>
                <a:lnTo>
                  <a:pt x="669785" y="796480"/>
                </a:lnTo>
                <a:lnTo>
                  <a:pt x="669785" y="832688"/>
                </a:lnTo>
                <a:lnTo>
                  <a:pt x="289636" y="832688"/>
                </a:lnTo>
                <a:lnTo>
                  <a:pt x="289636" y="868895"/>
                </a:lnTo>
                <a:lnTo>
                  <a:pt x="669785" y="868895"/>
                </a:lnTo>
                <a:lnTo>
                  <a:pt x="669785" y="1086116"/>
                </a:lnTo>
                <a:lnTo>
                  <a:pt x="626668" y="1086116"/>
                </a:lnTo>
                <a:lnTo>
                  <a:pt x="608558" y="1049909"/>
                </a:lnTo>
                <a:lnTo>
                  <a:pt x="590461" y="1013714"/>
                </a:lnTo>
                <a:lnTo>
                  <a:pt x="586181" y="1013714"/>
                </a:lnTo>
                <a:lnTo>
                  <a:pt x="586181" y="1086116"/>
                </a:lnTo>
                <a:lnTo>
                  <a:pt x="282727" y="1086116"/>
                </a:lnTo>
                <a:lnTo>
                  <a:pt x="300824" y="1049909"/>
                </a:lnTo>
                <a:lnTo>
                  <a:pt x="568083" y="1049909"/>
                </a:lnTo>
                <a:lnTo>
                  <a:pt x="586181" y="1086116"/>
                </a:lnTo>
                <a:lnTo>
                  <a:pt x="586181" y="1013714"/>
                </a:lnTo>
                <a:lnTo>
                  <a:pt x="278447" y="1013714"/>
                </a:lnTo>
                <a:lnTo>
                  <a:pt x="242239" y="1086116"/>
                </a:lnTo>
                <a:lnTo>
                  <a:pt x="199123" y="1086116"/>
                </a:lnTo>
                <a:lnTo>
                  <a:pt x="199123" y="868895"/>
                </a:lnTo>
                <a:lnTo>
                  <a:pt x="253428" y="868895"/>
                </a:lnTo>
                <a:lnTo>
                  <a:pt x="253428" y="832688"/>
                </a:lnTo>
                <a:lnTo>
                  <a:pt x="199123" y="832688"/>
                </a:lnTo>
                <a:lnTo>
                  <a:pt x="199123" y="796480"/>
                </a:lnTo>
                <a:lnTo>
                  <a:pt x="669785" y="796480"/>
                </a:lnTo>
                <a:lnTo>
                  <a:pt x="669785" y="760285"/>
                </a:lnTo>
                <a:lnTo>
                  <a:pt x="162928" y="760285"/>
                </a:lnTo>
                <a:lnTo>
                  <a:pt x="162928" y="724077"/>
                </a:lnTo>
                <a:lnTo>
                  <a:pt x="724090" y="724077"/>
                </a:lnTo>
                <a:lnTo>
                  <a:pt x="724090" y="687870"/>
                </a:lnTo>
                <a:lnTo>
                  <a:pt x="543064" y="687870"/>
                </a:lnTo>
                <a:lnTo>
                  <a:pt x="536016" y="686447"/>
                </a:lnTo>
                <a:lnTo>
                  <a:pt x="530263" y="682561"/>
                </a:lnTo>
                <a:lnTo>
                  <a:pt x="526389" y="676808"/>
                </a:lnTo>
                <a:lnTo>
                  <a:pt x="524967" y="669759"/>
                </a:lnTo>
                <a:lnTo>
                  <a:pt x="526389" y="662736"/>
                </a:lnTo>
                <a:lnTo>
                  <a:pt x="530263" y="656983"/>
                </a:lnTo>
                <a:lnTo>
                  <a:pt x="536016" y="653097"/>
                </a:lnTo>
                <a:lnTo>
                  <a:pt x="543064" y="651675"/>
                </a:lnTo>
                <a:lnTo>
                  <a:pt x="713473" y="651675"/>
                </a:lnTo>
                <a:lnTo>
                  <a:pt x="749681" y="615467"/>
                </a:lnTo>
                <a:lnTo>
                  <a:pt x="838034" y="527113"/>
                </a:lnTo>
                <a:lnTo>
                  <a:pt x="843267" y="524954"/>
                </a:lnTo>
                <a:lnTo>
                  <a:pt x="848601" y="524954"/>
                </a:lnTo>
                <a:lnTo>
                  <a:pt x="868883" y="550608"/>
                </a:lnTo>
                <a:lnTo>
                  <a:pt x="868883" y="477647"/>
                </a:lnTo>
                <a:lnTo>
                  <a:pt x="860856" y="483057"/>
                </a:lnTo>
                <a:lnTo>
                  <a:pt x="832700" y="488746"/>
                </a:lnTo>
                <a:lnTo>
                  <a:pt x="804532" y="483057"/>
                </a:lnTo>
                <a:lnTo>
                  <a:pt x="781507" y="467525"/>
                </a:lnTo>
                <a:lnTo>
                  <a:pt x="765975" y="444500"/>
                </a:lnTo>
                <a:lnTo>
                  <a:pt x="760285" y="416344"/>
                </a:lnTo>
                <a:lnTo>
                  <a:pt x="760285" y="380136"/>
                </a:lnTo>
                <a:lnTo>
                  <a:pt x="765975" y="351980"/>
                </a:lnTo>
                <a:lnTo>
                  <a:pt x="781507" y="328968"/>
                </a:lnTo>
                <a:lnTo>
                  <a:pt x="804532" y="313436"/>
                </a:lnTo>
                <a:lnTo>
                  <a:pt x="832700" y="307733"/>
                </a:lnTo>
                <a:lnTo>
                  <a:pt x="860856" y="313436"/>
                </a:lnTo>
                <a:lnTo>
                  <a:pt x="883869" y="328968"/>
                </a:lnTo>
                <a:lnTo>
                  <a:pt x="899401" y="351980"/>
                </a:lnTo>
                <a:lnTo>
                  <a:pt x="905103" y="380136"/>
                </a:lnTo>
                <a:lnTo>
                  <a:pt x="905103" y="300443"/>
                </a:lnTo>
                <a:lnTo>
                  <a:pt x="874928" y="280073"/>
                </a:lnTo>
                <a:lnTo>
                  <a:pt x="832700" y="271526"/>
                </a:lnTo>
                <a:lnTo>
                  <a:pt x="790448" y="280073"/>
                </a:lnTo>
                <a:lnTo>
                  <a:pt x="755929" y="303377"/>
                </a:lnTo>
                <a:lnTo>
                  <a:pt x="732624" y="337896"/>
                </a:lnTo>
                <a:lnTo>
                  <a:pt x="724090" y="380136"/>
                </a:lnTo>
                <a:lnTo>
                  <a:pt x="724090" y="416344"/>
                </a:lnTo>
                <a:lnTo>
                  <a:pt x="729399" y="449910"/>
                </a:lnTo>
                <a:lnTo>
                  <a:pt x="744232" y="479209"/>
                </a:lnTo>
                <a:lnTo>
                  <a:pt x="766876" y="502564"/>
                </a:lnTo>
                <a:lnTo>
                  <a:pt x="795642" y="518312"/>
                </a:lnTo>
                <a:lnTo>
                  <a:pt x="698487" y="615467"/>
                </a:lnTo>
                <a:lnTo>
                  <a:pt x="596976" y="615467"/>
                </a:lnTo>
                <a:lnTo>
                  <a:pt x="592099" y="593788"/>
                </a:lnTo>
                <a:lnTo>
                  <a:pt x="581164" y="574865"/>
                </a:lnTo>
                <a:lnTo>
                  <a:pt x="569506" y="564095"/>
                </a:lnTo>
                <a:lnTo>
                  <a:pt x="566331" y="561162"/>
                </a:lnTo>
                <a:lnTo>
                  <a:pt x="565099" y="560031"/>
                </a:lnTo>
                <a:lnTo>
                  <a:pt x="560387" y="557834"/>
                </a:lnTo>
                <a:lnTo>
                  <a:pt x="560387" y="615442"/>
                </a:lnTo>
                <a:lnTo>
                  <a:pt x="543064" y="615442"/>
                </a:lnTo>
                <a:lnTo>
                  <a:pt x="521944" y="619721"/>
                </a:lnTo>
                <a:lnTo>
                  <a:pt x="504685" y="631367"/>
                </a:lnTo>
                <a:lnTo>
                  <a:pt x="493026" y="648639"/>
                </a:lnTo>
                <a:lnTo>
                  <a:pt x="488759" y="669759"/>
                </a:lnTo>
                <a:lnTo>
                  <a:pt x="488759" y="676122"/>
                </a:lnTo>
                <a:lnTo>
                  <a:pt x="490054" y="682167"/>
                </a:lnTo>
                <a:lnTo>
                  <a:pt x="492086" y="687857"/>
                </a:lnTo>
                <a:lnTo>
                  <a:pt x="235331" y="687857"/>
                </a:lnTo>
                <a:lnTo>
                  <a:pt x="235407" y="619721"/>
                </a:lnTo>
                <a:lnTo>
                  <a:pt x="261581" y="585419"/>
                </a:lnTo>
                <a:lnTo>
                  <a:pt x="336156" y="564108"/>
                </a:lnTo>
                <a:lnTo>
                  <a:pt x="345897" y="575081"/>
                </a:lnTo>
                <a:lnTo>
                  <a:pt x="359448" y="585876"/>
                </a:lnTo>
                <a:lnTo>
                  <a:pt x="376872" y="594106"/>
                </a:lnTo>
                <a:lnTo>
                  <a:pt x="398246" y="597369"/>
                </a:lnTo>
                <a:lnTo>
                  <a:pt x="419620" y="594106"/>
                </a:lnTo>
                <a:lnTo>
                  <a:pt x="437045" y="585876"/>
                </a:lnTo>
                <a:lnTo>
                  <a:pt x="450583" y="575081"/>
                </a:lnTo>
                <a:lnTo>
                  <a:pt x="460324" y="564108"/>
                </a:lnTo>
                <a:lnTo>
                  <a:pt x="534962" y="585419"/>
                </a:lnTo>
                <a:lnTo>
                  <a:pt x="560387" y="615442"/>
                </a:lnTo>
                <a:lnTo>
                  <a:pt x="560387" y="557834"/>
                </a:lnTo>
                <a:lnTo>
                  <a:pt x="544855" y="550583"/>
                </a:lnTo>
                <a:lnTo>
                  <a:pt x="470700" y="529424"/>
                </a:lnTo>
                <a:lnTo>
                  <a:pt x="470662" y="518617"/>
                </a:lnTo>
                <a:lnTo>
                  <a:pt x="470662" y="497078"/>
                </a:lnTo>
                <a:lnTo>
                  <a:pt x="478231" y="488746"/>
                </a:lnTo>
                <a:lnTo>
                  <a:pt x="485660" y="480568"/>
                </a:lnTo>
                <a:lnTo>
                  <a:pt x="497065" y="461264"/>
                </a:lnTo>
                <a:lnTo>
                  <a:pt x="504304" y="439699"/>
                </a:lnTo>
                <a:lnTo>
                  <a:pt x="506857" y="416344"/>
                </a:lnTo>
                <a:lnTo>
                  <a:pt x="506857" y="380136"/>
                </a:lnTo>
                <a:lnTo>
                  <a:pt x="498309" y="337896"/>
                </a:lnTo>
                <a:lnTo>
                  <a:pt x="477951" y="307733"/>
                </a:lnTo>
                <a:lnTo>
                  <a:pt x="475005" y="303377"/>
                </a:lnTo>
                <a:lnTo>
                  <a:pt x="470662" y="300456"/>
                </a:lnTo>
                <a:lnTo>
                  <a:pt x="470662" y="380136"/>
                </a:lnTo>
                <a:lnTo>
                  <a:pt x="470662" y="416344"/>
                </a:lnTo>
                <a:lnTo>
                  <a:pt x="464959" y="444500"/>
                </a:lnTo>
                <a:lnTo>
                  <a:pt x="449427" y="467525"/>
                </a:lnTo>
                <a:lnTo>
                  <a:pt x="434454" y="477634"/>
                </a:lnTo>
                <a:lnTo>
                  <a:pt x="434454" y="518617"/>
                </a:lnTo>
                <a:lnTo>
                  <a:pt x="434454" y="538060"/>
                </a:lnTo>
                <a:lnTo>
                  <a:pt x="429602" y="544601"/>
                </a:lnTo>
                <a:lnTo>
                  <a:pt x="421868" y="552208"/>
                </a:lnTo>
                <a:lnTo>
                  <a:pt x="411378" y="558533"/>
                </a:lnTo>
                <a:lnTo>
                  <a:pt x="398246" y="561162"/>
                </a:lnTo>
                <a:lnTo>
                  <a:pt x="385102" y="558533"/>
                </a:lnTo>
                <a:lnTo>
                  <a:pt x="374611" y="552208"/>
                </a:lnTo>
                <a:lnTo>
                  <a:pt x="366890" y="544601"/>
                </a:lnTo>
                <a:lnTo>
                  <a:pt x="362051" y="538060"/>
                </a:lnTo>
                <a:lnTo>
                  <a:pt x="362051" y="518617"/>
                </a:lnTo>
                <a:lnTo>
                  <a:pt x="370700" y="521309"/>
                </a:lnTo>
                <a:lnTo>
                  <a:pt x="379628" y="523303"/>
                </a:lnTo>
                <a:lnTo>
                  <a:pt x="388810" y="524535"/>
                </a:lnTo>
                <a:lnTo>
                  <a:pt x="398246" y="524954"/>
                </a:lnTo>
                <a:lnTo>
                  <a:pt x="407670" y="524535"/>
                </a:lnTo>
                <a:lnTo>
                  <a:pt x="416852" y="523303"/>
                </a:lnTo>
                <a:lnTo>
                  <a:pt x="425792" y="521309"/>
                </a:lnTo>
                <a:lnTo>
                  <a:pt x="434454" y="518617"/>
                </a:lnTo>
                <a:lnTo>
                  <a:pt x="434454" y="477634"/>
                </a:lnTo>
                <a:lnTo>
                  <a:pt x="426402" y="483057"/>
                </a:lnTo>
                <a:lnTo>
                  <a:pt x="398246" y="488746"/>
                </a:lnTo>
                <a:lnTo>
                  <a:pt x="370078" y="483057"/>
                </a:lnTo>
                <a:lnTo>
                  <a:pt x="347065" y="467525"/>
                </a:lnTo>
                <a:lnTo>
                  <a:pt x="331533" y="444500"/>
                </a:lnTo>
                <a:lnTo>
                  <a:pt x="325843" y="416344"/>
                </a:lnTo>
                <a:lnTo>
                  <a:pt x="325843" y="380136"/>
                </a:lnTo>
                <a:lnTo>
                  <a:pt x="331533" y="351980"/>
                </a:lnTo>
                <a:lnTo>
                  <a:pt x="347065" y="328968"/>
                </a:lnTo>
                <a:lnTo>
                  <a:pt x="370078" y="313436"/>
                </a:lnTo>
                <a:lnTo>
                  <a:pt x="398246" y="307733"/>
                </a:lnTo>
                <a:lnTo>
                  <a:pt x="426402" y="313436"/>
                </a:lnTo>
                <a:lnTo>
                  <a:pt x="449427" y="328968"/>
                </a:lnTo>
                <a:lnTo>
                  <a:pt x="464959" y="351980"/>
                </a:lnTo>
                <a:lnTo>
                  <a:pt x="470662" y="380136"/>
                </a:lnTo>
                <a:lnTo>
                  <a:pt x="470662" y="300456"/>
                </a:lnTo>
                <a:lnTo>
                  <a:pt x="440486" y="280073"/>
                </a:lnTo>
                <a:lnTo>
                  <a:pt x="398246" y="271526"/>
                </a:lnTo>
                <a:lnTo>
                  <a:pt x="356006" y="280073"/>
                </a:lnTo>
                <a:lnTo>
                  <a:pt x="321475" y="303377"/>
                </a:lnTo>
                <a:lnTo>
                  <a:pt x="298183" y="337896"/>
                </a:lnTo>
                <a:lnTo>
                  <a:pt x="289636" y="380136"/>
                </a:lnTo>
                <a:lnTo>
                  <a:pt x="289636" y="416344"/>
                </a:lnTo>
                <a:lnTo>
                  <a:pt x="292176" y="439699"/>
                </a:lnTo>
                <a:lnTo>
                  <a:pt x="299427" y="461276"/>
                </a:lnTo>
                <a:lnTo>
                  <a:pt x="310832" y="480580"/>
                </a:lnTo>
                <a:lnTo>
                  <a:pt x="325843" y="497078"/>
                </a:lnTo>
                <a:lnTo>
                  <a:pt x="325843" y="529424"/>
                </a:lnTo>
                <a:lnTo>
                  <a:pt x="251637" y="550608"/>
                </a:lnTo>
                <a:lnTo>
                  <a:pt x="213779" y="576668"/>
                </a:lnTo>
                <a:lnTo>
                  <a:pt x="199199" y="619721"/>
                </a:lnTo>
                <a:lnTo>
                  <a:pt x="199123" y="687870"/>
                </a:lnTo>
                <a:lnTo>
                  <a:pt x="126720" y="687870"/>
                </a:lnTo>
                <a:lnTo>
                  <a:pt x="126720" y="796480"/>
                </a:lnTo>
                <a:lnTo>
                  <a:pt x="162928" y="796480"/>
                </a:lnTo>
                <a:lnTo>
                  <a:pt x="162928" y="1086116"/>
                </a:lnTo>
                <a:lnTo>
                  <a:pt x="0" y="1086116"/>
                </a:lnTo>
                <a:lnTo>
                  <a:pt x="0" y="1122324"/>
                </a:lnTo>
                <a:lnTo>
                  <a:pt x="1122324" y="1122324"/>
                </a:lnTo>
                <a:lnTo>
                  <a:pt x="1122324" y="1086116"/>
                </a:lnTo>
                <a:close/>
              </a:path>
            </a:pathLst>
          </a:custGeom>
          <a:solidFill>
            <a:srgbClr val="E3E4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30" name="Google Shape;2630;p39"/>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844540" y="2076450"/>
            <a:ext cx="4552315" cy="3050540"/>
          </a:xfrm>
          <a:prstGeom prst="rect">
            <a:avLst/>
          </a:prstGeom>
          <a:noFill/>
          <a:ln>
            <a:noFill/>
          </a:ln>
        </p:spPr>
      </p:pic>
      <p:sp>
        <p:nvSpPr>
          <p:cNvPr id="2631" name="Google Shape;2631;p39"/>
          <p:cNvSpPr/>
          <p:nvPr/>
        </p:nvSpPr>
        <p:spPr>
          <a:xfrm>
            <a:off x="6231890" y="2546350"/>
            <a:ext cx="3778250" cy="2193290"/>
          </a:xfrm>
          <a:custGeom>
            <a:avLst/>
            <a:gdLst/>
            <a:ahLst/>
            <a:cxnLst/>
            <a:rect l="l" t="t" r="r" b="b"/>
            <a:pathLst>
              <a:path w="3778250" h="2193290" extrusionOk="0">
                <a:moveTo>
                  <a:pt x="3687813" y="0"/>
                </a:moveTo>
                <a:lnTo>
                  <a:pt x="89992" y="0"/>
                </a:lnTo>
                <a:lnTo>
                  <a:pt x="54965" y="7071"/>
                </a:lnTo>
                <a:lnTo>
                  <a:pt x="26360" y="26355"/>
                </a:lnTo>
                <a:lnTo>
                  <a:pt x="7072" y="54960"/>
                </a:lnTo>
                <a:lnTo>
                  <a:pt x="0" y="89992"/>
                </a:lnTo>
                <a:lnTo>
                  <a:pt x="0" y="2103107"/>
                </a:lnTo>
                <a:lnTo>
                  <a:pt x="7072" y="2138141"/>
                </a:lnTo>
                <a:lnTo>
                  <a:pt x="26360" y="2166750"/>
                </a:lnTo>
                <a:lnTo>
                  <a:pt x="54965" y="2186039"/>
                </a:lnTo>
                <a:lnTo>
                  <a:pt x="89992" y="2193112"/>
                </a:lnTo>
                <a:lnTo>
                  <a:pt x="3687813" y="2193112"/>
                </a:lnTo>
                <a:lnTo>
                  <a:pt x="3722847" y="2186039"/>
                </a:lnTo>
                <a:lnTo>
                  <a:pt x="3751456" y="2166750"/>
                </a:lnTo>
                <a:lnTo>
                  <a:pt x="3770745" y="2138141"/>
                </a:lnTo>
                <a:lnTo>
                  <a:pt x="3777818" y="2103107"/>
                </a:lnTo>
                <a:lnTo>
                  <a:pt x="3777818" y="89992"/>
                </a:lnTo>
                <a:lnTo>
                  <a:pt x="3770745" y="54960"/>
                </a:lnTo>
                <a:lnTo>
                  <a:pt x="3751456" y="26355"/>
                </a:lnTo>
                <a:lnTo>
                  <a:pt x="3722847" y="7071"/>
                </a:lnTo>
                <a:lnTo>
                  <a:pt x="3687813"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2" name="Google Shape;2632;p39"/>
          <p:cNvSpPr/>
          <p:nvPr/>
        </p:nvSpPr>
        <p:spPr>
          <a:xfrm>
            <a:off x="6231890" y="2200275"/>
            <a:ext cx="3778250" cy="875665"/>
          </a:xfrm>
          <a:custGeom>
            <a:avLst/>
            <a:gdLst/>
            <a:ahLst/>
            <a:cxnLst/>
            <a:rect l="l" t="t" r="r" b="b"/>
            <a:pathLst>
              <a:path w="3778250" h="875664" extrusionOk="0">
                <a:moveTo>
                  <a:pt x="3629990" y="0"/>
                </a:moveTo>
                <a:lnTo>
                  <a:pt x="147827" y="0"/>
                </a:lnTo>
                <a:lnTo>
                  <a:pt x="101105" y="7535"/>
                </a:lnTo>
                <a:lnTo>
                  <a:pt x="60525" y="28520"/>
                </a:lnTo>
                <a:lnTo>
                  <a:pt x="28524" y="60520"/>
                </a:lnTo>
                <a:lnTo>
                  <a:pt x="7537" y="101100"/>
                </a:lnTo>
                <a:lnTo>
                  <a:pt x="0" y="147827"/>
                </a:lnTo>
                <a:lnTo>
                  <a:pt x="0" y="708609"/>
                </a:lnTo>
                <a:lnTo>
                  <a:pt x="1755876" y="708609"/>
                </a:lnTo>
                <a:lnTo>
                  <a:pt x="1888909" y="875169"/>
                </a:lnTo>
                <a:lnTo>
                  <a:pt x="2021941" y="708609"/>
                </a:lnTo>
                <a:lnTo>
                  <a:pt x="3777818" y="708609"/>
                </a:lnTo>
                <a:lnTo>
                  <a:pt x="3777818" y="147827"/>
                </a:lnTo>
                <a:lnTo>
                  <a:pt x="3770281" y="101100"/>
                </a:lnTo>
                <a:lnTo>
                  <a:pt x="3749293" y="60520"/>
                </a:lnTo>
                <a:lnTo>
                  <a:pt x="3717292" y="28520"/>
                </a:lnTo>
                <a:lnTo>
                  <a:pt x="3676712" y="7535"/>
                </a:lnTo>
                <a:lnTo>
                  <a:pt x="3629990" y="0"/>
                </a:lnTo>
                <a:close/>
              </a:path>
            </a:pathLst>
          </a:custGeom>
          <a:solidFill>
            <a:srgbClr val="38CD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3" name="Google Shape;2633;p39"/>
          <p:cNvSpPr txBox="1"/>
          <p:nvPr/>
        </p:nvSpPr>
        <p:spPr>
          <a:xfrm>
            <a:off x="7210699" y="2411425"/>
            <a:ext cx="20691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Store Manager</a:t>
            </a:r>
            <a:endParaRPr sz="2000" b="0" i="0" u="none" strike="noStrike" cap="none">
              <a:solidFill>
                <a:srgbClr val="000000"/>
              </a:solidFill>
              <a:latin typeface="Plus Jakarta Sans"/>
              <a:ea typeface="Plus Jakarta Sans"/>
              <a:cs typeface="Plus Jakarta Sans"/>
              <a:sym typeface="Plus Jakarta Sans"/>
            </a:endParaRPr>
          </a:p>
        </p:txBody>
      </p:sp>
      <p:sp>
        <p:nvSpPr>
          <p:cNvPr id="2634" name="Google Shape;2634;p39"/>
          <p:cNvSpPr txBox="1"/>
          <p:nvPr/>
        </p:nvSpPr>
        <p:spPr>
          <a:xfrm>
            <a:off x="6505401" y="3092475"/>
            <a:ext cx="3331200" cy="13848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Human resources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Store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Work schedule checking</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Management status conﬁrmation</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Sales management</a:t>
            </a:r>
            <a:endParaRPr sz="1400" b="0" i="0" u="none" strike="noStrike" cap="none">
              <a:solidFill>
                <a:srgbClr val="000000"/>
              </a:solidFill>
              <a:latin typeface="Plus Jakarta Sans"/>
              <a:ea typeface="Plus Jakarta Sans"/>
              <a:cs typeface="Plus Jakarta Sans"/>
              <a:sym typeface="Plus Jakarta Sans"/>
            </a:endParaRPr>
          </a:p>
        </p:txBody>
      </p:sp>
      <p:pic>
        <p:nvPicPr>
          <p:cNvPr id="2635" name="Google Shape;2635;p39"/>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630555" y="2076450"/>
            <a:ext cx="4552950" cy="3050540"/>
          </a:xfrm>
          <a:prstGeom prst="rect">
            <a:avLst/>
          </a:prstGeom>
          <a:noFill/>
          <a:ln>
            <a:noFill/>
          </a:ln>
        </p:spPr>
      </p:pic>
      <p:sp>
        <p:nvSpPr>
          <p:cNvPr id="2636" name="Google Shape;2636;p39"/>
          <p:cNvSpPr/>
          <p:nvPr/>
        </p:nvSpPr>
        <p:spPr>
          <a:xfrm>
            <a:off x="1017905" y="2546350"/>
            <a:ext cx="3778250" cy="2193290"/>
          </a:xfrm>
          <a:custGeom>
            <a:avLst/>
            <a:gdLst/>
            <a:ahLst/>
            <a:cxnLst/>
            <a:rect l="l" t="t" r="r" b="b"/>
            <a:pathLst>
              <a:path w="3778250" h="2193290" extrusionOk="0">
                <a:moveTo>
                  <a:pt x="3687813" y="0"/>
                </a:moveTo>
                <a:lnTo>
                  <a:pt x="89992" y="0"/>
                </a:lnTo>
                <a:lnTo>
                  <a:pt x="54965" y="7071"/>
                </a:lnTo>
                <a:lnTo>
                  <a:pt x="26360" y="26355"/>
                </a:lnTo>
                <a:lnTo>
                  <a:pt x="7072" y="54960"/>
                </a:lnTo>
                <a:lnTo>
                  <a:pt x="0" y="89992"/>
                </a:lnTo>
                <a:lnTo>
                  <a:pt x="0" y="2103107"/>
                </a:lnTo>
                <a:lnTo>
                  <a:pt x="7072" y="2138141"/>
                </a:lnTo>
                <a:lnTo>
                  <a:pt x="26360" y="2166750"/>
                </a:lnTo>
                <a:lnTo>
                  <a:pt x="54965" y="2186039"/>
                </a:lnTo>
                <a:lnTo>
                  <a:pt x="89992" y="2193112"/>
                </a:lnTo>
                <a:lnTo>
                  <a:pt x="3687813" y="2193112"/>
                </a:lnTo>
                <a:lnTo>
                  <a:pt x="3722847" y="2186039"/>
                </a:lnTo>
                <a:lnTo>
                  <a:pt x="3751456" y="2166750"/>
                </a:lnTo>
                <a:lnTo>
                  <a:pt x="3770745" y="2138141"/>
                </a:lnTo>
                <a:lnTo>
                  <a:pt x="3777818" y="2103107"/>
                </a:lnTo>
                <a:lnTo>
                  <a:pt x="3777818" y="89992"/>
                </a:lnTo>
                <a:lnTo>
                  <a:pt x="3770745" y="54960"/>
                </a:lnTo>
                <a:lnTo>
                  <a:pt x="3751456" y="26355"/>
                </a:lnTo>
                <a:lnTo>
                  <a:pt x="3722847" y="7071"/>
                </a:lnTo>
                <a:lnTo>
                  <a:pt x="3687813"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7" name="Google Shape;2637;p39"/>
          <p:cNvSpPr/>
          <p:nvPr/>
        </p:nvSpPr>
        <p:spPr>
          <a:xfrm>
            <a:off x="1017905" y="2200275"/>
            <a:ext cx="3778250" cy="875665"/>
          </a:xfrm>
          <a:custGeom>
            <a:avLst/>
            <a:gdLst/>
            <a:ahLst/>
            <a:cxnLst/>
            <a:rect l="l" t="t" r="r" b="b"/>
            <a:pathLst>
              <a:path w="3778250" h="875664" extrusionOk="0">
                <a:moveTo>
                  <a:pt x="3629990" y="0"/>
                </a:moveTo>
                <a:lnTo>
                  <a:pt x="147827" y="0"/>
                </a:lnTo>
                <a:lnTo>
                  <a:pt x="101105" y="7535"/>
                </a:lnTo>
                <a:lnTo>
                  <a:pt x="60525" y="28520"/>
                </a:lnTo>
                <a:lnTo>
                  <a:pt x="28524" y="60520"/>
                </a:lnTo>
                <a:lnTo>
                  <a:pt x="7537" y="101100"/>
                </a:lnTo>
                <a:lnTo>
                  <a:pt x="0" y="147827"/>
                </a:lnTo>
                <a:lnTo>
                  <a:pt x="0" y="708609"/>
                </a:lnTo>
                <a:lnTo>
                  <a:pt x="1755876" y="708609"/>
                </a:lnTo>
                <a:lnTo>
                  <a:pt x="1888909" y="875169"/>
                </a:lnTo>
                <a:lnTo>
                  <a:pt x="2021941" y="708609"/>
                </a:lnTo>
                <a:lnTo>
                  <a:pt x="3777818" y="708609"/>
                </a:lnTo>
                <a:lnTo>
                  <a:pt x="3777818" y="147827"/>
                </a:lnTo>
                <a:lnTo>
                  <a:pt x="3770281" y="101100"/>
                </a:lnTo>
                <a:lnTo>
                  <a:pt x="3749293" y="60520"/>
                </a:lnTo>
                <a:lnTo>
                  <a:pt x="3717292" y="28520"/>
                </a:lnTo>
                <a:lnTo>
                  <a:pt x="3676712" y="7535"/>
                </a:lnTo>
                <a:lnTo>
                  <a:pt x="3629990" y="0"/>
                </a:lnTo>
                <a:close/>
              </a:path>
            </a:pathLst>
          </a:custGeom>
          <a:solidFill>
            <a:srgbClr val="D2E03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8" name="Google Shape;2638;p39"/>
          <p:cNvSpPr txBox="1"/>
          <p:nvPr/>
        </p:nvSpPr>
        <p:spPr>
          <a:xfrm>
            <a:off x="2071201" y="2411425"/>
            <a:ext cx="20691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Store Advisor</a:t>
            </a:r>
            <a:endParaRPr sz="2000" b="0" i="0" u="none" strike="noStrike" cap="none">
              <a:solidFill>
                <a:srgbClr val="000000"/>
              </a:solidFill>
              <a:latin typeface="Plus Jakarta Sans"/>
              <a:ea typeface="Plus Jakarta Sans"/>
              <a:cs typeface="Plus Jakarta Sans"/>
              <a:sym typeface="Plus Jakarta Sans"/>
            </a:endParaRPr>
          </a:p>
        </p:txBody>
      </p:sp>
      <p:sp>
        <p:nvSpPr>
          <p:cNvPr id="2639" name="Google Shape;2639;p39"/>
          <p:cNvSpPr txBox="1"/>
          <p:nvPr/>
        </p:nvSpPr>
        <p:spPr>
          <a:xfrm>
            <a:off x="1291601" y="3092475"/>
            <a:ext cx="2848500" cy="11103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Store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Status management</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Business plan</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Campaign implementation</a:t>
            </a:r>
            <a:endParaRPr sz="1400" b="0" i="0" u="none" strike="noStrike" cap="none">
              <a:solidFill>
                <a:srgbClr val="000000"/>
              </a:solidFill>
              <a:latin typeface="Plus Jakarta Sans"/>
              <a:ea typeface="Plus Jakarta Sans"/>
              <a:cs typeface="Plus Jakarta Sans"/>
              <a:sym typeface="Plus Jakarta Sans"/>
            </a:endParaRPr>
          </a:p>
        </p:txBody>
      </p:sp>
      <p:grpSp>
        <p:nvGrpSpPr>
          <p:cNvPr id="2640" name="Google Shape;2640;p39"/>
          <p:cNvGrpSpPr/>
          <p:nvPr/>
        </p:nvGrpSpPr>
        <p:grpSpPr>
          <a:xfrm>
            <a:off x="11056975" y="2076170"/>
            <a:ext cx="4552592" cy="3050552"/>
            <a:chOff x="11056975" y="2076170"/>
            <a:chExt cx="4552592" cy="3050552"/>
          </a:xfrm>
        </p:grpSpPr>
        <p:pic>
          <p:nvPicPr>
            <p:cNvPr id="2641" name="Google Shape;2641;p39"/>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11056975" y="2076170"/>
              <a:ext cx="4552592" cy="3050552"/>
            </a:xfrm>
            <a:prstGeom prst="rect">
              <a:avLst/>
            </a:prstGeom>
            <a:noFill/>
            <a:ln>
              <a:noFill/>
            </a:ln>
          </p:spPr>
        </p:pic>
        <p:sp>
          <p:nvSpPr>
            <p:cNvPr id="2642" name="Google Shape;2642;p39"/>
            <p:cNvSpPr/>
            <p:nvPr/>
          </p:nvSpPr>
          <p:spPr>
            <a:xfrm>
              <a:off x="11444392" y="2546137"/>
              <a:ext cx="3778250" cy="2193290"/>
            </a:xfrm>
            <a:custGeom>
              <a:avLst/>
              <a:gdLst/>
              <a:ahLst/>
              <a:cxnLst/>
              <a:rect l="l" t="t" r="r" b="b"/>
              <a:pathLst>
                <a:path w="3778250" h="2193290" extrusionOk="0">
                  <a:moveTo>
                    <a:pt x="3687813" y="0"/>
                  </a:moveTo>
                  <a:lnTo>
                    <a:pt x="89992" y="0"/>
                  </a:lnTo>
                  <a:lnTo>
                    <a:pt x="54965" y="7071"/>
                  </a:lnTo>
                  <a:lnTo>
                    <a:pt x="26360" y="26355"/>
                  </a:lnTo>
                  <a:lnTo>
                    <a:pt x="7072" y="54960"/>
                  </a:lnTo>
                  <a:lnTo>
                    <a:pt x="0" y="89992"/>
                  </a:lnTo>
                  <a:lnTo>
                    <a:pt x="0" y="2103107"/>
                  </a:lnTo>
                  <a:lnTo>
                    <a:pt x="7072" y="2138141"/>
                  </a:lnTo>
                  <a:lnTo>
                    <a:pt x="26360" y="2166750"/>
                  </a:lnTo>
                  <a:lnTo>
                    <a:pt x="54965" y="2186039"/>
                  </a:lnTo>
                  <a:lnTo>
                    <a:pt x="89992" y="2193112"/>
                  </a:lnTo>
                  <a:lnTo>
                    <a:pt x="3687813" y="2193112"/>
                  </a:lnTo>
                  <a:lnTo>
                    <a:pt x="3722847" y="2186039"/>
                  </a:lnTo>
                  <a:lnTo>
                    <a:pt x="3751456" y="2166750"/>
                  </a:lnTo>
                  <a:lnTo>
                    <a:pt x="3770745" y="2138141"/>
                  </a:lnTo>
                  <a:lnTo>
                    <a:pt x="3777818" y="2103107"/>
                  </a:lnTo>
                  <a:lnTo>
                    <a:pt x="3777818" y="89992"/>
                  </a:lnTo>
                  <a:lnTo>
                    <a:pt x="3770745" y="54960"/>
                  </a:lnTo>
                  <a:lnTo>
                    <a:pt x="3751456" y="26355"/>
                  </a:lnTo>
                  <a:lnTo>
                    <a:pt x="3722847" y="7071"/>
                  </a:lnTo>
                  <a:lnTo>
                    <a:pt x="3687813"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3" name="Google Shape;2643;p39"/>
            <p:cNvSpPr/>
            <p:nvPr/>
          </p:nvSpPr>
          <p:spPr>
            <a:xfrm>
              <a:off x="11444389" y="2200018"/>
              <a:ext cx="3778250" cy="875664"/>
            </a:xfrm>
            <a:custGeom>
              <a:avLst/>
              <a:gdLst/>
              <a:ahLst/>
              <a:cxnLst/>
              <a:rect l="l" t="t" r="r" b="b"/>
              <a:pathLst>
                <a:path w="3778250" h="875664" extrusionOk="0">
                  <a:moveTo>
                    <a:pt x="3629990" y="0"/>
                  </a:moveTo>
                  <a:lnTo>
                    <a:pt x="147827" y="0"/>
                  </a:lnTo>
                  <a:lnTo>
                    <a:pt x="101105" y="7535"/>
                  </a:lnTo>
                  <a:lnTo>
                    <a:pt x="60525" y="28520"/>
                  </a:lnTo>
                  <a:lnTo>
                    <a:pt x="28524" y="60520"/>
                  </a:lnTo>
                  <a:lnTo>
                    <a:pt x="7537" y="101100"/>
                  </a:lnTo>
                  <a:lnTo>
                    <a:pt x="0" y="147827"/>
                  </a:lnTo>
                  <a:lnTo>
                    <a:pt x="0" y="708609"/>
                  </a:lnTo>
                  <a:lnTo>
                    <a:pt x="1755876" y="708609"/>
                  </a:lnTo>
                  <a:lnTo>
                    <a:pt x="1888909" y="875169"/>
                  </a:lnTo>
                  <a:lnTo>
                    <a:pt x="2021941" y="708609"/>
                  </a:lnTo>
                  <a:lnTo>
                    <a:pt x="3777818" y="708609"/>
                  </a:lnTo>
                  <a:lnTo>
                    <a:pt x="3777818" y="147827"/>
                  </a:lnTo>
                  <a:lnTo>
                    <a:pt x="3770281" y="101100"/>
                  </a:lnTo>
                  <a:lnTo>
                    <a:pt x="3749293" y="60520"/>
                  </a:lnTo>
                  <a:lnTo>
                    <a:pt x="3717292" y="28520"/>
                  </a:lnTo>
                  <a:lnTo>
                    <a:pt x="3676712" y="7535"/>
                  </a:lnTo>
                  <a:lnTo>
                    <a:pt x="3629990" y="0"/>
                  </a:lnTo>
                  <a:close/>
                </a:path>
              </a:pathLst>
            </a:custGeom>
            <a:solidFill>
              <a:srgbClr val="EB8B1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44" name="Google Shape;2644;p39"/>
          <p:cNvSpPr txBox="1"/>
          <p:nvPr/>
        </p:nvSpPr>
        <p:spPr>
          <a:xfrm>
            <a:off x="12225126" y="2231875"/>
            <a:ext cx="2525700" cy="679800"/>
          </a:xfrm>
          <a:prstGeom prst="rect">
            <a:avLst/>
          </a:prstGeom>
          <a:noFill/>
          <a:ln>
            <a:noFill/>
          </a:ln>
        </p:spPr>
        <p:txBody>
          <a:bodyPr spcFirstLastPara="1" wrap="square" lIns="0" tIns="63500" rIns="0" bIns="0" anchor="t" anchorCtr="0">
            <a:spAutoFit/>
          </a:bodyPr>
          <a:lstStyle/>
          <a:p>
            <a:pPr marL="579755" marR="5080" lvl="0" indent="-56769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Franchise Partner Manager</a:t>
            </a:r>
            <a:endParaRPr sz="2000" b="0" i="0" u="none" strike="noStrike" cap="none">
              <a:solidFill>
                <a:srgbClr val="000000"/>
              </a:solidFill>
              <a:latin typeface="Plus Jakarta Sans"/>
              <a:ea typeface="Plus Jakarta Sans"/>
              <a:cs typeface="Plus Jakarta Sans"/>
              <a:sym typeface="Plus Jakarta Sans"/>
            </a:endParaRPr>
          </a:p>
        </p:txBody>
      </p:sp>
      <p:sp>
        <p:nvSpPr>
          <p:cNvPr id="2645" name="Google Shape;2645;p39"/>
          <p:cNvSpPr txBox="1"/>
          <p:nvPr/>
        </p:nvSpPr>
        <p:spPr>
          <a:xfrm>
            <a:off x="11717801" y="3092475"/>
            <a:ext cx="3216600" cy="561300"/>
          </a:xfrm>
          <a:prstGeom prst="rect">
            <a:avLst/>
          </a:prstGeom>
          <a:noFill/>
          <a:ln>
            <a:noFill/>
          </a:ln>
        </p:spPr>
        <p:txBody>
          <a:bodyPr spcFirstLastPara="1" wrap="square" lIns="0" tIns="71100" rIns="0" bIns="0" anchor="t" anchorCtr="0">
            <a:spAutoFit/>
          </a:bodyPr>
          <a:lstStyle/>
          <a:p>
            <a:pPr marL="224790" marR="0" lvl="0" indent="-212725" algn="l" rtl="0">
              <a:lnSpc>
                <a:spcPct val="100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Management status conﬁrmation</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00000"/>
              </a:lnSpc>
              <a:spcBef>
                <a:spcPts val="45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Store support</a:t>
            </a:r>
            <a:endParaRPr sz="1400" b="0" i="0" u="none" strike="noStrike" cap="none">
              <a:solidFill>
                <a:srgbClr val="000000"/>
              </a:solidFill>
              <a:latin typeface="Plus Jakarta Sans"/>
              <a:ea typeface="Plus Jakarta Sans"/>
              <a:cs typeface="Plus Jakarta Sans"/>
              <a:sym typeface="Plus Jakarta Sans"/>
            </a:endParaRPr>
          </a:p>
        </p:txBody>
      </p:sp>
      <p:grpSp>
        <p:nvGrpSpPr>
          <p:cNvPr id="2646" name="Google Shape;2646;p39"/>
          <p:cNvGrpSpPr/>
          <p:nvPr/>
        </p:nvGrpSpPr>
        <p:grpSpPr>
          <a:xfrm>
            <a:off x="5844705" y="5544311"/>
            <a:ext cx="4552529" cy="3050549"/>
            <a:chOff x="5844705" y="5544311"/>
            <a:chExt cx="4552529" cy="3050549"/>
          </a:xfrm>
        </p:grpSpPr>
        <p:pic>
          <p:nvPicPr>
            <p:cNvPr id="2647" name="Google Shape;2647;p39"/>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5844705" y="5544311"/>
              <a:ext cx="4552529" cy="3050549"/>
            </a:xfrm>
            <a:prstGeom prst="rect">
              <a:avLst/>
            </a:prstGeom>
            <a:noFill/>
            <a:ln>
              <a:noFill/>
            </a:ln>
          </p:spPr>
        </p:pic>
        <p:sp>
          <p:nvSpPr>
            <p:cNvPr id="2648" name="Google Shape;2648;p39"/>
            <p:cNvSpPr/>
            <p:nvPr/>
          </p:nvSpPr>
          <p:spPr>
            <a:xfrm>
              <a:off x="6231995" y="6014271"/>
              <a:ext cx="3778250" cy="2193290"/>
            </a:xfrm>
            <a:custGeom>
              <a:avLst/>
              <a:gdLst/>
              <a:ahLst/>
              <a:cxnLst/>
              <a:rect l="l" t="t" r="r" b="b"/>
              <a:pathLst>
                <a:path w="3778250" h="2193290" extrusionOk="0">
                  <a:moveTo>
                    <a:pt x="3687813" y="0"/>
                  </a:moveTo>
                  <a:lnTo>
                    <a:pt x="89992" y="0"/>
                  </a:lnTo>
                  <a:lnTo>
                    <a:pt x="54965" y="7071"/>
                  </a:lnTo>
                  <a:lnTo>
                    <a:pt x="26360" y="26355"/>
                  </a:lnTo>
                  <a:lnTo>
                    <a:pt x="7072" y="54960"/>
                  </a:lnTo>
                  <a:lnTo>
                    <a:pt x="0" y="89992"/>
                  </a:lnTo>
                  <a:lnTo>
                    <a:pt x="0" y="2103107"/>
                  </a:lnTo>
                  <a:lnTo>
                    <a:pt x="7072" y="2138141"/>
                  </a:lnTo>
                  <a:lnTo>
                    <a:pt x="26360" y="2166750"/>
                  </a:lnTo>
                  <a:lnTo>
                    <a:pt x="54965" y="2186039"/>
                  </a:lnTo>
                  <a:lnTo>
                    <a:pt x="89992" y="2193112"/>
                  </a:lnTo>
                  <a:lnTo>
                    <a:pt x="3687813" y="2193112"/>
                  </a:lnTo>
                  <a:lnTo>
                    <a:pt x="3722847" y="2186039"/>
                  </a:lnTo>
                  <a:lnTo>
                    <a:pt x="3751456" y="2166750"/>
                  </a:lnTo>
                  <a:lnTo>
                    <a:pt x="3770745" y="2138141"/>
                  </a:lnTo>
                  <a:lnTo>
                    <a:pt x="3777818" y="2103107"/>
                  </a:lnTo>
                  <a:lnTo>
                    <a:pt x="3777818" y="89992"/>
                  </a:lnTo>
                  <a:lnTo>
                    <a:pt x="3770745" y="54960"/>
                  </a:lnTo>
                  <a:lnTo>
                    <a:pt x="3751456" y="26355"/>
                  </a:lnTo>
                  <a:lnTo>
                    <a:pt x="3722847" y="7071"/>
                  </a:lnTo>
                  <a:lnTo>
                    <a:pt x="3687813"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9" name="Google Shape;2649;p39"/>
            <p:cNvSpPr/>
            <p:nvPr/>
          </p:nvSpPr>
          <p:spPr>
            <a:xfrm>
              <a:off x="6231991" y="5668152"/>
              <a:ext cx="3778250" cy="875665"/>
            </a:xfrm>
            <a:custGeom>
              <a:avLst/>
              <a:gdLst/>
              <a:ahLst/>
              <a:cxnLst/>
              <a:rect l="l" t="t" r="r" b="b"/>
              <a:pathLst>
                <a:path w="3778250" h="875665" extrusionOk="0">
                  <a:moveTo>
                    <a:pt x="3629990" y="0"/>
                  </a:moveTo>
                  <a:lnTo>
                    <a:pt x="147827" y="0"/>
                  </a:lnTo>
                  <a:lnTo>
                    <a:pt x="101105" y="7535"/>
                  </a:lnTo>
                  <a:lnTo>
                    <a:pt x="60525" y="28520"/>
                  </a:lnTo>
                  <a:lnTo>
                    <a:pt x="28524" y="60520"/>
                  </a:lnTo>
                  <a:lnTo>
                    <a:pt x="7537" y="101100"/>
                  </a:lnTo>
                  <a:lnTo>
                    <a:pt x="0" y="147827"/>
                  </a:lnTo>
                  <a:lnTo>
                    <a:pt x="0" y="708609"/>
                  </a:lnTo>
                  <a:lnTo>
                    <a:pt x="1755876" y="708609"/>
                  </a:lnTo>
                  <a:lnTo>
                    <a:pt x="1888909" y="875169"/>
                  </a:lnTo>
                  <a:lnTo>
                    <a:pt x="2021941" y="708609"/>
                  </a:lnTo>
                  <a:lnTo>
                    <a:pt x="3777818" y="708609"/>
                  </a:lnTo>
                  <a:lnTo>
                    <a:pt x="3777818" y="147827"/>
                  </a:lnTo>
                  <a:lnTo>
                    <a:pt x="3770281" y="101100"/>
                  </a:lnTo>
                  <a:lnTo>
                    <a:pt x="3749293" y="60520"/>
                  </a:lnTo>
                  <a:lnTo>
                    <a:pt x="3717292" y="28520"/>
                  </a:lnTo>
                  <a:lnTo>
                    <a:pt x="3676712" y="7535"/>
                  </a:lnTo>
                  <a:lnTo>
                    <a:pt x="3629990" y="0"/>
                  </a:lnTo>
                  <a:close/>
                </a:path>
              </a:pathLst>
            </a:custGeom>
            <a:solidFill>
              <a:srgbClr val="038F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50" name="Google Shape;2650;p39"/>
          <p:cNvSpPr txBox="1"/>
          <p:nvPr/>
        </p:nvSpPr>
        <p:spPr>
          <a:xfrm>
            <a:off x="6505401" y="6844140"/>
            <a:ext cx="2525700" cy="759460"/>
          </a:xfrm>
          <a:prstGeom prst="rect">
            <a:avLst/>
          </a:prstGeom>
          <a:noFill/>
          <a:ln>
            <a:noFill/>
          </a:ln>
        </p:spPr>
        <p:txBody>
          <a:bodyPr spcFirstLastPara="1" wrap="square" lIns="0" tIns="12700" rIns="0" bIns="0" anchor="t" anchorCtr="0">
            <a:spAutoFit/>
          </a:bodyPr>
          <a:lstStyle/>
          <a:p>
            <a:pPr marL="342900" marR="0" lvl="0" indent="-342900" algn="l" rtl="0">
              <a:lnSpc>
                <a:spcPct val="100000"/>
              </a:lnSpc>
              <a:spcBef>
                <a:spcPts val="40"/>
              </a:spcBef>
              <a:spcAft>
                <a:spcPts val="0"/>
              </a:spcAft>
              <a:buClr>
                <a:srgbClr val="000000"/>
              </a:buClr>
              <a:buSzPts val="2050"/>
              <a:buFont typeface="Arial"/>
              <a:buChar char="•"/>
            </a:pPr>
            <a:r>
              <a:rPr lang="en-US" sz="2100" b="0" i="0" u="none" strike="noStrike" cap="none" baseline="30000">
                <a:solidFill>
                  <a:srgbClr val="4D4D4F"/>
                </a:solidFill>
                <a:latin typeface="Plus Jakarta Sans"/>
                <a:ea typeface="Plus Jakarta Sans"/>
                <a:cs typeface="Plus Jakarta Sans"/>
                <a:sym typeface="Plus Jakarta Sans"/>
              </a:rPr>
              <a:t>Accounting (POS)</a:t>
            </a:r>
            <a:endParaRPr sz="2100" b="0" i="0" u="none" strike="noStrike" cap="none" baseline="30000">
              <a:solidFill>
                <a:srgbClr val="000000"/>
              </a:solidFill>
              <a:latin typeface="Plus Jakarta Sans"/>
              <a:ea typeface="Plus Jakarta Sans"/>
              <a:cs typeface="Plus Jakarta Sans"/>
              <a:sym typeface="Plus Jakarta Sans"/>
            </a:endParaRPr>
          </a:p>
          <a:p>
            <a:pPr marL="354965" marR="0" lvl="0" indent="-342900" algn="l" rtl="0">
              <a:lnSpc>
                <a:spcPct val="100000"/>
              </a:lnSpc>
              <a:spcBef>
                <a:spcPts val="460"/>
              </a:spcBef>
              <a:spcAft>
                <a:spcPts val="0"/>
              </a:spcAft>
              <a:buClr>
                <a:srgbClr val="4D4D4F"/>
              </a:buClr>
              <a:buSzPts val="2100"/>
              <a:buFont typeface="Arial"/>
              <a:buChar char="•"/>
            </a:pPr>
            <a:r>
              <a:rPr lang="en-US" sz="2100" b="0" i="0" u="none" strike="noStrike" cap="none" baseline="30000">
                <a:solidFill>
                  <a:srgbClr val="4D4D4F"/>
                </a:solidFill>
                <a:latin typeface="Plus Jakarta Sans"/>
                <a:ea typeface="Plus Jakarta Sans"/>
                <a:cs typeface="Plus Jakarta Sans"/>
                <a:sym typeface="Plus Jakarta Sans"/>
              </a:rPr>
              <a:t>Import management</a:t>
            </a:r>
            <a:endParaRPr sz="2100" b="0" i="0" u="none" strike="noStrike" cap="none" baseline="30000">
              <a:solidFill>
                <a:srgbClr val="000000"/>
              </a:solidFill>
              <a:latin typeface="Plus Jakarta Sans"/>
              <a:ea typeface="Plus Jakarta Sans"/>
              <a:cs typeface="Plus Jakarta Sans"/>
              <a:sym typeface="Plus Jakarta Sans"/>
            </a:endParaRPr>
          </a:p>
          <a:p>
            <a:pPr marL="354965" marR="0" lvl="0" indent="-342900" algn="l" rtl="0">
              <a:lnSpc>
                <a:spcPct val="100000"/>
              </a:lnSpc>
              <a:spcBef>
                <a:spcPts val="460"/>
              </a:spcBef>
              <a:spcAft>
                <a:spcPts val="0"/>
              </a:spcAft>
              <a:buClr>
                <a:srgbClr val="4D4D4F"/>
              </a:buClr>
              <a:buSzPts val="2100"/>
              <a:buFont typeface="Arial"/>
              <a:buChar char="•"/>
            </a:pPr>
            <a:r>
              <a:rPr lang="en-US" sz="2100" b="0" i="0" u="none" strike="noStrike" cap="none" baseline="30000">
                <a:solidFill>
                  <a:srgbClr val="4D4D4F"/>
                </a:solidFill>
                <a:latin typeface="Plus Jakarta Sans"/>
                <a:ea typeface="Plus Jakarta Sans"/>
                <a:cs typeface="Plus Jakarta Sans"/>
                <a:sym typeface="Plus Jakarta Sans"/>
              </a:rPr>
              <a:t>Product inspection</a:t>
            </a:r>
            <a:endParaRPr sz="2100" b="0" i="0" u="none" strike="noStrike" cap="none" baseline="30000">
              <a:solidFill>
                <a:srgbClr val="000000"/>
              </a:solidFill>
              <a:latin typeface="Plus Jakarta Sans"/>
              <a:ea typeface="Plus Jakarta Sans"/>
              <a:cs typeface="Plus Jakarta Sans"/>
              <a:sym typeface="Plus Jakarta Sans"/>
            </a:endParaRPr>
          </a:p>
        </p:txBody>
      </p:sp>
      <p:pic>
        <p:nvPicPr>
          <p:cNvPr id="2651" name="Google Shape;2651;p39"/>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4140197" y="4099064"/>
            <a:ext cx="810960" cy="808383"/>
          </a:xfrm>
          <a:prstGeom prst="rect">
            <a:avLst/>
          </a:prstGeom>
          <a:noFill/>
          <a:ln>
            <a:noFill/>
          </a:ln>
        </p:spPr>
      </p:pic>
      <p:pic>
        <p:nvPicPr>
          <p:cNvPr id="2652" name="Google Shape;2652;p39"/>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9366768" y="4099064"/>
            <a:ext cx="810961" cy="808383"/>
          </a:xfrm>
          <a:prstGeom prst="rect">
            <a:avLst/>
          </a:prstGeom>
          <a:noFill/>
          <a:ln>
            <a:noFill/>
          </a:ln>
        </p:spPr>
      </p:pic>
      <p:pic>
        <p:nvPicPr>
          <p:cNvPr id="2653" name="Google Shape;2653;p39"/>
          <p:cNvPicPr preferRelativeResize="0"/>
          <p:nvPr/>
        </p:nvPicPr>
        <p:blipFill rotWithShape="1">
          <a:blip r:embed="rId10" cstate="email">
            <a:alphaModFix/>
            <a:extLst>
              <a:ext uri="{28A0092B-C50C-407E-A947-70E740481C1C}">
                <a14:useLocalDpi xmlns:a14="http://schemas.microsoft.com/office/drawing/2010/main"/>
              </a:ext>
            </a:extLst>
          </a:blip>
          <a:srcRect/>
          <a:stretch/>
        </p:blipFill>
        <p:spPr>
          <a:xfrm>
            <a:off x="14576283" y="4099064"/>
            <a:ext cx="810956" cy="808383"/>
          </a:xfrm>
          <a:prstGeom prst="rect">
            <a:avLst/>
          </a:prstGeom>
          <a:noFill/>
          <a:ln>
            <a:noFill/>
          </a:ln>
        </p:spPr>
      </p:pic>
      <p:sp>
        <p:nvSpPr>
          <p:cNvPr id="2654" name="Google Shape;2654;p39"/>
          <p:cNvSpPr/>
          <p:nvPr/>
        </p:nvSpPr>
        <p:spPr>
          <a:xfrm>
            <a:off x="-255905" y="584835"/>
            <a:ext cx="4488815" cy="1087755"/>
          </a:xfrm>
          <a:custGeom>
            <a:avLst/>
            <a:gdLst/>
            <a:ahLst/>
            <a:cxnLst/>
            <a:rect l="l" t="t" r="r" b="b"/>
            <a:pathLst>
              <a:path w="812800" h="197009" extrusionOk="0">
                <a:moveTo>
                  <a:pt x="0" y="0"/>
                </a:moveTo>
                <a:lnTo>
                  <a:pt x="812800" y="0"/>
                </a:lnTo>
                <a:lnTo>
                  <a:pt x="812800" y="197009"/>
                </a:lnTo>
                <a:lnTo>
                  <a:pt x="0" y="197009"/>
                </a:lnTo>
                <a:close/>
              </a:path>
            </a:pathLst>
          </a:custGeom>
          <a:solidFill>
            <a:srgbClr val="003A86"/>
          </a:solidFill>
          <a:ln>
            <a:noFill/>
          </a:ln>
        </p:spPr>
      </p:sp>
      <p:sp>
        <p:nvSpPr>
          <p:cNvPr id="2655" name="Google Shape;2655;p39"/>
          <p:cNvSpPr txBox="1"/>
          <p:nvPr/>
        </p:nvSpPr>
        <p:spPr>
          <a:xfrm>
            <a:off x="281940" y="775653"/>
            <a:ext cx="3857625" cy="707390"/>
          </a:xfrm>
          <a:prstGeom prst="rect">
            <a:avLst/>
          </a:prstGeom>
          <a:noFill/>
          <a:ln>
            <a:noFill/>
          </a:ln>
        </p:spPr>
        <p:txBody>
          <a:bodyPr spcFirstLastPara="1" wrap="square" lIns="0" tIns="0" rIns="0" bIns="0" anchor="ctr" anchorCtr="0">
            <a:spAutoFit/>
          </a:bodyPr>
          <a:lstStyle/>
          <a:p>
            <a:pPr marL="19685" marR="0" lvl="0" indent="0" algn="l" rtl="0">
              <a:lnSpc>
                <a:spcPct val="100000"/>
              </a:lnSpc>
              <a:spcBef>
                <a:spcPts val="140"/>
              </a:spcBef>
              <a:spcAft>
                <a:spcPts val="0"/>
              </a:spcAft>
              <a:buClr>
                <a:srgbClr val="000000"/>
              </a:buClr>
              <a:buSzPts val="1400"/>
              <a:buFont typeface="Arial"/>
              <a:buNone/>
            </a:pPr>
            <a:r>
              <a:rPr lang="en-US" sz="2300" b="1" i="0" u="none" strike="noStrike" cap="none">
                <a:solidFill>
                  <a:schemeClr val="lt1"/>
                </a:solidFill>
                <a:latin typeface="Inter"/>
                <a:ea typeface="Inter"/>
                <a:cs typeface="Inter"/>
                <a:sym typeface="Inter"/>
              </a:rPr>
              <a:t>OPERATIONS MANAGEMENT</a:t>
            </a:r>
            <a:endParaRPr sz="2300" b="1" i="0" u="none" strike="noStrike" cap="none">
              <a:solidFill>
                <a:schemeClr val="lt1"/>
              </a:solidFill>
              <a:latin typeface="Inter"/>
              <a:ea typeface="Inter"/>
              <a:cs typeface="Inter"/>
              <a:sym typeface="Inter"/>
            </a:endParaRPr>
          </a:p>
        </p:txBody>
      </p:sp>
      <p:sp>
        <p:nvSpPr>
          <p:cNvPr id="2656" name="Google Shape;2656;p39"/>
          <p:cNvSpPr txBox="1"/>
          <p:nvPr/>
        </p:nvSpPr>
        <p:spPr>
          <a:xfrm>
            <a:off x="4738820" y="691004"/>
            <a:ext cx="11298600" cy="62547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 </a:t>
            </a:r>
            <a:r>
              <a:rPr lang="en-US" sz="2500" b="1" i="0" u="none" strike="noStrike" cap="none">
                <a:solidFill>
                  <a:srgbClr val="004AAD"/>
                </a:solidFill>
                <a:latin typeface="Inter"/>
                <a:ea typeface="Inter"/>
                <a:cs typeface="Inter"/>
                <a:sym typeface="Inter"/>
              </a:rPr>
              <a:t>COMPREHENSIVE RETAIL SYSTEM DEVELOPMENT (3/4)</a:t>
            </a:r>
            <a:endParaRPr sz="2500" b="1" i="0" u="none" strike="noStrike" cap="none">
              <a:solidFill>
                <a:srgbClr val="004AAD"/>
              </a:solidFill>
              <a:latin typeface="Inter"/>
              <a:ea typeface="Inter"/>
              <a:cs typeface="Inter"/>
              <a:sym typeface="Inter"/>
            </a:endParaRPr>
          </a:p>
          <a:p>
            <a:pPr marL="0" marR="0" lvl="0" indent="0" algn="l" rtl="0">
              <a:lnSpc>
                <a:spcPct val="110000"/>
              </a:lnSpc>
              <a:spcBef>
                <a:spcPts val="0"/>
              </a:spcBef>
              <a:spcAft>
                <a:spcPts val="0"/>
              </a:spcAft>
              <a:buClr>
                <a:srgbClr val="000000"/>
              </a:buClr>
              <a:buSzPts val="2500"/>
              <a:buFont typeface="Arial"/>
              <a:buNone/>
            </a:pPr>
            <a:endParaRPr sz="1200" b="0" i="0" u="none" strike="noStrike" cap="none">
              <a:solidFill>
                <a:srgbClr val="000000"/>
              </a:solidFill>
              <a:latin typeface="Arial"/>
              <a:ea typeface="Arial"/>
              <a:cs typeface="Arial"/>
              <a:sym typeface="Arial"/>
            </a:endParaRPr>
          </a:p>
        </p:txBody>
      </p:sp>
      <p:sp>
        <p:nvSpPr>
          <p:cNvPr id="2657" name="Google Shape;2657;p39"/>
          <p:cNvSpPr txBox="1"/>
          <p:nvPr/>
        </p:nvSpPr>
        <p:spPr>
          <a:xfrm>
            <a:off x="6766197" y="5786120"/>
            <a:ext cx="2709545" cy="3987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Plus Jakarta Sans"/>
                <a:ea typeface="Plus Jakarta Sans"/>
                <a:cs typeface="Plus Jakarta Sans"/>
                <a:sym typeface="Plus Jakarta Sans"/>
              </a:rPr>
              <a:t>Employee</a:t>
            </a:r>
            <a:endParaRPr sz="2000" b="1" i="0" u="none" strike="noStrike" cap="none">
              <a:solidFill>
                <a:srgbClr val="FFFFFF"/>
              </a:solidFill>
              <a:latin typeface="Plus Jakarta Sans"/>
              <a:ea typeface="Plus Jakarta Sans"/>
              <a:cs typeface="Plus Jakarta Sans"/>
              <a:sym typeface="Plus Jakarta Sans"/>
            </a:endParaRPr>
          </a:p>
        </p:txBody>
      </p:sp>
      <p:sp>
        <p:nvSpPr>
          <p:cNvPr id="2" name="Google Shape;1967;p26">
            <a:extLst>
              <a:ext uri="{FF2B5EF4-FFF2-40B4-BE49-F238E27FC236}">
                <a16:creationId xmlns:a16="http://schemas.microsoft.com/office/drawing/2014/main" id="{846A054D-40CE-B988-6469-D9C9A98560D7}"/>
              </a:ext>
            </a:extLst>
          </p:cNvPr>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11" cstate="email">
              <a:alphaModFix/>
              <a:extLst>
                <a:ext uri="{28A0092B-C50C-407E-A947-70E740481C1C}">
                  <a14:useLocalDpi xmlns:a14="http://schemas.microsoft.com/office/drawing/2010/main"/>
                </a:ext>
              </a:extLst>
            </a:blip>
            <a:stretch>
              <a:fillRect b="-5"/>
            </a:stretch>
          </a:blipFill>
          <a:ln>
            <a:noFill/>
          </a:ln>
        </p:spPr>
      </p:sp>
      <p:grpSp>
        <p:nvGrpSpPr>
          <p:cNvPr id="3" name="Google Shape;1968;p26">
            <a:extLst>
              <a:ext uri="{FF2B5EF4-FFF2-40B4-BE49-F238E27FC236}">
                <a16:creationId xmlns:a16="http://schemas.microsoft.com/office/drawing/2014/main" id="{DA0CBCC1-DB24-3614-E703-B8D783661502}"/>
              </a:ext>
            </a:extLst>
          </p:cNvPr>
          <p:cNvGrpSpPr/>
          <p:nvPr/>
        </p:nvGrpSpPr>
        <p:grpSpPr>
          <a:xfrm>
            <a:off x="872534" y="8351050"/>
            <a:ext cx="846442" cy="699635"/>
            <a:chOff x="0" y="0"/>
            <a:chExt cx="1269600" cy="1049400"/>
          </a:xfrm>
        </p:grpSpPr>
        <p:sp>
          <p:nvSpPr>
            <p:cNvPr id="4" name="Google Shape;1969;p26">
              <a:extLst>
                <a:ext uri="{FF2B5EF4-FFF2-40B4-BE49-F238E27FC236}">
                  <a16:creationId xmlns:a16="http://schemas.microsoft.com/office/drawing/2014/main" id="{BA0B3156-6BE3-24A5-5656-5B6C29F80C1B}"/>
                </a:ext>
              </a:extLst>
            </p:cNvPr>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5" name="Google Shape;1970;p26">
              <a:extLst>
                <a:ext uri="{FF2B5EF4-FFF2-40B4-BE49-F238E27FC236}">
                  <a16:creationId xmlns:a16="http://schemas.microsoft.com/office/drawing/2014/main" id="{E30ED1D8-CFB7-A9A1-85E7-E6D10ABDEDA7}"/>
                </a:ext>
              </a:extLst>
            </p:cNvPr>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dirty="0">
                  <a:solidFill>
                    <a:srgbClr val="585858"/>
                  </a:solidFill>
                  <a:latin typeface="Inter"/>
                  <a:ea typeface="Inter"/>
                  <a:sym typeface="Inter"/>
                </a:rPr>
                <a:t>38</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61"/>
        <p:cNvGrpSpPr/>
        <p:nvPr/>
      </p:nvGrpSpPr>
      <p:grpSpPr>
        <a:xfrm>
          <a:off x="0" y="0"/>
          <a:ext cx="0" cy="0"/>
          <a:chOff x="0" y="0"/>
          <a:chExt cx="0" cy="0"/>
        </a:xfrm>
      </p:grpSpPr>
      <p:sp>
        <p:nvSpPr>
          <p:cNvPr id="2662" name="Google Shape;2662;p43"/>
          <p:cNvSpPr/>
          <p:nvPr/>
        </p:nvSpPr>
        <p:spPr>
          <a:xfrm>
            <a:off x="960120" y="676275"/>
            <a:ext cx="922655" cy="922655"/>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A86"/>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3" name="Google Shape;2663;p43"/>
          <p:cNvSpPr txBox="1"/>
          <p:nvPr/>
        </p:nvSpPr>
        <p:spPr>
          <a:xfrm>
            <a:off x="1147478" y="937578"/>
            <a:ext cx="547800" cy="4000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lt1"/>
                </a:solidFill>
                <a:latin typeface="Inter"/>
                <a:ea typeface="Inter"/>
                <a:cs typeface="Inter"/>
                <a:sym typeface="Inter"/>
              </a:rPr>
              <a:t>0</a:t>
            </a:r>
            <a:r>
              <a:rPr lang="en-US" sz="2600" b="1">
                <a:solidFill>
                  <a:schemeClr val="lt1"/>
                </a:solidFill>
                <a:latin typeface="Inter"/>
                <a:ea typeface="Inter"/>
                <a:cs typeface="Inter"/>
                <a:sym typeface="Inter"/>
              </a:rPr>
              <a:t>5</a:t>
            </a:r>
            <a:endParaRPr sz="2600" b="1" i="0" u="none" strike="noStrike" cap="none">
              <a:solidFill>
                <a:schemeClr val="lt1"/>
              </a:solidFill>
              <a:latin typeface="Inter"/>
              <a:ea typeface="Inter"/>
              <a:cs typeface="Inter"/>
              <a:sym typeface="Inter"/>
            </a:endParaRPr>
          </a:p>
        </p:txBody>
      </p:sp>
      <p:sp>
        <p:nvSpPr>
          <p:cNvPr id="2664" name="Google Shape;2664;p43"/>
          <p:cNvSpPr txBox="1"/>
          <p:nvPr/>
        </p:nvSpPr>
        <p:spPr>
          <a:xfrm>
            <a:off x="2206625" y="714693"/>
            <a:ext cx="7257415" cy="84582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 </a:t>
            </a:r>
            <a:r>
              <a:rPr lang="en-US" sz="2500" b="1" i="0" u="none" strike="noStrike" cap="none">
                <a:solidFill>
                  <a:srgbClr val="0050AB"/>
                </a:solidFill>
                <a:latin typeface="Inter"/>
                <a:ea typeface="Inter"/>
                <a:cs typeface="Inter"/>
                <a:sym typeface="Inter"/>
              </a:rPr>
              <a:t>AI-BASED DEMAND FORECASTING SYSTEM</a:t>
            </a:r>
            <a:endParaRPr sz="1200" b="1" i="0" u="none" strike="noStrike" cap="none">
              <a:solidFill>
                <a:srgbClr val="000000"/>
              </a:solidFill>
              <a:latin typeface="Arial"/>
              <a:ea typeface="Arial"/>
              <a:cs typeface="Arial"/>
              <a:sym typeface="Arial"/>
            </a:endParaRPr>
          </a:p>
        </p:txBody>
      </p:sp>
      <p:grpSp>
        <p:nvGrpSpPr>
          <p:cNvPr id="2665" name="Google Shape;2665;p43"/>
          <p:cNvGrpSpPr/>
          <p:nvPr/>
        </p:nvGrpSpPr>
        <p:grpSpPr>
          <a:xfrm>
            <a:off x="918210" y="2438400"/>
            <a:ext cx="7620000" cy="1400810"/>
            <a:chOff x="1512" y="3840"/>
            <a:chExt cx="12000" cy="2206"/>
          </a:xfrm>
        </p:grpSpPr>
        <p:sp>
          <p:nvSpPr>
            <p:cNvPr id="2666" name="Google Shape;2666;p43"/>
            <p:cNvSpPr txBox="1"/>
            <p:nvPr/>
          </p:nvSpPr>
          <p:spPr>
            <a:xfrm>
              <a:off x="1512" y="4546"/>
              <a:ext cx="12000" cy="15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310"/>
                </a:spcBef>
                <a:spcAft>
                  <a:spcPts val="0"/>
                </a:spcAft>
                <a:buNone/>
              </a:pPr>
              <a:r>
                <a:rPr lang="en-US">
                  <a:solidFill>
                    <a:srgbClr val="4D4D4F"/>
                  </a:solidFill>
                  <a:latin typeface="Plus Jakarta Sans"/>
                  <a:ea typeface="Plus Jakarta Sans"/>
                  <a:cs typeface="Plus Jakarta Sans"/>
                  <a:sym typeface="Plus Jakarta Sans"/>
                </a:rPr>
                <a:t>Customer established a local subsidiary in China in 2001. It has sales bases in Shanghai and Guangzhou, selling textiles in small quantities. They are used as footholds to expand trade not only in the Chinese market but also in the North American, European, and Asian markets and provide support to our customers’ global businesses.</a:t>
              </a:r>
              <a:endParaRPr>
                <a:solidFill>
                  <a:srgbClr val="4D4D4F"/>
                </a:solidFill>
                <a:latin typeface="Plus Jakarta Sans"/>
                <a:ea typeface="Plus Jakarta Sans"/>
                <a:cs typeface="Plus Jakarta Sans"/>
                <a:sym typeface="Plus Jakarta Sans"/>
              </a:endParaRPr>
            </a:p>
          </p:txBody>
        </p:sp>
        <p:cxnSp>
          <p:nvCxnSpPr>
            <p:cNvPr id="2667" name="Google Shape;2667;p43"/>
            <p:cNvCxnSpPr/>
            <p:nvPr/>
          </p:nvCxnSpPr>
          <p:spPr>
            <a:xfrm>
              <a:off x="1512" y="4386"/>
              <a:ext cx="8727"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668" name="Google Shape;2668;p43"/>
            <p:cNvSpPr txBox="1"/>
            <p:nvPr/>
          </p:nvSpPr>
          <p:spPr>
            <a:xfrm>
              <a:off x="1512" y="3840"/>
              <a:ext cx="5100" cy="6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a:solidFill>
                    <a:srgbClr val="3A3A3A"/>
                  </a:solidFill>
                  <a:latin typeface="Inter"/>
                  <a:ea typeface="Inter"/>
                  <a:cs typeface="Inter"/>
                  <a:sym typeface="Inter"/>
                </a:rPr>
                <a:t>Client Overview</a:t>
              </a:r>
              <a:endParaRPr sz="1200" b="0" i="0" u="none" strike="noStrike" cap="none">
                <a:solidFill>
                  <a:srgbClr val="000000"/>
                </a:solidFill>
                <a:latin typeface="Arial"/>
                <a:ea typeface="Arial"/>
                <a:cs typeface="Arial"/>
                <a:sym typeface="Arial"/>
              </a:endParaRPr>
            </a:p>
          </p:txBody>
        </p:sp>
      </p:grpSp>
      <p:grpSp>
        <p:nvGrpSpPr>
          <p:cNvPr id="2669" name="Google Shape;2669;p43"/>
          <p:cNvGrpSpPr/>
          <p:nvPr/>
        </p:nvGrpSpPr>
        <p:grpSpPr>
          <a:xfrm>
            <a:off x="918210" y="6009246"/>
            <a:ext cx="8191500" cy="2011045"/>
            <a:chOff x="1446" y="10013"/>
            <a:chExt cx="12900" cy="3167"/>
          </a:xfrm>
        </p:grpSpPr>
        <p:cxnSp>
          <p:nvCxnSpPr>
            <p:cNvPr id="2670" name="Google Shape;2670;p43"/>
            <p:cNvCxnSpPr/>
            <p:nvPr/>
          </p:nvCxnSpPr>
          <p:spPr>
            <a:xfrm>
              <a:off x="1446" y="10577"/>
              <a:ext cx="8727"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671" name="Google Shape;2671;p43"/>
            <p:cNvSpPr txBox="1"/>
            <p:nvPr/>
          </p:nvSpPr>
          <p:spPr>
            <a:xfrm>
              <a:off x="1446" y="10013"/>
              <a:ext cx="5100" cy="6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a:solidFill>
                    <a:srgbClr val="3A3A3A"/>
                  </a:solidFill>
                  <a:latin typeface="Inter"/>
                  <a:ea typeface="Inter"/>
                  <a:cs typeface="Inter"/>
                  <a:sym typeface="Inter"/>
                </a:rPr>
                <a:t>Solution from VTI</a:t>
              </a:r>
              <a:endParaRPr sz="1200" b="0" i="0" u="none" strike="noStrike" cap="none">
                <a:solidFill>
                  <a:srgbClr val="000000"/>
                </a:solidFill>
                <a:latin typeface="Arial"/>
                <a:ea typeface="Arial"/>
                <a:cs typeface="Arial"/>
                <a:sym typeface="Arial"/>
              </a:endParaRPr>
            </a:p>
          </p:txBody>
        </p:sp>
        <p:sp>
          <p:nvSpPr>
            <p:cNvPr id="2672" name="Google Shape;2672;p43"/>
            <p:cNvSpPr txBox="1"/>
            <p:nvPr/>
          </p:nvSpPr>
          <p:spPr>
            <a:xfrm>
              <a:off x="1446" y="10780"/>
              <a:ext cx="12900" cy="2400"/>
            </a:xfrm>
            <a:prstGeom prst="rect">
              <a:avLst/>
            </a:prstGeom>
            <a:noFill/>
            <a:ln>
              <a:noFill/>
            </a:ln>
          </p:spPr>
          <p:txBody>
            <a:bodyPr spcFirstLastPara="1" wrap="square" lIns="91425" tIns="45700" rIns="91425" bIns="45700" anchor="t" anchorCtr="0">
              <a:spAutoFit/>
            </a:bodyPr>
            <a:lstStyle/>
            <a:p>
              <a:pPr marL="0" marR="821689" lvl="0" indent="0" algn="l" rtl="0">
                <a:lnSpc>
                  <a:spcPct val="115000"/>
                </a:lnSpc>
                <a:spcBef>
                  <a:spcPts val="0"/>
                </a:spcBef>
                <a:spcAft>
                  <a:spcPts val="0"/>
                </a:spcAft>
                <a:buNone/>
              </a:pPr>
              <a:r>
                <a:rPr lang="en-US">
                  <a:solidFill>
                    <a:srgbClr val="4D4D4F"/>
                  </a:solidFill>
                  <a:latin typeface="Plus Jakarta Sans"/>
                  <a:ea typeface="Plus Jakarta Sans"/>
                  <a:cs typeface="Plus Jakarta Sans"/>
                  <a:sym typeface="Plus Jakarta Sans"/>
                </a:rPr>
                <a:t>Develop an automated demand volume forecasting solution  based on AI/ML, which helps to:</a:t>
              </a:r>
              <a:endParaRPr>
                <a:solidFill>
                  <a:srgbClr val="4D4D4F"/>
                </a:solidFill>
                <a:latin typeface="Plus Jakarta Sans"/>
                <a:ea typeface="Plus Jakarta Sans"/>
                <a:cs typeface="Plus Jakarta Sans"/>
                <a:sym typeface="Plus Jakarta Sans"/>
              </a:endParaRPr>
            </a:p>
            <a:p>
              <a:pPr marL="224790" marR="821689" lvl="0" indent="-212725" algn="l" rtl="0">
                <a:lnSpc>
                  <a:spcPct val="115000"/>
                </a:lnSpc>
                <a:spcBef>
                  <a:spcPts val="0"/>
                </a:spcBef>
                <a:spcAft>
                  <a:spcPts val="0"/>
                </a:spcAft>
                <a:buClr>
                  <a:srgbClr val="4D4D4F"/>
                </a:buClr>
                <a:buSzPts val="1400"/>
                <a:buFont typeface="Plus Jakarta Sans"/>
                <a:buChar char="•"/>
              </a:pPr>
              <a:r>
                <a:rPr lang="en-US">
                  <a:solidFill>
                    <a:srgbClr val="4D4D4F"/>
                  </a:solidFill>
                  <a:latin typeface="Plus Jakarta Sans"/>
                  <a:ea typeface="Plus Jakarta Sans"/>
                  <a:cs typeface="Plus Jakarta Sans"/>
                  <a:sym typeface="Plus Jakarta Sans"/>
                </a:rPr>
                <a:t>Forecast the quantity of products for the next month, and the demand for each month, from T+1 to T+6</a:t>
              </a:r>
              <a:endParaRPr>
                <a:solidFill>
                  <a:srgbClr val="4D4D4F"/>
                </a:solidFill>
                <a:latin typeface="Plus Jakarta Sans"/>
                <a:ea typeface="Plus Jakarta Sans"/>
                <a:cs typeface="Plus Jakarta Sans"/>
                <a:sym typeface="Plus Jakarta Sans"/>
              </a:endParaRPr>
            </a:p>
            <a:p>
              <a:pPr marL="224790" marR="821689" lvl="0" indent="-212725" algn="l" rtl="0">
                <a:lnSpc>
                  <a:spcPct val="115000"/>
                </a:lnSpc>
                <a:spcBef>
                  <a:spcPts val="0"/>
                </a:spcBef>
                <a:spcAft>
                  <a:spcPts val="0"/>
                </a:spcAft>
                <a:buClr>
                  <a:srgbClr val="4D4D4F"/>
                </a:buClr>
                <a:buSzPts val="1400"/>
                <a:buFont typeface="Plus Jakarta Sans"/>
                <a:buChar char="•"/>
              </a:pPr>
              <a:r>
                <a:rPr lang="en-US">
                  <a:solidFill>
                    <a:srgbClr val="4D4D4F"/>
                  </a:solidFill>
                  <a:latin typeface="Plus Jakarta Sans"/>
                  <a:ea typeface="Plus Jakarta Sans"/>
                  <a:cs typeface="Plus Jakarta Sans"/>
                  <a:sym typeface="Plus Jakarta Sans"/>
                </a:rPr>
                <a:t>The forecast results are used weekly, with an update frequency of once per week</a:t>
              </a:r>
              <a:endParaRPr>
                <a:solidFill>
                  <a:srgbClr val="4D4D4F"/>
                </a:solidFill>
                <a:latin typeface="Plus Jakarta Sans"/>
                <a:ea typeface="Plus Jakarta Sans"/>
                <a:cs typeface="Plus Jakarta Sans"/>
                <a:sym typeface="Plus Jakarta Sans"/>
              </a:endParaRPr>
            </a:p>
            <a:p>
              <a:pPr marL="224790" marR="821689" lvl="0" indent="-212725" algn="l" rtl="0">
                <a:lnSpc>
                  <a:spcPct val="115000"/>
                </a:lnSpc>
                <a:spcBef>
                  <a:spcPts val="0"/>
                </a:spcBef>
                <a:spcAft>
                  <a:spcPts val="0"/>
                </a:spcAft>
                <a:buClr>
                  <a:srgbClr val="4D4D4F"/>
                </a:buClr>
                <a:buSzPts val="1400"/>
                <a:buFont typeface="Plus Jakarta Sans"/>
                <a:buChar char="•"/>
              </a:pPr>
              <a:r>
                <a:rPr lang="en-US">
                  <a:solidFill>
                    <a:srgbClr val="4D4D4F"/>
                  </a:solidFill>
                  <a:latin typeface="Plus Jakarta Sans"/>
                  <a:ea typeface="Plus Jakarta Sans"/>
                  <a:cs typeface="Plus Jakarta Sans"/>
                  <a:sym typeface="Plus Jakarta Sans"/>
                </a:rPr>
                <a:t>Results suggesting safe stock levels based on the forecasted quantity</a:t>
              </a:r>
              <a:endParaRPr>
                <a:solidFill>
                  <a:srgbClr val="4D4D4F"/>
                </a:solidFill>
                <a:latin typeface="Plus Jakarta Sans"/>
                <a:ea typeface="Plus Jakarta Sans"/>
                <a:cs typeface="Plus Jakarta Sans"/>
                <a:sym typeface="Plus Jakarta Sans"/>
              </a:endParaRPr>
            </a:p>
          </p:txBody>
        </p:sp>
      </p:grpSp>
      <p:grpSp>
        <p:nvGrpSpPr>
          <p:cNvPr id="2673" name="Google Shape;2673;p43"/>
          <p:cNvGrpSpPr/>
          <p:nvPr/>
        </p:nvGrpSpPr>
        <p:grpSpPr>
          <a:xfrm>
            <a:off x="918210" y="3957595"/>
            <a:ext cx="7620000" cy="1591310"/>
            <a:chOff x="1512" y="3840"/>
            <a:chExt cx="12000" cy="2506"/>
          </a:xfrm>
        </p:grpSpPr>
        <p:sp>
          <p:nvSpPr>
            <p:cNvPr id="2674" name="Google Shape;2674;p43"/>
            <p:cNvSpPr txBox="1"/>
            <p:nvPr/>
          </p:nvSpPr>
          <p:spPr>
            <a:xfrm>
              <a:off x="1512" y="4546"/>
              <a:ext cx="12000" cy="18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2005"/>
                </a:spcBef>
                <a:spcAft>
                  <a:spcPts val="0"/>
                </a:spcAft>
                <a:buClr>
                  <a:srgbClr val="000000"/>
                </a:buClr>
                <a:buSzPts val="1400"/>
                <a:buFont typeface="Arial"/>
                <a:buNone/>
              </a:pPr>
              <a:r>
                <a:rPr lang="en-US" sz="1400" b="0" i="0" u="none" strike="noStrike" cap="none">
                  <a:solidFill>
                    <a:srgbClr val="4D4D4F"/>
                  </a:solidFill>
                  <a:latin typeface="Plus Jakarta Sans"/>
                  <a:ea typeface="Plus Jakarta Sans"/>
                  <a:cs typeface="Plus Jakarta Sans"/>
                  <a:sym typeface="Plus Jakarta Sans"/>
                </a:rPr>
                <a:t>Customer is confronting </a:t>
              </a:r>
              <a:r>
                <a:rPr lang="en-US">
                  <a:solidFill>
                    <a:srgbClr val="4D4D4F"/>
                  </a:solidFill>
                  <a:latin typeface="Plus Jakarta Sans"/>
                  <a:ea typeface="Plus Jakarta Sans"/>
                  <a:cs typeface="Plus Jakarta Sans"/>
                  <a:sym typeface="Plus Jakarta Sans"/>
                </a:rPr>
                <a:t>a</a:t>
              </a:r>
              <a:r>
                <a:rPr lang="en-US" sz="1400" b="0" i="0" u="none" strike="noStrike" cap="none">
                  <a:solidFill>
                    <a:srgbClr val="4D4D4F"/>
                  </a:solidFill>
                  <a:latin typeface="Plus Jakarta Sans"/>
                  <a:ea typeface="Plus Jakarta Sans"/>
                  <a:cs typeface="Plus Jakarta Sans"/>
                  <a:sym typeface="Plus Jakarta Sans"/>
                </a:rPr>
                <a:t> issue:</a:t>
              </a:r>
              <a:endParaRPr sz="1400" b="0" i="0" u="none" strike="noStrike" cap="none">
                <a:solidFill>
                  <a:srgbClr val="000000"/>
                </a:solidFill>
                <a:latin typeface="Plus Jakarta Sans"/>
                <a:ea typeface="Plus Jakarta Sans"/>
                <a:cs typeface="Plus Jakarta Sans"/>
                <a:sym typeface="Plus Jakarta Sans"/>
              </a:endParaRPr>
            </a:p>
            <a:p>
              <a:pPr marL="0" marR="5080" lvl="0" indent="0" algn="l" rtl="0">
                <a:lnSpc>
                  <a:spcPct val="153000"/>
                </a:lnSpc>
                <a:spcBef>
                  <a:spcPts val="30"/>
                </a:spcBef>
                <a:spcAft>
                  <a:spcPts val="0"/>
                </a:spcAft>
                <a:buNone/>
              </a:pPr>
              <a:endParaRPr b="1">
                <a:solidFill>
                  <a:srgbClr val="4D4D4F"/>
                </a:solidFill>
                <a:latin typeface="Plus Jakarta Sans"/>
                <a:ea typeface="Plus Jakarta Sans"/>
                <a:cs typeface="Plus Jakarta Sans"/>
                <a:sym typeface="Plus Jakarta Sans"/>
              </a:endParaRPr>
            </a:p>
            <a:p>
              <a:pPr marL="0" marR="5080" lvl="0" indent="0" algn="l" rtl="0">
                <a:lnSpc>
                  <a:spcPct val="153000"/>
                </a:lnSpc>
                <a:spcBef>
                  <a:spcPts val="30"/>
                </a:spcBef>
                <a:spcAft>
                  <a:spcPts val="0"/>
                </a:spcAft>
                <a:buNone/>
              </a:pPr>
              <a:r>
                <a:rPr lang="en-US">
                  <a:solidFill>
                    <a:srgbClr val="4D4D4F"/>
                  </a:solidFill>
                  <a:latin typeface="Plus Jakarta Sans"/>
                  <a:ea typeface="Plus Jakarta Sans"/>
                  <a:cs typeface="Plus Jakarta Sans"/>
                  <a:sym typeface="Plus Jakarta Sans"/>
                </a:rPr>
                <a:t>The</a:t>
              </a:r>
              <a:r>
                <a:rPr lang="en-US" sz="1400" b="0" i="0" u="none" strike="noStrike" cap="none">
                  <a:solidFill>
                    <a:srgbClr val="4D4D4F"/>
                  </a:solidFill>
                  <a:latin typeface="Plus Jakarta Sans"/>
                  <a:ea typeface="Plus Jakarta Sans"/>
                  <a:cs typeface="Plus Jakarta Sans"/>
                  <a:sym typeface="Plus Jakarta Sans"/>
                </a:rPr>
                <a:t> demand forecasting system </a:t>
              </a:r>
              <a:r>
                <a:rPr lang="en-US">
                  <a:solidFill>
                    <a:srgbClr val="4D4D4F"/>
                  </a:solidFill>
                  <a:latin typeface="Plus Jakarta Sans"/>
                  <a:ea typeface="Plus Jakarta Sans"/>
                  <a:cs typeface="Plus Jakarta Sans"/>
                  <a:sym typeface="Plus Jakarta Sans"/>
                </a:rPr>
                <a:t>depends on human experience and analysis</a:t>
              </a:r>
              <a:r>
                <a:rPr lang="en-US" sz="1400" b="0" i="0" u="none" strike="noStrike" cap="none">
                  <a:solidFill>
                    <a:srgbClr val="4D4D4F"/>
                  </a:solidFill>
                  <a:latin typeface="Plus Jakarta Sans"/>
                  <a:ea typeface="Plus Jakarta Sans"/>
                  <a:cs typeface="Plus Jakarta Sans"/>
                  <a:sym typeface="Plus Jakarta Sans"/>
                </a:rPr>
                <a:t> based on purchase data and related product information is of low accuracy. </a:t>
              </a:r>
              <a:endParaRPr sz="1400" b="0" i="0" u="none" strike="noStrike" cap="none">
                <a:solidFill>
                  <a:srgbClr val="000000"/>
                </a:solidFill>
                <a:latin typeface="Plus Jakarta Sans"/>
                <a:ea typeface="Plus Jakarta Sans"/>
                <a:cs typeface="Plus Jakarta Sans"/>
                <a:sym typeface="Plus Jakarta Sans"/>
              </a:endParaRPr>
            </a:p>
          </p:txBody>
        </p:sp>
        <p:cxnSp>
          <p:nvCxnSpPr>
            <p:cNvPr id="2675" name="Google Shape;2675;p43"/>
            <p:cNvCxnSpPr/>
            <p:nvPr/>
          </p:nvCxnSpPr>
          <p:spPr>
            <a:xfrm>
              <a:off x="1512" y="4386"/>
              <a:ext cx="8700" cy="0"/>
            </a:xfrm>
            <a:prstGeom prst="straightConnector1">
              <a:avLst/>
            </a:prstGeom>
            <a:noFill/>
            <a:ln w="19050" cap="flat" cmpd="sng">
              <a:solidFill>
                <a:srgbClr val="3A3A3A">
                  <a:alpha val="28630"/>
                </a:srgbClr>
              </a:solidFill>
              <a:prstDash val="solid"/>
              <a:round/>
              <a:headEnd type="none" w="sm" len="sm"/>
              <a:tailEnd type="none" w="sm" len="sm"/>
            </a:ln>
          </p:spPr>
        </p:cxnSp>
        <p:sp>
          <p:nvSpPr>
            <p:cNvPr id="2676" name="Google Shape;2676;p43"/>
            <p:cNvSpPr txBox="1"/>
            <p:nvPr/>
          </p:nvSpPr>
          <p:spPr>
            <a:xfrm>
              <a:off x="1512" y="3840"/>
              <a:ext cx="5100" cy="6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Challenge</a:t>
              </a:r>
              <a:endParaRPr sz="1200" b="0" i="0" u="none" strike="noStrike" cap="none">
                <a:solidFill>
                  <a:srgbClr val="000000"/>
                </a:solidFill>
                <a:latin typeface="Arial"/>
                <a:ea typeface="Arial"/>
                <a:cs typeface="Arial"/>
                <a:sym typeface="Arial"/>
              </a:endParaRPr>
            </a:p>
          </p:txBody>
        </p:sp>
      </p:grpSp>
      <p:pic>
        <p:nvPicPr>
          <p:cNvPr id="2677" name="Google Shape;2677;p43" title="vti_demand_forecast_transparent.png"/>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9616440" y="152400"/>
            <a:ext cx="4825725" cy="8839200"/>
          </a:xfrm>
          <a:prstGeom prst="rect">
            <a:avLst/>
          </a:prstGeom>
          <a:noFill/>
          <a:ln>
            <a:noFill/>
          </a:ln>
        </p:spPr>
      </p:pic>
      <p:sp>
        <p:nvSpPr>
          <p:cNvPr id="2" name="Google Shape;1967;p26">
            <a:extLst>
              <a:ext uri="{FF2B5EF4-FFF2-40B4-BE49-F238E27FC236}">
                <a16:creationId xmlns:a16="http://schemas.microsoft.com/office/drawing/2014/main" id="{7EC5475A-8652-DC72-215C-00376E4CD1EE}"/>
              </a:ext>
            </a:extLst>
          </p:cNvPr>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b="-5"/>
            </a:stretch>
          </a:blipFill>
          <a:ln>
            <a:noFill/>
          </a:ln>
        </p:spPr>
      </p:sp>
      <p:grpSp>
        <p:nvGrpSpPr>
          <p:cNvPr id="3" name="Google Shape;1968;p26">
            <a:extLst>
              <a:ext uri="{FF2B5EF4-FFF2-40B4-BE49-F238E27FC236}">
                <a16:creationId xmlns:a16="http://schemas.microsoft.com/office/drawing/2014/main" id="{FEB9EB4A-31A8-5064-18EA-657EA861A2C2}"/>
              </a:ext>
            </a:extLst>
          </p:cNvPr>
          <p:cNvGrpSpPr/>
          <p:nvPr/>
        </p:nvGrpSpPr>
        <p:grpSpPr>
          <a:xfrm>
            <a:off x="872534" y="8351050"/>
            <a:ext cx="846442" cy="699635"/>
            <a:chOff x="0" y="0"/>
            <a:chExt cx="1269600" cy="1049400"/>
          </a:xfrm>
        </p:grpSpPr>
        <p:sp>
          <p:nvSpPr>
            <p:cNvPr id="4" name="Google Shape;1969;p26">
              <a:extLst>
                <a:ext uri="{FF2B5EF4-FFF2-40B4-BE49-F238E27FC236}">
                  <a16:creationId xmlns:a16="http://schemas.microsoft.com/office/drawing/2014/main" id="{002F4237-F3B9-62B0-027A-319CCB094471}"/>
                </a:ext>
              </a:extLst>
            </p:cNvPr>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5" name="Google Shape;1970;p26">
              <a:extLst>
                <a:ext uri="{FF2B5EF4-FFF2-40B4-BE49-F238E27FC236}">
                  <a16:creationId xmlns:a16="http://schemas.microsoft.com/office/drawing/2014/main" id="{51F28BAA-2E94-828B-8813-7874CD3CBF06}"/>
                </a:ext>
              </a:extLst>
            </p:cNvPr>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dirty="0">
                  <a:solidFill>
                    <a:srgbClr val="585858"/>
                  </a:solidFill>
                  <a:latin typeface="Inter"/>
                  <a:ea typeface="Inter"/>
                  <a:cs typeface="Inter"/>
                  <a:sym typeface="Inter"/>
                </a:rPr>
                <a:t>3</a:t>
              </a:r>
              <a:r>
                <a:rPr lang="en-US" sz="2800" b="0" i="0" u="none" strike="noStrike" cap="none" dirty="0">
                  <a:solidFill>
                    <a:srgbClr val="585858"/>
                  </a:solidFill>
                  <a:latin typeface="Inter"/>
                  <a:ea typeface="Inter"/>
                  <a:cs typeface="Inter"/>
                  <a:sym typeface="Inter"/>
                </a:rPr>
                <a:t>9</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681"/>
        <p:cNvGrpSpPr/>
        <p:nvPr/>
      </p:nvGrpSpPr>
      <p:grpSpPr>
        <a:xfrm>
          <a:off x="0" y="0"/>
          <a:ext cx="0" cy="0"/>
          <a:chOff x="0" y="0"/>
          <a:chExt cx="0" cy="0"/>
        </a:xfrm>
      </p:grpSpPr>
      <p:sp>
        <p:nvSpPr>
          <p:cNvPr id="2682" name="Google Shape;2682;g3d1b7f80f08_0_588"/>
          <p:cNvSpPr/>
          <p:nvPr/>
        </p:nvSpPr>
        <p:spPr>
          <a:xfrm>
            <a:off x="960120" y="676275"/>
            <a:ext cx="922528" cy="922528"/>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A86"/>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3" name="Google Shape;2683;g3d1b7f80f08_0_588"/>
          <p:cNvSpPr txBox="1"/>
          <p:nvPr/>
        </p:nvSpPr>
        <p:spPr>
          <a:xfrm>
            <a:off x="1147478" y="937578"/>
            <a:ext cx="547800" cy="400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i="0" u="none" strike="noStrike" cap="none">
                <a:solidFill>
                  <a:schemeClr val="lt1"/>
                </a:solidFill>
                <a:latin typeface="Inter"/>
                <a:ea typeface="Inter"/>
                <a:cs typeface="Inter"/>
                <a:sym typeface="Inter"/>
              </a:rPr>
              <a:t>0</a:t>
            </a:r>
            <a:r>
              <a:rPr lang="en-US" sz="2600" b="1">
                <a:solidFill>
                  <a:schemeClr val="lt1"/>
                </a:solidFill>
                <a:latin typeface="Inter"/>
                <a:ea typeface="Inter"/>
                <a:cs typeface="Inter"/>
                <a:sym typeface="Inter"/>
              </a:rPr>
              <a:t>5</a:t>
            </a:r>
            <a:endParaRPr sz="2600" b="1" i="0" u="none" strike="noStrike" cap="none">
              <a:solidFill>
                <a:schemeClr val="lt1"/>
              </a:solidFill>
              <a:latin typeface="Inter"/>
              <a:ea typeface="Inter"/>
              <a:cs typeface="Inter"/>
              <a:sym typeface="Inter"/>
            </a:endParaRPr>
          </a:p>
        </p:txBody>
      </p:sp>
      <p:sp>
        <p:nvSpPr>
          <p:cNvPr id="2684" name="Google Shape;2684;g3d1b7f80f08_0_588"/>
          <p:cNvSpPr txBox="1"/>
          <p:nvPr/>
        </p:nvSpPr>
        <p:spPr>
          <a:xfrm>
            <a:off x="2206625" y="714693"/>
            <a:ext cx="7257300" cy="8082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 </a:t>
            </a:r>
            <a:r>
              <a:rPr lang="en-US" sz="2500" b="1" i="0" u="none" strike="noStrike" cap="none">
                <a:solidFill>
                  <a:srgbClr val="0050AB"/>
                </a:solidFill>
                <a:latin typeface="Inter"/>
                <a:ea typeface="Inter"/>
                <a:cs typeface="Inter"/>
                <a:sym typeface="Inter"/>
              </a:rPr>
              <a:t>AI-BASED DEMAND FORECASTING SYSTEM</a:t>
            </a:r>
            <a:endParaRPr sz="1200" b="1" i="0" u="none" strike="noStrike" cap="none">
              <a:solidFill>
                <a:srgbClr val="000000"/>
              </a:solidFill>
              <a:latin typeface="Arial"/>
              <a:ea typeface="Arial"/>
              <a:cs typeface="Arial"/>
              <a:sym typeface="Arial"/>
            </a:endParaRPr>
          </a:p>
        </p:txBody>
      </p:sp>
      <p:grpSp>
        <p:nvGrpSpPr>
          <p:cNvPr id="2685" name="Google Shape;2685;g3d1b7f80f08_0_588"/>
          <p:cNvGrpSpPr/>
          <p:nvPr/>
        </p:nvGrpSpPr>
        <p:grpSpPr>
          <a:xfrm>
            <a:off x="960125" y="1970175"/>
            <a:ext cx="6025375" cy="2011025"/>
            <a:chOff x="1446" y="10013"/>
            <a:chExt cx="12900" cy="3167"/>
          </a:xfrm>
        </p:grpSpPr>
        <p:cxnSp>
          <p:nvCxnSpPr>
            <p:cNvPr id="2686" name="Google Shape;2686;g3d1b7f80f08_0_588"/>
            <p:cNvCxnSpPr/>
            <p:nvPr/>
          </p:nvCxnSpPr>
          <p:spPr>
            <a:xfrm>
              <a:off x="1446" y="10577"/>
              <a:ext cx="8700" cy="0"/>
            </a:xfrm>
            <a:prstGeom prst="straightConnector1">
              <a:avLst/>
            </a:prstGeom>
            <a:noFill/>
            <a:ln w="19050" cap="flat" cmpd="sng">
              <a:solidFill>
                <a:srgbClr val="3A3A3A">
                  <a:alpha val="28630"/>
                </a:srgbClr>
              </a:solidFill>
              <a:prstDash val="solid"/>
              <a:round/>
              <a:headEnd type="none" w="sm" len="sm"/>
              <a:tailEnd type="none" w="sm" len="sm"/>
            </a:ln>
          </p:spPr>
        </p:cxnSp>
        <p:sp>
          <p:nvSpPr>
            <p:cNvPr id="2687" name="Google Shape;2687;g3d1b7f80f08_0_588"/>
            <p:cNvSpPr txBox="1"/>
            <p:nvPr/>
          </p:nvSpPr>
          <p:spPr>
            <a:xfrm>
              <a:off x="1446" y="10013"/>
              <a:ext cx="5100" cy="6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Result</a:t>
              </a:r>
              <a:endParaRPr sz="1200" b="0" i="0" u="none" strike="noStrike" cap="none">
                <a:solidFill>
                  <a:srgbClr val="000000"/>
                </a:solidFill>
                <a:latin typeface="Arial"/>
                <a:ea typeface="Arial"/>
                <a:cs typeface="Arial"/>
                <a:sym typeface="Arial"/>
              </a:endParaRPr>
            </a:p>
          </p:txBody>
        </p:sp>
        <p:sp>
          <p:nvSpPr>
            <p:cNvPr id="2688" name="Google Shape;2688;g3d1b7f80f08_0_588"/>
            <p:cNvSpPr txBox="1"/>
            <p:nvPr/>
          </p:nvSpPr>
          <p:spPr>
            <a:xfrm>
              <a:off x="1446" y="10780"/>
              <a:ext cx="12900" cy="2400"/>
            </a:xfrm>
            <a:prstGeom prst="rect">
              <a:avLst/>
            </a:prstGeom>
            <a:noFill/>
            <a:ln>
              <a:noFill/>
            </a:ln>
          </p:spPr>
          <p:txBody>
            <a:bodyPr spcFirstLastPara="1" wrap="square" lIns="91425" tIns="45700" rIns="91425" bIns="45700" anchor="t" anchorCtr="0">
              <a:spAutoFit/>
            </a:bodyPr>
            <a:lstStyle/>
            <a:p>
              <a:pPr marL="224790" marR="0" lvl="0" indent="-212725" algn="l" rtl="0">
                <a:lnSpc>
                  <a:spcPct val="115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Order volume &amp; production volume optimised, sales revenue improved by 7%-10%</a:t>
              </a:r>
              <a:endParaRPr sz="1400" b="0" i="0" u="none" strike="noStrike" cap="none">
                <a:solidFill>
                  <a:srgbClr val="000000"/>
                </a:solidFill>
                <a:latin typeface="Plus Jakarta Sans"/>
                <a:ea typeface="Plus Jakarta Sans"/>
                <a:cs typeface="Plus Jakarta Sans"/>
                <a:sym typeface="Plus Jakarta Sans"/>
              </a:endParaRPr>
            </a:p>
            <a:p>
              <a:pPr marL="224790" marR="0" lvl="0" indent="-212725" algn="l" rtl="0">
                <a:lnSpc>
                  <a:spcPct val="115000"/>
                </a:lnSpc>
                <a:spcBef>
                  <a:spcPts val="46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Market trends forecasting and support in advertising enabled to develop new products</a:t>
              </a:r>
              <a:endParaRPr sz="1400" b="0" i="0" u="none" strike="noStrike" cap="none">
                <a:solidFill>
                  <a:srgbClr val="000000"/>
                </a:solidFill>
                <a:latin typeface="Plus Jakarta Sans"/>
                <a:ea typeface="Plus Jakarta Sans"/>
                <a:cs typeface="Plus Jakarta Sans"/>
                <a:sym typeface="Plus Jakarta Sans"/>
              </a:endParaRPr>
            </a:p>
            <a:p>
              <a:pPr marL="224790" marR="821689" lvl="0" indent="-212725" algn="l" rtl="0">
                <a:lnSpc>
                  <a:spcPct val="115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Customer volume forecasting and pricing optimised -&gt; inventory costs reduced, proﬁtability improved</a:t>
              </a:r>
              <a:endParaRPr sz="1400" b="0" i="0" u="none" strike="noStrike" cap="none">
                <a:solidFill>
                  <a:srgbClr val="4D4D4F"/>
                </a:solidFill>
                <a:latin typeface="Plus Jakarta Sans"/>
                <a:ea typeface="Plus Jakarta Sans"/>
                <a:cs typeface="Plus Jakarta Sans"/>
                <a:sym typeface="Plus Jakarta Sans"/>
              </a:endParaRPr>
            </a:p>
          </p:txBody>
        </p:sp>
      </p:grpSp>
      <p:pic>
        <p:nvPicPr>
          <p:cNvPr id="2689" name="Google Shape;2689;g3d1b7f80f08_0_58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87800" y="4428475"/>
            <a:ext cx="9678626" cy="4304575"/>
          </a:xfrm>
          <a:prstGeom prst="rect">
            <a:avLst/>
          </a:prstGeom>
          <a:noFill/>
          <a:ln>
            <a:noFill/>
          </a:ln>
        </p:spPr>
      </p:pic>
      <p:pic>
        <p:nvPicPr>
          <p:cNvPr id="2690" name="Google Shape;2690;g3d1b7f80f08_0_58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7189187" y="1995700"/>
            <a:ext cx="8049472" cy="2793225"/>
          </a:xfrm>
          <a:prstGeom prst="rect">
            <a:avLst/>
          </a:prstGeom>
          <a:noFill/>
          <a:ln>
            <a:noFill/>
          </a:ln>
        </p:spPr>
      </p:pic>
      <p:sp>
        <p:nvSpPr>
          <p:cNvPr id="2" name="Google Shape;1967;p26">
            <a:extLst>
              <a:ext uri="{FF2B5EF4-FFF2-40B4-BE49-F238E27FC236}">
                <a16:creationId xmlns:a16="http://schemas.microsoft.com/office/drawing/2014/main" id="{0E855F86-AD92-6183-702D-123334865EBC}"/>
              </a:ext>
            </a:extLst>
          </p:cNvPr>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b="-5"/>
            </a:stretch>
          </a:blipFill>
          <a:ln>
            <a:noFill/>
          </a:ln>
        </p:spPr>
      </p:sp>
      <p:grpSp>
        <p:nvGrpSpPr>
          <p:cNvPr id="3" name="Google Shape;1968;p26">
            <a:extLst>
              <a:ext uri="{FF2B5EF4-FFF2-40B4-BE49-F238E27FC236}">
                <a16:creationId xmlns:a16="http://schemas.microsoft.com/office/drawing/2014/main" id="{AA6C7EB2-B35F-B92B-9CAD-1E8CCCDF4572}"/>
              </a:ext>
            </a:extLst>
          </p:cNvPr>
          <p:cNvGrpSpPr/>
          <p:nvPr/>
        </p:nvGrpSpPr>
        <p:grpSpPr>
          <a:xfrm>
            <a:off x="872534" y="8351050"/>
            <a:ext cx="846442" cy="699635"/>
            <a:chOff x="0" y="0"/>
            <a:chExt cx="1269600" cy="1049400"/>
          </a:xfrm>
        </p:grpSpPr>
        <p:sp>
          <p:nvSpPr>
            <p:cNvPr id="4" name="Google Shape;1969;p26">
              <a:extLst>
                <a:ext uri="{FF2B5EF4-FFF2-40B4-BE49-F238E27FC236}">
                  <a16:creationId xmlns:a16="http://schemas.microsoft.com/office/drawing/2014/main" id="{531913A4-56C9-C57C-FB10-43E6F15220A9}"/>
                </a:ext>
              </a:extLst>
            </p:cNvPr>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5" name="Google Shape;1970;p26">
              <a:extLst>
                <a:ext uri="{FF2B5EF4-FFF2-40B4-BE49-F238E27FC236}">
                  <a16:creationId xmlns:a16="http://schemas.microsoft.com/office/drawing/2014/main" id="{DCB2678B-33BB-44F6-98DC-DF8EFA5449B7}"/>
                </a:ext>
              </a:extLst>
            </p:cNvPr>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dirty="0">
                  <a:solidFill>
                    <a:srgbClr val="585858"/>
                  </a:solidFill>
                  <a:latin typeface="Inter"/>
                  <a:ea typeface="Inter"/>
                  <a:sym typeface="Inter"/>
                </a:rPr>
                <a:t>40</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94"/>
        <p:cNvGrpSpPr/>
        <p:nvPr/>
      </p:nvGrpSpPr>
      <p:grpSpPr>
        <a:xfrm>
          <a:off x="0" y="0"/>
          <a:ext cx="0" cy="0"/>
          <a:chOff x="0" y="0"/>
          <a:chExt cx="0" cy="0"/>
        </a:xfrm>
      </p:grpSpPr>
      <p:pic>
        <p:nvPicPr>
          <p:cNvPr id="2695" name="Google Shape;2695;p48"/>
          <p:cNvPicPr preferRelativeResize="0"/>
          <p:nvPr/>
        </p:nvPicPr>
        <p:blipFill rotWithShape="1">
          <a:blip r:embed="rId3">
            <a:alphaModFix/>
          </a:blip>
          <a:srcRect/>
          <a:stretch/>
        </p:blipFill>
        <p:spPr>
          <a:xfrm>
            <a:off x="8047837" y="2091296"/>
            <a:ext cx="7492466" cy="5688571"/>
          </a:xfrm>
          <a:prstGeom prst="rect">
            <a:avLst/>
          </a:prstGeom>
          <a:noFill/>
          <a:ln>
            <a:noFill/>
          </a:ln>
        </p:spPr>
      </p:pic>
      <p:sp>
        <p:nvSpPr>
          <p:cNvPr id="2696" name="Google Shape;2696;p48"/>
          <p:cNvSpPr/>
          <p:nvPr/>
        </p:nvSpPr>
        <p:spPr>
          <a:xfrm>
            <a:off x="960120" y="676275"/>
            <a:ext cx="922655" cy="922655"/>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A86"/>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7" name="Google Shape;2697;p48"/>
          <p:cNvSpPr txBox="1"/>
          <p:nvPr/>
        </p:nvSpPr>
        <p:spPr>
          <a:xfrm>
            <a:off x="1147478" y="946540"/>
            <a:ext cx="547800" cy="400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a:solidFill>
                  <a:schemeClr val="lt1"/>
                </a:solidFill>
                <a:latin typeface="Inter"/>
                <a:ea typeface="Inter"/>
                <a:cs typeface="Inter"/>
                <a:sym typeface="Inter"/>
              </a:rPr>
              <a:t>06</a:t>
            </a:r>
            <a:endParaRPr sz="2600" b="1">
              <a:solidFill>
                <a:schemeClr val="lt1"/>
              </a:solidFill>
              <a:latin typeface="Inter"/>
              <a:ea typeface="Inter"/>
              <a:cs typeface="Inter"/>
              <a:sym typeface="Inter"/>
            </a:endParaRPr>
          </a:p>
        </p:txBody>
      </p:sp>
      <p:sp>
        <p:nvSpPr>
          <p:cNvPr id="2698" name="Google Shape;2698;p48"/>
          <p:cNvSpPr txBox="1"/>
          <p:nvPr/>
        </p:nvSpPr>
        <p:spPr>
          <a:xfrm>
            <a:off x="2206625" y="861695"/>
            <a:ext cx="7257415" cy="42291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 </a:t>
            </a:r>
            <a:r>
              <a:rPr lang="en-US" sz="2500" b="1" i="0" u="none" strike="noStrike" cap="none">
                <a:solidFill>
                  <a:srgbClr val="0050AB"/>
                </a:solidFill>
                <a:latin typeface="Inter"/>
                <a:ea typeface="Inter"/>
                <a:cs typeface="Inter"/>
                <a:sym typeface="Inter"/>
              </a:rPr>
              <a:t>RETAIL LOCATION HEATMAP</a:t>
            </a:r>
            <a:endParaRPr sz="1200" b="1" i="0" u="none" strike="noStrike" cap="none">
              <a:solidFill>
                <a:srgbClr val="000000"/>
              </a:solidFill>
              <a:latin typeface="Arial"/>
              <a:ea typeface="Arial"/>
              <a:cs typeface="Arial"/>
              <a:sym typeface="Arial"/>
            </a:endParaRPr>
          </a:p>
        </p:txBody>
      </p:sp>
      <p:grpSp>
        <p:nvGrpSpPr>
          <p:cNvPr id="2699" name="Google Shape;2699;p48"/>
          <p:cNvGrpSpPr/>
          <p:nvPr/>
        </p:nvGrpSpPr>
        <p:grpSpPr>
          <a:xfrm>
            <a:off x="960120" y="3834130"/>
            <a:ext cx="6716395" cy="1376680"/>
            <a:chOff x="1512" y="6407"/>
            <a:chExt cx="10577" cy="2168"/>
          </a:xfrm>
        </p:grpSpPr>
        <p:sp>
          <p:nvSpPr>
            <p:cNvPr id="2700" name="Google Shape;2700;p48"/>
            <p:cNvSpPr txBox="1"/>
            <p:nvPr/>
          </p:nvSpPr>
          <p:spPr>
            <a:xfrm>
              <a:off x="1512" y="7198"/>
              <a:ext cx="10577" cy="1377"/>
            </a:xfrm>
            <a:prstGeom prst="rect">
              <a:avLst/>
            </a:prstGeom>
            <a:noFill/>
            <a:ln>
              <a:noFill/>
            </a:ln>
          </p:spPr>
          <p:txBody>
            <a:bodyPr spcFirstLastPara="1" wrap="square" lIns="0" tIns="12700" rIns="0" bIns="0" anchor="t" anchorCtr="0">
              <a:spAutoFit/>
            </a:bodyPr>
            <a:lstStyle/>
            <a:p>
              <a:pPr marL="303530" marR="0" lvl="0" indent="-285750" algn="l" rtl="0">
                <a:lnSpc>
                  <a:spcPct val="100000"/>
                </a:lnSpc>
                <a:spcBef>
                  <a:spcPts val="0"/>
                </a:spcBef>
                <a:spcAft>
                  <a:spcPts val="0"/>
                </a:spcAft>
                <a:buClr>
                  <a:srgbClr val="000000"/>
                </a:buClr>
                <a:buSzPts val="2000"/>
                <a:buFont typeface="Arial"/>
                <a:buChar char="•"/>
              </a:pPr>
              <a:r>
                <a:rPr lang="en-US" sz="1400" b="0" i="0" u="none" strike="noStrike" cap="none">
                  <a:solidFill>
                    <a:srgbClr val="4D4D4F"/>
                  </a:solidFill>
                  <a:latin typeface="Plus Jakarta Sans"/>
                  <a:ea typeface="Plus Jakarta Sans"/>
                  <a:cs typeface="Plus Jakarta Sans"/>
                  <a:sym typeface="Plus Jakarta Sans"/>
                </a:rPr>
                <a:t>VTI proposed a heatmap solution to capture new customer preferences and behaviour patterns.</a:t>
              </a:r>
              <a:endParaRPr sz="1400" b="0" i="0" u="none" strike="noStrike" cap="none">
                <a:solidFill>
                  <a:srgbClr val="4D4D4F"/>
                </a:solidFill>
                <a:latin typeface="Plus Jakarta Sans"/>
                <a:ea typeface="Plus Jakarta Sans"/>
                <a:cs typeface="Plus Jakarta Sans"/>
                <a:sym typeface="Plus Jakarta Sans"/>
              </a:endParaRPr>
            </a:p>
            <a:p>
              <a:pPr marL="303530" marR="0" lvl="0" indent="-285750" algn="l" rtl="0">
                <a:lnSpc>
                  <a:spcPct val="100000"/>
                </a:lnSpc>
                <a:spcBef>
                  <a:spcPts val="0"/>
                </a:spcBef>
                <a:spcAft>
                  <a:spcPts val="0"/>
                </a:spcAft>
                <a:buClr>
                  <a:srgbClr val="000000"/>
                </a:buClr>
                <a:buSzPts val="2000"/>
                <a:buFont typeface="Arial"/>
                <a:buChar char="•"/>
              </a:pPr>
              <a:r>
                <a:rPr lang="en-US" sz="1400" b="0" i="0" u="none" strike="noStrike" cap="none">
                  <a:solidFill>
                    <a:srgbClr val="4D4D4F"/>
                  </a:solidFill>
                  <a:latin typeface="Plus Jakarta Sans"/>
                  <a:ea typeface="Plus Jakarta Sans"/>
                  <a:cs typeface="Plus Jakarta Sans"/>
                  <a:sym typeface="Plus Jakarta Sans"/>
                </a:rPr>
                <a:t>Customer information from stores is inspected, aggregated, and analysed to support sales and marketing campaigns.</a:t>
              </a:r>
              <a:endParaRPr sz="1400" b="0" i="0" u="none" strike="noStrike" cap="none">
                <a:solidFill>
                  <a:srgbClr val="000000"/>
                </a:solidFill>
                <a:latin typeface="Plus Jakarta Sans"/>
                <a:ea typeface="Plus Jakarta Sans"/>
                <a:cs typeface="Plus Jakarta Sans"/>
                <a:sym typeface="Plus Jakarta Sans"/>
              </a:endParaRPr>
            </a:p>
          </p:txBody>
        </p:sp>
        <p:cxnSp>
          <p:nvCxnSpPr>
            <p:cNvPr id="2701" name="Google Shape;2701;p48"/>
            <p:cNvCxnSpPr/>
            <p:nvPr/>
          </p:nvCxnSpPr>
          <p:spPr>
            <a:xfrm>
              <a:off x="1512" y="6953"/>
              <a:ext cx="8727"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702" name="Google Shape;2702;p48"/>
            <p:cNvSpPr txBox="1"/>
            <p:nvPr/>
          </p:nvSpPr>
          <p:spPr>
            <a:xfrm>
              <a:off x="1512" y="6407"/>
              <a:ext cx="5213" cy="48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Approach</a:t>
              </a:r>
              <a:endParaRPr sz="1200" b="0" i="0" u="none" strike="noStrike" cap="none">
                <a:solidFill>
                  <a:srgbClr val="000000"/>
                </a:solidFill>
                <a:latin typeface="Arial"/>
                <a:ea typeface="Arial"/>
                <a:cs typeface="Arial"/>
                <a:sym typeface="Arial"/>
              </a:endParaRPr>
            </a:p>
          </p:txBody>
        </p:sp>
      </p:grpSp>
      <p:grpSp>
        <p:nvGrpSpPr>
          <p:cNvPr id="2703" name="Google Shape;2703;p48"/>
          <p:cNvGrpSpPr/>
          <p:nvPr/>
        </p:nvGrpSpPr>
        <p:grpSpPr>
          <a:xfrm>
            <a:off x="960120" y="5720715"/>
            <a:ext cx="6461125" cy="1378585"/>
            <a:chOff x="1512" y="9008"/>
            <a:chExt cx="10175" cy="2171"/>
          </a:xfrm>
        </p:grpSpPr>
        <p:sp>
          <p:nvSpPr>
            <p:cNvPr id="2704" name="Google Shape;2704;p48"/>
            <p:cNvSpPr txBox="1"/>
            <p:nvPr/>
          </p:nvSpPr>
          <p:spPr>
            <a:xfrm>
              <a:off x="1512" y="9802"/>
              <a:ext cx="10175" cy="1377"/>
            </a:xfrm>
            <a:prstGeom prst="rect">
              <a:avLst/>
            </a:prstGeom>
            <a:noFill/>
            <a:ln>
              <a:noFill/>
            </a:ln>
          </p:spPr>
          <p:txBody>
            <a:bodyPr spcFirstLastPara="1" wrap="square" lIns="0" tIns="12700" rIns="0" bIns="0" anchor="t" anchorCtr="0">
              <a:spAutoFit/>
            </a:bodyPr>
            <a:lstStyle/>
            <a:p>
              <a:pPr marL="285750" marR="0" lvl="0" indent="-285750" algn="l" rtl="0">
                <a:lnSpc>
                  <a:spcPct val="100000"/>
                </a:lnSpc>
                <a:spcBef>
                  <a:spcPts val="0"/>
                </a:spcBef>
                <a:spcAft>
                  <a:spcPts val="0"/>
                </a:spcAft>
                <a:buClr>
                  <a:srgbClr val="000000"/>
                </a:buClr>
                <a:buSzPts val="2000"/>
                <a:buFont typeface="Arial"/>
                <a:buChar char="•"/>
              </a:pPr>
              <a:r>
                <a:rPr lang="en-US" sz="1400" b="0" i="0" u="none" strike="noStrike" cap="none">
                  <a:solidFill>
                    <a:srgbClr val="4D4D4F"/>
                  </a:solidFill>
                  <a:latin typeface="Plus Jakarta Sans"/>
                  <a:ea typeface="Plus Jakarta Sans"/>
                  <a:cs typeface="Plus Jakarta Sans"/>
                  <a:sym typeface="Plus Jakarta Sans"/>
                </a:rPr>
                <a:t>Better grasp of customer expectations, signiﬁcantly improved sales</a:t>
              </a:r>
              <a:endParaRPr sz="1400" b="0" i="0" u="none" strike="noStrike" cap="none">
                <a:solidFill>
                  <a:srgbClr val="4D4D4F"/>
                </a:solidFill>
                <a:latin typeface="Plus Jakarta Sans"/>
                <a:ea typeface="Plus Jakarta Sans"/>
                <a:cs typeface="Plus Jakarta Sans"/>
                <a:sym typeface="Plus Jakarta Sans"/>
              </a:endParaRPr>
            </a:p>
            <a:p>
              <a:pPr marL="285750" marR="0" lvl="0" indent="-285750" algn="l" rtl="0">
                <a:lnSpc>
                  <a:spcPct val="100000"/>
                </a:lnSpc>
                <a:spcBef>
                  <a:spcPts val="0"/>
                </a:spcBef>
                <a:spcAft>
                  <a:spcPts val="0"/>
                </a:spcAft>
                <a:buClr>
                  <a:srgbClr val="000000"/>
                </a:buClr>
                <a:buSzPts val="2000"/>
                <a:buFont typeface="Arial"/>
                <a:buChar char="•"/>
              </a:pPr>
              <a:r>
                <a:rPr lang="en-US" sz="1400" b="0" i="0" u="none" strike="noStrike" cap="none">
                  <a:solidFill>
                    <a:srgbClr val="4D4D4F"/>
                  </a:solidFill>
                  <a:latin typeface="Plus Jakarta Sans"/>
                  <a:ea typeface="Plus Jakarta Sans"/>
                  <a:cs typeface="Plus Jakarta Sans"/>
                  <a:sym typeface="Plus Jakarta Sans"/>
                </a:rPr>
                <a:t>The client opens a new store at the optimal location based on the heatmap</a:t>
              </a:r>
              <a:endParaRPr sz="1400" b="0" i="0" u="none" strike="noStrike" cap="none">
                <a:solidFill>
                  <a:srgbClr val="4D4D4F"/>
                </a:solidFill>
                <a:latin typeface="Plus Jakarta Sans"/>
                <a:ea typeface="Plus Jakarta Sans"/>
                <a:cs typeface="Plus Jakarta Sans"/>
                <a:sym typeface="Plus Jakarta Sans"/>
              </a:endParaRPr>
            </a:p>
            <a:p>
              <a:pPr marL="285750" marR="0" lvl="0" indent="-285750" algn="l" rtl="0">
                <a:lnSpc>
                  <a:spcPct val="100000"/>
                </a:lnSpc>
                <a:spcBef>
                  <a:spcPts val="0"/>
                </a:spcBef>
                <a:spcAft>
                  <a:spcPts val="0"/>
                </a:spcAft>
                <a:buClr>
                  <a:srgbClr val="000000"/>
                </a:buClr>
                <a:buSzPts val="2000"/>
                <a:buFont typeface="Arial"/>
                <a:buChar char="•"/>
              </a:pPr>
              <a:r>
                <a:rPr lang="en-US" sz="1400" b="0" i="0" u="none" strike="noStrike" cap="none">
                  <a:solidFill>
                    <a:srgbClr val="4D4D4F"/>
                  </a:solidFill>
                  <a:latin typeface="Plus Jakarta Sans"/>
                  <a:ea typeface="Plus Jakarta Sans"/>
                  <a:cs typeface="Plus Jakarta Sans"/>
                  <a:sym typeface="Plus Jakarta Sans"/>
                </a:rPr>
                <a:t>Data collection and analysis enabled effective market research</a:t>
              </a:r>
              <a:endParaRPr sz="1400" b="0" i="0" u="none" strike="noStrike" cap="none">
                <a:solidFill>
                  <a:srgbClr val="000000"/>
                </a:solidFill>
                <a:latin typeface="Plus Jakarta Sans"/>
                <a:ea typeface="Plus Jakarta Sans"/>
                <a:cs typeface="Plus Jakarta Sans"/>
                <a:sym typeface="Plus Jakarta Sans"/>
              </a:endParaRPr>
            </a:p>
          </p:txBody>
        </p:sp>
        <p:cxnSp>
          <p:nvCxnSpPr>
            <p:cNvPr id="2705" name="Google Shape;2705;p48"/>
            <p:cNvCxnSpPr/>
            <p:nvPr/>
          </p:nvCxnSpPr>
          <p:spPr>
            <a:xfrm>
              <a:off x="1512" y="9554"/>
              <a:ext cx="8727"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706" name="Google Shape;2706;p48"/>
            <p:cNvSpPr txBox="1"/>
            <p:nvPr/>
          </p:nvSpPr>
          <p:spPr>
            <a:xfrm>
              <a:off x="1512" y="9008"/>
              <a:ext cx="5213" cy="48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Result</a:t>
              </a:r>
              <a:endParaRPr sz="1200" b="0" i="0" u="none" strike="noStrike" cap="none">
                <a:solidFill>
                  <a:srgbClr val="000000"/>
                </a:solidFill>
                <a:latin typeface="Arial"/>
                <a:ea typeface="Arial"/>
                <a:cs typeface="Arial"/>
                <a:sym typeface="Arial"/>
              </a:endParaRPr>
            </a:p>
          </p:txBody>
        </p:sp>
      </p:grpSp>
      <p:grpSp>
        <p:nvGrpSpPr>
          <p:cNvPr id="2707" name="Google Shape;2707;p48"/>
          <p:cNvGrpSpPr/>
          <p:nvPr/>
        </p:nvGrpSpPr>
        <p:grpSpPr>
          <a:xfrm>
            <a:off x="960120" y="2438400"/>
            <a:ext cx="6858000" cy="1013460"/>
            <a:chOff x="1512" y="3840"/>
            <a:chExt cx="10800" cy="1596"/>
          </a:xfrm>
        </p:grpSpPr>
        <p:sp>
          <p:nvSpPr>
            <p:cNvPr id="2708" name="Google Shape;2708;p48"/>
            <p:cNvSpPr txBox="1"/>
            <p:nvPr/>
          </p:nvSpPr>
          <p:spPr>
            <a:xfrm>
              <a:off x="1512" y="4536"/>
              <a:ext cx="10800" cy="900"/>
            </a:xfrm>
            <a:prstGeom prst="rect">
              <a:avLst/>
            </a:prstGeom>
            <a:noFill/>
            <a:ln>
              <a:noFill/>
            </a:ln>
          </p:spPr>
          <p:txBody>
            <a:bodyPr spcFirstLastPara="1" wrap="square" lIns="0" tIns="12700" rIns="0" bIns="0" anchor="t" anchorCtr="0">
              <a:spAutoFit/>
            </a:bodyPr>
            <a:lstStyle/>
            <a:p>
              <a:pPr marL="285750" marR="0" lvl="0" indent="-285750" algn="l" rtl="0">
                <a:lnSpc>
                  <a:spcPct val="100000"/>
                </a:lnSpc>
                <a:spcBef>
                  <a:spcPts val="0"/>
                </a:spcBef>
                <a:spcAft>
                  <a:spcPts val="0"/>
                </a:spcAft>
                <a:buClr>
                  <a:srgbClr val="000000"/>
                </a:buClr>
                <a:buSzPts val="2000"/>
                <a:buFont typeface="Arial"/>
                <a:buChar char="•"/>
              </a:pPr>
              <a:r>
                <a:rPr lang="en-US">
                  <a:solidFill>
                    <a:srgbClr val="4D4D4F"/>
                  </a:solidFill>
                  <a:latin typeface="Plus Jakarta Sans"/>
                  <a:ea typeface="Plus Jakarta Sans"/>
                  <a:cs typeface="Plus Jakarta Sans"/>
                  <a:sym typeface="Plus Jakarta Sans"/>
                </a:rPr>
                <a:t>A Japanese client </a:t>
              </a:r>
              <a:r>
                <a:rPr lang="en-US" sz="1400" b="0" i="0" u="none" strike="noStrike" cap="none">
                  <a:solidFill>
                    <a:srgbClr val="4D4D4F"/>
                  </a:solidFill>
                  <a:latin typeface="Plus Jakarta Sans"/>
                  <a:ea typeface="Plus Jakarta Sans"/>
                  <a:cs typeface="Plus Jakarta Sans"/>
                  <a:sym typeface="Plus Jakarta Sans"/>
                </a:rPr>
                <a:t> requires a map website to exploit business data and analyse the market by geographical location.</a:t>
              </a:r>
              <a:endParaRPr sz="1400" b="0" i="0" u="none" strike="noStrike" cap="none">
                <a:solidFill>
                  <a:srgbClr val="000000"/>
                </a:solidFill>
                <a:latin typeface="Plus Jakarta Sans"/>
                <a:ea typeface="Plus Jakarta Sans"/>
                <a:cs typeface="Plus Jakarta Sans"/>
                <a:sym typeface="Plus Jakarta Sans"/>
              </a:endParaRPr>
            </a:p>
          </p:txBody>
        </p:sp>
        <p:cxnSp>
          <p:nvCxnSpPr>
            <p:cNvPr id="2709" name="Google Shape;2709;p48"/>
            <p:cNvCxnSpPr/>
            <p:nvPr/>
          </p:nvCxnSpPr>
          <p:spPr>
            <a:xfrm>
              <a:off x="1512" y="4386"/>
              <a:ext cx="8727"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710" name="Google Shape;2710;p48"/>
            <p:cNvSpPr txBox="1"/>
            <p:nvPr/>
          </p:nvSpPr>
          <p:spPr>
            <a:xfrm>
              <a:off x="1512" y="3840"/>
              <a:ext cx="5213" cy="48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Challenge</a:t>
              </a:r>
              <a:endParaRPr sz="1200" b="0" i="0" u="none" strike="noStrike" cap="none">
                <a:solidFill>
                  <a:srgbClr val="000000"/>
                </a:solidFill>
                <a:latin typeface="Arial"/>
                <a:ea typeface="Arial"/>
                <a:cs typeface="Arial"/>
                <a:sym typeface="Arial"/>
              </a:endParaRPr>
            </a:p>
          </p:txBody>
        </p:sp>
      </p:grpSp>
      <p:sp>
        <p:nvSpPr>
          <p:cNvPr id="2" name="Google Shape;1967;p26">
            <a:extLst>
              <a:ext uri="{FF2B5EF4-FFF2-40B4-BE49-F238E27FC236}">
                <a16:creationId xmlns:a16="http://schemas.microsoft.com/office/drawing/2014/main" id="{078331C1-D403-CC85-1DC0-E43813676B25}"/>
              </a:ext>
            </a:extLst>
          </p:cNvPr>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b="-5"/>
            </a:stretch>
          </a:blipFill>
          <a:ln>
            <a:noFill/>
          </a:ln>
        </p:spPr>
      </p:sp>
      <p:grpSp>
        <p:nvGrpSpPr>
          <p:cNvPr id="3" name="Google Shape;1968;p26">
            <a:extLst>
              <a:ext uri="{FF2B5EF4-FFF2-40B4-BE49-F238E27FC236}">
                <a16:creationId xmlns:a16="http://schemas.microsoft.com/office/drawing/2014/main" id="{2E58E81F-9566-6866-45E4-61A5512B5879}"/>
              </a:ext>
            </a:extLst>
          </p:cNvPr>
          <p:cNvGrpSpPr/>
          <p:nvPr/>
        </p:nvGrpSpPr>
        <p:grpSpPr>
          <a:xfrm>
            <a:off x="872534" y="8351050"/>
            <a:ext cx="846442" cy="699635"/>
            <a:chOff x="0" y="0"/>
            <a:chExt cx="1269600" cy="1049400"/>
          </a:xfrm>
        </p:grpSpPr>
        <p:sp>
          <p:nvSpPr>
            <p:cNvPr id="4" name="Google Shape;1969;p26">
              <a:extLst>
                <a:ext uri="{FF2B5EF4-FFF2-40B4-BE49-F238E27FC236}">
                  <a16:creationId xmlns:a16="http://schemas.microsoft.com/office/drawing/2014/main" id="{6AD7DD19-B9C8-B6AC-BADD-322D5A81EDD1}"/>
                </a:ext>
              </a:extLst>
            </p:cNvPr>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5" name="Google Shape;1970;p26">
              <a:extLst>
                <a:ext uri="{FF2B5EF4-FFF2-40B4-BE49-F238E27FC236}">
                  <a16:creationId xmlns:a16="http://schemas.microsoft.com/office/drawing/2014/main" id="{B95052D2-D213-48E3-C1D3-A2AE9F62EC6B}"/>
                </a:ext>
              </a:extLst>
            </p:cNvPr>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dirty="0">
                  <a:solidFill>
                    <a:srgbClr val="585858"/>
                  </a:solidFill>
                  <a:latin typeface="Inter"/>
                  <a:ea typeface="Inter"/>
                  <a:sym typeface="Inter"/>
                </a:rPr>
                <a:t>41</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714"/>
        <p:cNvGrpSpPr/>
        <p:nvPr/>
      </p:nvGrpSpPr>
      <p:grpSpPr>
        <a:xfrm>
          <a:off x="0" y="0"/>
          <a:ext cx="0" cy="0"/>
          <a:chOff x="0" y="0"/>
          <a:chExt cx="0" cy="0"/>
        </a:xfrm>
      </p:grpSpPr>
      <p:pic>
        <p:nvPicPr>
          <p:cNvPr id="2715" name="Google Shape;2715;p49"/>
          <p:cNvPicPr preferRelativeResize="0"/>
          <p:nvPr/>
        </p:nvPicPr>
        <p:blipFill rotWithShape="1">
          <a:blip r:embed="rId3">
            <a:alphaModFix/>
          </a:blip>
          <a:srcRect/>
          <a:stretch/>
        </p:blipFill>
        <p:spPr>
          <a:xfrm>
            <a:off x="7637276" y="1860880"/>
            <a:ext cx="7706031" cy="5659331"/>
          </a:xfrm>
          <a:prstGeom prst="rect">
            <a:avLst/>
          </a:prstGeom>
          <a:noFill/>
          <a:ln>
            <a:noFill/>
          </a:ln>
        </p:spPr>
      </p:pic>
      <p:sp>
        <p:nvSpPr>
          <p:cNvPr id="2716" name="Google Shape;2716;p49"/>
          <p:cNvSpPr/>
          <p:nvPr/>
        </p:nvSpPr>
        <p:spPr>
          <a:xfrm>
            <a:off x="960120" y="676275"/>
            <a:ext cx="922655" cy="922655"/>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A86"/>
          </a:solidFill>
          <a:ln>
            <a:noFill/>
          </a:ln>
        </p:spPr>
        <p:txBody>
          <a:bodyPr spcFirstLastPara="1" wrap="square" lIns="81275" tIns="81275" rIns="81275" bIns="81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7" name="Google Shape;2717;p49"/>
          <p:cNvSpPr txBox="1"/>
          <p:nvPr/>
        </p:nvSpPr>
        <p:spPr>
          <a:xfrm>
            <a:off x="1147478" y="937578"/>
            <a:ext cx="547800" cy="800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1">
                <a:solidFill>
                  <a:schemeClr val="lt1"/>
                </a:solidFill>
                <a:latin typeface="Inter"/>
                <a:ea typeface="Inter"/>
                <a:cs typeface="Inter"/>
                <a:sym typeface="Inter"/>
              </a:rPr>
              <a:t>07</a:t>
            </a:r>
            <a:endParaRPr sz="2600" b="1">
              <a:solidFill>
                <a:schemeClr val="lt1"/>
              </a:solidFill>
              <a:latin typeface="Inter"/>
              <a:ea typeface="Inter"/>
              <a:cs typeface="Inter"/>
              <a:sym typeface="Inter"/>
            </a:endParaRPr>
          </a:p>
          <a:p>
            <a:pPr marL="0" marR="0" lvl="0" indent="0" algn="ctr" rtl="0">
              <a:lnSpc>
                <a:spcPct val="100000"/>
              </a:lnSpc>
              <a:spcBef>
                <a:spcPts val="0"/>
              </a:spcBef>
              <a:spcAft>
                <a:spcPts val="0"/>
              </a:spcAft>
              <a:buClr>
                <a:srgbClr val="000000"/>
              </a:buClr>
              <a:buSzPts val="2600"/>
              <a:buFont typeface="Arial"/>
              <a:buNone/>
            </a:pPr>
            <a:endParaRPr sz="2600" b="1">
              <a:solidFill>
                <a:schemeClr val="lt1"/>
              </a:solidFill>
              <a:latin typeface="Inter"/>
              <a:ea typeface="Inter"/>
              <a:cs typeface="Inter"/>
              <a:sym typeface="Inter"/>
            </a:endParaRPr>
          </a:p>
        </p:txBody>
      </p:sp>
      <p:sp>
        <p:nvSpPr>
          <p:cNvPr id="2718" name="Google Shape;2718;p49"/>
          <p:cNvSpPr txBox="1"/>
          <p:nvPr/>
        </p:nvSpPr>
        <p:spPr>
          <a:xfrm>
            <a:off x="2206625" y="714693"/>
            <a:ext cx="7257415" cy="84582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2500"/>
              <a:buFont typeface="Arial"/>
              <a:buNone/>
            </a:pPr>
            <a:r>
              <a:rPr lang="en-US" sz="2500" b="0" i="0" u="none" strike="noStrike" cap="none">
                <a:solidFill>
                  <a:srgbClr val="004AAD"/>
                </a:solidFill>
                <a:latin typeface="Inter"/>
                <a:ea typeface="Inter"/>
                <a:cs typeface="Inter"/>
                <a:sym typeface="Inter"/>
              </a:rPr>
              <a:t>CASE STUDY | </a:t>
            </a:r>
            <a:r>
              <a:rPr lang="en-US" sz="2500" b="1" i="0" u="none" strike="noStrike" cap="none">
                <a:solidFill>
                  <a:srgbClr val="0050AB"/>
                </a:solidFill>
                <a:latin typeface="Inter"/>
                <a:ea typeface="Inter"/>
                <a:cs typeface="Inter"/>
                <a:sym typeface="Inter"/>
              </a:rPr>
              <a:t>IN-STORE LAYOUT OPTIMISATION (HEATMAP)</a:t>
            </a:r>
            <a:endParaRPr sz="2500" b="1" i="0" u="none" strike="noStrike" cap="none">
              <a:solidFill>
                <a:srgbClr val="0050AB"/>
              </a:solidFill>
              <a:latin typeface="Inter"/>
              <a:ea typeface="Inter"/>
              <a:cs typeface="Inter"/>
              <a:sym typeface="Inter"/>
            </a:endParaRPr>
          </a:p>
        </p:txBody>
      </p:sp>
      <p:grpSp>
        <p:nvGrpSpPr>
          <p:cNvPr id="2719" name="Google Shape;2719;p49"/>
          <p:cNvGrpSpPr/>
          <p:nvPr/>
        </p:nvGrpSpPr>
        <p:grpSpPr>
          <a:xfrm>
            <a:off x="941070" y="4004945"/>
            <a:ext cx="6103620" cy="1463040"/>
            <a:chOff x="1482" y="6407"/>
            <a:chExt cx="9612" cy="2304"/>
          </a:xfrm>
        </p:grpSpPr>
        <p:sp>
          <p:nvSpPr>
            <p:cNvPr id="2720" name="Google Shape;2720;p49"/>
            <p:cNvSpPr txBox="1"/>
            <p:nvPr/>
          </p:nvSpPr>
          <p:spPr>
            <a:xfrm>
              <a:off x="1482" y="7081"/>
              <a:ext cx="9612" cy="1630"/>
            </a:xfrm>
            <a:prstGeom prst="rect">
              <a:avLst/>
            </a:prstGeom>
            <a:noFill/>
            <a:ln>
              <a:noFill/>
            </a:ln>
          </p:spPr>
          <p:txBody>
            <a:bodyPr spcFirstLastPara="1" wrap="square" lIns="0" tIns="12700" rIns="0" bIns="0" anchor="t" anchorCtr="0">
              <a:spAutoFit/>
            </a:bodyPr>
            <a:lstStyle/>
            <a:p>
              <a:pPr marL="13970" marR="0" lvl="0" indent="0" algn="l" rtl="0">
                <a:lnSpc>
                  <a:spcPct val="100000"/>
                </a:lnSpc>
                <a:spcBef>
                  <a:spcPts val="0"/>
                </a:spcBef>
                <a:spcAft>
                  <a:spcPts val="0"/>
                </a:spcAft>
                <a:buClr>
                  <a:srgbClr val="000000"/>
                </a:buClr>
                <a:buSzPts val="2000"/>
                <a:buFont typeface="Arial"/>
                <a:buNone/>
              </a:pPr>
              <a:r>
                <a:rPr lang="en-US" sz="1400" b="0" i="0" u="none" strike="noStrike" cap="none">
                  <a:solidFill>
                    <a:srgbClr val="4D4D4F"/>
                  </a:solidFill>
                  <a:latin typeface="Plus Jakarta Sans"/>
                  <a:ea typeface="Plus Jakarta Sans"/>
                  <a:cs typeface="Plus Jakarta Sans"/>
                  <a:sym typeface="Plus Jakarta Sans"/>
                </a:rPr>
                <a:t>Develop an in-store heatmap solution to:</a:t>
              </a:r>
              <a:endParaRPr sz="1400" b="0" i="0" u="none" strike="noStrike" cap="none">
                <a:solidFill>
                  <a:srgbClr val="000000"/>
                </a:solidFill>
                <a:latin typeface="Plus Jakarta Sans"/>
                <a:ea typeface="Plus Jakarta Sans"/>
                <a:cs typeface="Plus Jakarta Sans"/>
                <a:sym typeface="Plus Jakarta Sans"/>
              </a:endParaRPr>
            </a:p>
            <a:p>
              <a:pPr marL="255270" marR="0" lvl="0" indent="-217805" algn="l" rtl="0">
                <a:lnSpc>
                  <a:spcPct val="115000"/>
                </a:lnSpc>
                <a:spcBef>
                  <a:spcPts val="505"/>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Track customer footprint</a:t>
              </a:r>
              <a:endParaRPr sz="1400" b="0" i="0" u="none" strike="noStrike" cap="none">
                <a:solidFill>
                  <a:srgbClr val="000000"/>
                </a:solidFill>
                <a:latin typeface="Plus Jakarta Sans"/>
                <a:ea typeface="Plus Jakarta Sans"/>
                <a:cs typeface="Plus Jakarta Sans"/>
                <a:sym typeface="Plus Jakarta Sans"/>
              </a:endParaRPr>
            </a:p>
            <a:p>
              <a:pPr marL="255270" marR="30480" lvl="0" indent="-217805" algn="l" rtl="0">
                <a:lnSpc>
                  <a:spcPct val="115000"/>
                </a:lnSpc>
                <a:spcBef>
                  <a:spcPts val="0"/>
                </a:spcBef>
                <a:spcAft>
                  <a:spcPts val="0"/>
                </a:spcAft>
                <a:buClr>
                  <a:srgbClr val="4D4D4F"/>
                </a:buClr>
                <a:buSzPts val="1400"/>
                <a:buFont typeface="Plus Jakarta Sans"/>
                <a:buChar char="•"/>
              </a:pPr>
              <a:r>
                <a:rPr lang="en-US" sz="1400" b="0" i="0" u="none" strike="noStrike" cap="none">
                  <a:solidFill>
                    <a:srgbClr val="4D4D4F"/>
                  </a:solidFill>
                  <a:latin typeface="Plus Jakarta Sans"/>
                  <a:ea typeface="Plus Jakarta Sans"/>
                  <a:cs typeface="Plus Jakarta Sans"/>
                  <a:sym typeface="Plus Jakarta Sans"/>
                </a:rPr>
                <a:t>Visualise frequently visited/avoided areas as well as customer's attention span</a:t>
              </a:r>
              <a:endParaRPr sz="1400" b="0" i="0" u="none" strike="noStrike" cap="none">
                <a:solidFill>
                  <a:srgbClr val="000000"/>
                </a:solidFill>
                <a:latin typeface="Plus Jakarta Sans"/>
                <a:ea typeface="Plus Jakarta Sans"/>
                <a:cs typeface="Plus Jakarta Sans"/>
                <a:sym typeface="Plus Jakarta Sans"/>
              </a:endParaRPr>
            </a:p>
          </p:txBody>
        </p:sp>
        <p:cxnSp>
          <p:nvCxnSpPr>
            <p:cNvPr id="2721" name="Google Shape;2721;p49"/>
            <p:cNvCxnSpPr/>
            <p:nvPr/>
          </p:nvCxnSpPr>
          <p:spPr>
            <a:xfrm>
              <a:off x="1482" y="6953"/>
              <a:ext cx="8727"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722" name="Google Shape;2722;p49"/>
            <p:cNvSpPr txBox="1"/>
            <p:nvPr/>
          </p:nvSpPr>
          <p:spPr>
            <a:xfrm>
              <a:off x="1482" y="6407"/>
              <a:ext cx="5213" cy="48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Approach</a:t>
              </a:r>
              <a:endParaRPr sz="1200" b="0" i="0" u="none" strike="noStrike" cap="none">
                <a:solidFill>
                  <a:srgbClr val="000000"/>
                </a:solidFill>
                <a:latin typeface="Arial"/>
                <a:ea typeface="Arial"/>
                <a:cs typeface="Arial"/>
                <a:sym typeface="Arial"/>
              </a:endParaRPr>
            </a:p>
          </p:txBody>
        </p:sp>
      </p:grpSp>
      <p:grpSp>
        <p:nvGrpSpPr>
          <p:cNvPr id="2723" name="Google Shape;2723;p49"/>
          <p:cNvGrpSpPr/>
          <p:nvPr/>
        </p:nvGrpSpPr>
        <p:grpSpPr>
          <a:xfrm>
            <a:off x="941070" y="5901690"/>
            <a:ext cx="6247765" cy="888365"/>
            <a:chOff x="1482" y="9294"/>
            <a:chExt cx="9839" cy="1399"/>
          </a:xfrm>
        </p:grpSpPr>
        <p:sp>
          <p:nvSpPr>
            <p:cNvPr id="2724" name="Google Shape;2724;p49"/>
            <p:cNvSpPr txBox="1"/>
            <p:nvPr/>
          </p:nvSpPr>
          <p:spPr>
            <a:xfrm>
              <a:off x="1482" y="9902"/>
              <a:ext cx="9839" cy="79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2025"/>
                </a:spcBef>
                <a:spcAft>
                  <a:spcPts val="0"/>
                </a:spcAft>
                <a:buClr>
                  <a:srgbClr val="000000"/>
                </a:buClr>
                <a:buSzPts val="1400"/>
                <a:buFont typeface="Arial"/>
                <a:buNone/>
              </a:pPr>
              <a:r>
                <a:rPr lang="en-US" sz="1400" b="0" i="0" u="none" strike="noStrike" cap="none">
                  <a:solidFill>
                    <a:srgbClr val="4D4D4F"/>
                  </a:solidFill>
                  <a:latin typeface="Plus Jakarta Sans"/>
                  <a:ea typeface="Plus Jakarta Sans"/>
                  <a:cs typeface="Plus Jakarta Sans"/>
                  <a:sym typeface="Plus Jakarta Sans"/>
                </a:rPr>
                <a:t>Client optimised in-store layout by strengthening and supplementing</a:t>
              </a:r>
              <a:endParaRPr sz="1400" b="0" i="0" u="none" strike="noStrike" cap="none">
                <a:solidFill>
                  <a:srgbClr val="000000"/>
                </a:solidFill>
                <a:latin typeface="Plus Jakarta Sans"/>
                <a:ea typeface="Plus Jakarta Sans"/>
                <a:cs typeface="Plus Jakarta Sans"/>
                <a:sym typeface="Plus Jakarta Sans"/>
              </a:endParaRPr>
            </a:p>
            <a:p>
              <a:pPr marL="12700" marR="0" lvl="0" indent="0" algn="l" rtl="0">
                <a:lnSpc>
                  <a:spcPct val="100000"/>
                </a:lnSpc>
                <a:spcBef>
                  <a:spcPts val="460"/>
                </a:spcBef>
                <a:spcAft>
                  <a:spcPts val="0"/>
                </a:spcAft>
                <a:buClr>
                  <a:srgbClr val="000000"/>
                </a:buClr>
                <a:buSzPts val="1400"/>
                <a:buFont typeface="Arial"/>
                <a:buNone/>
              </a:pPr>
              <a:r>
                <a:rPr lang="en-US" sz="1400" b="0" i="0" u="none" strike="noStrike" cap="none">
                  <a:solidFill>
                    <a:srgbClr val="4D4D4F"/>
                  </a:solidFill>
                  <a:latin typeface="Plus Jakarta Sans"/>
                  <a:ea typeface="Plus Jakarta Sans"/>
                  <a:cs typeface="Plus Jakarta Sans"/>
                  <a:sym typeface="Plus Jakarta Sans"/>
                </a:rPr>
                <a:t>support for busy areas while improving dead zones</a:t>
              </a:r>
              <a:endParaRPr sz="1400" b="0" i="0" u="none" strike="noStrike" cap="none">
                <a:solidFill>
                  <a:srgbClr val="000000"/>
                </a:solidFill>
                <a:latin typeface="Plus Jakarta Sans"/>
                <a:ea typeface="Plus Jakarta Sans"/>
                <a:cs typeface="Plus Jakarta Sans"/>
                <a:sym typeface="Plus Jakarta Sans"/>
              </a:endParaRPr>
            </a:p>
          </p:txBody>
        </p:sp>
        <p:cxnSp>
          <p:nvCxnSpPr>
            <p:cNvPr id="2725" name="Google Shape;2725;p49"/>
            <p:cNvCxnSpPr/>
            <p:nvPr/>
          </p:nvCxnSpPr>
          <p:spPr>
            <a:xfrm>
              <a:off x="1482" y="9840"/>
              <a:ext cx="8727"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726" name="Google Shape;2726;p49"/>
            <p:cNvSpPr txBox="1"/>
            <p:nvPr/>
          </p:nvSpPr>
          <p:spPr>
            <a:xfrm>
              <a:off x="1482" y="9294"/>
              <a:ext cx="5213" cy="48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Result</a:t>
              </a:r>
              <a:endParaRPr sz="1200" b="0" i="0" u="none" strike="noStrike" cap="none">
                <a:solidFill>
                  <a:srgbClr val="000000"/>
                </a:solidFill>
                <a:latin typeface="Arial"/>
                <a:ea typeface="Arial"/>
                <a:cs typeface="Arial"/>
                <a:sym typeface="Arial"/>
              </a:endParaRPr>
            </a:p>
          </p:txBody>
        </p:sp>
      </p:grpSp>
      <p:grpSp>
        <p:nvGrpSpPr>
          <p:cNvPr id="2727" name="Google Shape;2727;p49"/>
          <p:cNvGrpSpPr/>
          <p:nvPr/>
        </p:nvGrpSpPr>
        <p:grpSpPr>
          <a:xfrm>
            <a:off x="941070" y="2438400"/>
            <a:ext cx="5767705" cy="1133475"/>
            <a:chOff x="1482" y="3840"/>
            <a:chExt cx="9083" cy="1785"/>
          </a:xfrm>
        </p:grpSpPr>
        <p:sp>
          <p:nvSpPr>
            <p:cNvPr id="2728" name="Google Shape;2728;p49"/>
            <p:cNvSpPr txBox="1"/>
            <p:nvPr/>
          </p:nvSpPr>
          <p:spPr>
            <a:xfrm>
              <a:off x="1482" y="4588"/>
              <a:ext cx="9083" cy="1037"/>
            </a:xfrm>
            <a:prstGeom prst="rect">
              <a:avLst/>
            </a:prstGeom>
            <a:noFill/>
            <a:ln>
              <a:noFill/>
            </a:ln>
          </p:spPr>
          <p:txBody>
            <a:bodyPr spcFirstLastPara="1" wrap="square" lIns="0" tIns="12700" rIns="0" bIns="0" anchor="t" anchorCtr="0">
              <a:spAutoFit/>
            </a:bodyPr>
            <a:lstStyle/>
            <a:p>
              <a:pPr marL="304165" marR="0" lvl="0" indent="-285115" algn="l" rtl="0">
                <a:lnSpc>
                  <a:spcPct val="100000"/>
                </a:lnSpc>
                <a:spcBef>
                  <a:spcPts val="0"/>
                </a:spcBef>
                <a:spcAft>
                  <a:spcPts val="0"/>
                </a:spcAft>
                <a:buClr>
                  <a:srgbClr val="000000"/>
                </a:buClr>
                <a:buSzPts val="2000"/>
                <a:buFont typeface="Arial"/>
                <a:buChar char="•"/>
              </a:pPr>
              <a:r>
                <a:rPr lang="en-US" sz="1400" b="0" i="0" u="none" strike="noStrike" cap="none">
                  <a:solidFill>
                    <a:srgbClr val="4D4D4F"/>
                  </a:solidFill>
                  <a:latin typeface="Plus Jakarta Sans"/>
                  <a:ea typeface="Plus Jakarta Sans"/>
                  <a:cs typeface="Plus Jakarta Sans"/>
                  <a:sym typeface="Plus Jakarta Sans"/>
                </a:rPr>
                <a:t>Due to the corona wreck, consumers refrained from eating out and shopping ofﬂine, retail sales declined.</a:t>
              </a:r>
              <a:endParaRPr sz="1400" b="0" i="0" u="none" strike="noStrike" cap="none">
                <a:solidFill>
                  <a:srgbClr val="4D4D4F"/>
                </a:solidFill>
                <a:latin typeface="Plus Jakarta Sans"/>
                <a:ea typeface="Plus Jakarta Sans"/>
                <a:cs typeface="Plus Jakarta Sans"/>
                <a:sym typeface="Plus Jakarta Sans"/>
              </a:endParaRPr>
            </a:p>
            <a:p>
              <a:pPr marL="19050" marR="0" lvl="0" indent="0" algn="l" rtl="0">
                <a:lnSpc>
                  <a:spcPct val="100000"/>
                </a:lnSpc>
                <a:spcBef>
                  <a:spcPts val="0"/>
                </a:spcBef>
                <a:spcAft>
                  <a:spcPts val="0"/>
                </a:spcAft>
                <a:buClr>
                  <a:srgbClr val="000000"/>
                </a:buClr>
                <a:buSzPts val="2000"/>
                <a:buFont typeface="Arial"/>
                <a:buNone/>
              </a:pPr>
              <a:r>
                <a:rPr lang="en-US" sz="1400" b="0" i="0" u="none" strike="noStrike" cap="none">
                  <a:solidFill>
                    <a:srgbClr val="4D4D4F"/>
                  </a:solidFill>
                  <a:latin typeface="Plus Jakarta Sans"/>
                  <a:ea typeface="Plus Jakarta Sans"/>
                  <a:cs typeface="Plus Jakarta Sans"/>
                  <a:sym typeface="Plus Jakarta Sans"/>
                </a:rPr>
                <a:t>=&gt; Client turned to advanced technology and consulted VTI</a:t>
              </a:r>
              <a:endParaRPr sz="1400" b="0" i="0" u="none" strike="noStrike" cap="none">
                <a:solidFill>
                  <a:srgbClr val="000000"/>
                </a:solidFill>
                <a:latin typeface="Plus Jakarta Sans"/>
                <a:ea typeface="Plus Jakarta Sans"/>
                <a:cs typeface="Plus Jakarta Sans"/>
                <a:sym typeface="Plus Jakarta Sans"/>
              </a:endParaRPr>
            </a:p>
          </p:txBody>
        </p:sp>
        <p:cxnSp>
          <p:nvCxnSpPr>
            <p:cNvPr id="2729" name="Google Shape;2729;p49"/>
            <p:cNvCxnSpPr/>
            <p:nvPr/>
          </p:nvCxnSpPr>
          <p:spPr>
            <a:xfrm>
              <a:off x="1482" y="4386"/>
              <a:ext cx="8727" cy="0"/>
            </a:xfrm>
            <a:prstGeom prst="straightConnector1">
              <a:avLst/>
            </a:prstGeom>
            <a:noFill/>
            <a:ln w="19050" cap="flat" cmpd="sng">
              <a:solidFill>
                <a:srgbClr val="3A3A3A">
                  <a:alpha val="28627"/>
                </a:srgbClr>
              </a:solidFill>
              <a:prstDash val="solid"/>
              <a:round/>
              <a:headEnd type="none" w="sm" len="sm"/>
              <a:tailEnd type="none" w="sm" len="sm"/>
            </a:ln>
          </p:spPr>
        </p:cxnSp>
        <p:sp>
          <p:nvSpPr>
            <p:cNvPr id="2730" name="Google Shape;2730;p49"/>
            <p:cNvSpPr txBox="1"/>
            <p:nvPr/>
          </p:nvSpPr>
          <p:spPr>
            <a:xfrm>
              <a:off x="1482" y="3840"/>
              <a:ext cx="5213" cy="48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3A3A3A"/>
                  </a:solidFill>
                  <a:latin typeface="Inter"/>
                  <a:ea typeface="Inter"/>
                  <a:cs typeface="Inter"/>
                  <a:sym typeface="Inter"/>
                </a:rPr>
                <a:t>Challenge</a:t>
              </a:r>
              <a:endParaRPr sz="1200" b="0" i="0" u="none" strike="noStrike" cap="none">
                <a:solidFill>
                  <a:srgbClr val="000000"/>
                </a:solidFill>
                <a:latin typeface="Arial"/>
                <a:ea typeface="Arial"/>
                <a:cs typeface="Arial"/>
                <a:sym typeface="Arial"/>
              </a:endParaRPr>
            </a:p>
          </p:txBody>
        </p:sp>
      </p:grpSp>
      <p:sp>
        <p:nvSpPr>
          <p:cNvPr id="2" name="Google Shape;1967;p26">
            <a:extLst>
              <a:ext uri="{FF2B5EF4-FFF2-40B4-BE49-F238E27FC236}">
                <a16:creationId xmlns:a16="http://schemas.microsoft.com/office/drawing/2014/main" id="{85A232C0-4E44-3539-A95A-E8D9ADCB1FA9}"/>
              </a:ext>
            </a:extLst>
          </p:cNvPr>
          <p:cNvSpPr/>
          <p:nvPr/>
        </p:nvSpPr>
        <p:spPr>
          <a:xfrm>
            <a:off x="8000" y="8491052"/>
            <a:ext cx="865606" cy="420258"/>
          </a:xfrm>
          <a:custGeom>
            <a:avLst/>
            <a:gdLst/>
            <a:ahLst/>
            <a:cxnLst/>
            <a:rect l="l" t="t" r="r" b="b"/>
            <a:pathLst>
              <a:path w="972591" h="472200" extrusionOk="0">
                <a:moveTo>
                  <a:pt x="0" y="0"/>
                </a:moveTo>
                <a:lnTo>
                  <a:pt x="972591" y="0"/>
                </a:lnTo>
                <a:lnTo>
                  <a:pt x="972591" y="472200"/>
                </a:lnTo>
                <a:lnTo>
                  <a:pt x="0" y="472200"/>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b="-5"/>
            </a:stretch>
          </a:blipFill>
          <a:ln>
            <a:noFill/>
          </a:ln>
        </p:spPr>
      </p:sp>
      <p:grpSp>
        <p:nvGrpSpPr>
          <p:cNvPr id="3" name="Google Shape;1968;p26">
            <a:extLst>
              <a:ext uri="{FF2B5EF4-FFF2-40B4-BE49-F238E27FC236}">
                <a16:creationId xmlns:a16="http://schemas.microsoft.com/office/drawing/2014/main" id="{748C1F63-3767-A79F-1E7D-E794F1373057}"/>
              </a:ext>
            </a:extLst>
          </p:cNvPr>
          <p:cNvGrpSpPr/>
          <p:nvPr/>
        </p:nvGrpSpPr>
        <p:grpSpPr>
          <a:xfrm>
            <a:off x="872534" y="8351050"/>
            <a:ext cx="846442" cy="699635"/>
            <a:chOff x="0" y="0"/>
            <a:chExt cx="1269600" cy="1049400"/>
          </a:xfrm>
        </p:grpSpPr>
        <p:sp>
          <p:nvSpPr>
            <p:cNvPr id="4" name="Google Shape;1969;p26">
              <a:extLst>
                <a:ext uri="{FF2B5EF4-FFF2-40B4-BE49-F238E27FC236}">
                  <a16:creationId xmlns:a16="http://schemas.microsoft.com/office/drawing/2014/main" id="{604849B7-8C26-4CF3-2EB2-06464B025166}"/>
                </a:ext>
              </a:extLst>
            </p:cNvPr>
            <p:cNvSpPr/>
            <p:nvPr/>
          </p:nvSpPr>
          <p:spPr>
            <a:xfrm>
              <a:off x="0" y="0"/>
              <a:ext cx="1269600" cy="1049400"/>
            </a:xfrm>
            <a:custGeom>
              <a:avLst/>
              <a:gdLst/>
              <a:ahLst/>
              <a:cxnLst/>
              <a:rect l="l" t="t" r="r" b="b"/>
              <a:pathLst>
                <a:path w="1269600" h="1049400" extrusionOk="0">
                  <a:moveTo>
                    <a:pt x="0" y="0"/>
                  </a:moveTo>
                  <a:lnTo>
                    <a:pt x="1269600" y="0"/>
                  </a:lnTo>
                  <a:lnTo>
                    <a:pt x="1269600" y="1049400"/>
                  </a:lnTo>
                  <a:lnTo>
                    <a:pt x="0" y="1049400"/>
                  </a:lnTo>
                  <a:close/>
                </a:path>
              </a:pathLst>
            </a:custGeom>
            <a:solidFill>
              <a:srgbClr val="000000">
                <a:alpha val="0"/>
              </a:srgbClr>
            </a:solidFill>
            <a:ln>
              <a:noFill/>
            </a:ln>
          </p:spPr>
        </p:sp>
        <p:sp>
          <p:nvSpPr>
            <p:cNvPr id="5" name="Google Shape;1970;p26">
              <a:extLst>
                <a:ext uri="{FF2B5EF4-FFF2-40B4-BE49-F238E27FC236}">
                  <a16:creationId xmlns:a16="http://schemas.microsoft.com/office/drawing/2014/main" id="{22D61378-B0FC-C65E-0D17-D0C250BEE2DC}"/>
                </a:ext>
              </a:extLst>
            </p:cNvPr>
            <p:cNvSpPr txBox="1"/>
            <p:nvPr/>
          </p:nvSpPr>
          <p:spPr>
            <a:xfrm>
              <a:off x="0" y="0"/>
              <a:ext cx="1269600" cy="10494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2800"/>
                <a:buFont typeface="Arial"/>
                <a:buNone/>
              </a:pPr>
              <a:r>
                <a:rPr lang="en-US" sz="2800" dirty="0">
                  <a:solidFill>
                    <a:srgbClr val="585858"/>
                  </a:solidFill>
                  <a:latin typeface="Inter"/>
                  <a:ea typeface="Inter"/>
                  <a:sym typeface="Inter"/>
                </a:rPr>
                <a:t>42</a:t>
              </a:r>
              <a:endParaRPr sz="1200" b="0" i="0" u="none" strike="noStrike" cap="none" dirty="0">
                <a:solidFill>
                  <a:srgbClr val="585858"/>
                </a:solidFill>
                <a:latin typeface="Arial"/>
                <a:ea typeface="Arial"/>
                <a:cs typeface="Arial"/>
                <a:sym typeface="Aria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565"/>
        <p:cNvGrpSpPr/>
        <p:nvPr/>
      </p:nvGrpSpPr>
      <p:grpSpPr>
        <a:xfrm>
          <a:off x="0" y="0"/>
          <a:ext cx="0" cy="0"/>
          <a:chOff x="0" y="0"/>
          <a:chExt cx="0" cy="0"/>
        </a:xfrm>
      </p:grpSpPr>
      <p:pic>
        <p:nvPicPr>
          <p:cNvPr id="2566" name="Google Shape;2566;g3371019a5e0_0_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61466" y="0"/>
            <a:ext cx="6094537" cy="9144003"/>
          </a:xfrm>
          <a:prstGeom prst="rect">
            <a:avLst/>
          </a:prstGeom>
          <a:noFill/>
          <a:ln>
            <a:noFill/>
          </a:ln>
        </p:spPr>
      </p:pic>
      <p:pic>
        <p:nvPicPr>
          <p:cNvPr id="2567" name="Google Shape;2567;g3371019a5e0_0_6"/>
          <p:cNvPicPr preferRelativeResize="0"/>
          <p:nvPr/>
        </p:nvPicPr>
        <p:blipFill rotWithShape="1">
          <a:blip r:embed="rId4" cstate="email">
            <a:alphaModFix/>
            <a:extLst>
              <a:ext uri="{28A0092B-C50C-407E-A947-70E740481C1C}">
                <a14:useLocalDpi xmlns:a14="http://schemas.microsoft.com/office/drawing/2010/main"/>
              </a:ext>
            </a:extLst>
          </a:blip>
          <a:srcRect r="-5427"/>
          <a:stretch/>
        </p:blipFill>
        <p:spPr>
          <a:xfrm>
            <a:off x="14735643" y="244444"/>
            <a:ext cx="1089782" cy="655556"/>
          </a:xfrm>
          <a:prstGeom prst="rect">
            <a:avLst/>
          </a:prstGeom>
          <a:noFill/>
          <a:ln>
            <a:noFill/>
          </a:ln>
        </p:spPr>
      </p:pic>
      <p:grpSp>
        <p:nvGrpSpPr>
          <p:cNvPr id="2568" name="Google Shape;2568;g3371019a5e0_0_6"/>
          <p:cNvGrpSpPr/>
          <p:nvPr/>
        </p:nvGrpSpPr>
        <p:grpSpPr>
          <a:xfrm>
            <a:off x="580052" y="355694"/>
            <a:ext cx="9432859" cy="7083110"/>
            <a:chOff x="345325" y="212775"/>
            <a:chExt cx="5305917" cy="3984200"/>
          </a:xfrm>
        </p:grpSpPr>
        <p:sp>
          <p:nvSpPr>
            <p:cNvPr id="2569" name="Google Shape;2569;g3371019a5e0_0_6"/>
            <p:cNvSpPr txBox="1"/>
            <p:nvPr/>
          </p:nvSpPr>
          <p:spPr>
            <a:xfrm>
              <a:off x="345325" y="212775"/>
              <a:ext cx="5101500" cy="738900"/>
            </a:xfrm>
            <a:prstGeom prst="rect">
              <a:avLst/>
            </a:prstGeom>
            <a:noFill/>
            <a:ln>
              <a:noFill/>
            </a:ln>
          </p:spPr>
          <p:txBody>
            <a:bodyPr spcFirstLastPara="1" wrap="square" lIns="162525" tIns="162525" rIns="162525" bIns="162525"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3D3D3D"/>
                  </a:solidFill>
                  <a:latin typeface="Inter"/>
                  <a:ea typeface="Inter"/>
                  <a:cs typeface="Inter"/>
                  <a:sym typeface="Inter"/>
                </a:rPr>
                <a:t>CONTACT US</a:t>
              </a:r>
              <a:endParaRPr sz="3200" b="1" i="0" u="none" strike="noStrike" cap="none">
                <a:solidFill>
                  <a:srgbClr val="3D3D3D"/>
                </a:solidFill>
                <a:latin typeface="Inter"/>
                <a:ea typeface="Inter"/>
                <a:cs typeface="Inter"/>
                <a:sym typeface="Inter"/>
              </a:endParaRPr>
            </a:p>
            <a:p>
              <a:pPr marL="0" marR="0" lvl="0" indent="0" algn="l" rtl="0">
                <a:lnSpc>
                  <a:spcPct val="100000"/>
                </a:lnSpc>
                <a:spcBef>
                  <a:spcPts val="0"/>
                </a:spcBef>
                <a:spcAft>
                  <a:spcPts val="0"/>
                </a:spcAft>
                <a:buClr>
                  <a:srgbClr val="000000"/>
                </a:buClr>
                <a:buSzPts val="3200"/>
                <a:buFont typeface="Arial"/>
                <a:buNone/>
              </a:pPr>
              <a:endParaRPr sz="3200" b="1" i="0" u="none" strike="noStrike" cap="none">
                <a:solidFill>
                  <a:srgbClr val="323232"/>
                </a:solidFill>
                <a:latin typeface="Inter"/>
                <a:ea typeface="Inter"/>
                <a:cs typeface="Inter"/>
                <a:sym typeface="Inter"/>
              </a:endParaRPr>
            </a:p>
          </p:txBody>
        </p:sp>
        <p:grpSp>
          <p:nvGrpSpPr>
            <p:cNvPr id="2570" name="Google Shape;2570;g3371019a5e0_0_6"/>
            <p:cNvGrpSpPr/>
            <p:nvPr/>
          </p:nvGrpSpPr>
          <p:grpSpPr>
            <a:xfrm>
              <a:off x="345325" y="1520257"/>
              <a:ext cx="5305917" cy="2676718"/>
              <a:chOff x="256425" y="1520257"/>
              <a:chExt cx="5305917" cy="2676718"/>
            </a:xfrm>
          </p:grpSpPr>
          <p:sp>
            <p:nvSpPr>
              <p:cNvPr id="2571" name="Google Shape;2571;g3371019a5e0_0_6"/>
              <p:cNvSpPr txBox="1"/>
              <p:nvPr/>
            </p:nvSpPr>
            <p:spPr>
              <a:xfrm>
                <a:off x="460842" y="1520257"/>
                <a:ext cx="5101500" cy="2676718"/>
              </a:xfrm>
              <a:prstGeom prst="rect">
                <a:avLst/>
              </a:prstGeom>
              <a:noFill/>
              <a:ln>
                <a:noFill/>
              </a:ln>
            </p:spPr>
            <p:txBody>
              <a:bodyPr spcFirstLastPara="1" wrap="square" lIns="162525" tIns="162525" rIns="162525" bIns="16252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1" i="0" u="none" strike="noStrike" cap="none" dirty="0">
                    <a:solidFill>
                      <a:srgbClr val="3D3D3D"/>
                    </a:solidFill>
                    <a:latin typeface="Plus Jakarta Sans"/>
                    <a:ea typeface="Plus Jakarta Sans"/>
                    <a:cs typeface="Plus Jakarta Sans"/>
                    <a:sym typeface="Plus Jakarta Sans"/>
                  </a:rPr>
                  <a:t>VIETNAM</a:t>
                </a:r>
                <a:endParaRPr sz="1800" b="1" i="0" u="none" strike="noStrike" cap="none" dirty="0">
                  <a:solidFill>
                    <a:srgbClr val="3D3D3D"/>
                  </a:solidFill>
                  <a:latin typeface="Plus Jakarta Sans"/>
                  <a:ea typeface="Plus Jakarta Sans"/>
                  <a:cs typeface="Plus Jakarta Sans"/>
                  <a:sym typeface="Plus Jakarta Sans"/>
                </a:endParaRPr>
              </a:p>
              <a:p>
                <a:pPr marL="0" marR="0" lvl="0" indent="0" algn="l" rtl="0">
                  <a:lnSpc>
                    <a:spcPct val="115000"/>
                  </a:lnSpc>
                  <a:spcBef>
                    <a:spcPts val="0"/>
                  </a:spcBef>
                  <a:spcAft>
                    <a:spcPts val="0"/>
                  </a:spcAft>
                  <a:buClr>
                    <a:srgbClr val="000000"/>
                  </a:buClr>
                  <a:buSzPts val="1500"/>
                  <a:buFont typeface="Arial"/>
                  <a:buNone/>
                </a:pPr>
                <a:r>
                  <a:rPr lang="en-US" sz="1500" b="0" i="0" u="none" strike="noStrike" cap="none" dirty="0">
                    <a:solidFill>
                      <a:srgbClr val="3D3D3D"/>
                    </a:solidFill>
                    <a:latin typeface="Plus Jakarta Sans"/>
                    <a:ea typeface="Plus Jakarta Sans"/>
                    <a:cs typeface="Plus Jakarta Sans"/>
                    <a:sym typeface="Plus Jakarta Sans"/>
                  </a:rPr>
                  <a:t>• VTI Building, Me Tri Ha Urban Zone, Nam Tu Liem, Ha Noi</a:t>
                </a:r>
                <a:endParaRPr sz="1500" b="0" i="0" u="none" strike="noStrike" cap="none" dirty="0">
                  <a:solidFill>
                    <a:srgbClr val="3D3D3D"/>
                  </a:solidFill>
                  <a:latin typeface="Plus Jakarta Sans"/>
                  <a:ea typeface="Plus Jakarta Sans"/>
                  <a:cs typeface="Plus Jakarta Sans"/>
                  <a:sym typeface="Plus Jakarta Sans"/>
                </a:endParaRPr>
              </a:p>
              <a:p>
                <a:pPr marL="0" marR="0" lvl="0" indent="0" algn="l" rtl="0">
                  <a:lnSpc>
                    <a:spcPct val="115000"/>
                  </a:lnSpc>
                  <a:spcBef>
                    <a:spcPts val="0"/>
                  </a:spcBef>
                  <a:spcAft>
                    <a:spcPts val="0"/>
                  </a:spcAft>
                  <a:buClr>
                    <a:srgbClr val="000000"/>
                  </a:buClr>
                  <a:buSzPts val="1500"/>
                  <a:buFont typeface="Arial"/>
                  <a:buNone/>
                </a:pPr>
                <a:r>
                  <a:rPr lang="en-US" sz="1500" b="0" i="0" u="none" strike="noStrike" cap="none" dirty="0">
                    <a:solidFill>
                      <a:srgbClr val="3D3D3D"/>
                    </a:solidFill>
                    <a:latin typeface="Plus Jakarta Sans"/>
                    <a:ea typeface="Plus Jakarta Sans"/>
                    <a:cs typeface="Plus Jakarta Sans"/>
                    <a:sym typeface="Plus Jakarta Sans"/>
                  </a:rPr>
                  <a:t>• </a:t>
                </a:r>
                <a:r>
                  <a:rPr lang="en-US" sz="1500" dirty="0" err="1">
                    <a:solidFill>
                      <a:srgbClr val="3D3D3D"/>
                    </a:solidFill>
                    <a:latin typeface="Plus Jakarta Sans"/>
                    <a:ea typeface="Plus Jakarta Sans"/>
                    <a:cs typeface="Plus Jakarta Sans"/>
                    <a:sym typeface="Plus Jakarta Sans"/>
                  </a:rPr>
                  <a:t>Dakao</a:t>
                </a:r>
                <a:r>
                  <a:rPr lang="en-US" sz="1500" dirty="0">
                    <a:solidFill>
                      <a:srgbClr val="3D3D3D"/>
                    </a:solidFill>
                    <a:latin typeface="Plus Jakarta Sans"/>
                    <a:ea typeface="Plus Jakarta Sans"/>
                    <a:cs typeface="Plus Jakarta Sans"/>
                    <a:sym typeface="Plus Jakarta Sans"/>
                  </a:rPr>
                  <a:t> Center Building, No. 35 Mac Dinh Chi, Tan Dinh Ward, Ho Chi Minh City</a:t>
                </a:r>
                <a:endParaRPr sz="1500" dirty="0">
                  <a:solidFill>
                    <a:srgbClr val="3D3D3D"/>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rgbClr val="3D3D3D"/>
                  </a:solidFill>
                  <a:latin typeface="Plus Jakarta Sans"/>
                  <a:ea typeface="Plus Jakarta Sans"/>
                  <a:cs typeface="Plus Jakarta Sans"/>
                  <a:sym typeface="Plus Jakarta Sans"/>
                </a:endParaRPr>
              </a:p>
              <a:p>
                <a:pPr marL="0" marR="0" lvl="0" indent="0" algn="l" rtl="0">
                  <a:lnSpc>
                    <a:spcPct val="150000"/>
                  </a:lnSpc>
                  <a:spcBef>
                    <a:spcPts val="0"/>
                  </a:spcBef>
                  <a:spcAft>
                    <a:spcPts val="0"/>
                  </a:spcAft>
                  <a:buClr>
                    <a:srgbClr val="000000"/>
                  </a:buClr>
                  <a:buSzPts val="1800"/>
                  <a:buFont typeface="Arial"/>
                  <a:buNone/>
                </a:pPr>
                <a:r>
                  <a:rPr lang="en-US" sz="1800" b="1" i="0" u="none" strike="noStrike" cap="none" dirty="0">
                    <a:solidFill>
                      <a:srgbClr val="3D3D3D"/>
                    </a:solidFill>
                    <a:latin typeface="Plus Jakarta Sans"/>
                    <a:ea typeface="Plus Jakarta Sans"/>
                    <a:cs typeface="Plus Jakarta Sans"/>
                    <a:sym typeface="Plus Jakarta Sans"/>
                  </a:rPr>
                  <a:t>KOREA</a:t>
                </a:r>
                <a:endParaRPr sz="1800" b="1" i="0" u="none" strike="noStrike" cap="none" dirty="0">
                  <a:solidFill>
                    <a:srgbClr val="3D3D3D"/>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dirty="0">
                    <a:solidFill>
                      <a:srgbClr val="3D3D3D"/>
                    </a:solidFill>
                    <a:latin typeface="Plus Jakarta Sans"/>
                    <a:ea typeface="Plus Jakarta Sans"/>
                    <a:cs typeface="Plus Jakarta Sans"/>
                    <a:sym typeface="Plus Jakarta Sans"/>
                  </a:rPr>
                  <a:t>• 13 Floor, </a:t>
                </a:r>
                <a:r>
                  <a:rPr lang="en-US" sz="1500" b="0" i="0" u="none" strike="noStrike" cap="none" dirty="0" err="1">
                    <a:solidFill>
                      <a:srgbClr val="3D3D3D"/>
                    </a:solidFill>
                    <a:latin typeface="Plus Jakarta Sans"/>
                    <a:ea typeface="Plus Jakarta Sans"/>
                    <a:cs typeface="Plus Jakarta Sans"/>
                    <a:sym typeface="Plus Jakarta Sans"/>
                  </a:rPr>
                  <a:t>Goryeo</a:t>
                </a:r>
                <a:r>
                  <a:rPr lang="en-US" sz="1500" b="0" i="0" u="none" strike="noStrike" cap="none" dirty="0">
                    <a:solidFill>
                      <a:srgbClr val="3D3D3D"/>
                    </a:solidFill>
                    <a:latin typeface="Plus Jakarta Sans"/>
                    <a:ea typeface="Plus Jakarta Sans"/>
                    <a:cs typeface="Plus Jakarta Sans"/>
                    <a:sym typeface="Plus Jakarta Sans"/>
                  </a:rPr>
                  <a:t> </a:t>
                </a:r>
                <a:r>
                  <a:rPr lang="en-US" sz="1500" b="0" i="0" u="none" strike="noStrike" cap="none" dirty="0" err="1">
                    <a:solidFill>
                      <a:srgbClr val="3D3D3D"/>
                    </a:solidFill>
                    <a:latin typeface="Plus Jakarta Sans"/>
                    <a:ea typeface="Plus Jakarta Sans"/>
                    <a:cs typeface="Plus Jakarta Sans"/>
                    <a:sym typeface="Plus Jakarta Sans"/>
                  </a:rPr>
                  <a:t>Daeyeongak</a:t>
                </a:r>
                <a:r>
                  <a:rPr lang="en-US" sz="1500" b="0" i="0" u="none" strike="noStrike" cap="none" dirty="0">
                    <a:solidFill>
                      <a:srgbClr val="3D3D3D"/>
                    </a:solidFill>
                    <a:latin typeface="Plus Jakarta Sans"/>
                    <a:ea typeface="Plus Jakarta Sans"/>
                    <a:cs typeface="Plus Jakarta Sans"/>
                    <a:sym typeface="Plus Jakarta Sans"/>
                  </a:rPr>
                  <a:t> Tower, 97 </a:t>
                </a:r>
                <a:r>
                  <a:rPr lang="en-US" sz="1500" b="0" i="0" u="none" strike="noStrike" cap="none" dirty="0" err="1">
                    <a:solidFill>
                      <a:srgbClr val="3D3D3D"/>
                    </a:solidFill>
                    <a:latin typeface="Plus Jakarta Sans"/>
                    <a:ea typeface="Plus Jakarta Sans"/>
                    <a:cs typeface="Plus Jakarta Sans"/>
                    <a:sym typeface="Plus Jakarta Sans"/>
                  </a:rPr>
                  <a:t>Toegye-ro</a:t>
                </a:r>
                <a:r>
                  <a:rPr lang="en-US" sz="1500" b="0" i="0" u="none" strike="noStrike" cap="none" dirty="0">
                    <a:solidFill>
                      <a:srgbClr val="3D3D3D"/>
                    </a:solidFill>
                    <a:latin typeface="Plus Jakarta Sans"/>
                    <a:ea typeface="Plus Jakarta Sans"/>
                    <a:cs typeface="Plus Jakarta Sans"/>
                    <a:sym typeface="Plus Jakarta Sans"/>
                  </a:rPr>
                  <a:t>, Jung-</a:t>
                </a:r>
                <a:r>
                  <a:rPr lang="en-US" sz="1500" b="0" i="0" u="none" strike="noStrike" cap="none" dirty="0" err="1">
                    <a:solidFill>
                      <a:srgbClr val="3D3D3D"/>
                    </a:solidFill>
                    <a:latin typeface="Plus Jakarta Sans"/>
                    <a:ea typeface="Plus Jakarta Sans"/>
                    <a:cs typeface="Plus Jakarta Sans"/>
                    <a:sym typeface="Plus Jakarta Sans"/>
                  </a:rPr>
                  <a:t>gu</a:t>
                </a:r>
                <a:r>
                  <a:rPr lang="en-US" sz="1500" b="0" i="0" u="none" strike="noStrike" cap="none" dirty="0">
                    <a:solidFill>
                      <a:srgbClr val="3D3D3D"/>
                    </a:solidFill>
                    <a:latin typeface="Plus Jakarta Sans"/>
                    <a:ea typeface="Plus Jakarta Sans"/>
                    <a:cs typeface="Plus Jakarta Sans"/>
                    <a:sym typeface="Plus Jakarta Sans"/>
                  </a:rPr>
                  <a:t>, Seoul, Korea 04535</a:t>
                </a:r>
                <a:endParaRPr sz="1500" b="0" i="0" u="none" strike="noStrike" cap="none" dirty="0">
                  <a:solidFill>
                    <a:srgbClr val="3D3D3D"/>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rgbClr val="3D3D3D"/>
                  </a:solidFill>
                  <a:latin typeface="Plus Jakarta Sans"/>
                  <a:ea typeface="Plus Jakarta Sans"/>
                  <a:cs typeface="Plus Jakarta Sans"/>
                  <a:sym typeface="Plus Jakarta Sans"/>
                </a:endParaRPr>
              </a:p>
              <a:p>
                <a:pPr marL="0" marR="0" lvl="0" indent="0" algn="l" rtl="0">
                  <a:lnSpc>
                    <a:spcPct val="150000"/>
                  </a:lnSpc>
                  <a:spcBef>
                    <a:spcPts val="0"/>
                  </a:spcBef>
                  <a:spcAft>
                    <a:spcPts val="0"/>
                  </a:spcAft>
                  <a:buClr>
                    <a:srgbClr val="000000"/>
                  </a:buClr>
                  <a:buSzPts val="1800"/>
                  <a:buFont typeface="Arial"/>
                  <a:buNone/>
                </a:pPr>
                <a:r>
                  <a:rPr lang="en-US" sz="1800" b="1" i="0" u="none" strike="noStrike" cap="none" dirty="0">
                    <a:solidFill>
                      <a:srgbClr val="3D3D3D"/>
                    </a:solidFill>
                    <a:latin typeface="Plus Jakarta Sans"/>
                    <a:ea typeface="Plus Jakarta Sans"/>
                    <a:cs typeface="Plus Jakarta Sans"/>
                    <a:sym typeface="Plus Jakarta Sans"/>
                  </a:rPr>
                  <a:t>JAPAN</a:t>
                </a:r>
                <a:endParaRPr sz="1800" b="1" i="0" u="none" strike="noStrike" cap="none" dirty="0">
                  <a:solidFill>
                    <a:srgbClr val="3D3D3D"/>
                  </a:solidFill>
                  <a:latin typeface="Plus Jakarta Sans"/>
                  <a:ea typeface="Plus Jakarta Sans"/>
                  <a:cs typeface="Plus Jakarta Sans"/>
                  <a:sym typeface="Plus Jakarta Sans"/>
                </a:endParaRPr>
              </a:p>
              <a:p>
                <a:pPr marL="0" marR="0" lvl="0" indent="0" algn="l" rtl="0">
                  <a:lnSpc>
                    <a:spcPct val="115000"/>
                  </a:lnSpc>
                  <a:spcBef>
                    <a:spcPts val="0"/>
                  </a:spcBef>
                  <a:spcAft>
                    <a:spcPts val="0"/>
                  </a:spcAft>
                  <a:buClr>
                    <a:srgbClr val="000000"/>
                  </a:buClr>
                  <a:buSzPts val="1400"/>
                  <a:buFont typeface="Arial"/>
                  <a:buNone/>
                </a:pPr>
                <a:r>
                  <a:rPr lang="en-US" sz="1400" b="0" i="0" u="none" strike="noStrike" cap="none" dirty="0">
                    <a:solidFill>
                      <a:srgbClr val="3D3D3D"/>
                    </a:solidFill>
                    <a:latin typeface="Plus Jakarta Sans"/>
                    <a:ea typeface="Plus Jakarta Sans"/>
                    <a:cs typeface="Plus Jakarta Sans"/>
                    <a:sym typeface="Plus Jakarta Sans"/>
                  </a:rPr>
                  <a:t>• </a:t>
                </a:r>
                <a:r>
                  <a:rPr lang="en-US" dirty="0">
                    <a:solidFill>
                      <a:srgbClr val="3D3D3D"/>
                    </a:solidFill>
                    <a:latin typeface="Plus Jakarta Sans"/>
                    <a:ea typeface="Plus Jakarta Sans"/>
                    <a:cs typeface="Plus Jakarta Sans"/>
                    <a:sym typeface="Plus Jakarta Sans"/>
                  </a:rPr>
                  <a:t>4F &amp; 5F, </a:t>
                </a:r>
                <a:r>
                  <a:rPr lang="en-US" dirty="0" err="1">
                    <a:solidFill>
                      <a:srgbClr val="3D3D3D"/>
                    </a:solidFill>
                    <a:latin typeface="Plus Jakarta Sans"/>
                    <a:ea typeface="Plus Jakarta Sans"/>
                    <a:cs typeface="Plus Jakarta Sans"/>
                    <a:sym typeface="Plus Jakarta Sans"/>
                  </a:rPr>
                  <a:t>Akebonobashi</a:t>
                </a:r>
                <a:r>
                  <a:rPr lang="en-US" dirty="0">
                    <a:solidFill>
                      <a:srgbClr val="3D3D3D"/>
                    </a:solidFill>
                    <a:latin typeface="Plus Jakarta Sans"/>
                    <a:ea typeface="Plus Jakarta Sans"/>
                    <a:cs typeface="Plus Jakarta Sans"/>
                    <a:sym typeface="Plus Jakarta Sans"/>
                  </a:rPr>
                  <a:t> SHK Building, 4-3 </a:t>
                </a:r>
                <a:r>
                  <a:rPr lang="en-US" dirty="0" err="1">
                    <a:solidFill>
                      <a:srgbClr val="3D3D3D"/>
                    </a:solidFill>
                    <a:latin typeface="Plus Jakarta Sans"/>
                    <a:ea typeface="Plus Jakarta Sans"/>
                    <a:cs typeface="Plus Jakarta Sans"/>
                    <a:sym typeface="Plus Jakarta Sans"/>
                  </a:rPr>
                  <a:t>Katamachi</a:t>
                </a:r>
                <a:r>
                  <a:rPr lang="en-US" dirty="0">
                    <a:solidFill>
                      <a:srgbClr val="3D3D3D"/>
                    </a:solidFill>
                    <a:latin typeface="Plus Jakarta Sans"/>
                    <a:ea typeface="Plus Jakarta Sans"/>
                    <a:cs typeface="Plus Jakarta Sans"/>
                    <a:sym typeface="Plus Jakarta Sans"/>
                  </a:rPr>
                  <a:t>, Shinjuku-</a:t>
                </a:r>
                <a:r>
                  <a:rPr lang="en-US" dirty="0" err="1">
                    <a:solidFill>
                      <a:srgbClr val="3D3D3D"/>
                    </a:solidFill>
                    <a:latin typeface="Plus Jakarta Sans"/>
                    <a:ea typeface="Plus Jakarta Sans"/>
                    <a:cs typeface="Plus Jakarta Sans"/>
                    <a:sym typeface="Plus Jakarta Sans"/>
                  </a:rPr>
                  <a:t>ku</a:t>
                </a:r>
                <a:r>
                  <a:rPr lang="en-US" dirty="0">
                    <a:solidFill>
                      <a:srgbClr val="3D3D3D"/>
                    </a:solidFill>
                    <a:latin typeface="Plus Jakarta Sans"/>
                    <a:ea typeface="Plus Jakarta Sans"/>
                    <a:cs typeface="Plus Jakarta Sans"/>
                    <a:sym typeface="Plus Jakarta Sans"/>
                  </a:rPr>
                  <a:t>, Tokyo 160-0001, Japan</a:t>
                </a:r>
                <a:endParaRPr dirty="0">
                  <a:solidFill>
                    <a:srgbClr val="3D3D3D"/>
                  </a:solidFill>
                  <a:latin typeface="Plus Jakarta Sans"/>
                  <a:ea typeface="Plus Jakarta Sans"/>
                  <a:cs typeface="Plus Jakarta Sans"/>
                  <a:sym typeface="Plus Jakarta Sans"/>
                </a:endParaRPr>
              </a:p>
              <a:p>
                <a:pPr marL="0" marR="0" lvl="0" indent="0" algn="l" rtl="0">
                  <a:lnSpc>
                    <a:spcPct val="115000"/>
                  </a:lnSpc>
                  <a:spcBef>
                    <a:spcPts val="0"/>
                  </a:spcBef>
                  <a:spcAft>
                    <a:spcPts val="0"/>
                  </a:spcAft>
                  <a:buClr>
                    <a:srgbClr val="000000"/>
                  </a:buClr>
                  <a:buSzPts val="1400"/>
                  <a:buFont typeface="Arial"/>
                  <a:buNone/>
                </a:pPr>
                <a:r>
                  <a:rPr lang="en-US" dirty="0">
                    <a:solidFill>
                      <a:srgbClr val="3D3D3D"/>
                    </a:solidFill>
                    <a:latin typeface="Plus Jakarta Sans"/>
                    <a:ea typeface="Plus Jakarta Sans"/>
                    <a:cs typeface="Plus Jakarta Sans"/>
                    <a:sym typeface="Plus Jakarta Sans"/>
                  </a:rPr>
                  <a:t>• 608, Sanko Building Semba, 1-3-9 </a:t>
                </a:r>
                <a:r>
                  <a:rPr lang="en-US" dirty="0" err="1">
                    <a:solidFill>
                      <a:srgbClr val="3D3D3D"/>
                    </a:solidFill>
                    <a:latin typeface="Plus Jakarta Sans"/>
                    <a:ea typeface="Plus Jakarta Sans"/>
                    <a:cs typeface="Plus Jakarta Sans"/>
                    <a:sym typeface="Plus Jakarta Sans"/>
                  </a:rPr>
                  <a:t>Minamihonmachi</a:t>
                </a:r>
                <a:r>
                  <a:rPr lang="en-US" dirty="0">
                    <a:solidFill>
                      <a:srgbClr val="3D3D3D"/>
                    </a:solidFill>
                    <a:latin typeface="Plus Jakarta Sans"/>
                    <a:ea typeface="Plus Jakarta Sans"/>
                    <a:cs typeface="Plus Jakarta Sans"/>
                    <a:sym typeface="Plus Jakarta Sans"/>
                  </a:rPr>
                  <a:t>, Chuo-</a:t>
                </a:r>
                <a:r>
                  <a:rPr lang="en-US" dirty="0" err="1">
                    <a:solidFill>
                      <a:srgbClr val="3D3D3D"/>
                    </a:solidFill>
                    <a:latin typeface="Plus Jakarta Sans"/>
                    <a:ea typeface="Plus Jakarta Sans"/>
                    <a:cs typeface="Plus Jakarta Sans"/>
                    <a:sym typeface="Plus Jakarta Sans"/>
                  </a:rPr>
                  <a:t>ku</a:t>
                </a:r>
                <a:r>
                  <a:rPr lang="en-US" dirty="0">
                    <a:solidFill>
                      <a:srgbClr val="3D3D3D"/>
                    </a:solidFill>
                    <a:latin typeface="Plus Jakarta Sans"/>
                    <a:ea typeface="Plus Jakarta Sans"/>
                    <a:cs typeface="Plus Jakarta Sans"/>
                    <a:sym typeface="Plus Jakarta Sans"/>
                  </a:rPr>
                  <a:t>, Osaka-</a:t>
                </a:r>
                <a:r>
                  <a:rPr lang="en-US" dirty="0" err="1">
                    <a:solidFill>
                      <a:srgbClr val="3D3D3D"/>
                    </a:solidFill>
                    <a:latin typeface="Plus Jakarta Sans"/>
                    <a:ea typeface="Plus Jakarta Sans"/>
                    <a:cs typeface="Plus Jakarta Sans"/>
                    <a:sym typeface="Plus Jakarta Sans"/>
                  </a:rPr>
                  <a:t>shi</a:t>
                </a:r>
                <a:r>
                  <a:rPr lang="en-US" dirty="0">
                    <a:solidFill>
                      <a:srgbClr val="3D3D3D"/>
                    </a:solidFill>
                    <a:latin typeface="Plus Jakarta Sans"/>
                    <a:ea typeface="Plus Jakarta Sans"/>
                    <a:cs typeface="Plus Jakarta Sans"/>
                    <a:sym typeface="Plus Jakarta Sans"/>
                  </a:rPr>
                  <a:t>, Osaka 541-0054, Japan</a:t>
                </a:r>
                <a:endParaRPr dirty="0">
                  <a:solidFill>
                    <a:srgbClr val="3D3D3D"/>
                  </a:solidFill>
                  <a:latin typeface="Plus Jakarta Sans"/>
                  <a:ea typeface="Plus Jakarta Sans"/>
                  <a:cs typeface="Plus Jakarta Sans"/>
                  <a:sym typeface="Plus Jakarta Sans"/>
                </a:endParaRPr>
              </a:p>
              <a:p>
                <a:pPr marL="0" marR="0" lvl="0" indent="0" algn="l" rtl="0">
                  <a:lnSpc>
                    <a:spcPct val="115000"/>
                  </a:lnSpc>
                  <a:spcBef>
                    <a:spcPts val="0"/>
                  </a:spcBef>
                  <a:spcAft>
                    <a:spcPts val="0"/>
                  </a:spcAft>
                  <a:buClr>
                    <a:srgbClr val="000000"/>
                  </a:buClr>
                  <a:buSzPts val="1400"/>
                  <a:buFont typeface="Arial"/>
                  <a:buNone/>
                </a:pPr>
                <a:r>
                  <a:rPr lang="en-US" dirty="0">
                    <a:solidFill>
                      <a:srgbClr val="3D3D3D"/>
                    </a:solidFill>
                    <a:latin typeface="Plus Jakarta Sans"/>
                    <a:ea typeface="Plus Jakarta Sans"/>
                    <a:cs typeface="Plus Jakarta Sans"/>
                    <a:sym typeface="Plus Jakarta Sans"/>
                  </a:rPr>
                  <a:t>• 7F West Side, Nagoya SI Building, 1-7-32 Nishiki, Naka-</a:t>
                </a:r>
                <a:r>
                  <a:rPr lang="en-US" dirty="0" err="1">
                    <a:solidFill>
                      <a:srgbClr val="3D3D3D"/>
                    </a:solidFill>
                    <a:latin typeface="Plus Jakarta Sans"/>
                    <a:ea typeface="Plus Jakarta Sans"/>
                    <a:cs typeface="Plus Jakarta Sans"/>
                    <a:sym typeface="Plus Jakarta Sans"/>
                  </a:rPr>
                  <a:t>ku</a:t>
                </a:r>
                <a:r>
                  <a:rPr lang="en-US" dirty="0">
                    <a:solidFill>
                      <a:srgbClr val="3D3D3D"/>
                    </a:solidFill>
                    <a:latin typeface="Plus Jakarta Sans"/>
                    <a:ea typeface="Plus Jakarta Sans"/>
                    <a:cs typeface="Plus Jakarta Sans"/>
                    <a:sym typeface="Plus Jakarta Sans"/>
                  </a:rPr>
                  <a:t>, Nagoya, Aichi 460-0003, Japan</a:t>
                </a:r>
                <a:endParaRPr dirty="0">
                  <a:solidFill>
                    <a:srgbClr val="3D3D3D"/>
                  </a:solidFill>
                  <a:latin typeface="Plus Jakarta Sans"/>
                  <a:ea typeface="Plus Jakarta Sans"/>
                  <a:cs typeface="Plus Jakarta Sans"/>
                  <a:sym typeface="Plus Jakarta Sans"/>
                </a:endParaRPr>
              </a:p>
              <a:p>
                <a:pPr marL="0" marR="0" lvl="0" indent="0" algn="l" rtl="0">
                  <a:lnSpc>
                    <a:spcPct val="115000"/>
                  </a:lnSpc>
                  <a:spcBef>
                    <a:spcPts val="0"/>
                  </a:spcBef>
                  <a:spcAft>
                    <a:spcPts val="0"/>
                  </a:spcAft>
                  <a:buClr>
                    <a:srgbClr val="000000"/>
                  </a:buClr>
                  <a:buSzPts val="1400"/>
                  <a:buFont typeface="Arial"/>
                  <a:buNone/>
                </a:pPr>
                <a:r>
                  <a:rPr lang="en-US" dirty="0">
                    <a:solidFill>
                      <a:srgbClr val="3D3D3D"/>
                    </a:solidFill>
                    <a:latin typeface="Plus Jakarta Sans"/>
                    <a:ea typeface="Plus Jakarta Sans"/>
                    <a:cs typeface="Plus Jakarta Sans"/>
                    <a:sym typeface="Plus Jakarta Sans"/>
                  </a:rPr>
                  <a:t>• 601, Hakata Kowa Building, 3-23-12 Hakata </a:t>
                </a:r>
                <a:r>
                  <a:rPr lang="en-US" dirty="0" err="1">
                    <a:solidFill>
                      <a:srgbClr val="3D3D3D"/>
                    </a:solidFill>
                    <a:latin typeface="Plus Jakarta Sans"/>
                    <a:ea typeface="Plus Jakarta Sans"/>
                    <a:cs typeface="Plus Jakarta Sans"/>
                    <a:sym typeface="Plus Jakarta Sans"/>
                  </a:rPr>
                  <a:t>Ekimae</a:t>
                </a:r>
                <a:r>
                  <a:rPr lang="en-US" dirty="0">
                    <a:solidFill>
                      <a:srgbClr val="3D3D3D"/>
                    </a:solidFill>
                    <a:latin typeface="Plus Jakarta Sans"/>
                    <a:ea typeface="Plus Jakarta Sans"/>
                    <a:cs typeface="Plus Jakarta Sans"/>
                    <a:sym typeface="Plus Jakarta Sans"/>
                  </a:rPr>
                  <a:t>, Hakata-</a:t>
                </a:r>
                <a:r>
                  <a:rPr lang="en-US" dirty="0" err="1">
                    <a:solidFill>
                      <a:srgbClr val="3D3D3D"/>
                    </a:solidFill>
                    <a:latin typeface="Plus Jakarta Sans"/>
                    <a:ea typeface="Plus Jakarta Sans"/>
                    <a:cs typeface="Plus Jakarta Sans"/>
                    <a:sym typeface="Plus Jakarta Sans"/>
                  </a:rPr>
                  <a:t>ku</a:t>
                </a:r>
                <a:r>
                  <a:rPr lang="en-US" dirty="0">
                    <a:solidFill>
                      <a:srgbClr val="3D3D3D"/>
                    </a:solidFill>
                    <a:latin typeface="Plus Jakarta Sans"/>
                    <a:ea typeface="Plus Jakarta Sans"/>
                    <a:cs typeface="Plus Jakarta Sans"/>
                    <a:sym typeface="Plus Jakarta Sans"/>
                  </a:rPr>
                  <a:t>, Fukuoka 812-0011, Japan</a:t>
                </a:r>
                <a:endParaRPr dirty="0">
                  <a:solidFill>
                    <a:srgbClr val="3D3D3D"/>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rgbClr val="3D3D3D"/>
                  </a:solidFill>
                  <a:latin typeface="Plus Jakarta Sans"/>
                  <a:ea typeface="Plus Jakarta Sans"/>
                  <a:cs typeface="Plus Jakarta Sans"/>
                  <a:sym typeface="Plus Jakarta Sans"/>
                </a:endParaRPr>
              </a:p>
              <a:p>
                <a:pPr marL="0" marR="0" lvl="0" indent="0" algn="l" rtl="0">
                  <a:lnSpc>
                    <a:spcPct val="150000"/>
                  </a:lnSpc>
                  <a:spcBef>
                    <a:spcPts val="0"/>
                  </a:spcBef>
                  <a:spcAft>
                    <a:spcPts val="0"/>
                  </a:spcAft>
                  <a:buClr>
                    <a:srgbClr val="000000"/>
                  </a:buClr>
                  <a:buSzPts val="1800"/>
                  <a:buFont typeface="Arial"/>
                  <a:buNone/>
                </a:pPr>
                <a:r>
                  <a:rPr lang="en-US" sz="1800" b="1" i="0" u="none" strike="noStrike" cap="none" dirty="0">
                    <a:solidFill>
                      <a:srgbClr val="3D3D3D"/>
                    </a:solidFill>
                    <a:latin typeface="Plus Jakarta Sans"/>
                    <a:ea typeface="Plus Jakarta Sans"/>
                    <a:cs typeface="Plus Jakarta Sans"/>
                    <a:sym typeface="Plus Jakarta Sans"/>
                  </a:rPr>
                  <a:t>SINGAPORE</a:t>
                </a:r>
                <a:endParaRPr sz="1800" b="1" i="0" u="none" strike="noStrike" cap="none" dirty="0">
                  <a:solidFill>
                    <a:srgbClr val="3D3D3D"/>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dirty="0">
                    <a:solidFill>
                      <a:srgbClr val="3D3D3D"/>
                    </a:solidFill>
                    <a:latin typeface="Plus Jakarta Sans"/>
                    <a:ea typeface="Plus Jakarta Sans"/>
                    <a:cs typeface="Plus Jakarta Sans"/>
                    <a:sym typeface="Plus Jakarta Sans"/>
                  </a:rPr>
                  <a:t>• Gateway East – 36th Floor, 152 Beach Road, Singapore 189721</a:t>
                </a:r>
              </a:p>
            </p:txBody>
          </p:sp>
          <p:pic>
            <p:nvPicPr>
              <p:cNvPr id="2572" name="Google Shape;2572;g3371019a5e0_0_6"/>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256425" y="3779497"/>
                <a:ext cx="171142" cy="115133"/>
              </a:xfrm>
              <a:prstGeom prst="rect">
                <a:avLst/>
              </a:prstGeom>
              <a:noFill/>
              <a:ln>
                <a:noFill/>
              </a:ln>
              <a:effectLst>
                <a:outerShdw blurRad="14288" dist="9525" algn="bl" rotWithShape="0">
                  <a:srgbClr val="000000">
                    <a:alpha val="33333"/>
                  </a:srgbClr>
                </a:outerShdw>
              </a:effectLst>
            </p:spPr>
          </p:pic>
          <p:pic>
            <p:nvPicPr>
              <p:cNvPr id="2573" name="Google Shape;2573;g3371019a5e0_0_6"/>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256429" y="2347642"/>
                <a:ext cx="171142" cy="115133"/>
              </a:xfrm>
              <a:prstGeom prst="rect">
                <a:avLst/>
              </a:prstGeom>
              <a:noFill/>
              <a:ln>
                <a:noFill/>
              </a:ln>
              <a:effectLst>
                <a:outerShdw blurRad="14288" dist="9525" algn="bl" rotWithShape="0">
                  <a:srgbClr val="000000">
                    <a:alpha val="33333"/>
                  </a:srgbClr>
                </a:outerShdw>
              </a:effectLst>
            </p:spPr>
          </p:pic>
          <p:pic>
            <p:nvPicPr>
              <p:cNvPr id="2574" name="Google Shape;2574;g3371019a5e0_0_6"/>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256433" y="1668217"/>
                <a:ext cx="171142" cy="115133"/>
              </a:xfrm>
              <a:prstGeom prst="rect">
                <a:avLst/>
              </a:prstGeom>
              <a:noFill/>
              <a:ln>
                <a:noFill/>
              </a:ln>
              <a:effectLst>
                <a:outerShdw blurRad="14288" dist="9525" algn="bl" rotWithShape="0">
                  <a:srgbClr val="000000">
                    <a:alpha val="33333"/>
                  </a:srgbClr>
                </a:outerShdw>
              </a:effectLst>
            </p:spPr>
          </p:pic>
          <p:pic>
            <p:nvPicPr>
              <p:cNvPr id="2575" name="Google Shape;2575;g3371019a5e0_0_6"/>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261093" y="2848769"/>
                <a:ext cx="161807" cy="115133"/>
              </a:xfrm>
              <a:prstGeom prst="rect">
                <a:avLst/>
              </a:prstGeom>
              <a:noFill/>
              <a:ln>
                <a:noFill/>
              </a:ln>
              <a:effectLst>
                <a:outerShdw blurRad="14288" dist="9525" algn="bl" rotWithShape="0">
                  <a:srgbClr val="000000">
                    <a:alpha val="33333"/>
                  </a:srgbClr>
                </a:outerShdw>
              </a:effectLst>
            </p:spPr>
          </p:pic>
        </p:grpSp>
        <p:sp>
          <p:nvSpPr>
            <p:cNvPr id="2576" name="Google Shape;2576;g3371019a5e0_0_6"/>
            <p:cNvSpPr txBox="1"/>
            <p:nvPr/>
          </p:nvSpPr>
          <p:spPr>
            <a:xfrm>
              <a:off x="345325" y="613075"/>
              <a:ext cx="3000000" cy="1024500"/>
            </a:xfrm>
            <a:prstGeom prst="rect">
              <a:avLst/>
            </a:prstGeom>
            <a:noFill/>
            <a:ln>
              <a:noFill/>
            </a:ln>
          </p:spPr>
          <p:txBody>
            <a:bodyPr spcFirstLastPara="1" wrap="square" lIns="162525" tIns="162525" rIns="162525" bIns="162525"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a:solidFill>
                    <a:srgbClr val="3D3D3D"/>
                  </a:solidFill>
                  <a:latin typeface="Plus Jakarta Sans"/>
                  <a:ea typeface="Plus Jakarta Sans"/>
                  <a:cs typeface="Plus Jakarta Sans"/>
                  <a:sym typeface="Plus Jakarta Sans"/>
                </a:rPr>
                <a:t>Website: </a:t>
              </a:r>
              <a:r>
                <a:rPr lang="en-US" sz="1600" b="1" i="0" u="none" strike="noStrike" cap="none">
                  <a:solidFill>
                    <a:srgbClr val="3D3D3D"/>
                  </a:solidFill>
                  <a:latin typeface="Plus Jakarta Sans"/>
                  <a:ea typeface="Plus Jakarta Sans"/>
                  <a:cs typeface="Plus Jakarta Sans"/>
                  <a:sym typeface="Plus Jakarta Sans"/>
                </a:rPr>
                <a:t>vti.com.vn</a:t>
              </a:r>
              <a:endParaRPr sz="1600" b="1" i="0" u="none" strike="noStrike" cap="none">
                <a:solidFill>
                  <a:srgbClr val="3D3D3D"/>
                </a:solidFill>
                <a:latin typeface="Plus Jakarta Sans"/>
                <a:ea typeface="Plus Jakarta Sans"/>
                <a:cs typeface="Plus Jakarta Sans"/>
                <a:sym typeface="Plus Jakarta Sans"/>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a:solidFill>
                    <a:srgbClr val="3D3D3D"/>
                  </a:solidFill>
                  <a:latin typeface="Plus Jakarta Sans"/>
                  <a:ea typeface="Plus Jakarta Sans"/>
                  <a:cs typeface="Plus Jakarta Sans"/>
                  <a:sym typeface="Plus Jakarta Sans"/>
                </a:rPr>
                <a:t>Email: </a:t>
              </a:r>
              <a:r>
                <a:rPr lang="en-US" sz="1600" b="1" i="0" u="none" strike="noStrike" cap="none">
                  <a:solidFill>
                    <a:srgbClr val="3D3D3D"/>
                  </a:solidFill>
                  <a:latin typeface="Plus Jakarta Sans"/>
                  <a:ea typeface="Plus Jakarta Sans"/>
                  <a:cs typeface="Plus Jakarta Sans"/>
                  <a:sym typeface="Plus Jakarta Sans"/>
                </a:rPr>
                <a:t>info@vti.com.vn</a:t>
              </a:r>
              <a:endParaRPr sz="1600" b="1" i="0" u="none" strike="noStrike" cap="none">
                <a:solidFill>
                  <a:srgbClr val="3D3D3D"/>
                </a:solidFill>
                <a:latin typeface="Plus Jakarta Sans"/>
                <a:ea typeface="Plus Jakarta Sans"/>
                <a:cs typeface="Plus Jakarta Sans"/>
                <a:sym typeface="Plus Jakarta Sans"/>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a:solidFill>
                    <a:srgbClr val="3D3D3D"/>
                  </a:solidFill>
                  <a:latin typeface="Plus Jakarta Sans"/>
                  <a:ea typeface="Plus Jakarta Sans"/>
                  <a:cs typeface="Plus Jakarta Sans"/>
                  <a:sym typeface="Plus Jakarta Sans"/>
                </a:rPr>
                <a:t>Phone: </a:t>
              </a:r>
              <a:r>
                <a:rPr lang="en-US" sz="1600" b="1" i="0" u="none" strike="noStrike" cap="none">
                  <a:solidFill>
                    <a:srgbClr val="3D3D3D"/>
                  </a:solidFill>
                  <a:latin typeface="Plus Jakarta Sans"/>
                  <a:ea typeface="Plus Jakarta Sans"/>
                  <a:cs typeface="Plus Jakarta Sans"/>
                  <a:sym typeface="Plus Jakarta Sans"/>
                </a:rPr>
                <a:t>(+84) 24-7303-9996</a:t>
              </a:r>
              <a:endParaRPr sz="1600" b="1" i="0" u="none" strike="noStrike" cap="none">
                <a:solidFill>
                  <a:srgbClr val="3D3D3D"/>
                </a:solidFill>
                <a:latin typeface="Plus Jakarta Sans"/>
                <a:ea typeface="Plus Jakarta Sans"/>
                <a:cs typeface="Plus Jakarta Sans"/>
                <a:sym typeface="Plus Jakarta Sans"/>
              </a:endParaRPr>
            </a:p>
            <a:p>
              <a:pPr marL="0" marR="0" lvl="0" indent="0" algn="l" rtl="0">
                <a:lnSpc>
                  <a:spcPct val="150000"/>
                </a:lnSpc>
                <a:spcBef>
                  <a:spcPts val="0"/>
                </a:spcBef>
                <a:spcAft>
                  <a:spcPts val="0"/>
                </a:spcAft>
                <a:buClr>
                  <a:srgbClr val="000000"/>
                </a:buClr>
                <a:buSzPts val="2500"/>
                <a:buFont typeface="Arial"/>
                <a:buNone/>
              </a:pPr>
              <a:endParaRPr sz="2500" b="0" i="0" u="none" strike="noStrike" cap="non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4987</Words>
  <Application>Microsoft Macintosh PowerPoint</Application>
  <PresentationFormat>Custom</PresentationFormat>
  <Paragraphs>1154</Paragraphs>
  <Slides>44</Slides>
  <Notes>44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44</vt:i4>
      </vt:variant>
    </vt:vector>
  </HeadingPairs>
  <TitlesOfParts>
    <vt:vector size="56" baseType="lpstr">
      <vt:lpstr>Inter Medium</vt:lpstr>
      <vt:lpstr>Meiryo</vt:lpstr>
      <vt:lpstr>Plus Jakarta Sans Medium</vt:lpstr>
      <vt:lpstr>Arial</vt:lpstr>
      <vt:lpstr>Inter SemiBold</vt:lpstr>
      <vt:lpstr>Calibri</vt:lpstr>
      <vt:lpstr>Inter</vt:lpstr>
      <vt:lpstr>Bai Jamjuree</vt:lpstr>
      <vt:lpstr>Malgun Gothic</vt:lpstr>
      <vt:lpstr>Noto Sans JP</vt:lpstr>
      <vt:lpstr>Plus Jakarta Sans</vt:lpstr>
      <vt:lpstr>Office Theme</vt:lpstr>
      <vt:lpstr>RETAIL DX Profile - Software Development For Retail </vt:lpstr>
      <vt:lpstr>PowerPoint Presentation</vt:lpstr>
      <vt:lpstr>ABOUT VTI</vt:lpstr>
      <vt:lpstr>PowerPoint Presentation</vt:lpstr>
      <vt:lpstr>PowerPoint Presentation</vt:lpstr>
      <vt:lpstr>DOMAIN</vt:lpstr>
      <vt:lpstr>PowerPoint Presentation</vt:lpstr>
      <vt:lpstr>PowerPoint Presentation</vt:lpstr>
      <vt:lpstr>OUR SERVICES &amp; PRODUCTS</vt:lpstr>
      <vt:lpstr>PowerPoint Presentation</vt:lpstr>
      <vt:lpstr>COMPUTER VISION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Cuong Nguyen</cp:lastModifiedBy>
  <cp:revision>9</cp:revision>
  <dcterms:created xsi:type="dcterms:W3CDTF">2023-06-13T03:49:00Z</dcterms:created>
  <dcterms:modified xsi:type="dcterms:W3CDTF">2026-04-20T16:42:44Z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2023-06-07T21:00:00Z</vt:filetime>
  </property>
  <property fmtid="{D5CDD505-2E9C-101B-9397-08002B2CF9AE}" pid="3" name="Creator">
    <vt:lpwstr>Adobe Illustrator 27.5 (Windows)</vt:lpwstr>
  </property>
  <property fmtid="{D5CDD505-2E9C-101B-9397-08002B2CF9AE}" pid="4" name="LastSaved">
    <vt:filetime>2023-06-13T21:00:00Z</vt:filetime>
  </property>
  <property fmtid="{D5CDD505-2E9C-101B-9397-08002B2CF9AE}" pid="5" name="Producer">
    <vt:lpwstr>Adobe PDF library 17.00</vt:lpwstr>
  </property>
  <property fmtid="{D5CDD505-2E9C-101B-9397-08002B2CF9AE}" pid="6" name="ICV">
    <vt:lpwstr>A7C276F3A4434DD79FB591704A1AD1EF</vt:lpwstr>
  </property>
  <property fmtid="{D5CDD505-2E9C-101B-9397-08002B2CF9AE}" pid="7" name="KSOProductBuildVer">
    <vt:lpwstr>1033-11.2.0.11537</vt:lpwstr>
  </property>
</Properties>
</file>