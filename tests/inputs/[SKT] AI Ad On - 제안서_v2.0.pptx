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embeddedFontLst>
    <p:embeddedFont>
      <p:font typeface="Noto Sans KR"/>
      <p:regular r:id="rId41"/>
      <p:bold r:id="rId42"/>
    </p:embeddedFont>
    <p:embeddedFont>
      <p:font typeface="Bai Jamjuree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7" roundtripDataSignature="AMtx7mj8dzXuWfWYVNjjbbgC7yjP2kJw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DF0DDE-AB03-4D68-9BCF-CF195295C8D4}">
  <a:tblStyle styleId="{DADF0DDE-AB03-4D68-9BCF-CF195295C8D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NotoSansKR-bold.fntdata"/><Relationship Id="rId41" Type="http://schemas.openxmlformats.org/officeDocument/2006/relationships/font" Target="fonts/NotoSansKR-regular.fntdata"/><Relationship Id="rId22" Type="http://schemas.openxmlformats.org/officeDocument/2006/relationships/slide" Target="slides/slide16.xml"/><Relationship Id="rId44" Type="http://schemas.openxmlformats.org/officeDocument/2006/relationships/font" Target="fonts/BaiJamjuree-bold.fntdata"/><Relationship Id="rId21" Type="http://schemas.openxmlformats.org/officeDocument/2006/relationships/slide" Target="slides/slide15.xml"/><Relationship Id="rId43" Type="http://schemas.openxmlformats.org/officeDocument/2006/relationships/font" Target="fonts/BaiJamjuree-regular.fntdata"/><Relationship Id="rId24" Type="http://schemas.openxmlformats.org/officeDocument/2006/relationships/slide" Target="slides/slide18.xml"/><Relationship Id="rId46" Type="http://schemas.openxmlformats.org/officeDocument/2006/relationships/font" Target="fonts/BaiJamjuree-boldItalic.fntdata"/><Relationship Id="rId23" Type="http://schemas.openxmlformats.org/officeDocument/2006/relationships/slide" Target="slides/slide17.xml"/><Relationship Id="rId45" Type="http://schemas.openxmlformats.org/officeDocument/2006/relationships/font" Target="fonts/BaiJamjuree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5" name="Google Shape;63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0" name="Google Shape;76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8" name="Google Shape;87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0" name="Google Shape;90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" name="Google Shape;94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1" name="Google Shape;105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6" name="Google Shape;109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5" name="Google Shape;110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2" name="Google Shape;117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9" name="Google Shape;127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1" name="Google Shape;135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1" name="Google Shape;1431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0" name="Google Shape;144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6" name="Google Shape;145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2" name="Google Shape;147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8" name="Google Shape;148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4" name="Google Shape;150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0" name="Google Shape;152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6" name="Google Shape;153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2" name="Google Shape;155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1_Section 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3"/>
          <p:cNvSpPr/>
          <p:nvPr/>
        </p:nvSpPr>
        <p:spPr>
          <a:xfrm>
            <a:off x="397050" y="224136"/>
            <a:ext cx="99600" cy="400200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pic>
        <p:nvPicPr>
          <p:cNvPr id="15" name="Google Shape;15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93882" y="121445"/>
            <a:ext cx="835688" cy="53648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43"/>
          <p:cNvSpPr txBox="1"/>
          <p:nvPr/>
        </p:nvSpPr>
        <p:spPr>
          <a:xfrm>
            <a:off x="735354" y="4698742"/>
            <a:ext cx="452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Batang"/>
                <a:ea typeface="Batang"/>
                <a:cs typeface="Batang"/>
                <a:sym typeface="Batang"/>
              </a:rPr>
              <a:t>Copyright © 2023 VTI JSC, All Rights Reserved</a:t>
            </a:r>
            <a:endParaRPr b="0" i="0" sz="11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17" name="Google Shape;17;p43"/>
          <p:cNvSpPr/>
          <p:nvPr/>
        </p:nvSpPr>
        <p:spPr>
          <a:xfrm>
            <a:off x="397050" y="4686600"/>
            <a:ext cx="279600" cy="532200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18" name="Google Shape;18;p43"/>
          <p:cNvSpPr txBox="1"/>
          <p:nvPr>
            <p:ph idx="12" type="sldNum"/>
          </p:nvPr>
        </p:nvSpPr>
        <p:spPr>
          <a:xfrm>
            <a:off x="397049" y="4720380"/>
            <a:ext cx="279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43"/>
          <p:cNvSpPr txBox="1"/>
          <p:nvPr>
            <p:ph type="title"/>
          </p:nvPr>
        </p:nvSpPr>
        <p:spPr>
          <a:xfrm>
            <a:off x="557213" y="423120"/>
            <a:ext cx="6009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i="0" sz="1900" u="none" cap="none" strike="noStrike">
                <a:solidFill>
                  <a:srgbClr val="004AAD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sp>
        <p:nvSpPr>
          <p:cNvPr id="20" name="Google Shape;20;p43"/>
          <p:cNvSpPr txBox="1"/>
          <p:nvPr>
            <p:ph idx="1" type="subTitle"/>
          </p:nvPr>
        </p:nvSpPr>
        <p:spPr>
          <a:xfrm>
            <a:off x="557213" y="219900"/>
            <a:ext cx="6009900" cy="1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4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42" name="Google Shape;42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4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2"/>
          <p:cNvSpPr txBox="1"/>
          <p:nvPr>
            <p:ph idx="1" type="subTitle"/>
          </p:nvPr>
        </p:nvSpPr>
        <p:spPr>
          <a:xfrm>
            <a:off x="607220" y="2808686"/>
            <a:ext cx="4521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3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53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5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sp>
        <p:nvSpPr>
          <p:cNvPr id="60" name="Google Shape;60;p5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sp>
        <p:nvSpPr>
          <p:cNvPr id="61" name="Google Shape;61;p5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" name="Google Shape;6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694" y="171450"/>
            <a:ext cx="943460" cy="60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 header 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4"/>
          <p:cNvSpPr/>
          <p:nvPr/>
        </p:nvSpPr>
        <p:spPr>
          <a:xfrm>
            <a:off x="397050" y="224136"/>
            <a:ext cx="99600" cy="400200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65" name="Google Shape;65;p54"/>
          <p:cNvSpPr txBox="1"/>
          <p:nvPr/>
        </p:nvSpPr>
        <p:spPr>
          <a:xfrm>
            <a:off x="735353" y="4698741"/>
            <a:ext cx="452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Batang"/>
                <a:ea typeface="Batang"/>
                <a:cs typeface="Batang"/>
                <a:sym typeface="Batang"/>
              </a:rPr>
              <a:t>Copyright © 2023 VTI JSC, All Rights Reserved</a:t>
            </a:r>
            <a:endParaRPr b="0" i="0" sz="1000" u="none" cap="none" strike="noStrike">
              <a:solidFill>
                <a:srgbClr val="7F7F7F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66" name="Google Shape;66;p54"/>
          <p:cNvSpPr/>
          <p:nvPr/>
        </p:nvSpPr>
        <p:spPr>
          <a:xfrm>
            <a:off x="397050" y="4686600"/>
            <a:ext cx="279600" cy="532200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r>
              <a:t/>
            </a:r>
            <a:endParaRPr b="1" i="0" sz="1400" u="none" cap="none" strike="noStrike">
              <a:solidFill>
                <a:srgbClr val="FFFFFF"/>
              </a:solidFill>
              <a:latin typeface="Batang"/>
              <a:ea typeface="Batang"/>
              <a:cs typeface="Batang"/>
              <a:sym typeface="Batang"/>
            </a:endParaRPr>
          </a:p>
        </p:txBody>
      </p:sp>
      <p:sp>
        <p:nvSpPr>
          <p:cNvPr id="67" name="Google Shape;67;p54"/>
          <p:cNvSpPr txBox="1"/>
          <p:nvPr>
            <p:ph idx="12" type="sldNum"/>
          </p:nvPr>
        </p:nvSpPr>
        <p:spPr>
          <a:xfrm>
            <a:off x="397049" y="4720379"/>
            <a:ext cx="279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54"/>
          <p:cNvSpPr txBox="1"/>
          <p:nvPr>
            <p:ph type="title"/>
          </p:nvPr>
        </p:nvSpPr>
        <p:spPr>
          <a:xfrm>
            <a:off x="557213" y="423120"/>
            <a:ext cx="6009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900" u="none" cap="none" strike="noStrike">
                <a:solidFill>
                  <a:srgbClr val="004AAD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sp>
        <p:nvSpPr>
          <p:cNvPr id="69" name="Google Shape;69;p54"/>
          <p:cNvSpPr txBox="1"/>
          <p:nvPr>
            <p:ph idx="1" type="subTitle"/>
          </p:nvPr>
        </p:nvSpPr>
        <p:spPr>
          <a:xfrm>
            <a:off x="557213" y="219899"/>
            <a:ext cx="6009900" cy="14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51425" spcFirstLastPara="1" rIns="51425" wrap="square" tIns="2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pic>
        <p:nvPicPr>
          <p:cNvPr descr="Logo&#10;&#10;Description automatically generated" id="70" name="Google Shape;70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49743" y="-13949"/>
            <a:ext cx="994256" cy="63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5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55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/>
            </a:lvl1pPr>
            <a:lvl2pPr indent="-285750" lvl="1" marL="91440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/>
            </a:lvl2pPr>
            <a:lvl3pPr indent="-285750" lvl="2" marL="137160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/>
            </a:lvl3pPr>
            <a:lvl4pPr indent="-285750" lvl="3" marL="182880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/>
            </a:lvl4pPr>
            <a:lvl5pPr indent="-285750" lvl="4" marL="228600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/>
            </a:lvl6pPr>
            <a:lvl7pPr indent="-285750" lvl="6" marL="320040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/>
            </a:lvl7pPr>
            <a:lvl8pPr indent="-285750" lvl="7" marL="365760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/>
            </a:lvl8pPr>
            <a:lvl9pPr indent="-285750" lvl="8" marL="411480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/>
            </a:lvl9pPr>
          </a:lstStyle>
          <a:p/>
        </p:txBody>
      </p:sp>
      <p:sp>
        <p:nvSpPr>
          <p:cNvPr id="74" name="Google Shape;74;p5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5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5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1_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6"/>
          <p:cNvSpPr txBox="1"/>
          <p:nvPr>
            <p:ph idx="11" type="ftr"/>
          </p:nvPr>
        </p:nvSpPr>
        <p:spPr>
          <a:xfrm>
            <a:off x="3108960" y="4783455"/>
            <a:ext cx="2926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56"/>
          <p:cNvSpPr txBox="1"/>
          <p:nvPr>
            <p:ph idx="10" type="dt"/>
          </p:nvPr>
        </p:nvSpPr>
        <p:spPr>
          <a:xfrm>
            <a:off x="457200" y="4783455"/>
            <a:ext cx="2103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56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1_Title and Conte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7"/>
          <p:cNvSpPr txBox="1"/>
          <p:nvPr>
            <p:ph type="title"/>
          </p:nvPr>
        </p:nvSpPr>
        <p:spPr>
          <a:xfrm>
            <a:off x="694387" y="399562"/>
            <a:ext cx="70188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A8"/>
              </a:buClr>
              <a:buSzPts val="700"/>
              <a:buFont typeface="Arial"/>
              <a:buNone/>
              <a:defRPr b="1" i="0" sz="2000">
                <a:solidFill>
                  <a:srgbClr val="0050A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57"/>
          <p:cNvSpPr txBox="1"/>
          <p:nvPr>
            <p:ph idx="1" type="body"/>
          </p:nvPr>
        </p:nvSpPr>
        <p:spPr>
          <a:xfrm>
            <a:off x="3088081" y="957904"/>
            <a:ext cx="4221600" cy="1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00"/>
              <a:buNone/>
              <a:defRPr b="0" i="0" sz="800">
                <a:solidFill>
                  <a:srgbClr val="333333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/>
            </a:lvl9pPr>
          </a:lstStyle>
          <a:p/>
        </p:txBody>
      </p:sp>
      <p:sp>
        <p:nvSpPr>
          <p:cNvPr id="84" name="Google Shape;84;p57"/>
          <p:cNvSpPr txBox="1"/>
          <p:nvPr>
            <p:ph idx="11" type="ftr"/>
          </p:nvPr>
        </p:nvSpPr>
        <p:spPr>
          <a:xfrm>
            <a:off x="3108960" y="4783455"/>
            <a:ext cx="2926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57"/>
          <p:cNvSpPr txBox="1"/>
          <p:nvPr>
            <p:ph idx="10" type="dt"/>
          </p:nvPr>
        </p:nvSpPr>
        <p:spPr>
          <a:xfrm>
            <a:off x="457200" y="4783455"/>
            <a:ext cx="2103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57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sp>
        <p:nvSpPr>
          <p:cNvPr id="7" name="Google Shape;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/>
        </p:txBody>
      </p:sp>
      <p:sp>
        <p:nvSpPr>
          <p:cNvPr id="8" name="Google Shape;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Batang"/>
                <a:ea typeface="Batang"/>
                <a:cs typeface="Batang"/>
                <a:sym typeface="Batang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9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15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9" Type="http://schemas.openxmlformats.org/officeDocument/2006/relationships/image" Target="../media/image27.png"/><Relationship Id="rId5" Type="http://schemas.openxmlformats.org/officeDocument/2006/relationships/image" Target="../media/image17.png"/><Relationship Id="rId6" Type="http://schemas.openxmlformats.org/officeDocument/2006/relationships/image" Target="../media/image28.png"/><Relationship Id="rId7" Type="http://schemas.openxmlformats.org/officeDocument/2006/relationships/image" Target="../media/image25.png"/><Relationship Id="rId8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3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9.png"/><Relationship Id="rId4" Type="http://schemas.openxmlformats.org/officeDocument/2006/relationships/image" Target="../media/image10.png"/><Relationship Id="rId9" Type="http://schemas.openxmlformats.org/officeDocument/2006/relationships/image" Target="../media/image36.png"/><Relationship Id="rId5" Type="http://schemas.openxmlformats.org/officeDocument/2006/relationships/image" Target="../media/image5.png"/><Relationship Id="rId6" Type="http://schemas.openxmlformats.org/officeDocument/2006/relationships/image" Target="../media/image35.png"/><Relationship Id="rId7" Type="http://schemas.openxmlformats.org/officeDocument/2006/relationships/image" Target="../media/image40.png"/><Relationship Id="rId8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0" l="5148" r="-5148" t="0"/>
          <a:stretch/>
        </p:blipFill>
        <p:spPr>
          <a:xfrm>
            <a:off x="4070112" y="724200"/>
            <a:ext cx="1003776" cy="60384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>
            <p:ph type="ctrTitle"/>
          </p:nvPr>
        </p:nvSpPr>
        <p:spPr>
          <a:xfrm>
            <a:off x="0" y="2938777"/>
            <a:ext cx="9144000" cy="222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i="0" lang="en-US" sz="1400" u="non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V2.0</a:t>
            </a:r>
            <a:endParaRPr/>
          </a:p>
        </p:txBody>
      </p:sp>
      <p:sp>
        <p:nvSpPr>
          <p:cNvPr id="94" name="Google Shape;94;p1"/>
          <p:cNvSpPr txBox="1"/>
          <p:nvPr>
            <p:ph type="ctrTitle"/>
          </p:nvPr>
        </p:nvSpPr>
        <p:spPr>
          <a:xfrm>
            <a:off x="0" y="1687701"/>
            <a:ext cx="9144000" cy="1145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-US" sz="37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SKT– AI Ad On</a:t>
            </a:r>
            <a:br>
              <a:rPr b="1" lang="en-US" sz="37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1" lang="en-US" sz="37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 제안서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25" y="4442300"/>
            <a:ext cx="835799" cy="53665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1164925" y="432200"/>
            <a:ext cx="21996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75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328295" y="1503045"/>
            <a:ext cx="4519930" cy="407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A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개요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35112" y="4935783"/>
            <a:ext cx="4761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주요</a:t>
            </a: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en-US" sz="12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구축방안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p19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19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712374" y="617154"/>
            <a:ext cx="3657600" cy="292608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712374" y="61715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SKT 요구사항</a:t>
            </a:r>
            <a:endParaRPr b="0" i="0" sz="10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4662582" y="617154"/>
            <a:ext cx="4297680" cy="292608"/>
          </a:xfrm>
          <a:prstGeom prst="rect">
            <a:avLst/>
          </a:prstGeom>
          <a:solidFill>
            <a:srgbClr val="1E4DA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4662582" y="617154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VTI </a:t>
            </a:r>
            <a:r>
              <a:rPr b="1" lang="en-US" sz="10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구축</a:t>
            </a:r>
            <a:r>
              <a:rPr b="1" i="0" lang="en-US" sz="10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방</a:t>
            </a:r>
            <a:r>
              <a:rPr b="1" lang="en-US" sz="10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안</a:t>
            </a:r>
            <a:endParaRPr b="0" i="0" sz="10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182022" y="964626"/>
            <a:ext cx="50292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182022" y="964626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712374" y="964626"/>
            <a:ext cx="3657600" cy="822960"/>
          </a:xfrm>
          <a:prstGeom prst="rect">
            <a:avLst/>
          </a:prstGeom>
          <a:solidFill>
            <a:srgbClr val="F5F8FC"/>
          </a:solidFill>
          <a:ln cap="flat" cmpd="sng" w="12700">
            <a:solidFill>
              <a:srgbClr val="F5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803814" y="1001202"/>
            <a:ext cx="34930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신규 STB(AI 5) 기반 AI On-Ad App 개발/운영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AI 모델: 사람계수, 라인이탈, 객체추적, 사람 인식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유동인구·주목현황(시청수·주목수) 통계 개발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앱 → 신규 STB 포팅 (Android OS 동일)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4662582" y="964626"/>
            <a:ext cx="4297680" cy="822960"/>
          </a:xfrm>
          <a:prstGeom prst="rect">
            <a:avLst/>
          </a:prstGeom>
          <a:solidFill>
            <a:srgbClr val="EBF4FF"/>
          </a:solidFill>
          <a:ln cap="flat" cmpd="sng" w="12700">
            <a:solidFill>
              <a:srgbClr val="EB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4662582" y="964626"/>
            <a:ext cx="4572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4772310" y="1001202"/>
            <a:ext cx="41148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Baseline porting 이번 단계 제외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공통 백본 모델 → 5개 AI 태스크 헤드 구조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ONNX → TFLite INT8 최적화 · OTA Hot-swap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라벨링 · 학습 · 최적화 · 통합 분리 견적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182022" y="1860738"/>
            <a:ext cx="50292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182022" y="1860738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712374" y="1860738"/>
            <a:ext cx="3657600" cy="82296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803814" y="1897314"/>
            <a:ext cx="34930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ExoPlayer → 브라우저 기반 Web Player 전환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동적 스크린 레이아웃 구현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HTML 콘텐츠 + 영상 동시 표시 (레이아웃 유연성)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CMS와 연동하여 STB 정확 렌더링 필요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4662582" y="1860738"/>
            <a:ext cx="4297680" cy="82296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F0F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4662582" y="1860738"/>
            <a:ext cx="4572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4772310" y="1897314"/>
            <a:ext cx="41148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STB WebView 렌더링 엔진 + HTML/Video 레이아웃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JSON 기반 레이아웃 설정 (재배포 없이 변경)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CMS 레이아웃 빌더와 연동 구조 포함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컴포넌트화 → 고객사별 빠른 화면 변경 가능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182022" y="2756850"/>
            <a:ext cx="50292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182022" y="2756850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712374" y="2756850"/>
            <a:ext cx="3657600" cy="822960"/>
          </a:xfrm>
          <a:prstGeom prst="rect">
            <a:avLst/>
          </a:prstGeom>
          <a:solidFill>
            <a:srgbClr val="F5F8FC"/>
          </a:solidFill>
          <a:ln cap="flat" cmpd="sng" w="12700">
            <a:solidFill>
              <a:srgbClr val="F5F8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803814" y="2793426"/>
            <a:ext cx="34930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CMS Front-End 개발 (기능/사용성 개선)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Look &amp; Feel, Style/CSS 개선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레이아웃 설정 기능 강화, 콘텐츠 보드 구성 변경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콘텐츠 데이터(속성관리) 고도화 · 데이터 요약 변경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4662582" y="2756850"/>
            <a:ext cx="4297680" cy="822960"/>
          </a:xfrm>
          <a:prstGeom prst="rect">
            <a:avLst/>
          </a:prstGeom>
          <a:solidFill>
            <a:srgbClr val="EBF4FF"/>
          </a:solidFill>
          <a:ln cap="flat" cmpd="sng" w="12700">
            <a:solidFill>
              <a:srgbClr val="EB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4662582" y="2756850"/>
            <a:ext cx="4572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772310" y="2793426"/>
            <a:ext cx="41148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기획 → UI/UX 설계 → 퍼블리싱 전담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컴포넌트 기반 아키텍처 (기존 모듈 영향 없이 추가)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백엔드/DB는 기존 벤더 유지, FE만 VTI 담장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고객 요구에 빠른 화면 변경 구조 확보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182022" y="3652962"/>
            <a:ext cx="50292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182022" y="3652962"/>
            <a:ext cx="502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b="0" i="0" sz="1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712374" y="3652962"/>
            <a:ext cx="3657600" cy="82296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803814" y="3689538"/>
            <a:ext cx="34930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고객사별 BI 제공 / 데이터 분리 관리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고객사별 로고 및 Look &amp; Feel 변경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Row Data 수신 개선: zip → API 활용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콘텐츠/지점 자동 연동 · 데이터 보관/삭제 정책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4662582" y="3652962"/>
            <a:ext cx="4297680" cy="822960"/>
          </a:xfrm>
          <a:prstGeom prst="rect">
            <a:avLst/>
          </a:prstGeom>
          <a:solidFill>
            <a:srgbClr val="F0F8FF"/>
          </a:solidFill>
          <a:ln cap="flat" cmpd="sng" w="12700">
            <a:solidFill>
              <a:srgbClr val="F0F8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4662582" y="3652962"/>
            <a:ext cx="45720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4772310" y="3689538"/>
            <a:ext cx="41148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BI 플랫폼 임베디드 구조, 멀티테넌트 + 데이터 접근 제어(RLS) 지원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신규 테넌트 생성 ≤30초, ≥10개 동시 처리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API 기반 데이터 수신 + 자동 연동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IDC 마이그레이션은 이번 단계 제외 (AWS 유지)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4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</a:t>
            </a: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기능</a:t>
            </a:r>
            <a:r>
              <a:rPr b="1" lang="en-US" sz="12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 영역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55" name="Google Shape;15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4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4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411450" y="589025"/>
            <a:ext cx="8321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CMS, 웹 플레이어 및 BI 모듈 전반에 걸친 전체 기능 목록</a:t>
            </a:r>
            <a:endParaRPr b="0" i="0" sz="1050" u="none" cap="none" strike="noStrike">
              <a:solidFill>
                <a:srgbClr val="6B728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411450" y="909065"/>
            <a:ext cx="2697600" cy="274200"/>
          </a:xfrm>
          <a:prstGeom prst="rect">
            <a:avLst/>
          </a:prstGeom>
          <a:solidFill>
            <a:srgbClr val="3617CE"/>
          </a:solidFill>
          <a:ln cap="flat" cmpd="sng" w="12700">
            <a:solidFill>
              <a:srgbClr val="3617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411450" y="909065"/>
            <a:ext cx="269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CMS 모듈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411450" y="1238249"/>
            <a:ext cx="2697600" cy="475500"/>
          </a:xfrm>
          <a:prstGeom prst="rect">
            <a:avLst/>
          </a:prstGeom>
          <a:solidFill>
            <a:srgbClr val="EEF0FC"/>
          </a:solidFill>
          <a:ln cap="flat" cmpd="sng" w="9525">
            <a:solidFill>
              <a:srgbClr val="D1D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411450" y="1238249"/>
            <a:ext cx="36600" cy="475500"/>
          </a:xfrm>
          <a:prstGeom prst="rect">
            <a:avLst/>
          </a:prstGeom>
          <a:solidFill>
            <a:srgbClr val="3617CE"/>
          </a:solidFill>
          <a:ln cap="flat" cmpd="sng" w="12700">
            <a:solidFill>
              <a:srgbClr val="3617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548610" y="1274825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레이아웃 빌더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548610" y="1494281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드래그 앤 드롭 캔버스 · 존 구성 · 미리보기 ·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411450" y="1768601"/>
            <a:ext cx="2697600" cy="47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411450" y="1768601"/>
            <a:ext cx="36600" cy="475500"/>
          </a:xfrm>
          <a:prstGeom prst="rect">
            <a:avLst/>
          </a:prstGeom>
          <a:solidFill>
            <a:srgbClr val="3617CE"/>
          </a:solidFill>
          <a:ln cap="flat" cmpd="sng" w="12700">
            <a:solidFill>
              <a:srgbClr val="3617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548610" y="1805177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스케줄 관리자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548610" y="2024633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주간 캘린더 · 충돌 검사 · 반복 설정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411450" y="2298953"/>
            <a:ext cx="2697600" cy="475500"/>
          </a:xfrm>
          <a:prstGeom prst="rect">
            <a:avLst/>
          </a:prstGeom>
          <a:solidFill>
            <a:srgbClr val="EEF0FC"/>
          </a:solidFill>
          <a:ln cap="flat" cmpd="sng" w="9525">
            <a:solidFill>
              <a:srgbClr val="D1D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411450" y="2298953"/>
            <a:ext cx="36600" cy="475500"/>
          </a:xfrm>
          <a:prstGeom prst="rect">
            <a:avLst/>
          </a:prstGeom>
          <a:solidFill>
            <a:srgbClr val="3617CE"/>
          </a:solidFill>
          <a:ln cap="flat" cmpd="sng" w="12700">
            <a:solidFill>
              <a:srgbClr val="3617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548610" y="2335529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콘텐츠 관리자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548610" y="2554985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업로드 · 플레이리스트 · 미디어 라이브러리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411450" y="2829305"/>
            <a:ext cx="2697600" cy="47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11450" y="2829305"/>
            <a:ext cx="36600" cy="475500"/>
          </a:xfrm>
          <a:prstGeom prst="rect">
            <a:avLst/>
          </a:prstGeom>
          <a:solidFill>
            <a:srgbClr val="3617CE"/>
          </a:solidFill>
          <a:ln cap="flat" cmpd="sng" w="12700">
            <a:solidFill>
              <a:srgbClr val="3617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548610" y="2865881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디바이스 모니터링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548610" y="3085337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상태 · 스냅샷 · CPU/RAM 차트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411450" y="3359657"/>
            <a:ext cx="2697600" cy="475500"/>
          </a:xfrm>
          <a:prstGeom prst="rect">
            <a:avLst/>
          </a:prstGeom>
          <a:solidFill>
            <a:srgbClr val="EEF0FC"/>
          </a:solidFill>
          <a:ln cap="flat" cmpd="sng" w="9525">
            <a:solidFill>
              <a:srgbClr val="D1D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411450" y="3359657"/>
            <a:ext cx="36600" cy="475500"/>
          </a:xfrm>
          <a:prstGeom prst="rect">
            <a:avLst/>
          </a:prstGeom>
          <a:solidFill>
            <a:srgbClr val="3617CE"/>
          </a:solidFill>
          <a:ln cap="flat" cmpd="sng" w="12700">
            <a:solidFill>
              <a:srgbClr val="3617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548610" y="3396233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긴급 제어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548610" y="3615689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원클릭 방송 · 대상 범위 선택 · 이력 관리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411450" y="3890009"/>
            <a:ext cx="2697600" cy="47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411450" y="3890009"/>
            <a:ext cx="36600" cy="475500"/>
          </a:xfrm>
          <a:prstGeom prst="rect">
            <a:avLst/>
          </a:prstGeom>
          <a:solidFill>
            <a:srgbClr val="3617CE"/>
          </a:solidFill>
          <a:ln cap="flat" cmpd="sng" w="12700">
            <a:solidFill>
              <a:srgbClr val="3617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548610" y="3926585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사이트 설정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548610" y="4146041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브랜딩 · 기능 플래그 · 타임존 설정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3227802" y="909065"/>
            <a:ext cx="2697600" cy="2742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3227802" y="909065"/>
            <a:ext cx="269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웹 플레이어 / STB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3227802" y="1238249"/>
            <a:ext cx="2697600" cy="475500"/>
          </a:xfrm>
          <a:prstGeom prst="rect">
            <a:avLst/>
          </a:prstGeom>
          <a:solidFill>
            <a:srgbClr val="EDE9FE"/>
          </a:solidFill>
          <a:ln cap="flat" cmpd="sng" w="9525">
            <a:solidFill>
              <a:srgbClr val="D1D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3227802" y="1238249"/>
            <a:ext cx="36600" cy="4755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3364962" y="1274825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웹 플레이어 코어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3364962" y="1494281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JSON 기반 레이아웃 렌더링 · 멀티 존 · CSS absolute 포지셔닝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3227802" y="1768601"/>
            <a:ext cx="2697600" cy="47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3227802" y="1768601"/>
            <a:ext cx="36600" cy="4755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3364962" y="1805177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Gapless 재생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3364962" y="2024633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사전 로딩 버퍼 · 24/7 연속 재생 · DOM 정리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3227802" y="2298953"/>
            <a:ext cx="2697600" cy="475500"/>
          </a:xfrm>
          <a:prstGeom prst="rect">
            <a:avLst/>
          </a:prstGeom>
          <a:solidFill>
            <a:srgbClr val="EDE9FE"/>
          </a:solidFill>
          <a:ln cap="flat" cmpd="sng" w="9525">
            <a:solidFill>
              <a:srgbClr val="D1D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3227802" y="2298953"/>
            <a:ext cx="36600" cy="4755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3364962" y="2335529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콘텐츠 플레이어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3364962" y="2554985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비디오 · 이미지 · HLS · YouTube IFrame</a:t>
            </a:r>
            <a:endParaRPr b="0" i="0" sz="850" u="none" cap="none" strike="noStrike">
              <a:solidFill>
                <a:srgbClr val="6B728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3227802" y="2829305"/>
            <a:ext cx="2697600" cy="47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3227802" y="2829305"/>
            <a:ext cx="36600" cy="4755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3364962" y="2865881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스케줄 엔진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3364962" y="3085337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SQLite · 버전 해시 · 이전 스케줄 기반 Fail-safe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3227802" y="3359657"/>
            <a:ext cx="2697600" cy="475500"/>
          </a:xfrm>
          <a:prstGeom prst="rect">
            <a:avLst/>
          </a:prstGeom>
          <a:solidFill>
            <a:srgbClr val="EDE9FE"/>
          </a:solidFill>
          <a:ln cap="flat" cmpd="sng" w="9525">
            <a:solidFill>
              <a:srgbClr val="D1D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3227802" y="3359657"/>
            <a:ext cx="36600" cy="4755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3364962" y="3396233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긴급 레이어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3364962" y="3615689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EMERGENCY_START → 오버레이 → STOP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→ 재개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3227802" y="3890009"/>
            <a:ext cx="2697600" cy="47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3227802" y="3890009"/>
            <a:ext cx="36600" cy="4755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3364962" y="3926585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AI 추론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3364962" y="4146041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공통 백본 · 5개 AI 기능 · 메타데이터 패키징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6044154" y="909065"/>
            <a:ext cx="2688300" cy="274200"/>
          </a:xfrm>
          <a:prstGeom prst="rect">
            <a:avLst/>
          </a:prstGeom>
          <a:solidFill>
            <a:srgbClr val="0DAA8F"/>
          </a:solidFill>
          <a:ln cap="flat" cmpd="sng" w="12700">
            <a:solidFill>
              <a:srgbClr val="0DA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6044154" y="909065"/>
            <a:ext cx="268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BI 대시보드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6044154" y="1238249"/>
            <a:ext cx="2688300" cy="475500"/>
          </a:xfrm>
          <a:prstGeom prst="rect">
            <a:avLst/>
          </a:prstGeom>
          <a:solidFill>
            <a:srgbClr val="E0FAF4"/>
          </a:solidFill>
          <a:ln cap="flat" cmpd="sng" w="9525">
            <a:solidFill>
              <a:srgbClr val="D1D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6044154" y="1238249"/>
            <a:ext cx="36600" cy="475500"/>
          </a:xfrm>
          <a:prstGeom prst="rect">
            <a:avLst/>
          </a:prstGeom>
          <a:solidFill>
            <a:srgbClr val="0DAA8F"/>
          </a:solidFill>
          <a:ln cap="flat" cmpd="sng" w="12700">
            <a:solidFill>
              <a:srgbClr val="0DA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6181314" y="1274825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KPI 대시보드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6181314" y="1494281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인원 수 · 체류 시간 · 동선 · 시선 차트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6044154" y="1768601"/>
            <a:ext cx="2688300" cy="47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6044154" y="1768601"/>
            <a:ext cx="36600" cy="475500"/>
          </a:xfrm>
          <a:prstGeom prst="rect">
            <a:avLst/>
          </a:prstGeom>
          <a:solidFill>
            <a:srgbClr val="0DAA8F"/>
          </a:solidFill>
          <a:ln cap="flat" cmpd="sng" w="12700">
            <a:solidFill>
              <a:srgbClr val="0DA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6181314" y="1805177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리포트 스케줄러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6181314" y="2024633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Cron 기반 · PDF / Excel · 이메일 전송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6044154" y="2298953"/>
            <a:ext cx="2688300" cy="475500"/>
          </a:xfrm>
          <a:prstGeom prst="rect">
            <a:avLst/>
          </a:prstGeom>
          <a:solidFill>
            <a:srgbClr val="E0FAF4"/>
          </a:solidFill>
          <a:ln cap="flat" cmpd="sng" w="9525">
            <a:solidFill>
              <a:srgbClr val="D1D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6044154" y="2298953"/>
            <a:ext cx="36600" cy="475500"/>
          </a:xfrm>
          <a:prstGeom prst="rect">
            <a:avLst/>
          </a:prstGeom>
          <a:solidFill>
            <a:srgbClr val="0DAA8F"/>
          </a:solidFill>
          <a:ln cap="flat" cmpd="sng" w="12700">
            <a:solidFill>
              <a:srgbClr val="0DA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6181314" y="2335529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사이트 관리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6181325" y="2490327"/>
            <a:ext cx="2469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사이트 프로비저닝 · 브랜딩 · BI 환경 관리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6044154" y="2829305"/>
            <a:ext cx="2688300" cy="47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6044154" y="2829305"/>
            <a:ext cx="36600" cy="475500"/>
          </a:xfrm>
          <a:prstGeom prst="rect">
            <a:avLst/>
          </a:prstGeom>
          <a:solidFill>
            <a:srgbClr val="0DAA8F"/>
          </a:solidFill>
          <a:ln cap="flat" cmpd="sng" w="12700">
            <a:solidFill>
              <a:srgbClr val="0DA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6181314" y="2865881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멀티 테넌트 데이터 격리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6181314" y="3085337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테넌트별 데이터 분리 · 접근 권한 제어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6044154" y="3359657"/>
            <a:ext cx="2688300" cy="475500"/>
          </a:xfrm>
          <a:prstGeom prst="rect">
            <a:avLst/>
          </a:prstGeom>
          <a:solidFill>
            <a:srgbClr val="E0FAF4"/>
          </a:solidFill>
          <a:ln cap="flat" cmpd="sng" w="9525">
            <a:solidFill>
              <a:srgbClr val="D1D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6044154" y="3359657"/>
            <a:ext cx="36600" cy="475500"/>
          </a:xfrm>
          <a:prstGeom prst="rect">
            <a:avLst/>
          </a:prstGeom>
          <a:solidFill>
            <a:srgbClr val="0DAA8F"/>
          </a:solidFill>
          <a:ln cap="flat" cmpd="sng" w="12700">
            <a:solidFill>
              <a:srgbClr val="0DA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6181314" y="3396233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거버넌스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6181314" y="3615689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접근 권한 관리 · 데이터 출처 추적 · 감사 로그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6044154" y="3890009"/>
            <a:ext cx="2688300" cy="47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6044154" y="3890009"/>
            <a:ext cx="36600" cy="475500"/>
          </a:xfrm>
          <a:prstGeom prst="rect">
            <a:avLst/>
          </a:prstGeom>
          <a:solidFill>
            <a:srgbClr val="0DAA8F"/>
          </a:solidFill>
          <a:ln cap="flat" cmpd="sng" w="12700">
            <a:solidFill>
              <a:srgbClr val="0DA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6181314" y="3926585"/>
            <a:ext cx="246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BI 임베디드</a:t>
            </a:r>
            <a:endParaRPr b="1" i="0" sz="1000" u="none" cap="none" strike="noStrike">
              <a:solidFill>
                <a:srgbClr val="11182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6181314" y="4146041"/>
            <a:ext cx="2469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테넌트별 대시보드 임베디드 구조 (BI 도구 독립)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5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비기능 요구사항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4" name="Google Shape;244;p5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45" name="Google Shape;2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5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5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362421" y="468316"/>
            <a:ext cx="83211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본 항목은 전체 시스템에 반드시 적용되어야 하는 비기능 요구사항을 정의합니다.</a:t>
            </a:r>
            <a:endParaRPr b="0" i="0" sz="10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362421" y="1025480"/>
            <a:ext cx="2651700" cy="1609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362421" y="1025480"/>
            <a:ext cx="2651700" cy="54900"/>
          </a:xfrm>
          <a:prstGeom prst="rect">
            <a:avLst/>
          </a:prstGeom>
          <a:solidFill>
            <a:srgbClr val="1E4DA1"/>
          </a:solidFill>
          <a:ln cap="flat" cmpd="sng" w="12700">
            <a:solidFill>
              <a:srgbClr val="1E4D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preencoded.png" id="251" name="Google Shape;25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149" y="115349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"/>
          <p:cNvSpPr/>
          <p:nvPr/>
        </p:nvSpPr>
        <p:spPr>
          <a:xfrm>
            <a:off x="764757" y="1135208"/>
            <a:ext cx="214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성능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490437" y="1482680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4DA1"/>
          </a:solidFill>
          <a:ln cap="flat" cmpd="sng" w="12700">
            <a:solidFill>
              <a:srgbClr val="1E4D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618453" y="1446104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AI 추론 파이프라인: 대상 STB 하드웨어 기준, 5개 AI 기능 동시 수행 시 ≥ 5 FPS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490437" y="1702136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4DA1"/>
          </a:solidFill>
          <a:ln cap="flat" cmpd="sng" w="12700">
            <a:solidFill>
              <a:srgbClr val="1E4D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618453" y="1665560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CMS 페이지 로딩 (대시보드, 디바이스 목록): 표준 브로드밴드 환경에서 ≤ 2초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490437" y="1921592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4DA1"/>
          </a:solidFill>
          <a:ln cap="flat" cmpd="sng" w="12700">
            <a:solidFill>
              <a:srgbClr val="1E4D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618453" y="1885016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WebSocket 메시지 전달 (CMS → STB): 정상 부하 기준 End-to-End ≤ 500ms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490437" y="2141048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4DA1"/>
          </a:solidFill>
          <a:ln cap="flat" cmpd="sng" w="12700">
            <a:solidFill>
              <a:srgbClr val="1E4D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618453" y="2104472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BI 대시보드 초기 렌더링: 표준 테넌트 데이터셋(&lt; 1M rows) 기준 ≤ 5초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490437" y="2360504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4DA1"/>
          </a:solidFill>
          <a:ln cap="flat" cmpd="sng" w="12700">
            <a:solidFill>
              <a:srgbClr val="1E4D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618453" y="2323928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REST API 응답 시간: 동시 사용자 50명 기준, 전체 Endpoint P95 ≤ 1000ms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3178773" y="1025480"/>
            <a:ext cx="2651700" cy="1609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3178773" y="1025480"/>
            <a:ext cx="2651700" cy="54900"/>
          </a:xfrm>
          <a:prstGeom prst="rect">
            <a:avLst/>
          </a:prstGeom>
          <a:solidFill>
            <a:srgbClr val="0D8C6E"/>
          </a:solidFill>
          <a:ln cap="flat" cmpd="sng" w="12700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preencoded.png" id="265" name="Google Shape;26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88501" y="115349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5"/>
          <p:cNvSpPr/>
          <p:nvPr/>
        </p:nvSpPr>
        <p:spPr>
          <a:xfrm>
            <a:off x="3581109" y="1135208"/>
            <a:ext cx="214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신뢰성 및 가용성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3306789" y="1482680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8C6E"/>
          </a:solidFill>
          <a:ln cap="flat" cmpd="sng" w="12700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3434805" y="1446104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STB 웹 플레이어: 수동 재시작 없이 30일 이상 24/7 연속 운영 가능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3306789" y="1702136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8C6E"/>
          </a:solidFill>
          <a:ln cap="flat" cmpd="sng" w="12700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3434805" y="1665560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CMS 백엔드 가용성: 월 기준 ≥ 99.5% (정기 점검 시간 제외)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3306789" y="1921592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8C6E"/>
          </a:solidFill>
          <a:ln cap="flat" cmpd="sng" w="12700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3434805" y="1885016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AI 모듈: 장애 발생 시 자동 재시작, 10초 이내 복구 및 재생 중단 없음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3306789" y="2141048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8C6E"/>
          </a:solidFill>
          <a:ln cap="flat" cmpd="sng" w="12700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3434805" y="2104472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WebSocket: 지수 백오프 기반 자동 재연결, 최대 재연결 지연 ≤ 60초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3306789" y="2360504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8C6E"/>
          </a:solidFill>
          <a:ln cap="flat" cmpd="sng" w="12700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3434805" y="2323928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BI 데이터 수집: 재시도 메커니즘 기반 보장 전달, 일시적 장애 시에도 데이터 손실 없음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5995125" y="1025480"/>
            <a:ext cx="2651700" cy="1609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5995125" y="1025480"/>
            <a:ext cx="2651700" cy="54900"/>
          </a:xfrm>
          <a:prstGeom prst="rect">
            <a:avLst/>
          </a:prstGeom>
          <a:solidFill>
            <a:srgbClr val="991B1B"/>
          </a:solidFill>
          <a:ln cap="flat" cmpd="sng" w="12700">
            <a:solidFill>
              <a:srgbClr val="991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preencoded.png" id="279" name="Google Shape;27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04853" y="115349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5"/>
          <p:cNvSpPr/>
          <p:nvPr/>
        </p:nvSpPr>
        <p:spPr>
          <a:xfrm>
            <a:off x="6397461" y="1135208"/>
            <a:ext cx="214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보안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6123141" y="1482680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91B1B"/>
          </a:solidFill>
          <a:ln cap="flat" cmpd="sng" w="12700">
            <a:solidFill>
              <a:srgbClr val="991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6251157" y="1446104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모든 API 통신: HTTPS/TLS 1.2 이상 강제 적용 (HTTP 미지원)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6123141" y="1702136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91B1B"/>
          </a:solidFill>
          <a:ln cap="flat" cmpd="sng" w="12700">
            <a:solidFill>
              <a:srgbClr val="991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6251157" y="1665560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CMS 인증: JWT (유효기간 1개월) + Refresh Token 적용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6123141" y="1921592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91B1B"/>
          </a:solidFill>
          <a:ln cap="flat" cmpd="sng" w="12700">
            <a:solidFill>
              <a:srgbClr val="991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6" name="Google Shape;286;p5"/>
          <p:cNvSpPr/>
          <p:nvPr/>
        </p:nvSpPr>
        <p:spPr>
          <a:xfrm>
            <a:off x="6251157" y="1885016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BI 데이터 격리: 테넌트별 데이터 접근 권한 제어 - 모든 쿼리 경로에서 테넌트 간 데이터 격리 보장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5"/>
          <p:cNvSpPr/>
          <p:nvPr/>
        </p:nvSpPr>
        <p:spPr>
          <a:xfrm>
            <a:off x="6123141" y="2141048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91B1B"/>
          </a:solidFill>
          <a:ln cap="flat" cmpd="sng" w="12700">
            <a:solidFill>
              <a:srgbClr val="991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8" name="Google Shape;288;p5"/>
          <p:cNvSpPr/>
          <p:nvPr/>
        </p:nvSpPr>
        <p:spPr>
          <a:xfrm>
            <a:off x="6251157" y="2104472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AI 메타데이터: 원본 영상 외부 전송 금지, 집계 데이터(카운트/벡터)만 전송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5"/>
          <p:cNvSpPr/>
          <p:nvPr/>
        </p:nvSpPr>
        <p:spPr>
          <a:xfrm>
            <a:off x="6123141" y="2360504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991B1B"/>
          </a:solidFill>
          <a:ln cap="flat" cmpd="sng" w="12700">
            <a:solidFill>
              <a:srgbClr val="991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0" name="Google Shape;290;p5"/>
          <p:cNvSpPr/>
          <p:nvPr/>
        </p:nvSpPr>
        <p:spPr>
          <a:xfrm>
            <a:off x="6251157" y="2323928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오픈소스 정책: Apache 2.0 / MIT / BSD 라이선스만 사용 (GPL/LGPL 사용 금지)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362421" y="2744552"/>
            <a:ext cx="2651700" cy="1609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2" name="Google Shape;292;p5"/>
          <p:cNvSpPr/>
          <p:nvPr/>
        </p:nvSpPr>
        <p:spPr>
          <a:xfrm>
            <a:off x="362421" y="2744552"/>
            <a:ext cx="2651700" cy="54900"/>
          </a:xfrm>
          <a:prstGeom prst="rect">
            <a:avLst/>
          </a:prstGeom>
          <a:solidFill>
            <a:srgbClr val="5B21B6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preencoded.png" id="293" name="Google Shape;293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2149" y="28725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5"/>
          <p:cNvSpPr/>
          <p:nvPr/>
        </p:nvSpPr>
        <p:spPr>
          <a:xfrm>
            <a:off x="764757" y="2854280"/>
            <a:ext cx="214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유지보수성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490437" y="3201752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B21B6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6" name="Google Shape;296;p5"/>
          <p:cNvSpPr/>
          <p:nvPr/>
        </p:nvSpPr>
        <p:spPr>
          <a:xfrm>
            <a:off x="618453" y="3165176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AI 모델: OTA를 통한 Hot-swap 지원 (앱 재빌드 및 수동 개입 불필요)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"/>
          <p:cNvSpPr/>
          <p:nvPr/>
        </p:nvSpPr>
        <p:spPr>
          <a:xfrm>
            <a:off x="490437" y="3421208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B21B6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8" name="Google Shape;298;p5"/>
          <p:cNvSpPr/>
          <p:nvPr/>
        </p:nvSpPr>
        <p:spPr>
          <a:xfrm>
            <a:off x="618453" y="3384632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CMS 프론트엔드: 컴포넌트 기반 아키텍처 - 기존 모듈 영향 없이 신규 기능 추가 가능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"/>
          <p:cNvSpPr/>
          <p:nvPr/>
        </p:nvSpPr>
        <p:spPr>
          <a:xfrm>
            <a:off x="490437" y="3640664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B21B6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618453" y="3604088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웹 플레이어: JSON 설정 기반 레이아웃 변경 (코드 배포 불필요)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"/>
          <p:cNvSpPr/>
          <p:nvPr/>
        </p:nvSpPr>
        <p:spPr>
          <a:xfrm>
            <a:off x="490437" y="3860120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B21B6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2" name="Google Shape;302;p5"/>
          <p:cNvSpPr/>
          <p:nvPr/>
        </p:nvSpPr>
        <p:spPr>
          <a:xfrm>
            <a:off x="618453" y="3823544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전 서비스: 요청 ID 기반 구조화 로깅 (AI → CMS → BI 전 구간 추적 가능)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5"/>
          <p:cNvSpPr/>
          <p:nvPr/>
        </p:nvSpPr>
        <p:spPr>
          <a:xfrm>
            <a:off x="3178773" y="2744552"/>
            <a:ext cx="2651700" cy="1609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4" name="Google Shape;304;p5"/>
          <p:cNvSpPr/>
          <p:nvPr/>
        </p:nvSpPr>
        <p:spPr>
          <a:xfrm>
            <a:off x="3178773" y="2744552"/>
            <a:ext cx="2651700" cy="5490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preencoded.png" id="305" name="Google Shape;305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88501" y="28725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5"/>
          <p:cNvSpPr/>
          <p:nvPr/>
        </p:nvSpPr>
        <p:spPr>
          <a:xfrm>
            <a:off x="3581109" y="2854280"/>
            <a:ext cx="2148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확장성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5"/>
          <p:cNvSpPr/>
          <p:nvPr/>
        </p:nvSpPr>
        <p:spPr>
          <a:xfrm>
            <a:off x="3306789" y="3201752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8" name="Google Shape;308;p5"/>
          <p:cNvSpPr/>
          <p:nvPr/>
        </p:nvSpPr>
        <p:spPr>
          <a:xfrm>
            <a:off x="3434805" y="3165176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CMS WebSocket Hub: 서버 인스턴스당 ≥ 500 동시 디바이스 연결 지원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5"/>
          <p:cNvSpPr/>
          <p:nvPr/>
        </p:nvSpPr>
        <p:spPr>
          <a:xfrm>
            <a:off x="3306789" y="3421208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0" name="Google Shape;310;p5"/>
          <p:cNvSpPr/>
          <p:nvPr/>
        </p:nvSpPr>
        <p:spPr>
          <a:xfrm>
            <a:off x="3434805" y="3384632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BI 백엔드: ≥ 10개 테넌트 동시 처리, 신규 테넌트 생성 ≤ 30초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"/>
          <p:cNvSpPr/>
          <p:nvPr/>
        </p:nvSpPr>
        <p:spPr>
          <a:xfrm>
            <a:off x="3306789" y="3640664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2" name="Google Shape;312;p5"/>
          <p:cNvSpPr/>
          <p:nvPr/>
        </p:nvSpPr>
        <p:spPr>
          <a:xfrm>
            <a:off x="3434805" y="3604088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AI 메타데이터 수집: 초당 ≥ 100 이벤트 처리, 큐 적체 없이 안정 운영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"/>
          <p:cNvSpPr/>
          <p:nvPr/>
        </p:nvSpPr>
        <p:spPr>
          <a:xfrm>
            <a:off x="3306789" y="3860120"/>
            <a:ext cx="73200" cy="7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4" name="Google Shape;314;p5"/>
          <p:cNvSpPr/>
          <p:nvPr/>
        </p:nvSpPr>
        <p:spPr>
          <a:xfrm>
            <a:off x="3434805" y="3823544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 스토리지: 미디어 오브젝트 스토어 ≥ 5TB까지 스키마/API 변경 없이 확장 가능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25" y="4442300"/>
            <a:ext cx="835799" cy="536658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6"/>
          <p:cNvSpPr txBox="1"/>
          <p:nvPr/>
        </p:nvSpPr>
        <p:spPr>
          <a:xfrm>
            <a:off x="1164925" y="432200"/>
            <a:ext cx="21996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75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2" name="Google Shape;322;p6"/>
          <p:cNvSpPr txBox="1"/>
          <p:nvPr/>
        </p:nvSpPr>
        <p:spPr>
          <a:xfrm>
            <a:off x="329565" y="1503045"/>
            <a:ext cx="45186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A1"/>
              </a:buClr>
              <a:buSzPts val="2600"/>
              <a:buFont typeface="Arial"/>
              <a:buNone/>
            </a:pPr>
            <a:r>
              <a:rPr b="1" lang="en-US" sz="26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SW </a:t>
            </a:r>
            <a:r>
              <a:rPr b="1" i="0" lang="en-US" sz="26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아키텍처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6"/>
          <p:cNvSpPr txBox="1"/>
          <p:nvPr/>
        </p:nvSpPr>
        <p:spPr>
          <a:xfrm>
            <a:off x="35112" y="4935783"/>
            <a:ext cx="4761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0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임베디드 AI 및 엣지 처리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1" name="Google Shape;331;p10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32" name="Google Shape;33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3" name="Google Shape;333;p10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10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368816" y="869131"/>
            <a:ext cx="83185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617CE"/>
                </a:solidFill>
                <a:latin typeface="Noto Sans KR"/>
                <a:ea typeface="Noto Sans KR"/>
                <a:cs typeface="Noto Sans KR"/>
                <a:sym typeface="Noto Sans KR"/>
              </a:rPr>
              <a:t>임베디드 AI 아키텍처 및 엣지 처리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  - 임베디드 AI 아키텍처 (온디바이스 처리)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368816" y="1148531"/>
            <a:ext cx="1651000" cy="533400"/>
          </a:xfrm>
          <a:prstGeom prst="roundRect">
            <a:avLst>
              <a:gd fmla="val 10000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INPUT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카메라 피드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(스트림 / MJPEG)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" name="Google Shape;337;p10"/>
          <p:cNvCxnSpPr>
            <a:endCxn id="338" idx="1"/>
          </p:cNvCxnSpPr>
          <p:nvPr/>
        </p:nvCxnSpPr>
        <p:spPr>
          <a:xfrm>
            <a:off x="2019816" y="1415198"/>
            <a:ext cx="1295400" cy="1650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38" name="Google Shape;338;p10"/>
          <p:cNvSpPr/>
          <p:nvPr/>
        </p:nvSpPr>
        <p:spPr>
          <a:xfrm>
            <a:off x="3315216" y="1139598"/>
            <a:ext cx="1968500" cy="584200"/>
          </a:xfrm>
          <a:prstGeom prst="roundRect">
            <a:avLst>
              <a:gd fmla="val 10000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Core AI (공통 백본)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YOLOv8 / ONNX Runtime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GPU: STB 내장 GPU 사용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" name="Google Shape;339;p10"/>
          <p:cNvCxnSpPr>
            <a:stCxn id="338" idx="2"/>
            <a:endCxn id="340" idx="0"/>
          </p:cNvCxnSpPr>
          <p:nvPr/>
        </p:nvCxnSpPr>
        <p:spPr>
          <a:xfrm flipH="1">
            <a:off x="1143466" y="1723798"/>
            <a:ext cx="3156000" cy="29880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40" name="Google Shape;340;p10"/>
          <p:cNvSpPr/>
          <p:nvPr/>
        </p:nvSpPr>
        <p:spPr>
          <a:xfrm>
            <a:off x="368816" y="2022731"/>
            <a:ext cx="1549400" cy="513783"/>
          </a:xfrm>
          <a:prstGeom prst="roundRect">
            <a:avLst>
              <a:gd fmla="val 10000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People Counting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ROI 기준 입·출입 인원 계수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1" name="Google Shape;341;p10"/>
          <p:cNvCxnSpPr/>
          <p:nvPr/>
        </p:nvCxnSpPr>
        <p:spPr>
          <a:xfrm>
            <a:off x="1143516" y="2536514"/>
            <a:ext cx="0" cy="122329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42" name="Google Shape;342;p10"/>
          <p:cNvSpPr/>
          <p:nvPr/>
        </p:nvSpPr>
        <p:spPr>
          <a:xfrm>
            <a:off x="2007116" y="2022731"/>
            <a:ext cx="1549400" cy="513783"/>
          </a:xfrm>
          <a:prstGeom prst="roundRect">
            <a:avLst>
              <a:gd fmla="val 10000" name="adj"/>
            </a:avLst>
          </a:prstGeom>
          <a:solidFill>
            <a:srgbClr val="ECFDF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59669"/>
                </a:solidFill>
                <a:latin typeface="Noto Sans KR"/>
                <a:ea typeface="Noto Sans KR"/>
                <a:cs typeface="Noto Sans KR"/>
                <a:sym typeface="Noto Sans KR"/>
              </a:rPr>
              <a:t>Line Crossing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A→B 라인 통과 감지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3" name="Google Shape;343;p10"/>
          <p:cNvCxnSpPr/>
          <p:nvPr/>
        </p:nvCxnSpPr>
        <p:spPr>
          <a:xfrm>
            <a:off x="2781816" y="2536514"/>
            <a:ext cx="0" cy="122329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44" name="Google Shape;344;p10"/>
          <p:cNvSpPr/>
          <p:nvPr/>
        </p:nvSpPr>
        <p:spPr>
          <a:xfrm>
            <a:off x="3645416" y="2022731"/>
            <a:ext cx="1549400" cy="513783"/>
          </a:xfrm>
          <a:prstGeom prst="roundRect">
            <a:avLst>
              <a:gd fmla="val 10000" name="adj"/>
            </a:avLst>
          </a:prstGeom>
          <a:solidFill>
            <a:srgbClr val="FFFBEB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D97706"/>
                </a:solidFill>
                <a:latin typeface="Noto Sans KR"/>
                <a:ea typeface="Noto Sans KR"/>
                <a:cs typeface="Noto Sans KR"/>
                <a:sym typeface="Noto Sans KR"/>
              </a:rPr>
              <a:t>Multi-object Track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다중 객체 추적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" name="Google Shape;345;p10"/>
          <p:cNvCxnSpPr/>
          <p:nvPr/>
        </p:nvCxnSpPr>
        <p:spPr>
          <a:xfrm>
            <a:off x="4420116" y="2536514"/>
            <a:ext cx="0" cy="122329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46" name="Google Shape;346;p10"/>
          <p:cNvSpPr/>
          <p:nvPr/>
        </p:nvSpPr>
        <p:spPr>
          <a:xfrm>
            <a:off x="5283716" y="2022731"/>
            <a:ext cx="1549400" cy="513783"/>
          </a:xfrm>
          <a:prstGeom prst="roundRect">
            <a:avLst>
              <a:gd fmla="val 10000" name="adj"/>
            </a:avLst>
          </a:prstGeom>
          <a:solidFill>
            <a:srgbClr val="F5F3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7C3AED"/>
                </a:solidFill>
                <a:latin typeface="Noto Sans KR"/>
                <a:ea typeface="Noto Sans KR"/>
                <a:cs typeface="Noto Sans KR"/>
                <a:sym typeface="Noto Sans KR"/>
              </a:rPr>
              <a:t>Head Pose / Gaze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시선 방향 / 주의도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p10"/>
          <p:cNvCxnSpPr/>
          <p:nvPr/>
        </p:nvCxnSpPr>
        <p:spPr>
          <a:xfrm>
            <a:off x="6058416" y="2536514"/>
            <a:ext cx="0" cy="122329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48" name="Google Shape;348;p10"/>
          <p:cNvSpPr/>
          <p:nvPr/>
        </p:nvSpPr>
        <p:spPr>
          <a:xfrm>
            <a:off x="6922016" y="2022731"/>
            <a:ext cx="1549400" cy="513783"/>
          </a:xfrm>
          <a:prstGeom prst="roundRect">
            <a:avLst>
              <a:gd fmla="val 10000" name="adj"/>
            </a:avLst>
          </a:prstGeom>
          <a:solidFill>
            <a:srgbClr val="FEF2F2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DC2626"/>
                </a:solidFill>
                <a:latin typeface="Noto Sans KR"/>
                <a:ea typeface="Noto Sans KR"/>
                <a:cs typeface="Noto Sans KR"/>
                <a:sym typeface="Noto Sans KR"/>
              </a:rPr>
              <a:t>Dwell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영역 내 체류 시간 분석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10"/>
          <p:cNvCxnSpPr/>
          <p:nvPr/>
        </p:nvCxnSpPr>
        <p:spPr>
          <a:xfrm>
            <a:off x="7696716" y="2536514"/>
            <a:ext cx="0" cy="122329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50" name="Google Shape;350;p10"/>
          <p:cNvSpPr/>
          <p:nvPr/>
        </p:nvSpPr>
        <p:spPr>
          <a:xfrm>
            <a:off x="368815" y="2657965"/>
            <a:ext cx="8102599" cy="391454"/>
          </a:xfrm>
          <a:prstGeom prst="roundRect">
            <a:avLst>
              <a:gd fmla="val 10000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Aggregator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각 AI 모듈 결과를 통합하여 JSON 이벤트로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10"/>
          <p:cNvCxnSpPr/>
          <p:nvPr/>
        </p:nvCxnSpPr>
        <p:spPr>
          <a:xfrm>
            <a:off x="4153416" y="3049418"/>
            <a:ext cx="0" cy="236828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52" name="Google Shape;352;p10"/>
          <p:cNvSpPr/>
          <p:nvPr/>
        </p:nvSpPr>
        <p:spPr>
          <a:xfrm>
            <a:off x="686316" y="3286246"/>
            <a:ext cx="2667000" cy="440385"/>
          </a:xfrm>
          <a:prstGeom prst="roundRect">
            <a:avLst>
              <a:gd fmla="val 10000" name="adj"/>
            </a:avLst>
          </a:prstGeom>
          <a:solidFill>
            <a:srgbClr val="ECFDF5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59669"/>
                </a:solidFill>
                <a:latin typeface="Noto Sans KR"/>
                <a:ea typeface="Noto Sans KR"/>
                <a:cs typeface="Noto Sans KR"/>
                <a:sym typeface="Noto Sans KR"/>
              </a:rPr>
              <a:t>Metadata 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HTTPS / WSS를 통해 Backend로 전송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10"/>
          <p:cNvCxnSpPr/>
          <p:nvPr/>
        </p:nvCxnSpPr>
        <p:spPr>
          <a:xfrm>
            <a:off x="3353316" y="3506439"/>
            <a:ext cx="254000" cy="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54" name="Google Shape;354;p10"/>
          <p:cNvSpPr/>
          <p:nvPr/>
        </p:nvSpPr>
        <p:spPr>
          <a:xfrm>
            <a:off x="3607316" y="3286246"/>
            <a:ext cx="2667000" cy="440385"/>
          </a:xfrm>
          <a:prstGeom prst="roundRect">
            <a:avLst>
              <a:gd fmla="val 10000" name="adj"/>
            </a:avLst>
          </a:prstGeom>
          <a:solidFill>
            <a:srgbClr val="F5F3FF"/>
          </a:solidFill>
          <a:ln cap="flat" cmpd="sng" w="12700">
            <a:solidFill>
              <a:srgbClr val="3617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617CE"/>
                </a:solidFill>
                <a:latin typeface="Noto Sans KR"/>
                <a:ea typeface="Noto Sans KR"/>
                <a:cs typeface="Noto Sans KR"/>
                <a:sym typeface="Noto Sans KR"/>
              </a:rPr>
              <a:t>BI 백엔드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저장 · 분석 · BI 연계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p10"/>
          <p:cNvCxnSpPr/>
          <p:nvPr/>
        </p:nvCxnSpPr>
        <p:spPr>
          <a:xfrm>
            <a:off x="6274316" y="3506439"/>
            <a:ext cx="254000" cy="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56" name="Google Shape;356;p10"/>
          <p:cNvSpPr/>
          <p:nvPr/>
        </p:nvSpPr>
        <p:spPr>
          <a:xfrm>
            <a:off x="6528316" y="3335178"/>
            <a:ext cx="1778000" cy="342522"/>
          </a:xfrm>
          <a:prstGeom prst="roundRect">
            <a:avLst>
              <a:gd fmla="val 10000" name="adj"/>
            </a:avLst>
          </a:prstGeom>
          <a:solidFill>
            <a:srgbClr val="F5F3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C3AED"/>
                </a:solidFill>
                <a:latin typeface="Noto Sans KR"/>
                <a:ea typeface="Noto Sans KR"/>
                <a:cs typeface="Noto Sans KR"/>
                <a:sym typeface="Noto Sans KR"/>
              </a:rPr>
              <a:t>BI 대시보드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368816" y="3856791"/>
            <a:ext cx="8102598" cy="391454"/>
          </a:xfrm>
          <a:prstGeom prst="roundRect">
            <a:avLst>
              <a:gd fmla="val 10000" name="adj"/>
            </a:avLst>
          </a:prstGeom>
          <a:solidFill>
            <a:srgbClr val="FEF2F2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DC2626"/>
                </a:solidFill>
                <a:latin typeface="Noto Sans KR"/>
                <a:ea typeface="Noto Sans KR"/>
                <a:cs typeface="Noto Sans KR"/>
                <a:sym typeface="Noto Sans KR"/>
              </a:rPr>
              <a:t>보안: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1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원본 영상은 STB에서만 처리되며, 서버에는 메타데이터(JSON)만 전송됨. GDPR 및 PIPA 준수.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" name="Google Shape;358;p10"/>
          <p:cNvCxnSpPr>
            <a:stCxn id="338" idx="2"/>
            <a:endCxn id="342" idx="0"/>
          </p:cNvCxnSpPr>
          <p:nvPr/>
        </p:nvCxnSpPr>
        <p:spPr>
          <a:xfrm flipH="1">
            <a:off x="2781766" y="1723798"/>
            <a:ext cx="1517700" cy="29880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59" name="Google Shape;359;p10"/>
          <p:cNvCxnSpPr>
            <a:stCxn id="338" idx="2"/>
          </p:cNvCxnSpPr>
          <p:nvPr/>
        </p:nvCxnSpPr>
        <p:spPr>
          <a:xfrm>
            <a:off x="4299466" y="1723798"/>
            <a:ext cx="1212900" cy="31530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60" name="Google Shape;360;p10"/>
          <p:cNvCxnSpPr>
            <a:stCxn id="338" idx="2"/>
            <a:endCxn id="346" idx="0"/>
          </p:cNvCxnSpPr>
          <p:nvPr/>
        </p:nvCxnSpPr>
        <p:spPr>
          <a:xfrm>
            <a:off x="4299466" y="1723798"/>
            <a:ext cx="1758900" cy="29880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361" name="Google Shape;361;p10"/>
          <p:cNvCxnSpPr>
            <a:stCxn id="338" idx="2"/>
            <a:endCxn id="348" idx="0"/>
          </p:cNvCxnSpPr>
          <p:nvPr/>
        </p:nvCxnSpPr>
        <p:spPr>
          <a:xfrm>
            <a:off x="4299466" y="1723798"/>
            <a:ext cx="3397200" cy="29880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solid"/>
            <a:round/>
            <a:headEnd len="sm" w="sm" type="none"/>
            <a:tailEnd len="sm" w="sm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9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Android 앱 및 웹 플레이어 아키텍처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9" name="Google Shape;369;p9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70" name="Google Shape;37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1" name="Google Shape;371;p9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9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368815" y="643502"/>
            <a:ext cx="832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STB 애플리케이션은 3개의 내부 레이어로 구성됨: Native(Kotlin)는 CMS 통신 및 스케줄 관리를 담당하며, WebView는 콘텐츠 렌더링을 위한 Web Player를 구동하고, 독립된 백그라운드 서비스는 재생에 영향을 주지 않도록 AI 추론을 수행합니다.</a:t>
            </a:r>
            <a:endParaRPr b="0" i="0" sz="1050" u="none" cap="none" strike="noStrike">
              <a:solidFill>
                <a:srgbClr val="6B728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368815" y="1192142"/>
            <a:ext cx="5074800" cy="2999100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368815" y="1192142"/>
            <a:ext cx="5074800" cy="54900"/>
          </a:xfrm>
          <a:prstGeom prst="rect">
            <a:avLst/>
          </a:prstGeom>
          <a:solidFill>
            <a:srgbClr val="1E4DA1"/>
          </a:solidFill>
          <a:ln cap="flat" cmpd="sng" w="12700">
            <a:solidFill>
              <a:srgbClr val="1E4D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505975" y="1265294"/>
            <a:ext cx="4800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A1"/>
              </a:buClr>
              <a:buSzPts val="1100"/>
              <a:buFont typeface="Calibri"/>
              <a:buNone/>
            </a:pPr>
            <a:r>
              <a:rPr b="1" i="0" lang="en-US" sz="1000" u="none" cap="none" strike="noStrike">
                <a:solidFill>
                  <a:srgbClr val="1E4DA1"/>
                </a:solidFill>
                <a:latin typeface="Noto Sans KR"/>
                <a:ea typeface="Noto Sans KR"/>
                <a:cs typeface="Noto Sans KR"/>
                <a:sym typeface="Noto Sans KR"/>
              </a:rPr>
              <a:t>STB Android 애플리케이션 (Kotlin)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524263" y="1576190"/>
            <a:ext cx="4755000" cy="98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643135" y="1603622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Native 레이어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615703" y="1832222"/>
            <a:ext cx="2148900" cy="658500"/>
          </a:xfrm>
          <a:prstGeom prst="rect">
            <a:avLst/>
          </a:prstGeom>
          <a:solidFill>
            <a:srgbClr val="EBF1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725431" y="1859654"/>
            <a:ext cx="1920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A1"/>
              </a:buClr>
              <a:buSzPts val="950"/>
              <a:buFont typeface="Calibri"/>
              <a:buNone/>
            </a:pPr>
            <a:r>
              <a:rPr b="1" i="0" lang="en-US" sz="800" u="none" cap="none" strike="noStrike">
                <a:solidFill>
                  <a:srgbClr val="1E4DA1"/>
                </a:solidFill>
                <a:latin typeface="Noto Sans KR"/>
                <a:ea typeface="Noto Sans KR"/>
                <a:cs typeface="Noto Sans KR"/>
                <a:sym typeface="Noto Sans KR"/>
              </a:rPr>
              <a:t>WS 클라이언트 서비스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725431" y="2060822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연결 유지 · 하트비트 핑 · 스케줄 푸시 처리 · 긴급 오버라이드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2901703" y="1832222"/>
            <a:ext cx="2240400" cy="658500"/>
          </a:xfrm>
          <a:prstGeom prst="rect">
            <a:avLst/>
          </a:prstGeom>
          <a:solidFill>
            <a:srgbClr val="EBF1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3011431" y="1859654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A1"/>
              </a:buClr>
              <a:buSzPts val="950"/>
              <a:buFont typeface="Calibri"/>
              <a:buNone/>
            </a:pPr>
            <a:r>
              <a:rPr b="1" i="0" lang="en-US" sz="800" u="none" cap="none" strike="noStrike">
                <a:solidFill>
                  <a:srgbClr val="1E4DA1"/>
                </a:solidFill>
                <a:latin typeface="Noto Sans KR"/>
                <a:ea typeface="Noto Sans KR"/>
                <a:cs typeface="Noto Sans KR"/>
                <a:sym typeface="Noto Sans KR"/>
              </a:rPr>
              <a:t>스케줄 엔진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3011431" y="2060822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SQLite 로컬 저장소 · 설정 버전 해시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· WebView 리로드 트리거 · Fail-safe (이전 날짜 기준)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524263" y="2636894"/>
            <a:ext cx="4755000" cy="71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643135" y="2664326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WebView 레이어 (전체 화면)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643135" y="2883782"/>
            <a:ext cx="4498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웹 플레이어 HTML/JS를 전체 화면 오버레이로 호스팅. JS 브리지: Native → WebView (URL 로드, 리로드, 캐시 삭제, 긴급 플래그 처리). Z-order 레이어 제어: WebView와 Native UI 간 상/하위 레이어 조정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524263" y="3404990"/>
            <a:ext cx="47550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643135" y="3432422"/>
            <a:ext cx="4389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00"/>
              <a:buFont typeface="Calibri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AI 모듈 - 백그라운드 서비스 (격리된 스레드 풀)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643135" y="3633590"/>
            <a:ext cx="438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Camera2 API → TFLite 추론 → 메타데이터(JSON) 생성. UI 및 재생 스레드에 영향을 주지 않음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5626615" y="1192142"/>
            <a:ext cx="3063300" cy="299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5626615" y="1192142"/>
            <a:ext cx="3063300" cy="54900"/>
          </a:xfrm>
          <a:prstGeom prst="rect">
            <a:avLst/>
          </a:prstGeom>
          <a:solidFill>
            <a:srgbClr val="0D8C6E"/>
          </a:solidFill>
          <a:ln cap="flat" cmpd="sng" w="12700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5745487" y="1265294"/>
            <a:ext cx="2834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8C6E"/>
              </a:buClr>
              <a:buSzPts val="1100"/>
              <a:buFont typeface="Calibri"/>
              <a:buNone/>
            </a:pPr>
            <a:r>
              <a:rPr b="1" i="0" lang="en-US" sz="1000" u="none" cap="none" strike="noStrike">
                <a:solidFill>
                  <a:srgbClr val="0D8C6E"/>
                </a:solidFill>
                <a:latin typeface="Noto Sans KR"/>
                <a:ea typeface="Noto Sans KR"/>
                <a:cs typeface="Noto Sans KR"/>
                <a:sym typeface="Noto Sans KR"/>
              </a:rPr>
              <a:t>웹 플레이어 (HTML / JS)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5745487" y="1594478"/>
            <a:ext cx="2834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동적 레이아웃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5745487" y="1786502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JSON 기반 멀티 존 렌더링 · Absolute % CSS 포지셔닝으로 코드 변경 없이 HD / FHD 대응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p9"/>
          <p:cNvCxnSpPr/>
          <p:nvPr/>
        </p:nvCxnSpPr>
        <p:spPr>
          <a:xfrm>
            <a:off x="5745487" y="2088254"/>
            <a:ext cx="27432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9"/>
          <p:cNvSpPr/>
          <p:nvPr/>
        </p:nvSpPr>
        <p:spPr>
          <a:xfrm>
            <a:off x="5745487" y="2097398"/>
            <a:ext cx="2834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Gapless 재생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5745487" y="2289422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콘텐츠 종료 전 다음 미디어를 버퍼에 사전 로딩. 24시간 연속 운영 시에도 블랙 스크린 없이 seamless 전환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" name="Google Shape;399;p9"/>
          <p:cNvCxnSpPr/>
          <p:nvPr/>
        </p:nvCxnSpPr>
        <p:spPr>
          <a:xfrm>
            <a:off x="5745487" y="2591174"/>
            <a:ext cx="27432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9"/>
          <p:cNvSpPr/>
          <p:nvPr/>
        </p:nvSpPr>
        <p:spPr>
          <a:xfrm>
            <a:off x="5745487" y="2600318"/>
            <a:ext cx="2834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콘텐츠 유형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5745487" y="2792342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HTML5 비디오 · 이미지 슬라이드쇼 · HLS 라이브 스트리밍(HLS.js). YouTube IFrame API · 정적 및 애니메이션 오버레이 레이어 지원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p9"/>
          <p:cNvCxnSpPr/>
          <p:nvPr/>
        </p:nvCxnSpPr>
        <p:spPr>
          <a:xfrm>
            <a:off x="5745487" y="3094094"/>
            <a:ext cx="27432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9"/>
          <p:cNvSpPr/>
          <p:nvPr/>
        </p:nvSpPr>
        <p:spPr>
          <a:xfrm>
            <a:off x="5745487" y="3103238"/>
            <a:ext cx="2834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메모리 관리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5745487" y="3295262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DOM 정리 사이클을 통해 미사용 요소 제거. 메모리 누수 없이 24/7 안정적인 연속 운영 가능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" name="Google Shape;405;p9"/>
          <p:cNvCxnSpPr/>
          <p:nvPr/>
        </p:nvCxnSpPr>
        <p:spPr>
          <a:xfrm>
            <a:off x="5745487" y="3597014"/>
            <a:ext cx="27432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6" name="Google Shape;406;p9"/>
          <p:cNvSpPr/>
          <p:nvPr/>
        </p:nvSpPr>
        <p:spPr>
          <a:xfrm>
            <a:off x="5745487" y="3606158"/>
            <a:ext cx="2834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긴급 오버레이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5745487" y="3798182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b="0" i="0" lang="en-US" sz="7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JS 브리지를 통해 EMERGENCY_START 수신 시 현재 레이아웃 위에 알림 콘텐츠 오버레이. EMERGENCY_STOP 시 기존 스케줄 재개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368815" y="4246238"/>
            <a:ext cx="8321100" cy="219600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368815" y="4246238"/>
            <a:ext cx="54900" cy="21960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438745" y="4246238"/>
            <a:ext cx="8046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alibri"/>
              <a:buNone/>
            </a:pPr>
            <a:r>
              <a:rPr b="1" i="0" lang="en-US" sz="700" u="none" cap="none" strike="noStrike">
                <a:solidFill>
                  <a:srgbClr val="B45309"/>
                </a:solidFill>
                <a:latin typeface="Noto Sans KR"/>
                <a:ea typeface="Noto Sans KR"/>
                <a:cs typeface="Noto Sans KR"/>
                <a:sym typeface="Noto Sans KR"/>
              </a:rPr>
              <a:t>왜 Native ExoPlayer 대신 Web Player? </a:t>
            </a:r>
            <a:r>
              <a:rPr b="0" i="0" lang="en-US" sz="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레이아웃 변경(신규 존 추가, 비율 조정, 오버레이 적용 등)을 CMS를 통해 즉시 배포할 수 있으며, 이 경우 APK 재빌드, 앱스토어 배포, 현장 기술자 방문이 모두 불필요.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1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CMS</a:t>
            </a:r>
            <a:r>
              <a:rPr b="1"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(contents management system) </a:t>
            </a: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아키텍처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1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8" name="Google Shape;418;p21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19" name="Google Shape;41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1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1" name="Google Shape;421;p21"/>
          <p:cNvSpPr/>
          <p:nvPr/>
        </p:nvSpPr>
        <p:spPr>
          <a:xfrm>
            <a:off x="52371" y="699764"/>
            <a:ext cx="822960" cy="292608"/>
          </a:xfrm>
          <a:prstGeom prst="rect">
            <a:avLst/>
          </a:prstGeom>
          <a:solidFill>
            <a:srgbClr val="D85A30"/>
          </a:solidFill>
          <a:ln cap="flat" cmpd="sng" w="12700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2" name="Google Shape;422;p21"/>
          <p:cNvSpPr/>
          <p:nvPr/>
        </p:nvSpPr>
        <p:spPr>
          <a:xfrm>
            <a:off x="52371" y="699764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① Source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3" name="Google Shape;423;p21"/>
          <p:cNvSpPr/>
          <p:nvPr/>
        </p:nvSpPr>
        <p:spPr>
          <a:xfrm>
            <a:off x="52371" y="864356"/>
            <a:ext cx="8229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데이터</a:t>
            </a:r>
            <a:endParaRPr b="0" i="0" sz="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4" name="Google Shape;424;p21"/>
          <p:cNvSpPr/>
          <p:nvPr/>
        </p:nvSpPr>
        <p:spPr>
          <a:xfrm>
            <a:off x="939339" y="699764"/>
            <a:ext cx="1325880" cy="292608"/>
          </a:xfrm>
          <a:prstGeom prst="rect">
            <a:avLst/>
          </a:prstGeom>
          <a:solidFill>
            <a:srgbClr val="1A5494"/>
          </a:solidFill>
          <a:ln cap="flat" cmpd="sng" w="12700">
            <a:solidFill>
              <a:srgbClr val="1A5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5" name="Google Shape;425;p21"/>
          <p:cNvSpPr/>
          <p:nvPr/>
        </p:nvSpPr>
        <p:spPr>
          <a:xfrm>
            <a:off x="939339" y="699764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② Ingestion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6" name="Google Shape;426;p21"/>
          <p:cNvSpPr/>
          <p:nvPr/>
        </p:nvSpPr>
        <p:spPr>
          <a:xfrm>
            <a:off x="939339" y="864356"/>
            <a:ext cx="1325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수집 · 유입</a:t>
            </a:r>
            <a:endParaRPr b="0" i="0" sz="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7" name="Google Shape;427;p21"/>
          <p:cNvSpPr/>
          <p:nvPr/>
        </p:nvSpPr>
        <p:spPr>
          <a:xfrm>
            <a:off x="2329227" y="699764"/>
            <a:ext cx="1325880" cy="292608"/>
          </a:xfrm>
          <a:prstGeom prst="rect">
            <a:avLst/>
          </a:prstGeom>
          <a:solidFill>
            <a:srgbClr val="BA7517"/>
          </a:solidFill>
          <a:ln cap="flat" cmpd="sng" w="12700">
            <a:solidFill>
              <a:srgbClr val="BA75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8" name="Google Shape;428;p21"/>
          <p:cNvSpPr/>
          <p:nvPr/>
        </p:nvSpPr>
        <p:spPr>
          <a:xfrm>
            <a:off x="2329227" y="699764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③ Processing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9" name="Google Shape;429;p21"/>
          <p:cNvSpPr/>
          <p:nvPr/>
        </p:nvSpPr>
        <p:spPr>
          <a:xfrm>
            <a:off x="2329227" y="864356"/>
            <a:ext cx="1325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정제 · 변환</a:t>
            </a:r>
            <a:endParaRPr b="0" i="0" sz="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0" name="Google Shape;430;p21"/>
          <p:cNvSpPr/>
          <p:nvPr/>
        </p:nvSpPr>
        <p:spPr>
          <a:xfrm>
            <a:off x="3719115" y="699764"/>
            <a:ext cx="1719072" cy="292608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1" name="Google Shape;431;p21"/>
          <p:cNvSpPr/>
          <p:nvPr/>
        </p:nvSpPr>
        <p:spPr>
          <a:xfrm>
            <a:off x="3719115" y="699764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④ Storage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2" name="Google Shape;432;p21"/>
          <p:cNvSpPr/>
          <p:nvPr/>
        </p:nvSpPr>
        <p:spPr>
          <a:xfrm>
            <a:off x="3719115" y="864356"/>
            <a:ext cx="1719072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RAW · GOLD</a:t>
            </a:r>
            <a:endParaRPr b="0" i="0" sz="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3" name="Google Shape;433;p21"/>
          <p:cNvSpPr/>
          <p:nvPr/>
        </p:nvSpPr>
        <p:spPr>
          <a:xfrm>
            <a:off x="5502195" y="699764"/>
            <a:ext cx="1325880" cy="292608"/>
          </a:xfrm>
          <a:prstGeom prst="rect">
            <a:avLst/>
          </a:prstGeom>
          <a:solidFill>
            <a:srgbClr val="1A8A4A"/>
          </a:solidFill>
          <a:ln cap="flat" cmpd="sng" w="12700">
            <a:solidFill>
              <a:srgbClr val="1A8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4" name="Google Shape;434;p21"/>
          <p:cNvSpPr/>
          <p:nvPr/>
        </p:nvSpPr>
        <p:spPr>
          <a:xfrm>
            <a:off x="5502195" y="699764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⑤ Serving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5" name="Google Shape;435;p21"/>
          <p:cNvSpPr/>
          <p:nvPr/>
        </p:nvSpPr>
        <p:spPr>
          <a:xfrm>
            <a:off x="5502195" y="864356"/>
            <a:ext cx="1325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API · ML</a:t>
            </a:r>
            <a:endParaRPr b="0" i="0" sz="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6" name="Google Shape;436;p21"/>
          <p:cNvSpPr/>
          <p:nvPr/>
        </p:nvSpPr>
        <p:spPr>
          <a:xfrm>
            <a:off x="6892083" y="699764"/>
            <a:ext cx="1325880" cy="292608"/>
          </a:xfrm>
          <a:prstGeom prst="rect">
            <a:avLst/>
          </a:prstGeom>
          <a:solidFill>
            <a:srgbClr val="0052A3"/>
          </a:solidFill>
          <a:ln cap="flat" cmpd="sng" w="12700">
            <a:solidFill>
              <a:srgbClr val="0052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7" name="Google Shape;437;p21"/>
          <p:cNvSpPr/>
          <p:nvPr/>
        </p:nvSpPr>
        <p:spPr>
          <a:xfrm>
            <a:off x="6892083" y="699764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⑥ Visualize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8" name="Google Shape;438;p21"/>
          <p:cNvSpPr/>
          <p:nvPr/>
        </p:nvSpPr>
        <p:spPr>
          <a:xfrm>
            <a:off x="6892083" y="864356"/>
            <a:ext cx="13258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BI 대시보드</a:t>
            </a:r>
            <a:endParaRPr b="0" i="0" sz="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9" name="Google Shape;439;p21"/>
          <p:cNvSpPr/>
          <p:nvPr/>
        </p:nvSpPr>
        <p:spPr>
          <a:xfrm>
            <a:off x="8316606" y="699764"/>
            <a:ext cx="768096" cy="292608"/>
          </a:xfrm>
          <a:prstGeom prst="rect">
            <a:avLst/>
          </a:prstGeom>
          <a:solidFill>
            <a:srgbClr val="D85A30"/>
          </a:solidFill>
          <a:ln cap="flat" cmpd="sng" w="12700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0" name="Google Shape;440;p21"/>
          <p:cNvSpPr/>
          <p:nvPr/>
        </p:nvSpPr>
        <p:spPr>
          <a:xfrm>
            <a:off x="8316606" y="699764"/>
            <a:ext cx="7680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Client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1" name="Google Shape;441;p21"/>
          <p:cNvSpPr/>
          <p:nvPr/>
        </p:nvSpPr>
        <p:spPr>
          <a:xfrm>
            <a:off x="8316606" y="864356"/>
            <a:ext cx="76809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사용자</a:t>
            </a:r>
            <a:endParaRPr b="0" i="0" sz="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2" name="Google Shape;442;p21"/>
          <p:cNvSpPr/>
          <p:nvPr/>
        </p:nvSpPr>
        <p:spPr>
          <a:xfrm>
            <a:off x="909689" y="1028948"/>
            <a:ext cx="7372281" cy="3456432"/>
          </a:xfrm>
          <a:prstGeom prst="rect">
            <a:avLst/>
          </a:prstGeom>
          <a:solidFill>
            <a:srgbClr val="E8F1FA">
              <a:alpha val="30196"/>
            </a:srgbClr>
          </a:solidFill>
          <a:ln cap="flat" cmpd="sng" w="10150">
            <a:solidFill>
              <a:srgbClr val="0052A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3" name="Google Shape;443;p21"/>
          <p:cNvSpPr/>
          <p:nvPr/>
        </p:nvSpPr>
        <p:spPr>
          <a:xfrm>
            <a:off x="939339" y="1047236"/>
            <a:ext cx="7242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52A3"/>
                </a:solidFill>
                <a:latin typeface="Noto Sans KR"/>
                <a:ea typeface="Noto Sans KR"/>
                <a:cs typeface="Noto Sans KR"/>
                <a:sym typeface="Noto Sans KR"/>
              </a:rPr>
              <a:t>SK Broadband  –  프라이빗 데이터 파이프라인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4" name="Google Shape;444;p21"/>
          <p:cNvSpPr/>
          <p:nvPr/>
        </p:nvSpPr>
        <p:spPr>
          <a:xfrm>
            <a:off x="38655" y="1337871"/>
            <a:ext cx="822960" cy="412420"/>
          </a:xfrm>
          <a:prstGeom prst="rect">
            <a:avLst/>
          </a:prstGeom>
          <a:solidFill>
            <a:srgbClr val="FAECE7"/>
          </a:solidFill>
          <a:ln cap="flat" cmpd="sng" w="9525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38655" y="1374447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B2D10"/>
                </a:solidFill>
                <a:latin typeface="Noto Sans KR"/>
                <a:ea typeface="Noto Sans KR"/>
                <a:cs typeface="Noto Sans KR"/>
                <a:sym typeface="Noto Sans KR"/>
              </a:rPr>
              <a:t>Client 1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6" name="Google Shape;446;p21"/>
          <p:cNvSpPr/>
          <p:nvPr/>
        </p:nvSpPr>
        <p:spPr>
          <a:xfrm>
            <a:off x="38655" y="1566195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993C1D"/>
                </a:solidFill>
                <a:latin typeface="Noto Sans KR"/>
                <a:ea typeface="Noto Sans KR"/>
                <a:cs typeface="Noto Sans KR"/>
                <a:sym typeface="Noto Sans KR"/>
              </a:rPr>
              <a:t>Market 1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7" name="Google Shape;447;p21"/>
          <p:cNvSpPr/>
          <p:nvPr/>
        </p:nvSpPr>
        <p:spPr>
          <a:xfrm>
            <a:off x="47799" y="1826423"/>
            <a:ext cx="822960" cy="427821"/>
          </a:xfrm>
          <a:prstGeom prst="rect">
            <a:avLst/>
          </a:prstGeom>
          <a:solidFill>
            <a:srgbClr val="FAECE7"/>
          </a:solidFill>
          <a:ln cap="flat" cmpd="sng" w="9525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8" name="Google Shape;448;p21"/>
          <p:cNvSpPr/>
          <p:nvPr/>
        </p:nvSpPr>
        <p:spPr>
          <a:xfrm>
            <a:off x="47799" y="1862999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B2D10"/>
                </a:solidFill>
                <a:latin typeface="Noto Sans KR"/>
                <a:ea typeface="Noto Sans KR"/>
                <a:cs typeface="Noto Sans KR"/>
                <a:sym typeface="Noto Sans KR"/>
              </a:rPr>
              <a:t>Client 2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9" name="Google Shape;449;p21"/>
          <p:cNvSpPr/>
          <p:nvPr/>
        </p:nvSpPr>
        <p:spPr>
          <a:xfrm>
            <a:off x="47799" y="2047820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993C1D"/>
                </a:solidFill>
                <a:latin typeface="Noto Sans KR"/>
                <a:ea typeface="Noto Sans KR"/>
                <a:cs typeface="Noto Sans KR"/>
                <a:sym typeface="Noto Sans KR"/>
              </a:rPr>
              <a:t>Market 2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0" name="Google Shape;450;p21"/>
          <p:cNvSpPr/>
          <p:nvPr/>
        </p:nvSpPr>
        <p:spPr>
          <a:xfrm>
            <a:off x="38655" y="2327219"/>
            <a:ext cx="822960" cy="420624"/>
          </a:xfrm>
          <a:prstGeom prst="rect">
            <a:avLst/>
          </a:prstGeom>
          <a:solidFill>
            <a:srgbClr val="FAECE7"/>
          </a:solidFill>
          <a:ln cap="flat" cmpd="sng" w="9525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1" name="Google Shape;451;p21"/>
          <p:cNvSpPr/>
          <p:nvPr/>
        </p:nvSpPr>
        <p:spPr>
          <a:xfrm>
            <a:off x="38655" y="2363795"/>
            <a:ext cx="822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B2D10"/>
                </a:solidFill>
                <a:latin typeface="Noto Sans KR"/>
                <a:ea typeface="Noto Sans KR"/>
                <a:cs typeface="Noto Sans KR"/>
                <a:sym typeface="Noto Sans KR"/>
              </a:rPr>
              <a:t>Client N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2" name="Google Shape;452;p21"/>
          <p:cNvSpPr/>
          <p:nvPr/>
        </p:nvSpPr>
        <p:spPr>
          <a:xfrm>
            <a:off x="38655" y="2555543"/>
            <a:ext cx="8229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993C1D"/>
                </a:solidFill>
                <a:latin typeface="Noto Sans KR"/>
                <a:ea typeface="Noto Sans KR"/>
                <a:cs typeface="Noto Sans KR"/>
                <a:sym typeface="Noto Sans KR"/>
              </a:rPr>
              <a:t>Market N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3" name="Google Shape;453;p21"/>
          <p:cNvSpPr/>
          <p:nvPr/>
        </p:nvSpPr>
        <p:spPr>
          <a:xfrm>
            <a:off x="24939" y="3419545"/>
            <a:ext cx="822960" cy="493776"/>
          </a:xfrm>
          <a:prstGeom prst="rect">
            <a:avLst/>
          </a:prstGeom>
          <a:solidFill>
            <a:srgbClr val="E8F1FA"/>
          </a:solidFill>
          <a:ln cap="flat" cmpd="sng" w="9525">
            <a:solidFill>
              <a:srgbClr val="0052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4" name="Google Shape;454;p21"/>
          <p:cNvSpPr/>
          <p:nvPr/>
        </p:nvSpPr>
        <p:spPr>
          <a:xfrm>
            <a:off x="24939" y="3437833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3366"/>
                </a:solidFill>
                <a:latin typeface="Noto Sans KR"/>
                <a:ea typeface="Noto Sans KR"/>
                <a:cs typeface="Noto Sans KR"/>
                <a:sym typeface="Noto Sans KR"/>
              </a:rPr>
              <a:t>Global data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5" name="Google Shape;455;p21"/>
          <p:cNvSpPr/>
          <p:nvPr/>
        </p:nvSpPr>
        <p:spPr>
          <a:xfrm>
            <a:off x="24939" y="3620713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날씨·온도·외부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6" name="Google Shape;456;p21"/>
          <p:cNvSpPr/>
          <p:nvPr/>
        </p:nvSpPr>
        <p:spPr>
          <a:xfrm>
            <a:off x="939339" y="1065524"/>
            <a:ext cx="1325880" cy="1719072"/>
          </a:xfrm>
          <a:prstGeom prst="rect">
            <a:avLst/>
          </a:prstGeom>
          <a:solidFill>
            <a:srgbClr val="EBF2FF"/>
          </a:solidFill>
          <a:ln cap="flat" cmpd="sng" w="10150">
            <a:solidFill>
              <a:srgbClr val="1A5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7" name="Google Shape;457;p21"/>
          <p:cNvSpPr/>
          <p:nvPr/>
        </p:nvSpPr>
        <p:spPr>
          <a:xfrm>
            <a:off x="939339" y="1065524"/>
            <a:ext cx="1325880" cy="237744"/>
          </a:xfrm>
          <a:prstGeom prst="rect">
            <a:avLst/>
          </a:prstGeom>
          <a:solidFill>
            <a:srgbClr val="1A5494"/>
          </a:solidFill>
          <a:ln cap="flat" cmpd="sng" w="12700">
            <a:solidFill>
              <a:srgbClr val="1A5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8" name="Google Shape;458;p21"/>
          <p:cNvSpPr/>
          <p:nvPr/>
        </p:nvSpPr>
        <p:spPr>
          <a:xfrm>
            <a:off x="957627" y="1065524"/>
            <a:ext cx="12893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Ingestion layer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9" name="Google Shape;459;p21"/>
          <p:cNvSpPr/>
          <p:nvPr/>
        </p:nvSpPr>
        <p:spPr>
          <a:xfrm>
            <a:off x="994203" y="1339844"/>
            <a:ext cx="1216152" cy="420624"/>
          </a:xfrm>
          <a:prstGeom prst="rect">
            <a:avLst/>
          </a:prstGeom>
          <a:solidFill>
            <a:srgbClr val="D6E9FF"/>
          </a:solidFill>
          <a:ln cap="flat" cmpd="sng" w="9525">
            <a:solidFill>
              <a:srgbClr val="1A5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0" name="Google Shape;460;p21"/>
          <p:cNvSpPr/>
          <p:nvPr/>
        </p:nvSpPr>
        <p:spPr>
          <a:xfrm>
            <a:off x="1012491" y="1358132"/>
            <a:ext cx="11795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3366"/>
                </a:solidFill>
                <a:latin typeface="Noto Sans KR"/>
                <a:ea typeface="Noto Sans KR"/>
                <a:cs typeface="Noto Sans KR"/>
                <a:sym typeface="Noto Sans KR"/>
              </a:rPr>
              <a:t>Process 1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1" name="Google Shape;461;p21"/>
          <p:cNvSpPr/>
          <p:nvPr/>
        </p:nvSpPr>
        <p:spPr>
          <a:xfrm>
            <a:off x="1012491" y="1559300"/>
            <a:ext cx="11795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1A5494"/>
                </a:solidFill>
                <a:latin typeface="Noto Sans KR"/>
                <a:ea typeface="Noto Sans KR"/>
                <a:cs typeface="Noto Sans KR"/>
                <a:sym typeface="Noto Sans KR"/>
              </a:rPr>
              <a:t>Client 1 수신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2" name="Google Shape;462;p21"/>
          <p:cNvSpPr/>
          <p:nvPr/>
        </p:nvSpPr>
        <p:spPr>
          <a:xfrm>
            <a:off x="994203" y="1833620"/>
            <a:ext cx="1216152" cy="420624"/>
          </a:xfrm>
          <a:prstGeom prst="rect">
            <a:avLst/>
          </a:prstGeom>
          <a:solidFill>
            <a:srgbClr val="D6E9FF"/>
          </a:solidFill>
          <a:ln cap="flat" cmpd="sng" w="9525">
            <a:solidFill>
              <a:srgbClr val="1A5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3" name="Google Shape;463;p21"/>
          <p:cNvSpPr/>
          <p:nvPr/>
        </p:nvSpPr>
        <p:spPr>
          <a:xfrm>
            <a:off x="1012491" y="1851908"/>
            <a:ext cx="11795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3366"/>
                </a:solidFill>
                <a:latin typeface="Noto Sans KR"/>
                <a:ea typeface="Noto Sans KR"/>
                <a:cs typeface="Noto Sans KR"/>
                <a:sym typeface="Noto Sans KR"/>
              </a:rPr>
              <a:t>Process 2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4" name="Google Shape;464;p21"/>
          <p:cNvSpPr/>
          <p:nvPr/>
        </p:nvSpPr>
        <p:spPr>
          <a:xfrm>
            <a:off x="1012491" y="2053076"/>
            <a:ext cx="11795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1A5494"/>
                </a:solidFill>
                <a:latin typeface="Noto Sans KR"/>
                <a:ea typeface="Noto Sans KR"/>
                <a:cs typeface="Noto Sans KR"/>
                <a:sym typeface="Noto Sans KR"/>
              </a:rPr>
              <a:t>Client 2 수신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5" name="Google Shape;465;p21"/>
          <p:cNvSpPr/>
          <p:nvPr/>
        </p:nvSpPr>
        <p:spPr>
          <a:xfrm>
            <a:off x="994203" y="2327396"/>
            <a:ext cx="1216152" cy="420624"/>
          </a:xfrm>
          <a:prstGeom prst="rect">
            <a:avLst/>
          </a:prstGeom>
          <a:solidFill>
            <a:srgbClr val="D6E9FF"/>
          </a:solidFill>
          <a:ln cap="flat" cmpd="sng" w="9525">
            <a:solidFill>
              <a:srgbClr val="1A5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6" name="Google Shape;466;p21"/>
          <p:cNvSpPr/>
          <p:nvPr/>
        </p:nvSpPr>
        <p:spPr>
          <a:xfrm>
            <a:off x="1012491" y="2345684"/>
            <a:ext cx="11795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3366"/>
                </a:solidFill>
                <a:latin typeface="Noto Sans KR"/>
                <a:ea typeface="Noto Sans KR"/>
                <a:cs typeface="Noto Sans KR"/>
                <a:sym typeface="Noto Sans KR"/>
              </a:rPr>
              <a:t>Process N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7" name="Google Shape;467;p21"/>
          <p:cNvSpPr/>
          <p:nvPr/>
        </p:nvSpPr>
        <p:spPr>
          <a:xfrm>
            <a:off x="1012491" y="2546852"/>
            <a:ext cx="11795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1A5494"/>
                </a:solidFill>
                <a:latin typeface="Noto Sans KR"/>
                <a:ea typeface="Noto Sans KR"/>
                <a:cs typeface="Noto Sans KR"/>
                <a:sym typeface="Noto Sans KR"/>
              </a:rPr>
              <a:t>Client N 수신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8" name="Google Shape;468;p21"/>
          <p:cNvSpPr/>
          <p:nvPr/>
        </p:nvSpPr>
        <p:spPr>
          <a:xfrm>
            <a:off x="2329227" y="3035912"/>
            <a:ext cx="1325880" cy="1243584"/>
          </a:xfrm>
          <a:prstGeom prst="rect">
            <a:avLst/>
          </a:prstGeom>
          <a:solidFill>
            <a:srgbClr val="FFF3E0"/>
          </a:solidFill>
          <a:ln cap="flat" cmpd="sng" w="10150">
            <a:solidFill>
              <a:srgbClr val="BA75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9" name="Google Shape;469;p21"/>
          <p:cNvSpPr/>
          <p:nvPr/>
        </p:nvSpPr>
        <p:spPr>
          <a:xfrm>
            <a:off x="2329227" y="3035912"/>
            <a:ext cx="1325880" cy="237744"/>
          </a:xfrm>
          <a:prstGeom prst="rect">
            <a:avLst/>
          </a:prstGeom>
          <a:solidFill>
            <a:srgbClr val="BA7517"/>
          </a:solidFill>
          <a:ln cap="flat" cmpd="sng" w="12700">
            <a:solidFill>
              <a:srgbClr val="BA75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0" name="Google Shape;470;p21"/>
          <p:cNvSpPr/>
          <p:nvPr/>
        </p:nvSpPr>
        <p:spPr>
          <a:xfrm>
            <a:off x="2347515" y="3035912"/>
            <a:ext cx="12893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Processing layer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1" name="Google Shape;471;p21"/>
          <p:cNvSpPr/>
          <p:nvPr/>
        </p:nvSpPr>
        <p:spPr>
          <a:xfrm>
            <a:off x="2384091" y="3310232"/>
            <a:ext cx="1216152" cy="402336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BA75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2402379" y="3328520"/>
            <a:ext cx="11795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4400"/>
                </a:solidFill>
                <a:latin typeface="Noto Sans KR"/>
                <a:ea typeface="Noto Sans KR"/>
                <a:cs typeface="Noto Sans KR"/>
                <a:sym typeface="Noto Sans KR"/>
              </a:rPr>
              <a:t>Common proc.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2402379" y="3511400"/>
            <a:ext cx="11795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BA7517"/>
                </a:solidFill>
                <a:latin typeface="Noto Sans KR"/>
                <a:ea typeface="Noto Sans KR"/>
                <a:cs typeface="Noto Sans KR"/>
                <a:sym typeface="Noto Sans KR"/>
              </a:rPr>
              <a:t>공통 전처리 · 정규화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4" name="Google Shape;474;p21"/>
          <p:cNvSpPr/>
          <p:nvPr/>
        </p:nvSpPr>
        <p:spPr>
          <a:xfrm>
            <a:off x="2384091" y="3785720"/>
            <a:ext cx="1216152" cy="402336"/>
          </a:xfrm>
          <a:prstGeom prst="rect">
            <a:avLst/>
          </a:prstGeom>
          <a:solidFill>
            <a:srgbClr val="FFF3CD"/>
          </a:solidFill>
          <a:ln cap="flat" cmpd="sng" w="9525">
            <a:solidFill>
              <a:srgbClr val="BA75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5" name="Google Shape;475;p21"/>
          <p:cNvSpPr/>
          <p:nvPr/>
        </p:nvSpPr>
        <p:spPr>
          <a:xfrm>
            <a:off x="2402379" y="3804008"/>
            <a:ext cx="11795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4400"/>
                </a:solidFill>
                <a:latin typeface="Noto Sans KR"/>
                <a:ea typeface="Noto Sans KR"/>
                <a:cs typeface="Noto Sans KR"/>
                <a:sym typeface="Noto Sans KR"/>
              </a:rPr>
              <a:t>Custom proc.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2402379" y="3986888"/>
            <a:ext cx="11795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BA7517"/>
                </a:solidFill>
                <a:latin typeface="Noto Sans KR"/>
                <a:ea typeface="Noto Sans KR"/>
                <a:cs typeface="Noto Sans KR"/>
                <a:sym typeface="Noto Sans KR"/>
              </a:rPr>
              <a:t>고객사별 처리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7" name="Google Shape;477;p21"/>
          <p:cNvSpPr/>
          <p:nvPr/>
        </p:nvSpPr>
        <p:spPr>
          <a:xfrm>
            <a:off x="3746547" y="1211658"/>
            <a:ext cx="1682496" cy="1570609"/>
          </a:xfrm>
          <a:prstGeom prst="rect">
            <a:avLst/>
          </a:prstGeom>
          <a:solidFill>
            <a:srgbClr val="F4F0FF"/>
          </a:solidFill>
          <a:ln cap="flat" cmpd="sng" w="10150">
            <a:solidFill>
              <a:srgbClr val="6C348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8" name="Google Shape;478;p21"/>
          <p:cNvSpPr/>
          <p:nvPr/>
        </p:nvSpPr>
        <p:spPr>
          <a:xfrm>
            <a:off x="3783123" y="1216814"/>
            <a:ext cx="1609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6C3483"/>
                </a:solidFill>
                <a:latin typeface="Noto Sans KR"/>
                <a:ea typeface="Noto Sans KR"/>
                <a:cs typeface="Noto Sans KR"/>
                <a:sym typeface="Noto Sans KR"/>
              </a:rPr>
              <a:t>RAW  –  원시 데이터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9" name="Google Shape;479;p21"/>
          <p:cNvSpPr/>
          <p:nvPr/>
        </p:nvSpPr>
        <p:spPr>
          <a:xfrm>
            <a:off x="3801411" y="1394708"/>
            <a:ext cx="1572768" cy="310896"/>
          </a:xfrm>
          <a:prstGeom prst="rect">
            <a:avLst/>
          </a:prstGeom>
          <a:solidFill>
            <a:srgbClr val="EDE8FF"/>
          </a:solidFill>
          <a:ln cap="flat" cmpd="sng" w="9525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0" name="Google Shape;480;p21"/>
          <p:cNvSpPr/>
          <p:nvPr/>
        </p:nvSpPr>
        <p:spPr>
          <a:xfrm>
            <a:off x="3819699" y="1412996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D1B6E"/>
                </a:solidFill>
                <a:latin typeface="Noto Sans KR"/>
                <a:ea typeface="Noto Sans KR"/>
                <a:cs typeface="Noto Sans KR"/>
                <a:sym typeface="Noto Sans KR"/>
              </a:rPr>
              <a:t>Bucket 1 (Client 1)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1" name="Google Shape;481;p21"/>
          <p:cNvSpPr/>
          <p:nvPr/>
        </p:nvSpPr>
        <p:spPr>
          <a:xfrm>
            <a:off x="3810555" y="1878246"/>
            <a:ext cx="1572768" cy="310896"/>
          </a:xfrm>
          <a:prstGeom prst="rect">
            <a:avLst/>
          </a:prstGeom>
          <a:solidFill>
            <a:srgbClr val="EDE8FF"/>
          </a:solidFill>
          <a:ln cap="flat" cmpd="sng" w="9525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3828843" y="1896534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D1B6E"/>
                </a:solidFill>
                <a:latin typeface="Noto Sans KR"/>
                <a:ea typeface="Noto Sans KR"/>
                <a:cs typeface="Noto Sans KR"/>
                <a:sym typeface="Noto Sans KR"/>
              </a:rPr>
              <a:t>Bucket 2 (Client 2)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3" name="Google Shape;483;p21"/>
          <p:cNvSpPr/>
          <p:nvPr/>
        </p:nvSpPr>
        <p:spPr>
          <a:xfrm>
            <a:off x="3810555" y="2371809"/>
            <a:ext cx="1572768" cy="310896"/>
          </a:xfrm>
          <a:prstGeom prst="rect">
            <a:avLst/>
          </a:prstGeom>
          <a:solidFill>
            <a:srgbClr val="EDE8FF"/>
          </a:solidFill>
          <a:ln cap="flat" cmpd="sng" w="9525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3828843" y="2390097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3D1B6E"/>
                </a:solidFill>
                <a:latin typeface="Noto Sans KR"/>
                <a:ea typeface="Noto Sans KR"/>
                <a:cs typeface="Noto Sans KR"/>
                <a:sym typeface="Noto Sans KR"/>
              </a:rPr>
              <a:t>Bucket N (Client N)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3746547" y="2946689"/>
            <a:ext cx="1682496" cy="1426464"/>
          </a:xfrm>
          <a:prstGeom prst="rect">
            <a:avLst/>
          </a:prstGeom>
          <a:solidFill>
            <a:srgbClr val="E6F5F5"/>
          </a:solidFill>
          <a:ln cap="flat" cmpd="sng" w="10150">
            <a:solidFill>
              <a:srgbClr val="0D737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6" name="Google Shape;486;p21"/>
          <p:cNvSpPr/>
          <p:nvPr/>
        </p:nvSpPr>
        <p:spPr>
          <a:xfrm>
            <a:off x="3783123" y="2964977"/>
            <a:ext cx="1609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D7377"/>
                </a:solidFill>
                <a:latin typeface="Noto Sans KR"/>
                <a:ea typeface="Noto Sans KR"/>
                <a:cs typeface="Noto Sans KR"/>
                <a:sym typeface="Noto Sans KR"/>
              </a:rPr>
              <a:t>GOLD  –  가공 완료 데이터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7" name="Google Shape;487;p21"/>
          <p:cNvSpPr/>
          <p:nvPr/>
        </p:nvSpPr>
        <p:spPr>
          <a:xfrm>
            <a:off x="3801411" y="3184433"/>
            <a:ext cx="1572768" cy="310896"/>
          </a:xfrm>
          <a:prstGeom prst="rect">
            <a:avLst/>
          </a:prstGeom>
          <a:solidFill>
            <a:srgbClr val="D0EDE8"/>
          </a:solidFill>
          <a:ln cap="flat" cmpd="sng" w="9525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3819699" y="3202721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7494C"/>
                </a:solidFill>
                <a:latin typeface="Noto Sans KR"/>
                <a:ea typeface="Noto Sans KR"/>
                <a:cs typeface="Noto Sans KR"/>
                <a:sym typeface="Noto Sans KR"/>
              </a:rPr>
              <a:t>Bucket 1 (Client 1)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3801411" y="3568481"/>
            <a:ext cx="1572768" cy="310896"/>
          </a:xfrm>
          <a:prstGeom prst="rect">
            <a:avLst/>
          </a:prstGeom>
          <a:solidFill>
            <a:srgbClr val="D0EDE8"/>
          </a:solidFill>
          <a:ln cap="flat" cmpd="sng" w="9525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3819699" y="3586769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7494C"/>
                </a:solidFill>
                <a:latin typeface="Noto Sans KR"/>
                <a:ea typeface="Noto Sans KR"/>
                <a:cs typeface="Noto Sans KR"/>
                <a:sym typeface="Noto Sans KR"/>
              </a:rPr>
              <a:t>Bucket 2 (Client 2)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1" name="Google Shape;491;p21"/>
          <p:cNvSpPr/>
          <p:nvPr/>
        </p:nvSpPr>
        <p:spPr>
          <a:xfrm>
            <a:off x="3801411" y="3952529"/>
            <a:ext cx="1572768" cy="310896"/>
          </a:xfrm>
          <a:prstGeom prst="rect">
            <a:avLst/>
          </a:prstGeom>
          <a:solidFill>
            <a:srgbClr val="D0EDE8"/>
          </a:solidFill>
          <a:ln cap="flat" cmpd="sng" w="9525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3819699" y="3970817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7494C"/>
                </a:solidFill>
                <a:latin typeface="Noto Sans KR"/>
                <a:ea typeface="Noto Sans KR"/>
                <a:cs typeface="Noto Sans KR"/>
                <a:sym typeface="Noto Sans KR"/>
              </a:rPr>
              <a:t>Bucket N (Client N)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3" name="Google Shape;493;p21"/>
          <p:cNvSpPr/>
          <p:nvPr/>
        </p:nvSpPr>
        <p:spPr>
          <a:xfrm>
            <a:off x="5502195" y="1065524"/>
            <a:ext cx="1325880" cy="1719072"/>
          </a:xfrm>
          <a:prstGeom prst="rect">
            <a:avLst/>
          </a:prstGeom>
          <a:solidFill>
            <a:srgbClr val="EAF5EE"/>
          </a:solidFill>
          <a:ln cap="flat" cmpd="sng" w="10150">
            <a:solidFill>
              <a:srgbClr val="1A8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5502195" y="1065524"/>
            <a:ext cx="1325880" cy="237744"/>
          </a:xfrm>
          <a:prstGeom prst="rect">
            <a:avLst/>
          </a:prstGeom>
          <a:solidFill>
            <a:srgbClr val="1A8A4A"/>
          </a:solidFill>
          <a:ln cap="flat" cmpd="sng" w="12700">
            <a:solidFill>
              <a:srgbClr val="1A8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5520483" y="1065524"/>
            <a:ext cx="12893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Serving layer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5557059" y="1339844"/>
            <a:ext cx="1216152" cy="292608"/>
          </a:xfrm>
          <a:prstGeom prst="rect">
            <a:avLst/>
          </a:prstGeom>
          <a:solidFill>
            <a:srgbClr val="D6EDDB"/>
          </a:solidFill>
          <a:ln cap="flat" cmpd="sng" w="9525">
            <a:solidFill>
              <a:srgbClr val="1A8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7" name="Google Shape;497;p21"/>
          <p:cNvSpPr/>
          <p:nvPr/>
        </p:nvSpPr>
        <p:spPr>
          <a:xfrm>
            <a:off x="5575347" y="1339844"/>
            <a:ext cx="11795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C5C2E"/>
                </a:solidFill>
                <a:latin typeface="Noto Sans KR"/>
                <a:ea typeface="Noto Sans KR"/>
                <a:cs typeface="Noto Sans KR"/>
                <a:sym typeface="Noto Sans KR"/>
              </a:rPr>
              <a:t>API gateway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8" name="Google Shape;498;p21"/>
          <p:cNvSpPr/>
          <p:nvPr/>
        </p:nvSpPr>
        <p:spPr>
          <a:xfrm>
            <a:off x="5557059" y="1705604"/>
            <a:ext cx="1216152" cy="292608"/>
          </a:xfrm>
          <a:prstGeom prst="rect">
            <a:avLst/>
          </a:prstGeom>
          <a:solidFill>
            <a:srgbClr val="D6EDDB"/>
          </a:solidFill>
          <a:ln cap="flat" cmpd="sng" w="9525">
            <a:solidFill>
              <a:srgbClr val="1A8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9" name="Google Shape;499;p21"/>
          <p:cNvSpPr/>
          <p:nvPr/>
        </p:nvSpPr>
        <p:spPr>
          <a:xfrm>
            <a:off x="5575347" y="1705604"/>
            <a:ext cx="11795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C5C2E"/>
                </a:solidFill>
                <a:latin typeface="Noto Sans KR"/>
                <a:ea typeface="Noto Sans KR"/>
                <a:cs typeface="Noto Sans KR"/>
                <a:sym typeface="Noto Sans KR"/>
              </a:rPr>
              <a:t>Data API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0" name="Google Shape;500;p21"/>
          <p:cNvSpPr/>
          <p:nvPr/>
        </p:nvSpPr>
        <p:spPr>
          <a:xfrm>
            <a:off x="5557059" y="2071364"/>
            <a:ext cx="1216152" cy="292608"/>
          </a:xfrm>
          <a:prstGeom prst="rect">
            <a:avLst/>
          </a:prstGeom>
          <a:solidFill>
            <a:srgbClr val="D6EDDB"/>
          </a:solidFill>
          <a:ln cap="flat" cmpd="sng" w="9525">
            <a:solidFill>
              <a:srgbClr val="1A8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1" name="Google Shape;501;p21"/>
          <p:cNvSpPr/>
          <p:nvPr/>
        </p:nvSpPr>
        <p:spPr>
          <a:xfrm>
            <a:off x="5575347" y="2071364"/>
            <a:ext cx="11795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C5C2E"/>
                </a:solidFill>
                <a:latin typeface="Noto Sans KR"/>
                <a:ea typeface="Noto Sans KR"/>
                <a:cs typeface="Noto Sans KR"/>
                <a:sym typeface="Noto Sans KR"/>
              </a:rPr>
              <a:t>ML model serving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5557059" y="2437124"/>
            <a:ext cx="1216152" cy="292608"/>
          </a:xfrm>
          <a:prstGeom prst="rect">
            <a:avLst/>
          </a:prstGeom>
          <a:solidFill>
            <a:srgbClr val="D6EDDB"/>
          </a:solidFill>
          <a:ln cap="flat" cmpd="sng" w="9525">
            <a:solidFill>
              <a:srgbClr val="1A8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3" name="Google Shape;503;p21"/>
          <p:cNvSpPr/>
          <p:nvPr/>
        </p:nvSpPr>
        <p:spPr>
          <a:xfrm>
            <a:off x="5575347" y="2437124"/>
            <a:ext cx="117957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C5C2E"/>
                </a:solidFill>
                <a:latin typeface="Noto Sans KR"/>
                <a:ea typeface="Noto Sans KR"/>
                <a:cs typeface="Noto Sans KR"/>
                <a:sym typeface="Noto Sans KR"/>
              </a:rPr>
              <a:t>Embedded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4" name="Google Shape;504;p21"/>
          <p:cNvSpPr/>
          <p:nvPr/>
        </p:nvSpPr>
        <p:spPr>
          <a:xfrm>
            <a:off x="6892083" y="2390097"/>
            <a:ext cx="1325880" cy="1983056"/>
          </a:xfrm>
          <a:prstGeom prst="rect">
            <a:avLst/>
          </a:prstGeom>
          <a:solidFill>
            <a:srgbClr val="E8F1FA"/>
          </a:solidFill>
          <a:ln cap="flat" cmpd="sng" w="10150">
            <a:solidFill>
              <a:srgbClr val="0052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5" name="Google Shape;505;p21"/>
          <p:cNvSpPr/>
          <p:nvPr/>
        </p:nvSpPr>
        <p:spPr>
          <a:xfrm>
            <a:off x="6892083" y="2390097"/>
            <a:ext cx="1325880" cy="237744"/>
          </a:xfrm>
          <a:prstGeom prst="rect">
            <a:avLst/>
          </a:prstGeom>
          <a:solidFill>
            <a:srgbClr val="0052A3"/>
          </a:solidFill>
          <a:ln cap="flat" cmpd="sng" w="12700">
            <a:solidFill>
              <a:srgbClr val="0052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6" name="Google Shape;506;p21"/>
          <p:cNvSpPr/>
          <p:nvPr/>
        </p:nvSpPr>
        <p:spPr>
          <a:xfrm>
            <a:off x="6910371" y="2390097"/>
            <a:ext cx="12893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Visualize layer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7" name="Google Shape;507;p21"/>
          <p:cNvSpPr/>
          <p:nvPr/>
        </p:nvSpPr>
        <p:spPr>
          <a:xfrm>
            <a:off x="6946947" y="2664417"/>
            <a:ext cx="1216152" cy="402336"/>
          </a:xfrm>
          <a:prstGeom prst="rect">
            <a:avLst/>
          </a:prstGeom>
          <a:solidFill>
            <a:srgbClr val="C8DCEF"/>
          </a:solidFill>
          <a:ln cap="flat" cmpd="sng" w="9525">
            <a:solidFill>
              <a:srgbClr val="0052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8" name="Google Shape;508;p21"/>
          <p:cNvSpPr/>
          <p:nvPr/>
        </p:nvSpPr>
        <p:spPr>
          <a:xfrm>
            <a:off x="6965235" y="2682705"/>
            <a:ext cx="11795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2F6C"/>
                </a:solidFill>
                <a:latin typeface="Noto Sans KR"/>
                <a:ea typeface="Noto Sans KR"/>
                <a:cs typeface="Noto Sans KR"/>
                <a:sym typeface="Noto Sans KR"/>
              </a:rPr>
              <a:t>BI visualize 1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9" name="Google Shape;509;p21"/>
          <p:cNvSpPr/>
          <p:nvPr/>
        </p:nvSpPr>
        <p:spPr>
          <a:xfrm>
            <a:off x="6965235" y="2865585"/>
            <a:ext cx="11795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003366"/>
                </a:solidFill>
                <a:latin typeface="Noto Sans KR"/>
                <a:ea typeface="Noto Sans KR"/>
                <a:cs typeface="Noto Sans KR"/>
                <a:sym typeface="Noto Sans KR"/>
              </a:rPr>
              <a:t>Client 1 전용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0" name="Google Shape;510;p21"/>
          <p:cNvSpPr/>
          <p:nvPr/>
        </p:nvSpPr>
        <p:spPr>
          <a:xfrm>
            <a:off x="6946947" y="3139905"/>
            <a:ext cx="1216152" cy="402336"/>
          </a:xfrm>
          <a:prstGeom prst="rect">
            <a:avLst/>
          </a:prstGeom>
          <a:solidFill>
            <a:srgbClr val="C8DCEF"/>
          </a:solidFill>
          <a:ln cap="flat" cmpd="sng" w="9525">
            <a:solidFill>
              <a:srgbClr val="0052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1" name="Google Shape;511;p21"/>
          <p:cNvSpPr/>
          <p:nvPr/>
        </p:nvSpPr>
        <p:spPr>
          <a:xfrm>
            <a:off x="6965235" y="3158193"/>
            <a:ext cx="11795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2F6C"/>
                </a:solidFill>
                <a:latin typeface="Noto Sans KR"/>
                <a:ea typeface="Noto Sans KR"/>
                <a:cs typeface="Noto Sans KR"/>
                <a:sym typeface="Noto Sans KR"/>
              </a:rPr>
              <a:t>BI visualize 2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2" name="Google Shape;512;p21"/>
          <p:cNvSpPr/>
          <p:nvPr/>
        </p:nvSpPr>
        <p:spPr>
          <a:xfrm>
            <a:off x="6965235" y="3341073"/>
            <a:ext cx="11795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003366"/>
                </a:solidFill>
                <a:latin typeface="Noto Sans KR"/>
                <a:ea typeface="Noto Sans KR"/>
                <a:cs typeface="Noto Sans KR"/>
                <a:sym typeface="Noto Sans KR"/>
              </a:rPr>
              <a:t>Client 2 전용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3" name="Google Shape;513;p21"/>
          <p:cNvSpPr/>
          <p:nvPr/>
        </p:nvSpPr>
        <p:spPr>
          <a:xfrm>
            <a:off x="6946947" y="3615393"/>
            <a:ext cx="1216152" cy="402336"/>
          </a:xfrm>
          <a:prstGeom prst="rect">
            <a:avLst/>
          </a:prstGeom>
          <a:solidFill>
            <a:srgbClr val="C8DCEF"/>
          </a:solidFill>
          <a:ln cap="flat" cmpd="sng" w="9525">
            <a:solidFill>
              <a:srgbClr val="0052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4" name="Google Shape;514;p21"/>
          <p:cNvSpPr/>
          <p:nvPr/>
        </p:nvSpPr>
        <p:spPr>
          <a:xfrm>
            <a:off x="6965235" y="3633681"/>
            <a:ext cx="117957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2F6C"/>
                </a:solidFill>
                <a:latin typeface="Noto Sans KR"/>
                <a:ea typeface="Noto Sans KR"/>
                <a:cs typeface="Noto Sans KR"/>
                <a:sym typeface="Noto Sans KR"/>
              </a:rPr>
              <a:t>BI visualize N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5" name="Google Shape;515;p21"/>
          <p:cNvSpPr/>
          <p:nvPr/>
        </p:nvSpPr>
        <p:spPr>
          <a:xfrm>
            <a:off x="6965235" y="3816561"/>
            <a:ext cx="11795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003366"/>
                </a:solidFill>
                <a:latin typeface="Noto Sans KR"/>
                <a:ea typeface="Noto Sans KR"/>
                <a:cs typeface="Noto Sans KR"/>
                <a:sym typeface="Noto Sans KR"/>
              </a:rPr>
              <a:t>Client N 전용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6" name="Google Shape;516;p21"/>
          <p:cNvSpPr/>
          <p:nvPr/>
        </p:nvSpPr>
        <p:spPr>
          <a:xfrm>
            <a:off x="6946947" y="4109169"/>
            <a:ext cx="1216152" cy="182880"/>
          </a:xfrm>
          <a:prstGeom prst="rect">
            <a:avLst/>
          </a:prstGeom>
          <a:solidFill>
            <a:srgbClr val="B5CCE5"/>
          </a:solidFill>
          <a:ln cap="flat" cmpd="sng" w="952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7" name="Google Shape;517;p21"/>
          <p:cNvSpPr/>
          <p:nvPr/>
        </p:nvSpPr>
        <p:spPr>
          <a:xfrm>
            <a:off x="6946947" y="4109169"/>
            <a:ext cx="1216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1F4D"/>
                </a:solidFill>
                <a:latin typeface="Noto Sans KR"/>
                <a:ea typeface="Noto Sans KR"/>
                <a:cs typeface="Noto Sans KR"/>
                <a:sym typeface="Noto Sans KR"/>
              </a:rPr>
              <a:t>멀티테넌트 데이터 접근 제어</a:t>
            </a:r>
            <a:endParaRPr b="0" i="0" sz="7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8" name="Google Shape;518;p21"/>
          <p:cNvSpPr/>
          <p:nvPr/>
        </p:nvSpPr>
        <p:spPr>
          <a:xfrm>
            <a:off x="8311620" y="2665047"/>
            <a:ext cx="768096" cy="402336"/>
          </a:xfrm>
          <a:prstGeom prst="rect">
            <a:avLst/>
          </a:prstGeom>
          <a:solidFill>
            <a:srgbClr val="FAECE7"/>
          </a:solidFill>
          <a:ln cap="flat" cmpd="sng" w="9525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9" name="Google Shape;519;p21"/>
          <p:cNvSpPr/>
          <p:nvPr/>
        </p:nvSpPr>
        <p:spPr>
          <a:xfrm>
            <a:off x="8311620" y="2701623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B2D10"/>
                </a:solidFill>
                <a:latin typeface="Noto Sans KR"/>
                <a:ea typeface="Noto Sans KR"/>
                <a:cs typeface="Noto Sans KR"/>
                <a:sym typeface="Noto Sans KR"/>
              </a:rPr>
              <a:t>User 1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0" name="Google Shape;520;p21"/>
          <p:cNvSpPr/>
          <p:nvPr/>
        </p:nvSpPr>
        <p:spPr>
          <a:xfrm>
            <a:off x="8311620" y="2884503"/>
            <a:ext cx="7680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3C1D"/>
                </a:solidFill>
                <a:latin typeface="Noto Sans KR"/>
                <a:ea typeface="Noto Sans KR"/>
                <a:cs typeface="Noto Sans KR"/>
                <a:sym typeface="Noto Sans KR"/>
              </a:rPr>
              <a:t>전용 접근</a:t>
            </a:r>
            <a:endParaRPr b="0" i="0" sz="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1" name="Google Shape;521;p21"/>
          <p:cNvSpPr/>
          <p:nvPr/>
        </p:nvSpPr>
        <p:spPr>
          <a:xfrm>
            <a:off x="8316606" y="3139649"/>
            <a:ext cx="768096" cy="402336"/>
          </a:xfrm>
          <a:prstGeom prst="rect">
            <a:avLst/>
          </a:prstGeom>
          <a:solidFill>
            <a:srgbClr val="FAECE7"/>
          </a:solidFill>
          <a:ln cap="flat" cmpd="sng" w="9525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2" name="Google Shape;522;p21"/>
          <p:cNvSpPr/>
          <p:nvPr/>
        </p:nvSpPr>
        <p:spPr>
          <a:xfrm>
            <a:off x="8316606" y="3176225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B2D10"/>
                </a:solidFill>
                <a:latin typeface="Noto Sans KR"/>
                <a:ea typeface="Noto Sans KR"/>
                <a:cs typeface="Noto Sans KR"/>
                <a:sym typeface="Noto Sans KR"/>
              </a:rPr>
              <a:t>User 2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3" name="Google Shape;523;p21"/>
          <p:cNvSpPr/>
          <p:nvPr/>
        </p:nvSpPr>
        <p:spPr>
          <a:xfrm>
            <a:off x="8316606" y="3359105"/>
            <a:ext cx="7680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3C1D"/>
                </a:solidFill>
                <a:latin typeface="Noto Sans KR"/>
                <a:ea typeface="Noto Sans KR"/>
                <a:cs typeface="Noto Sans KR"/>
                <a:sym typeface="Noto Sans KR"/>
              </a:rPr>
              <a:t>전용 접근</a:t>
            </a:r>
            <a:endParaRPr b="0" i="0" sz="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4" name="Google Shape;524;p21"/>
          <p:cNvSpPr/>
          <p:nvPr/>
        </p:nvSpPr>
        <p:spPr>
          <a:xfrm>
            <a:off x="8316606" y="3613786"/>
            <a:ext cx="768096" cy="402336"/>
          </a:xfrm>
          <a:prstGeom prst="rect">
            <a:avLst/>
          </a:prstGeom>
          <a:solidFill>
            <a:srgbClr val="FAECE7"/>
          </a:solidFill>
          <a:ln cap="flat" cmpd="sng" w="9525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5" name="Google Shape;525;p21"/>
          <p:cNvSpPr/>
          <p:nvPr/>
        </p:nvSpPr>
        <p:spPr>
          <a:xfrm>
            <a:off x="8316606" y="3650362"/>
            <a:ext cx="7680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7B2D10"/>
                </a:solidFill>
                <a:latin typeface="Noto Sans KR"/>
                <a:ea typeface="Noto Sans KR"/>
                <a:cs typeface="Noto Sans KR"/>
                <a:sym typeface="Noto Sans KR"/>
              </a:rPr>
              <a:t>User N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6" name="Google Shape;526;p21"/>
          <p:cNvSpPr/>
          <p:nvPr/>
        </p:nvSpPr>
        <p:spPr>
          <a:xfrm>
            <a:off x="8316606" y="3833242"/>
            <a:ext cx="7680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3C1D"/>
                </a:solidFill>
                <a:latin typeface="Noto Sans KR"/>
                <a:ea typeface="Noto Sans KR"/>
                <a:cs typeface="Noto Sans KR"/>
                <a:sym typeface="Noto Sans KR"/>
              </a:rPr>
              <a:t>전용 접근</a:t>
            </a:r>
            <a:endParaRPr b="0" i="0" sz="6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7" name="Google Shape;527;p21"/>
          <p:cNvSpPr/>
          <p:nvPr/>
        </p:nvSpPr>
        <p:spPr>
          <a:xfrm>
            <a:off x="916730" y="4503114"/>
            <a:ext cx="7372280" cy="405452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8" name="Google Shape;528;p21"/>
          <p:cNvSpPr/>
          <p:nvPr/>
        </p:nvSpPr>
        <p:spPr>
          <a:xfrm>
            <a:off x="916730" y="4503113"/>
            <a:ext cx="7372280" cy="173765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9" name="Google Shape;529;p21"/>
          <p:cNvSpPr/>
          <p:nvPr/>
        </p:nvSpPr>
        <p:spPr>
          <a:xfrm>
            <a:off x="939339" y="4503114"/>
            <a:ext cx="7315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Governance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0" name="Google Shape;530;p21"/>
          <p:cNvSpPr/>
          <p:nvPr/>
        </p:nvSpPr>
        <p:spPr>
          <a:xfrm>
            <a:off x="939339" y="466770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Monitoring  ·  Admin  ·  접근 권한 관리  ·  감사 로그  ·  데이터 거버넌스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31" name="Google Shape;531;p21"/>
          <p:cNvCxnSpPr>
            <a:stCxn id="444" idx="3"/>
            <a:endCxn id="459" idx="1"/>
          </p:cNvCxnSpPr>
          <p:nvPr/>
        </p:nvCxnSpPr>
        <p:spPr>
          <a:xfrm>
            <a:off x="861615" y="1544081"/>
            <a:ext cx="132600" cy="6000"/>
          </a:xfrm>
          <a:prstGeom prst="straightConnector1">
            <a:avLst/>
          </a:prstGeom>
          <a:noFill/>
          <a:ln cap="flat" cmpd="sng" w="9525">
            <a:solidFill>
              <a:srgbClr val="D85A3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2" name="Google Shape;532;p21"/>
          <p:cNvCxnSpPr>
            <a:stCxn id="447" idx="3"/>
            <a:endCxn id="462" idx="1"/>
          </p:cNvCxnSpPr>
          <p:nvPr/>
        </p:nvCxnSpPr>
        <p:spPr>
          <a:xfrm>
            <a:off x="870759" y="2040334"/>
            <a:ext cx="123300" cy="3600"/>
          </a:xfrm>
          <a:prstGeom prst="straightConnector1">
            <a:avLst/>
          </a:prstGeom>
          <a:noFill/>
          <a:ln cap="flat" cmpd="sng" w="9525">
            <a:solidFill>
              <a:srgbClr val="D85A3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3" name="Google Shape;533;p21"/>
          <p:cNvCxnSpPr>
            <a:stCxn id="450" idx="3"/>
            <a:endCxn id="465" idx="1"/>
          </p:cNvCxnSpPr>
          <p:nvPr/>
        </p:nvCxnSpPr>
        <p:spPr>
          <a:xfrm>
            <a:off x="861615" y="2537531"/>
            <a:ext cx="132600" cy="300"/>
          </a:xfrm>
          <a:prstGeom prst="straightConnector1">
            <a:avLst/>
          </a:prstGeom>
          <a:noFill/>
          <a:ln cap="flat" cmpd="sng" w="9525">
            <a:solidFill>
              <a:srgbClr val="D85A3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4" name="Google Shape;534;p21"/>
          <p:cNvCxnSpPr>
            <a:stCxn id="453" idx="3"/>
            <a:endCxn id="468" idx="1"/>
          </p:cNvCxnSpPr>
          <p:nvPr/>
        </p:nvCxnSpPr>
        <p:spPr>
          <a:xfrm flipH="1" rot="10800000">
            <a:off x="847899" y="3657733"/>
            <a:ext cx="1481400" cy="8700"/>
          </a:xfrm>
          <a:prstGeom prst="straightConnector1">
            <a:avLst/>
          </a:prstGeom>
          <a:noFill/>
          <a:ln cap="flat" cmpd="sng" w="9525">
            <a:solidFill>
              <a:srgbClr val="1A549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5" name="Google Shape;535;p21"/>
          <p:cNvCxnSpPr>
            <a:stCxn id="456" idx="3"/>
          </p:cNvCxnSpPr>
          <p:nvPr/>
        </p:nvCxnSpPr>
        <p:spPr>
          <a:xfrm>
            <a:off x="2265219" y="1925060"/>
            <a:ext cx="1490400" cy="3900"/>
          </a:xfrm>
          <a:prstGeom prst="straightConnector1">
            <a:avLst/>
          </a:prstGeom>
          <a:noFill/>
          <a:ln cap="flat" cmpd="sng" w="9525">
            <a:solidFill>
              <a:srgbClr val="1A549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6" name="Google Shape;536;p21"/>
          <p:cNvCxnSpPr>
            <a:stCxn id="477" idx="2"/>
            <a:endCxn id="469" idx="0"/>
          </p:cNvCxnSpPr>
          <p:nvPr/>
        </p:nvCxnSpPr>
        <p:spPr>
          <a:xfrm rot="5400000">
            <a:off x="3663195" y="2111167"/>
            <a:ext cx="253500" cy="1595700"/>
          </a:xfrm>
          <a:prstGeom prst="bentConnector3">
            <a:avLst>
              <a:gd fmla="val 50029" name="adj1"/>
            </a:avLst>
          </a:prstGeom>
          <a:noFill/>
          <a:ln cap="flat" cmpd="sng" w="9525">
            <a:solidFill>
              <a:srgbClr val="6C348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7" name="Google Shape;537;p21"/>
          <p:cNvCxnSpPr>
            <a:stCxn id="468" idx="3"/>
            <a:endCxn id="485" idx="1"/>
          </p:cNvCxnSpPr>
          <p:nvPr/>
        </p:nvCxnSpPr>
        <p:spPr>
          <a:xfrm>
            <a:off x="3655107" y="3657704"/>
            <a:ext cx="91500" cy="2100"/>
          </a:xfrm>
          <a:prstGeom prst="straightConnector1">
            <a:avLst/>
          </a:prstGeom>
          <a:noFill/>
          <a:ln cap="flat" cmpd="sng" w="9525">
            <a:solidFill>
              <a:srgbClr val="BA751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8" name="Google Shape;538;p21"/>
          <p:cNvCxnSpPr>
            <a:endCxn id="493" idx="2"/>
          </p:cNvCxnSpPr>
          <p:nvPr/>
        </p:nvCxnSpPr>
        <p:spPr>
          <a:xfrm rot="-5400000">
            <a:off x="5279835" y="2912996"/>
            <a:ext cx="1013700" cy="756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07494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39" name="Google Shape;539;p21"/>
          <p:cNvCxnSpPr>
            <a:stCxn id="493" idx="3"/>
            <a:endCxn id="506" idx="0"/>
          </p:cNvCxnSpPr>
          <p:nvPr/>
        </p:nvCxnSpPr>
        <p:spPr>
          <a:xfrm>
            <a:off x="6828075" y="1925060"/>
            <a:ext cx="726900" cy="465000"/>
          </a:xfrm>
          <a:prstGeom prst="bentConnector2">
            <a:avLst/>
          </a:prstGeom>
          <a:noFill/>
          <a:ln cap="flat" cmpd="sng" w="9525">
            <a:solidFill>
              <a:srgbClr val="07494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0" name="Google Shape;540;p21"/>
          <p:cNvCxnSpPr>
            <a:stCxn id="507" idx="3"/>
            <a:endCxn id="518" idx="1"/>
          </p:cNvCxnSpPr>
          <p:nvPr/>
        </p:nvCxnSpPr>
        <p:spPr>
          <a:xfrm>
            <a:off x="8163099" y="2865585"/>
            <a:ext cx="148500" cy="600"/>
          </a:xfrm>
          <a:prstGeom prst="straightConnector1">
            <a:avLst/>
          </a:prstGeom>
          <a:noFill/>
          <a:ln cap="flat" cmpd="sng" w="9525">
            <a:solidFill>
              <a:srgbClr val="0052A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1" name="Google Shape;541;p21"/>
          <p:cNvCxnSpPr>
            <a:stCxn id="510" idx="3"/>
            <a:endCxn id="521" idx="1"/>
          </p:cNvCxnSpPr>
          <p:nvPr/>
        </p:nvCxnSpPr>
        <p:spPr>
          <a:xfrm flipH="1" rot="10800000">
            <a:off x="8163099" y="3340773"/>
            <a:ext cx="153600" cy="300"/>
          </a:xfrm>
          <a:prstGeom prst="straightConnector1">
            <a:avLst/>
          </a:prstGeom>
          <a:noFill/>
          <a:ln cap="flat" cmpd="sng" w="9525">
            <a:solidFill>
              <a:srgbClr val="0052A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2" name="Google Shape;542;p21"/>
          <p:cNvCxnSpPr>
            <a:stCxn id="513" idx="3"/>
            <a:endCxn id="524" idx="1"/>
          </p:cNvCxnSpPr>
          <p:nvPr/>
        </p:nvCxnSpPr>
        <p:spPr>
          <a:xfrm flipH="1" rot="10800000">
            <a:off x="8163099" y="3815061"/>
            <a:ext cx="153600" cy="1500"/>
          </a:xfrm>
          <a:prstGeom prst="straightConnector1">
            <a:avLst/>
          </a:prstGeom>
          <a:noFill/>
          <a:ln cap="flat" cmpd="sng" w="9525">
            <a:solidFill>
              <a:srgbClr val="0052A3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22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Contents 처리 </a:t>
            </a: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6단계 파이프라인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2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0" name="Google Shape;550;p22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51" name="Google Shape;55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2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3" name="Google Shape;553;p22"/>
          <p:cNvSpPr/>
          <p:nvPr/>
        </p:nvSpPr>
        <p:spPr>
          <a:xfrm>
            <a:off x="195981" y="611014"/>
            <a:ext cx="2788920" cy="1792224"/>
          </a:xfrm>
          <a:prstGeom prst="rect">
            <a:avLst/>
          </a:prstGeom>
          <a:solidFill>
            <a:srgbClr val="FAECE7"/>
          </a:solidFill>
          <a:ln cap="flat" cmpd="sng" w="10150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4" name="Google Shape;554;p22"/>
          <p:cNvSpPr/>
          <p:nvPr/>
        </p:nvSpPr>
        <p:spPr>
          <a:xfrm>
            <a:off x="195981" y="611014"/>
            <a:ext cx="2788920" cy="365760"/>
          </a:xfrm>
          <a:prstGeom prst="rect">
            <a:avLst/>
          </a:prstGeom>
          <a:solidFill>
            <a:srgbClr val="D85A30"/>
          </a:solidFill>
          <a:ln cap="flat" cmpd="sng" w="12700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5" name="Google Shape;555;p22"/>
          <p:cNvSpPr/>
          <p:nvPr/>
        </p:nvSpPr>
        <p:spPr>
          <a:xfrm>
            <a:off x="287421" y="611014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①  Source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6" name="Google Shape;556;p22"/>
          <p:cNvSpPr/>
          <p:nvPr/>
        </p:nvSpPr>
        <p:spPr>
          <a:xfrm>
            <a:off x="287421" y="1031638"/>
            <a:ext cx="2606040" cy="219456"/>
          </a:xfrm>
          <a:prstGeom prst="rect">
            <a:avLst/>
          </a:prstGeom>
          <a:solidFill>
            <a:srgbClr val="D6E9FF"/>
          </a:solidFill>
          <a:ln cap="flat" cmpd="sng" w="12700">
            <a:solidFill>
              <a:srgbClr val="D6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7" name="Google Shape;557;p22"/>
          <p:cNvSpPr/>
          <p:nvPr/>
        </p:nvSpPr>
        <p:spPr>
          <a:xfrm>
            <a:off x="287421" y="1031638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85A30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데이터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8" name="Google Shape;558;p22"/>
          <p:cNvSpPr/>
          <p:nvPr/>
        </p:nvSpPr>
        <p:spPr>
          <a:xfrm>
            <a:off x="305709" y="1417350"/>
            <a:ext cx="109728" cy="109728"/>
          </a:xfrm>
          <a:prstGeom prst="rect">
            <a:avLst/>
          </a:prstGeom>
          <a:solidFill>
            <a:srgbClr val="D85A30"/>
          </a:solidFill>
          <a:ln cap="flat" cmpd="sng" w="12700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9" name="Google Shape;559;p22"/>
          <p:cNvSpPr/>
          <p:nvPr/>
        </p:nvSpPr>
        <p:spPr>
          <a:xfrm>
            <a:off x="470301" y="1372195"/>
            <a:ext cx="2404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Client 1~N: 각 매장 데이터 실시간 전송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0" name="Google Shape;560;p22"/>
          <p:cNvSpPr/>
          <p:nvPr/>
        </p:nvSpPr>
        <p:spPr>
          <a:xfrm>
            <a:off x="305709" y="1746534"/>
            <a:ext cx="109728" cy="109728"/>
          </a:xfrm>
          <a:prstGeom prst="rect">
            <a:avLst/>
          </a:prstGeom>
          <a:solidFill>
            <a:srgbClr val="D85A30"/>
          </a:solidFill>
          <a:ln cap="flat" cmpd="sng" w="12700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1" name="Google Shape;561;p22"/>
          <p:cNvSpPr/>
          <p:nvPr/>
        </p:nvSpPr>
        <p:spPr>
          <a:xfrm>
            <a:off x="470301" y="1693740"/>
            <a:ext cx="2404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Global data: 날씨 · 온도 · 외부 데이터 연동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2" name="Google Shape;562;p22"/>
          <p:cNvSpPr/>
          <p:nvPr/>
        </p:nvSpPr>
        <p:spPr>
          <a:xfrm>
            <a:off x="305709" y="2075718"/>
            <a:ext cx="109728" cy="109728"/>
          </a:xfrm>
          <a:prstGeom prst="rect">
            <a:avLst/>
          </a:prstGeom>
          <a:solidFill>
            <a:srgbClr val="D85A30"/>
          </a:solidFill>
          <a:ln cap="flat" cmpd="sng" w="12700">
            <a:solidFill>
              <a:srgbClr val="D85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3" name="Google Shape;563;p22"/>
          <p:cNvSpPr/>
          <p:nvPr/>
        </p:nvSpPr>
        <p:spPr>
          <a:xfrm>
            <a:off x="470301" y="2037478"/>
            <a:ext cx="2404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다양한 포맷(JSON, CSV, 스트림) 지원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4" name="Google Shape;564;p22"/>
          <p:cNvSpPr/>
          <p:nvPr/>
        </p:nvSpPr>
        <p:spPr>
          <a:xfrm>
            <a:off x="3094629" y="611014"/>
            <a:ext cx="2788920" cy="1792224"/>
          </a:xfrm>
          <a:prstGeom prst="rect">
            <a:avLst/>
          </a:prstGeom>
          <a:solidFill>
            <a:srgbClr val="EBF2FF"/>
          </a:solidFill>
          <a:ln cap="flat" cmpd="sng" w="10150">
            <a:solidFill>
              <a:srgbClr val="1A5494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5" name="Google Shape;565;p22"/>
          <p:cNvSpPr/>
          <p:nvPr/>
        </p:nvSpPr>
        <p:spPr>
          <a:xfrm>
            <a:off x="3094629" y="611014"/>
            <a:ext cx="2788920" cy="365760"/>
          </a:xfrm>
          <a:prstGeom prst="rect">
            <a:avLst/>
          </a:prstGeom>
          <a:solidFill>
            <a:srgbClr val="1A5494"/>
          </a:solidFill>
          <a:ln cap="flat" cmpd="sng" w="12700">
            <a:solidFill>
              <a:srgbClr val="1A5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6" name="Google Shape;566;p22"/>
          <p:cNvSpPr/>
          <p:nvPr/>
        </p:nvSpPr>
        <p:spPr>
          <a:xfrm>
            <a:off x="3186069" y="611014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②  Ingestion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7" name="Google Shape;567;p22"/>
          <p:cNvSpPr/>
          <p:nvPr/>
        </p:nvSpPr>
        <p:spPr>
          <a:xfrm>
            <a:off x="3186069" y="1031638"/>
            <a:ext cx="2606040" cy="219456"/>
          </a:xfrm>
          <a:prstGeom prst="rect">
            <a:avLst/>
          </a:prstGeom>
          <a:solidFill>
            <a:srgbClr val="D6E9FF"/>
          </a:solidFill>
          <a:ln cap="flat" cmpd="sng" w="12700">
            <a:solidFill>
              <a:srgbClr val="D6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8" name="Google Shape;568;p22"/>
          <p:cNvSpPr/>
          <p:nvPr/>
        </p:nvSpPr>
        <p:spPr>
          <a:xfrm>
            <a:off x="3186069" y="1031638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5494"/>
                </a:solidFill>
                <a:latin typeface="Noto Sans KR"/>
                <a:ea typeface="Noto Sans KR"/>
                <a:cs typeface="Noto Sans KR"/>
                <a:sym typeface="Noto Sans KR"/>
              </a:rPr>
              <a:t>수집 · 유입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9" name="Google Shape;569;p22"/>
          <p:cNvSpPr/>
          <p:nvPr/>
        </p:nvSpPr>
        <p:spPr>
          <a:xfrm>
            <a:off x="3204357" y="1403755"/>
            <a:ext cx="109728" cy="109728"/>
          </a:xfrm>
          <a:prstGeom prst="rect">
            <a:avLst/>
          </a:prstGeom>
          <a:solidFill>
            <a:srgbClr val="1A5494"/>
          </a:solidFill>
          <a:ln cap="flat" cmpd="sng" w="12700">
            <a:solidFill>
              <a:srgbClr val="1A5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0" name="Google Shape;570;p22"/>
          <p:cNvSpPr/>
          <p:nvPr/>
        </p:nvSpPr>
        <p:spPr>
          <a:xfrm>
            <a:off x="3368949" y="1362789"/>
            <a:ext cx="2404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클라이언트별 독립 Process 할당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1" name="Google Shape;571;p22"/>
          <p:cNvSpPr/>
          <p:nvPr/>
        </p:nvSpPr>
        <p:spPr>
          <a:xfrm>
            <a:off x="3204357" y="1732939"/>
            <a:ext cx="109728" cy="109728"/>
          </a:xfrm>
          <a:prstGeom prst="rect">
            <a:avLst/>
          </a:prstGeom>
          <a:solidFill>
            <a:srgbClr val="1A5494"/>
          </a:solidFill>
          <a:ln cap="flat" cmpd="sng" w="12700">
            <a:solidFill>
              <a:srgbClr val="1A5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2" name="Google Shape;572;p22"/>
          <p:cNvSpPr/>
          <p:nvPr/>
        </p:nvSpPr>
        <p:spPr>
          <a:xfrm>
            <a:off x="3368949" y="1685553"/>
            <a:ext cx="2404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파싱 · 유효성 검사 · 중복 제거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3" name="Google Shape;573;p22"/>
          <p:cNvSpPr/>
          <p:nvPr/>
        </p:nvSpPr>
        <p:spPr>
          <a:xfrm>
            <a:off x="3204357" y="2062123"/>
            <a:ext cx="109728" cy="109728"/>
          </a:xfrm>
          <a:prstGeom prst="rect">
            <a:avLst/>
          </a:prstGeom>
          <a:solidFill>
            <a:srgbClr val="1A5494"/>
          </a:solidFill>
          <a:ln cap="flat" cmpd="sng" w="12700">
            <a:solidFill>
              <a:srgbClr val="1A5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4" name="Google Shape;574;p22"/>
          <p:cNvSpPr/>
          <p:nvPr/>
        </p:nvSpPr>
        <p:spPr>
          <a:xfrm>
            <a:off x="3368949" y="2014737"/>
            <a:ext cx="2404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RAW 스토리지로 원시 데이터 적재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5" name="Google Shape;575;p22"/>
          <p:cNvSpPr/>
          <p:nvPr/>
        </p:nvSpPr>
        <p:spPr>
          <a:xfrm>
            <a:off x="5993277" y="611014"/>
            <a:ext cx="2788920" cy="1792224"/>
          </a:xfrm>
          <a:prstGeom prst="rect">
            <a:avLst/>
          </a:prstGeom>
          <a:solidFill>
            <a:srgbClr val="FFF3E0"/>
          </a:solidFill>
          <a:ln cap="flat" cmpd="sng" w="10150">
            <a:solidFill>
              <a:srgbClr val="BA7517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6" name="Google Shape;576;p22"/>
          <p:cNvSpPr/>
          <p:nvPr/>
        </p:nvSpPr>
        <p:spPr>
          <a:xfrm>
            <a:off x="5993277" y="611014"/>
            <a:ext cx="2788920" cy="365760"/>
          </a:xfrm>
          <a:prstGeom prst="rect">
            <a:avLst/>
          </a:prstGeom>
          <a:solidFill>
            <a:srgbClr val="BA7517"/>
          </a:solidFill>
          <a:ln cap="flat" cmpd="sng" w="12700">
            <a:solidFill>
              <a:srgbClr val="BA75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7" name="Google Shape;577;p22"/>
          <p:cNvSpPr/>
          <p:nvPr/>
        </p:nvSpPr>
        <p:spPr>
          <a:xfrm>
            <a:off x="6084717" y="611014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③  Processing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8" name="Google Shape;578;p22"/>
          <p:cNvSpPr/>
          <p:nvPr/>
        </p:nvSpPr>
        <p:spPr>
          <a:xfrm>
            <a:off x="6084717" y="1031638"/>
            <a:ext cx="2606040" cy="219456"/>
          </a:xfrm>
          <a:prstGeom prst="rect">
            <a:avLst/>
          </a:prstGeom>
          <a:solidFill>
            <a:srgbClr val="D6E9FF"/>
          </a:solidFill>
          <a:ln cap="flat" cmpd="sng" w="12700">
            <a:solidFill>
              <a:srgbClr val="D6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9" name="Google Shape;579;p22"/>
          <p:cNvSpPr/>
          <p:nvPr/>
        </p:nvSpPr>
        <p:spPr>
          <a:xfrm>
            <a:off x="6084717" y="1031638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A7517"/>
                </a:solidFill>
                <a:latin typeface="Noto Sans KR"/>
                <a:ea typeface="Noto Sans KR"/>
                <a:cs typeface="Noto Sans KR"/>
                <a:sym typeface="Noto Sans KR"/>
              </a:rPr>
              <a:t>정제 · 변환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0" name="Google Shape;580;p22"/>
          <p:cNvSpPr/>
          <p:nvPr/>
        </p:nvSpPr>
        <p:spPr>
          <a:xfrm>
            <a:off x="6103005" y="1379110"/>
            <a:ext cx="109728" cy="109728"/>
          </a:xfrm>
          <a:prstGeom prst="rect">
            <a:avLst/>
          </a:prstGeom>
          <a:solidFill>
            <a:srgbClr val="BA7517"/>
          </a:solidFill>
          <a:ln cap="flat" cmpd="sng" w="12700">
            <a:solidFill>
              <a:srgbClr val="BA75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1" name="Google Shape;581;p22"/>
          <p:cNvSpPr/>
          <p:nvPr/>
        </p:nvSpPr>
        <p:spPr>
          <a:xfrm>
            <a:off x="6267597" y="1320146"/>
            <a:ext cx="2404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Common processing: 공통 정규화 · 필터링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2" name="Google Shape;582;p22"/>
          <p:cNvSpPr/>
          <p:nvPr/>
        </p:nvSpPr>
        <p:spPr>
          <a:xfrm>
            <a:off x="6103005" y="1708294"/>
            <a:ext cx="109728" cy="109728"/>
          </a:xfrm>
          <a:prstGeom prst="rect">
            <a:avLst/>
          </a:prstGeom>
          <a:solidFill>
            <a:srgbClr val="BA7517"/>
          </a:solidFill>
          <a:ln cap="flat" cmpd="sng" w="12700">
            <a:solidFill>
              <a:srgbClr val="BA75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3" name="Google Shape;583;p22"/>
          <p:cNvSpPr/>
          <p:nvPr/>
        </p:nvSpPr>
        <p:spPr>
          <a:xfrm>
            <a:off x="6267597" y="1661742"/>
            <a:ext cx="2404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Custom processing: 고객사별 비즈니스 로직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4" name="Google Shape;584;p22"/>
          <p:cNvSpPr/>
          <p:nvPr/>
        </p:nvSpPr>
        <p:spPr>
          <a:xfrm>
            <a:off x="6103005" y="2037478"/>
            <a:ext cx="109728" cy="109728"/>
          </a:xfrm>
          <a:prstGeom prst="rect">
            <a:avLst/>
          </a:prstGeom>
          <a:solidFill>
            <a:srgbClr val="BA7517"/>
          </a:solidFill>
          <a:ln cap="flat" cmpd="sng" w="12700">
            <a:solidFill>
              <a:srgbClr val="BA75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5" name="Google Shape;585;p22"/>
          <p:cNvSpPr/>
          <p:nvPr/>
        </p:nvSpPr>
        <p:spPr>
          <a:xfrm>
            <a:off x="6267597" y="1990926"/>
            <a:ext cx="2404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처리된 데이터 → GOLD 스토리지 적재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6" name="Google Shape;586;p22"/>
          <p:cNvSpPr/>
          <p:nvPr/>
        </p:nvSpPr>
        <p:spPr>
          <a:xfrm>
            <a:off x="195981" y="2512965"/>
            <a:ext cx="2788920" cy="1901951"/>
          </a:xfrm>
          <a:prstGeom prst="rect">
            <a:avLst/>
          </a:prstGeom>
          <a:solidFill>
            <a:srgbClr val="F4F0FF"/>
          </a:solidFill>
          <a:ln cap="flat" cmpd="sng" w="1015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7" name="Google Shape;587;p22"/>
          <p:cNvSpPr/>
          <p:nvPr/>
        </p:nvSpPr>
        <p:spPr>
          <a:xfrm>
            <a:off x="195981" y="2512966"/>
            <a:ext cx="2788920" cy="365760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8" name="Google Shape;588;p22"/>
          <p:cNvSpPr/>
          <p:nvPr/>
        </p:nvSpPr>
        <p:spPr>
          <a:xfrm>
            <a:off x="287421" y="2512966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④  Storage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9" name="Google Shape;589;p22"/>
          <p:cNvSpPr/>
          <p:nvPr/>
        </p:nvSpPr>
        <p:spPr>
          <a:xfrm>
            <a:off x="287421" y="2933590"/>
            <a:ext cx="2606040" cy="219456"/>
          </a:xfrm>
          <a:prstGeom prst="rect">
            <a:avLst/>
          </a:prstGeom>
          <a:solidFill>
            <a:srgbClr val="D6E9FF"/>
          </a:solidFill>
          <a:ln cap="flat" cmpd="sng" w="12700">
            <a:solidFill>
              <a:srgbClr val="D6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0" name="Google Shape;590;p22"/>
          <p:cNvSpPr/>
          <p:nvPr/>
        </p:nvSpPr>
        <p:spPr>
          <a:xfrm>
            <a:off x="287421" y="2933590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C3483"/>
                </a:solidFill>
                <a:latin typeface="Noto Sans KR"/>
                <a:ea typeface="Noto Sans KR"/>
                <a:cs typeface="Noto Sans KR"/>
                <a:sym typeface="Noto Sans KR"/>
              </a:rPr>
              <a:t>RAW · GOLD 이중 저장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1" name="Google Shape;591;p22"/>
          <p:cNvSpPr/>
          <p:nvPr/>
        </p:nvSpPr>
        <p:spPr>
          <a:xfrm>
            <a:off x="305709" y="3293052"/>
            <a:ext cx="109728" cy="109728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2" name="Google Shape;592;p22"/>
          <p:cNvSpPr/>
          <p:nvPr/>
        </p:nvSpPr>
        <p:spPr>
          <a:xfrm>
            <a:off x="470301" y="3256476"/>
            <a:ext cx="2404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RAW: 원시 데이터 보존 (클라이언트별 버킷)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3" name="Google Shape;593;p22"/>
          <p:cNvSpPr/>
          <p:nvPr/>
        </p:nvSpPr>
        <p:spPr>
          <a:xfrm>
            <a:off x="305709" y="3622236"/>
            <a:ext cx="109728" cy="109728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4" name="Google Shape;594;p22"/>
          <p:cNvSpPr/>
          <p:nvPr/>
        </p:nvSpPr>
        <p:spPr>
          <a:xfrm>
            <a:off x="470301" y="3584756"/>
            <a:ext cx="2404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GOLD: 가공 완료 데이터 (쿼리 최적화)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5" name="Google Shape;595;p22"/>
          <p:cNvSpPr/>
          <p:nvPr/>
        </p:nvSpPr>
        <p:spPr>
          <a:xfrm>
            <a:off x="305709" y="3951420"/>
            <a:ext cx="109728" cy="109728"/>
          </a:xfrm>
          <a:prstGeom prst="rect">
            <a:avLst/>
          </a:prstGeom>
          <a:solidFill>
            <a:srgbClr val="6C3483"/>
          </a:solidFill>
          <a:ln cap="flat" cmpd="sng" w="12700">
            <a:solidFill>
              <a:srgbClr val="6C34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6" name="Google Shape;596;p22"/>
          <p:cNvSpPr/>
          <p:nvPr/>
        </p:nvSpPr>
        <p:spPr>
          <a:xfrm>
            <a:off x="470301" y="3909855"/>
            <a:ext cx="2404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객체 스토리지 기반 · 5TB+ 확장 가능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7" name="Google Shape;597;p22"/>
          <p:cNvSpPr/>
          <p:nvPr/>
        </p:nvSpPr>
        <p:spPr>
          <a:xfrm>
            <a:off x="3094629" y="2512966"/>
            <a:ext cx="2788920" cy="1901952"/>
          </a:xfrm>
          <a:prstGeom prst="rect">
            <a:avLst/>
          </a:prstGeom>
          <a:solidFill>
            <a:srgbClr val="EAF5EE"/>
          </a:solidFill>
          <a:ln cap="flat" cmpd="sng" w="10150">
            <a:solidFill>
              <a:srgbClr val="1A8A4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8" name="Google Shape;598;p22"/>
          <p:cNvSpPr/>
          <p:nvPr/>
        </p:nvSpPr>
        <p:spPr>
          <a:xfrm>
            <a:off x="3094629" y="2512966"/>
            <a:ext cx="2788920" cy="365760"/>
          </a:xfrm>
          <a:prstGeom prst="rect">
            <a:avLst/>
          </a:prstGeom>
          <a:solidFill>
            <a:srgbClr val="1A8A4A"/>
          </a:solidFill>
          <a:ln cap="flat" cmpd="sng" w="12700">
            <a:solidFill>
              <a:srgbClr val="1A8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9" name="Google Shape;599;p22"/>
          <p:cNvSpPr/>
          <p:nvPr/>
        </p:nvSpPr>
        <p:spPr>
          <a:xfrm>
            <a:off x="3186069" y="2512966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⑤  Serving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0" name="Google Shape;600;p22"/>
          <p:cNvSpPr/>
          <p:nvPr/>
        </p:nvSpPr>
        <p:spPr>
          <a:xfrm>
            <a:off x="3186069" y="2933590"/>
            <a:ext cx="2606040" cy="219456"/>
          </a:xfrm>
          <a:prstGeom prst="rect">
            <a:avLst/>
          </a:prstGeom>
          <a:solidFill>
            <a:srgbClr val="D6E9FF"/>
          </a:solidFill>
          <a:ln cap="flat" cmpd="sng" w="12700">
            <a:solidFill>
              <a:srgbClr val="D6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1" name="Google Shape;601;p22"/>
          <p:cNvSpPr/>
          <p:nvPr/>
        </p:nvSpPr>
        <p:spPr>
          <a:xfrm>
            <a:off x="3186069" y="2933590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A8A4A"/>
                </a:solidFill>
                <a:latin typeface="Noto Sans KR"/>
                <a:ea typeface="Noto Sans KR"/>
                <a:cs typeface="Noto Sans KR"/>
                <a:sym typeface="Noto Sans KR"/>
              </a:rPr>
              <a:t>외부 서비스 제공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2" name="Google Shape;602;p22"/>
          <p:cNvSpPr/>
          <p:nvPr/>
        </p:nvSpPr>
        <p:spPr>
          <a:xfrm>
            <a:off x="3204357" y="3226198"/>
            <a:ext cx="109728" cy="109728"/>
          </a:xfrm>
          <a:prstGeom prst="rect">
            <a:avLst/>
          </a:prstGeom>
          <a:solidFill>
            <a:srgbClr val="1A8A4A"/>
          </a:solidFill>
          <a:ln cap="flat" cmpd="sng" w="12700">
            <a:solidFill>
              <a:srgbClr val="1A8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3" name="Google Shape;603;p22"/>
          <p:cNvSpPr/>
          <p:nvPr/>
        </p:nvSpPr>
        <p:spPr>
          <a:xfrm>
            <a:off x="3368949" y="3179646"/>
            <a:ext cx="2404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API Gateway: 인증 · 라우팅 · Rate limit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4" name="Google Shape;604;p22"/>
          <p:cNvSpPr/>
          <p:nvPr/>
        </p:nvSpPr>
        <p:spPr>
          <a:xfrm>
            <a:off x="3204357" y="3555382"/>
            <a:ext cx="109728" cy="109728"/>
          </a:xfrm>
          <a:prstGeom prst="rect">
            <a:avLst/>
          </a:prstGeom>
          <a:solidFill>
            <a:srgbClr val="1A8A4A"/>
          </a:solidFill>
          <a:ln cap="flat" cmpd="sng" w="12700">
            <a:solidFill>
              <a:srgbClr val="1A8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5" name="Google Shape;605;p22"/>
          <p:cNvSpPr/>
          <p:nvPr/>
        </p:nvSpPr>
        <p:spPr>
          <a:xfrm>
            <a:off x="3368949" y="3519942"/>
            <a:ext cx="2404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Data API: REST 기반 데이터 조회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6" name="Google Shape;606;p22"/>
          <p:cNvSpPr/>
          <p:nvPr/>
        </p:nvSpPr>
        <p:spPr>
          <a:xfrm>
            <a:off x="3204357" y="3884566"/>
            <a:ext cx="109728" cy="109728"/>
          </a:xfrm>
          <a:prstGeom prst="rect">
            <a:avLst/>
          </a:prstGeom>
          <a:solidFill>
            <a:srgbClr val="1A8A4A"/>
          </a:solidFill>
          <a:ln cap="flat" cmpd="sng" w="12700">
            <a:solidFill>
              <a:srgbClr val="1A8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7" name="Google Shape;607;p22"/>
          <p:cNvSpPr/>
          <p:nvPr/>
        </p:nvSpPr>
        <p:spPr>
          <a:xfrm>
            <a:off x="3368949" y="3849126"/>
            <a:ext cx="2404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ML Model serving: 추론 API 제공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8" name="Google Shape;608;p22"/>
          <p:cNvSpPr/>
          <p:nvPr/>
        </p:nvSpPr>
        <p:spPr>
          <a:xfrm>
            <a:off x="3204357" y="4213750"/>
            <a:ext cx="109728" cy="109728"/>
          </a:xfrm>
          <a:prstGeom prst="rect">
            <a:avLst/>
          </a:prstGeom>
          <a:solidFill>
            <a:srgbClr val="1A8A4A"/>
          </a:solidFill>
          <a:ln cap="flat" cmpd="sng" w="12700">
            <a:solidFill>
              <a:srgbClr val="1A8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9" name="Google Shape;609;p22"/>
          <p:cNvSpPr/>
          <p:nvPr/>
        </p:nvSpPr>
        <p:spPr>
          <a:xfrm>
            <a:off x="3368949" y="4167731"/>
            <a:ext cx="2404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Embedded: 직접 iframe 임베드 지원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0" name="Google Shape;610;p22"/>
          <p:cNvSpPr/>
          <p:nvPr/>
        </p:nvSpPr>
        <p:spPr>
          <a:xfrm>
            <a:off x="5993277" y="2512965"/>
            <a:ext cx="2788920" cy="1901951"/>
          </a:xfrm>
          <a:prstGeom prst="rect">
            <a:avLst/>
          </a:prstGeom>
          <a:solidFill>
            <a:srgbClr val="E8F1FA"/>
          </a:solidFill>
          <a:ln cap="flat" cmpd="sng" w="10150">
            <a:solidFill>
              <a:srgbClr val="0052A3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1" name="Google Shape;611;p22"/>
          <p:cNvSpPr/>
          <p:nvPr/>
        </p:nvSpPr>
        <p:spPr>
          <a:xfrm>
            <a:off x="5993277" y="2512966"/>
            <a:ext cx="2788920" cy="365760"/>
          </a:xfrm>
          <a:prstGeom prst="rect">
            <a:avLst/>
          </a:prstGeom>
          <a:solidFill>
            <a:srgbClr val="0052A3"/>
          </a:solidFill>
          <a:ln cap="flat" cmpd="sng" w="12700">
            <a:solidFill>
              <a:srgbClr val="0052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2" name="Google Shape;612;p22"/>
          <p:cNvSpPr/>
          <p:nvPr/>
        </p:nvSpPr>
        <p:spPr>
          <a:xfrm>
            <a:off x="6084717" y="2512966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⑥  Visualize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3" name="Google Shape;613;p22"/>
          <p:cNvSpPr/>
          <p:nvPr/>
        </p:nvSpPr>
        <p:spPr>
          <a:xfrm>
            <a:off x="6084717" y="2933590"/>
            <a:ext cx="2606040" cy="219456"/>
          </a:xfrm>
          <a:prstGeom prst="rect">
            <a:avLst/>
          </a:prstGeom>
          <a:solidFill>
            <a:srgbClr val="D6E9FF"/>
          </a:solidFill>
          <a:ln cap="flat" cmpd="sng" w="12700">
            <a:solidFill>
              <a:srgbClr val="D6E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4" name="Google Shape;614;p22"/>
          <p:cNvSpPr/>
          <p:nvPr/>
        </p:nvSpPr>
        <p:spPr>
          <a:xfrm>
            <a:off x="6084717" y="2933590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52A3"/>
                </a:solidFill>
                <a:latin typeface="Noto Sans KR"/>
                <a:ea typeface="Noto Sans KR"/>
                <a:cs typeface="Noto Sans KR"/>
                <a:sym typeface="Noto Sans KR"/>
              </a:rPr>
              <a:t>BI 대시보드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5" name="Google Shape;615;p22"/>
          <p:cNvSpPr/>
          <p:nvPr/>
        </p:nvSpPr>
        <p:spPr>
          <a:xfrm>
            <a:off x="6103005" y="3264269"/>
            <a:ext cx="109728" cy="109728"/>
          </a:xfrm>
          <a:prstGeom prst="rect">
            <a:avLst/>
          </a:prstGeom>
          <a:solidFill>
            <a:srgbClr val="0052A3"/>
          </a:solidFill>
          <a:ln cap="flat" cmpd="sng" w="12700">
            <a:solidFill>
              <a:srgbClr val="0052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6" name="Google Shape;616;p22"/>
          <p:cNvSpPr/>
          <p:nvPr/>
        </p:nvSpPr>
        <p:spPr>
          <a:xfrm>
            <a:off x="6267597" y="3226198"/>
            <a:ext cx="2404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BI 임베디드 구조 기반 멀티 테넌트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7" name="Google Shape;617;p22"/>
          <p:cNvSpPr/>
          <p:nvPr/>
        </p:nvSpPr>
        <p:spPr>
          <a:xfrm>
            <a:off x="6103005" y="3593453"/>
            <a:ext cx="109728" cy="109728"/>
          </a:xfrm>
          <a:prstGeom prst="rect">
            <a:avLst/>
          </a:prstGeom>
          <a:solidFill>
            <a:srgbClr val="0052A3"/>
          </a:solidFill>
          <a:ln cap="flat" cmpd="sng" w="12700">
            <a:solidFill>
              <a:srgbClr val="0052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8" name="Google Shape;618;p22"/>
          <p:cNvSpPr/>
          <p:nvPr/>
        </p:nvSpPr>
        <p:spPr>
          <a:xfrm>
            <a:off x="6267597" y="3561763"/>
            <a:ext cx="2404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클라이언트별 데이터 분리 및 접근 권한 제어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9" name="Google Shape;619;p22"/>
          <p:cNvSpPr/>
          <p:nvPr/>
        </p:nvSpPr>
        <p:spPr>
          <a:xfrm>
            <a:off x="6103005" y="3922637"/>
            <a:ext cx="109728" cy="109728"/>
          </a:xfrm>
          <a:prstGeom prst="rect">
            <a:avLst/>
          </a:prstGeom>
          <a:solidFill>
            <a:srgbClr val="0052A3"/>
          </a:solidFill>
          <a:ln cap="flat" cmpd="sng" w="12700">
            <a:solidFill>
              <a:srgbClr val="0052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0" name="Google Shape;620;p22"/>
          <p:cNvSpPr/>
          <p:nvPr/>
        </p:nvSpPr>
        <p:spPr>
          <a:xfrm>
            <a:off x="6267597" y="3884566"/>
            <a:ext cx="240487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커스텀 브랜딩 · Logo · Look &amp; Feel</a:t>
            </a:r>
            <a:endParaRPr b="0" i="0" sz="9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1" name="Google Shape;621;p22"/>
          <p:cNvSpPr/>
          <p:nvPr/>
        </p:nvSpPr>
        <p:spPr>
          <a:xfrm>
            <a:off x="195981" y="4471446"/>
            <a:ext cx="8595360" cy="201168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2" name="Google Shape;622;p22"/>
          <p:cNvSpPr/>
          <p:nvPr/>
        </p:nvSpPr>
        <p:spPr>
          <a:xfrm>
            <a:off x="195981" y="4471446"/>
            <a:ext cx="64008" cy="201168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3" name="Google Shape;623;p22"/>
          <p:cNvSpPr/>
          <p:nvPr/>
        </p:nvSpPr>
        <p:spPr>
          <a:xfrm>
            <a:off x="323997" y="4471446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Governance  –  전체 레이어 공통 적용: 모니터링 · 관리자 · 접근 권한 관리 · 감사 로그 · 데이터 거버넌스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25" y="4442300"/>
            <a:ext cx="835799" cy="536658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12"/>
          <p:cNvSpPr txBox="1"/>
          <p:nvPr/>
        </p:nvSpPr>
        <p:spPr>
          <a:xfrm>
            <a:off x="1164925" y="432200"/>
            <a:ext cx="21996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75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1" name="Google Shape;631;p12"/>
          <p:cNvSpPr txBox="1"/>
          <p:nvPr/>
        </p:nvSpPr>
        <p:spPr>
          <a:xfrm>
            <a:off x="329565" y="1503045"/>
            <a:ext cx="45186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A1"/>
              </a:buClr>
              <a:buSzPts val="2600"/>
              <a:buFont typeface="Arial"/>
              <a:buNone/>
            </a:pPr>
            <a:r>
              <a:rPr b="1" lang="en-US" sz="26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처리 </a:t>
            </a:r>
            <a:r>
              <a:rPr b="1" i="0" lang="en-US" sz="26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흐름 및 사용자 시나리오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2"/>
          <p:cNvSpPr txBox="1"/>
          <p:nvPr/>
        </p:nvSpPr>
        <p:spPr>
          <a:xfrm>
            <a:off x="35112" y="4935783"/>
            <a:ext cx="4761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13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</a:t>
            </a:r>
            <a:r>
              <a:rPr b="1" lang="en-US" sz="12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별 운영 구성도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3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0" name="Google Shape;640;p13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641" name="Google Shape;64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2" name="Google Shape;642;p13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3" name="Google Shape;643;p13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4" name="Google Shape;644;p13"/>
          <p:cNvSpPr/>
          <p:nvPr/>
        </p:nvSpPr>
        <p:spPr>
          <a:xfrm>
            <a:off x="362421" y="570527"/>
            <a:ext cx="8229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각 사용자 유형이 시스템의 각 영역을 어떻게 구성하는지를 정의합니다.</a:t>
            </a:r>
            <a:endParaRPr b="0" i="0" sz="750" u="none" cap="none" strike="noStrike">
              <a:solidFill>
                <a:srgbClr val="6B728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645" name="Google Shape;645;p13"/>
          <p:cNvGrpSpPr/>
          <p:nvPr/>
        </p:nvGrpSpPr>
        <p:grpSpPr>
          <a:xfrm>
            <a:off x="362421" y="824527"/>
            <a:ext cx="8280400" cy="3720093"/>
            <a:chOff x="457200" y="1371600"/>
            <a:chExt cx="8280400" cy="4013200"/>
          </a:xfrm>
        </p:grpSpPr>
        <p:sp>
          <p:nvSpPr>
            <p:cNvPr id="646" name="Google Shape;646;p13"/>
            <p:cNvSpPr/>
            <p:nvPr/>
          </p:nvSpPr>
          <p:spPr>
            <a:xfrm>
              <a:off x="457200" y="1371600"/>
              <a:ext cx="8280400" cy="1092200"/>
            </a:xfrm>
            <a:prstGeom prst="roundRect">
              <a:avLst>
                <a:gd fmla="val 5000" name="adj"/>
              </a:avLst>
            </a:prstGeom>
            <a:solidFill>
              <a:srgbClr val="F5F3FF"/>
            </a:solidFill>
            <a:ln cap="flat" cmpd="sng" w="9525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47" name="Google Shape;647;p13"/>
            <p:cNvSpPr/>
            <p:nvPr/>
          </p:nvSpPr>
          <p:spPr>
            <a:xfrm>
              <a:off x="508000" y="1473200"/>
              <a:ext cx="914400" cy="889000"/>
            </a:xfrm>
            <a:prstGeom prst="roundRect">
              <a:avLst>
                <a:gd fmla="val 5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CMS 운영자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3"/>
            <p:cNvSpPr/>
            <p:nvPr/>
          </p:nvSpPr>
          <p:spPr>
            <a:xfrm>
              <a:off x="1473200" y="1625600"/>
              <a:ext cx="1159933" cy="584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-US" sz="7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로그인 (JWT)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0" i="0" lang="en-US" sz="6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브라우저 → CMS 웹 앱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13"/>
            <p:cNvSpPr/>
            <p:nvPr/>
          </p:nvSpPr>
          <p:spPr>
            <a:xfrm>
              <a:off x="1524916" y="1565486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13"/>
            <p:cNvSpPr/>
            <p:nvPr/>
          </p:nvSpPr>
          <p:spPr>
            <a:xfrm>
              <a:off x="2633133" y="1879600"/>
              <a:ext cx="50800" cy="76200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51" name="Google Shape;651;p13"/>
            <p:cNvSpPr/>
            <p:nvPr/>
          </p:nvSpPr>
          <p:spPr>
            <a:xfrm>
              <a:off x="2683933" y="1625600"/>
              <a:ext cx="1159933" cy="584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-US" sz="7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사이트 선택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0" i="0" lang="en-US" sz="6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할당된 사이트 기준 드롭다운 필터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3"/>
            <p:cNvSpPr/>
            <p:nvPr/>
          </p:nvSpPr>
          <p:spPr>
            <a:xfrm>
              <a:off x="2735649" y="1565486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13"/>
            <p:cNvSpPr/>
            <p:nvPr/>
          </p:nvSpPr>
          <p:spPr>
            <a:xfrm>
              <a:off x="3843867" y="1879600"/>
              <a:ext cx="50800" cy="76200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54" name="Google Shape;654;p13"/>
            <p:cNvSpPr/>
            <p:nvPr/>
          </p:nvSpPr>
          <p:spPr>
            <a:xfrm>
              <a:off x="3894667" y="1625600"/>
              <a:ext cx="1159933" cy="584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-US" sz="7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레이아웃 생성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0" i="0" lang="en-US" sz="6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캔버스: 존, 콘텐츠, Z-order 구성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3"/>
            <p:cNvSpPr/>
            <p:nvPr/>
          </p:nvSpPr>
          <p:spPr>
            <a:xfrm>
              <a:off x="3946383" y="1565486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3"/>
            <p:cNvSpPr/>
            <p:nvPr/>
          </p:nvSpPr>
          <p:spPr>
            <a:xfrm>
              <a:off x="5054600" y="1879600"/>
              <a:ext cx="50800" cy="76200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57" name="Google Shape;657;p13"/>
            <p:cNvSpPr/>
            <p:nvPr/>
          </p:nvSpPr>
          <p:spPr>
            <a:xfrm>
              <a:off x="5105400" y="1625600"/>
              <a:ext cx="1159933" cy="584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-US" sz="7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콘텐츠 할당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0" i="0" lang="en-US" sz="6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존별 미디어 선택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3"/>
            <p:cNvSpPr/>
            <p:nvPr/>
          </p:nvSpPr>
          <p:spPr>
            <a:xfrm>
              <a:off x="5157116" y="1565486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3"/>
            <p:cNvSpPr/>
            <p:nvPr/>
          </p:nvSpPr>
          <p:spPr>
            <a:xfrm>
              <a:off x="6265333" y="1879600"/>
              <a:ext cx="50800" cy="76200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60" name="Google Shape;660;p13"/>
            <p:cNvSpPr/>
            <p:nvPr/>
          </p:nvSpPr>
          <p:spPr>
            <a:xfrm>
              <a:off x="6316133" y="1625600"/>
              <a:ext cx="1159933" cy="584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-US" sz="7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스케줄 설정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0" i="0" lang="en-US" sz="6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캘린더: 타임슬롯, 반복 설정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3"/>
            <p:cNvSpPr/>
            <p:nvPr/>
          </p:nvSpPr>
          <p:spPr>
            <a:xfrm>
              <a:off x="6367849" y="1565486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3"/>
            <p:cNvSpPr/>
            <p:nvPr/>
          </p:nvSpPr>
          <p:spPr>
            <a:xfrm>
              <a:off x="7476067" y="1879600"/>
              <a:ext cx="50800" cy="76200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63" name="Google Shape;663;p13"/>
            <p:cNvSpPr/>
            <p:nvPr/>
          </p:nvSpPr>
          <p:spPr>
            <a:xfrm>
              <a:off x="7526867" y="1625600"/>
              <a:ext cx="1159933" cy="584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-US" sz="7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배포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0" i="0" lang="en-US" sz="6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해시 → WS 푸시 → STB 리로드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3"/>
            <p:cNvSpPr/>
            <p:nvPr/>
          </p:nvSpPr>
          <p:spPr>
            <a:xfrm>
              <a:off x="7578583" y="1565486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7C3AED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3"/>
            <p:cNvSpPr/>
            <p:nvPr/>
          </p:nvSpPr>
          <p:spPr>
            <a:xfrm>
              <a:off x="1473200" y="2489200"/>
              <a:ext cx="72136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-US" sz="700" u="none" cap="none" strike="noStrike">
                  <a:solidFill>
                    <a:srgbClr val="7C3AE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로그인 → 설정 → 배포 → STB 실시간 반영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3"/>
            <p:cNvSpPr/>
            <p:nvPr/>
          </p:nvSpPr>
          <p:spPr>
            <a:xfrm>
              <a:off x="457200" y="2743200"/>
              <a:ext cx="8280400" cy="1092200"/>
            </a:xfrm>
            <a:prstGeom prst="roundRect">
              <a:avLst>
                <a:gd fmla="val 5000" name="adj"/>
              </a:avLst>
            </a:prstGeom>
            <a:solidFill>
              <a:srgbClr val="EFF6FF"/>
            </a:solidFill>
            <a:ln cap="flat" cmpd="sng" w="952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67" name="Google Shape;667;p13"/>
            <p:cNvSpPr/>
            <p:nvPr/>
          </p:nvSpPr>
          <p:spPr>
            <a:xfrm>
              <a:off x="508000" y="2844800"/>
              <a:ext cx="914400" cy="889000"/>
            </a:xfrm>
            <a:prstGeom prst="roundRect">
              <a:avLst>
                <a:gd fmla="val 5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SKT 관리자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13"/>
            <p:cNvSpPr/>
            <p:nvPr/>
          </p:nvSpPr>
          <p:spPr>
            <a:xfrm>
              <a:off x="1473200" y="2997200"/>
              <a:ext cx="1159933" cy="584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-US" sz="7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관리자 로그인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0" i="0" lang="en-US" sz="6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고권한 JWT 스코프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3"/>
            <p:cNvSpPr/>
            <p:nvPr/>
          </p:nvSpPr>
          <p:spPr>
            <a:xfrm>
              <a:off x="1524916" y="2937086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13"/>
            <p:cNvSpPr/>
            <p:nvPr/>
          </p:nvSpPr>
          <p:spPr>
            <a:xfrm>
              <a:off x="2633133" y="3251200"/>
              <a:ext cx="508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71" name="Google Shape;671;p13"/>
            <p:cNvSpPr/>
            <p:nvPr/>
          </p:nvSpPr>
          <p:spPr>
            <a:xfrm>
              <a:off x="2683933" y="2997200"/>
              <a:ext cx="1159933" cy="584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-US" sz="7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사이트 프로비저닝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None/>
              </a:pPr>
              <a:r>
                <a:rPr b="0" i="0" lang="en-US" sz="6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CMS + BI 환경 생성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13"/>
            <p:cNvSpPr/>
            <p:nvPr/>
          </p:nvSpPr>
          <p:spPr>
            <a:xfrm>
              <a:off x="2735649" y="2937086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13"/>
            <p:cNvSpPr/>
            <p:nvPr/>
          </p:nvSpPr>
          <p:spPr>
            <a:xfrm>
              <a:off x="3843867" y="3251200"/>
              <a:ext cx="508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74" name="Google Shape;674;p13"/>
            <p:cNvSpPr/>
            <p:nvPr/>
          </p:nvSpPr>
          <p:spPr>
            <a:xfrm>
              <a:off x="3894667" y="2997200"/>
              <a:ext cx="1159933" cy="584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-US" sz="7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사용자 생성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0" i="0" lang="en-US" sz="6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역할 설정, 사이트 할당, 초대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3"/>
            <p:cNvSpPr/>
            <p:nvPr/>
          </p:nvSpPr>
          <p:spPr>
            <a:xfrm>
              <a:off x="3946383" y="2937086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13"/>
            <p:cNvSpPr/>
            <p:nvPr/>
          </p:nvSpPr>
          <p:spPr>
            <a:xfrm>
              <a:off x="5054600" y="3251200"/>
              <a:ext cx="508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77" name="Google Shape;677;p13"/>
            <p:cNvSpPr/>
            <p:nvPr/>
          </p:nvSpPr>
          <p:spPr>
            <a:xfrm>
              <a:off x="5105400" y="2997200"/>
              <a:ext cx="1159933" cy="584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-US" sz="7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기능 플래그 설정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0" i="0" lang="en-US" sz="6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사이트별 AI 기능 On/Off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13"/>
            <p:cNvSpPr/>
            <p:nvPr/>
          </p:nvSpPr>
          <p:spPr>
            <a:xfrm>
              <a:off x="5157116" y="2937086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13"/>
            <p:cNvSpPr/>
            <p:nvPr/>
          </p:nvSpPr>
          <p:spPr>
            <a:xfrm>
              <a:off x="6265333" y="3251200"/>
              <a:ext cx="508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80" name="Google Shape;680;p13"/>
            <p:cNvSpPr/>
            <p:nvPr/>
          </p:nvSpPr>
          <p:spPr>
            <a:xfrm>
              <a:off x="6316133" y="2997200"/>
              <a:ext cx="1159933" cy="584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-US" sz="7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OTA 모델 배포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0" i="0" lang="en-US" sz="6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.tflite 업로드 → 배포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13"/>
            <p:cNvSpPr/>
            <p:nvPr/>
          </p:nvSpPr>
          <p:spPr>
            <a:xfrm>
              <a:off x="6367849" y="2937086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13"/>
            <p:cNvSpPr/>
            <p:nvPr/>
          </p:nvSpPr>
          <p:spPr>
            <a:xfrm>
              <a:off x="7476067" y="3251200"/>
              <a:ext cx="50800" cy="76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83" name="Google Shape;683;p13"/>
            <p:cNvSpPr/>
            <p:nvPr/>
          </p:nvSpPr>
          <p:spPr>
            <a:xfrm>
              <a:off x="7526867" y="2997200"/>
              <a:ext cx="1159933" cy="584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-US" sz="7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상태 모니터링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0" i="0" lang="en-US" sz="6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디바이스 · API · BI 지연 상태 확인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13"/>
            <p:cNvSpPr/>
            <p:nvPr/>
          </p:nvSpPr>
          <p:spPr>
            <a:xfrm>
              <a:off x="7578583" y="2937086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13"/>
            <p:cNvSpPr/>
            <p:nvPr/>
          </p:nvSpPr>
          <p:spPr>
            <a:xfrm>
              <a:off x="1473200" y="3860800"/>
              <a:ext cx="72136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-US" sz="700" u="none" cap="none" strike="noStrike">
                  <a:solidFill>
                    <a:srgbClr val="2563E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관리자 → 프로비저닝 → 설정 → 배포 → 모니터링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13"/>
            <p:cNvSpPr/>
            <p:nvPr/>
          </p:nvSpPr>
          <p:spPr>
            <a:xfrm>
              <a:off x="457200" y="4114800"/>
              <a:ext cx="8280400" cy="1092200"/>
            </a:xfrm>
            <a:prstGeom prst="roundRect">
              <a:avLst>
                <a:gd fmla="val 5000" name="adj"/>
              </a:avLst>
            </a:prstGeom>
            <a:solidFill>
              <a:srgbClr val="ECFDF5"/>
            </a:solidFill>
            <a:ln cap="flat" cmpd="sng" w="9525">
              <a:solidFill>
                <a:srgbClr val="0596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87" name="Google Shape;687;p13"/>
            <p:cNvSpPr/>
            <p:nvPr/>
          </p:nvSpPr>
          <p:spPr>
            <a:xfrm>
              <a:off x="508000" y="4216400"/>
              <a:ext cx="914400" cy="889000"/>
            </a:xfrm>
            <a:prstGeom prst="roundRect">
              <a:avLst>
                <a:gd fmla="val 5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BI 분석가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13"/>
            <p:cNvSpPr/>
            <p:nvPr/>
          </p:nvSpPr>
          <p:spPr>
            <a:xfrm>
              <a:off x="1473200" y="4368800"/>
              <a:ext cx="1159933" cy="584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0596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-US" sz="7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테넌트 로그인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None/>
              </a:pPr>
              <a:r>
                <a:rPr b="0" i="0" lang="en-US" sz="6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테넌트 기반 데이터 접근 제어 자동 적용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13"/>
            <p:cNvSpPr/>
            <p:nvPr/>
          </p:nvSpPr>
          <p:spPr>
            <a:xfrm>
              <a:off x="1524916" y="4308686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13"/>
            <p:cNvSpPr/>
            <p:nvPr/>
          </p:nvSpPr>
          <p:spPr>
            <a:xfrm>
              <a:off x="2633133" y="4622800"/>
              <a:ext cx="50800" cy="762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2683933" y="4368800"/>
              <a:ext cx="1159933" cy="584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0596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-US" sz="7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테넌트 선택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0" i="0" lang="en-US" sz="6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드롭다운 + 날짜 선택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2735649" y="4308686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3843867" y="4622800"/>
              <a:ext cx="50800" cy="762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3894667" y="4368800"/>
              <a:ext cx="1159933" cy="584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0596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-US" sz="7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KPI 설정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0" i="0" lang="en-US" sz="6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지표, 차트, 분석 단위 설정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3946383" y="4308686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5054600" y="4622800"/>
              <a:ext cx="50800" cy="762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5105400" y="4368800"/>
              <a:ext cx="1159933" cy="584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0596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-US" sz="7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리포트 스케줄링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0" i="0" lang="en-US" sz="6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Cron, PDF/Excel, 수신자 설정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5157116" y="4308686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13"/>
            <p:cNvSpPr/>
            <p:nvPr/>
          </p:nvSpPr>
          <p:spPr>
            <a:xfrm>
              <a:off x="6265333" y="4622800"/>
              <a:ext cx="50800" cy="762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6316133" y="4368800"/>
              <a:ext cx="1159933" cy="584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0596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-US" sz="7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 내보내기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0" i="0" lang="en-US" sz="6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현재 뷰 기준 온디맨드 추출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6367849" y="4308686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7476067" y="4622800"/>
              <a:ext cx="50800" cy="762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7526867" y="4368800"/>
              <a:ext cx="1159933" cy="5842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0596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1" i="0" lang="en-US" sz="7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드릴다운 분석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0" i="0" lang="en-US" sz="6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사이트, 디바이스, 존 단위 분석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7578583" y="4308686"/>
              <a:ext cx="152400" cy="1524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50"/>
                <a:buFont typeface="Arial"/>
                <a:buNone/>
              </a:pPr>
              <a:r>
                <a:rPr b="1" i="0" lang="en-US" sz="65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1473200" y="5232400"/>
              <a:ext cx="72136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8000" lIns="36000" spcFirstLastPara="1" rIns="36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-US" sz="700" u="none" cap="none" strike="noStrike">
                  <a:solidFill>
                    <a:srgbClr val="05966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로그인 → 범위 선택 → 설정 → 스케줄 → 내보내기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14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콘텐츠 </a:t>
            </a:r>
            <a:r>
              <a:rPr b="1" lang="en-US" sz="12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전송 및 재생안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4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13" name="Google Shape;713;p14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714" name="Google Shape;71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5" name="Google Shape;715;p14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6" name="Google Shape;716;p14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17" name="Google Shape;717;p14"/>
          <p:cNvSpPr/>
          <p:nvPr/>
        </p:nvSpPr>
        <p:spPr>
          <a:xfrm>
            <a:off x="422564" y="625225"/>
            <a:ext cx="82296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시스템 상호작용: 일반 운영 및 긴급 알림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4"/>
          <p:cNvSpPr/>
          <p:nvPr/>
        </p:nvSpPr>
        <p:spPr>
          <a:xfrm>
            <a:off x="422564" y="879225"/>
            <a:ext cx="3937000" cy="279400"/>
          </a:xfrm>
          <a:prstGeom prst="roundRect">
            <a:avLst>
              <a:gd fmla="val 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일반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4"/>
          <p:cNvSpPr/>
          <p:nvPr/>
        </p:nvSpPr>
        <p:spPr>
          <a:xfrm>
            <a:off x="4562764" y="879225"/>
            <a:ext cx="3937000" cy="279400"/>
          </a:xfrm>
          <a:prstGeom prst="roundRect">
            <a:avLst>
              <a:gd fmla="val 5000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긴급 방송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4"/>
          <p:cNvSpPr/>
          <p:nvPr/>
        </p:nvSpPr>
        <p:spPr>
          <a:xfrm>
            <a:off x="422564" y="1234825"/>
            <a:ext cx="50800" cy="533400"/>
          </a:xfrm>
          <a:prstGeom prst="roundRect">
            <a:avLst>
              <a:gd fmla="val 2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1" name="Google Shape;721;p14"/>
          <p:cNvSpPr/>
          <p:nvPr/>
        </p:nvSpPr>
        <p:spPr>
          <a:xfrm>
            <a:off x="524164" y="1374525"/>
            <a:ext cx="254000" cy="2540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4"/>
          <p:cNvSpPr/>
          <p:nvPr/>
        </p:nvSpPr>
        <p:spPr>
          <a:xfrm>
            <a:off x="854364" y="1234825"/>
            <a:ext cx="3505200" cy="533400"/>
          </a:xfrm>
          <a:prstGeom prst="roundRect">
            <a:avLst>
              <a:gd fmla="val 400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운영자 콘텐츠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CMS에서 미디어 업로드 및 플레이리스트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3" name="Google Shape;723;p14"/>
          <p:cNvCxnSpPr/>
          <p:nvPr/>
        </p:nvCxnSpPr>
        <p:spPr>
          <a:xfrm>
            <a:off x="651164" y="1780925"/>
            <a:ext cx="12700" cy="50800"/>
          </a:xfrm>
          <a:prstGeom prst="straightConnector1">
            <a:avLst/>
          </a:prstGeom>
          <a:noFill/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724" name="Google Shape;724;p14"/>
          <p:cNvSpPr/>
          <p:nvPr/>
        </p:nvSpPr>
        <p:spPr>
          <a:xfrm>
            <a:off x="4562764" y="1234825"/>
            <a:ext cx="50800" cy="533400"/>
          </a:xfrm>
          <a:prstGeom prst="roundRect">
            <a:avLst>
              <a:gd fmla="val 2000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5" name="Google Shape;725;p14"/>
          <p:cNvSpPr/>
          <p:nvPr/>
        </p:nvSpPr>
        <p:spPr>
          <a:xfrm>
            <a:off x="4664364" y="1374525"/>
            <a:ext cx="254000" cy="254000"/>
          </a:xfrm>
          <a:prstGeom prst="roundRect">
            <a:avLst>
              <a:gd fmla="val 50000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4"/>
          <p:cNvSpPr/>
          <p:nvPr/>
        </p:nvSpPr>
        <p:spPr>
          <a:xfrm>
            <a:off x="4994564" y="1234825"/>
            <a:ext cx="3505200" cy="533400"/>
          </a:xfrm>
          <a:prstGeom prst="roundRect">
            <a:avLst>
              <a:gd fmla="val 4000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관리자 긴급 활성화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긴급 수준 및 영향 범위 선택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7" name="Google Shape;727;p14"/>
          <p:cNvCxnSpPr/>
          <p:nvPr/>
        </p:nvCxnSpPr>
        <p:spPr>
          <a:xfrm>
            <a:off x="4791364" y="1780925"/>
            <a:ext cx="12700" cy="50800"/>
          </a:xfrm>
          <a:prstGeom prst="straightConnector1">
            <a:avLst/>
          </a:prstGeom>
          <a:noFill/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728" name="Google Shape;728;p14"/>
          <p:cNvSpPr/>
          <p:nvPr/>
        </p:nvSpPr>
        <p:spPr>
          <a:xfrm>
            <a:off x="422564" y="1844425"/>
            <a:ext cx="50800" cy="533400"/>
          </a:xfrm>
          <a:prstGeom prst="roundRect">
            <a:avLst>
              <a:gd fmla="val 2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9" name="Google Shape;729;p14"/>
          <p:cNvSpPr/>
          <p:nvPr/>
        </p:nvSpPr>
        <p:spPr>
          <a:xfrm>
            <a:off x="524164" y="1984125"/>
            <a:ext cx="254000" cy="2540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14"/>
          <p:cNvSpPr/>
          <p:nvPr/>
        </p:nvSpPr>
        <p:spPr>
          <a:xfrm>
            <a:off x="854364" y="1844425"/>
            <a:ext cx="3505200" cy="533400"/>
          </a:xfrm>
          <a:prstGeom prst="roundRect">
            <a:avLst>
              <a:gd fmla="val 400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스케줄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시간, 사이트, 레이아웃 설정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1" name="Google Shape;731;p14"/>
          <p:cNvCxnSpPr/>
          <p:nvPr/>
        </p:nvCxnSpPr>
        <p:spPr>
          <a:xfrm>
            <a:off x="651164" y="2390525"/>
            <a:ext cx="12700" cy="50800"/>
          </a:xfrm>
          <a:prstGeom prst="straightConnector1">
            <a:avLst/>
          </a:prstGeom>
          <a:noFill/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732" name="Google Shape;732;p14"/>
          <p:cNvSpPr/>
          <p:nvPr/>
        </p:nvSpPr>
        <p:spPr>
          <a:xfrm>
            <a:off x="4562764" y="1844425"/>
            <a:ext cx="50800" cy="533400"/>
          </a:xfrm>
          <a:prstGeom prst="roundRect">
            <a:avLst>
              <a:gd fmla="val 2000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3" name="Google Shape;733;p14"/>
          <p:cNvSpPr/>
          <p:nvPr/>
        </p:nvSpPr>
        <p:spPr>
          <a:xfrm>
            <a:off x="4664364" y="1984125"/>
            <a:ext cx="254000" cy="254000"/>
          </a:xfrm>
          <a:prstGeom prst="roundRect">
            <a:avLst>
              <a:gd fmla="val 50000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4"/>
          <p:cNvSpPr/>
          <p:nvPr/>
        </p:nvSpPr>
        <p:spPr>
          <a:xfrm>
            <a:off x="4994564" y="1844425"/>
            <a:ext cx="3505200" cy="533400"/>
          </a:xfrm>
          <a:prstGeom prst="roundRect">
            <a:avLst>
              <a:gd fmla="val 4000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경고 콘텐츠 입력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텍스트 티커 또는 긴급 템플릿 설정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5" name="Google Shape;735;p14"/>
          <p:cNvCxnSpPr/>
          <p:nvPr/>
        </p:nvCxnSpPr>
        <p:spPr>
          <a:xfrm>
            <a:off x="4791364" y="2390525"/>
            <a:ext cx="12700" cy="50800"/>
          </a:xfrm>
          <a:prstGeom prst="straightConnector1">
            <a:avLst/>
          </a:prstGeom>
          <a:noFill/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736" name="Google Shape;736;p14"/>
          <p:cNvSpPr/>
          <p:nvPr/>
        </p:nvSpPr>
        <p:spPr>
          <a:xfrm>
            <a:off x="422564" y="2454025"/>
            <a:ext cx="50800" cy="533400"/>
          </a:xfrm>
          <a:prstGeom prst="roundRect">
            <a:avLst>
              <a:gd fmla="val 2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7" name="Google Shape;737;p14"/>
          <p:cNvSpPr/>
          <p:nvPr/>
        </p:nvSpPr>
        <p:spPr>
          <a:xfrm>
            <a:off x="524164" y="2593725"/>
            <a:ext cx="254000" cy="2540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14"/>
          <p:cNvSpPr/>
          <p:nvPr/>
        </p:nvSpPr>
        <p:spPr>
          <a:xfrm>
            <a:off x="854364" y="2454025"/>
            <a:ext cx="3505200" cy="533400"/>
          </a:xfrm>
          <a:prstGeom prst="roundRect">
            <a:avLst>
              <a:gd fmla="val 400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콘텐츠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CMS에서 STB용 JSON 매니페스트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9" name="Google Shape;739;p14"/>
          <p:cNvCxnSpPr/>
          <p:nvPr/>
        </p:nvCxnSpPr>
        <p:spPr>
          <a:xfrm>
            <a:off x="651164" y="3000125"/>
            <a:ext cx="12700" cy="50800"/>
          </a:xfrm>
          <a:prstGeom prst="straightConnector1">
            <a:avLst/>
          </a:prstGeom>
          <a:noFill/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740" name="Google Shape;740;p14"/>
          <p:cNvSpPr/>
          <p:nvPr/>
        </p:nvSpPr>
        <p:spPr>
          <a:xfrm>
            <a:off x="4562764" y="2454025"/>
            <a:ext cx="50800" cy="533400"/>
          </a:xfrm>
          <a:prstGeom prst="roundRect">
            <a:avLst>
              <a:gd fmla="val 2000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1" name="Google Shape;741;p14"/>
          <p:cNvSpPr/>
          <p:nvPr/>
        </p:nvSpPr>
        <p:spPr>
          <a:xfrm>
            <a:off x="4664364" y="2593725"/>
            <a:ext cx="254000" cy="254000"/>
          </a:xfrm>
          <a:prstGeom prst="roundRect">
            <a:avLst>
              <a:gd fmla="val 50000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4"/>
          <p:cNvSpPr/>
          <p:nvPr/>
        </p:nvSpPr>
        <p:spPr>
          <a:xfrm>
            <a:off x="4994564" y="2454025"/>
            <a:ext cx="3505200" cy="533400"/>
          </a:xfrm>
          <a:prstGeom prst="roundRect">
            <a:avLst>
              <a:gd fmla="val 4000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API 즉시 전송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큐를 우회하여 STB로 실시간 푸시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3" name="Google Shape;743;p14"/>
          <p:cNvCxnSpPr/>
          <p:nvPr/>
        </p:nvCxnSpPr>
        <p:spPr>
          <a:xfrm>
            <a:off x="4791364" y="3000125"/>
            <a:ext cx="12700" cy="50800"/>
          </a:xfrm>
          <a:prstGeom prst="straightConnector1">
            <a:avLst/>
          </a:prstGeom>
          <a:noFill/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744" name="Google Shape;744;p14"/>
          <p:cNvSpPr/>
          <p:nvPr/>
        </p:nvSpPr>
        <p:spPr>
          <a:xfrm>
            <a:off x="422564" y="3063625"/>
            <a:ext cx="50800" cy="533400"/>
          </a:xfrm>
          <a:prstGeom prst="roundRect">
            <a:avLst>
              <a:gd fmla="val 2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5" name="Google Shape;745;p14"/>
          <p:cNvSpPr/>
          <p:nvPr/>
        </p:nvSpPr>
        <p:spPr>
          <a:xfrm>
            <a:off x="524164" y="3203325"/>
            <a:ext cx="254000" cy="2540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14"/>
          <p:cNvSpPr/>
          <p:nvPr/>
        </p:nvSpPr>
        <p:spPr>
          <a:xfrm>
            <a:off x="854364" y="3063625"/>
            <a:ext cx="3505200" cy="533400"/>
          </a:xfrm>
          <a:prstGeom prst="roundRect">
            <a:avLst>
              <a:gd fmla="val 400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WebSocket 신호 전송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CMS에서 해시 생성 후 WS를 통해 STB로 JSON 푸시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7" name="Google Shape;747;p14"/>
          <p:cNvCxnSpPr/>
          <p:nvPr/>
        </p:nvCxnSpPr>
        <p:spPr>
          <a:xfrm>
            <a:off x="651164" y="3609725"/>
            <a:ext cx="12700" cy="50800"/>
          </a:xfrm>
          <a:prstGeom prst="straightConnector1">
            <a:avLst/>
          </a:prstGeom>
          <a:noFill/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748" name="Google Shape;748;p14"/>
          <p:cNvSpPr/>
          <p:nvPr/>
        </p:nvSpPr>
        <p:spPr>
          <a:xfrm>
            <a:off x="4562764" y="3063625"/>
            <a:ext cx="50800" cy="533400"/>
          </a:xfrm>
          <a:prstGeom prst="roundRect">
            <a:avLst>
              <a:gd fmla="val 2000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9" name="Google Shape;749;p14"/>
          <p:cNvSpPr/>
          <p:nvPr/>
        </p:nvSpPr>
        <p:spPr>
          <a:xfrm>
            <a:off x="4664364" y="3203325"/>
            <a:ext cx="254000" cy="254000"/>
          </a:xfrm>
          <a:prstGeom prst="roundRect">
            <a:avLst>
              <a:gd fmla="val 50000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4"/>
          <p:cNvSpPr/>
          <p:nvPr/>
        </p:nvSpPr>
        <p:spPr>
          <a:xfrm>
            <a:off x="4994564" y="3063625"/>
            <a:ext cx="3505200" cy="533400"/>
          </a:xfrm>
          <a:prstGeom prst="roundRect">
            <a:avLst>
              <a:gd fmla="val 4000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JS Bridge를 통한 경고 삽입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STB 현재 화면을 오버라이드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1" name="Google Shape;751;p14"/>
          <p:cNvCxnSpPr/>
          <p:nvPr/>
        </p:nvCxnSpPr>
        <p:spPr>
          <a:xfrm>
            <a:off x="4791364" y="3609725"/>
            <a:ext cx="12700" cy="50800"/>
          </a:xfrm>
          <a:prstGeom prst="straightConnector1">
            <a:avLst/>
          </a:prstGeom>
          <a:noFill/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752" name="Google Shape;752;p14"/>
          <p:cNvSpPr/>
          <p:nvPr/>
        </p:nvSpPr>
        <p:spPr>
          <a:xfrm>
            <a:off x="422564" y="3673225"/>
            <a:ext cx="50800" cy="533400"/>
          </a:xfrm>
          <a:prstGeom prst="roundRect">
            <a:avLst>
              <a:gd fmla="val 2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3" name="Google Shape;753;p14"/>
          <p:cNvSpPr/>
          <p:nvPr/>
        </p:nvSpPr>
        <p:spPr>
          <a:xfrm>
            <a:off x="524164" y="3812925"/>
            <a:ext cx="254000" cy="2540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14"/>
          <p:cNvSpPr/>
          <p:nvPr/>
        </p:nvSpPr>
        <p:spPr>
          <a:xfrm>
            <a:off x="854364" y="3673225"/>
            <a:ext cx="3505200" cy="533400"/>
          </a:xfrm>
          <a:prstGeom prst="roundRect">
            <a:avLst>
              <a:gd fmla="val 400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STB 콘텐츠 재생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매니페스트 기반으로 레이아웃 렌더링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4"/>
          <p:cNvSpPr/>
          <p:nvPr/>
        </p:nvSpPr>
        <p:spPr>
          <a:xfrm>
            <a:off x="4562764" y="3673225"/>
            <a:ext cx="50800" cy="533400"/>
          </a:xfrm>
          <a:prstGeom prst="roundRect">
            <a:avLst>
              <a:gd fmla="val 2000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6" name="Google Shape;756;p14"/>
          <p:cNvSpPr/>
          <p:nvPr/>
        </p:nvSpPr>
        <p:spPr>
          <a:xfrm>
            <a:off x="4664364" y="3812925"/>
            <a:ext cx="254000" cy="254000"/>
          </a:xfrm>
          <a:prstGeom prst="roundRect">
            <a:avLst>
              <a:gd fmla="val 50000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14"/>
          <p:cNvSpPr/>
          <p:nvPr/>
        </p:nvSpPr>
        <p:spPr>
          <a:xfrm>
            <a:off x="4994564" y="3673225"/>
            <a:ext cx="3505200" cy="533400"/>
          </a:xfrm>
          <a:prstGeom prst="roundRect">
            <a:avLst>
              <a:gd fmla="val 4000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STB 긴급 알림 표시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TV 화면에 경고 표시, 자동 타임아웃 후 종료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16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카메라 AI인식 처리 흐름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16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65" name="Google Shape;765;p16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766" name="Google Shape;76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7" name="Google Shape;767;p16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8" name="Google Shape;768;p16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69" name="Google Shape;769;p16"/>
          <p:cNvSpPr/>
          <p:nvPr/>
        </p:nvSpPr>
        <p:spPr>
          <a:xfrm>
            <a:off x="368815" y="545435"/>
            <a:ext cx="8321100" cy="4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STB에서 수행된 원시 AI 추론 결과가 분석가가 활용할 수 있는 대시보드 지표로 어떻게 변환되는지를 설명합니다.</a:t>
            </a:r>
            <a:endParaRPr b="0" i="0" sz="1050" u="none" cap="none" strike="noStrike">
              <a:solidFill>
                <a:srgbClr val="6B728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70" name="Google Shape;770;p16"/>
          <p:cNvSpPr/>
          <p:nvPr/>
        </p:nvSpPr>
        <p:spPr>
          <a:xfrm>
            <a:off x="368815" y="1099121"/>
            <a:ext cx="1115700" cy="658500"/>
          </a:xfrm>
          <a:prstGeom prst="roundRect">
            <a:avLst>
              <a:gd fmla="val 9722" name="adj"/>
            </a:avLst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71" name="Google Shape;771;p16"/>
          <p:cNvSpPr/>
          <p:nvPr/>
        </p:nvSpPr>
        <p:spPr>
          <a:xfrm>
            <a:off x="441967" y="1190561"/>
            <a:ext cx="96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카메라 캡처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16"/>
          <p:cNvSpPr/>
          <p:nvPr/>
        </p:nvSpPr>
        <p:spPr>
          <a:xfrm>
            <a:off x="423679" y="1446593"/>
            <a:ext cx="1005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30 FPS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3" name="Google Shape;773;p16"/>
          <p:cNvCxnSpPr/>
          <p:nvPr/>
        </p:nvCxnSpPr>
        <p:spPr>
          <a:xfrm>
            <a:off x="1493527" y="1428305"/>
            <a:ext cx="118800" cy="0"/>
          </a:xfrm>
          <a:prstGeom prst="straightConnector1">
            <a:avLst/>
          </a:prstGeom>
          <a:noFill/>
          <a:ln cap="flat" cmpd="sng" w="152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4" name="Google Shape;774;p16"/>
          <p:cNvSpPr/>
          <p:nvPr/>
        </p:nvSpPr>
        <p:spPr>
          <a:xfrm>
            <a:off x="1621543" y="1099121"/>
            <a:ext cx="1115700" cy="658500"/>
          </a:xfrm>
          <a:prstGeom prst="roundRect">
            <a:avLst>
              <a:gd fmla="val 9722" name="adj"/>
            </a:avLst>
          </a:prstGeom>
          <a:solidFill>
            <a:srgbClr val="5B21B6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75" name="Google Shape;775;p16"/>
          <p:cNvSpPr/>
          <p:nvPr/>
        </p:nvSpPr>
        <p:spPr>
          <a:xfrm>
            <a:off x="1694695" y="1190561"/>
            <a:ext cx="96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AI 추론 (TFLite)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6"/>
          <p:cNvSpPr/>
          <p:nvPr/>
        </p:nvSpPr>
        <p:spPr>
          <a:xfrm>
            <a:off x="1676407" y="1446593"/>
            <a:ext cx="1005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≥ 5 FPS</a:t>
            </a:r>
            <a:endParaRPr b="0" i="0" sz="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777" name="Google Shape;777;p16"/>
          <p:cNvCxnSpPr/>
          <p:nvPr/>
        </p:nvCxnSpPr>
        <p:spPr>
          <a:xfrm>
            <a:off x="2746255" y="1428305"/>
            <a:ext cx="118800" cy="0"/>
          </a:xfrm>
          <a:prstGeom prst="straightConnector1">
            <a:avLst/>
          </a:prstGeom>
          <a:noFill/>
          <a:ln cap="flat" cmpd="sng" w="152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8" name="Google Shape;778;p16"/>
          <p:cNvSpPr/>
          <p:nvPr/>
        </p:nvSpPr>
        <p:spPr>
          <a:xfrm>
            <a:off x="2874271" y="1099121"/>
            <a:ext cx="1115700" cy="658500"/>
          </a:xfrm>
          <a:prstGeom prst="roundRect">
            <a:avLst>
              <a:gd fmla="val 9722" name="adj"/>
            </a:avLst>
          </a:prstGeom>
          <a:solidFill>
            <a:srgbClr val="2E6FD9"/>
          </a:solidFill>
          <a:ln cap="flat" cmpd="sng" w="12700">
            <a:solidFill>
              <a:srgbClr val="2E6F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79" name="Google Shape;779;p16"/>
          <p:cNvSpPr/>
          <p:nvPr/>
        </p:nvSpPr>
        <p:spPr>
          <a:xfrm>
            <a:off x="2947423" y="1190561"/>
            <a:ext cx="96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집계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16"/>
          <p:cNvSpPr/>
          <p:nvPr/>
        </p:nvSpPr>
        <p:spPr>
          <a:xfrm>
            <a:off x="2929135" y="1446593"/>
            <a:ext cx="1005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번들 생성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1" name="Google Shape;781;p16"/>
          <p:cNvCxnSpPr/>
          <p:nvPr/>
        </p:nvCxnSpPr>
        <p:spPr>
          <a:xfrm>
            <a:off x="3998983" y="1428305"/>
            <a:ext cx="118800" cy="0"/>
          </a:xfrm>
          <a:prstGeom prst="straightConnector1">
            <a:avLst/>
          </a:prstGeom>
          <a:noFill/>
          <a:ln cap="flat" cmpd="sng" w="152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2" name="Google Shape;782;p16"/>
          <p:cNvSpPr/>
          <p:nvPr/>
        </p:nvSpPr>
        <p:spPr>
          <a:xfrm>
            <a:off x="4126999" y="1099121"/>
            <a:ext cx="1115700" cy="658500"/>
          </a:xfrm>
          <a:prstGeom prst="roundRect">
            <a:avLst>
              <a:gd fmla="val 9722" name="adj"/>
            </a:avLst>
          </a:prstGeom>
          <a:solidFill>
            <a:srgbClr val="0D8C6E"/>
          </a:solidFill>
          <a:ln cap="flat" cmpd="sng" w="12700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83" name="Google Shape;783;p16"/>
          <p:cNvSpPr/>
          <p:nvPr/>
        </p:nvSpPr>
        <p:spPr>
          <a:xfrm>
            <a:off x="4200151" y="1190561"/>
            <a:ext cx="96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CMS로 HTTP POST 전송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16"/>
          <p:cNvSpPr/>
          <p:nvPr/>
        </p:nvSpPr>
        <p:spPr>
          <a:xfrm>
            <a:off x="4181863" y="1446593"/>
            <a:ext cx="1005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30초마다 전송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5" name="Google Shape;785;p16"/>
          <p:cNvCxnSpPr/>
          <p:nvPr/>
        </p:nvCxnSpPr>
        <p:spPr>
          <a:xfrm>
            <a:off x="5251711" y="1428305"/>
            <a:ext cx="118800" cy="0"/>
          </a:xfrm>
          <a:prstGeom prst="straightConnector1">
            <a:avLst/>
          </a:prstGeom>
          <a:noFill/>
          <a:ln cap="flat" cmpd="sng" w="152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6" name="Google Shape;786;p16"/>
          <p:cNvSpPr/>
          <p:nvPr/>
        </p:nvSpPr>
        <p:spPr>
          <a:xfrm>
            <a:off x="5379727" y="1099121"/>
            <a:ext cx="1115700" cy="658500"/>
          </a:xfrm>
          <a:prstGeom prst="roundRect">
            <a:avLst>
              <a:gd fmla="val 9722" name="adj"/>
            </a:avLst>
          </a:prstGeom>
          <a:solidFill>
            <a:srgbClr val="0D8C6E"/>
          </a:solidFill>
          <a:ln cap="flat" cmpd="sng" w="12700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87" name="Google Shape;787;p16"/>
          <p:cNvSpPr/>
          <p:nvPr/>
        </p:nvSpPr>
        <p:spPr>
          <a:xfrm>
            <a:off x="5452879" y="1190561"/>
            <a:ext cx="96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CMS DB</a:t>
            </a:r>
            <a:endParaRPr b="0" i="0" sz="9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(PostgreSQL)</a:t>
            </a:r>
            <a:endParaRPr b="0" i="0" sz="9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88" name="Google Shape;788;p16"/>
          <p:cNvSpPr/>
          <p:nvPr/>
        </p:nvSpPr>
        <p:spPr>
          <a:xfrm>
            <a:off x="5434591" y="1508043"/>
            <a:ext cx="1005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시계열 데이터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저장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9" name="Google Shape;789;p16"/>
          <p:cNvCxnSpPr/>
          <p:nvPr/>
        </p:nvCxnSpPr>
        <p:spPr>
          <a:xfrm>
            <a:off x="6504439" y="1428305"/>
            <a:ext cx="118800" cy="0"/>
          </a:xfrm>
          <a:prstGeom prst="straightConnector1">
            <a:avLst/>
          </a:prstGeom>
          <a:noFill/>
          <a:ln cap="flat" cmpd="sng" w="152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0" name="Google Shape;790;p16"/>
          <p:cNvSpPr/>
          <p:nvPr/>
        </p:nvSpPr>
        <p:spPr>
          <a:xfrm>
            <a:off x="6632455" y="1099121"/>
            <a:ext cx="1115700" cy="658500"/>
          </a:xfrm>
          <a:prstGeom prst="roundRect">
            <a:avLst>
              <a:gd fmla="val 9722" name="adj"/>
            </a:avLst>
          </a:prstGeom>
          <a:solidFill>
            <a:srgbClr val="0D6E4E"/>
          </a:solidFill>
          <a:ln cap="flat" cmpd="sng" w="12700">
            <a:solidFill>
              <a:srgbClr val="0D6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91" name="Google Shape;791;p16"/>
          <p:cNvSpPr/>
          <p:nvPr/>
        </p:nvSpPr>
        <p:spPr>
          <a:xfrm>
            <a:off x="6705607" y="1190561"/>
            <a:ext cx="96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BI 수집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16"/>
          <p:cNvSpPr/>
          <p:nvPr/>
        </p:nvSpPr>
        <p:spPr>
          <a:xfrm>
            <a:off x="6687319" y="1446593"/>
            <a:ext cx="1005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정규화 처리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3" name="Google Shape;793;p16"/>
          <p:cNvCxnSpPr/>
          <p:nvPr/>
        </p:nvCxnSpPr>
        <p:spPr>
          <a:xfrm>
            <a:off x="7757167" y="1428305"/>
            <a:ext cx="36600" cy="0"/>
          </a:xfrm>
          <a:prstGeom prst="straightConnector1">
            <a:avLst/>
          </a:prstGeom>
          <a:noFill/>
          <a:ln cap="flat" cmpd="sng" w="152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4" name="Google Shape;794;p16"/>
          <p:cNvSpPr/>
          <p:nvPr/>
        </p:nvSpPr>
        <p:spPr>
          <a:xfrm>
            <a:off x="7802887" y="1099121"/>
            <a:ext cx="1115700" cy="658500"/>
          </a:xfrm>
          <a:prstGeom prst="roundRect">
            <a:avLst>
              <a:gd fmla="val 9722" name="adj"/>
            </a:avLst>
          </a:prstGeom>
          <a:solidFill>
            <a:srgbClr val="0D6E4E"/>
          </a:solidFill>
          <a:ln cap="flat" cmpd="sng" w="12700">
            <a:solidFill>
              <a:srgbClr val="0D6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95" name="Google Shape;795;p16"/>
          <p:cNvSpPr/>
          <p:nvPr/>
        </p:nvSpPr>
        <p:spPr>
          <a:xfrm>
            <a:off x="7876039" y="1190561"/>
            <a:ext cx="96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16"/>
          <p:cNvSpPr/>
          <p:nvPr/>
        </p:nvSpPr>
        <p:spPr>
          <a:xfrm>
            <a:off x="7857751" y="1446593"/>
            <a:ext cx="1005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6시간 주기 갱신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16"/>
          <p:cNvSpPr/>
          <p:nvPr/>
        </p:nvSpPr>
        <p:spPr>
          <a:xfrm>
            <a:off x="368815" y="2038121"/>
            <a:ext cx="6400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BI 대시보드에서 분석가가 확인하는 주요 지표: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16"/>
          <p:cNvSpPr/>
          <p:nvPr/>
        </p:nvSpPr>
        <p:spPr>
          <a:xfrm>
            <a:off x="368815" y="2330729"/>
            <a:ext cx="1572900" cy="135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99" name="Google Shape;799;p16"/>
          <p:cNvSpPr/>
          <p:nvPr/>
        </p:nvSpPr>
        <p:spPr>
          <a:xfrm>
            <a:off x="368815" y="2330729"/>
            <a:ext cx="1572900" cy="54900"/>
          </a:xfrm>
          <a:prstGeom prst="rect">
            <a:avLst/>
          </a:prstGeom>
          <a:solidFill>
            <a:srgbClr val="1E4DA1"/>
          </a:solidFill>
          <a:ln cap="flat" cmpd="sng" w="12700">
            <a:solidFill>
              <a:srgbClr val="1E4D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0" name="Google Shape;800;p16"/>
          <p:cNvSpPr/>
          <p:nvPr/>
        </p:nvSpPr>
        <p:spPr>
          <a:xfrm>
            <a:off x="460255" y="2403881"/>
            <a:ext cx="138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방문자 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16"/>
          <p:cNvSpPr/>
          <p:nvPr/>
        </p:nvSpPr>
        <p:spPr>
          <a:xfrm>
            <a:off x="460255" y="2641625"/>
            <a:ext cx="1389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A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4DA1"/>
                </a:solidFill>
                <a:latin typeface="Noto Sans KR"/>
                <a:ea typeface="Noto Sans KR"/>
                <a:cs typeface="Noto Sans KR"/>
                <a:sym typeface="Noto Sans KR"/>
              </a:rPr>
              <a:t>1,247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16"/>
          <p:cNvSpPr/>
          <p:nvPr/>
        </p:nvSpPr>
        <p:spPr>
          <a:xfrm>
            <a:off x="460255" y="3043961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오늘 방문자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16"/>
          <p:cNvSpPr/>
          <p:nvPr/>
        </p:nvSpPr>
        <p:spPr>
          <a:xfrm>
            <a:off x="460255" y="3263417"/>
            <a:ext cx="1389900" cy="329100"/>
          </a:xfrm>
          <a:prstGeom prst="roundRect">
            <a:avLst>
              <a:gd fmla="val 13889" name="adj"/>
            </a:avLst>
          </a:prstGeom>
          <a:solidFill>
            <a:srgbClr val="F8F9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4" name="Google Shape;804;p16"/>
          <p:cNvSpPr/>
          <p:nvPr/>
        </p:nvSpPr>
        <p:spPr>
          <a:xfrm>
            <a:off x="496831" y="3281705"/>
            <a:ext cx="13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A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4DA1"/>
                </a:solidFill>
                <a:latin typeface="Noto Sans KR"/>
                <a:ea typeface="Noto Sans KR"/>
                <a:cs typeface="Noto Sans KR"/>
                <a:sym typeface="Noto Sans KR"/>
              </a:rPr>
              <a:t>지난주 대비 +12%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16"/>
          <p:cNvSpPr/>
          <p:nvPr/>
        </p:nvSpPr>
        <p:spPr>
          <a:xfrm>
            <a:off x="2042167" y="2330729"/>
            <a:ext cx="1572900" cy="135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6" name="Google Shape;806;p16"/>
          <p:cNvSpPr/>
          <p:nvPr/>
        </p:nvSpPr>
        <p:spPr>
          <a:xfrm>
            <a:off x="2042167" y="2330729"/>
            <a:ext cx="1572900" cy="54900"/>
          </a:xfrm>
          <a:prstGeom prst="rect">
            <a:avLst/>
          </a:prstGeom>
          <a:solidFill>
            <a:srgbClr val="0D8C6E"/>
          </a:solidFill>
          <a:ln cap="flat" cmpd="sng" w="12700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7" name="Google Shape;807;p16"/>
          <p:cNvSpPr/>
          <p:nvPr/>
        </p:nvSpPr>
        <p:spPr>
          <a:xfrm>
            <a:off x="2133607" y="2403881"/>
            <a:ext cx="138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평균 체류 시간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16"/>
          <p:cNvSpPr/>
          <p:nvPr/>
        </p:nvSpPr>
        <p:spPr>
          <a:xfrm>
            <a:off x="2133607" y="2641625"/>
            <a:ext cx="1389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8C6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D8C6E"/>
                </a:solidFill>
                <a:latin typeface="Noto Sans KR"/>
                <a:ea typeface="Noto Sans KR"/>
                <a:cs typeface="Noto Sans KR"/>
                <a:sym typeface="Noto Sans KR"/>
              </a:rPr>
              <a:t>8.3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16"/>
          <p:cNvSpPr/>
          <p:nvPr/>
        </p:nvSpPr>
        <p:spPr>
          <a:xfrm>
            <a:off x="2133607" y="3043961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/ 방문자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16"/>
          <p:cNvSpPr/>
          <p:nvPr/>
        </p:nvSpPr>
        <p:spPr>
          <a:xfrm>
            <a:off x="2133607" y="3263417"/>
            <a:ext cx="1389900" cy="329100"/>
          </a:xfrm>
          <a:prstGeom prst="roundRect">
            <a:avLst>
              <a:gd fmla="val 13889" name="adj"/>
            </a:avLst>
          </a:prstGeom>
          <a:solidFill>
            <a:srgbClr val="F8F9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11" name="Google Shape;811;p16"/>
          <p:cNvSpPr/>
          <p:nvPr/>
        </p:nvSpPr>
        <p:spPr>
          <a:xfrm>
            <a:off x="2170183" y="3281705"/>
            <a:ext cx="13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8C6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8C6E"/>
                </a:solidFill>
                <a:latin typeface="Noto Sans KR"/>
                <a:ea typeface="Noto Sans KR"/>
                <a:cs typeface="Noto Sans KR"/>
                <a:sym typeface="Noto Sans KR"/>
              </a:rPr>
              <a:t>지난주 대비 +1.2초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16"/>
          <p:cNvSpPr/>
          <p:nvPr/>
        </p:nvSpPr>
        <p:spPr>
          <a:xfrm>
            <a:off x="3715519" y="2330729"/>
            <a:ext cx="1572900" cy="135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13" name="Google Shape;813;p16"/>
          <p:cNvSpPr/>
          <p:nvPr/>
        </p:nvSpPr>
        <p:spPr>
          <a:xfrm>
            <a:off x="3715519" y="2330729"/>
            <a:ext cx="1572900" cy="54900"/>
          </a:xfrm>
          <a:prstGeom prst="rect">
            <a:avLst/>
          </a:prstGeom>
          <a:solidFill>
            <a:srgbClr val="5B21B6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14" name="Google Shape;814;p16"/>
          <p:cNvSpPr/>
          <p:nvPr/>
        </p:nvSpPr>
        <p:spPr>
          <a:xfrm>
            <a:off x="3806959" y="2403881"/>
            <a:ext cx="138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라인 통과 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16"/>
          <p:cNvSpPr/>
          <p:nvPr/>
        </p:nvSpPr>
        <p:spPr>
          <a:xfrm>
            <a:off x="3806959" y="2641625"/>
            <a:ext cx="1389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B21B6"/>
                </a:solidFill>
                <a:latin typeface="Noto Sans KR"/>
                <a:ea typeface="Noto Sans KR"/>
                <a:cs typeface="Noto Sans KR"/>
                <a:sym typeface="Noto Sans KR"/>
              </a:rPr>
              <a:t>312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16"/>
          <p:cNvSpPr/>
          <p:nvPr/>
        </p:nvSpPr>
        <p:spPr>
          <a:xfrm>
            <a:off x="3806959" y="3043961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오늘 진입 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16"/>
          <p:cNvSpPr/>
          <p:nvPr/>
        </p:nvSpPr>
        <p:spPr>
          <a:xfrm>
            <a:off x="3806959" y="3263417"/>
            <a:ext cx="1389900" cy="329100"/>
          </a:xfrm>
          <a:prstGeom prst="roundRect">
            <a:avLst>
              <a:gd fmla="val 13889" name="adj"/>
            </a:avLst>
          </a:prstGeom>
          <a:solidFill>
            <a:srgbClr val="F8F9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18" name="Google Shape;818;p16"/>
          <p:cNvSpPr/>
          <p:nvPr/>
        </p:nvSpPr>
        <p:spPr>
          <a:xfrm>
            <a:off x="3843535" y="3281705"/>
            <a:ext cx="13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B21B6"/>
                </a:solidFill>
                <a:latin typeface="Noto Sans KR"/>
                <a:ea typeface="Noto Sans KR"/>
                <a:cs typeface="Noto Sans KR"/>
                <a:sym typeface="Noto Sans KR"/>
              </a:rPr>
              <a:t>피크 시간: 12 ~ 14시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16"/>
          <p:cNvSpPr/>
          <p:nvPr/>
        </p:nvSpPr>
        <p:spPr>
          <a:xfrm>
            <a:off x="5388871" y="2330729"/>
            <a:ext cx="1572900" cy="135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0" name="Google Shape;820;p16"/>
          <p:cNvSpPr/>
          <p:nvPr/>
        </p:nvSpPr>
        <p:spPr>
          <a:xfrm>
            <a:off x="5388871" y="2330729"/>
            <a:ext cx="1572900" cy="5490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1" name="Google Shape;821;p16"/>
          <p:cNvSpPr/>
          <p:nvPr/>
        </p:nvSpPr>
        <p:spPr>
          <a:xfrm>
            <a:off x="5480311" y="2403881"/>
            <a:ext cx="138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시선 집중률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16"/>
          <p:cNvSpPr/>
          <p:nvPr/>
        </p:nvSpPr>
        <p:spPr>
          <a:xfrm>
            <a:off x="5480311" y="2641625"/>
            <a:ext cx="1389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45309"/>
                </a:solidFill>
                <a:latin typeface="Noto Sans KR"/>
                <a:ea typeface="Noto Sans KR"/>
                <a:cs typeface="Noto Sans KR"/>
                <a:sym typeface="Noto Sans KR"/>
              </a:rPr>
              <a:t>42 %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16"/>
          <p:cNvSpPr/>
          <p:nvPr/>
        </p:nvSpPr>
        <p:spPr>
          <a:xfrm>
            <a:off x="5480311" y="3043961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3초 이상 시선 유지 비율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16"/>
          <p:cNvSpPr/>
          <p:nvPr/>
        </p:nvSpPr>
        <p:spPr>
          <a:xfrm>
            <a:off x="5480311" y="3263417"/>
            <a:ext cx="1389900" cy="329100"/>
          </a:xfrm>
          <a:prstGeom prst="roundRect">
            <a:avLst>
              <a:gd fmla="val 13889" name="adj"/>
            </a:avLst>
          </a:prstGeom>
          <a:solidFill>
            <a:srgbClr val="F8F9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5" name="Google Shape;825;p16"/>
          <p:cNvSpPr/>
          <p:nvPr/>
        </p:nvSpPr>
        <p:spPr>
          <a:xfrm>
            <a:off x="5516887" y="3281705"/>
            <a:ext cx="13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Noto Sans KR"/>
                <a:ea typeface="Noto Sans KR"/>
                <a:cs typeface="Noto Sans KR"/>
                <a:sym typeface="Noto Sans KR"/>
              </a:rPr>
              <a:t>지난주 대비 -3%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16"/>
          <p:cNvSpPr/>
          <p:nvPr/>
        </p:nvSpPr>
        <p:spPr>
          <a:xfrm>
            <a:off x="7062223" y="2330729"/>
            <a:ext cx="1572900" cy="135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7" name="Google Shape;827;p16"/>
          <p:cNvSpPr/>
          <p:nvPr/>
        </p:nvSpPr>
        <p:spPr>
          <a:xfrm>
            <a:off x="7062223" y="2330729"/>
            <a:ext cx="1572900" cy="54900"/>
          </a:xfrm>
          <a:prstGeom prst="rect">
            <a:avLst/>
          </a:prstGeom>
          <a:solidFill>
            <a:srgbClr val="065F46"/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8" name="Google Shape;828;p16"/>
          <p:cNvSpPr/>
          <p:nvPr/>
        </p:nvSpPr>
        <p:spPr>
          <a:xfrm>
            <a:off x="7153663" y="2403881"/>
            <a:ext cx="1389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장기 체류 방문자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16"/>
          <p:cNvSpPr/>
          <p:nvPr/>
        </p:nvSpPr>
        <p:spPr>
          <a:xfrm>
            <a:off x="7153663" y="2641625"/>
            <a:ext cx="1389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65F46"/>
                </a:solidFill>
                <a:latin typeface="Noto Sans KR"/>
                <a:ea typeface="Noto Sans KR"/>
                <a:cs typeface="Noto Sans KR"/>
                <a:sym typeface="Noto Sans KR"/>
              </a:rPr>
              <a:t>89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16"/>
          <p:cNvSpPr/>
          <p:nvPr/>
        </p:nvSpPr>
        <p:spPr>
          <a:xfrm>
            <a:off x="7153663" y="3043961"/>
            <a:ext cx="1389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10초 이상 체류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16"/>
          <p:cNvSpPr/>
          <p:nvPr/>
        </p:nvSpPr>
        <p:spPr>
          <a:xfrm>
            <a:off x="7153663" y="3263417"/>
            <a:ext cx="1389900" cy="329100"/>
          </a:xfrm>
          <a:prstGeom prst="roundRect">
            <a:avLst>
              <a:gd fmla="val 13889" name="adj"/>
            </a:avLst>
          </a:prstGeom>
          <a:solidFill>
            <a:srgbClr val="F8F9FA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32" name="Google Shape;832;p16"/>
          <p:cNvSpPr/>
          <p:nvPr/>
        </p:nvSpPr>
        <p:spPr>
          <a:xfrm>
            <a:off x="7190239" y="3281705"/>
            <a:ext cx="13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5F46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구역: Zone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16"/>
          <p:cNvSpPr/>
          <p:nvPr/>
        </p:nvSpPr>
        <p:spPr>
          <a:xfrm>
            <a:off x="368815" y="3757192"/>
            <a:ext cx="8321100" cy="383697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34" name="Google Shape;834;p16"/>
          <p:cNvSpPr/>
          <p:nvPr/>
        </p:nvSpPr>
        <p:spPr>
          <a:xfrm>
            <a:off x="368815" y="3757192"/>
            <a:ext cx="45600" cy="383697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35" name="Google Shape;835;p16"/>
          <p:cNvSpPr/>
          <p:nvPr/>
        </p:nvSpPr>
        <p:spPr>
          <a:xfrm>
            <a:off x="524263" y="3803543"/>
            <a:ext cx="8046600" cy="3018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참고: BI 분석 데이터는 6시간마다 갱신되므로, 준실시간 이벤트 데이터는 일정 지연 후 반영됨. 이벤트 발생 중 실시간 모니터링이 필요한 경우에는 CMS 디바이스 모니터를 사용해야 하며, 해당 화면에서는 즉시성 있는 하트비트 데이터를 확인할 수 있음.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0" name="Google Shape;8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17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AI </a:t>
            </a:r>
            <a:r>
              <a:rPr b="1" lang="en-US" sz="12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처리 프로세스 R&amp;R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17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43" name="Google Shape;843;p17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844" name="Google Shape;8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5" name="Google Shape;845;p17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6" name="Google Shape;846;p17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47" name="Google Shape;847;p17"/>
          <p:cNvSpPr/>
          <p:nvPr/>
        </p:nvSpPr>
        <p:spPr>
          <a:xfrm>
            <a:off x="368815" y="641538"/>
            <a:ext cx="8229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모델 개발은 지도학습 기반 ML 파이프라인을 따름. SKT는 도메인 데이터와 수용 기준을 제공하고, VTI는 데이터 라벨링, 모델 학습, 최적화 및 배포를 담당합니다.</a:t>
            </a:r>
            <a:endParaRPr b="0" i="0" sz="750" u="none" cap="none" strike="noStrike">
              <a:solidFill>
                <a:srgbClr val="6B728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48" name="Google Shape;848;p17"/>
          <p:cNvSpPr/>
          <p:nvPr/>
        </p:nvSpPr>
        <p:spPr>
          <a:xfrm>
            <a:off x="368815" y="946338"/>
            <a:ext cx="863600" cy="787400"/>
          </a:xfrm>
          <a:prstGeom prst="roundRect">
            <a:avLst>
              <a:gd fmla="val 5000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SKT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고객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17"/>
          <p:cNvSpPr/>
          <p:nvPr/>
        </p:nvSpPr>
        <p:spPr>
          <a:xfrm>
            <a:off x="1308615" y="946338"/>
            <a:ext cx="1752600" cy="787400"/>
          </a:xfrm>
          <a:prstGeom prst="roundRect">
            <a:avLst>
              <a:gd fmla="val 5000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영상 데이터 수집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· 실제 현장 영상 수집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· 다양한 각도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· 인원 밀집도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· 조명 조건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17"/>
          <p:cNvSpPr/>
          <p:nvPr/>
        </p:nvSpPr>
        <p:spPr>
          <a:xfrm>
            <a:off x="3124715" y="946338"/>
            <a:ext cx="1752600" cy="787400"/>
          </a:xfrm>
          <a:prstGeom prst="roundRect">
            <a:avLst>
              <a:gd fmla="val 5000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비즈니스 규칙 정의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· 출입 이벤트</a:t>
            </a:r>
            <a:endParaRPr b="0" i="0" sz="660" u="none" cap="none" strike="noStrike">
              <a:solidFill>
                <a:srgbClr val="6B728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· ROI 영역, 체류 시간 기준 정의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7"/>
          <p:cNvSpPr/>
          <p:nvPr/>
        </p:nvSpPr>
        <p:spPr>
          <a:xfrm>
            <a:off x="4940815" y="946338"/>
            <a:ext cx="1752600" cy="787400"/>
          </a:xfrm>
          <a:prstGeom prst="roundRect">
            <a:avLst>
              <a:gd fmla="val 5000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수용 기준 정의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· MAE/MAPE (카운팅)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· F1 (라인 크로싱)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· MOTA/IDF1 (트래킹)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17"/>
          <p:cNvSpPr/>
          <p:nvPr/>
        </p:nvSpPr>
        <p:spPr>
          <a:xfrm>
            <a:off x="6756915" y="946338"/>
            <a:ext cx="1752600" cy="787400"/>
          </a:xfrm>
          <a:prstGeom prst="roundRect">
            <a:avLst>
              <a:gd fmla="val 5000" name="adj"/>
            </a:avLst>
          </a:prstGeom>
          <a:solidFill>
            <a:srgbClr val="EFF6FF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UAT 승인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· 구축 현장에서 필드 검증 수행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· 정확도 목표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3" name="Google Shape;853;p17"/>
          <p:cNvCxnSpPr>
            <a:endCxn id="854" idx="0"/>
          </p:cNvCxnSpPr>
          <p:nvPr/>
        </p:nvCxnSpPr>
        <p:spPr>
          <a:xfrm>
            <a:off x="2184915" y="1759038"/>
            <a:ext cx="0" cy="33030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dash"/>
            <a:round/>
            <a:headEnd len="sm" w="sm" type="none"/>
            <a:tailEnd len="sm" w="sm" type="triangle"/>
          </a:ln>
        </p:spPr>
      </p:cxnSp>
      <p:cxnSp>
        <p:nvCxnSpPr>
          <p:cNvPr id="855" name="Google Shape;855;p17"/>
          <p:cNvCxnSpPr>
            <a:endCxn id="856" idx="0"/>
          </p:cNvCxnSpPr>
          <p:nvPr/>
        </p:nvCxnSpPr>
        <p:spPr>
          <a:xfrm>
            <a:off x="4001015" y="1759038"/>
            <a:ext cx="0" cy="33030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dash"/>
            <a:round/>
            <a:headEnd len="sm" w="sm" type="none"/>
            <a:tailEnd len="sm" w="sm" type="triangle"/>
          </a:ln>
        </p:spPr>
      </p:cxnSp>
      <p:cxnSp>
        <p:nvCxnSpPr>
          <p:cNvPr id="857" name="Google Shape;857;p17"/>
          <p:cNvCxnSpPr>
            <a:endCxn id="858" idx="0"/>
          </p:cNvCxnSpPr>
          <p:nvPr/>
        </p:nvCxnSpPr>
        <p:spPr>
          <a:xfrm>
            <a:off x="5817115" y="1759038"/>
            <a:ext cx="0" cy="33030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dash"/>
            <a:round/>
            <a:headEnd len="sm" w="sm" type="none"/>
            <a:tailEnd len="sm" w="sm" type="triangle"/>
          </a:ln>
        </p:spPr>
      </p:cxnSp>
      <p:cxnSp>
        <p:nvCxnSpPr>
          <p:cNvPr id="859" name="Google Shape;859;p17"/>
          <p:cNvCxnSpPr>
            <a:endCxn id="860" idx="0"/>
          </p:cNvCxnSpPr>
          <p:nvPr/>
        </p:nvCxnSpPr>
        <p:spPr>
          <a:xfrm>
            <a:off x="7633215" y="1759038"/>
            <a:ext cx="0" cy="330300"/>
          </a:xfrm>
          <a:prstGeom prst="straightConnector1">
            <a:avLst/>
          </a:prstGeom>
          <a:noFill/>
          <a:ln cap="flat" cmpd="sng" w="9525">
            <a:solidFill>
              <a:srgbClr val="9CA3AF"/>
            </a:solidFill>
            <a:prstDash val="dash"/>
            <a:round/>
            <a:headEnd len="sm" w="sm" type="none"/>
            <a:tailEnd len="sm" w="sm" type="triangle"/>
          </a:ln>
        </p:spPr>
      </p:cxnSp>
      <p:sp>
        <p:nvSpPr>
          <p:cNvPr id="861" name="Google Shape;861;p17"/>
          <p:cNvSpPr/>
          <p:nvPr/>
        </p:nvSpPr>
        <p:spPr>
          <a:xfrm>
            <a:off x="368815" y="2089338"/>
            <a:ext cx="863600" cy="787400"/>
          </a:xfrm>
          <a:prstGeom prst="roundRect">
            <a:avLst>
              <a:gd fmla="val 5000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VTI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7"/>
          <p:cNvSpPr/>
          <p:nvPr/>
        </p:nvSpPr>
        <p:spPr>
          <a:xfrm>
            <a:off x="1308615" y="2089338"/>
            <a:ext cx="1752600" cy="787400"/>
          </a:xfrm>
          <a:prstGeom prst="roundRect">
            <a:avLst>
              <a:gd fmla="val 5000" name="adj"/>
            </a:avLst>
          </a:prstGeom>
          <a:solidFill>
            <a:srgbClr val="ECFDF5"/>
          </a:solidFill>
          <a:ln cap="flat" cmpd="sng" w="95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라벨링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· CVAT: 바운딩 박스, 키포인트, ROI 마스크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· SKT 검수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17"/>
          <p:cNvSpPr/>
          <p:nvPr/>
        </p:nvSpPr>
        <p:spPr>
          <a:xfrm>
            <a:off x="3124715" y="2089338"/>
            <a:ext cx="1752600" cy="787400"/>
          </a:xfrm>
          <a:prstGeom prst="roundRect">
            <a:avLst>
              <a:gd fmla="val 5000" name="adj"/>
            </a:avLst>
          </a:prstGeom>
          <a:solidFill>
            <a:srgbClr val="FFFBEB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모델 학습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· PyTorch GPU (클라우드) 기반 학습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· SKT 기준 대비 평가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· 반복 개선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17"/>
          <p:cNvSpPr/>
          <p:nvPr/>
        </p:nvSpPr>
        <p:spPr>
          <a:xfrm>
            <a:off x="4940815" y="2089338"/>
            <a:ext cx="1752600" cy="787400"/>
          </a:xfrm>
          <a:prstGeom prst="roundRect">
            <a:avLst>
              <a:gd fmla="val 5000" name="adj"/>
            </a:avLst>
          </a:prstGeom>
          <a:solidFill>
            <a:srgbClr val="F5F3FF"/>
          </a:solidFill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최적화 및 변환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· ONNX → TFLite INT8 변환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· STB 기준 FPS/지연 시간 벤치마크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17"/>
          <p:cNvSpPr/>
          <p:nvPr/>
        </p:nvSpPr>
        <p:spPr>
          <a:xfrm>
            <a:off x="6756915" y="2089338"/>
            <a:ext cx="1752600" cy="787400"/>
          </a:xfrm>
          <a:prstGeom prst="roundRect">
            <a:avLst>
              <a:gd fmla="val 5000" name="adj"/>
            </a:avLst>
          </a:prstGeom>
          <a:solidFill>
            <a:srgbClr val="FEF2F2"/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OTA 배포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660"/>
              <a:buFont typeface="Arial"/>
              <a:buNone/>
            </a:pPr>
            <a:r>
              <a:rPr b="0" i="0" lang="en-US" sz="66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모델 → CMS API 푸시 → STB에서 핫스왑 적용 (현장 방문 없이 반영)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17"/>
          <p:cNvSpPr/>
          <p:nvPr/>
        </p:nvSpPr>
        <p:spPr>
          <a:xfrm>
            <a:off x="7798315" y="1791682"/>
            <a:ext cx="711200" cy="254000"/>
          </a:xfrm>
          <a:prstGeom prst="roundRect">
            <a:avLst>
              <a:gd fmla="val 8000" name="adj"/>
            </a:avLst>
          </a:prstGeom>
          <a:solidFill>
            <a:srgbClr val="FEF2F2"/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DC2626"/>
                </a:solidFill>
                <a:latin typeface="Noto Sans KR"/>
                <a:ea typeface="Noto Sans KR"/>
                <a:cs typeface="Noto Sans KR"/>
                <a:sym typeface="Noto Sans KR"/>
              </a:rPr>
              <a:t>UAT feedback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17"/>
          <p:cNvSpPr/>
          <p:nvPr/>
        </p:nvSpPr>
        <p:spPr>
          <a:xfrm>
            <a:off x="368815" y="3029138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3617CE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설계 결정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17"/>
          <p:cNvSpPr/>
          <p:nvPr/>
        </p:nvSpPr>
        <p:spPr>
          <a:xfrm>
            <a:off x="470415" y="3283138"/>
            <a:ext cx="807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•  공통 백본 구조: 프레임당 하나의 사람 검출 모델이 5개 AI 태스크 헤드에 공통 입력으로 사용됨. 제한된 STB 환경에서 5개의 병렬 모델 실행을 방지하여 성능 및 자원 효율을 확보함.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17"/>
          <p:cNvSpPr/>
          <p:nvPr/>
        </p:nvSpPr>
        <p:spPr>
          <a:xfrm>
            <a:off x="470415" y="3511738"/>
            <a:ext cx="807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•  트래킹 범위: 단일 카메라 기반 트래킹만 지원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17"/>
          <p:cNvSpPr/>
          <p:nvPr/>
        </p:nvSpPr>
        <p:spPr>
          <a:xfrm>
            <a:off x="470415" y="3740338"/>
            <a:ext cx="80772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000" lIns="36000" spcFirstLastPara="1" rIns="36000" wrap="square" tIns="1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•  역할 분담: SKT는 GPU 기반 학습 인프라를 제공하며, 실제 현장 영상 데이터, 비즈니스 규칙 및 수용 기준을 제공함.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1" name="Google Shape;87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25" y="4442300"/>
            <a:ext cx="835799" cy="536658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23"/>
          <p:cNvSpPr txBox="1"/>
          <p:nvPr/>
        </p:nvSpPr>
        <p:spPr>
          <a:xfrm>
            <a:off x="1164925" y="432200"/>
            <a:ext cx="21996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75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74" name="Google Shape;874;p23"/>
          <p:cNvSpPr txBox="1"/>
          <p:nvPr/>
        </p:nvSpPr>
        <p:spPr>
          <a:xfrm>
            <a:off x="329565" y="1503045"/>
            <a:ext cx="45186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DA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AI 비전</a:t>
            </a:r>
            <a:r>
              <a:rPr b="1" lang="en-US" sz="26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 처리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23"/>
          <p:cNvSpPr txBox="1"/>
          <p:nvPr/>
        </p:nvSpPr>
        <p:spPr>
          <a:xfrm>
            <a:off x="35112" y="4935783"/>
            <a:ext cx="4761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27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입력 및 수집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82" name="Google Shape;882;p27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83" name="Google Shape;883;p27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884" name="Google Shape;88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5" name="Google Shape;885;p27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6" name="Google Shape;886;p27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887" name="Google Shape;887;p27"/>
          <p:cNvCxnSpPr/>
          <p:nvPr/>
        </p:nvCxnSpPr>
        <p:spPr>
          <a:xfrm>
            <a:off x="291739" y="594501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8" name="Google Shape;888;p27"/>
          <p:cNvSpPr/>
          <p:nvPr/>
        </p:nvSpPr>
        <p:spPr>
          <a:xfrm>
            <a:off x="218587" y="667653"/>
            <a:ext cx="406908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89" name="Google Shape;889;p27"/>
          <p:cNvSpPr/>
          <p:nvPr/>
        </p:nvSpPr>
        <p:spPr>
          <a:xfrm>
            <a:off x="218587" y="667653"/>
            <a:ext cx="64008" cy="1920240"/>
          </a:xfrm>
          <a:prstGeom prst="rect">
            <a:avLst/>
          </a:prstGeom>
          <a:solidFill>
            <a:srgbClr val="0055A5"/>
          </a:solidFill>
          <a:ln cap="flat" cmpd="sng" w="12700">
            <a:solidFill>
              <a:srgbClr val="005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0" name="Google Shape;890;p27"/>
          <p:cNvSpPr/>
          <p:nvPr/>
        </p:nvSpPr>
        <p:spPr>
          <a:xfrm>
            <a:off x="355747" y="740805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A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55A5"/>
                </a:solidFill>
                <a:latin typeface="Noto Sans KR"/>
                <a:ea typeface="Noto Sans KR"/>
                <a:cs typeface="Noto Sans KR"/>
                <a:sym typeface="Noto Sans KR"/>
              </a:rPr>
              <a:t>카메라 설정 및 입력 사양</a:t>
            </a:r>
            <a:endParaRPr/>
          </a:p>
        </p:txBody>
      </p:sp>
      <p:sp>
        <p:nvSpPr>
          <p:cNvPr id="891" name="Google Shape;891;p27"/>
          <p:cNvSpPr/>
          <p:nvPr/>
        </p:nvSpPr>
        <p:spPr>
          <a:xfrm>
            <a:off x="355747" y="1015125"/>
            <a:ext cx="38862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5A5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55A5"/>
                </a:solidFill>
                <a:latin typeface="Noto Sans KR"/>
                <a:ea typeface="Noto Sans KR"/>
                <a:cs typeface="Noto Sans KR"/>
                <a:sym typeface="Noto Sans KR"/>
              </a:rPr>
              <a:t>▸ </a:t>
            </a:r>
            <a:r>
              <a:rPr b="0" i="0" lang="en-US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IP 카메라 / USB 카메라 · 해상도 ≥ 1080p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5A5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55A5"/>
                </a:solidFill>
                <a:latin typeface="Noto Sans KR"/>
                <a:ea typeface="Noto Sans KR"/>
                <a:cs typeface="Noto Sans KR"/>
                <a:sym typeface="Noto Sans KR"/>
              </a:rPr>
              <a:t>▸ </a:t>
            </a:r>
            <a:r>
              <a:rPr b="0" i="0" lang="en-US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프레임 레이트: 입력 30 FPS → 유효 10 FPS (3프레임당 1프레임 처리)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5A5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55A5"/>
                </a:solidFill>
                <a:latin typeface="Noto Sans KR"/>
                <a:ea typeface="Noto Sans KR"/>
                <a:cs typeface="Noto Sans KR"/>
                <a:sym typeface="Noto Sans KR"/>
              </a:rPr>
              <a:t>▸ </a:t>
            </a:r>
            <a:r>
              <a:rPr b="0" i="0" lang="en-US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인터페이스: USB 3.0 또는 LAN 기반 RTSP · 코덱: H.264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5A5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55A5"/>
                </a:solidFill>
                <a:latin typeface="Noto Sans KR"/>
                <a:ea typeface="Noto Sans KR"/>
                <a:cs typeface="Noto Sans KR"/>
                <a:sym typeface="Noto Sans KR"/>
              </a:rPr>
              <a:t>▸ </a:t>
            </a:r>
            <a:r>
              <a:rPr b="0" i="0" lang="en-US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FOV ≥ 90° (수평 기준) · 상부 설치(Overhead), 높이 2.5~4.0m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5A5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55A5"/>
                </a:solidFill>
                <a:latin typeface="Noto Sans KR"/>
                <a:ea typeface="Noto Sans KR"/>
                <a:cs typeface="Noto Sans KR"/>
                <a:sym typeface="Noto Sans KR"/>
              </a:rPr>
              <a:t>▸ </a:t>
            </a:r>
            <a:r>
              <a:rPr b="0" i="0" lang="en-US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수직 기준 30~60° 각도 · 저조도 환경을 위한 IR 옵션 지원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55A5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55A5"/>
                </a:solidFill>
                <a:latin typeface="Noto Sans KR"/>
                <a:ea typeface="Noto Sans KR"/>
                <a:cs typeface="Noto Sans KR"/>
                <a:sym typeface="Noto Sans KR"/>
              </a:rPr>
              <a:t>▸ </a:t>
            </a:r>
            <a:r>
              <a:rPr b="0" i="0" lang="en-US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ROI 영역: CMS Admin에서 폴리곤 형태로 설정 가능</a:t>
            </a:r>
            <a:endParaRPr/>
          </a:p>
        </p:txBody>
      </p:sp>
      <p:sp>
        <p:nvSpPr>
          <p:cNvPr id="892" name="Google Shape;892;p27"/>
          <p:cNvSpPr/>
          <p:nvPr/>
        </p:nvSpPr>
        <p:spPr>
          <a:xfrm>
            <a:off x="4452259" y="667653"/>
            <a:ext cx="4507992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3" name="Google Shape;893;p27"/>
          <p:cNvSpPr/>
          <p:nvPr/>
        </p:nvSpPr>
        <p:spPr>
          <a:xfrm>
            <a:off x="4452259" y="667653"/>
            <a:ext cx="64008" cy="1920240"/>
          </a:xfrm>
          <a:prstGeom prst="rect">
            <a:avLst/>
          </a:prstGeom>
          <a:solidFill>
            <a:srgbClr val="E8192C"/>
          </a:solidFill>
          <a:ln cap="flat" cmpd="sng" w="12700">
            <a:solidFill>
              <a:srgbClr val="E819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4" name="Google Shape;894;p27"/>
          <p:cNvSpPr/>
          <p:nvPr/>
        </p:nvSpPr>
        <p:spPr>
          <a:xfrm>
            <a:off x="4589419" y="740805"/>
            <a:ext cx="4325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192C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수집 전략 (학습용)</a:t>
            </a:r>
            <a:endParaRPr/>
          </a:p>
        </p:txBody>
      </p:sp>
      <p:sp>
        <p:nvSpPr>
          <p:cNvPr id="895" name="Google Shape;895;p27"/>
          <p:cNvSpPr/>
          <p:nvPr/>
        </p:nvSpPr>
        <p:spPr>
          <a:xfrm>
            <a:off x="4589419" y="1015125"/>
            <a:ext cx="4325112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8192C"/>
                </a:solidFill>
                <a:latin typeface="Noto Sans KR"/>
                <a:ea typeface="Noto Sans KR"/>
                <a:cs typeface="Noto Sans KR"/>
                <a:sym typeface="Noto Sans KR"/>
              </a:rPr>
              <a:t>▸ </a:t>
            </a:r>
            <a:r>
              <a:rPr b="0" i="0" lang="en-US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소스 1 (최우선): SKT 현장 실제 영상 ≥ 20시간, ≥ 3개 사이트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8192C"/>
                </a:solidFill>
                <a:latin typeface="Noto Sans KR"/>
                <a:ea typeface="Noto Sans KR"/>
                <a:cs typeface="Noto Sans KR"/>
                <a:sym typeface="Noto Sans KR"/>
              </a:rPr>
              <a:t>▸ </a:t>
            </a:r>
            <a:r>
              <a:rPr b="0" i="0" lang="en-US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소스 2 (대체): 공개 데이터셋 MOT17, MOT20, ShanghaiTech</a:t>
            </a:r>
            <a:endParaRPr b="0" i="0" sz="8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8192C"/>
                </a:solidFill>
                <a:latin typeface="Noto Sans KR"/>
                <a:ea typeface="Noto Sans KR"/>
                <a:cs typeface="Noto Sans KR"/>
                <a:sym typeface="Noto Sans KR"/>
              </a:rPr>
              <a:t>▸ </a:t>
            </a:r>
            <a:r>
              <a:rPr b="0" i="0" lang="en-US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소스 3 (증강): Flip, Jitter, Mixup, CutMix, 3D 시뮬레이션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8192C"/>
                </a:solidFill>
                <a:latin typeface="Noto Sans KR"/>
                <a:ea typeface="Noto Sans KR"/>
                <a:cs typeface="Noto Sans KR"/>
                <a:sym typeface="Noto Sans KR"/>
              </a:rPr>
              <a:t>▸ </a:t>
            </a:r>
            <a:r>
              <a:rPr b="0" i="0" lang="en-US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도구: Label Studio (Apache 2.0) — Self-hosted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8192C"/>
                </a:solidFill>
                <a:latin typeface="Noto Sans KR"/>
                <a:ea typeface="Noto Sans KR"/>
                <a:cs typeface="Noto Sans KR"/>
                <a:sym typeface="Noto Sans KR"/>
              </a:rPr>
              <a:t>▸ </a:t>
            </a:r>
            <a:r>
              <a:rPr b="0" i="0" lang="en-US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QA: 독립된 2명의 어노테이터 + IoU 기준 합의율 ≥ 90%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192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8192C"/>
                </a:solidFill>
                <a:latin typeface="Noto Sans KR"/>
                <a:ea typeface="Noto Sans KR"/>
                <a:cs typeface="Noto Sans KR"/>
                <a:sym typeface="Noto Sans KR"/>
              </a:rPr>
              <a:t>▸ </a:t>
            </a:r>
            <a:r>
              <a:rPr b="0" i="0" lang="en-US" sz="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분할: Train / Val / Test = 70 / 15 / 15 (Stratified)</a:t>
            </a:r>
            <a:endParaRPr/>
          </a:p>
        </p:txBody>
      </p:sp>
      <p:sp>
        <p:nvSpPr>
          <p:cNvPr id="896" name="Google Shape;896;p27"/>
          <p:cNvSpPr/>
          <p:nvPr/>
        </p:nvSpPr>
        <p:spPr>
          <a:xfrm>
            <a:off x="218587" y="2725053"/>
            <a:ext cx="87416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A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55A5"/>
                </a:solidFill>
                <a:latin typeface="Noto Sans KR"/>
                <a:ea typeface="Noto Sans KR"/>
                <a:cs typeface="Noto Sans KR"/>
                <a:sym typeface="Noto Sans KR"/>
              </a:rPr>
              <a:t>태스크별 데이터 요구사항</a:t>
            </a:r>
            <a:endParaRPr/>
          </a:p>
        </p:txBody>
      </p:sp>
      <p:graphicFrame>
        <p:nvGraphicFramePr>
          <p:cNvPr id="897" name="Google Shape;897;p27"/>
          <p:cNvGraphicFramePr/>
          <p:nvPr/>
        </p:nvGraphicFramePr>
        <p:xfrm>
          <a:off x="218587" y="29993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{DADF0DDE-AB03-4D68-9BCF-CF195295C8D4}</a:tableStyleId>
              </a:tblPr>
              <a:tblGrid>
                <a:gridCol w="2011675"/>
                <a:gridCol w="1463050"/>
                <a:gridCol w="1828800"/>
                <a:gridCol w="3438150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작업</a:t>
                      </a:r>
                      <a:endParaRPr b="1" sz="900" u="none" cap="none" strike="noStrike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최소 샘플 수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어노테이션 유형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주요 고려사항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5A5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인원 계수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10,000 images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BBox + count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20명 이상 군중 포함 필수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라인 통과 계수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5,000 clips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Trajectory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양방향(A→B 및 B→A) 모두 포함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객체 추적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8,000 sequences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Track ID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가림 상황 중요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머리 방향 / 시선 추정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6,000 images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Yaw / Pitch / Roll 각도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60° 이상의 extreme 각도 포함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체류 시간</a:t>
                      </a:r>
                      <a:endParaRPr sz="850" u="none" cap="none" strike="noStrike">
                        <a:solidFill>
                          <a:srgbClr val="1E293B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Derived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Tracking 결과 기반 (별도 학습 없음)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2" name="Google Shape;90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30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파이프라인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4" name="Google Shape;904;p30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5" name="Google Shape;905;p30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06" name="Google Shape;90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7" name="Google Shape;907;p30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8" name="Google Shape;908;p30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909" name="Google Shape;909;p30"/>
          <p:cNvCxnSpPr/>
          <p:nvPr/>
        </p:nvCxnSpPr>
        <p:spPr>
          <a:xfrm>
            <a:off x="274320" y="586293"/>
            <a:ext cx="8321040" cy="0"/>
          </a:xfrm>
          <a:prstGeom prst="straightConnector1">
            <a:avLst/>
          </a:prstGeom>
          <a:noFill/>
          <a:ln cap="flat" cmpd="sng" w="101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10" name="Google Shape;910;p30"/>
          <p:cNvGrpSpPr/>
          <p:nvPr/>
        </p:nvGrpSpPr>
        <p:grpSpPr>
          <a:xfrm>
            <a:off x="274320" y="570527"/>
            <a:ext cx="8595360" cy="4023360"/>
            <a:chOff x="201168" y="749808"/>
            <a:chExt cx="8595360" cy="4023360"/>
          </a:xfrm>
        </p:grpSpPr>
        <p:sp>
          <p:nvSpPr>
            <p:cNvPr id="911" name="Google Shape;911;p30"/>
            <p:cNvSpPr/>
            <p:nvPr/>
          </p:nvSpPr>
          <p:spPr>
            <a:xfrm>
              <a:off x="201168" y="749808"/>
              <a:ext cx="2743200" cy="192024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12" name="Google Shape;912;p30"/>
            <p:cNvSpPr/>
            <p:nvPr/>
          </p:nvSpPr>
          <p:spPr>
            <a:xfrm>
              <a:off x="201168" y="749808"/>
              <a:ext cx="457200" cy="365760"/>
            </a:xfrm>
            <a:prstGeom prst="rect">
              <a:avLst/>
            </a:prstGeom>
            <a:solidFill>
              <a:srgbClr val="0055A5"/>
            </a:solidFill>
            <a:ln cap="flat" cmpd="sng" w="12700">
              <a:solidFill>
                <a:srgbClr val="005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13" name="Google Shape;913;p30"/>
            <p:cNvSpPr/>
            <p:nvPr/>
          </p:nvSpPr>
          <p:spPr>
            <a:xfrm>
              <a:off x="201168" y="749808"/>
              <a:ext cx="4572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</a:t>
              </a:r>
              <a:endParaRPr/>
            </a:p>
          </p:txBody>
        </p:sp>
        <p:sp>
          <p:nvSpPr>
            <p:cNvPr id="914" name="Google Shape;914;p30"/>
            <p:cNvSpPr/>
            <p:nvPr/>
          </p:nvSpPr>
          <p:spPr>
            <a:xfrm>
              <a:off x="731520" y="813816"/>
              <a:ext cx="21488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1000"/>
                <a:buFont typeface="Calibri"/>
                <a:buNone/>
              </a:pPr>
              <a:r>
                <a:rPr b="1" i="0" lang="en-US" sz="1000" u="none" cap="none" strike="noStrike">
                  <a:solidFill>
                    <a:srgbClr val="0055A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 준비</a:t>
              </a:r>
              <a:endParaRPr/>
            </a:p>
          </p:txBody>
        </p:sp>
        <p:cxnSp>
          <p:nvCxnSpPr>
            <p:cNvPr id="915" name="Google Shape;915;p30"/>
            <p:cNvCxnSpPr/>
            <p:nvPr/>
          </p:nvCxnSpPr>
          <p:spPr>
            <a:xfrm>
              <a:off x="292608" y="1143000"/>
              <a:ext cx="2560320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16" name="Google Shape;916;p30"/>
            <p:cNvSpPr/>
            <p:nvPr/>
          </p:nvSpPr>
          <p:spPr>
            <a:xfrm>
              <a:off x="292608" y="1207008"/>
              <a:ext cx="256032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85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어노테이션 IoU ≥ 90% 검증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85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Normalize → 640×640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85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 분할: 70 / 15 / 15 (Stratified)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85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 증강: Flip, Jitter, Mixup</a:t>
              </a:r>
              <a:endParaRPr/>
            </a:p>
          </p:txBody>
        </p:sp>
        <p:sp>
          <p:nvSpPr>
            <p:cNvPr id="917" name="Google Shape;917;p30"/>
            <p:cNvSpPr/>
            <p:nvPr/>
          </p:nvSpPr>
          <p:spPr>
            <a:xfrm>
              <a:off x="3127248" y="749808"/>
              <a:ext cx="2743200" cy="192024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18" name="Google Shape;918;p30"/>
            <p:cNvSpPr/>
            <p:nvPr/>
          </p:nvSpPr>
          <p:spPr>
            <a:xfrm>
              <a:off x="3127248" y="749808"/>
              <a:ext cx="457200" cy="365760"/>
            </a:xfrm>
            <a:prstGeom prst="rect">
              <a:avLst/>
            </a:prstGeom>
            <a:solidFill>
              <a:srgbClr val="003D7A"/>
            </a:solidFill>
            <a:ln cap="flat" cmpd="sng" w="12700">
              <a:solidFill>
                <a:srgbClr val="003D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19" name="Google Shape;919;p30"/>
            <p:cNvSpPr/>
            <p:nvPr/>
          </p:nvSpPr>
          <p:spPr>
            <a:xfrm>
              <a:off x="3127248" y="749808"/>
              <a:ext cx="4572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</a:t>
              </a:r>
              <a:endParaRPr/>
            </a:p>
          </p:txBody>
        </p:sp>
        <p:sp>
          <p:nvSpPr>
            <p:cNvPr id="920" name="Google Shape;920;p30"/>
            <p:cNvSpPr/>
            <p:nvPr/>
          </p:nvSpPr>
          <p:spPr>
            <a:xfrm>
              <a:off x="3657600" y="813816"/>
              <a:ext cx="21488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D7A"/>
                </a:buClr>
                <a:buSzPts val="1000"/>
                <a:buFont typeface="Calibri"/>
                <a:buNone/>
              </a:pPr>
              <a:r>
                <a:rPr b="1" i="0" lang="en-US" sz="1000" u="none" cap="none" strike="noStrike">
                  <a:solidFill>
                    <a:srgbClr val="003D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모델 설계</a:t>
              </a:r>
              <a:endParaRPr/>
            </a:p>
          </p:txBody>
        </p:sp>
        <p:cxnSp>
          <p:nvCxnSpPr>
            <p:cNvPr id="921" name="Google Shape;921;p30"/>
            <p:cNvCxnSpPr/>
            <p:nvPr/>
          </p:nvCxnSpPr>
          <p:spPr>
            <a:xfrm>
              <a:off x="3218688" y="1143000"/>
              <a:ext cx="2560320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22" name="Google Shape;922;p30"/>
            <p:cNvSpPr/>
            <p:nvPr/>
          </p:nvSpPr>
          <p:spPr>
            <a:xfrm>
              <a:off x="3218688" y="1207008"/>
              <a:ext cx="256032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85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Backbone 선택 (MobileNetV3, EfficientDet 등)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85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Task head 정의: Counting, Line Crossing, Tracking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85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Pose (옵션)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85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멀티태스크 아키텍처 설계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85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Loss 함수 설계: Detection loss, Tracking loss, Multi-task weighting</a:t>
              </a:r>
              <a:endParaRPr/>
            </a:p>
          </p:txBody>
        </p:sp>
        <p:sp>
          <p:nvSpPr>
            <p:cNvPr id="923" name="Google Shape;923;p30"/>
            <p:cNvSpPr/>
            <p:nvPr/>
          </p:nvSpPr>
          <p:spPr>
            <a:xfrm>
              <a:off x="6053328" y="749808"/>
              <a:ext cx="2743200" cy="192024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850"/>
                <a:buFont typeface="Calibri"/>
                <a:buNone/>
              </a:pPr>
              <a:r>
                <a:t/>
              </a:r>
              <a:endParaRPr b="0" i="0" sz="8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24" name="Google Shape;924;p30"/>
            <p:cNvSpPr/>
            <p:nvPr/>
          </p:nvSpPr>
          <p:spPr>
            <a:xfrm>
              <a:off x="6053328" y="749808"/>
              <a:ext cx="457200" cy="365760"/>
            </a:xfrm>
            <a:prstGeom prst="rect">
              <a:avLst/>
            </a:prstGeom>
            <a:solidFill>
              <a:srgbClr val="0055A5"/>
            </a:solidFill>
            <a:ln cap="flat" cmpd="sng" w="12700">
              <a:solidFill>
                <a:srgbClr val="005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25" name="Google Shape;925;p30"/>
            <p:cNvSpPr/>
            <p:nvPr/>
          </p:nvSpPr>
          <p:spPr>
            <a:xfrm>
              <a:off x="6053328" y="749808"/>
              <a:ext cx="4572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</a:t>
              </a:r>
              <a:endParaRPr/>
            </a:p>
          </p:txBody>
        </p:sp>
        <p:sp>
          <p:nvSpPr>
            <p:cNvPr id="926" name="Google Shape;926;p30"/>
            <p:cNvSpPr/>
            <p:nvPr/>
          </p:nvSpPr>
          <p:spPr>
            <a:xfrm>
              <a:off x="6583680" y="813816"/>
              <a:ext cx="21488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1000"/>
                <a:buFont typeface="Calibri"/>
                <a:buNone/>
              </a:pPr>
              <a:r>
                <a:rPr b="1" i="0" lang="en-US" sz="1000" u="none" cap="none" strike="noStrike">
                  <a:solidFill>
                    <a:srgbClr val="0055A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학습</a:t>
              </a:r>
              <a:endParaRPr/>
            </a:p>
          </p:txBody>
        </p:sp>
        <p:cxnSp>
          <p:nvCxnSpPr>
            <p:cNvPr id="927" name="Google Shape;927;p30"/>
            <p:cNvCxnSpPr/>
            <p:nvPr/>
          </p:nvCxnSpPr>
          <p:spPr>
            <a:xfrm>
              <a:off x="6144768" y="1143000"/>
              <a:ext cx="2560320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28" name="Google Shape;928;p30"/>
            <p:cNvSpPr/>
            <p:nvPr/>
          </p:nvSpPr>
          <p:spPr>
            <a:xfrm>
              <a:off x="6144768" y="1207008"/>
              <a:ext cx="256032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85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사전학습 가중치 로드 (ImageNet / COCO)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85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학습 전략: Backbone Freeze → Head 학습 → Unfreeze 후 전체 Fine-tuning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85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하이퍼파라미터: Optimizer(AdamW), LR 스케줄(cosine / step)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85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Epoch: 100~200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85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Early stopping / Checkpoint</a:t>
              </a:r>
              <a:endParaRPr/>
            </a:p>
          </p:txBody>
        </p:sp>
        <p:sp>
          <p:nvSpPr>
            <p:cNvPr id="929" name="Google Shape;929;p30"/>
            <p:cNvSpPr/>
            <p:nvPr/>
          </p:nvSpPr>
          <p:spPr>
            <a:xfrm>
              <a:off x="201168" y="2852928"/>
              <a:ext cx="2743200" cy="192024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30" name="Google Shape;930;p30"/>
            <p:cNvSpPr/>
            <p:nvPr/>
          </p:nvSpPr>
          <p:spPr>
            <a:xfrm>
              <a:off x="201168" y="2852928"/>
              <a:ext cx="457200" cy="365760"/>
            </a:xfrm>
            <a:prstGeom prst="rect">
              <a:avLst/>
            </a:prstGeom>
            <a:solidFill>
              <a:srgbClr val="003D7A"/>
            </a:solidFill>
            <a:ln cap="flat" cmpd="sng" w="12700">
              <a:solidFill>
                <a:srgbClr val="003D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31" name="Google Shape;931;p30"/>
            <p:cNvSpPr/>
            <p:nvPr/>
          </p:nvSpPr>
          <p:spPr>
            <a:xfrm>
              <a:off x="201168" y="2852928"/>
              <a:ext cx="4572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</a:t>
              </a:r>
              <a:endParaRPr/>
            </a:p>
          </p:txBody>
        </p:sp>
        <p:sp>
          <p:nvSpPr>
            <p:cNvPr id="932" name="Google Shape;932;p30"/>
            <p:cNvSpPr/>
            <p:nvPr/>
          </p:nvSpPr>
          <p:spPr>
            <a:xfrm>
              <a:off x="731520" y="2916936"/>
              <a:ext cx="21488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D7A"/>
                </a:buClr>
                <a:buSzPts val="1000"/>
                <a:buFont typeface="Calibri"/>
                <a:buNone/>
              </a:pPr>
              <a:r>
                <a:rPr b="1" i="0" lang="en-US" sz="1000" u="none" cap="none" strike="noStrike">
                  <a:solidFill>
                    <a:srgbClr val="003D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평가</a:t>
              </a:r>
              <a:endParaRPr/>
            </a:p>
          </p:txBody>
        </p:sp>
        <p:cxnSp>
          <p:nvCxnSpPr>
            <p:cNvPr id="933" name="Google Shape;933;p30"/>
            <p:cNvCxnSpPr/>
            <p:nvPr/>
          </p:nvCxnSpPr>
          <p:spPr>
            <a:xfrm>
              <a:off x="292608" y="3246120"/>
              <a:ext cx="2560320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34" name="Google Shape;934;p30"/>
            <p:cNvSpPr/>
            <p:nvPr/>
          </p:nvSpPr>
          <p:spPr>
            <a:xfrm>
              <a:off x="292608" y="3310128"/>
              <a:ext cx="256032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Counting MAE ≤ 10%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Line crossing F1 ≥ 0.9</a:t>
              </a:r>
              <a:endParaRPr b="0" i="0" sz="8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Tracking: MOTA / IDF1</a:t>
              </a:r>
              <a:endParaRPr b="0" i="0" sz="8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Pose MAE MAE ≤ 20°</a:t>
              </a:r>
              <a:endParaRPr b="0" i="0" sz="8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Cross-validation / 실환경 테스트</a:t>
              </a:r>
              <a:endParaRPr/>
            </a:p>
          </p:txBody>
        </p:sp>
        <p:sp>
          <p:nvSpPr>
            <p:cNvPr id="935" name="Google Shape;935;p30"/>
            <p:cNvSpPr/>
            <p:nvPr/>
          </p:nvSpPr>
          <p:spPr>
            <a:xfrm>
              <a:off x="3127248" y="2852928"/>
              <a:ext cx="2743200" cy="192024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36" name="Google Shape;936;p30"/>
            <p:cNvSpPr/>
            <p:nvPr/>
          </p:nvSpPr>
          <p:spPr>
            <a:xfrm>
              <a:off x="3127248" y="2852928"/>
              <a:ext cx="457200" cy="365760"/>
            </a:xfrm>
            <a:prstGeom prst="rect">
              <a:avLst/>
            </a:prstGeom>
            <a:solidFill>
              <a:srgbClr val="0055A5"/>
            </a:solidFill>
            <a:ln cap="flat" cmpd="sng" w="12700">
              <a:solidFill>
                <a:srgbClr val="005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37" name="Google Shape;937;p30"/>
            <p:cNvSpPr/>
            <p:nvPr/>
          </p:nvSpPr>
          <p:spPr>
            <a:xfrm>
              <a:off x="3127248" y="2852928"/>
              <a:ext cx="4572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5</a:t>
              </a:r>
              <a:endParaRPr/>
            </a:p>
          </p:txBody>
        </p:sp>
        <p:sp>
          <p:nvSpPr>
            <p:cNvPr id="938" name="Google Shape;938;p30"/>
            <p:cNvSpPr/>
            <p:nvPr/>
          </p:nvSpPr>
          <p:spPr>
            <a:xfrm>
              <a:off x="3657600" y="2916936"/>
              <a:ext cx="21488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1000"/>
                <a:buFont typeface="Calibri"/>
                <a:buNone/>
              </a:pPr>
              <a:r>
                <a:rPr b="1" i="0" lang="en-US" sz="1000" u="none" cap="none" strike="noStrike">
                  <a:solidFill>
                    <a:srgbClr val="0055A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최적화</a:t>
              </a:r>
              <a:endParaRPr/>
            </a:p>
          </p:txBody>
        </p:sp>
        <p:cxnSp>
          <p:nvCxnSpPr>
            <p:cNvPr id="939" name="Google Shape;939;p30"/>
            <p:cNvCxnSpPr/>
            <p:nvPr/>
          </p:nvCxnSpPr>
          <p:spPr>
            <a:xfrm>
              <a:off x="3218688" y="3246120"/>
              <a:ext cx="2560320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0" name="Google Shape;940;p30"/>
            <p:cNvSpPr/>
            <p:nvPr/>
          </p:nvSpPr>
          <p:spPr>
            <a:xfrm>
              <a:off x="3218688" y="3310128"/>
              <a:ext cx="256032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모델 프루닝 (옵션)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FP32 → INT8 변환 (TFLite / ONNX / RKNN 등)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Calibration dataset 적용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정확도 감소 ≤ 2%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Edge 성능 벤치마크 (Latency / FPS)</a:t>
              </a:r>
              <a:endParaRPr/>
            </a:p>
          </p:txBody>
        </p:sp>
        <p:sp>
          <p:nvSpPr>
            <p:cNvPr id="941" name="Google Shape;941;p30"/>
            <p:cNvSpPr/>
            <p:nvPr/>
          </p:nvSpPr>
          <p:spPr>
            <a:xfrm>
              <a:off x="6053328" y="2852928"/>
              <a:ext cx="2743200" cy="192024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42" name="Google Shape;942;p30"/>
            <p:cNvSpPr/>
            <p:nvPr/>
          </p:nvSpPr>
          <p:spPr>
            <a:xfrm>
              <a:off x="6053328" y="2852928"/>
              <a:ext cx="457200" cy="365760"/>
            </a:xfrm>
            <a:prstGeom prst="rect">
              <a:avLst/>
            </a:prstGeom>
            <a:solidFill>
              <a:srgbClr val="0055A5"/>
            </a:solidFill>
            <a:ln cap="flat" cmpd="sng" w="12700">
              <a:solidFill>
                <a:srgbClr val="0052A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43" name="Google Shape;943;p30"/>
            <p:cNvSpPr/>
            <p:nvPr/>
          </p:nvSpPr>
          <p:spPr>
            <a:xfrm>
              <a:off x="6053328" y="2852928"/>
              <a:ext cx="4572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6</a:t>
              </a:r>
              <a:endParaRPr/>
            </a:p>
          </p:txBody>
        </p:sp>
        <p:sp>
          <p:nvSpPr>
            <p:cNvPr id="944" name="Google Shape;944;p30"/>
            <p:cNvSpPr/>
            <p:nvPr/>
          </p:nvSpPr>
          <p:spPr>
            <a:xfrm>
              <a:off x="6583680" y="2916936"/>
              <a:ext cx="2148840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192C"/>
                </a:buClr>
                <a:buSzPts val="1000"/>
                <a:buFont typeface="Calibri"/>
                <a:buNone/>
              </a:pPr>
              <a:r>
                <a:rPr b="1" i="0" lang="en-US" sz="1000" u="none" cap="none" strike="noStrike">
                  <a:solidFill>
                    <a:srgbClr val="0052A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배포</a:t>
              </a:r>
              <a:endParaRPr/>
            </a:p>
          </p:txBody>
        </p:sp>
        <p:cxnSp>
          <p:nvCxnSpPr>
            <p:cNvPr id="945" name="Google Shape;945;p30"/>
            <p:cNvCxnSpPr/>
            <p:nvPr/>
          </p:nvCxnSpPr>
          <p:spPr>
            <a:xfrm>
              <a:off x="6144768" y="3246120"/>
              <a:ext cx="2560320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46" name="Google Shape;946;p30"/>
            <p:cNvSpPr/>
            <p:nvPr/>
          </p:nvSpPr>
          <p:spPr>
            <a:xfrm>
              <a:off x="6144768" y="3310128"/>
              <a:ext cx="2560320" cy="13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모델 파일 (INT8)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메타데이터 (라벨, threshold 등)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버전 관리 및 롤백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OTA 업데이트</a:t>
              </a:r>
              <a:endParaRPr/>
            </a:p>
            <a:p>
              <a:pPr indent="-171450" lvl="0" marL="1714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Char char="•"/>
              </a:pPr>
              <a:r>
                <a:rPr b="0" i="0" lang="en-US" sz="85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CMS 연동</a:t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1" name="Google Shape;95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31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 및 출력 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1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4" name="Google Shape;954;p31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55" name="Google Shape;95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6" name="Google Shape;956;p31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7" name="Google Shape;957;p31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958" name="Google Shape;958;p31"/>
          <p:cNvGrpSpPr/>
          <p:nvPr/>
        </p:nvGrpSpPr>
        <p:grpSpPr>
          <a:xfrm>
            <a:off x="303596" y="687943"/>
            <a:ext cx="8321040" cy="3668511"/>
            <a:chOff x="201168" y="749808"/>
            <a:chExt cx="8705088" cy="4005072"/>
          </a:xfrm>
        </p:grpSpPr>
        <p:sp>
          <p:nvSpPr>
            <p:cNvPr id="959" name="Google Shape;959;p31"/>
            <p:cNvSpPr/>
            <p:nvPr/>
          </p:nvSpPr>
          <p:spPr>
            <a:xfrm>
              <a:off x="201168" y="749808"/>
              <a:ext cx="1664208" cy="400507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60" name="Google Shape;960;p31"/>
            <p:cNvSpPr/>
            <p:nvPr/>
          </p:nvSpPr>
          <p:spPr>
            <a:xfrm>
              <a:off x="201168" y="749808"/>
              <a:ext cx="1664208" cy="457200"/>
            </a:xfrm>
            <a:prstGeom prst="rect">
              <a:avLst/>
            </a:prstGeom>
            <a:solidFill>
              <a:srgbClr val="0055A5"/>
            </a:solidFill>
            <a:ln cap="flat" cmpd="sng" w="12700">
              <a:solidFill>
                <a:srgbClr val="005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61" name="Google Shape;961;p31"/>
            <p:cNvSpPr/>
            <p:nvPr/>
          </p:nvSpPr>
          <p:spPr>
            <a:xfrm>
              <a:off x="201168" y="749808"/>
              <a:ext cx="2926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</a:t>
              </a:r>
              <a:endParaRPr/>
            </a:p>
          </p:txBody>
        </p:sp>
        <p:sp>
          <p:nvSpPr>
            <p:cNvPr id="962" name="Google Shape;962;p31"/>
            <p:cNvSpPr/>
            <p:nvPr/>
          </p:nvSpPr>
          <p:spPr>
            <a:xfrm>
              <a:off x="521208" y="749808"/>
              <a:ext cx="1316736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Calibri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사람 수 집계</a:t>
              </a:r>
              <a:endParaRPr/>
            </a:p>
          </p:txBody>
        </p:sp>
        <p:sp>
          <p:nvSpPr>
            <p:cNvPr id="963" name="Google Shape;963;p31"/>
            <p:cNvSpPr/>
            <p:nvPr/>
          </p:nvSpPr>
          <p:spPr>
            <a:xfrm>
              <a:off x="292608" y="1280160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0055A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알고리즘</a:t>
              </a:r>
              <a:endParaRPr/>
            </a:p>
          </p:txBody>
        </p:sp>
        <p:sp>
          <p:nvSpPr>
            <p:cNvPr id="964" name="Google Shape;964;p31"/>
            <p:cNvSpPr/>
            <p:nvPr/>
          </p:nvSpPr>
          <p:spPr>
            <a:xfrm>
              <a:off x="292608" y="1463040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CSRNet / Density map → sum = count</a:t>
              </a:r>
              <a:endParaRPr/>
            </a:p>
          </p:txBody>
        </p:sp>
        <p:cxnSp>
          <p:nvCxnSpPr>
            <p:cNvPr id="965" name="Google Shape;965;p31"/>
            <p:cNvCxnSpPr/>
            <p:nvPr/>
          </p:nvCxnSpPr>
          <p:spPr>
            <a:xfrm>
              <a:off x="292608" y="2075688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6" name="Google Shape;966;p31"/>
            <p:cNvSpPr/>
            <p:nvPr/>
          </p:nvSpPr>
          <p:spPr>
            <a:xfrm>
              <a:off x="292608" y="2121408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0055A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출력값</a:t>
              </a:r>
              <a:endParaRPr/>
            </a:p>
          </p:txBody>
        </p:sp>
        <p:sp>
          <p:nvSpPr>
            <p:cNvPr id="967" name="Google Shape;967;p31"/>
            <p:cNvSpPr/>
            <p:nvPr/>
          </p:nvSpPr>
          <p:spPr>
            <a:xfrm>
              <a:off x="292608" y="2304288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count_total, count_roi, confidence</a:t>
              </a:r>
              <a:endParaRPr/>
            </a:p>
          </p:txBody>
        </p:sp>
        <p:cxnSp>
          <p:nvCxnSpPr>
            <p:cNvPr id="968" name="Google Shape;968;p31"/>
            <p:cNvCxnSpPr/>
            <p:nvPr/>
          </p:nvCxnSpPr>
          <p:spPr>
            <a:xfrm>
              <a:off x="292608" y="2916936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9" name="Google Shape;969;p31"/>
            <p:cNvSpPr/>
            <p:nvPr/>
          </p:nvSpPr>
          <p:spPr>
            <a:xfrm>
              <a:off x="292608" y="2962656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0055A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정확도</a:t>
              </a:r>
              <a:endParaRPr/>
            </a:p>
          </p:txBody>
        </p:sp>
        <p:sp>
          <p:nvSpPr>
            <p:cNvPr id="970" name="Google Shape;970;p31"/>
            <p:cNvSpPr/>
            <p:nvPr/>
          </p:nvSpPr>
          <p:spPr>
            <a:xfrm>
              <a:off x="292608" y="3145536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MAE ≤ 10%</a:t>
              </a:r>
              <a:endParaRPr/>
            </a:p>
          </p:txBody>
        </p:sp>
        <p:cxnSp>
          <p:nvCxnSpPr>
            <p:cNvPr id="971" name="Google Shape;971;p31"/>
            <p:cNvCxnSpPr/>
            <p:nvPr/>
          </p:nvCxnSpPr>
          <p:spPr>
            <a:xfrm>
              <a:off x="292608" y="3758184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72" name="Google Shape;972;p31"/>
            <p:cNvSpPr/>
            <p:nvPr/>
          </p:nvSpPr>
          <p:spPr>
            <a:xfrm>
              <a:off x="292608" y="3803904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0055A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엣지 케이스</a:t>
              </a:r>
              <a:endParaRPr/>
            </a:p>
          </p:txBody>
        </p:sp>
        <p:sp>
          <p:nvSpPr>
            <p:cNvPr id="973" name="Google Shape;973;p31"/>
            <p:cNvSpPr/>
            <p:nvPr/>
          </p:nvSpPr>
          <p:spPr>
            <a:xfrm>
              <a:off x="292608" y="3986784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Crowd &gt; 30 → 슬라이딩 윈도우 처리</a:t>
              </a:r>
              <a:endParaRPr/>
            </a:p>
          </p:txBody>
        </p:sp>
        <p:cxnSp>
          <p:nvCxnSpPr>
            <p:cNvPr id="974" name="Google Shape;974;p31"/>
            <p:cNvCxnSpPr/>
            <p:nvPr/>
          </p:nvCxnSpPr>
          <p:spPr>
            <a:xfrm>
              <a:off x="292608" y="4599432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75" name="Google Shape;975;p31"/>
            <p:cNvSpPr/>
            <p:nvPr/>
          </p:nvSpPr>
          <p:spPr>
            <a:xfrm>
              <a:off x="292608" y="4289436"/>
              <a:ext cx="1481328" cy="438912"/>
            </a:xfrm>
            <a:prstGeom prst="rect">
              <a:avLst/>
            </a:prstGeom>
            <a:solidFill>
              <a:srgbClr val="E8F0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76" name="Google Shape;976;p31"/>
            <p:cNvSpPr/>
            <p:nvPr/>
          </p:nvSpPr>
          <p:spPr>
            <a:xfrm>
              <a:off x="320040" y="4307724"/>
              <a:ext cx="1435608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700"/>
                <a:buFont typeface="Consolas"/>
                <a:buNone/>
              </a:pPr>
              <a:r>
                <a:rPr b="0" i="0" lang="en-US" sz="700" u="none" cap="none" strike="noStrike">
                  <a:solidFill>
                    <a:srgbClr val="0055A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{ "task": "people", ... }</a:t>
              </a:r>
              <a:endParaRPr/>
            </a:p>
          </p:txBody>
        </p:sp>
        <p:sp>
          <p:nvSpPr>
            <p:cNvPr id="977" name="Google Shape;977;p31"/>
            <p:cNvSpPr/>
            <p:nvPr/>
          </p:nvSpPr>
          <p:spPr>
            <a:xfrm>
              <a:off x="1961388" y="749808"/>
              <a:ext cx="1664208" cy="400507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78" name="Google Shape;978;p31"/>
            <p:cNvSpPr/>
            <p:nvPr/>
          </p:nvSpPr>
          <p:spPr>
            <a:xfrm>
              <a:off x="1961388" y="749808"/>
              <a:ext cx="1664208" cy="457200"/>
            </a:xfrm>
            <a:prstGeom prst="rect">
              <a:avLst/>
            </a:prstGeom>
            <a:solidFill>
              <a:srgbClr val="E8192C"/>
            </a:solidFill>
            <a:ln cap="flat" cmpd="sng" w="12700">
              <a:solidFill>
                <a:srgbClr val="E8192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79" name="Google Shape;979;p31"/>
            <p:cNvSpPr/>
            <p:nvPr/>
          </p:nvSpPr>
          <p:spPr>
            <a:xfrm>
              <a:off x="1961388" y="749808"/>
              <a:ext cx="2926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</a:t>
              </a:r>
              <a:endParaRPr/>
            </a:p>
          </p:txBody>
        </p:sp>
        <p:sp>
          <p:nvSpPr>
            <p:cNvPr id="980" name="Google Shape;980;p31"/>
            <p:cNvSpPr/>
            <p:nvPr/>
          </p:nvSpPr>
          <p:spPr>
            <a:xfrm>
              <a:off x="2281428" y="749808"/>
              <a:ext cx="1316736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Calibri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라인 통과 감지</a:t>
              </a:r>
              <a:endParaRPr/>
            </a:p>
          </p:txBody>
        </p:sp>
        <p:sp>
          <p:nvSpPr>
            <p:cNvPr id="981" name="Google Shape;981;p31"/>
            <p:cNvSpPr/>
            <p:nvPr/>
          </p:nvSpPr>
          <p:spPr>
            <a:xfrm>
              <a:off x="2052828" y="1280160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192C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E8192C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알고리즘</a:t>
              </a:r>
              <a:endParaRPr/>
            </a:p>
          </p:txBody>
        </p:sp>
        <p:sp>
          <p:nvSpPr>
            <p:cNvPr id="982" name="Google Shape;982;p31"/>
            <p:cNvSpPr/>
            <p:nvPr/>
          </p:nvSpPr>
          <p:spPr>
            <a:xfrm>
              <a:off x="2052828" y="1463040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Detect → Track → Cross-product direction check</a:t>
              </a:r>
              <a:endParaRPr/>
            </a:p>
          </p:txBody>
        </p:sp>
        <p:cxnSp>
          <p:nvCxnSpPr>
            <p:cNvPr id="983" name="Google Shape;983;p31"/>
            <p:cNvCxnSpPr/>
            <p:nvPr/>
          </p:nvCxnSpPr>
          <p:spPr>
            <a:xfrm>
              <a:off x="2052828" y="2075688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84" name="Google Shape;984;p31"/>
            <p:cNvSpPr/>
            <p:nvPr/>
          </p:nvSpPr>
          <p:spPr>
            <a:xfrm>
              <a:off x="2052828" y="2121408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192C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E8192C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출력값</a:t>
              </a:r>
              <a:endParaRPr/>
            </a:p>
          </p:txBody>
        </p:sp>
        <p:sp>
          <p:nvSpPr>
            <p:cNvPr id="985" name="Google Shape;985;p31"/>
            <p:cNvSpPr/>
            <p:nvPr/>
          </p:nvSpPr>
          <p:spPr>
            <a:xfrm>
              <a:off x="2052828" y="2304288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direction: A_to_B | B_to_A, cumulative</a:t>
              </a:r>
              <a:endParaRPr/>
            </a:p>
          </p:txBody>
        </p:sp>
        <p:cxnSp>
          <p:nvCxnSpPr>
            <p:cNvPr id="986" name="Google Shape;986;p31"/>
            <p:cNvCxnSpPr/>
            <p:nvPr/>
          </p:nvCxnSpPr>
          <p:spPr>
            <a:xfrm>
              <a:off x="2052828" y="2916936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87" name="Google Shape;987;p31"/>
            <p:cNvSpPr/>
            <p:nvPr/>
          </p:nvSpPr>
          <p:spPr>
            <a:xfrm>
              <a:off x="2052828" y="2962656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192C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E8192C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정확도</a:t>
              </a:r>
              <a:endParaRPr/>
            </a:p>
          </p:txBody>
        </p:sp>
        <p:sp>
          <p:nvSpPr>
            <p:cNvPr id="988" name="Google Shape;988;p31"/>
            <p:cNvSpPr/>
            <p:nvPr/>
          </p:nvSpPr>
          <p:spPr>
            <a:xfrm>
              <a:off x="2052828" y="3145536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Precision &amp; Recall ≥ 90%</a:t>
              </a:r>
              <a:endParaRPr/>
            </a:p>
          </p:txBody>
        </p:sp>
        <p:cxnSp>
          <p:nvCxnSpPr>
            <p:cNvPr id="989" name="Google Shape;989;p31"/>
            <p:cNvCxnSpPr/>
            <p:nvPr/>
          </p:nvCxnSpPr>
          <p:spPr>
            <a:xfrm>
              <a:off x="2052828" y="3758184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90" name="Google Shape;990;p31"/>
            <p:cNvSpPr/>
            <p:nvPr/>
          </p:nvSpPr>
          <p:spPr>
            <a:xfrm>
              <a:off x="2052828" y="3803904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192C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E8192C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엣지 케이스</a:t>
              </a:r>
              <a:endParaRPr/>
            </a:p>
          </p:txBody>
        </p:sp>
        <p:sp>
          <p:nvSpPr>
            <p:cNvPr id="991" name="Google Shape;991;p31"/>
            <p:cNvSpPr/>
            <p:nvPr/>
          </p:nvSpPr>
          <p:spPr>
            <a:xfrm>
              <a:off x="2052828" y="3986784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Debounce ≥ 5 frames, per track_id</a:t>
              </a:r>
              <a:endParaRPr/>
            </a:p>
          </p:txBody>
        </p:sp>
        <p:cxnSp>
          <p:nvCxnSpPr>
            <p:cNvPr id="992" name="Google Shape;992;p31"/>
            <p:cNvCxnSpPr/>
            <p:nvPr/>
          </p:nvCxnSpPr>
          <p:spPr>
            <a:xfrm>
              <a:off x="2052828" y="4599432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93" name="Google Shape;993;p31"/>
            <p:cNvSpPr/>
            <p:nvPr/>
          </p:nvSpPr>
          <p:spPr>
            <a:xfrm>
              <a:off x="2052828" y="4289436"/>
              <a:ext cx="1481328" cy="438912"/>
            </a:xfrm>
            <a:prstGeom prst="rect">
              <a:avLst/>
            </a:prstGeom>
            <a:solidFill>
              <a:srgbClr val="E8F0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94" name="Google Shape;994;p31"/>
            <p:cNvSpPr/>
            <p:nvPr/>
          </p:nvSpPr>
          <p:spPr>
            <a:xfrm>
              <a:off x="2080260" y="4307724"/>
              <a:ext cx="1435608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700"/>
                <a:buFont typeface="Consolas"/>
                <a:buNone/>
              </a:pPr>
              <a:r>
                <a:rPr b="0" i="0" lang="en-US" sz="700" u="none" cap="none" strike="noStrike">
                  <a:solidFill>
                    <a:srgbClr val="0055A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{ "task": "line", ... }</a:t>
              </a:r>
              <a:endParaRPr/>
            </a:p>
          </p:txBody>
        </p:sp>
        <p:sp>
          <p:nvSpPr>
            <p:cNvPr id="995" name="Google Shape;995;p31"/>
            <p:cNvSpPr/>
            <p:nvPr/>
          </p:nvSpPr>
          <p:spPr>
            <a:xfrm>
              <a:off x="3721608" y="749808"/>
              <a:ext cx="1664208" cy="400507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96" name="Google Shape;996;p31"/>
            <p:cNvSpPr/>
            <p:nvPr/>
          </p:nvSpPr>
          <p:spPr>
            <a:xfrm>
              <a:off x="3721608" y="749808"/>
              <a:ext cx="1664208" cy="457200"/>
            </a:xfrm>
            <a:prstGeom prst="rect">
              <a:avLst/>
            </a:prstGeom>
            <a:solidFill>
              <a:srgbClr val="0D9488"/>
            </a:solidFill>
            <a:ln cap="flat" cmpd="sng" w="12700">
              <a:solidFill>
                <a:srgbClr val="0D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97" name="Google Shape;997;p31"/>
            <p:cNvSpPr/>
            <p:nvPr/>
          </p:nvSpPr>
          <p:spPr>
            <a:xfrm>
              <a:off x="3721608" y="749808"/>
              <a:ext cx="2926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</a:t>
              </a:r>
              <a:endParaRPr/>
            </a:p>
          </p:txBody>
        </p:sp>
        <p:sp>
          <p:nvSpPr>
            <p:cNvPr id="998" name="Google Shape;998;p31"/>
            <p:cNvSpPr/>
            <p:nvPr/>
          </p:nvSpPr>
          <p:spPr>
            <a:xfrm>
              <a:off x="4041648" y="749808"/>
              <a:ext cx="1316736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Calibri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다중 객체 추적</a:t>
              </a:r>
              <a:endParaRPr/>
            </a:p>
          </p:txBody>
        </p:sp>
        <p:sp>
          <p:nvSpPr>
            <p:cNvPr id="999" name="Google Shape;999;p31"/>
            <p:cNvSpPr/>
            <p:nvPr/>
          </p:nvSpPr>
          <p:spPr>
            <a:xfrm>
              <a:off x="3813048" y="1280160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9488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0D948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알고리즘</a:t>
              </a:r>
              <a:endParaRPr/>
            </a:p>
          </p:txBody>
        </p:sp>
        <p:sp>
          <p:nvSpPr>
            <p:cNvPr id="1000" name="Google Shape;1000;p31"/>
            <p:cNvSpPr/>
            <p:nvPr/>
          </p:nvSpPr>
          <p:spPr>
            <a:xfrm>
              <a:off x="3813048" y="1463040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ByteTrack: Kalman Filter + Hungarian algo</a:t>
              </a:r>
              <a:endParaRPr/>
            </a:p>
          </p:txBody>
        </p:sp>
        <p:cxnSp>
          <p:nvCxnSpPr>
            <p:cNvPr id="1001" name="Google Shape;1001;p31"/>
            <p:cNvCxnSpPr/>
            <p:nvPr/>
          </p:nvCxnSpPr>
          <p:spPr>
            <a:xfrm>
              <a:off x="3813048" y="2075688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02" name="Google Shape;1002;p31"/>
            <p:cNvSpPr/>
            <p:nvPr/>
          </p:nvSpPr>
          <p:spPr>
            <a:xfrm>
              <a:off x="3813048" y="2121408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9488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0D948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출력값</a:t>
              </a:r>
              <a:endParaRPr/>
            </a:p>
          </p:txBody>
        </p:sp>
        <p:sp>
          <p:nvSpPr>
            <p:cNvPr id="1003" name="Google Shape;1003;p31"/>
            <p:cNvSpPr/>
            <p:nvPr/>
          </p:nvSpPr>
          <p:spPr>
            <a:xfrm>
              <a:off x="3813048" y="2304288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track_id, bbox, age, state: ACTIVE/LOST/REMOVED</a:t>
              </a:r>
              <a:endParaRPr/>
            </a:p>
          </p:txBody>
        </p:sp>
        <p:cxnSp>
          <p:nvCxnSpPr>
            <p:cNvPr id="1004" name="Google Shape;1004;p31"/>
            <p:cNvCxnSpPr/>
            <p:nvPr/>
          </p:nvCxnSpPr>
          <p:spPr>
            <a:xfrm>
              <a:off x="3813048" y="2916936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05" name="Google Shape;1005;p31"/>
            <p:cNvSpPr/>
            <p:nvPr/>
          </p:nvSpPr>
          <p:spPr>
            <a:xfrm>
              <a:off x="3813048" y="2962656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9488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0D948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정확도</a:t>
              </a:r>
              <a:endParaRPr/>
            </a:p>
          </p:txBody>
        </p:sp>
        <p:sp>
          <p:nvSpPr>
            <p:cNvPr id="1006" name="Google Shape;1006;p31"/>
            <p:cNvSpPr/>
            <p:nvPr/>
          </p:nvSpPr>
          <p:spPr>
            <a:xfrm>
              <a:off x="3813048" y="3145536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MOTA ≥ 0.60, IDF1 ≥ 0.65</a:t>
              </a:r>
              <a:endParaRPr/>
            </a:p>
          </p:txBody>
        </p:sp>
        <p:cxnSp>
          <p:nvCxnSpPr>
            <p:cNvPr id="1007" name="Google Shape;1007;p31"/>
            <p:cNvCxnSpPr/>
            <p:nvPr/>
          </p:nvCxnSpPr>
          <p:spPr>
            <a:xfrm>
              <a:off x="3813048" y="3758184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08" name="Google Shape;1008;p31"/>
            <p:cNvSpPr/>
            <p:nvPr/>
          </p:nvSpPr>
          <p:spPr>
            <a:xfrm>
              <a:off x="3813048" y="3803904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9488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0D948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엣지 케이스</a:t>
              </a:r>
              <a:endParaRPr/>
            </a:p>
          </p:txBody>
        </p:sp>
        <p:sp>
          <p:nvSpPr>
            <p:cNvPr id="1009" name="Google Shape;1009;p31"/>
            <p:cNvSpPr/>
            <p:nvPr/>
          </p:nvSpPr>
          <p:spPr>
            <a:xfrm>
              <a:off x="3813048" y="3986784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LOST 상태는 30프레임 동안 유지하며, 위치를 예측</a:t>
              </a:r>
              <a:endParaRPr/>
            </a:p>
          </p:txBody>
        </p:sp>
        <p:cxnSp>
          <p:nvCxnSpPr>
            <p:cNvPr id="1010" name="Google Shape;1010;p31"/>
            <p:cNvCxnSpPr/>
            <p:nvPr/>
          </p:nvCxnSpPr>
          <p:spPr>
            <a:xfrm>
              <a:off x="3813048" y="4599432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11" name="Google Shape;1011;p31"/>
            <p:cNvSpPr/>
            <p:nvPr/>
          </p:nvSpPr>
          <p:spPr>
            <a:xfrm>
              <a:off x="3813048" y="4289436"/>
              <a:ext cx="1481328" cy="438912"/>
            </a:xfrm>
            <a:prstGeom prst="rect">
              <a:avLst/>
            </a:prstGeom>
            <a:solidFill>
              <a:srgbClr val="E8F0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12" name="Google Shape;1012;p31"/>
            <p:cNvSpPr/>
            <p:nvPr/>
          </p:nvSpPr>
          <p:spPr>
            <a:xfrm>
              <a:off x="3840480" y="4307724"/>
              <a:ext cx="1435608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700"/>
                <a:buFont typeface="Consolas"/>
                <a:buNone/>
              </a:pPr>
              <a:r>
                <a:rPr b="0" i="0" lang="en-US" sz="700" u="none" cap="none" strike="noStrike">
                  <a:solidFill>
                    <a:srgbClr val="0055A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{ "task": "multi-object", ... }</a:t>
              </a:r>
              <a:endParaRPr/>
            </a:p>
          </p:txBody>
        </p:sp>
        <p:sp>
          <p:nvSpPr>
            <p:cNvPr id="1013" name="Google Shape;1013;p31"/>
            <p:cNvSpPr/>
            <p:nvPr/>
          </p:nvSpPr>
          <p:spPr>
            <a:xfrm>
              <a:off x="5481828" y="749808"/>
              <a:ext cx="1664208" cy="400507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14" name="Google Shape;1014;p31"/>
            <p:cNvSpPr/>
            <p:nvPr/>
          </p:nvSpPr>
          <p:spPr>
            <a:xfrm>
              <a:off x="5481828" y="749808"/>
              <a:ext cx="1664208" cy="457200"/>
            </a:xfrm>
            <a:prstGeom prst="rect">
              <a:avLst/>
            </a:prstGeom>
            <a:solidFill>
              <a:srgbClr val="7C3AED"/>
            </a:solidFill>
            <a:ln cap="flat" cmpd="sng" w="12700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15" name="Google Shape;1015;p31"/>
            <p:cNvSpPr/>
            <p:nvPr/>
          </p:nvSpPr>
          <p:spPr>
            <a:xfrm>
              <a:off x="5481828" y="749808"/>
              <a:ext cx="2926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</a:t>
              </a:r>
              <a:endParaRPr/>
            </a:p>
          </p:txBody>
        </p:sp>
        <p:sp>
          <p:nvSpPr>
            <p:cNvPr id="1016" name="Google Shape;1016;p31"/>
            <p:cNvSpPr/>
            <p:nvPr/>
          </p:nvSpPr>
          <p:spPr>
            <a:xfrm>
              <a:off x="5801868" y="749808"/>
              <a:ext cx="1316736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Calibri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머리 자세 및 시선 추정</a:t>
              </a:r>
              <a:endParaRPr/>
            </a:p>
          </p:txBody>
        </p:sp>
        <p:sp>
          <p:nvSpPr>
            <p:cNvPr id="1017" name="Google Shape;1017;p31"/>
            <p:cNvSpPr/>
            <p:nvPr/>
          </p:nvSpPr>
          <p:spPr>
            <a:xfrm>
              <a:off x="5573268" y="1280160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C3AED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7C3AE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알고리즘</a:t>
              </a:r>
              <a:endParaRPr/>
            </a:p>
          </p:txBody>
        </p:sp>
        <p:sp>
          <p:nvSpPr>
            <p:cNvPr id="1018" name="Google Shape;1018;p31"/>
            <p:cNvSpPr/>
            <p:nvPr/>
          </p:nvSpPr>
          <p:spPr>
            <a:xfrm>
              <a:off x="5573268" y="1463040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FSA-Net / WHENet - 3 Euler angles regression</a:t>
              </a:r>
              <a:endParaRPr/>
            </a:p>
          </p:txBody>
        </p:sp>
        <p:cxnSp>
          <p:nvCxnSpPr>
            <p:cNvPr id="1019" name="Google Shape;1019;p31"/>
            <p:cNvCxnSpPr/>
            <p:nvPr/>
          </p:nvCxnSpPr>
          <p:spPr>
            <a:xfrm>
              <a:off x="5573268" y="2075688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20" name="Google Shape;1020;p31"/>
            <p:cNvSpPr/>
            <p:nvPr/>
          </p:nvSpPr>
          <p:spPr>
            <a:xfrm>
              <a:off x="5573268" y="2121408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C3AED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7C3AE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출력값</a:t>
              </a:r>
              <a:endParaRPr/>
            </a:p>
          </p:txBody>
        </p:sp>
        <p:sp>
          <p:nvSpPr>
            <p:cNvPr id="1021" name="Google Shape;1021;p31"/>
            <p:cNvSpPr/>
            <p:nvPr/>
          </p:nvSpPr>
          <p:spPr>
            <a:xfrm>
              <a:off x="5573268" y="2304288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yaw, pitch, roll, gaze_class: FRONT/SIDE/AWAY</a:t>
              </a:r>
              <a:endParaRPr/>
            </a:p>
          </p:txBody>
        </p:sp>
        <p:cxnSp>
          <p:nvCxnSpPr>
            <p:cNvPr id="1022" name="Google Shape;1022;p31"/>
            <p:cNvCxnSpPr/>
            <p:nvPr/>
          </p:nvCxnSpPr>
          <p:spPr>
            <a:xfrm>
              <a:off x="5573268" y="2916936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23" name="Google Shape;1023;p31"/>
            <p:cNvSpPr/>
            <p:nvPr/>
          </p:nvSpPr>
          <p:spPr>
            <a:xfrm>
              <a:off x="5573268" y="2962656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C3AED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7C3AE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정확도</a:t>
              </a:r>
              <a:endParaRPr/>
            </a:p>
          </p:txBody>
        </p:sp>
        <p:sp>
          <p:nvSpPr>
            <p:cNvPr id="1024" name="Google Shape;1024;p31"/>
            <p:cNvSpPr/>
            <p:nvPr/>
          </p:nvSpPr>
          <p:spPr>
            <a:xfrm>
              <a:off x="5573268" y="3145536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MAE ≤ 15° per angle</a:t>
              </a:r>
              <a:endParaRPr/>
            </a:p>
          </p:txBody>
        </p:sp>
        <p:cxnSp>
          <p:nvCxnSpPr>
            <p:cNvPr id="1025" name="Google Shape;1025;p31"/>
            <p:cNvCxnSpPr/>
            <p:nvPr/>
          </p:nvCxnSpPr>
          <p:spPr>
            <a:xfrm>
              <a:off x="5573268" y="3758184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26" name="Google Shape;1026;p31"/>
            <p:cNvSpPr/>
            <p:nvPr/>
          </p:nvSpPr>
          <p:spPr>
            <a:xfrm>
              <a:off x="5573268" y="3803904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C3AED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7C3AE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엣지 케이스</a:t>
              </a:r>
              <a:endParaRPr/>
            </a:p>
          </p:txBody>
        </p:sp>
        <p:sp>
          <p:nvSpPr>
            <p:cNvPr id="1027" name="Google Shape;1027;p31"/>
            <p:cNvSpPr/>
            <p:nvPr/>
          </p:nvSpPr>
          <p:spPr>
            <a:xfrm>
              <a:off x="5573268" y="3986784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사람 BBox 상단 30% 영역을 Crop하여 입력으로 사용</a:t>
              </a:r>
              <a:endParaRPr/>
            </a:p>
          </p:txBody>
        </p:sp>
        <p:cxnSp>
          <p:nvCxnSpPr>
            <p:cNvPr id="1028" name="Google Shape;1028;p31"/>
            <p:cNvCxnSpPr/>
            <p:nvPr/>
          </p:nvCxnSpPr>
          <p:spPr>
            <a:xfrm>
              <a:off x="5573268" y="4599432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29" name="Google Shape;1029;p31"/>
            <p:cNvSpPr/>
            <p:nvPr/>
          </p:nvSpPr>
          <p:spPr>
            <a:xfrm>
              <a:off x="5573268" y="4289436"/>
              <a:ext cx="1481328" cy="438912"/>
            </a:xfrm>
            <a:prstGeom prst="rect">
              <a:avLst/>
            </a:prstGeom>
            <a:solidFill>
              <a:srgbClr val="E8F0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30" name="Google Shape;1030;p31"/>
            <p:cNvSpPr/>
            <p:nvPr/>
          </p:nvSpPr>
          <p:spPr>
            <a:xfrm>
              <a:off x="5600700" y="4307724"/>
              <a:ext cx="1435608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700"/>
                <a:buFont typeface="Consolas"/>
                <a:buNone/>
              </a:pPr>
              <a:r>
                <a:rPr b="0" i="0" lang="en-US" sz="700" u="none" cap="none" strike="noStrike">
                  <a:solidFill>
                    <a:srgbClr val="0055A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{ "task": "head", ... }</a:t>
              </a:r>
              <a:endParaRPr/>
            </a:p>
          </p:txBody>
        </p:sp>
        <p:sp>
          <p:nvSpPr>
            <p:cNvPr id="1031" name="Google Shape;1031;p31"/>
            <p:cNvSpPr/>
            <p:nvPr/>
          </p:nvSpPr>
          <p:spPr>
            <a:xfrm>
              <a:off x="7242048" y="749808"/>
              <a:ext cx="1664208" cy="400507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32" name="Google Shape;1032;p31"/>
            <p:cNvSpPr/>
            <p:nvPr/>
          </p:nvSpPr>
          <p:spPr>
            <a:xfrm>
              <a:off x="7242048" y="749808"/>
              <a:ext cx="1664208" cy="457200"/>
            </a:xfrm>
            <a:prstGeom prst="rect">
              <a:avLst/>
            </a:prstGeom>
            <a:solidFill>
              <a:srgbClr val="B45309"/>
            </a:solidFill>
            <a:ln cap="flat" cmpd="sng" w="12700">
              <a:solidFill>
                <a:srgbClr val="B4530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33" name="Google Shape;1033;p31"/>
            <p:cNvSpPr/>
            <p:nvPr/>
          </p:nvSpPr>
          <p:spPr>
            <a:xfrm>
              <a:off x="7242048" y="749808"/>
              <a:ext cx="2926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5</a:t>
              </a:r>
              <a:endParaRPr/>
            </a:p>
          </p:txBody>
        </p:sp>
        <p:sp>
          <p:nvSpPr>
            <p:cNvPr id="1034" name="Google Shape;1034;p31"/>
            <p:cNvSpPr/>
            <p:nvPr/>
          </p:nvSpPr>
          <p:spPr>
            <a:xfrm>
              <a:off x="7562088" y="749808"/>
              <a:ext cx="1316736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Calibri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체류 시간 분석</a:t>
              </a:r>
              <a:endParaRPr/>
            </a:p>
          </p:txBody>
        </p:sp>
        <p:sp>
          <p:nvSpPr>
            <p:cNvPr id="1035" name="Google Shape;1035;p31"/>
            <p:cNvSpPr/>
            <p:nvPr/>
          </p:nvSpPr>
          <p:spPr>
            <a:xfrm>
              <a:off x="7333488" y="1280160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45309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B4530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알고리즘</a:t>
              </a:r>
              <a:endParaRPr/>
            </a:p>
          </p:txBody>
        </p:sp>
        <p:sp>
          <p:nvSpPr>
            <p:cNvPr id="1036" name="Google Shape;1036;p31"/>
            <p:cNvSpPr/>
            <p:nvPr/>
          </p:nvSpPr>
          <p:spPr>
            <a:xfrm>
              <a:off x="7333488" y="1463040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순수 후처리 (모델 미사용)</a:t>
              </a:r>
              <a:endParaRPr/>
            </a:p>
          </p:txBody>
        </p:sp>
        <p:cxnSp>
          <p:nvCxnSpPr>
            <p:cNvPr id="1037" name="Google Shape;1037;p31"/>
            <p:cNvCxnSpPr/>
            <p:nvPr/>
          </p:nvCxnSpPr>
          <p:spPr>
            <a:xfrm>
              <a:off x="7333488" y="2075688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38" name="Google Shape;1038;p31"/>
            <p:cNvSpPr/>
            <p:nvPr/>
          </p:nvSpPr>
          <p:spPr>
            <a:xfrm>
              <a:off x="7333488" y="2121408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45309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B4530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출력값</a:t>
              </a:r>
              <a:endParaRPr/>
            </a:p>
          </p:txBody>
        </p:sp>
        <p:sp>
          <p:nvSpPr>
            <p:cNvPr id="1039" name="Google Shape;1039;p31"/>
            <p:cNvSpPr/>
            <p:nvPr/>
          </p:nvSpPr>
          <p:spPr>
            <a:xfrm>
              <a:off x="7333488" y="2304288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dwell_sec, engaged_sec, gaze_ratio, category</a:t>
              </a:r>
              <a:endParaRPr/>
            </a:p>
          </p:txBody>
        </p:sp>
        <p:cxnSp>
          <p:nvCxnSpPr>
            <p:cNvPr id="1040" name="Google Shape;1040;p31"/>
            <p:cNvCxnSpPr/>
            <p:nvPr/>
          </p:nvCxnSpPr>
          <p:spPr>
            <a:xfrm>
              <a:off x="7333488" y="2916936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1" name="Google Shape;1041;p31"/>
            <p:cNvSpPr/>
            <p:nvPr/>
          </p:nvSpPr>
          <p:spPr>
            <a:xfrm>
              <a:off x="7333488" y="2962656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45309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B4530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정확도</a:t>
              </a:r>
              <a:endParaRPr/>
            </a:p>
          </p:txBody>
        </p:sp>
        <p:sp>
          <p:nvSpPr>
            <p:cNvPr id="1042" name="Google Shape;1042;p31"/>
            <p:cNvSpPr/>
            <p:nvPr/>
          </p:nvSpPr>
          <p:spPr>
            <a:xfrm>
              <a:off x="7333488" y="3145536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Threshold ≥ 2s</a:t>
              </a:r>
              <a:endParaRPr/>
            </a:p>
          </p:txBody>
        </p:sp>
        <p:cxnSp>
          <p:nvCxnSpPr>
            <p:cNvPr id="1043" name="Google Shape;1043;p31"/>
            <p:cNvCxnSpPr/>
            <p:nvPr/>
          </p:nvCxnSpPr>
          <p:spPr>
            <a:xfrm>
              <a:off x="7333488" y="3758184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4" name="Google Shape;1044;p31"/>
            <p:cNvSpPr/>
            <p:nvPr/>
          </p:nvSpPr>
          <p:spPr>
            <a:xfrm>
              <a:off x="7333488" y="3803904"/>
              <a:ext cx="1481328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45309"/>
                </a:buClr>
                <a:buSzPts val="700"/>
                <a:buFont typeface="Calibri"/>
                <a:buNone/>
              </a:pPr>
              <a:r>
                <a:rPr b="1" i="0" lang="en-US" sz="700" u="none" cap="none" strike="noStrike">
                  <a:solidFill>
                    <a:srgbClr val="B4530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엣지 케이스</a:t>
              </a:r>
              <a:endParaRPr/>
            </a:p>
          </p:txBody>
        </p:sp>
        <p:sp>
          <p:nvSpPr>
            <p:cNvPr id="1045" name="Google Shape;1045;p31"/>
            <p:cNvSpPr/>
            <p:nvPr/>
          </p:nvSpPr>
          <p:spPr>
            <a:xfrm>
              <a:off x="7333488" y="3986784"/>
              <a:ext cx="1481328" cy="640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800"/>
                <a:buFont typeface="Calibri"/>
                <a:buNone/>
              </a:pPr>
              <a:r>
                <a:rPr b="0" i="0" lang="en-US" sz="80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engaged = FRONT gaze ≥ 40% of dwell time</a:t>
              </a:r>
              <a:endParaRPr/>
            </a:p>
          </p:txBody>
        </p:sp>
        <p:cxnSp>
          <p:nvCxnSpPr>
            <p:cNvPr id="1046" name="Google Shape;1046;p31"/>
            <p:cNvCxnSpPr/>
            <p:nvPr/>
          </p:nvCxnSpPr>
          <p:spPr>
            <a:xfrm>
              <a:off x="7333488" y="4599432"/>
              <a:ext cx="1481328" cy="0"/>
            </a:xfrm>
            <a:prstGeom prst="straightConnector1">
              <a:avLst/>
            </a:prstGeom>
            <a:noFill/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47" name="Google Shape;1047;p31"/>
            <p:cNvSpPr/>
            <p:nvPr/>
          </p:nvSpPr>
          <p:spPr>
            <a:xfrm>
              <a:off x="7333488" y="4289436"/>
              <a:ext cx="1481328" cy="438912"/>
            </a:xfrm>
            <a:prstGeom prst="rect">
              <a:avLst/>
            </a:prstGeom>
            <a:solidFill>
              <a:srgbClr val="E8F0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48" name="Google Shape;1048;p31"/>
            <p:cNvSpPr/>
            <p:nvPr/>
          </p:nvSpPr>
          <p:spPr>
            <a:xfrm>
              <a:off x="7360920" y="4307724"/>
              <a:ext cx="1435608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700"/>
                <a:buFont typeface="Consolas"/>
                <a:buNone/>
              </a:pPr>
              <a:r>
                <a:rPr b="0" i="0" lang="en-US" sz="700" u="none" cap="none" strike="noStrike">
                  <a:solidFill>
                    <a:srgbClr val="0055A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{ "task": "dwell", ... }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Google Shape;105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33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목표 및 장애 대응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33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6" name="Google Shape;1056;p33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057" name="Google Shape;105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8" name="Google Shape;1058;p33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9" name="Google Shape;1059;p33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60" name="Google Shape;1060;p33"/>
          <p:cNvSpPr/>
          <p:nvPr/>
        </p:nvSpPr>
        <p:spPr>
          <a:xfrm>
            <a:off x="218598" y="670450"/>
            <a:ext cx="87416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A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55A5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목표 - 통과/실패 기준</a:t>
            </a:r>
            <a:endParaRPr/>
          </a:p>
        </p:txBody>
      </p:sp>
      <p:graphicFrame>
        <p:nvGraphicFramePr>
          <p:cNvPr id="1061" name="Google Shape;1061;p33"/>
          <p:cNvGraphicFramePr/>
          <p:nvPr/>
        </p:nvGraphicFramePr>
        <p:xfrm>
          <a:off x="218598" y="9264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{DADF0DDE-AB03-4D68-9BCF-CF195295C8D4}</a:tableStyleId>
              </a:tblPr>
              <a:tblGrid>
                <a:gridCol w="2103125"/>
                <a:gridCol w="1188725"/>
                <a:gridCol w="1188725"/>
                <a:gridCol w="1463050"/>
              </a:tblGrid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지표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목표✓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최소 기준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측정 방법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5A5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AI FPS (NNAPI)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≥ 12 FPS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92400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≥ 10 FPS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48시간 벤치마크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AI FPS (GPU fallback)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≥ 8 FPS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92400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≥ 7 FPS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타겟 하드웨어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추론 지연 시간</a:t>
                      </a:r>
                      <a:endParaRPr sz="800" u="none" cap="none" strike="noStrike">
                        <a:solidFill>
                          <a:srgbClr val="1E293B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≤ 80ms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92400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≤ 100ms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프로파일링 툴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사람 수 집계 MAE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≤ 8%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92400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≤ 10%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Holdout 테스트셋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라인 크로싱 F1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≥ 0.93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92400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≥ 0.90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어노테이션 영상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Tracking MOTA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≥ 0.65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92400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≥ 0.60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MOT 벤치마크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Head pose MAE (yaw)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≤ 12°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92400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≤ 15°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어노테이션 이미지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메모리 사용량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&lt; 180MB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92400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&lt; 256MB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ADB meminfo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48시간 지속 온도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≤ 65°C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92400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≤ 70°C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물리 센서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크래시율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&lt; 0.1%/hr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92400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&lt; 0.5%/hr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CMS 크래시 로그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OTA 교체 다운타임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&lt; 1s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92400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&lt; 3s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영상 기록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21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메타데이터 전송률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65F46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≥ 99%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2400E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92400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≥ 95%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서버 수신 로그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062" name="Google Shape;1062;p33"/>
          <p:cNvGrpSpPr/>
          <p:nvPr/>
        </p:nvGrpSpPr>
        <p:grpSpPr>
          <a:xfrm>
            <a:off x="6281070" y="670450"/>
            <a:ext cx="2634936" cy="3776472"/>
            <a:chOff x="6473952" y="1188720"/>
            <a:chExt cx="2679192" cy="3776472"/>
          </a:xfrm>
        </p:grpSpPr>
        <p:sp>
          <p:nvSpPr>
            <p:cNvPr id="1063" name="Google Shape;1063;p33"/>
            <p:cNvSpPr/>
            <p:nvPr/>
          </p:nvSpPr>
          <p:spPr>
            <a:xfrm>
              <a:off x="6473952" y="1188720"/>
              <a:ext cx="2679192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5A5"/>
                </a:buClr>
                <a:buSzPts val="1000"/>
                <a:buFont typeface="Calibri"/>
                <a:buNone/>
              </a:pPr>
              <a:r>
                <a:rPr b="1" i="0" lang="en-US" sz="1000" u="none" cap="none" strike="noStrike">
                  <a:solidFill>
                    <a:srgbClr val="0055A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장애 시나리오 및 복구</a:t>
              </a:r>
              <a:endParaRPr/>
            </a:p>
          </p:txBody>
        </p:sp>
        <p:sp>
          <p:nvSpPr>
            <p:cNvPr id="1064" name="Google Shape;1064;p33"/>
            <p:cNvSpPr/>
            <p:nvPr/>
          </p:nvSpPr>
          <p:spPr>
            <a:xfrm>
              <a:off x="6473952" y="1444752"/>
              <a:ext cx="2679192" cy="44805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8100000" dist="12700">
                <a:srgbClr val="000000">
                  <a:alpha val="705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65" name="Google Shape;1065;p33"/>
            <p:cNvSpPr/>
            <p:nvPr/>
          </p:nvSpPr>
          <p:spPr>
            <a:xfrm>
              <a:off x="6473952" y="1444752"/>
              <a:ext cx="54864" cy="448056"/>
            </a:xfrm>
            <a:prstGeom prst="rect">
              <a:avLst/>
            </a:prstGeom>
            <a:solidFill>
              <a:srgbClr val="E8192C"/>
            </a:solidFill>
            <a:ln cap="flat" cmpd="sng" w="12700">
              <a:solidFill>
                <a:srgbClr val="E8192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66" name="Google Shape;1066;p33"/>
            <p:cNvSpPr/>
            <p:nvPr/>
          </p:nvSpPr>
          <p:spPr>
            <a:xfrm>
              <a:off x="6583680" y="1481328"/>
              <a:ext cx="2514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192C"/>
                </a:buClr>
                <a:buSzPts val="850"/>
                <a:buFont typeface="Calibri"/>
                <a:buNone/>
              </a:pPr>
              <a:r>
                <a:rPr b="1" i="0" lang="en-US" sz="850" u="none" cap="none" strike="noStrike">
                  <a:solidFill>
                    <a:srgbClr val="E8192C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카메라 연결 끊김</a:t>
              </a:r>
              <a:endParaRPr/>
            </a:p>
          </p:txBody>
        </p:sp>
        <p:sp>
          <p:nvSpPr>
            <p:cNvPr id="1067" name="Google Shape;1067;p33"/>
            <p:cNvSpPr/>
            <p:nvPr/>
          </p:nvSpPr>
          <p:spPr>
            <a:xfrm>
              <a:off x="6583680" y="1664208"/>
              <a:ext cx="2514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750"/>
                <a:buFont typeface="Calibri"/>
                <a:buNone/>
              </a:pPr>
              <a:r>
                <a:rPr b="0" i="0" lang="en-US" sz="7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30초 간격으로 5회 재시도 후, AI 일시 중단 + CMS 알림</a:t>
              </a:r>
              <a:endParaRPr/>
            </a:p>
          </p:txBody>
        </p:sp>
        <p:sp>
          <p:nvSpPr>
            <p:cNvPr id="1068" name="Google Shape;1068;p33"/>
            <p:cNvSpPr/>
            <p:nvPr/>
          </p:nvSpPr>
          <p:spPr>
            <a:xfrm>
              <a:off x="6473952" y="1956816"/>
              <a:ext cx="2679192" cy="44805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8100000" dist="12700">
                <a:srgbClr val="000000">
                  <a:alpha val="705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69" name="Google Shape;1069;p33"/>
            <p:cNvSpPr/>
            <p:nvPr/>
          </p:nvSpPr>
          <p:spPr>
            <a:xfrm>
              <a:off x="6473952" y="1956816"/>
              <a:ext cx="54864" cy="448056"/>
            </a:xfrm>
            <a:prstGeom prst="rect">
              <a:avLst/>
            </a:prstGeom>
            <a:solidFill>
              <a:srgbClr val="B45309"/>
            </a:solidFill>
            <a:ln cap="flat" cmpd="sng" w="12700">
              <a:solidFill>
                <a:srgbClr val="B4530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70" name="Google Shape;1070;p33"/>
            <p:cNvSpPr/>
            <p:nvPr/>
          </p:nvSpPr>
          <p:spPr>
            <a:xfrm>
              <a:off x="6583680" y="1993392"/>
              <a:ext cx="2514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45309"/>
                </a:buClr>
                <a:buSzPts val="850"/>
                <a:buFont typeface="Calibri"/>
                <a:buNone/>
              </a:pPr>
              <a:r>
                <a:rPr b="1" i="0" lang="en-US" sz="850" u="none" cap="none" strike="noStrike">
                  <a:solidFill>
                    <a:srgbClr val="B4530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NNAPI 호환 불가</a:t>
              </a:r>
              <a:endParaRPr/>
            </a:p>
          </p:txBody>
        </p:sp>
        <p:sp>
          <p:nvSpPr>
            <p:cNvPr id="1071" name="Google Shape;1071;p33"/>
            <p:cNvSpPr/>
            <p:nvPr/>
          </p:nvSpPr>
          <p:spPr>
            <a:xfrm>
              <a:off x="6583680" y="2176272"/>
              <a:ext cx="2514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750"/>
                <a:buFont typeface="Calibri"/>
                <a:buNone/>
              </a:pPr>
              <a:r>
                <a:rPr b="0" i="0" lang="en-US" sz="7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GPU → CPU로 자동 fallback, 선택된 delegate를 CMS에 로그 전송</a:t>
              </a:r>
              <a:endParaRPr/>
            </a:p>
          </p:txBody>
        </p:sp>
        <p:sp>
          <p:nvSpPr>
            <p:cNvPr id="1072" name="Google Shape;1072;p33"/>
            <p:cNvSpPr/>
            <p:nvPr/>
          </p:nvSpPr>
          <p:spPr>
            <a:xfrm>
              <a:off x="6473952" y="2468880"/>
              <a:ext cx="2679192" cy="44805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8100000" dist="12700">
                <a:srgbClr val="000000">
                  <a:alpha val="705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73" name="Google Shape;1073;p33"/>
            <p:cNvSpPr/>
            <p:nvPr/>
          </p:nvSpPr>
          <p:spPr>
            <a:xfrm>
              <a:off x="6473952" y="2468880"/>
              <a:ext cx="54864" cy="448056"/>
            </a:xfrm>
            <a:prstGeom prst="rect">
              <a:avLst/>
            </a:prstGeom>
            <a:solidFill>
              <a:srgbClr val="E8192C"/>
            </a:solidFill>
            <a:ln cap="flat" cmpd="sng" w="12700">
              <a:solidFill>
                <a:srgbClr val="E8192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74" name="Google Shape;1074;p33"/>
            <p:cNvSpPr/>
            <p:nvPr/>
          </p:nvSpPr>
          <p:spPr>
            <a:xfrm>
              <a:off x="6583680" y="2505456"/>
              <a:ext cx="2514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192C"/>
                </a:buClr>
                <a:buSzPts val="850"/>
                <a:buFont typeface="Calibri"/>
                <a:buNone/>
              </a:pPr>
              <a:r>
                <a:rPr b="1" i="0" lang="en-US" sz="850" u="none" cap="none" strike="noStrike">
                  <a:solidFill>
                    <a:srgbClr val="E8192C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크래시 루프 (≥ 3회/60초)</a:t>
              </a:r>
              <a:endParaRPr/>
            </a:p>
          </p:txBody>
        </p:sp>
        <p:sp>
          <p:nvSpPr>
            <p:cNvPr id="1075" name="Google Shape;1075;p33"/>
            <p:cNvSpPr/>
            <p:nvPr/>
          </p:nvSpPr>
          <p:spPr>
            <a:xfrm>
              <a:off x="6583680" y="2688336"/>
              <a:ext cx="2514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750"/>
                <a:buFont typeface="Calibri"/>
                <a:buNone/>
              </a:pPr>
              <a:r>
                <a:rPr b="0" i="0" lang="en-US" sz="7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AI 비활성화, CMS에 CRITICAL 알림, Web Player는 정상 동작 유지</a:t>
              </a:r>
              <a:endParaRPr/>
            </a:p>
          </p:txBody>
        </p:sp>
        <p:sp>
          <p:nvSpPr>
            <p:cNvPr id="1076" name="Google Shape;1076;p33"/>
            <p:cNvSpPr/>
            <p:nvPr/>
          </p:nvSpPr>
          <p:spPr>
            <a:xfrm>
              <a:off x="6473952" y="2980944"/>
              <a:ext cx="2679192" cy="44805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8100000" dist="12700">
                <a:srgbClr val="000000">
                  <a:alpha val="705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77" name="Google Shape;1077;p33"/>
            <p:cNvSpPr/>
            <p:nvPr/>
          </p:nvSpPr>
          <p:spPr>
            <a:xfrm>
              <a:off x="6473952" y="2980944"/>
              <a:ext cx="54864" cy="448056"/>
            </a:xfrm>
            <a:prstGeom prst="rect">
              <a:avLst/>
            </a:prstGeom>
            <a:solidFill>
              <a:srgbClr val="7C3AED"/>
            </a:solidFill>
            <a:ln cap="flat" cmpd="sng" w="12700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78" name="Google Shape;1078;p33"/>
            <p:cNvSpPr/>
            <p:nvPr/>
          </p:nvSpPr>
          <p:spPr>
            <a:xfrm>
              <a:off x="6583680" y="3017520"/>
              <a:ext cx="2514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C3AED"/>
                </a:buClr>
                <a:buSzPts val="850"/>
                <a:buFont typeface="Calibri"/>
                <a:buNone/>
              </a:pPr>
              <a:r>
                <a:rPr b="1" i="0" lang="en-US" sz="850" u="none" cap="none" strike="noStrike">
                  <a:solidFill>
                    <a:srgbClr val="7C3AE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RAM &gt; 220MB</a:t>
              </a:r>
              <a:endParaRPr/>
            </a:p>
          </p:txBody>
        </p:sp>
        <p:sp>
          <p:nvSpPr>
            <p:cNvPr id="1079" name="Google Shape;1079;p33"/>
            <p:cNvSpPr/>
            <p:nvPr/>
          </p:nvSpPr>
          <p:spPr>
            <a:xfrm>
              <a:off x="6583680" y="3200400"/>
              <a:ext cx="2514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750"/>
                <a:buFont typeface="Calibri"/>
                <a:buNone/>
              </a:pPr>
              <a:r>
                <a:rPr b="0" i="0" lang="en-US" sz="7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강제 GC 수행 → 오래된 트랙 정리 → AI 서비스 재시작</a:t>
              </a:r>
              <a:endParaRPr/>
            </a:p>
          </p:txBody>
        </p:sp>
        <p:sp>
          <p:nvSpPr>
            <p:cNvPr id="1080" name="Google Shape;1080;p33"/>
            <p:cNvSpPr/>
            <p:nvPr/>
          </p:nvSpPr>
          <p:spPr>
            <a:xfrm>
              <a:off x="6473952" y="3493008"/>
              <a:ext cx="2679192" cy="44805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8100000" dist="12700">
                <a:srgbClr val="000000">
                  <a:alpha val="705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81" name="Google Shape;1081;p33"/>
            <p:cNvSpPr/>
            <p:nvPr/>
          </p:nvSpPr>
          <p:spPr>
            <a:xfrm>
              <a:off x="6473952" y="3493008"/>
              <a:ext cx="54864" cy="448056"/>
            </a:xfrm>
            <a:prstGeom prst="rect">
              <a:avLst/>
            </a:prstGeom>
            <a:solidFill>
              <a:srgbClr val="E8192C"/>
            </a:solidFill>
            <a:ln cap="flat" cmpd="sng" w="12700">
              <a:solidFill>
                <a:srgbClr val="E8192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82" name="Google Shape;1082;p33"/>
            <p:cNvSpPr/>
            <p:nvPr/>
          </p:nvSpPr>
          <p:spPr>
            <a:xfrm>
              <a:off x="6583680" y="3529584"/>
              <a:ext cx="2514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192C"/>
                </a:buClr>
                <a:buSzPts val="850"/>
                <a:buFont typeface="Calibri"/>
                <a:buNone/>
              </a:pPr>
              <a:r>
                <a:rPr b="1" i="0" lang="en-US" sz="850" u="none" cap="none" strike="noStrike">
                  <a:solidFill>
                    <a:srgbClr val="E8192C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Thermal CRITICAL</a:t>
              </a:r>
              <a:endParaRPr/>
            </a:p>
          </p:txBody>
        </p:sp>
        <p:sp>
          <p:nvSpPr>
            <p:cNvPr id="1083" name="Google Shape;1083;p33"/>
            <p:cNvSpPr/>
            <p:nvPr/>
          </p:nvSpPr>
          <p:spPr>
            <a:xfrm>
              <a:off x="6583680" y="3712464"/>
              <a:ext cx="2514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750"/>
                <a:buFont typeface="Calibri"/>
                <a:buNone/>
              </a:pPr>
              <a:r>
                <a:rPr b="0" i="0" lang="en-US" sz="7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5분간 추론 중단, CMS에 CRITICAL 알림 전송</a:t>
              </a:r>
              <a:endParaRPr/>
            </a:p>
          </p:txBody>
        </p:sp>
        <p:sp>
          <p:nvSpPr>
            <p:cNvPr id="1084" name="Google Shape;1084;p33"/>
            <p:cNvSpPr/>
            <p:nvPr/>
          </p:nvSpPr>
          <p:spPr>
            <a:xfrm>
              <a:off x="6473952" y="4005072"/>
              <a:ext cx="2679192" cy="44805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8100000" dist="12700">
                <a:srgbClr val="000000">
                  <a:alpha val="705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85" name="Google Shape;1085;p33"/>
            <p:cNvSpPr/>
            <p:nvPr/>
          </p:nvSpPr>
          <p:spPr>
            <a:xfrm>
              <a:off x="6473952" y="4005072"/>
              <a:ext cx="54864" cy="448056"/>
            </a:xfrm>
            <a:prstGeom prst="rect">
              <a:avLst/>
            </a:prstGeom>
            <a:solidFill>
              <a:srgbClr val="B45309"/>
            </a:solidFill>
            <a:ln cap="flat" cmpd="sng" w="12700">
              <a:solidFill>
                <a:srgbClr val="B4530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86" name="Google Shape;1086;p33"/>
            <p:cNvSpPr/>
            <p:nvPr/>
          </p:nvSpPr>
          <p:spPr>
            <a:xfrm>
              <a:off x="6583680" y="4041648"/>
              <a:ext cx="2514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45309"/>
                </a:buClr>
                <a:buSzPts val="850"/>
                <a:buFont typeface="Calibri"/>
                <a:buNone/>
              </a:pPr>
              <a:r>
                <a:rPr b="1" i="0" lang="en-US" sz="850" u="none" cap="none" strike="noStrike">
                  <a:solidFill>
                    <a:srgbClr val="B4530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OTA 해시 불일치</a:t>
              </a:r>
              <a:endParaRPr/>
            </a:p>
          </p:txBody>
        </p:sp>
        <p:sp>
          <p:nvSpPr>
            <p:cNvPr id="1087" name="Google Shape;1087;p33"/>
            <p:cNvSpPr/>
            <p:nvPr/>
          </p:nvSpPr>
          <p:spPr>
            <a:xfrm>
              <a:off x="6583680" y="4224528"/>
              <a:ext cx="2514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750"/>
                <a:buFont typeface="Calibri"/>
                <a:buNone/>
              </a:pPr>
              <a:r>
                <a:rPr b="0" i="0" lang="en-US" sz="7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파일 삭제 후 기존 모델 유지, CMS에 NACK 전송</a:t>
              </a:r>
              <a:endParaRPr/>
            </a:p>
          </p:txBody>
        </p:sp>
        <p:sp>
          <p:nvSpPr>
            <p:cNvPr id="1088" name="Google Shape;1088;p33"/>
            <p:cNvSpPr/>
            <p:nvPr/>
          </p:nvSpPr>
          <p:spPr>
            <a:xfrm>
              <a:off x="6473952" y="4517136"/>
              <a:ext cx="2679192" cy="44805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8100000" dist="12700">
                <a:srgbClr val="000000">
                  <a:alpha val="705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89" name="Google Shape;1089;p33"/>
            <p:cNvSpPr/>
            <p:nvPr/>
          </p:nvSpPr>
          <p:spPr>
            <a:xfrm>
              <a:off x="6473952" y="4517136"/>
              <a:ext cx="54864" cy="448056"/>
            </a:xfrm>
            <a:prstGeom prst="rect">
              <a:avLst/>
            </a:prstGeom>
            <a:solidFill>
              <a:srgbClr val="0D9488"/>
            </a:solidFill>
            <a:ln cap="flat" cmpd="sng" w="12700">
              <a:solidFill>
                <a:srgbClr val="0D94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090" name="Google Shape;1090;p33"/>
            <p:cNvSpPr/>
            <p:nvPr/>
          </p:nvSpPr>
          <p:spPr>
            <a:xfrm>
              <a:off x="6583680" y="4553712"/>
              <a:ext cx="2514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9488"/>
                </a:buClr>
                <a:buSzPts val="850"/>
                <a:buFont typeface="Calibri"/>
                <a:buNone/>
              </a:pPr>
              <a:r>
                <a:rPr b="1" i="0" lang="en-US" sz="850" u="none" cap="none" strike="noStrike">
                  <a:solidFill>
                    <a:srgbClr val="0D948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네트워크 다운</a:t>
              </a:r>
              <a:endParaRPr/>
            </a:p>
          </p:txBody>
        </p:sp>
        <p:sp>
          <p:nvSpPr>
            <p:cNvPr id="1091" name="Google Shape;1091;p33"/>
            <p:cNvSpPr/>
            <p:nvPr/>
          </p:nvSpPr>
          <p:spPr>
            <a:xfrm>
              <a:off x="6583680" y="4736592"/>
              <a:ext cx="25146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750"/>
                <a:buFont typeface="Calibri"/>
                <a:buNone/>
              </a:pPr>
              <a:r>
                <a:rPr b="0" i="0" lang="en-US" sz="750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SQLite에 최대 48개 배치 저장 후, 연결 복구 시 순차 Flush 수행</a:t>
              </a:r>
              <a:endParaRPr/>
            </a:p>
          </p:txBody>
        </p:sp>
      </p:grpSp>
      <p:sp>
        <p:nvSpPr>
          <p:cNvPr id="1092" name="Google Shape;1092;p33"/>
          <p:cNvSpPr/>
          <p:nvPr/>
        </p:nvSpPr>
        <p:spPr>
          <a:xfrm>
            <a:off x="218598" y="3879994"/>
            <a:ext cx="5943600" cy="502920"/>
          </a:xfrm>
          <a:prstGeom prst="rect">
            <a:avLst/>
          </a:prstGeom>
          <a:solidFill>
            <a:srgbClr val="E8F0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3" name="Google Shape;1093;p33"/>
          <p:cNvSpPr/>
          <p:nvPr/>
        </p:nvSpPr>
        <p:spPr>
          <a:xfrm>
            <a:off x="337470" y="3898282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A5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0055A5"/>
                </a:solidFill>
                <a:latin typeface="Noto Sans KR"/>
                <a:ea typeface="Noto Sans KR"/>
                <a:cs typeface="Noto Sans KR"/>
                <a:sym typeface="Noto Sans KR"/>
              </a:rPr>
              <a:t>테스트 요구사항: 타깃 STB 하드웨어(학습 장비가 아닌 실제 대상 장비)에서 48시간 연속 벤치마크를 수행해야 합니다. Thermal, 메모리, FPS는 동시에 측정하며, Crash Recovery는 영상 녹화를 통해 소요 시간을 측정합니다.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8" name="Google Shape;109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25" y="4442300"/>
            <a:ext cx="835799" cy="536658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18"/>
          <p:cNvSpPr txBox="1"/>
          <p:nvPr/>
        </p:nvSpPr>
        <p:spPr>
          <a:xfrm>
            <a:off x="1164925" y="432200"/>
            <a:ext cx="21996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75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01" name="Google Shape;1101;p18"/>
          <p:cNvSpPr txBox="1"/>
          <p:nvPr/>
        </p:nvSpPr>
        <p:spPr>
          <a:xfrm>
            <a:off x="328295" y="1503045"/>
            <a:ext cx="4519930" cy="407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BI 대시보드 솔루션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18"/>
          <p:cNvSpPr txBox="1"/>
          <p:nvPr/>
        </p:nvSpPr>
        <p:spPr>
          <a:xfrm>
            <a:off x="35112" y="4935783"/>
            <a:ext cx="4761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7" name="Google Shape;110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35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기능 구성도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09" name="Google Shape;1109;p35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10" name="Google Shape;1110;p35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111" name="Google Shape;111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2" name="Google Shape;1112;p35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3" name="Google Shape;1113;p35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14" name="Google Shape;1114;p35"/>
          <p:cNvSpPr/>
          <p:nvPr/>
        </p:nvSpPr>
        <p:spPr>
          <a:xfrm>
            <a:off x="287421" y="903622"/>
            <a:ext cx="4187952" cy="1591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15" name="Google Shape;1115;p35"/>
          <p:cNvSpPr/>
          <p:nvPr/>
        </p:nvSpPr>
        <p:spPr>
          <a:xfrm>
            <a:off x="287421" y="903622"/>
            <a:ext cx="4187952" cy="45720"/>
          </a:xfrm>
          <a:prstGeom prst="rect">
            <a:avLst/>
          </a:prstGeom>
          <a:solidFill>
            <a:srgbClr val="1E4DA1"/>
          </a:solidFill>
          <a:ln cap="flat" cmpd="sng" w="12700">
            <a:solidFill>
              <a:srgbClr val="1E4D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16" name="Google Shape;1116;p35"/>
          <p:cNvSpPr/>
          <p:nvPr/>
        </p:nvSpPr>
        <p:spPr>
          <a:xfrm>
            <a:off x="397149" y="995062"/>
            <a:ext cx="310896" cy="310896"/>
          </a:xfrm>
          <a:prstGeom prst="roundRect">
            <a:avLst>
              <a:gd fmla="val 14706" name="adj"/>
            </a:avLst>
          </a:prstGeom>
          <a:solidFill>
            <a:srgbClr val="EBF1FB"/>
          </a:solidFill>
          <a:ln cap="flat" cmpd="sng" w="9525">
            <a:solidFill>
              <a:srgbClr val="1E4D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17" name="Google Shape;1117;p35"/>
          <p:cNvSpPr/>
          <p:nvPr/>
        </p:nvSpPr>
        <p:spPr>
          <a:xfrm>
            <a:off x="397149" y="99506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4DA1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1118" name="Google Shape;1118;p35"/>
          <p:cNvSpPr/>
          <p:nvPr/>
        </p:nvSpPr>
        <p:spPr>
          <a:xfrm>
            <a:off x="714999" y="995062"/>
            <a:ext cx="31638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고객사별 독립 BI 제공</a:t>
            </a:r>
            <a:endParaRPr/>
          </a:p>
        </p:txBody>
      </p:sp>
      <p:cxnSp>
        <p:nvCxnSpPr>
          <p:cNvPr id="1119" name="Google Shape;1119;p35"/>
          <p:cNvCxnSpPr/>
          <p:nvPr/>
        </p:nvCxnSpPr>
        <p:spPr>
          <a:xfrm>
            <a:off x="397149" y="1379110"/>
            <a:ext cx="3968496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0" name="Google Shape;1120;p35"/>
          <p:cNvSpPr/>
          <p:nvPr/>
        </p:nvSpPr>
        <p:spPr>
          <a:xfrm>
            <a:off x="397149" y="1452262"/>
            <a:ext cx="475488" cy="164592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 cap="flat" cmpd="sng" w="9525">
            <a:solidFill>
              <a:srgbClr val="FF40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21" name="Google Shape;1121;p35"/>
          <p:cNvSpPr/>
          <p:nvPr/>
        </p:nvSpPr>
        <p:spPr>
          <a:xfrm>
            <a:off x="397149" y="1452262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991B1B"/>
                </a:solidFill>
                <a:latin typeface="Noto Sans KR"/>
                <a:ea typeface="Noto Sans KR"/>
                <a:cs typeface="Noto Sans KR"/>
                <a:sym typeface="Noto Sans KR"/>
              </a:rPr>
              <a:t>AS-IS</a:t>
            </a:r>
            <a:endParaRPr/>
          </a:p>
        </p:txBody>
      </p:sp>
      <p:sp>
        <p:nvSpPr>
          <p:cNvPr id="1122" name="Google Shape;1122;p35"/>
          <p:cNvSpPr/>
          <p:nvPr/>
        </p:nvSpPr>
        <p:spPr>
          <a:xfrm>
            <a:off x="397149" y="1635142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테넌트가 하나의 BI 인스턴스를 공동으로 사용하고 있습니다. 독립된 워크스페이스가 없으며, 신규 테넌트 설정 시마다 많은 수작업 시간이 소요되어 확장에 한계가 있습니다.</a:t>
            </a:r>
            <a:endParaRPr/>
          </a:p>
        </p:txBody>
      </p:sp>
      <p:sp>
        <p:nvSpPr>
          <p:cNvPr id="1123" name="Google Shape;1123;p35"/>
          <p:cNvSpPr/>
          <p:nvPr/>
        </p:nvSpPr>
        <p:spPr>
          <a:xfrm>
            <a:off x="2408829" y="1452262"/>
            <a:ext cx="512064" cy="164592"/>
          </a:xfrm>
          <a:prstGeom prst="roundRect">
            <a:avLst>
              <a:gd fmla="val 16667" name="adj"/>
            </a:avLst>
          </a:prstGeom>
          <a:solidFill>
            <a:srgbClr val="D1FAE5"/>
          </a:solidFill>
          <a:ln cap="flat" cmpd="sng" w="9525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24" name="Google Shape;1124;p35"/>
          <p:cNvSpPr/>
          <p:nvPr/>
        </p:nvSpPr>
        <p:spPr>
          <a:xfrm>
            <a:off x="2408829" y="1452262"/>
            <a:ext cx="5120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D8C6E"/>
                </a:solidFill>
                <a:latin typeface="Noto Sans KR"/>
                <a:ea typeface="Noto Sans KR"/>
                <a:cs typeface="Noto Sans KR"/>
                <a:sym typeface="Noto Sans KR"/>
              </a:rPr>
              <a:t>TO-BE</a:t>
            </a:r>
            <a:endParaRPr/>
          </a:p>
        </p:txBody>
      </p:sp>
      <p:sp>
        <p:nvSpPr>
          <p:cNvPr id="1125" name="Google Shape;1125;p35"/>
          <p:cNvSpPr/>
          <p:nvPr/>
        </p:nvSpPr>
        <p:spPr>
          <a:xfrm>
            <a:off x="2408829" y="1635142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각 테넌트별로 완전히 독립된 BI 환경을 제공하며, 전용 서브도메인(예: oliveyoung.bi.[domain].com)을 적용합니다. 또한 30초 이내 자동 프로비저닝을 구현합니다.</a:t>
            </a:r>
            <a:endParaRPr/>
          </a:p>
        </p:txBody>
      </p:sp>
      <p:sp>
        <p:nvSpPr>
          <p:cNvPr id="1126" name="Google Shape;1126;p35"/>
          <p:cNvSpPr/>
          <p:nvPr/>
        </p:nvSpPr>
        <p:spPr>
          <a:xfrm>
            <a:off x="287421" y="2256934"/>
            <a:ext cx="4187952" cy="237744"/>
          </a:xfrm>
          <a:prstGeom prst="rect">
            <a:avLst/>
          </a:prstGeom>
          <a:solidFill>
            <a:srgbClr val="EBF1FB"/>
          </a:solidFill>
          <a:ln cap="flat" cmpd="sng" w="9525">
            <a:solidFill>
              <a:srgbClr val="1E4D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27" name="Google Shape;1127;p35"/>
          <p:cNvSpPr/>
          <p:nvPr/>
        </p:nvSpPr>
        <p:spPr>
          <a:xfrm>
            <a:off x="397149" y="2275222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E4DA1"/>
                </a:solidFill>
                <a:latin typeface="Noto Sans KR"/>
                <a:ea typeface="Noto Sans KR"/>
                <a:cs typeface="Noto Sans KR"/>
                <a:sym typeface="Noto Sans KR"/>
              </a:rPr>
              <a:t>Target: 전용 서브도메인 제공 · 무제한 확장 가능한 구조</a:t>
            </a:r>
            <a:endParaRPr/>
          </a:p>
        </p:txBody>
      </p:sp>
      <p:sp>
        <p:nvSpPr>
          <p:cNvPr id="1128" name="Google Shape;1128;p35"/>
          <p:cNvSpPr/>
          <p:nvPr/>
        </p:nvSpPr>
        <p:spPr>
          <a:xfrm>
            <a:off x="287421" y="2622694"/>
            <a:ext cx="4187952" cy="1591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29" name="Google Shape;1129;p35"/>
          <p:cNvSpPr/>
          <p:nvPr/>
        </p:nvSpPr>
        <p:spPr>
          <a:xfrm>
            <a:off x="287421" y="2622694"/>
            <a:ext cx="4187952" cy="45720"/>
          </a:xfrm>
          <a:prstGeom prst="rect">
            <a:avLst/>
          </a:prstGeom>
          <a:solidFill>
            <a:srgbClr val="5B21B6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30" name="Google Shape;1130;p35"/>
          <p:cNvSpPr/>
          <p:nvPr/>
        </p:nvSpPr>
        <p:spPr>
          <a:xfrm>
            <a:off x="397149" y="2714134"/>
            <a:ext cx="310896" cy="310896"/>
          </a:xfrm>
          <a:prstGeom prst="roundRect">
            <a:avLst>
              <a:gd fmla="val 14706" name="adj"/>
            </a:avLst>
          </a:prstGeom>
          <a:solidFill>
            <a:srgbClr val="EDE9FE"/>
          </a:solidFill>
          <a:ln cap="flat" cmpd="sng" w="9525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31" name="Google Shape;1131;p35"/>
          <p:cNvSpPr/>
          <p:nvPr/>
        </p:nvSpPr>
        <p:spPr>
          <a:xfrm>
            <a:off x="397149" y="271413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B21B6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132" name="Google Shape;1132;p35"/>
          <p:cNvSpPr/>
          <p:nvPr/>
        </p:nvSpPr>
        <p:spPr>
          <a:xfrm>
            <a:off x="714999" y="2714134"/>
            <a:ext cx="31638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테넌트별 데이터 및 UI/UX(Look &amp; Feel) 분리</a:t>
            </a:r>
            <a:endParaRPr/>
          </a:p>
        </p:txBody>
      </p:sp>
      <p:cxnSp>
        <p:nvCxnSpPr>
          <p:cNvPr id="1133" name="Google Shape;1133;p35"/>
          <p:cNvCxnSpPr/>
          <p:nvPr/>
        </p:nvCxnSpPr>
        <p:spPr>
          <a:xfrm>
            <a:off x="397149" y="3098182"/>
            <a:ext cx="3968496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4" name="Google Shape;1134;p35"/>
          <p:cNvSpPr/>
          <p:nvPr/>
        </p:nvSpPr>
        <p:spPr>
          <a:xfrm>
            <a:off x="397149" y="3171334"/>
            <a:ext cx="475488" cy="164592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 cap="flat" cmpd="sng" w="9525">
            <a:solidFill>
              <a:srgbClr val="FF40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35" name="Google Shape;1135;p35"/>
          <p:cNvSpPr/>
          <p:nvPr/>
        </p:nvSpPr>
        <p:spPr>
          <a:xfrm>
            <a:off x="397149" y="3171334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991B1B"/>
                </a:solidFill>
                <a:latin typeface="Noto Sans KR"/>
                <a:ea typeface="Noto Sans KR"/>
                <a:cs typeface="Noto Sans KR"/>
                <a:sym typeface="Noto Sans KR"/>
              </a:rPr>
              <a:t>AS-IS</a:t>
            </a:r>
            <a:endParaRPr/>
          </a:p>
        </p:txBody>
      </p:sp>
      <p:sp>
        <p:nvSpPr>
          <p:cNvPr id="1136" name="Google Shape;1136;p35"/>
          <p:cNvSpPr/>
          <p:nvPr/>
        </p:nvSpPr>
        <p:spPr>
          <a:xfrm>
            <a:off x="397149" y="3354214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격리 메커니즘이 없어 데이터 유출 위험이 존재합니다. 또한 고객사별로 로고, 색상, 차트 유형, 위젯 등을 개별적으로 커스터마이징할 수 없습니다.</a:t>
            </a:r>
            <a:endParaRPr/>
          </a:p>
        </p:txBody>
      </p:sp>
      <p:sp>
        <p:nvSpPr>
          <p:cNvPr id="1137" name="Google Shape;1137;p35"/>
          <p:cNvSpPr/>
          <p:nvPr/>
        </p:nvSpPr>
        <p:spPr>
          <a:xfrm>
            <a:off x="2408829" y="3171334"/>
            <a:ext cx="512064" cy="164592"/>
          </a:xfrm>
          <a:prstGeom prst="roundRect">
            <a:avLst>
              <a:gd fmla="val 16667" name="adj"/>
            </a:avLst>
          </a:prstGeom>
          <a:solidFill>
            <a:srgbClr val="D1FAE5"/>
          </a:solidFill>
          <a:ln cap="flat" cmpd="sng" w="9525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38" name="Google Shape;1138;p35"/>
          <p:cNvSpPr/>
          <p:nvPr/>
        </p:nvSpPr>
        <p:spPr>
          <a:xfrm>
            <a:off x="2408829" y="3171334"/>
            <a:ext cx="5120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D8C6E"/>
                </a:solidFill>
                <a:latin typeface="Noto Sans KR"/>
                <a:ea typeface="Noto Sans KR"/>
                <a:cs typeface="Noto Sans KR"/>
                <a:sym typeface="Noto Sans KR"/>
              </a:rPr>
              <a:t>TO-BE</a:t>
            </a:r>
            <a:endParaRPr/>
          </a:p>
        </p:txBody>
      </p:sp>
      <p:sp>
        <p:nvSpPr>
          <p:cNvPr id="1139" name="Google Shape;1139;p35"/>
          <p:cNvSpPr/>
          <p:nvPr/>
        </p:nvSpPr>
        <p:spPr>
          <a:xfrm>
            <a:off x="2408829" y="3354214"/>
            <a:ext cx="19933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쿼리 레벨에서 데이터 접근 제어를 적용하여 데이터 격리를 보장합니다. 또한 화이트라벨을 완전 지원하여 로고, 색상, 테마, 차트 유형, 위젯 레이아웃을 테넌트별로 설정하고, 로그인 시 자동으로 적용됩니다.</a:t>
            </a:r>
            <a:endParaRPr/>
          </a:p>
        </p:txBody>
      </p:sp>
      <p:sp>
        <p:nvSpPr>
          <p:cNvPr id="1140" name="Google Shape;1140;p35"/>
          <p:cNvSpPr/>
          <p:nvPr/>
        </p:nvSpPr>
        <p:spPr>
          <a:xfrm>
            <a:off x="287421" y="3976006"/>
            <a:ext cx="4187952" cy="237744"/>
          </a:xfrm>
          <a:prstGeom prst="rect">
            <a:avLst/>
          </a:prstGeom>
          <a:solidFill>
            <a:srgbClr val="EDE9FE"/>
          </a:solidFill>
          <a:ln cap="flat" cmpd="sng" w="9525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41" name="Google Shape;1141;p35"/>
          <p:cNvSpPr/>
          <p:nvPr/>
        </p:nvSpPr>
        <p:spPr>
          <a:xfrm>
            <a:off x="397149" y="399429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21B6"/>
                </a:solidFill>
                <a:latin typeface="Noto Sans KR"/>
                <a:ea typeface="Noto Sans KR"/>
                <a:cs typeface="Noto Sans KR"/>
                <a:sym typeface="Noto Sans KR"/>
              </a:rPr>
              <a:t>Target: 데이터 유출 0건 · 테넌트별 브랜드 적용</a:t>
            </a:r>
            <a:endParaRPr/>
          </a:p>
        </p:txBody>
      </p:sp>
      <p:sp>
        <p:nvSpPr>
          <p:cNvPr id="1142" name="Google Shape;1142;p35"/>
          <p:cNvSpPr/>
          <p:nvPr/>
        </p:nvSpPr>
        <p:spPr>
          <a:xfrm>
            <a:off x="4658253" y="903622"/>
            <a:ext cx="4187952" cy="1591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43" name="Google Shape;1143;p35"/>
          <p:cNvSpPr/>
          <p:nvPr/>
        </p:nvSpPr>
        <p:spPr>
          <a:xfrm>
            <a:off x="4658253" y="903622"/>
            <a:ext cx="4187952" cy="45720"/>
          </a:xfrm>
          <a:prstGeom prst="rect">
            <a:avLst/>
          </a:prstGeom>
          <a:solidFill>
            <a:srgbClr val="0D8C6E"/>
          </a:solidFill>
          <a:ln cap="flat" cmpd="sng" w="12700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44" name="Google Shape;1144;p35"/>
          <p:cNvSpPr/>
          <p:nvPr/>
        </p:nvSpPr>
        <p:spPr>
          <a:xfrm>
            <a:off x="4767981" y="995062"/>
            <a:ext cx="310896" cy="310896"/>
          </a:xfrm>
          <a:prstGeom prst="roundRect">
            <a:avLst>
              <a:gd fmla="val 14706" name="adj"/>
            </a:avLst>
          </a:prstGeom>
          <a:solidFill>
            <a:srgbClr val="D1FAE5"/>
          </a:solidFill>
          <a:ln cap="flat" cmpd="sng" w="9525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45" name="Google Shape;1145;p35"/>
          <p:cNvSpPr/>
          <p:nvPr/>
        </p:nvSpPr>
        <p:spPr>
          <a:xfrm>
            <a:off x="4767981" y="99506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D8C6E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146" name="Google Shape;1146;p35"/>
          <p:cNvSpPr/>
          <p:nvPr/>
        </p:nvSpPr>
        <p:spPr>
          <a:xfrm>
            <a:off x="5085831" y="995062"/>
            <a:ext cx="31638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Row 데이터 처리: 수동 ZIP 방식 → 자동 API 방식</a:t>
            </a:r>
            <a:endParaRPr/>
          </a:p>
        </p:txBody>
      </p:sp>
      <p:cxnSp>
        <p:nvCxnSpPr>
          <p:cNvPr id="1147" name="Google Shape;1147;p35"/>
          <p:cNvCxnSpPr/>
          <p:nvPr/>
        </p:nvCxnSpPr>
        <p:spPr>
          <a:xfrm>
            <a:off x="4767981" y="1379110"/>
            <a:ext cx="3968496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8" name="Google Shape;1148;p35"/>
          <p:cNvSpPr/>
          <p:nvPr/>
        </p:nvSpPr>
        <p:spPr>
          <a:xfrm>
            <a:off x="4767981" y="1452262"/>
            <a:ext cx="475488" cy="164592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 cap="flat" cmpd="sng" w="9525">
            <a:solidFill>
              <a:srgbClr val="FF40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49" name="Google Shape;1149;p35"/>
          <p:cNvSpPr/>
          <p:nvPr/>
        </p:nvSpPr>
        <p:spPr>
          <a:xfrm>
            <a:off x="4767981" y="1452262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991B1B"/>
                </a:solidFill>
                <a:latin typeface="Noto Sans KR"/>
                <a:ea typeface="Noto Sans KR"/>
                <a:cs typeface="Noto Sans KR"/>
                <a:sym typeface="Noto Sans KR"/>
              </a:rPr>
              <a:t>AS-IS</a:t>
            </a:r>
            <a:endParaRPr/>
          </a:p>
        </p:txBody>
      </p:sp>
      <p:sp>
        <p:nvSpPr>
          <p:cNvPr id="1150" name="Google Shape;1150;p35"/>
          <p:cNvSpPr/>
          <p:nvPr/>
        </p:nvSpPr>
        <p:spPr>
          <a:xfrm>
            <a:off x="4767981" y="1635142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ZIP 파일(CSV/Excel) 형태로 데이터를 수신하고, 운영자가 다운로드 → 압축 해제 → 수동 업로드를 수행합니다. 이로 인해 수 시간의 지연이 발생하며, 감사(audit)가 불가능하고 실시간 처리가 어렵습니다.</a:t>
            </a:r>
            <a:endParaRPr/>
          </a:p>
        </p:txBody>
      </p:sp>
      <p:sp>
        <p:nvSpPr>
          <p:cNvPr id="1151" name="Google Shape;1151;p35"/>
          <p:cNvSpPr/>
          <p:nvPr/>
        </p:nvSpPr>
        <p:spPr>
          <a:xfrm>
            <a:off x="6779661" y="1452262"/>
            <a:ext cx="512064" cy="164592"/>
          </a:xfrm>
          <a:prstGeom prst="roundRect">
            <a:avLst>
              <a:gd fmla="val 16667" name="adj"/>
            </a:avLst>
          </a:prstGeom>
          <a:solidFill>
            <a:srgbClr val="D1FAE5"/>
          </a:solidFill>
          <a:ln cap="flat" cmpd="sng" w="9525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52" name="Google Shape;1152;p35"/>
          <p:cNvSpPr/>
          <p:nvPr/>
        </p:nvSpPr>
        <p:spPr>
          <a:xfrm>
            <a:off x="6779661" y="1452262"/>
            <a:ext cx="5120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D8C6E"/>
                </a:solidFill>
                <a:latin typeface="Noto Sans KR"/>
                <a:ea typeface="Noto Sans KR"/>
                <a:cs typeface="Noto Sans KR"/>
                <a:sym typeface="Noto Sans KR"/>
              </a:rPr>
              <a:t>TO-BE</a:t>
            </a:r>
            <a:endParaRPr/>
          </a:p>
        </p:txBody>
      </p:sp>
      <p:sp>
        <p:nvSpPr>
          <p:cNvPr id="1153" name="Google Shape;1153;p35"/>
          <p:cNvSpPr/>
          <p:nvPr/>
        </p:nvSpPr>
        <p:spPr>
          <a:xfrm>
            <a:off x="6779661" y="1635142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STB/백엔드로부터 데이터를 직접 수신하는 API 엔드포인트를 구축합니다. 30초 단위로 Batch POST를 수행하며, 데이터 검증 및 정규화, 테넌트 자동 할당을 처리합니다. 또한 전체 이력 추적이 가능한 Audit Trail을 제공합니다.</a:t>
            </a:r>
            <a:endParaRPr/>
          </a:p>
        </p:txBody>
      </p:sp>
      <p:sp>
        <p:nvSpPr>
          <p:cNvPr id="1154" name="Google Shape;1154;p35"/>
          <p:cNvSpPr/>
          <p:nvPr/>
        </p:nvSpPr>
        <p:spPr>
          <a:xfrm>
            <a:off x="4658253" y="2256934"/>
            <a:ext cx="4187952" cy="237744"/>
          </a:xfrm>
          <a:prstGeom prst="rect">
            <a:avLst/>
          </a:prstGeom>
          <a:solidFill>
            <a:srgbClr val="D1FAE5"/>
          </a:solidFill>
          <a:ln cap="flat" cmpd="sng" w="9525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55" name="Google Shape;1155;p35"/>
          <p:cNvSpPr/>
          <p:nvPr/>
        </p:nvSpPr>
        <p:spPr>
          <a:xfrm>
            <a:off x="4767981" y="2275222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D8C6E"/>
                </a:solidFill>
                <a:latin typeface="Noto Sans KR"/>
                <a:ea typeface="Noto Sans KR"/>
                <a:cs typeface="Noto Sans KR"/>
                <a:sym typeface="Noto Sans KR"/>
              </a:rPr>
              <a:t>Target: 30초/배치 · 전체 이력 추적 지원</a:t>
            </a:r>
            <a:endParaRPr/>
          </a:p>
        </p:txBody>
      </p:sp>
      <p:sp>
        <p:nvSpPr>
          <p:cNvPr id="1156" name="Google Shape;1156;p35"/>
          <p:cNvSpPr/>
          <p:nvPr/>
        </p:nvSpPr>
        <p:spPr>
          <a:xfrm>
            <a:off x="4658253" y="2622694"/>
            <a:ext cx="4187952" cy="15910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57" name="Google Shape;1157;p35"/>
          <p:cNvSpPr/>
          <p:nvPr/>
        </p:nvSpPr>
        <p:spPr>
          <a:xfrm>
            <a:off x="4658253" y="2622694"/>
            <a:ext cx="4187952" cy="4572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58" name="Google Shape;1158;p35"/>
          <p:cNvSpPr/>
          <p:nvPr/>
        </p:nvSpPr>
        <p:spPr>
          <a:xfrm>
            <a:off x="4767981" y="2714134"/>
            <a:ext cx="310896" cy="310896"/>
          </a:xfrm>
          <a:prstGeom prst="roundRect">
            <a:avLst>
              <a:gd fmla="val 14706" name="adj"/>
            </a:avLst>
          </a:prstGeom>
          <a:solidFill>
            <a:srgbClr val="FEF3C7"/>
          </a:solidFill>
          <a:ln cap="flat" cmpd="sng" w="9525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59" name="Google Shape;1159;p35"/>
          <p:cNvSpPr/>
          <p:nvPr/>
        </p:nvSpPr>
        <p:spPr>
          <a:xfrm>
            <a:off x="4767981" y="271413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45309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/>
          </a:p>
        </p:txBody>
      </p:sp>
      <p:sp>
        <p:nvSpPr>
          <p:cNvPr id="1160" name="Google Shape;1160;p35"/>
          <p:cNvSpPr/>
          <p:nvPr/>
        </p:nvSpPr>
        <p:spPr>
          <a:xfrm>
            <a:off x="5085831" y="2714134"/>
            <a:ext cx="31638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Auto-linking: 수동 입력 → 자동 API</a:t>
            </a:r>
            <a:endParaRPr b="1" i="0" sz="1050" u="none" cap="none" strike="noStrike">
              <a:solidFill>
                <a:srgbClr val="11182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161" name="Google Shape;1161;p35"/>
          <p:cNvCxnSpPr/>
          <p:nvPr/>
        </p:nvCxnSpPr>
        <p:spPr>
          <a:xfrm>
            <a:off x="4767981" y="3098182"/>
            <a:ext cx="3968496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2" name="Google Shape;1162;p35"/>
          <p:cNvSpPr/>
          <p:nvPr/>
        </p:nvSpPr>
        <p:spPr>
          <a:xfrm>
            <a:off x="4767981" y="3171334"/>
            <a:ext cx="475488" cy="164592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 cap="flat" cmpd="sng" w="9525">
            <a:solidFill>
              <a:srgbClr val="FF40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63" name="Google Shape;1163;p35"/>
          <p:cNvSpPr/>
          <p:nvPr/>
        </p:nvSpPr>
        <p:spPr>
          <a:xfrm>
            <a:off x="4767981" y="3171334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991B1B"/>
                </a:solidFill>
                <a:latin typeface="Noto Sans KR"/>
                <a:ea typeface="Noto Sans KR"/>
                <a:cs typeface="Noto Sans KR"/>
                <a:sym typeface="Noto Sans KR"/>
              </a:rPr>
              <a:t>AS-IS</a:t>
            </a:r>
            <a:endParaRPr/>
          </a:p>
        </p:txBody>
      </p:sp>
      <p:sp>
        <p:nvSpPr>
          <p:cNvPr id="1164" name="Google Shape;1164;p35"/>
          <p:cNvSpPr/>
          <p:nvPr/>
        </p:nvSpPr>
        <p:spPr>
          <a:xfrm>
            <a:off x="4767981" y="3354214"/>
            <a:ext cx="213741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콘텐츠 ↔ 사이트 ↔ 테넌트 간 매핑을 수동으로 입력해야 합니다. 수백 개 이상의 매핑이 발생하며, N(테넌트) × M(사이트) × K(콘텐츠) 구조로 복잡도가 기하급수적으로 증가합니다. 신규 테넌트 추가 또는 콘텐츠 변경 시, 전체 매핑을 반복 수행해야 합니다.</a:t>
            </a:r>
            <a:endParaRPr/>
          </a:p>
        </p:txBody>
      </p:sp>
      <p:sp>
        <p:nvSpPr>
          <p:cNvPr id="1165" name="Google Shape;1165;p35"/>
          <p:cNvSpPr/>
          <p:nvPr/>
        </p:nvSpPr>
        <p:spPr>
          <a:xfrm>
            <a:off x="6779661" y="3171334"/>
            <a:ext cx="512064" cy="164592"/>
          </a:xfrm>
          <a:prstGeom prst="roundRect">
            <a:avLst>
              <a:gd fmla="val 16667" name="adj"/>
            </a:avLst>
          </a:prstGeom>
          <a:solidFill>
            <a:srgbClr val="D1FAE5"/>
          </a:solidFill>
          <a:ln cap="flat" cmpd="sng" w="9525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66" name="Google Shape;1166;p35"/>
          <p:cNvSpPr/>
          <p:nvPr/>
        </p:nvSpPr>
        <p:spPr>
          <a:xfrm>
            <a:off x="6779661" y="3171334"/>
            <a:ext cx="5120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0D8C6E"/>
                </a:solidFill>
                <a:latin typeface="Noto Sans KR"/>
                <a:ea typeface="Noto Sans KR"/>
                <a:cs typeface="Noto Sans KR"/>
                <a:sym typeface="Noto Sans KR"/>
              </a:rPr>
              <a:t>TO-BE</a:t>
            </a:r>
            <a:endParaRPr/>
          </a:p>
        </p:txBody>
      </p:sp>
      <p:sp>
        <p:nvSpPr>
          <p:cNvPr id="1167" name="Google Shape;1167;p35"/>
          <p:cNvSpPr/>
          <p:nvPr/>
        </p:nvSpPr>
        <p:spPr>
          <a:xfrm>
            <a:off x="6779661" y="3354214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CMS 이벤트 기반 Auto-linking Engine을 구축합니다. STB가 등록되면 device → site → tenant 관계를 자동으로 인식하며, 콘텐츠가 퍼블리시되면 캠페인에 자동으로 연결됩니다. 수동 입력은 완전히 제거됩니다.</a:t>
            </a:r>
            <a:endParaRPr/>
          </a:p>
        </p:txBody>
      </p:sp>
      <p:sp>
        <p:nvSpPr>
          <p:cNvPr id="1168" name="Google Shape;1168;p35"/>
          <p:cNvSpPr/>
          <p:nvPr/>
        </p:nvSpPr>
        <p:spPr>
          <a:xfrm>
            <a:off x="4658253" y="3976006"/>
            <a:ext cx="4187952" cy="237744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69" name="Google Shape;1169;p35"/>
          <p:cNvSpPr/>
          <p:nvPr/>
        </p:nvSpPr>
        <p:spPr>
          <a:xfrm>
            <a:off x="4767981" y="399429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B45309"/>
                </a:solidFill>
                <a:latin typeface="Noto Sans KR"/>
                <a:ea typeface="Noto Sans KR"/>
                <a:cs typeface="Noto Sans KR"/>
                <a:sym typeface="Noto Sans KR"/>
              </a:rPr>
              <a:t>Target: CMS 기반 자동화 · 오류 없는 매핑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36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BI 도구 비교 </a:t>
            </a:r>
            <a:r>
              <a:rPr b="1" lang="en-US" sz="12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및 선정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36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77" name="Google Shape;1177;p36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178" name="Google Shape;117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9" name="Google Shape;1179;p36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0" name="Google Shape;1180;p36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1" name="Google Shape;1181;p36"/>
          <p:cNvSpPr/>
          <p:nvPr/>
        </p:nvSpPr>
        <p:spPr>
          <a:xfrm>
            <a:off x="368815" y="897034"/>
            <a:ext cx="8321040" cy="267396"/>
          </a:xfrm>
          <a:prstGeom prst="rect">
            <a:avLst/>
          </a:prstGeom>
          <a:solidFill>
            <a:srgbClr val="163A7A"/>
          </a:solidFill>
          <a:ln cap="flat" cmpd="sng" w="12700">
            <a:solidFill>
              <a:srgbClr val="163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2" name="Google Shape;1182;p36"/>
          <p:cNvSpPr/>
          <p:nvPr/>
        </p:nvSpPr>
        <p:spPr>
          <a:xfrm>
            <a:off x="414535" y="911107"/>
            <a:ext cx="1499616" cy="239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기준</a:t>
            </a:r>
            <a:endParaRPr/>
          </a:p>
        </p:txBody>
      </p:sp>
      <p:sp>
        <p:nvSpPr>
          <p:cNvPr id="1183" name="Google Shape;1183;p36"/>
          <p:cNvSpPr/>
          <p:nvPr/>
        </p:nvSpPr>
        <p:spPr>
          <a:xfrm>
            <a:off x="2033023" y="911107"/>
            <a:ext cx="1188720" cy="239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A - Superset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(오픈소스)</a:t>
            </a:r>
            <a:endParaRPr/>
          </a:p>
        </p:txBody>
      </p:sp>
      <p:sp>
        <p:nvSpPr>
          <p:cNvPr id="1184" name="Google Shape;1184;p36"/>
          <p:cNvSpPr/>
          <p:nvPr/>
        </p:nvSpPr>
        <p:spPr>
          <a:xfrm>
            <a:off x="3349759" y="911107"/>
            <a:ext cx="1188720" cy="239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B - Cube.dev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(헤드리스 BI)</a:t>
            </a:r>
            <a:endParaRPr/>
          </a:p>
        </p:txBody>
      </p:sp>
      <p:sp>
        <p:nvSpPr>
          <p:cNvPr id="1185" name="Google Shape;1185;p36"/>
          <p:cNvSpPr/>
          <p:nvPr/>
        </p:nvSpPr>
        <p:spPr>
          <a:xfrm>
            <a:off x="4666495" y="911107"/>
            <a:ext cx="1188720" cy="239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C - Metabase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(오픈소스)</a:t>
            </a:r>
            <a:endParaRPr/>
          </a:p>
        </p:txBody>
      </p:sp>
      <p:sp>
        <p:nvSpPr>
          <p:cNvPr id="1186" name="Google Shape;1186;p36"/>
          <p:cNvSpPr/>
          <p:nvPr/>
        </p:nvSpPr>
        <p:spPr>
          <a:xfrm>
            <a:off x="5983231" y="911107"/>
            <a:ext cx="1188720" cy="239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D - Power BI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Embedded</a:t>
            </a:r>
            <a:endParaRPr b="0" i="0" sz="8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7" name="Google Shape;1187;p36"/>
          <p:cNvSpPr/>
          <p:nvPr/>
        </p:nvSpPr>
        <p:spPr>
          <a:xfrm>
            <a:off x="7299967" y="911107"/>
            <a:ext cx="1371600" cy="239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E - 신규 개발</a:t>
            </a:r>
            <a:endParaRPr/>
          </a:p>
        </p:txBody>
      </p:sp>
      <p:sp>
        <p:nvSpPr>
          <p:cNvPr id="1188" name="Google Shape;1188;p36"/>
          <p:cNvSpPr/>
          <p:nvPr/>
        </p:nvSpPr>
        <p:spPr>
          <a:xfrm>
            <a:off x="3304039" y="1178504"/>
            <a:ext cx="1261872" cy="207584"/>
          </a:xfrm>
          <a:prstGeom prst="rect">
            <a:avLst/>
          </a:prstGeom>
          <a:noFill/>
          <a:ln cap="flat" cmpd="sng" w="9525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9" name="Google Shape;1189;p36"/>
          <p:cNvSpPr/>
          <p:nvPr/>
        </p:nvSpPr>
        <p:spPr>
          <a:xfrm>
            <a:off x="368815" y="1178504"/>
            <a:ext cx="8321040" cy="207584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90" name="Google Shape;1190;p36"/>
          <p:cNvSpPr/>
          <p:nvPr/>
        </p:nvSpPr>
        <p:spPr>
          <a:xfrm>
            <a:off x="414535" y="1199614"/>
            <a:ext cx="1499616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라이선스 비용</a:t>
            </a:r>
            <a:endParaRPr/>
          </a:p>
        </p:txBody>
      </p:sp>
      <p:sp>
        <p:nvSpPr>
          <p:cNvPr id="1191" name="Google Shape;1191;p36"/>
          <p:cNvSpPr/>
          <p:nvPr/>
        </p:nvSpPr>
        <p:spPr>
          <a:xfrm>
            <a:off x="2033023" y="1199614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$0 (Self-host)</a:t>
            </a:r>
            <a:endParaRPr/>
          </a:p>
        </p:txBody>
      </p:sp>
      <p:sp>
        <p:nvSpPr>
          <p:cNvPr id="1192" name="Google Shape;1192;p36"/>
          <p:cNvSpPr/>
          <p:nvPr/>
        </p:nvSpPr>
        <p:spPr>
          <a:xfrm>
            <a:off x="3349759" y="1199614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$0 / $500/월</a:t>
            </a:r>
            <a:endParaRPr/>
          </a:p>
        </p:txBody>
      </p:sp>
      <p:sp>
        <p:nvSpPr>
          <p:cNvPr id="1193" name="Google Shape;1193;p36"/>
          <p:cNvSpPr/>
          <p:nvPr/>
        </p:nvSpPr>
        <p:spPr>
          <a:xfrm>
            <a:off x="4666495" y="1199614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$0 (Self-host)</a:t>
            </a:r>
            <a:endParaRPr/>
          </a:p>
        </p:txBody>
      </p:sp>
      <p:sp>
        <p:nvSpPr>
          <p:cNvPr id="1194" name="Google Shape;1194;p36"/>
          <p:cNvSpPr/>
          <p:nvPr/>
        </p:nvSpPr>
        <p:spPr>
          <a:xfrm>
            <a:off x="5983231" y="1199614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$735~4995/월</a:t>
            </a:r>
            <a:endParaRPr/>
          </a:p>
        </p:txBody>
      </p:sp>
      <p:sp>
        <p:nvSpPr>
          <p:cNvPr id="1195" name="Google Shape;1195;p36"/>
          <p:cNvSpPr/>
          <p:nvPr/>
        </p:nvSpPr>
        <p:spPr>
          <a:xfrm>
            <a:off x="7299967" y="1199614"/>
            <a:ext cx="137160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별도 산정 필요</a:t>
            </a:r>
            <a:endParaRPr/>
          </a:p>
        </p:txBody>
      </p:sp>
      <p:sp>
        <p:nvSpPr>
          <p:cNvPr id="1196" name="Google Shape;1196;p36"/>
          <p:cNvSpPr/>
          <p:nvPr/>
        </p:nvSpPr>
        <p:spPr>
          <a:xfrm>
            <a:off x="3304039" y="1386087"/>
            <a:ext cx="1261872" cy="207584"/>
          </a:xfrm>
          <a:prstGeom prst="rect">
            <a:avLst/>
          </a:prstGeom>
          <a:noFill/>
          <a:ln cap="flat" cmpd="sng" w="9525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97" name="Google Shape;1197;p36"/>
          <p:cNvSpPr/>
          <p:nvPr/>
        </p:nvSpPr>
        <p:spPr>
          <a:xfrm>
            <a:off x="368815" y="1386087"/>
            <a:ext cx="8321040" cy="20758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98" name="Google Shape;1198;p36"/>
          <p:cNvSpPr/>
          <p:nvPr/>
        </p:nvSpPr>
        <p:spPr>
          <a:xfrm>
            <a:off x="414535" y="1407198"/>
            <a:ext cx="1499616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멀티 테넌트 RLS</a:t>
            </a:r>
            <a:endParaRPr/>
          </a:p>
        </p:txBody>
      </p:sp>
      <p:sp>
        <p:nvSpPr>
          <p:cNvPr id="1199" name="Google Shape;1199;p36"/>
          <p:cNvSpPr/>
          <p:nvPr/>
        </p:nvSpPr>
        <p:spPr>
          <a:xfrm>
            <a:off x="2033023" y="1407198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커스텀 개발 필요</a:t>
            </a:r>
            <a:endParaRPr/>
          </a:p>
        </p:txBody>
      </p:sp>
      <p:sp>
        <p:nvSpPr>
          <p:cNvPr id="1200" name="Google Shape;1200;p36"/>
          <p:cNvSpPr/>
          <p:nvPr/>
        </p:nvSpPr>
        <p:spPr>
          <a:xfrm>
            <a:off x="3349759" y="1407198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Native API 지원</a:t>
            </a:r>
            <a:endParaRPr/>
          </a:p>
        </p:txBody>
      </p:sp>
      <p:sp>
        <p:nvSpPr>
          <p:cNvPr id="1201" name="Google Shape;1201;p36"/>
          <p:cNvSpPr/>
          <p:nvPr/>
        </p:nvSpPr>
        <p:spPr>
          <a:xfrm>
            <a:off x="4666495" y="1407198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커스텀 개발 필요</a:t>
            </a:r>
            <a:endParaRPr/>
          </a:p>
        </p:txBody>
      </p:sp>
      <p:sp>
        <p:nvSpPr>
          <p:cNvPr id="1202" name="Google Shape;1202;p36"/>
          <p:cNvSpPr/>
          <p:nvPr/>
        </p:nvSpPr>
        <p:spPr>
          <a:xfrm>
            <a:off x="5983231" y="1407198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Native (성숙)</a:t>
            </a:r>
            <a:endParaRPr/>
          </a:p>
        </p:txBody>
      </p:sp>
      <p:sp>
        <p:nvSpPr>
          <p:cNvPr id="1203" name="Google Shape;1203;p36"/>
          <p:cNvSpPr/>
          <p:nvPr/>
        </p:nvSpPr>
        <p:spPr>
          <a:xfrm>
            <a:off x="7299967" y="1407198"/>
            <a:ext cx="137160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완전 제어</a:t>
            </a:r>
            <a:endParaRPr/>
          </a:p>
        </p:txBody>
      </p:sp>
      <p:sp>
        <p:nvSpPr>
          <p:cNvPr id="1204" name="Google Shape;1204;p36"/>
          <p:cNvSpPr/>
          <p:nvPr/>
        </p:nvSpPr>
        <p:spPr>
          <a:xfrm>
            <a:off x="3304039" y="1593671"/>
            <a:ext cx="1261872" cy="207584"/>
          </a:xfrm>
          <a:prstGeom prst="rect">
            <a:avLst/>
          </a:prstGeom>
          <a:noFill/>
          <a:ln cap="flat" cmpd="sng" w="9525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05" name="Google Shape;1205;p36"/>
          <p:cNvSpPr/>
          <p:nvPr/>
        </p:nvSpPr>
        <p:spPr>
          <a:xfrm>
            <a:off x="368815" y="1593671"/>
            <a:ext cx="8321040" cy="207584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06" name="Google Shape;1206;p36"/>
          <p:cNvSpPr/>
          <p:nvPr/>
        </p:nvSpPr>
        <p:spPr>
          <a:xfrm>
            <a:off x="414535" y="1614782"/>
            <a:ext cx="1499616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화이트라벨 임베드</a:t>
            </a:r>
            <a:endParaRPr/>
          </a:p>
        </p:txBody>
      </p:sp>
      <p:sp>
        <p:nvSpPr>
          <p:cNvPr id="1207" name="Google Shape;1207;p36"/>
          <p:cNvSpPr/>
          <p:nvPr/>
        </p:nvSpPr>
        <p:spPr>
          <a:xfrm>
            <a:off x="2033023" y="1614782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✓ Iframe/Embed 지원</a:t>
            </a:r>
            <a:endParaRPr/>
          </a:p>
        </p:txBody>
      </p:sp>
      <p:sp>
        <p:nvSpPr>
          <p:cNvPr id="1208" name="Google Shape;1208;p36"/>
          <p:cNvSpPr/>
          <p:nvPr/>
        </p:nvSpPr>
        <p:spPr>
          <a:xfrm>
            <a:off x="3349759" y="1614782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✓✓ 완전 Headless</a:t>
            </a:r>
            <a:endParaRPr/>
          </a:p>
        </p:txBody>
      </p:sp>
      <p:sp>
        <p:nvSpPr>
          <p:cNvPr id="1209" name="Google Shape;1209;p36"/>
          <p:cNvSpPr/>
          <p:nvPr/>
        </p:nvSpPr>
        <p:spPr>
          <a:xfrm>
            <a:off x="4666495" y="1614782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✓ Iframe 지원</a:t>
            </a:r>
            <a:endParaRPr/>
          </a:p>
        </p:txBody>
      </p:sp>
      <p:sp>
        <p:nvSpPr>
          <p:cNvPr id="1210" name="Google Shape;1210;p36"/>
          <p:cNvSpPr/>
          <p:nvPr/>
        </p:nvSpPr>
        <p:spPr>
          <a:xfrm>
            <a:off x="5983231" y="1614782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✓ SDK + Iframe</a:t>
            </a:r>
            <a:endParaRPr/>
          </a:p>
        </p:txBody>
      </p:sp>
      <p:sp>
        <p:nvSpPr>
          <p:cNvPr id="1211" name="Google Shape;1211;p36"/>
          <p:cNvSpPr/>
          <p:nvPr/>
        </p:nvSpPr>
        <p:spPr>
          <a:xfrm>
            <a:off x="7299967" y="1614782"/>
            <a:ext cx="137160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✓✓ 최적 수준</a:t>
            </a:r>
            <a:endParaRPr/>
          </a:p>
        </p:txBody>
      </p:sp>
      <p:sp>
        <p:nvSpPr>
          <p:cNvPr id="1212" name="Google Shape;1212;p36"/>
          <p:cNvSpPr/>
          <p:nvPr/>
        </p:nvSpPr>
        <p:spPr>
          <a:xfrm>
            <a:off x="3304039" y="1801255"/>
            <a:ext cx="1261872" cy="207584"/>
          </a:xfrm>
          <a:prstGeom prst="rect">
            <a:avLst/>
          </a:prstGeom>
          <a:noFill/>
          <a:ln cap="flat" cmpd="sng" w="9525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3" name="Google Shape;1213;p36"/>
          <p:cNvSpPr/>
          <p:nvPr/>
        </p:nvSpPr>
        <p:spPr>
          <a:xfrm>
            <a:off x="368815" y="1801255"/>
            <a:ext cx="8321040" cy="20758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4" name="Google Shape;1214;p36"/>
          <p:cNvSpPr/>
          <p:nvPr/>
        </p:nvSpPr>
        <p:spPr>
          <a:xfrm>
            <a:off x="414535" y="1822365"/>
            <a:ext cx="1499616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서브도메인/URL 분리</a:t>
            </a:r>
            <a:endParaRPr/>
          </a:p>
        </p:txBody>
      </p:sp>
      <p:sp>
        <p:nvSpPr>
          <p:cNvPr id="1215" name="Google Shape;1215;p36"/>
          <p:cNvSpPr/>
          <p:nvPr/>
        </p:nvSpPr>
        <p:spPr>
          <a:xfrm>
            <a:off x="2033023" y="1822365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✓ Self-config</a:t>
            </a:r>
            <a:endParaRPr/>
          </a:p>
        </p:txBody>
      </p:sp>
      <p:sp>
        <p:nvSpPr>
          <p:cNvPr id="1216" name="Google Shape;1216;p36"/>
          <p:cNvSpPr/>
          <p:nvPr/>
        </p:nvSpPr>
        <p:spPr>
          <a:xfrm>
            <a:off x="3349759" y="1822365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✓ API 기반</a:t>
            </a:r>
            <a:endParaRPr/>
          </a:p>
        </p:txBody>
      </p:sp>
      <p:sp>
        <p:nvSpPr>
          <p:cNvPr id="1217" name="Google Shape;1217;p36"/>
          <p:cNvSpPr/>
          <p:nvPr/>
        </p:nvSpPr>
        <p:spPr>
          <a:xfrm>
            <a:off x="4666495" y="1822365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✓ Self-config</a:t>
            </a:r>
            <a:endParaRPr/>
          </a:p>
        </p:txBody>
      </p:sp>
      <p:sp>
        <p:nvSpPr>
          <p:cNvPr id="1218" name="Google Shape;1218;p36"/>
          <p:cNvSpPr/>
          <p:nvPr/>
        </p:nvSpPr>
        <p:spPr>
          <a:xfrm>
            <a:off x="5983231" y="1822365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✓ Custom domain</a:t>
            </a:r>
            <a:endParaRPr/>
          </a:p>
        </p:txBody>
      </p:sp>
      <p:sp>
        <p:nvSpPr>
          <p:cNvPr id="1219" name="Google Shape;1219;p36"/>
          <p:cNvSpPr/>
          <p:nvPr/>
        </p:nvSpPr>
        <p:spPr>
          <a:xfrm>
            <a:off x="7299967" y="1822365"/>
            <a:ext cx="137160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✓✓ 완전 제어</a:t>
            </a:r>
            <a:endParaRPr/>
          </a:p>
        </p:txBody>
      </p:sp>
      <p:sp>
        <p:nvSpPr>
          <p:cNvPr id="1220" name="Google Shape;1220;p36"/>
          <p:cNvSpPr/>
          <p:nvPr/>
        </p:nvSpPr>
        <p:spPr>
          <a:xfrm>
            <a:off x="3304039" y="2008839"/>
            <a:ext cx="1261872" cy="207584"/>
          </a:xfrm>
          <a:prstGeom prst="rect">
            <a:avLst/>
          </a:prstGeom>
          <a:noFill/>
          <a:ln cap="flat" cmpd="sng" w="9525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1" name="Google Shape;1221;p36"/>
          <p:cNvSpPr/>
          <p:nvPr/>
        </p:nvSpPr>
        <p:spPr>
          <a:xfrm>
            <a:off x="368815" y="2008839"/>
            <a:ext cx="8321040" cy="207584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2" name="Google Shape;1222;p36"/>
          <p:cNvSpPr/>
          <p:nvPr/>
        </p:nvSpPr>
        <p:spPr>
          <a:xfrm>
            <a:off x="414535" y="2029949"/>
            <a:ext cx="1499616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UI/UX 커스터마이징</a:t>
            </a:r>
            <a:endParaRPr/>
          </a:p>
        </p:txBody>
      </p:sp>
      <p:sp>
        <p:nvSpPr>
          <p:cNvPr id="1223" name="Google Shape;1223;p36"/>
          <p:cNvSpPr/>
          <p:nvPr/>
        </p:nvSpPr>
        <p:spPr>
          <a:xfrm>
            <a:off x="2033023" y="2029949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CSS + 테마</a:t>
            </a:r>
            <a:endParaRPr/>
          </a:p>
        </p:txBody>
      </p:sp>
      <p:sp>
        <p:nvSpPr>
          <p:cNvPr id="1224" name="Google Shape;1224;p36"/>
          <p:cNvSpPr/>
          <p:nvPr/>
        </p:nvSpPr>
        <p:spPr>
          <a:xfrm>
            <a:off x="3349759" y="2029949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프론트엔드 자체 개발</a:t>
            </a:r>
            <a:endParaRPr/>
          </a:p>
        </p:txBody>
      </p:sp>
      <p:sp>
        <p:nvSpPr>
          <p:cNvPr id="1225" name="Google Shape;1225;p36"/>
          <p:cNvSpPr/>
          <p:nvPr/>
        </p:nvSpPr>
        <p:spPr>
          <a:xfrm>
            <a:off x="4666495" y="2029949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CSS 제한적</a:t>
            </a:r>
            <a:endParaRPr/>
          </a:p>
        </p:txBody>
      </p:sp>
      <p:sp>
        <p:nvSpPr>
          <p:cNvPr id="1226" name="Google Shape;1226;p36"/>
          <p:cNvSpPr/>
          <p:nvPr/>
        </p:nvSpPr>
        <p:spPr>
          <a:xfrm>
            <a:off x="5983231" y="2029949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테마 + CSS 제한적</a:t>
            </a:r>
            <a:endParaRPr/>
          </a:p>
        </p:txBody>
      </p:sp>
      <p:sp>
        <p:nvSpPr>
          <p:cNvPr id="1227" name="Google Shape;1227;p36"/>
          <p:cNvSpPr/>
          <p:nvPr/>
        </p:nvSpPr>
        <p:spPr>
          <a:xfrm>
            <a:off x="7299967" y="2029949"/>
            <a:ext cx="137160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무제한</a:t>
            </a:r>
            <a:endParaRPr/>
          </a:p>
        </p:txBody>
      </p:sp>
      <p:sp>
        <p:nvSpPr>
          <p:cNvPr id="1228" name="Google Shape;1228;p36"/>
          <p:cNvSpPr/>
          <p:nvPr/>
        </p:nvSpPr>
        <p:spPr>
          <a:xfrm>
            <a:off x="3304039" y="2216423"/>
            <a:ext cx="1261872" cy="207584"/>
          </a:xfrm>
          <a:prstGeom prst="rect">
            <a:avLst/>
          </a:prstGeom>
          <a:noFill/>
          <a:ln cap="flat" cmpd="sng" w="9525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9" name="Google Shape;1229;p36"/>
          <p:cNvSpPr/>
          <p:nvPr/>
        </p:nvSpPr>
        <p:spPr>
          <a:xfrm>
            <a:off x="368815" y="2216423"/>
            <a:ext cx="8321040" cy="20758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30" name="Google Shape;1230;p36"/>
          <p:cNvSpPr/>
          <p:nvPr/>
        </p:nvSpPr>
        <p:spPr>
          <a:xfrm>
            <a:off x="414535" y="2237533"/>
            <a:ext cx="1499616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커스텀 위젯/차트</a:t>
            </a:r>
            <a:endParaRPr/>
          </a:p>
        </p:txBody>
      </p:sp>
      <p:sp>
        <p:nvSpPr>
          <p:cNvPr id="1231" name="Google Shape;1231;p36"/>
          <p:cNvSpPr/>
          <p:nvPr/>
        </p:nvSpPr>
        <p:spPr>
          <a:xfrm>
            <a:off x="2033023" y="2237533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Plugin 생태계</a:t>
            </a:r>
            <a:endParaRPr/>
          </a:p>
        </p:txBody>
      </p:sp>
      <p:sp>
        <p:nvSpPr>
          <p:cNvPr id="1232" name="Google Shape;1232;p36"/>
          <p:cNvSpPr/>
          <p:nvPr/>
        </p:nvSpPr>
        <p:spPr>
          <a:xfrm>
            <a:off x="3349759" y="2237533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컴포넌트 자체 개발</a:t>
            </a:r>
            <a:endParaRPr/>
          </a:p>
        </p:txBody>
      </p:sp>
      <p:sp>
        <p:nvSpPr>
          <p:cNvPr id="1233" name="Google Shape;1233;p36"/>
          <p:cNvSpPr/>
          <p:nvPr/>
        </p:nvSpPr>
        <p:spPr>
          <a:xfrm>
            <a:off x="4666495" y="2237533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Plugin 제한적</a:t>
            </a:r>
            <a:endParaRPr/>
          </a:p>
        </p:txBody>
      </p:sp>
      <p:sp>
        <p:nvSpPr>
          <p:cNvPr id="1234" name="Google Shape;1234;p36"/>
          <p:cNvSpPr/>
          <p:nvPr/>
        </p:nvSpPr>
        <p:spPr>
          <a:xfrm>
            <a:off x="5983231" y="2237533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Custom Visual SDK</a:t>
            </a:r>
            <a:endParaRPr/>
          </a:p>
        </p:txBody>
      </p:sp>
      <p:sp>
        <p:nvSpPr>
          <p:cNvPr id="1235" name="Google Shape;1235;p36"/>
          <p:cNvSpPr/>
          <p:nvPr/>
        </p:nvSpPr>
        <p:spPr>
          <a:xfrm>
            <a:off x="7299967" y="2237533"/>
            <a:ext cx="137160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요구사항 기반</a:t>
            </a:r>
            <a:endParaRPr/>
          </a:p>
        </p:txBody>
      </p:sp>
      <p:sp>
        <p:nvSpPr>
          <p:cNvPr id="1236" name="Google Shape;1236;p36"/>
          <p:cNvSpPr/>
          <p:nvPr/>
        </p:nvSpPr>
        <p:spPr>
          <a:xfrm>
            <a:off x="3304039" y="2424007"/>
            <a:ext cx="1261872" cy="207584"/>
          </a:xfrm>
          <a:prstGeom prst="rect">
            <a:avLst/>
          </a:prstGeom>
          <a:noFill/>
          <a:ln cap="flat" cmpd="sng" w="9525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37" name="Google Shape;1237;p36"/>
          <p:cNvSpPr/>
          <p:nvPr/>
        </p:nvSpPr>
        <p:spPr>
          <a:xfrm>
            <a:off x="368815" y="2424007"/>
            <a:ext cx="8321040" cy="207584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38" name="Google Shape;1238;p36"/>
          <p:cNvSpPr/>
          <p:nvPr/>
        </p:nvSpPr>
        <p:spPr>
          <a:xfrm>
            <a:off x="414535" y="2445117"/>
            <a:ext cx="1499616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주권</a:t>
            </a:r>
            <a:endParaRPr/>
          </a:p>
        </p:txBody>
      </p:sp>
      <p:sp>
        <p:nvSpPr>
          <p:cNvPr id="1239" name="Google Shape;1239;p36"/>
          <p:cNvSpPr/>
          <p:nvPr/>
        </p:nvSpPr>
        <p:spPr>
          <a:xfrm>
            <a:off x="2033023" y="2445117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✓✓ Self-host (IDC)</a:t>
            </a:r>
            <a:endParaRPr/>
          </a:p>
        </p:txBody>
      </p:sp>
      <p:sp>
        <p:nvSpPr>
          <p:cNvPr id="1240" name="Google Shape;1240;p36"/>
          <p:cNvSpPr/>
          <p:nvPr/>
        </p:nvSpPr>
        <p:spPr>
          <a:xfrm>
            <a:off x="3349759" y="2445117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✓✓ Self-host (IDC)</a:t>
            </a:r>
            <a:endParaRPr/>
          </a:p>
        </p:txBody>
      </p:sp>
      <p:sp>
        <p:nvSpPr>
          <p:cNvPr id="1241" name="Google Shape;1241;p36"/>
          <p:cNvSpPr/>
          <p:nvPr/>
        </p:nvSpPr>
        <p:spPr>
          <a:xfrm>
            <a:off x="4666495" y="2445117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✓✓ Self-host (IDC)</a:t>
            </a:r>
            <a:endParaRPr/>
          </a:p>
        </p:txBody>
      </p:sp>
      <p:sp>
        <p:nvSpPr>
          <p:cNvPr id="1242" name="Google Shape;1242;p36"/>
          <p:cNvSpPr/>
          <p:nvPr/>
        </p:nvSpPr>
        <p:spPr>
          <a:xfrm>
            <a:off x="5983231" y="2445117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제한적 (MSFT Cloud)</a:t>
            </a:r>
            <a:endParaRPr/>
          </a:p>
        </p:txBody>
      </p:sp>
      <p:sp>
        <p:nvSpPr>
          <p:cNvPr id="1243" name="Google Shape;1243;p36"/>
          <p:cNvSpPr/>
          <p:nvPr/>
        </p:nvSpPr>
        <p:spPr>
          <a:xfrm>
            <a:off x="7299967" y="2445117"/>
            <a:ext cx="137160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✓✓ Self-host</a:t>
            </a:r>
            <a:endParaRPr/>
          </a:p>
        </p:txBody>
      </p:sp>
      <p:sp>
        <p:nvSpPr>
          <p:cNvPr id="1244" name="Google Shape;1244;p36"/>
          <p:cNvSpPr/>
          <p:nvPr/>
        </p:nvSpPr>
        <p:spPr>
          <a:xfrm>
            <a:off x="3304039" y="2631590"/>
            <a:ext cx="1261872" cy="207584"/>
          </a:xfrm>
          <a:prstGeom prst="rect">
            <a:avLst/>
          </a:prstGeom>
          <a:noFill/>
          <a:ln cap="flat" cmpd="sng" w="9525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45" name="Google Shape;1245;p36"/>
          <p:cNvSpPr/>
          <p:nvPr/>
        </p:nvSpPr>
        <p:spPr>
          <a:xfrm>
            <a:off x="368815" y="2631590"/>
            <a:ext cx="8321040" cy="20758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46" name="Google Shape;1246;p36"/>
          <p:cNvSpPr/>
          <p:nvPr/>
        </p:nvSpPr>
        <p:spPr>
          <a:xfrm>
            <a:off x="414535" y="2652701"/>
            <a:ext cx="1499616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Apache/MIT 라이선스</a:t>
            </a:r>
            <a:endParaRPr/>
          </a:p>
        </p:txBody>
      </p:sp>
      <p:sp>
        <p:nvSpPr>
          <p:cNvPr id="1247" name="Google Shape;1247;p36"/>
          <p:cNvSpPr/>
          <p:nvPr/>
        </p:nvSpPr>
        <p:spPr>
          <a:xfrm>
            <a:off x="2033023" y="2652701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✓ Apache 2.0</a:t>
            </a:r>
            <a:endParaRPr/>
          </a:p>
        </p:txBody>
      </p:sp>
      <p:sp>
        <p:nvSpPr>
          <p:cNvPr id="1248" name="Google Shape;1248;p36"/>
          <p:cNvSpPr/>
          <p:nvPr/>
        </p:nvSpPr>
        <p:spPr>
          <a:xfrm>
            <a:off x="3349759" y="2652701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✓ MIT</a:t>
            </a:r>
            <a:endParaRPr/>
          </a:p>
        </p:txBody>
      </p:sp>
      <p:sp>
        <p:nvSpPr>
          <p:cNvPr id="1249" name="Google Shape;1249;p36"/>
          <p:cNvSpPr/>
          <p:nvPr/>
        </p:nvSpPr>
        <p:spPr>
          <a:xfrm>
            <a:off x="4666495" y="2652701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✓ AGPL (주의 필요)</a:t>
            </a:r>
            <a:endParaRPr/>
          </a:p>
        </p:txBody>
      </p:sp>
      <p:sp>
        <p:nvSpPr>
          <p:cNvPr id="1250" name="Google Shape;1250;p36"/>
          <p:cNvSpPr/>
          <p:nvPr/>
        </p:nvSpPr>
        <p:spPr>
          <a:xfrm>
            <a:off x="5983231" y="2652701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✗ Proprietary</a:t>
            </a:r>
            <a:endParaRPr/>
          </a:p>
        </p:txBody>
      </p:sp>
      <p:sp>
        <p:nvSpPr>
          <p:cNvPr id="1251" name="Google Shape;1251;p36"/>
          <p:cNvSpPr/>
          <p:nvPr/>
        </p:nvSpPr>
        <p:spPr>
          <a:xfrm>
            <a:off x="7299967" y="2652701"/>
            <a:ext cx="137160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✓ 자체 코드</a:t>
            </a:r>
            <a:endParaRPr/>
          </a:p>
        </p:txBody>
      </p:sp>
      <p:sp>
        <p:nvSpPr>
          <p:cNvPr id="1252" name="Google Shape;1252;p36"/>
          <p:cNvSpPr/>
          <p:nvPr/>
        </p:nvSpPr>
        <p:spPr>
          <a:xfrm>
            <a:off x="3304039" y="2839175"/>
            <a:ext cx="1261872" cy="207584"/>
          </a:xfrm>
          <a:prstGeom prst="rect">
            <a:avLst/>
          </a:prstGeom>
          <a:noFill/>
          <a:ln cap="flat" cmpd="sng" w="9525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53" name="Google Shape;1253;p36"/>
          <p:cNvSpPr/>
          <p:nvPr/>
        </p:nvSpPr>
        <p:spPr>
          <a:xfrm>
            <a:off x="368815" y="2839175"/>
            <a:ext cx="8321040" cy="207584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54" name="Google Shape;1254;p36"/>
          <p:cNvSpPr/>
          <p:nvPr/>
        </p:nvSpPr>
        <p:spPr>
          <a:xfrm>
            <a:off x="414535" y="2860285"/>
            <a:ext cx="1499616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Superset 마이그레이션</a:t>
            </a:r>
            <a:endParaRPr/>
          </a:p>
        </p:txBody>
      </p:sp>
      <p:sp>
        <p:nvSpPr>
          <p:cNvPr id="1255" name="Google Shape;1255;p36"/>
          <p:cNvSpPr/>
          <p:nvPr/>
        </p:nvSpPr>
        <p:spPr>
          <a:xfrm>
            <a:off x="2033023" y="2860285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가장 용이</a:t>
            </a:r>
            <a:endParaRPr/>
          </a:p>
        </p:txBody>
      </p:sp>
      <p:sp>
        <p:nvSpPr>
          <p:cNvPr id="1256" name="Google Shape;1256;p36"/>
          <p:cNvSpPr/>
          <p:nvPr/>
        </p:nvSpPr>
        <p:spPr>
          <a:xfrm>
            <a:off x="3349759" y="2860285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중간</a:t>
            </a:r>
            <a:endParaRPr/>
          </a:p>
        </p:txBody>
      </p:sp>
      <p:sp>
        <p:nvSpPr>
          <p:cNvPr id="1257" name="Google Shape;1257;p36"/>
          <p:cNvSpPr/>
          <p:nvPr/>
        </p:nvSpPr>
        <p:spPr>
          <a:xfrm>
            <a:off x="4666495" y="2860285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용이</a:t>
            </a:r>
            <a:endParaRPr/>
          </a:p>
        </p:txBody>
      </p:sp>
      <p:sp>
        <p:nvSpPr>
          <p:cNvPr id="1258" name="Google Shape;1258;p36"/>
          <p:cNvSpPr/>
          <p:nvPr/>
        </p:nvSpPr>
        <p:spPr>
          <a:xfrm>
            <a:off x="5983231" y="2860285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가장 복잡</a:t>
            </a:r>
            <a:endParaRPr/>
          </a:p>
        </p:txBody>
      </p:sp>
      <p:sp>
        <p:nvSpPr>
          <p:cNvPr id="1259" name="Google Shape;1259;p36"/>
          <p:cNvSpPr/>
          <p:nvPr/>
        </p:nvSpPr>
        <p:spPr>
          <a:xfrm>
            <a:off x="7299967" y="2860285"/>
            <a:ext cx="137160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복잡</a:t>
            </a:r>
            <a:endParaRPr/>
          </a:p>
        </p:txBody>
      </p:sp>
      <p:sp>
        <p:nvSpPr>
          <p:cNvPr id="1260" name="Google Shape;1260;p36"/>
          <p:cNvSpPr/>
          <p:nvPr/>
        </p:nvSpPr>
        <p:spPr>
          <a:xfrm>
            <a:off x="3304039" y="3046758"/>
            <a:ext cx="1261872" cy="207584"/>
          </a:xfrm>
          <a:prstGeom prst="rect">
            <a:avLst/>
          </a:prstGeom>
          <a:noFill/>
          <a:ln cap="flat" cmpd="sng" w="9525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61" name="Google Shape;1261;p36"/>
          <p:cNvSpPr/>
          <p:nvPr/>
        </p:nvSpPr>
        <p:spPr>
          <a:xfrm>
            <a:off x="368815" y="3046758"/>
            <a:ext cx="8321040" cy="207584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62" name="Google Shape;1262;p36"/>
          <p:cNvSpPr/>
          <p:nvPr/>
        </p:nvSpPr>
        <p:spPr>
          <a:xfrm>
            <a:off x="414535" y="3067868"/>
            <a:ext cx="1499616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대시보드 구축 기간</a:t>
            </a:r>
            <a:endParaRPr/>
          </a:p>
        </p:txBody>
      </p:sp>
      <p:sp>
        <p:nvSpPr>
          <p:cNvPr id="1263" name="Google Shape;1263;p36"/>
          <p:cNvSpPr/>
          <p:nvPr/>
        </p:nvSpPr>
        <p:spPr>
          <a:xfrm>
            <a:off x="2033023" y="3067868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6~8주</a:t>
            </a:r>
            <a:endParaRPr/>
          </a:p>
        </p:txBody>
      </p:sp>
      <p:sp>
        <p:nvSpPr>
          <p:cNvPr id="1264" name="Google Shape;1264;p36"/>
          <p:cNvSpPr/>
          <p:nvPr/>
        </p:nvSpPr>
        <p:spPr>
          <a:xfrm>
            <a:off x="3349759" y="3067868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4~6주</a:t>
            </a:r>
            <a:endParaRPr/>
          </a:p>
        </p:txBody>
      </p:sp>
      <p:sp>
        <p:nvSpPr>
          <p:cNvPr id="1265" name="Google Shape;1265;p36"/>
          <p:cNvSpPr/>
          <p:nvPr/>
        </p:nvSpPr>
        <p:spPr>
          <a:xfrm>
            <a:off x="4666495" y="3067868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5~7주</a:t>
            </a:r>
            <a:endParaRPr/>
          </a:p>
        </p:txBody>
      </p:sp>
      <p:sp>
        <p:nvSpPr>
          <p:cNvPr id="1266" name="Google Shape;1266;p36"/>
          <p:cNvSpPr/>
          <p:nvPr/>
        </p:nvSpPr>
        <p:spPr>
          <a:xfrm>
            <a:off x="5983231" y="3067868"/>
            <a:ext cx="118872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3~5주</a:t>
            </a:r>
            <a:endParaRPr/>
          </a:p>
        </p:txBody>
      </p:sp>
      <p:sp>
        <p:nvSpPr>
          <p:cNvPr id="1267" name="Google Shape;1267;p36"/>
          <p:cNvSpPr/>
          <p:nvPr/>
        </p:nvSpPr>
        <p:spPr>
          <a:xfrm>
            <a:off x="7299967" y="3067868"/>
            <a:ext cx="1371600" cy="16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16~24주</a:t>
            </a:r>
            <a:endParaRPr/>
          </a:p>
        </p:txBody>
      </p:sp>
      <p:sp>
        <p:nvSpPr>
          <p:cNvPr id="1268" name="Google Shape;1268;p36"/>
          <p:cNvSpPr/>
          <p:nvPr/>
        </p:nvSpPr>
        <p:spPr>
          <a:xfrm>
            <a:off x="5937511" y="897034"/>
            <a:ext cx="1261872" cy="267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69" name="Google Shape;1269;p36"/>
          <p:cNvSpPr/>
          <p:nvPr/>
        </p:nvSpPr>
        <p:spPr>
          <a:xfrm>
            <a:off x="5983231" y="911107"/>
            <a:ext cx="1188720" cy="239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D - Power BI</a:t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Embedded</a:t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270" name="Google Shape;1270;p36"/>
          <p:cNvGrpSpPr/>
          <p:nvPr/>
        </p:nvGrpSpPr>
        <p:grpSpPr>
          <a:xfrm>
            <a:off x="389389" y="3373076"/>
            <a:ext cx="8298180" cy="822966"/>
            <a:chOff x="411480" y="4889536"/>
            <a:chExt cx="8298180" cy="599212"/>
          </a:xfrm>
        </p:grpSpPr>
        <p:sp>
          <p:nvSpPr>
            <p:cNvPr id="1271" name="Google Shape;1271;p36"/>
            <p:cNvSpPr/>
            <p:nvPr/>
          </p:nvSpPr>
          <p:spPr>
            <a:xfrm>
              <a:off x="411480" y="4889536"/>
              <a:ext cx="8298180" cy="599212"/>
            </a:xfrm>
            <a:prstGeom prst="rect">
              <a:avLst/>
            </a:prstGeom>
            <a:solidFill>
              <a:srgbClr val="FEF3C7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8100000" dist="12700">
                <a:srgbClr val="000000">
                  <a:alpha val="7058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272" name="Google Shape;1272;p36"/>
            <p:cNvSpPr/>
            <p:nvPr/>
          </p:nvSpPr>
          <p:spPr>
            <a:xfrm>
              <a:off x="411480" y="4889536"/>
              <a:ext cx="38411" cy="599212"/>
            </a:xfrm>
            <a:prstGeom prst="rect">
              <a:avLst/>
            </a:prstGeom>
            <a:solidFill>
              <a:srgbClr val="B45309"/>
            </a:solidFill>
            <a:ln cap="flat" cmpd="sng" w="12700">
              <a:solidFill>
                <a:srgbClr val="B4530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273" name="Google Shape;1273;p36"/>
            <p:cNvSpPr/>
            <p:nvPr/>
          </p:nvSpPr>
          <p:spPr>
            <a:xfrm>
              <a:off x="542076" y="4935629"/>
              <a:ext cx="8124149" cy="169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00" u="none" cap="none" strike="noStrike">
                  <a:solidFill>
                    <a:srgbClr val="B4530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BI 도구 선택은 월별 라이선스 비용, 벤더 종속성, 화이트라벨 적용 가능성에 직접적인 영향을 미치므로 프로젝트 시작 전에 반드시 확정이 필요합니다.</a:t>
              </a:r>
              <a:endParaRPr/>
            </a:p>
          </p:txBody>
        </p:sp>
        <p:sp>
          <p:nvSpPr>
            <p:cNvPr id="1274" name="Google Shape;1274;p36"/>
            <p:cNvSpPr/>
            <p:nvPr/>
          </p:nvSpPr>
          <p:spPr>
            <a:xfrm>
              <a:off x="542077" y="5104638"/>
              <a:ext cx="6760340" cy="122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US" sz="70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① BI Tool 선정 - VTI는 Option B(Cube.dev headless) 또는 Option A(업그레이드된 Superset)를 제안합니다.</a:t>
              </a:r>
              <a:endParaRPr/>
            </a:p>
          </p:txBody>
        </p:sp>
        <p:sp>
          <p:nvSpPr>
            <p:cNvPr id="1275" name="Google Shape;1275;p36"/>
            <p:cNvSpPr/>
            <p:nvPr/>
          </p:nvSpPr>
          <p:spPr>
            <a:xfrm>
              <a:off x="542077" y="5227553"/>
              <a:ext cx="6760340" cy="122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US" sz="70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② 데이터 주권 - IDC 환경에 100% Self-host 여부 결정 → 월 과금형 SaaS 옵션 제외 여부 판단</a:t>
              </a:r>
              <a:endParaRPr/>
            </a:p>
          </p:txBody>
        </p:sp>
        <p:sp>
          <p:nvSpPr>
            <p:cNvPr id="1276" name="Google Shape;1276;p36"/>
            <p:cNvSpPr/>
            <p:nvPr/>
          </p:nvSpPr>
          <p:spPr>
            <a:xfrm>
              <a:off x="542077" y="5350468"/>
              <a:ext cx="6760340" cy="1229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-US" sz="70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③ 라이선스 예산 - $0/월 기준: Option A 또는 B / $735+/월 허용 시 추가 옵션 검토 가능</a:t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1" name="Google Shape;128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37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테넌트별 커스터마이징 </a:t>
            </a:r>
            <a:r>
              <a:rPr b="1" lang="en-US" sz="12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방안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3" name="Google Shape;1283;p37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4" name="Google Shape;1284;p37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285" name="Google Shape;128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6" name="Google Shape;1286;p37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7" name="Google Shape;1287;p37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8" name="Google Shape;1288;p37"/>
          <p:cNvSpPr/>
          <p:nvPr/>
        </p:nvSpPr>
        <p:spPr>
          <a:xfrm>
            <a:off x="267895" y="642876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각 고객은 독립적인 URL을 제공받으며, 데이터는 완전히 분리되고 BI 인터페이스는 해당 고객의 브랜드에 맞게 맞춤화됩니다.</a:t>
            </a:r>
            <a:endParaRPr/>
          </a:p>
        </p:txBody>
      </p:sp>
      <p:sp>
        <p:nvSpPr>
          <p:cNvPr id="1289" name="Google Shape;1289;p37"/>
          <p:cNvSpPr/>
          <p:nvPr/>
        </p:nvSpPr>
        <p:spPr>
          <a:xfrm>
            <a:off x="267895" y="898908"/>
            <a:ext cx="2706624" cy="2487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0" name="Google Shape;1290;p37"/>
          <p:cNvSpPr/>
          <p:nvPr/>
        </p:nvSpPr>
        <p:spPr>
          <a:xfrm>
            <a:off x="267895" y="898908"/>
            <a:ext cx="2706624" cy="274320"/>
          </a:xfrm>
          <a:prstGeom prst="rect">
            <a:avLst/>
          </a:prstGeom>
          <a:solidFill>
            <a:srgbClr val="0D8C6E"/>
          </a:solidFill>
          <a:ln cap="flat" cmpd="sng" w="12700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1" name="Google Shape;1291;p37"/>
          <p:cNvSpPr/>
          <p:nvPr/>
        </p:nvSpPr>
        <p:spPr>
          <a:xfrm>
            <a:off x="377623" y="917196"/>
            <a:ext cx="24871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OliveYoung</a:t>
            </a:r>
            <a:endParaRPr/>
          </a:p>
        </p:txBody>
      </p:sp>
      <p:pic>
        <p:nvPicPr>
          <p:cNvPr descr="preencoded.png" id="1292" name="Google Shape;129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623" y="12463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37"/>
          <p:cNvSpPr/>
          <p:nvPr/>
        </p:nvSpPr>
        <p:spPr>
          <a:xfrm>
            <a:off x="597079" y="1246380"/>
            <a:ext cx="2267712" cy="201168"/>
          </a:xfrm>
          <a:prstGeom prst="roundRect">
            <a:avLst>
              <a:gd fmla="val 18182" name="adj"/>
            </a:avLst>
          </a:prstGeom>
          <a:solidFill>
            <a:srgbClr val="D1FAE5"/>
          </a:solidFill>
          <a:ln cap="flat" cmpd="sng" w="9525">
            <a:solidFill>
              <a:srgbClr val="0D8C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4" name="Google Shape;1294;p37"/>
          <p:cNvSpPr/>
          <p:nvPr/>
        </p:nvSpPr>
        <p:spPr>
          <a:xfrm>
            <a:off x="615367" y="1246380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D8C6E"/>
                </a:solidFill>
                <a:latin typeface="Noto Sans KR"/>
                <a:ea typeface="Noto Sans KR"/>
                <a:cs typeface="Noto Sans KR"/>
                <a:sym typeface="Noto Sans KR"/>
              </a:rPr>
              <a:t>oliveyoung.bi.[domain].com</a:t>
            </a:r>
            <a:endParaRPr b="0" i="0" sz="8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5" name="Google Shape;1295;p37"/>
          <p:cNvSpPr/>
          <p:nvPr/>
        </p:nvSpPr>
        <p:spPr>
          <a:xfrm>
            <a:off x="377623" y="1520700"/>
            <a:ext cx="2596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테마 색상 및 로고 커스터마이징</a:t>
            </a:r>
            <a:endParaRPr b="0" i="0" sz="8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296" name="Google Shape;1296;p37"/>
          <p:cNvCxnSpPr/>
          <p:nvPr/>
        </p:nvCxnSpPr>
        <p:spPr>
          <a:xfrm>
            <a:off x="359335" y="1758444"/>
            <a:ext cx="2523744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7" name="Google Shape;1297;p37"/>
          <p:cNvSpPr/>
          <p:nvPr/>
        </p:nvSpPr>
        <p:spPr>
          <a:xfrm>
            <a:off x="377623" y="1813308"/>
            <a:ext cx="2523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커스텀 차트:</a:t>
            </a:r>
            <a:endParaRPr/>
          </a:p>
        </p:txBody>
      </p:sp>
      <p:sp>
        <p:nvSpPr>
          <p:cNvPr id="1298" name="Google Shape;1298;p37"/>
          <p:cNvSpPr/>
          <p:nvPr/>
        </p:nvSpPr>
        <p:spPr>
          <a:xfrm>
            <a:off x="523927" y="197790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매출 Line 차트</a:t>
            </a:r>
            <a:endParaRPr/>
          </a:p>
        </p:txBody>
      </p:sp>
      <p:sp>
        <p:nvSpPr>
          <p:cNvPr id="1299" name="Google Shape;1299;p37"/>
          <p:cNvSpPr/>
          <p:nvPr/>
        </p:nvSpPr>
        <p:spPr>
          <a:xfrm>
            <a:off x="523927" y="2179068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트래픽 Bar 차트</a:t>
            </a:r>
            <a:endParaRPr/>
          </a:p>
        </p:txBody>
      </p:sp>
      <p:sp>
        <p:nvSpPr>
          <p:cNvPr id="1300" name="Google Shape;1300;p37"/>
          <p:cNvSpPr/>
          <p:nvPr/>
        </p:nvSpPr>
        <p:spPr>
          <a:xfrm>
            <a:off x="523927" y="2380236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피크 시간대 Heatmap</a:t>
            </a:r>
            <a:endParaRPr/>
          </a:p>
        </p:txBody>
      </p:sp>
      <p:sp>
        <p:nvSpPr>
          <p:cNvPr id="1301" name="Google Shape;1301;p37"/>
          <p:cNvSpPr/>
          <p:nvPr/>
        </p:nvSpPr>
        <p:spPr>
          <a:xfrm>
            <a:off x="377623" y="2636268"/>
            <a:ext cx="2523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커스텀 위젯:</a:t>
            </a:r>
            <a:endParaRPr/>
          </a:p>
        </p:txBody>
      </p:sp>
      <p:sp>
        <p:nvSpPr>
          <p:cNvPr id="1302" name="Google Shape;1302;p37"/>
          <p:cNvSpPr/>
          <p:nvPr/>
        </p:nvSpPr>
        <p:spPr>
          <a:xfrm>
            <a:off x="523927" y="280086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방문자 KPI 카드</a:t>
            </a:r>
            <a:endParaRPr/>
          </a:p>
        </p:txBody>
      </p:sp>
      <p:sp>
        <p:nvSpPr>
          <p:cNvPr id="1303" name="Google Shape;1303;p37"/>
          <p:cNvSpPr/>
          <p:nvPr/>
        </p:nvSpPr>
        <p:spPr>
          <a:xfrm>
            <a:off x="523927" y="3002028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체류 시간 게이지</a:t>
            </a:r>
            <a:endParaRPr/>
          </a:p>
        </p:txBody>
      </p:sp>
      <p:sp>
        <p:nvSpPr>
          <p:cNvPr id="1304" name="Google Shape;1304;p37"/>
          <p:cNvSpPr/>
          <p:nvPr/>
        </p:nvSpPr>
        <p:spPr>
          <a:xfrm>
            <a:off x="523927" y="3203196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매장 순위 테이블</a:t>
            </a:r>
            <a:endParaRPr/>
          </a:p>
        </p:txBody>
      </p:sp>
      <p:sp>
        <p:nvSpPr>
          <p:cNvPr id="1305" name="Google Shape;1305;p37"/>
          <p:cNvSpPr/>
          <p:nvPr/>
        </p:nvSpPr>
        <p:spPr>
          <a:xfrm>
            <a:off x="3120823" y="898908"/>
            <a:ext cx="2706624" cy="2487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06" name="Google Shape;1306;p37"/>
          <p:cNvSpPr/>
          <p:nvPr/>
        </p:nvSpPr>
        <p:spPr>
          <a:xfrm>
            <a:off x="3120823" y="898908"/>
            <a:ext cx="2706624" cy="274320"/>
          </a:xfrm>
          <a:prstGeom prst="rect">
            <a:avLst/>
          </a:prstGeom>
          <a:solidFill>
            <a:srgbClr val="FF9900"/>
          </a:solidFill>
          <a:ln cap="flat" cmpd="sng" w="127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07" name="Google Shape;1307;p37"/>
          <p:cNvSpPr/>
          <p:nvPr/>
        </p:nvSpPr>
        <p:spPr>
          <a:xfrm>
            <a:off x="3230551" y="917196"/>
            <a:ext cx="24871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E-Mart</a:t>
            </a:r>
            <a:endParaRPr/>
          </a:p>
        </p:txBody>
      </p:sp>
      <p:pic>
        <p:nvPicPr>
          <p:cNvPr descr="preencoded.png" id="1308" name="Google Shape;1308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30551" y="12463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p37"/>
          <p:cNvSpPr/>
          <p:nvPr/>
        </p:nvSpPr>
        <p:spPr>
          <a:xfrm>
            <a:off x="3450007" y="1246380"/>
            <a:ext cx="2267712" cy="201168"/>
          </a:xfrm>
          <a:prstGeom prst="roundRect">
            <a:avLst>
              <a:gd fmla="val 0" name="adj"/>
            </a:avLst>
          </a:prstGeom>
          <a:solidFill>
            <a:srgbClr val="FEE2E2"/>
          </a:solidFill>
          <a:ln cap="flat" cmpd="sng" w="9525">
            <a:solidFill>
              <a:srgbClr val="FF40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10" name="Google Shape;1310;p37"/>
          <p:cNvSpPr/>
          <p:nvPr/>
        </p:nvSpPr>
        <p:spPr>
          <a:xfrm>
            <a:off x="3449975" y="1246375"/>
            <a:ext cx="2267700" cy="201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B45F06"/>
                </a:solidFill>
                <a:latin typeface="Noto Sans KR"/>
                <a:ea typeface="Noto Sans KR"/>
                <a:cs typeface="Noto Sans KR"/>
                <a:sym typeface="Noto Sans KR"/>
              </a:rPr>
              <a:t>emart.[domain].com</a:t>
            </a:r>
            <a:endParaRPr b="0" i="0" sz="850" u="none" cap="none" strike="noStrike">
              <a:solidFill>
                <a:srgbClr val="B45F0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11" name="Google Shape;1311;p37"/>
          <p:cNvSpPr/>
          <p:nvPr/>
        </p:nvSpPr>
        <p:spPr>
          <a:xfrm>
            <a:off x="3230551" y="1520700"/>
            <a:ext cx="2596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테마 색상 및 로고 커스터마이징</a:t>
            </a:r>
            <a:endParaRPr b="0" i="0" sz="8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312" name="Google Shape;1312;p37"/>
          <p:cNvCxnSpPr/>
          <p:nvPr/>
        </p:nvCxnSpPr>
        <p:spPr>
          <a:xfrm>
            <a:off x="3212263" y="1758444"/>
            <a:ext cx="2523744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3" name="Google Shape;1313;p37"/>
          <p:cNvSpPr/>
          <p:nvPr/>
        </p:nvSpPr>
        <p:spPr>
          <a:xfrm>
            <a:off x="3230551" y="1813308"/>
            <a:ext cx="2523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커스텀 차트:</a:t>
            </a:r>
            <a:endParaRPr/>
          </a:p>
        </p:txBody>
      </p:sp>
      <p:sp>
        <p:nvSpPr>
          <p:cNvPr id="1314" name="Google Shape;1314;p37"/>
          <p:cNvSpPr/>
          <p:nvPr/>
        </p:nvSpPr>
        <p:spPr>
          <a:xfrm>
            <a:off x="3376855" y="197790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추세 Area 차트</a:t>
            </a:r>
            <a:endParaRPr/>
          </a:p>
        </p:txBody>
      </p:sp>
      <p:sp>
        <p:nvSpPr>
          <p:cNvPr id="1315" name="Google Shape;1315;p37"/>
          <p:cNvSpPr/>
          <p:nvPr/>
        </p:nvSpPr>
        <p:spPr>
          <a:xfrm>
            <a:off x="3376855" y="2179068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분포 Donut 차트</a:t>
            </a:r>
            <a:endParaRPr/>
          </a:p>
        </p:txBody>
      </p:sp>
      <p:sp>
        <p:nvSpPr>
          <p:cNvPr id="1316" name="Google Shape;1316;p37"/>
          <p:cNvSpPr/>
          <p:nvPr/>
        </p:nvSpPr>
        <p:spPr>
          <a:xfrm>
            <a:off x="3376855" y="2380236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체류 시간 vs 시선 Scatter 차트</a:t>
            </a:r>
            <a:endParaRPr/>
          </a:p>
        </p:txBody>
      </p:sp>
      <p:sp>
        <p:nvSpPr>
          <p:cNvPr id="1317" name="Google Shape;1317;p37"/>
          <p:cNvSpPr/>
          <p:nvPr/>
        </p:nvSpPr>
        <p:spPr>
          <a:xfrm>
            <a:off x="3230551" y="2636268"/>
            <a:ext cx="2523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커스텀 위젯:</a:t>
            </a:r>
            <a:endParaRPr/>
          </a:p>
        </p:txBody>
      </p:sp>
      <p:sp>
        <p:nvSpPr>
          <p:cNvPr id="1318" name="Google Shape;1318;p37"/>
          <p:cNvSpPr/>
          <p:nvPr/>
        </p:nvSpPr>
        <p:spPr>
          <a:xfrm>
            <a:off x="3376855" y="280086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매출 KPI 카드</a:t>
            </a:r>
            <a:endParaRPr/>
          </a:p>
        </p:txBody>
      </p:sp>
      <p:sp>
        <p:nvSpPr>
          <p:cNvPr id="1319" name="Google Shape;1319;p37"/>
          <p:cNvSpPr/>
          <p:nvPr/>
        </p:nvSpPr>
        <p:spPr>
          <a:xfrm>
            <a:off x="3376855" y="3002028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라인 크로싱 카운터</a:t>
            </a:r>
            <a:endParaRPr/>
          </a:p>
        </p:txBody>
      </p:sp>
      <p:sp>
        <p:nvSpPr>
          <p:cNvPr id="1320" name="Google Shape;1320;p37"/>
          <p:cNvSpPr/>
          <p:nvPr/>
        </p:nvSpPr>
        <p:spPr>
          <a:xfrm>
            <a:off x="3376855" y="3203196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캠페인 비교</a:t>
            </a:r>
            <a:endParaRPr/>
          </a:p>
        </p:txBody>
      </p:sp>
      <p:sp>
        <p:nvSpPr>
          <p:cNvPr id="1321" name="Google Shape;1321;p37"/>
          <p:cNvSpPr/>
          <p:nvPr/>
        </p:nvSpPr>
        <p:spPr>
          <a:xfrm>
            <a:off x="5973751" y="898908"/>
            <a:ext cx="2706624" cy="24871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22" name="Google Shape;1322;p37"/>
          <p:cNvSpPr/>
          <p:nvPr/>
        </p:nvSpPr>
        <p:spPr>
          <a:xfrm>
            <a:off x="5973751" y="898908"/>
            <a:ext cx="2706624" cy="274320"/>
          </a:xfrm>
          <a:prstGeom prst="rect">
            <a:avLst/>
          </a:prstGeom>
          <a:solidFill>
            <a:srgbClr val="2E6FD9"/>
          </a:solidFill>
          <a:ln cap="flat" cmpd="sng" w="12700">
            <a:solidFill>
              <a:srgbClr val="2E6F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23" name="Google Shape;1323;p37"/>
          <p:cNvSpPr/>
          <p:nvPr/>
        </p:nvSpPr>
        <p:spPr>
          <a:xfrm>
            <a:off x="6083479" y="917196"/>
            <a:ext cx="24871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Hyundae</a:t>
            </a:r>
            <a:endParaRPr b="1" i="0" sz="1100" u="none" cap="none" strike="noStrike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preencoded.png" id="1324" name="Google Shape;1324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83479" y="124638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37"/>
          <p:cNvSpPr/>
          <p:nvPr/>
        </p:nvSpPr>
        <p:spPr>
          <a:xfrm>
            <a:off x="6302935" y="1246380"/>
            <a:ext cx="2267712" cy="201168"/>
          </a:xfrm>
          <a:prstGeom prst="roundRect">
            <a:avLst>
              <a:gd fmla="val 18182" name="adj"/>
            </a:avLst>
          </a:prstGeom>
          <a:solidFill>
            <a:srgbClr val="EBF1FB"/>
          </a:solidFill>
          <a:ln cap="flat" cmpd="sng" w="9525">
            <a:solidFill>
              <a:srgbClr val="2E6F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26" name="Google Shape;1326;p37"/>
          <p:cNvSpPr/>
          <p:nvPr/>
        </p:nvSpPr>
        <p:spPr>
          <a:xfrm>
            <a:off x="6321223" y="1246380"/>
            <a:ext cx="22494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E6FD9"/>
                </a:solidFill>
                <a:latin typeface="Noto Sans KR"/>
                <a:ea typeface="Noto Sans KR"/>
                <a:cs typeface="Noto Sans KR"/>
                <a:sym typeface="Noto Sans KR"/>
              </a:rPr>
              <a:t>analytics.hyundae.[domain].com</a:t>
            </a:r>
            <a:endParaRPr b="0" i="0" sz="8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27" name="Google Shape;1327;p37"/>
          <p:cNvSpPr/>
          <p:nvPr/>
        </p:nvSpPr>
        <p:spPr>
          <a:xfrm>
            <a:off x="6083479" y="1520700"/>
            <a:ext cx="25968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테마 색상 및 로고 커스터마이징</a:t>
            </a:r>
            <a:endParaRPr b="0" i="0" sz="85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328" name="Google Shape;1328;p37"/>
          <p:cNvCxnSpPr/>
          <p:nvPr/>
        </p:nvCxnSpPr>
        <p:spPr>
          <a:xfrm>
            <a:off x="6065191" y="1758444"/>
            <a:ext cx="2523744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9" name="Google Shape;1329;p37"/>
          <p:cNvSpPr/>
          <p:nvPr/>
        </p:nvSpPr>
        <p:spPr>
          <a:xfrm>
            <a:off x="6083479" y="1813308"/>
            <a:ext cx="2523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커스텀 차트:</a:t>
            </a:r>
            <a:endParaRPr/>
          </a:p>
        </p:txBody>
      </p:sp>
      <p:sp>
        <p:nvSpPr>
          <p:cNvPr id="1330" name="Google Shape;1330;p37"/>
          <p:cNvSpPr/>
          <p:nvPr/>
        </p:nvSpPr>
        <p:spPr>
          <a:xfrm>
            <a:off x="6229783" y="197790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전환 Funnel 차트</a:t>
            </a:r>
            <a:endParaRPr/>
          </a:p>
        </p:txBody>
      </p:sp>
      <p:sp>
        <p:nvSpPr>
          <p:cNvPr id="1331" name="Google Shape;1331;p37"/>
          <p:cNvSpPr/>
          <p:nvPr/>
        </p:nvSpPr>
        <p:spPr>
          <a:xfrm>
            <a:off x="6229783" y="2179068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카테고리 Treemap</a:t>
            </a:r>
            <a:endParaRPr/>
          </a:p>
        </p:txBody>
      </p:sp>
      <p:sp>
        <p:nvSpPr>
          <p:cNvPr id="1332" name="Google Shape;1332;p37"/>
          <p:cNvSpPr/>
          <p:nvPr/>
        </p:nvSpPr>
        <p:spPr>
          <a:xfrm>
            <a:off x="6229783" y="2380236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30일 추세 Line 차트</a:t>
            </a:r>
            <a:endParaRPr/>
          </a:p>
        </p:txBody>
      </p:sp>
      <p:sp>
        <p:nvSpPr>
          <p:cNvPr id="1333" name="Google Shape;1333;p37"/>
          <p:cNvSpPr/>
          <p:nvPr/>
        </p:nvSpPr>
        <p:spPr>
          <a:xfrm>
            <a:off x="6083479" y="2636268"/>
            <a:ext cx="2523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커스텀 위젯:</a:t>
            </a:r>
            <a:endParaRPr/>
          </a:p>
        </p:txBody>
      </p:sp>
      <p:sp>
        <p:nvSpPr>
          <p:cNvPr id="1334" name="Google Shape;1334;p37"/>
          <p:cNvSpPr/>
          <p:nvPr/>
        </p:nvSpPr>
        <p:spPr>
          <a:xfrm>
            <a:off x="6229783" y="2800860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시선 비율 게이지</a:t>
            </a:r>
            <a:endParaRPr/>
          </a:p>
        </p:txBody>
      </p:sp>
      <p:sp>
        <p:nvSpPr>
          <p:cNvPr id="1335" name="Google Shape;1335;p37"/>
          <p:cNvSpPr/>
          <p:nvPr/>
        </p:nvSpPr>
        <p:spPr>
          <a:xfrm>
            <a:off x="6229783" y="3002028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영역별 Heatmap</a:t>
            </a:r>
            <a:endParaRPr/>
          </a:p>
        </p:txBody>
      </p:sp>
      <p:sp>
        <p:nvSpPr>
          <p:cNvPr id="1336" name="Google Shape;1336;p37"/>
          <p:cNvSpPr/>
          <p:nvPr/>
        </p:nvSpPr>
        <p:spPr>
          <a:xfrm>
            <a:off x="6229783" y="3203196"/>
            <a:ext cx="235915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Excel 내보내기 버튼</a:t>
            </a:r>
            <a:endParaRPr/>
          </a:p>
        </p:txBody>
      </p:sp>
      <p:sp>
        <p:nvSpPr>
          <p:cNvPr id="1337" name="Google Shape;1337;p37"/>
          <p:cNvSpPr/>
          <p:nvPr/>
        </p:nvSpPr>
        <p:spPr>
          <a:xfrm>
            <a:off x="267895" y="3550668"/>
            <a:ext cx="4005072" cy="841248"/>
          </a:xfrm>
          <a:prstGeom prst="rect">
            <a:avLst/>
          </a:prstGeom>
          <a:solidFill>
            <a:srgbClr val="F8F9FA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8" name="Google Shape;1338;p37"/>
          <p:cNvSpPr/>
          <p:nvPr/>
        </p:nvSpPr>
        <p:spPr>
          <a:xfrm>
            <a:off x="267895" y="3550668"/>
            <a:ext cx="4005072" cy="45720"/>
          </a:xfrm>
          <a:prstGeom prst="rect">
            <a:avLst/>
          </a:prstGeom>
          <a:solidFill>
            <a:srgbClr val="3730A3"/>
          </a:solidFill>
          <a:ln cap="flat" cmpd="sng" w="12700">
            <a:solidFill>
              <a:srgbClr val="3730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9" name="Google Shape;1339;p37"/>
          <p:cNvSpPr/>
          <p:nvPr/>
        </p:nvSpPr>
        <p:spPr>
          <a:xfrm>
            <a:off x="405055" y="3623820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730A3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격리 - 기술적 메커니즘</a:t>
            </a:r>
            <a:endParaRPr/>
          </a:p>
        </p:txBody>
      </p:sp>
      <p:sp>
        <p:nvSpPr>
          <p:cNvPr id="1340" name="Google Shape;1340;p37"/>
          <p:cNvSpPr/>
          <p:nvPr/>
        </p:nvSpPr>
        <p:spPr>
          <a:xfrm>
            <a:off x="533325" y="3861310"/>
            <a:ext cx="3695700" cy="164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접근 제어 : user.tenant_id를 기준으로 쿼리 레벨에서 필터링되며, 우회가 불가능</a:t>
            </a:r>
            <a:endParaRPr/>
          </a:p>
        </p:txBody>
      </p:sp>
      <p:sp>
        <p:nvSpPr>
          <p:cNvPr id="1341" name="Google Shape;1341;p37"/>
          <p:cNvSpPr/>
          <p:nvPr/>
        </p:nvSpPr>
        <p:spPr>
          <a:xfrm>
            <a:off x="533325" y="4026410"/>
            <a:ext cx="3695065" cy="164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Schema Isolation: 각 테넌트는 테넌트 데이터 스토어 내에서 별도의 데이터 파티션을 사용</a:t>
            </a:r>
            <a:endParaRPr/>
          </a:p>
        </p:txBody>
      </p:sp>
      <p:sp>
        <p:nvSpPr>
          <p:cNvPr id="1342" name="Google Shape;1342;p37"/>
          <p:cNvSpPr/>
          <p:nvPr/>
        </p:nvSpPr>
        <p:spPr>
          <a:xfrm>
            <a:off x="533071" y="4190748"/>
            <a:ext cx="36210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API 인증: 모든 요청은 쿼리 수행 전에 JWT 토큰을 통해 tenant_id를 검증</a:t>
            </a:r>
            <a:endParaRPr/>
          </a:p>
        </p:txBody>
      </p:sp>
      <p:sp>
        <p:nvSpPr>
          <p:cNvPr id="1343" name="Google Shape;1343;p37"/>
          <p:cNvSpPr/>
          <p:nvPr/>
        </p:nvSpPr>
        <p:spPr>
          <a:xfrm>
            <a:off x="4419271" y="3550668"/>
            <a:ext cx="4169664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4" name="Google Shape;1344;p37"/>
          <p:cNvSpPr/>
          <p:nvPr/>
        </p:nvSpPr>
        <p:spPr>
          <a:xfrm>
            <a:off x="4419271" y="3550668"/>
            <a:ext cx="4169664" cy="45720"/>
          </a:xfrm>
          <a:prstGeom prst="rect">
            <a:avLst/>
          </a:prstGeom>
          <a:solidFill>
            <a:srgbClr val="5B21B6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5" name="Google Shape;1345;p37"/>
          <p:cNvSpPr/>
          <p:nvPr/>
        </p:nvSpPr>
        <p:spPr>
          <a:xfrm>
            <a:off x="4556431" y="362382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B21B6"/>
                </a:solidFill>
                <a:latin typeface="Noto Sans KR"/>
                <a:ea typeface="Noto Sans KR"/>
                <a:cs typeface="Noto Sans KR"/>
                <a:sym typeface="Noto Sans KR"/>
              </a:rPr>
              <a:t>Look &amp; Feel 설정 - 테넌트별 커스터마이징 항목</a:t>
            </a:r>
            <a:endParaRPr/>
          </a:p>
        </p:txBody>
      </p:sp>
      <p:sp>
        <p:nvSpPr>
          <p:cNvPr id="1346" name="Google Shape;1346;p37"/>
          <p:cNvSpPr/>
          <p:nvPr/>
        </p:nvSpPr>
        <p:spPr>
          <a:xfrm>
            <a:off x="4684447" y="3861564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차트 유형: bar / line / area / donut / heatmap / treemap - 위젯 단위로 테넌트별 선택 가능</a:t>
            </a:r>
            <a:endParaRPr/>
          </a:p>
        </p:txBody>
      </p:sp>
      <p:sp>
        <p:nvSpPr>
          <p:cNvPr id="1347" name="Google Shape;1347;p37"/>
          <p:cNvSpPr/>
          <p:nvPr/>
        </p:nvSpPr>
        <p:spPr>
          <a:xfrm>
            <a:off x="4684447" y="4026156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색상 설정: primary, accent, background, text - CSS 변수 기반으로 전체 UI에 일괄 적용</a:t>
            </a:r>
            <a:endParaRPr/>
          </a:p>
        </p:txBody>
      </p:sp>
      <p:sp>
        <p:nvSpPr>
          <p:cNvPr id="1348" name="Google Shape;1348;p37"/>
          <p:cNvSpPr/>
          <p:nvPr/>
        </p:nvSpPr>
        <p:spPr>
          <a:xfrm>
            <a:off x="4684320" y="4190875"/>
            <a:ext cx="3996690" cy="164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위젯 레이아웃: 대시보드에서 위젯 추가/삭제/드래그 앤 드롭 가능 - 레이아웃은 테넌트별로 저장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3" name="Google Shape;135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38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</a:t>
            </a:r>
            <a:r>
              <a:rPr b="1" lang="en-US" sz="12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처리방안 (</a:t>
            </a: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ZIP → API · Auto-linking Engine</a:t>
            </a:r>
            <a:r>
              <a:rPr b="1" lang="en-US" sz="12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55" name="Google Shape;1355;p38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56" name="Google Shape;1356;p38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357" name="Google Shape;135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8" name="Google Shape;1358;p38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9" name="Google Shape;1359;p38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360" name="Google Shape;1360;p38"/>
          <p:cNvCxnSpPr/>
          <p:nvPr/>
        </p:nvCxnSpPr>
        <p:spPr>
          <a:xfrm>
            <a:off x="498915" y="547911"/>
            <a:ext cx="8109545" cy="0"/>
          </a:xfrm>
          <a:prstGeom prst="straightConnector1">
            <a:avLst/>
          </a:prstGeom>
          <a:noFill/>
          <a:ln cap="flat" cmpd="sng" w="101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61" name="Google Shape;1361;p38"/>
          <p:cNvGrpSpPr/>
          <p:nvPr/>
        </p:nvGrpSpPr>
        <p:grpSpPr>
          <a:xfrm>
            <a:off x="287421" y="575558"/>
            <a:ext cx="8697408" cy="3973067"/>
            <a:chOff x="411480" y="1170432"/>
            <a:chExt cx="8321040" cy="3730752"/>
          </a:xfrm>
        </p:grpSpPr>
        <p:sp>
          <p:nvSpPr>
            <p:cNvPr id="1362" name="Google Shape;1362;p38"/>
            <p:cNvSpPr/>
            <p:nvPr/>
          </p:nvSpPr>
          <p:spPr>
            <a:xfrm>
              <a:off x="411480" y="1170432"/>
              <a:ext cx="4114800" cy="1810512"/>
            </a:xfrm>
            <a:prstGeom prst="rect">
              <a:avLst/>
            </a:prstGeom>
            <a:solidFill>
              <a:srgbClr val="FEE2E2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8100000" dist="12700">
                <a:srgbClr val="000000">
                  <a:alpha val="7058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63" name="Google Shape;1363;p38"/>
            <p:cNvSpPr/>
            <p:nvPr/>
          </p:nvSpPr>
          <p:spPr>
            <a:xfrm>
              <a:off x="411480" y="1170432"/>
              <a:ext cx="4114800" cy="45720"/>
            </a:xfrm>
            <a:prstGeom prst="rect">
              <a:avLst/>
            </a:prstGeom>
            <a:solidFill>
              <a:srgbClr val="FF404E"/>
            </a:solidFill>
            <a:ln cap="flat" cmpd="sng" w="12700">
              <a:solidFill>
                <a:srgbClr val="FF40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64" name="Google Shape;1364;p38"/>
            <p:cNvSpPr/>
            <p:nvPr/>
          </p:nvSpPr>
          <p:spPr>
            <a:xfrm>
              <a:off x="566928" y="1225296"/>
              <a:ext cx="3657600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991B1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이전 - 수동 ZIP 방식</a:t>
              </a:r>
              <a:endParaRPr/>
            </a:p>
          </p:txBody>
        </p:sp>
        <p:sp>
          <p:nvSpPr>
            <p:cNvPr id="1365" name="Google Shape;1365;p38"/>
            <p:cNvSpPr/>
            <p:nvPr/>
          </p:nvSpPr>
          <p:spPr>
            <a:xfrm>
              <a:off x="512064" y="1536192"/>
              <a:ext cx="859536" cy="621792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9525">
              <a:solidFill>
                <a:srgbClr val="FF40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66" name="Google Shape;1366;p38"/>
            <p:cNvSpPr/>
            <p:nvPr/>
          </p:nvSpPr>
          <p:spPr>
            <a:xfrm>
              <a:off x="512064" y="1554480"/>
              <a:ext cx="859536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en-US" sz="850" u="none" cap="none" strike="noStrike">
                  <a:solidFill>
                    <a:srgbClr val="991B1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ZIP 파일 생성</a:t>
              </a:r>
              <a:endParaRPr/>
            </a:p>
          </p:txBody>
        </p:sp>
        <p:sp>
          <p:nvSpPr>
            <p:cNvPr id="1367" name="Google Shape;1367;p38"/>
            <p:cNvSpPr/>
            <p:nvPr/>
          </p:nvSpPr>
          <p:spPr>
            <a:xfrm>
              <a:off x="512064" y="1810512"/>
              <a:ext cx="859536" cy="3108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CSV/Excel 형태로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여러 테넌트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데이터를 통합</a:t>
              </a:r>
              <a:endParaRPr/>
            </a:p>
          </p:txBody>
        </p:sp>
        <p:pic>
          <p:nvPicPr>
            <p:cNvPr descr="preencoded.png" id="1368" name="Google Shape;1368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71600" y="1828800"/>
              <a:ext cx="91440" cy="1280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9" name="Google Shape;1369;p38"/>
            <p:cNvSpPr/>
            <p:nvPr/>
          </p:nvSpPr>
          <p:spPr>
            <a:xfrm>
              <a:off x="1481328" y="1536192"/>
              <a:ext cx="859536" cy="621792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9525">
              <a:solidFill>
                <a:srgbClr val="FF40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70" name="Google Shape;1370;p38"/>
            <p:cNvSpPr/>
            <p:nvPr/>
          </p:nvSpPr>
          <p:spPr>
            <a:xfrm>
              <a:off x="1481328" y="1554480"/>
              <a:ext cx="859536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en-US" sz="850" u="none" cap="none" strike="noStrike">
                  <a:solidFill>
                    <a:srgbClr val="991B1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Operator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en-US" sz="850" u="none" cap="none" strike="noStrike">
                  <a:solidFill>
                    <a:srgbClr val="991B1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다운로드</a:t>
              </a:r>
              <a:endParaRPr/>
            </a:p>
          </p:txBody>
        </p:sp>
        <p:sp>
          <p:nvSpPr>
            <p:cNvPr id="1371" name="Google Shape;1371;p38"/>
            <p:cNvSpPr/>
            <p:nvPr/>
          </p:nvSpPr>
          <p:spPr>
            <a:xfrm>
              <a:off x="1481328" y="1810512"/>
              <a:ext cx="859536" cy="3108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수동 처리로 버전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혼동 가능성 높음</a:t>
              </a:r>
              <a:endParaRPr/>
            </a:p>
          </p:txBody>
        </p:sp>
        <p:pic>
          <p:nvPicPr>
            <p:cNvPr descr="preencoded.png" id="1372" name="Google Shape;1372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40864" y="1828800"/>
              <a:ext cx="91440" cy="1280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3" name="Google Shape;1373;p38"/>
            <p:cNvSpPr/>
            <p:nvPr/>
          </p:nvSpPr>
          <p:spPr>
            <a:xfrm>
              <a:off x="2450592" y="1536192"/>
              <a:ext cx="859536" cy="621792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9525">
              <a:solidFill>
                <a:srgbClr val="FF40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74" name="Google Shape;1374;p38"/>
            <p:cNvSpPr/>
            <p:nvPr/>
          </p:nvSpPr>
          <p:spPr>
            <a:xfrm>
              <a:off x="2450592" y="1554480"/>
              <a:ext cx="859536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en-US" sz="850" u="none" cap="none" strike="noStrike">
                  <a:solidFill>
                    <a:srgbClr val="991B1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압축 해제 및 업로드</a:t>
              </a:r>
              <a:endParaRPr/>
            </a:p>
          </p:txBody>
        </p:sp>
        <p:sp>
          <p:nvSpPr>
            <p:cNvPr id="1375" name="Google Shape;1375;p38"/>
            <p:cNvSpPr/>
            <p:nvPr/>
          </p:nvSpPr>
          <p:spPr>
            <a:xfrm>
              <a:off x="2450592" y="1810512"/>
              <a:ext cx="859536" cy="3108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테넌트 매핑을 수동으로 수행, 2~24시간 지연 발생</a:t>
              </a:r>
              <a:endParaRPr/>
            </a:p>
          </p:txBody>
        </p:sp>
        <p:pic>
          <p:nvPicPr>
            <p:cNvPr descr="preencoded.png" id="1376" name="Google Shape;1376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10128" y="1828800"/>
              <a:ext cx="91440" cy="1280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7" name="Google Shape;1377;p38"/>
            <p:cNvSpPr/>
            <p:nvPr/>
          </p:nvSpPr>
          <p:spPr>
            <a:xfrm>
              <a:off x="3419856" y="1536192"/>
              <a:ext cx="859536" cy="621792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9525">
              <a:solidFill>
                <a:srgbClr val="FF40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78" name="Google Shape;1378;p38"/>
            <p:cNvSpPr/>
            <p:nvPr/>
          </p:nvSpPr>
          <p:spPr>
            <a:xfrm>
              <a:off x="3419856" y="1554480"/>
              <a:ext cx="859536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en-US" sz="850" u="none" cap="none" strike="noStrike">
                  <a:solidFill>
                    <a:srgbClr val="991B1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대시보드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en-US" sz="850" u="none" cap="none" strike="noStrike">
                  <a:solidFill>
                    <a:srgbClr val="991B1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업데이트</a:t>
              </a:r>
              <a:endParaRPr/>
            </a:p>
          </p:txBody>
        </p:sp>
        <p:sp>
          <p:nvSpPr>
            <p:cNvPr id="1379" name="Google Shape;1379;p38"/>
            <p:cNvSpPr/>
            <p:nvPr/>
          </p:nvSpPr>
          <p:spPr>
            <a:xfrm>
              <a:off x="3419856" y="1810512"/>
              <a:ext cx="859536" cy="3108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Audit 및 롤백 불가</a:t>
              </a:r>
              <a:endParaRPr/>
            </a:p>
          </p:txBody>
        </p:sp>
        <p:pic>
          <p:nvPicPr>
            <p:cNvPr descr="preencoded.png" id="1380" name="Google Shape;1380;p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2064" y="2231136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1" name="Google Shape;1381;p38"/>
            <p:cNvSpPr/>
            <p:nvPr/>
          </p:nvSpPr>
          <p:spPr>
            <a:xfrm>
              <a:off x="749808" y="2231136"/>
              <a:ext cx="36210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FF404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높은 지연 · 오류 발생 가능 · 감사 불가 · 확장성 부족</a:t>
              </a:r>
              <a:endParaRPr/>
            </a:p>
          </p:txBody>
        </p:sp>
        <p:sp>
          <p:nvSpPr>
            <p:cNvPr id="1382" name="Google Shape;1382;p38"/>
            <p:cNvSpPr/>
            <p:nvPr/>
          </p:nvSpPr>
          <p:spPr>
            <a:xfrm>
              <a:off x="411480" y="3072384"/>
              <a:ext cx="4114800" cy="1828800"/>
            </a:xfrm>
            <a:prstGeom prst="rect">
              <a:avLst/>
            </a:prstGeom>
            <a:solidFill>
              <a:srgbClr val="D1FAE5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8100000" dist="12700">
                <a:srgbClr val="000000">
                  <a:alpha val="7058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83" name="Google Shape;1383;p38"/>
            <p:cNvSpPr/>
            <p:nvPr/>
          </p:nvSpPr>
          <p:spPr>
            <a:xfrm>
              <a:off x="411480" y="3072384"/>
              <a:ext cx="4114800" cy="45720"/>
            </a:xfrm>
            <a:prstGeom prst="rect">
              <a:avLst/>
            </a:prstGeom>
            <a:solidFill>
              <a:srgbClr val="0D8C6E"/>
            </a:solidFill>
            <a:ln cap="flat" cmpd="sng" w="12700">
              <a:solidFill>
                <a:srgbClr val="0D8C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84" name="Google Shape;1384;p38"/>
            <p:cNvSpPr/>
            <p:nvPr/>
          </p:nvSpPr>
          <p:spPr>
            <a:xfrm>
              <a:off x="566928" y="3127248"/>
              <a:ext cx="3657600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0D8C6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이후 - 자동 API 방식</a:t>
              </a:r>
              <a:endParaRPr/>
            </a:p>
          </p:txBody>
        </p:sp>
        <p:sp>
          <p:nvSpPr>
            <p:cNvPr id="1385" name="Google Shape;1385;p38"/>
            <p:cNvSpPr/>
            <p:nvPr/>
          </p:nvSpPr>
          <p:spPr>
            <a:xfrm>
              <a:off x="512064" y="3438144"/>
              <a:ext cx="859536" cy="621792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9525">
              <a:solidFill>
                <a:srgbClr val="0D8C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86" name="Google Shape;1386;p38"/>
            <p:cNvSpPr/>
            <p:nvPr/>
          </p:nvSpPr>
          <p:spPr>
            <a:xfrm>
              <a:off x="512064" y="3456432"/>
              <a:ext cx="859536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en-US" sz="850" u="none" cap="none" strike="noStrike">
                  <a:solidFill>
                    <a:srgbClr val="0D8C6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STB / Backend</a:t>
              </a:r>
              <a:endParaRPr/>
            </a:p>
          </p:txBody>
        </p:sp>
        <p:sp>
          <p:nvSpPr>
            <p:cNvPr id="1387" name="Google Shape;1387;p38"/>
            <p:cNvSpPr/>
            <p:nvPr/>
          </p:nvSpPr>
          <p:spPr>
            <a:xfrm>
              <a:off x="512064" y="3712464"/>
              <a:ext cx="859536" cy="3108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30초 단위로 /api/events Batch POST</a:t>
              </a:r>
              <a:endParaRPr/>
            </a:p>
          </p:txBody>
        </p:sp>
        <p:pic>
          <p:nvPicPr>
            <p:cNvPr descr="preencoded.png" id="1388" name="Google Shape;1388;p3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371600" y="3712464"/>
              <a:ext cx="91440" cy="1280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9" name="Google Shape;1389;p38"/>
            <p:cNvSpPr/>
            <p:nvPr/>
          </p:nvSpPr>
          <p:spPr>
            <a:xfrm>
              <a:off x="1481328" y="3438144"/>
              <a:ext cx="859536" cy="621792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9525">
              <a:solidFill>
                <a:srgbClr val="0D8C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90" name="Google Shape;1390;p38"/>
            <p:cNvSpPr/>
            <p:nvPr/>
          </p:nvSpPr>
          <p:spPr>
            <a:xfrm>
              <a:off x="1481328" y="3456432"/>
              <a:ext cx="859536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en-US" sz="850" u="none" cap="none" strike="noStrike">
                  <a:solidFill>
                    <a:srgbClr val="0D8C6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API Gateway</a:t>
              </a:r>
              <a:endParaRPr/>
            </a:p>
          </p:txBody>
        </p:sp>
        <p:sp>
          <p:nvSpPr>
            <p:cNvPr id="1391" name="Google Shape;1391;p38"/>
            <p:cNvSpPr/>
            <p:nvPr/>
          </p:nvSpPr>
          <p:spPr>
            <a:xfrm>
              <a:off x="1481328" y="3712464"/>
              <a:ext cx="859536" cy="3108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인증 및 스키마 검증</a:t>
              </a:r>
              <a:endParaRPr/>
            </a:p>
          </p:txBody>
        </p:sp>
        <p:pic>
          <p:nvPicPr>
            <p:cNvPr descr="preencoded.png" id="1392" name="Google Shape;1392;p3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340864" y="3712464"/>
              <a:ext cx="91440" cy="1280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3" name="Google Shape;1393;p38"/>
            <p:cNvSpPr/>
            <p:nvPr/>
          </p:nvSpPr>
          <p:spPr>
            <a:xfrm>
              <a:off x="2450592" y="3438144"/>
              <a:ext cx="859536" cy="621792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9525">
              <a:solidFill>
                <a:srgbClr val="0D8C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94" name="Google Shape;1394;p38"/>
            <p:cNvSpPr/>
            <p:nvPr/>
          </p:nvSpPr>
          <p:spPr>
            <a:xfrm>
              <a:off x="2450592" y="3456432"/>
              <a:ext cx="859536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en-US" sz="850" u="none" cap="none" strike="noStrike">
                  <a:solidFill>
                    <a:srgbClr val="0D8C6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정규화</a:t>
              </a:r>
              <a:endParaRPr/>
            </a:p>
          </p:txBody>
        </p:sp>
        <p:sp>
          <p:nvSpPr>
            <p:cNvPr id="1395" name="Google Shape;1395;p38"/>
            <p:cNvSpPr/>
            <p:nvPr/>
          </p:nvSpPr>
          <p:spPr>
            <a:xfrm>
              <a:off x="2450592" y="3712464"/>
              <a:ext cx="859536" cy="3108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 보강 및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테넌트 자동 할당</a:t>
              </a:r>
              <a:endParaRPr/>
            </a:p>
          </p:txBody>
        </p:sp>
        <p:pic>
          <p:nvPicPr>
            <p:cNvPr descr="preencoded.png" id="1396" name="Google Shape;1396;p3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10128" y="3712464"/>
              <a:ext cx="91440" cy="1280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7" name="Google Shape;1397;p38"/>
            <p:cNvSpPr/>
            <p:nvPr/>
          </p:nvSpPr>
          <p:spPr>
            <a:xfrm>
              <a:off x="3419856" y="3438144"/>
              <a:ext cx="859536" cy="621792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9525">
              <a:solidFill>
                <a:srgbClr val="0D8C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398" name="Google Shape;1398;p38"/>
            <p:cNvSpPr/>
            <p:nvPr/>
          </p:nvSpPr>
          <p:spPr>
            <a:xfrm>
              <a:off x="3419856" y="3456432"/>
              <a:ext cx="859536" cy="256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1" i="0" lang="en-US" sz="850" u="none" cap="none" strike="noStrike">
                  <a:solidFill>
                    <a:srgbClr val="0D8C6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Tenant Store</a:t>
              </a:r>
              <a:endParaRPr/>
            </a:p>
          </p:txBody>
        </p:sp>
        <p:sp>
          <p:nvSpPr>
            <p:cNvPr id="1399" name="Google Shape;1399;p38"/>
            <p:cNvSpPr/>
            <p:nvPr/>
          </p:nvSpPr>
          <p:spPr>
            <a:xfrm>
              <a:off x="3419856" y="3712464"/>
              <a:ext cx="859536" cy="3108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테넌트별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0" i="0" lang="en-US" sz="60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 파티셔닝</a:t>
              </a:r>
              <a:endParaRPr/>
            </a:p>
          </p:txBody>
        </p:sp>
        <p:pic>
          <p:nvPicPr>
            <p:cNvPr descr="preencoded.png" id="1400" name="Google Shape;1400;p3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12064" y="4133088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1" name="Google Shape;1401;p38"/>
            <p:cNvSpPr/>
            <p:nvPr/>
          </p:nvSpPr>
          <p:spPr>
            <a:xfrm>
              <a:off x="749808" y="4133088"/>
              <a:ext cx="36210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0D8C6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30초/배치 · 수작업 0 · 전체 Audit Trail 제공 · 손쉬운 확장성</a:t>
              </a:r>
              <a:endParaRPr/>
            </a:p>
          </p:txBody>
        </p:sp>
        <p:sp>
          <p:nvSpPr>
            <p:cNvPr id="1402" name="Google Shape;1402;p38"/>
            <p:cNvSpPr/>
            <p:nvPr/>
          </p:nvSpPr>
          <p:spPr>
            <a:xfrm>
              <a:off x="4663440" y="1170432"/>
              <a:ext cx="4069080" cy="373075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8100000" dist="12700">
                <a:srgbClr val="000000">
                  <a:alpha val="7058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03" name="Google Shape;1403;p38"/>
            <p:cNvSpPr/>
            <p:nvPr/>
          </p:nvSpPr>
          <p:spPr>
            <a:xfrm>
              <a:off x="4663440" y="1170432"/>
              <a:ext cx="4069080" cy="45720"/>
            </a:xfrm>
            <a:prstGeom prst="rect">
              <a:avLst/>
            </a:prstGeom>
            <a:solidFill>
              <a:srgbClr val="B45309"/>
            </a:solidFill>
            <a:ln cap="flat" cmpd="sng" w="12700">
              <a:solidFill>
                <a:srgbClr val="B4530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04" name="Google Shape;1404;p38"/>
            <p:cNvSpPr/>
            <p:nvPr/>
          </p:nvSpPr>
          <p:spPr>
            <a:xfrm>
              <a:off x="4809744" y="1243584"/>
              <a:ext cx="3749040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B4530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Auto-linking Engine</a:t>
              </a:r>
              <a:endParaRPr/>
            </a:p>
          </p:txBody>
        </p:sp>
        <p:sp>
          <p:nvSpPr>
            <p:cNvPr id="1405" name="Google Shape;1405;p38"/>
            <p:cNvSpPr/>
            <p:nvPr/>
          </p:nvSpPr>
          <p:spPr>
            <a:xfrm>
              <a:off x="4809744" y="1481328"/>
              <a:ext cx="3749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1" lang="en-US" sz="80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CMS에 이미 존재하는 데이터를 활용하므로, 별도의 수동 입력이 필요하지 않습니다.</a:t>
              </a:r>
              <a:endParaRPr/>
            </a:p>
          </p:txBody>
        </p:sp>
        <p:sp>
          <p:nvSpPr>
            <p:cNvPr id="1406" name="Google Shape;1406;p38"/>
            <p:cNvSpPr/>
            <p:nvPr/>
          </p:nvSpPr>
          <p:spPr>
            <a:xfrm>
              <a:off x="4809744" y="1737360"/>
              <a:ext cx="1517904" cy="475488"/>
            </a:xfrm>
            <a:prstGeom prst="roundRect">
              <a:avLst>
                <a:gd fmla="val 9615" name="adj"/>
              </a:avLst>
            </a:prstGeom>
            <a:solidFill>
              <a:srgbClr val="EBF1FB"/>
            </a:solidFill>
            <a:ln cap="flat" cmpd="sng" w="9525">
              <a:solidFill>
                <a:srgbClr val="1E4D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07" name="Google Shape;1407;p38"/>
            <p:cNvSpPr/>
            <p:nvPr/>
          </p:nvSpPr>
          <p:spPr>
            <a:xfrm>
              <a:off x="4864608" y="1773936"/>
              <a:ext cx="1408176" cy="219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1E4DA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STB Registration</a:t>
              </a:r>
              <a:endParaRPr/>
            </a:p>
          </p:txBody>
        </p:sp>
        <p:sp>
          <p:nvSpPr>
            <p:cNvPr id="1408" name="Google Shape;1408;p38"/>
            <p:cNvSpPr/>
            <p:nvPr/>
          </p:nvSpPr>
          <p:spPr>
            <a:xfrm>
              <a:off x="4864608" y="1975104"/>
              <a:ext cx="1408176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device_id → site_id → tenant_id</a:t>
              </a:r>
              <a:endParaRPr/>
            </a:p>
          </p:txBody>
        </p:sp>
        <p:pic>
          <p:nvPicPr>
            <p:cNvPr descr="preencoded.png" id="1409" name="Google Shape;1409;p3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364224" y="1892808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0" name="Google Shape;1410;p38"/>
            <p:cNvSpPr/>
            <p:nvPr/>
          </p:nvSpPr>
          <p:spPr>
            <a:xfrm>
              <a:off x="4809744" y="2340864"/>
              <a:ext cx="1517904" cy="475488"/>
            </a:xfrm>
            <a:prstGeom prst="roundRect">
              <a:avLst>
                <a:gd fmla="val 9615" name="adj"/>
              </a:avLst>
            </a:prstGeom>
            <a:solidFill>
              <a:srgbClr val="EDE9FE"/>
            </a:solidFill>
            <a:ln cap="flat" cmpd="sng" w="9525">
              <a:solidFill>
                <a:srgbClr val="5B21B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11" name="Google Shape;1411;p38"/>
            <p:cNvSpPr/>
            <p:nvPr/>
          </p:nvSpPr>
          <p:spPr>
            <a:xfrm>
              <a:off x="4864608" y="2377440"/>
              <a:ext cx="1408176" cy="219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5B21B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Content Publish</a:t>
              </a:r>
              <a:endParaRPr/>
            </a:p>
          </p:txBody>
        </p:sp>
        <p:sp>
          <p:nvSpPr>
            <p:cNvPr id="1412" name="Google Shape;1412;p38"/>
            <p:cNvSpPr/>
            <p:nvPr/>
          </p:nvSpPr>
          <p:spPr>
            <a:xfrm>
              <a:off x="4864608" y="2578608"/>
              <a:ext cx="1408176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content_id → tenant_id → campaign</a:t>
              </a:r>
              <a:endParaRPr/>
            </a:p>
          </p:txBody>
        </p:sp>
        <p:pic>
          <p:nvPicPr>
            <p:cNvPr descr="preencoded.png" id="1413" name="Google Shape;1413;p3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364224" y="2496312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4" name="Google Shape;1414;p38"/>
            <p:cNvSpPr/>
            <p:nvPr/>
          </p:nvSpPr>
          <p:spPr>
            <a:xfrm>
              <a:off x="4809744" y="2944368"/>
              <a:ext cx="1517904" cy="475488"/>
            </a:xfrm>
            <a:prstGeom prst="roundRect">
              <a:avLst>
                <a:gd fmla="val 9615" name="adj"/>
              </a:avLst>
            </a:prstGeom>
            <a:solidFill>
              <a:srgbClr val="D1FAE5"/>
            </a:solidFill>
            <a:ln cap="flat" cmpd="sng" w="9525">
              <a:solidFill>
                <a:srgbClr val="0D8C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15" name="Google Shape;1415;p38"/>
            <p:cNvSpPr/>
            <p:nvPr/>
          </p:nvSpPr>
          <p:spPr>
            <a:xfrm>
              <a:off x="4864608" y="2980944"/>
              <a:ext cx="1408176" cy="219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0D8C6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AI Metadata</a:t>
              </a:r>
              <a:endParaRPr/>
            </a:p>
          </p:txBody>
        </p:sp>
        <p:sp>
          <p:nvSpPr>
            <p:cNvPr id="1416" name="Google Shape;1416;p38"/>
            <p:cNvSpPr/>
            <p:nvPr/>
          </p:nvSpPr>
          <p:spPr>
            <a:xfrm>
              <a:off x="4864608" y="3182112"/>
              <a:ext cx="1408176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device_id + metrics → full enriched record</a:t>
              </a:r>
              <a:endParaRPr/>
            </a:p>
          </p:txBody>
        </p:sp>
        <p:pic>
          <p:nvPicPr>
            <p:cNvPr descr="preencoded.png" id="1417" name="Google Shape;1417;p3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364224" y="3099816"/>
              <a:ext cx="182880" cy="1828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8" name="Google Shape;1418;p38"/>
            <p:cNvSpPr/>
            <p:nvPr/>
          </p:nvSpPr>
          <p:spPr>
            <a:xfrm>
              <a:off x="6583680" y="1719072"/>
              <a:ext cx="1920240" cy="1773936"/>
            </a:xfrm>
            <a:prstGeom prst="rect">
              <a:avLst/>
            </a:prstGeom>
            <a:solidFill>
              <a:srgbClr val="FEF3C7"/>
            </a:solidFill>
            <a:ln cap="flat" cmpd="sng" w="12700">
              <a:solidFill>
                <a:srgbClr val="B4530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19" name="Google Shape;1419;p38"/>
            <p:cNvSpPr/>
            <p:nvPr/>
          </p:nvSpPr>
          <p:spPr>
            <a:xfrm>
              <a:off x="6620256" y="1828800"/>
              <a:ext cx="1847088" cy="402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9F6E4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Auto-linking Engine</a:t>
              </a:r>
              <a:endParaRPr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9F6E49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처리 흐름</a:t>
              </a:r>
              <a:endParaRPr/>
            </a:p>
          </p:txBody>
        </p:sp>
        <p:sp>
          <p:nvSpPr>
            <p:cNvPr id="1420" name="Google Shape;1420;p38"/>
            <p:cNvSpPr/>
            <p:nvPr/>
          </p:nvSpPr>
          <p:spPr>
            <a:xfrm>
              <a:off x="6803136" y="2267712"/>
              <a:ext cx="1609344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0" i="0" lang="en-US" sz="8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CMS 레지스트리 조회</a:t>
              </a:r>
              <a:endParaRPr/>
            </a:p>
          </p:txBody>
        </p:sp>
        <p:sp>
          <p:nvSpPr>
            <p:cNvPr id="1421" name="Google Shape;1421;p38"/>
            <p:cNvSpPr/>
            <p:nvPr/>
          </p:nvSpPr>
          <p:spPr>
            <a:xfrm>
              <a:off x="6803136" y="2487168"/>
              <a:ext cx="1609344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0" i="0" lang="en-US" sz="8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device → tenant 자동 매핑</a:t>
              </a:r>
              <a:endParaRPr/>
            </a:p>
          </p:txBody>
        </p:sp>
        <p:sp>
          <p:nvSpPr>
            <p:cNvPr id="1422" name="Google Shape;1422;p38"/>
            <p:cNvSpPr/>
            <p:nvPr/>
          </p:nvSpPr>
          <p:spPr>
            <a:xfrm>
              <a:off x="6803136" y="2706624"/>
              <a:ext cx="1609344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0" i="0" lang="en-US" sz="8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메타데이터 보강</a:t>
              </a:r>
              <a:endParaRPr b="0" i="0" sz="85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23" name="Google Shape;1423;p38"/>
            <p:cNvSpPr/>
            <p:nvPr/>
          </p:nvSpPr>
          <p:spPr>
            <a:xfrm>
              <a:off x="6803136" y="2926080"/>
              <a:ext cx="1609344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0" i="0" lang="en-US" sz="8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스키마 검증</a:t>
              </a:r>
              <a:endParaRPr/>
            </a:p>
          </p:txBody>
        </p:sp>
        <p:sp>
          <p:nvSpPr>
            <p:cNvPr id="1424" name="Google Shape;1424;p38"/>
            <p:cNvSpPr/>
            <p:nvPr/>
          </p:nvSpPr>
          <p:spPr>
            <a:xfrm>
              <a:off x="6803136" y="3145536"/>
              <a:ext cx="1609344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0" i="0" lang="en-US" sz="850" u="none" cap="none" strike="noStrike">
                  <a:solidFill>
                    <a:srgbClr val="6B728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BI 모델 자동 할당</a:t>
              </a:r>
              <a:endParaRPr/>
            </a:p>
          </p:txBody>
        </p:sp>
        <p:sp>
          <p:nvSpPr>
            <p:cNvPr id="1425" name="Google Shape;1425;p38"/>
            <p:cNvSpPr/>
            <p:nvPr/>
          </p:nvSpPr>
          <p:spPr>
            <a:xfrm>
              <a:off x="4809744" y="3712464"/>
              <a:ext cx="3749040" cy="804672"/>
            </a:xfrm>
            <a:prstGeom prst="roundRect">
              <a:avLst>
                <a:gd fmla="val 6818" name="adj"/>
              </a:avLst>
            </a:prstGeom>
            <a:solidFill>
              <a:srgbClr val="D1FAE5"/>
            </a:solidFill>
            <a:ln cap="flat" cmpd="sng" w="10150">
              <a:solidFill>
                <a:srgbClr val="0D8C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26" name="Google Shape;1426;p38"/>
            <p:cNvSpPr/>
            <p:nvPr/>
          </p:nvSpPr>
          <p:spPr>
            <a:xfrm>
              <a:off x="4919472" y="3749040"/>
              <a:ext cx="3529584" cy="2011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1" i="0" lang="en-US" sz="950" u="none" cap="none" strike="noStrike">
                  <a:solidFill>
                    <a:srgbClr val="0D8C6E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출력값 - Enriched Record (자동 생성, 수동 입력 없음)</a:t>
              </a:r>
              <a:endParaRPr/>
            </a:p>
          </p:txBody>
        </p:sp>
        <p:sp>
          <p:nvSpPr>
            <p:cNvPr id="1427" name="Google Shape;1427;p38"/>
            <p:cNvSpPr/>
            <p:nvPr/>
          </p:nvSpPr>
          <p:spPr>
            <a:xfrm>
              <a:off x="4919472" y="3950208"/>
              <a:ext cx="3529584" cy="5303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0" i="0" lang="en-US" sz="850" u="none" cap="none" strike="noStrike">
                  <a:solidFill>
                    <a:srgbClr val="163A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{ device_id: "STB-OLY-GN-01", site: "OliveYoung 강남", tenant: "T001",</a:t>
              </a:r>
              <a:endParaRPr b="0" i="0" sz="8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50"/>
                <a:buFont typeface="Arial"/>
                <a:buNone/>
              </a:pPr>
              <a:r>
                <a:rPr b="0" i="0" lang="en-US" sz="850" u="none" cap="none" strike="noStrike">
                  <a:solidFill>
                    <a:srgbClr val="163A7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 people_count: 247, content: "promo_oct", campaign: "Oct 2024" }</a:t>
              </a:r>
              <a:endParaRPr b="0" i="0" sz="8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cxnSp>
          <p:nvCxnSpPr>
            <p:cNvPr id="1428" name="Google Shape;1428;p38"/>
            <p:cNvCxnSpPr/>
            <p:nvPr/>
          </p:nvCxnSpPr>
          <p:spPr>
            <a:xfrm>
              <a:off x="7543800" y="3493008"/>
              <a:ext cx="0" cy="219456"/>
            </a:xfrm>
            <a:prstGeom prst="straightConnector1">
              <a:avLst/>
            </a:prstGeom>
            <a:noFill/>
            <a:ln cap="flat" cmpd="sng" w="15225">
              <a:solidFill>
                <a:srgbClr val="B4530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" name="Google Shape;143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" name="Google Shape;1434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25" y="4442300"/>
            <a:ext cx="835799" cy="536658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58"/>
          <p:cNvSpPr txBox="1"/>
          <p:nvPr/>
        </p:nvSpPr>
        <p:spPr>
          <a:xfrm>
            <a:off x="1164925" y="432200"/>
            <a:ext cx="21996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75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36" name="Google Shape;1436;p58"/>
          <p:cNvSpPr txBox="1"/>
          <p:nvPr/>
        </p:nvSpPr>
        <p:spPr>
          <a:xfrm>
            <a:off x="328295" y="1503045"/>
            <a:ext cx="45198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CMS </a:t>
            </a:r>
            <a:r>
              <a:rPr b="1" lang="en-US" sz="26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프로토타입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58"/>
          <p:cNvSpPr txBox="1"/>
          <p:nvPr/>
        </p:nvSpPr>
        <p:spPr>
          <a:xfrm>
            <a:off x="35112" y="4935783"/>
            <a:ext cx="4761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8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2" name="Google Shape;14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3" name="Google Shape;1443;p20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홈 화면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20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5" name="Google Shape;1445;p20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446" name="Google Shape;144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7" name="Google Shape;1447;p20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8" name="Google Shape;1448;p20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449" name="Google Shape;1449;p20"/>
          <p:cNvGrpSpPr/>
          <p:nvPr/>
        </p:nvGrpSpPr>
        <p:grpSpPr>
          <a:xfrm>
            <a:off x="1094508" y="4573642"/>
            <a:ext cx="6489304" cy="196801"/>
            <a:chOff x="411480" y="4157687"/>
            <a:chExt cx="8374888" cy="383697"/>
          </a:xfrm>
        </p:grpSpPr>
        <p:sp>
          <p:nvSpPr>
            <p:cNvPr id="1450" name="Google Shape;1450;p20"/>
            <p:cNvSpPr/>
            <p:nvPr/>
          </p:nvSpPr>
          <p:spPr>
            <a:xfrm>
              <a:off x="411480" y="4157687"/>
              <a:ext cx="8374888" cy="383697"/>
            </a:xfrm>
            <a:prstGeom prst="rect">
              <a:avLst/>
            </a:prstGeom>
            <a:solidFill>
              <a:srgbClr val="FEF3C7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8100000" dist="12700">
                <a:srgbClr val="000000">
                  <a:alpha val="588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51" name="Google Shape;1451;p20"/>
            <p:cNvSpPr/>
            <p:nvPr/>
          </p:nvSpPr>
          <p:spPr>
            <a:xfrm>
              <a:off x="411480" y="4157687"/>
              <a:ext cx="45600" cy="383697"/>
            </a:xfrm>
            <a:prstGeom prst="rect">
              <a:avLst/>
            </a:prstGeom>
            <a:solidFill>
              <a:srgbClr val="B45309"/>
            </a:solidFill>
            <a:ln cap="flat" cmpd="sng" w="12700">
              <a:solidFill>
                <a:srgbClr val="B4530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52" name="Google Shape;1452;p20"/>
            <p:cNvSpPr/>
            <p:nvPr/>
          </p:nvSpPr>
          <p:spPr>
            <a:xfrm>
              <a:off x="566928" y="4204038"/>
              <a:ext cx="8046600" cy="3018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950"/>
                <a:buFont typeface="Calibri"/>
                <a:buNone/>
              </a:pPr>
              <a:r>
                <a:rPr b="0" i="0" lang="en-US" sz="9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본 내용은 참고용 프로토타입이며, 실제 구현 시에는 일부 변경될 수 있음.</a:t>
              </a:r>
              <a:endParaRPr b="0" i="0" sz="9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453" name="Google Shape;1453;p20"/>
          <p:cNvSpPr/>
          <p:nvPr/>
        </p:nvSpPr>
        <p:spPr>
          <a:xfrm>
            <a:off x="1067619" y="466746"/>
            <a:ext cx="6516193" cy="406295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8" name="Google Shape;14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24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콘텐츠 관리 화면 (2/2)</a:t>
            </a:r>
            <a:endParaRPr b="1" i="0" sz="12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60" name="Google Shape;1460;p24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61" name="Google Shape;1461;p24"/>
          <p:cNvSpPr txBox="1"/>
          <p:nvPr/>
        </p:nvSpPr>
        <p:spPr>
          <a:xfrm>
            <a:off x="7304100" y="4866601"/>
            <a:ext cx="18399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462" name="Google Shape;146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3" name="Google Shape;1463;p24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4" name="Google Shape;1464;p24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465" name="Google Shape;1465;p24"/>
          <p:cNvGrpSpPr/>
          <p:nvPr/>
        </p:nvGrpSpPr>
        <p:grpSpPr>
          <a:xfrm>
            <a:off x="1094527" y="4573612"/>
            <a:ext cx="6489633" cy="196800"/>
            <a:chOff x="411480" y="4157687"/>
            <a:chExt cx="8374800" cy="383700"/>
          </a:xfrm>
        </p:grpSpPr>
        <p:sp>
          <p:nvSpPr>
            <p:cNvPr id="1466" name="Google Shape;1466;p24"/>
            <p:cNvSpPr/>
            <p:nvPr/>
          </p:nvSpPr>
          <p:spPr>
            <a:xfrm>
              <a:off x="411480" y="4157687"/>
              <a:ext cx="8374800" cy="383700"/>
            </a:xfrm>
            <a:prstGeom prst="rect">
              <a:avLst/>
            </a:prstGeom>
            <a:solidFill>
              <a:srgbClr val="FEF3C7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8100000" dist="12700">
                <a:srgbClr val="000000">
                  <a:alpha val="588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67" name="Google Shape;1467;p24"/>
            <p:cNvSpPr/>
            <p:nvPr/>
          </p:nvSpPr>
          <p:spPr>
            <a:xfrm>
              <a:off x="411480" y="4157687"/>
              <a:ext cx="45600" cy="383700"/>
            </a:xfrm>
            <a:prstGeom prst="rect">
              <a:avLst/>
            </a:prstGeom>
            <a:solidFill>
              <a:srgbClr val="B45309"/>
            </a:solidFill>
            <a:ln cap="flat" cmpd="sng" w="12700">
              <a:solidFill>
                <a:srgbClr val="B4530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68" name="Google Shape;1468;p24"/>
            <p:cNvSpPr/>
            <p:nvPr/>
          </p:nvSpPr>
          <p:spPr>
            <a:xfrm>
              <a:off x="566928" y="4204038"/>
              <a:ext cx="80466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950"/>
                <a:buFont typeface="Calibri"/>
                <a:buNone/>
              </a:pPr>
              <a:r>
                <a:rPr b="0" i="0" lang="en-US" sz="9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본 내용은 참고용 프로토타입이며, 실제 구현 시에는 일부 변경될 수 있음.</a:t>
              </a:r>
              <a:endParaRPr b="0" i="0" sz="9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469" name="Google Shape;1469;p24"/>
          <p:cNvSpPr/>
          <p:nvPr/>
        </p:nvSpPr>
        <p:spPr>
          <a:xfrm>
            <a:off x="1081063" y="462610"/>
            <a:ext cx="6516300" cy="4062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" name="Google Shape;147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25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디바이스 관리 화면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25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77" name="Google Shape;1477;p25"/>
          <p:cNvSpPr txBox="1"/>
          <p:nvPr/>
        </p:nvSpPr>
        <p:spPr>
          <a:xfrm>
            <a:off x="7304100" y="4866601"/>
            <a:ext cx="18399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478" name="Google Shape;147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9" name="Google Shape;1479;p25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0" name="Google Shape;1480;p25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481" name="Google Shape;1481;p25"/>
          <p:cNvGrpSpPr/>
          <p:nvPr/>
        </p:nvGrpSpPr>
        <p:grpSpPr>
          <a:xfrm>
            <a:off x="1094527" y="4573612"/>
            <a:ext cx="6489633" cy="196800"/>
            <a:chOff x="411480" y="4157687"/>
            <a:chExt cx="8374800" cy="383700"/>
          </a:xfrm>
        </p:grpSpPr>
        <p:sp>
          <p:nvSpPr>
            <p:cNvPr id="1482" name="Google Shape;1482;p25"/>
            <p:cNvSpPr/>
            <p:nvPr/>
          </p:nvSpPr>
          <p:spPr>
            <a:xfrm>
              <a:off x="411480" y="4157687"/>
              <a:ext cx="8374800" cy="383700"/>
            </a:xfrm>
            <a:prstGeom prst="rect">
              <a:avLst/>
            </a:prstGeom>
            <a:solidFill>
              <a:srgbClr val="FEF3C7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8100000" dist="12700">
                <a:srgbClr val="000000">
                  <a:alpha val="588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83" name="Google Shape;1483;p25"/>
            <p:cNvSpPr/>
            <p:nvPr/>
          </p:nvSpPr>
          <p:spPr>
            <a:xfrm>
              <a:off x="411480" y="4157687"/>
              <a:ext cx="45600" cy="383700"/>
            </a:xfrm>
            <a:prstGeom prst="rect">
              <a:avLst/>
            </a:prstGeom>
            <a:solidFill>
              <a:srgbClr val="B45309"/>
            </a:solidFill>
            <a:ln cap="flat" cmpd="sng" w="12700">
              <a:solidFill>
                <a:srgbClr val="B4530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84" name="Google Shape;1484;p25"/>
            <p:cNvSpPr/>
            <p:nvPr/>
          </p:nvSpPr>
          <p:spPr>
            <a:xfrm>
              <a:off x="566928" y="4204038"/>
              <a:ext cx="80466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950"/>
                <a:buFont typeface="Calibri"/>
                <a:buNone/>
              </a:pPr>
              <a:r>
                <a:rPr b="0" i="0" lang="en-US" sz="9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본 내용은 참고용 프로토타입이며, 실제 구현 시에는 일부 변경될 수 있음.</a:t>
              </a:r>
              <a:endParaRPr b="0" i="0" sz="9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485" name="Google Shape;1485;p25"/>
          <p:cNvSpPr/>
          <p:nvPr/>
        </p:nvSpPr>
        <p:spPr>
          <a:xfrm>
            <a:off x="1067619" y="486384"/>
            <a:ext cx="6516300" cy="4062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0" name="Google Shape;149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26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긴급 관리 화면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26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93" name="Google Shape;1493;p26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494" name="Google Shape;149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5" name="Google Shape;1495;p26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6" name="Google Shape;1496;p26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497" name="Google Shape;1497;p26"/>
          <p:cNvGrpSpPr/>
          <p:nvPr/>
        </p:nvGrpSpPr>
        <p:grpSpPr>
          <a:xfrm>
            <a:off x="1094508" y="4573642"/>
            <a:ext cx="6489304" cy="196801"/>
            <a:chOff x="411480" y="4157687"/>
            <a:chExt cx="8374888" cy="383697"/>
          </a:xfrm>
        </p:grpSpPr>
        <p:sp>
          <p:nvSpPr>
            <p:cNvPr id="1498" name="Google Shape;1498;p26"/>
            <p:cNvSpPr/>
            <p:nvPr/>
          </p:nvSpPr>
          <p:spPr>
            <a:xfrm>
              <a:off x="411480" y="4157687"/>
              <a:ext cx="8374888" cy="383697"/>
            </a:xfrm>
            <a:prstGeom prst="rect">
              <a:avLst/>
            </a:prstGeom>
            <a:solidFill>
              <a:srgbClr val="FEF3C7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8100000" dist="12700">
                <a:srgbClr val="000000">
                  <a:alpha val="588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499" name="Google Shape;1499;p26"/>
            <p:cNvSpPr/>
            <p:nvPr/>
          </p:nvSpPr>
          <p:spPr>
            <a:xfrm>
              <a:off x="411480" y="4157687"/>
              <a:ext cx="45600" cy="383697"/>
            </a:xfrm>
            <a:prstGeom prst="rect">
              <a:avLst/>
            </a:prstGeom>
            <a:solidFill>
              <a:srgbClr val="B45309"/>
            </a:solidFill>
            <a:ln cap="flat" cmpd="sng" w="12700">
              <a:solidFill>
                <a:srgbClr val="B4530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500" name="Google Shape;1500;p26"/>
            <p:cNvSpPr/>
            <p:nvPr/>
          </p:nvSpPr>
          <p:spPr>
            <a:xfrm>
              <a:off x="566928" y="4204038"/>
              <a:ext cx="8046600" cy="3018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950"/>
                <a:buFont typeface="Calibri"/>
                <a:buNone/>
              </a:pPr>
              <a:r>
                <a:rPr b="0" i="0" lang="en-US" sz="9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본 내용은 참고용 프로토타입이며, 실제 구현 시에는 일부 변경될 수 있음.</a:t>
              </a:r>
              <a:endParaRPr b="0" i="0" sz="9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501" name="Google Shape;1501;p26"/>
          <p:cNvSpPr/>
          <p:nvPr/>
        </p:nvSpPr>
        <p:spPr>
          <a:xfrm>
            <a:off x="1067619" y="466746"/>
            <a:ext cx="6516193" cy="406295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6" name="Google Shape;150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7" name="Google Shape;1507;p28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AI 분석 화면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28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09" name="Google Shape;1509;p28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510" name="Google Shape;151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1" name="Google Shape;1511;p28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2" name="Google Shape;1512;p28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513" name="Google Shape;1513;p28"/>
          <p:cNvGrpSpPr/>
          <p:nvPr/>
        </p:nvGrpSpPr>
        <p:grpSpPr>
          <a:xfrm>
            <a:off x="1094508" y="4573642"/>
            <a:ext cx="6489304" cy="196801"/>
            <a:chOff x="411480" y="4157687"/>
            <a:chExt cx="8374888" cy="383697"/>
          </a:xfrm>
        </p:grpSpPr>
        <p:sp>
          <p:nvSpPr>
            <p:cNvPr id="1514" name="Google Shape;1514;p28"/>
            <p:cNvSpPr/>
            <p:nvPr/>
          </p:nvSpPr>
          <p:spPr>
            <a:xfrm>
              <a:off x="411480" y="4157687"/>
              <a:ext cx="8374888" cy="383697"/>
            </a:xfrm>
            <a:prstGeom prst="rect">
              <a:avLst/>
            </a:prstGeom>
            <a:solidFill>
              <a:srgbClr val="FEF3C7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8100000" dist="12700">
                <a:srgbClr val="000000">
                  <a:alpha val="588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515" name="Google Shape;1515;p28"/>
            <p:cNvSpPr/>
            <p:nvPr/>
          </p:nvSpPr>
          <p:spPr>
            <a:xfrm>
              <a:off x="411480" y="4157687"/>
              <a:ext cx="45600" cy="383697"/>
            </a:xfrm>
            <a:prstGeom prst="rect">
              <a:avLst/>
            </a:prstGeom>
            <a:solidFill>
              <a:srgbClr val="B45309"/>
            </a:solidFill>
            <a:ln cap="flat" cmpd="sng" w="12700">
              <a:solidFill>
                <a:srgbClr val="B4530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516" name="Google Shape;1516;p28"/>
            <p:cNvSpPr/>
            <p:nvPr/>
          </p:nvSpPr>
          <p:spPr>
            <a:xfrm>
              <a:off x="566928" y="4204038"/>
              <a:ext cx="8046600" cy="3018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950"/>
                <a:buFont typeface="Calibri"/>
                <a:buNone/>
              </a:pPr>
              <a:r>
                <a:rPr b="0" i="0" lang="en-US" sz="9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본 내용은 참고용 프로토타입이며, 실제 구현 시에는 일부 변경될 수 있음.</a:t>
              </a:r>
              <a:endParaRPr b="0" i="0" sz="9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517" name="Google Shape;1517;p28"/>
          <p:cNvSpPr/>
          <p:nvPr/>
        </p:nvSpPr>
        <p:spPr>
          <a:xfrm>
            <a:off x="1081063" y="466746"/>
            <a:ext cx="6516193" cy="406295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2" name="Google Shape;15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3" name="Google Shape;1523;p29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고객 - 매장 화면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29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25" name="Google Shape;1525;p29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526" name="Google Shape;152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7" name="Google Shape;1527;p29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8" name="Google Shape;1528;p29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529" name="Google Shape;1529;p29"/>
          <p:cNvGrpSpPr/>
          <p:nvPr/>
        </p:nvGrpSpPr>
        <p:grpSpPr>
          <a:xfrm>
            <a:off x="1094508" y="4573642"/>
            <a:ext cx="6489304" cy="196801"/>
            <a:chOff x="411480" y="4157687"/>
            <a:chExt cx="8374888" cy="383697"/>
          </a:xfrm>
        </p:grpSpPr>
        <p:sp>
          <p:nvSpPr>
            <p:cNvPr id="1530" name="Google Shape;1530;p29"/>
            <p:cNvSpPr/>
            <p:nvPr/>
          </p:nvSpPr>
          <p:spPr>
            <a:xfrm>
              <a:off x="411480" y="4157687"/>
              <a:ext cx="8374888" cy="383697"/>
            </a:xfrm>
            <a:prstGeom prst="rect">
              <a:avLst/>
            </a:prstGeom>
            <a:solidFill>
              <a:srgbClr val="FEF3C7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8100000" dist="12700">
                <a:srgbClr val="000000">
                  <a:alpha val="588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531" name="Google Shape;1531;p29"/>
            <p:cNvSpPr/>
            <p:nvPr/>
          </p:nvSpPr>
          <p:spPr>
            <a:xfrm>
              <a:off x="411480" y="4157687"/>
              <a:ext cx="45600" cy="383697"/>
            </a:xfrm>
            <a:prstGeom prst="rect">
              <a:avLst/>
            </a:prstGeom>
            <a:solidFill>
              <a:srgbClr val="B45309"/>
            </a:solidFill>
            <a:ln cap="flat" cmpd="sng" w="12700">
              <a:solidFill>
                <a:srgbClr val="B4530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532" name="Google Shape;1532;p29"/>
            <p:cNvSpPr/>
            <p:nvPr/>
          </p:nvSpPr>
          <p:spPr>
            <a:xfrm>
              <a:off x="566928" y="4204038"/>
              <a:ext cx="8046600" cy="3018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950"/>
                <a:buFont typeface="Calibri"/>
                <a:buNone/>
              </a:pPr>
              <a:r>
                <a:rPr b="0" i="0" lang="en-US" sz="9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본 내용은 참고용 프로토타입이며, 실제 구현 시에는 일부 변경될 수 있음.</a:t>
              </a:r>
              <a:endParaRPr b="0" i="0" sz="9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533" name="Google Shape;1533;p29"/>
          <p:cNvSpPr/>
          <p:nvPr/>
        </p:nvSpPr>
        <p:spPr>
          <a:xfrm>
            <a:off x="1067619" y="466746"/>
            <a:ext cx="6516193" cy="406295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8" name="Google Shape;15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9010" y="139526"/>
            <a:ext cx="671252" cy="4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9" name="Google Shape;1539;p32"/>
          <p:cNvSpPr txBox="1"/>
          <p:nvPr/>
        </p:nvSpPr>
        <p:spPr>
          <a:xfrm>
            <a:off x="368815" y="215203"/>
            <a:ext cx="405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OTA 관리 화면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32"/>
          <p:cNvSpPr/>
          <p:nvPr/>
        </p:nvSpPr>
        <p:spPr>
          <a:xfrm>
            <a:off x="287421" y="215200"/>
            <a:ext cx="75000" cy="20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41" name="Google Shape;1541;p32"/>
          <p:cNvSpPr txBox="1"/>
          <p:nvPr/>
        </p:nvSpPr>
        <p:spPr>
          <a:xfrm>
            <a:off x="7304100" y="4866601"/>
            <a:ext cx="1839900" cy="2954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99999"/>
                </a:solidFill>
                <a:latin typeface="Noto Sans KR"/>
                <a:ea typeface="Noto Sans KR"/>
                <a:cs typeface="Noto Sans KR"/>
                <a:sym typeface="Noto Sans KR"/>
              </a:rPr>
              <a:t>Copyright © 2025 VTI All rights reserved</a:t>
            </a:r>
            <a:endParaRPr b="0" i="0" sz="600" u="none" cap="none" strike="noStrike">
              <a:solidFill>
                <a:srgbClr val="99999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542" name="Google Shape;154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3" name="Google Shape;1543;p32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4" name="Google Shape;1544;p32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545" name="Google Shape;1545;p32"/>
          <p:cNvGrpSpPr/>
          <p:nvPr/>
        </p:nvGrpSpPr>
        <p:grpSpPr>
          <a:xfrm>
            <a:off x="1094508" y="4573642"/>
            <a:ext cx="6489304" cy="196801"/>
            <a:chOff x="411480" y="4157687"/>
            <a:chExt cx="8374888" cy="383697"/>
          </a:xfrm>
        </p:grpSpPr>
        <p:sp>
          <p:nvSpPr>
            <p:cNvPr id="1546" name="Google Shape;1546;p32"/>
            <p:cNvSpPr/>
            <p:nvPr/>
          </p:nvSpPr>
          <p:spPr>
            <a:xfrm>
              <a:off x="411480" y="4157687"/>
              <a:ext cx="8374888" cy="383697"/>
            </a:xfrm>
            <a:prstGeom prst="rect">
              <a:avLst/>
            </a:prstGeom>
            <a:solidFill>
              <a:srgbClr val="FEF3C7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8100000" dist="12700">
                <a:srgbClr val="000000">
                  <a:alpha val="588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547" name="Google Shape;1547;p32"/>
            <p:cNvSpPr/>
            <p:nvPr/>
          </p:nvSpPr>
          <p:spPr>
            <a:xfrm>
              <a:off x="411480" y="4157687"/>
              <a:ext cx="45600" cy="383697"/>
            </a:xfrm>
            <a:prstGeom prst="rect">
              <a:avLst/>
            </a:prstGeom>
            <a:solidFill>
              <a:srgbClr val="B45309"/>
            </a:solidFill>
            <a:ln cap="flat" cmpd="sng" w="12700">
              <a:solidFill>
                <a:srgbClr val="B4530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1548" name="Google Shape;1548;p32"/>
            <p:cNvSpPr/>
            <p:nvPr/>
          </p:nvSpPr>
          <p:spPr>
            <a:xfrm>
              <a:off x="566928" y="4204038"/>
              <a:ext cx="8046600" cy="3018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950"/>
                <a:buFont typeface="Calibri"/>
                <a:buNone/>
              </a:pPr>
              <a:r>
                <a:rPr b="0" i="0" lang="en-US" sz="950" u="none" cap="none" strike="noStrike">
                  <a:solidFill>
                    <a:srgbClr val="11182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본 내용은 참고용 프로토타입이며, 실제 구현 시에는 일부 변경될 수 있음.</a:t>
              </a:r>
              <a:endParaRPr b="0" i="0" sz="9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549" name="Google Shape;1549;p32"/>
          <p:cNvSpPr/>
          <p:nvPr/>
        </p:nvSpPr>
        <p:spPr>
          <a:xfrm>
            <a:off x="1067619" y="466746"/>
            <a:ext cx="6516193" cy="406295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flat" cmpd="sng" w="127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4" name="Google Shape;155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824" y="0"/>
            <a:ext cx="3428177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5" name="Google Shape;1555;p39"/>
          <p:cNvCxnSpPr/>
          <p:nvPr/>
        </p:nvCxnSpPr>
        <p:spPr>
          <a:xfrm>
            <a:off x="930150" y="4722250"/>
            <a:ext cx="0" cy="236100"/>
          </a:xfrm>
          <a:prstGeom prst="straightConnector1">
            <a:avLst/>
          </a:prstGeom>
          <a:noFill/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56" name="Google Shape;155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694575"/>
            <a:ext cx="495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7" name="Google Shape;1557;p39"/>
          <p:cNvPicPr preferRelativeResize="0"/>
          <p:nvPr/>
        </p:nvPicPr>
        <p:blipFill rotWithShape="1">
          <a:blip r:embed="rId5">
            <a:alphaModFix/>
          </a:blip>
          <a:srcRect b="0" l="5148" r="-5148" t="0"/>
          <a:stretch/>
        </p:blipFill>
        <p:spPr>
          <a:xfrm>
            <a:off x="8288799" y="137500"/>
            <a:ext cx="613002" cy="368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8" name="Google Shape;1558;p39"/>
          <p:cNvGrpSpPr/>
          <p:nvPr/>
        </p:nvGrpSpPr>
        <p:grpSpPr>
          <a:xfrm>
            <a:off x="326275" y="200075"/>
            <a:ext cx="5213100" cy="4306000"/>
            <a:chOff x="345325" y="212775"/>
            <a:chExt cx="5213100" cy="4306000"/>
          </a:xfrm>
        </p:grpSpPr>
        <p:sp>
          <p:nvSpPr>
            <p:cNvPr id="1559" name="Google Shape;1559;p39"/>
            <p:cNvSpPr txBox="1"/>
            <p:nvPr/>
          </p:nvSpPr>
          <p:spPr>
            <a:xfrm>
              <a:off x="345325" y="212775"/>
              <a:ext cx="5101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연락처</a:t>
              </a:r>
              <a:endParaRPr b="1" i="0" sz="1800" u="none" cap="none" strike="noStrike">
                <a:solidFill>
                  <a:srgbClr val="323232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1560" name="Google Shape;1560;p39"/>
            <p:cNvGrpSpPr/>
            <p:nvPr/>
          </p:nvGrpSpPr>
          <p:grpSpPr>
            <a:xfrm>
              <a:off x="345325" y="1559575"/>
              <a:ext cx="5213100" cy="2959200"/>
              <a:chOff x="256425" y="1559575"/>
              <a:chExt cx="5213100" cy="2959200"/>
            </a:xfrm>
          </p:grpSpPr>
          <p:sp>
            <p:nvSpPr>
              <p:cNvPr id="1561" name="Google Shape;1561;p39"/>
              <p:cNvSpPr txBox="1"/>
              <p:nvPr/>
            </p:nvSpPr>
            <p:spPr>
              <a:xfrm>
                <a:off x="368025" y="1559575"/>
                <a:ext cx="5101500" cy="295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VIETNAM</a:t>
                </a:r>
                <a:endParaRPr b="1" i="0" sz="10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50"/>
                  <a:buFont typeface="Arial"/>
                  <a:buNone/>
                </a:pPr>
                <a:r>
                  <a:rPr b="0" i="0" lang="en-US" sz="85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• VTI Building, Me Tri Ha Urban Zone, Nam Tu Liem, Ha Noi</a:t>
                </a:r>
                <a:endParaRPr b="0" i="0" sz="85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50"/>
                  <a:buFont typeface="Arial"/>
                  <a:buNone/>
                </a:pPr>
                <a:r>
                  <a:rPr b="0" i="0" lang="en-US" sz="85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• 7F, VNO Building, 124 Dien Bien Phu, Da Kao, Dist.1, Ho Chi Minh</a:t>
                </a:r>
                <a:endParaRPr b="0" i="0" sz="85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t/>
                </a:r>
                <a:endParaRPr b="0" i="0" sz="95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KOREA</a:t>
                </a:r>
                <a:endParaRPr b="1" i="0" sz="10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50"/>
                  <a:buFont typeface="Arial"/>
                  <a:buNone/>
                </a:pPr>
                <a:r>
                  <a:rPr b="0" i="0" lang="en-US" sz="85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• 13 Floor, Goryeo Daeyeongak Tower, 97 Toegye-ro, Jung-gu, Seoul, Korea 04535</a:t>
                </a:r>
                <a:endParaRPr b="0" i="0" sz="85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t/>
                </a:r>
                <a:endParaRPr b="0" i="0" sz="95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JAPAN</a:t>
                </a:r>
                <a:endParaRPr b="1" i="0" sz="10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• 4th Floor, T&amp;T Building, 8−21 Tomihisacho, Shinjuku-ku, Tokyo 162−0067</a:t>
                </a:r>
                <a:endParaRPr b="0" i="0" sz="8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• 4th Floor, Belx Shinjuku Building, 23−14 Aizumicho, Shinjuku-ku, Tokyo 160−0005</a:t>
                </a:r>
                <a:endParaRPr b="0" i="0" sz="8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• Room 608, Sanko Building Semba, 1−3−9 Minamihonmachi, Chuo-ku, Osaka-shi, Osaka 541−0054</a:t>
                </a:r>
                <a:endParaRPr b="0" i="0" sz="8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• Room 651, Business Center Nagoya Sakae, 3−22−24 Nishiki, Naka-ku, Nagoya-shi, Aichi 460−0003</a:t>
                </a:r>
                <a:endParaRPr b="0" i="0" sz="8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• Room 943, 9th Floor, Daini Okabe Building, 3−27−25 Hakata Ekimae, Hakata-ku, Fukuoka-shi, Fukuoka 812−0011</a:t>
                </a:r>
                <a:endParaRPr b="0" i="0" sz="8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50"/>
                  <a:buFont typeface="Arial"/>
                  <a:buNone/>
                </a:pPr>
                <a:r>
                  <a:t/>
                </a:r>
                <a:endParaRPr b="0" i="0" sz="95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SINGAPORE</a:t>
                </a:r>
                <a:endParaRPr b="1" i="0" sz="10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50"/>
                  <a:buFont typeface="Arial"/>
                  <a:buNone/>
                </a:pPr>
                <a:r>
                  <a:rPr b="0" i="0" lang="en-US" sz="850" u="none" cap="none" strike="noStrike">
                    <a:solidFill>
                      <a:srgbClr val="3D3D3D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• 20A Tanjong Pagar Road 088443</a:t>
                </a:r>
                <a:endParaRPr b="0" i="0" sz="85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pic>
            <p:nvPicPr>
              <p:cNvPr id="1562" name="Google Shape;1562;p3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56425" y="4064642"/>
                <a:ext cx="171142" cy="1151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4288" rotWithShape="0" algn="bl" dist="9525">
                  <a:srgbClr val="000000">
                    <a:alpha val="29019"/>
                  </a:srgbClr>
                </a:outerShdw>
              </a:effectLst>
            </p:spPr>
          </p:pic>
          <p:pic>
            <p:nvPicPr>
              <p:cNvPr id="1563" name="Google Shape;1563;p3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256429" y="2350792"/>
                <a:ext cx="171142" cy="1151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4288" rotWithShape="0" algn="bl" dist="9525">
                  <a:srgbClr val="000000">
                    <a:alpha val="29019"/>
                  </a:srgbClr>
                </a:outerShdw>
              </a:effectLst>
            </p:spPr>
          </p:pic>
          <p:pic>
            <p:nvPicPr>
              <p:cNvPr id="1564" name="Google Shape;1564;p3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256433" y="1668217"/>
                <a:ext cx="171142" cy="1151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4288" rotWithShape="0" algn="bl" dist="9525">
                  <a:srgbClr val="000000">
                    <a:alpha val="29019"/>
                  </a:srgbClr>
                </a:outerShdw>
              </a:effectLst>
            </p:spPr>
          </p:pic>
          <p:pic>
            <p:nvPicPr>
              <p:cNvPr id="1565" name="Google Shape;1565;p39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261093" y="2836618"/>
                <a:ext cx="161807" cy="115133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4288" rotWithShape="0" algn="bl" dist="9525">
                  <a:srgbClr val="000000">
                    <a:alpha val="29019"/>
                  </a:srgbClr>
                </a:outerShdw>
              </a:effectLst>
            </p:spPr>
          </p:pic>
        </p:grpSp>
        <p:sp>
          <p:nvSpPr>
            <p:cNvPr id="1566" name="Google Shape;1566;p39"/>
            <p:cNvSpPr txBox="1"/>
            <p:nvPr/>
          </p:nvSpPr>
          <p:spPr>
            <a:xfrm>
              <a:off x="345325" y="613075"/>
              <a:ext cx="3000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홈페이지: </a:t>
              </a:r>
              <a:r>
                <a:rPr b="1" i="0" lang="en-US" sz="9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vti.com.vn</a:t>
              </a:r>
              <a:endParaRPr b="1" i="0" sz="9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이메일: </a:t>
              </a:r>
              <a:r>
                <a:rPr b="1" lang="en-US" sz="900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bdk</a:t>
              </a:r>
              <a:r>
                <a:rPr b="1" i="0" lang="en-US" sz="9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@vti.com.vn</a:t>
              </a:r>
              <a:endParaRPr b="1" i="0" sz="900" u="none" cap="none" strike="noStrike">
                <a:solidFill>
                  <a:srgbClr val="3D3D3D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전화번호: </a:t>
              </a:r>
              <a:r>
                <a:rPr b="1" i="0" lang="en-US" sz="900" u="none" cap="none" strike="noStrike">
                  <a:solidFill>
                    <a:srgbClr val="3D3D3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(+82) 2-2039-1159</a:t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567" name="Google Shape;1567;p39"/>
          <p:cNvSpPr txBox="1"/>
          <p:nvPr/>
        </p:nvSpPr>
        <p:spPr>
          <a:xfrm>
            <a:off x="490801" y="4621600"/>
            <a:ext cx="47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6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2025-01-22T03:24:00Z</dcterms:created>
  <dc:creator>Nawin Tiếng Hàn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BA91ABE55C384A3682B28DEA70BF4172_12</vt:lpwstr>
  </property>
  <property fmtid="{D5CDD505-2E9C-101B-9397-08002B2CF9AE}" pid="3" name="KSOProductBuildVer">
    <vt:lpwstr>1033-12.2.0.20326</vt:lpwstr>
  </property>
</Properties>
</file>