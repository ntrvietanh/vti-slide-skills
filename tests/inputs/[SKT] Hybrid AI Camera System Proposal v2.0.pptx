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Noto Sans KR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3">
          <p15:clr>
            <a:srgbClr val="747775"/>
          </p15:clr>
        </p15:guide>
        <p15:guide id="2" pos="2856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i7KVfM5+vEgRlhGPEQuleor//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179C46-194D-4981-94A7-B9DD84AABCF2}">
  <a:tblStyle styleId="{4B179C46-194D-4981-94A7-B9DD84AABC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B58C177-44F4-4C19-8C72-F5CEEBA55E4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3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NotoSansKR-bold.fntdata"/><Relationship Id="rId23" Type="http://schemas.openxmlformats.org/officeDocument/2006/relationships/slide" Target="slides/slide17.xml"/><Relationship Id="rId45" Type="http://schemas.openxmlformats.org/officeDocument/2006/relationships/font" Target="fonts/NotoSansK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3171439fd8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3171439f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@startuml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[*] --&gt; Init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Init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Init --&gt; Listening : Init RUM script\nGenerate sessionID,\npageViewID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Listening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Navigation events\n+ User interactions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JS error listeners\n+ Resource tracking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Observing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OnRouteChange : Route changed?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OnJSError : JS error?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Observing : Waits for next event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OnRouteChange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OnRouteChange --&gt; Observing : Generate new pageViewID\nSend navigation + paint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OnJSError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OnJSError --&gt; Observing : Send error log to server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Observing --&gt; SessionEnd : User leaves site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SessionEnd --&gt; [*] : Flush buffer\nSend session summary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@enduml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@startuml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[*] --&gt; Init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Init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Init --&gt; Listening : Init RUM script\nGenerate sessionID,\npageViewID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Listening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Navigation events\n+ User interactions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JS error listeners\n+ Resource tracking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Observing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OnRouteChange : Route changed?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OnJSError : JS error?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Observing : Waits for next event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OnRouteChange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OnRouteChange --&gt; Observing : Generate new pageViewID\nSend navigation + paint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OnJSError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OnJSError --&gt; Observing : Send error log to server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Observing --&gt; SessionEnd : User leaves site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SessionEnd --&gt; [*] : Flush buffer\nSend session summary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@enduml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@startuml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[*] --&gt; Init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Init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Init --&gt; Listening : Init RUM script\nGenerate sessionID,\npageViewID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Listening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Navigation events\n+ User interactions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Listening --&gt; Observing : JS error listeners\n+ Resource tracking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Observing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OnRouteChange : Route changed?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OnJSError : JS error?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Observing --&gt; Observing : Waits for next event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OnRouteChange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OnRouteChange --&gt; Observing : Generate new pageViewID\nSend navigation + paint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state OnJSError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  OnJSError --&gt; Observing : Send error log to server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Observing --&gt; SessionEnd : User leaves site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SessionEnd --&gt; [*] : Flush buffer\nSend session summary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u="none">
                <a:solidFill>
                  <a:srgbClr val="1B1C1D"/>
                </a:solidFill>
                <a:latin typeface="Batang"/>
                <a:ea typeface="Batang"/>
                <a:cs typeface="Batang"/>
                <a:sym typeface="Batang"/>
              </a:rPr>
              <a:t>@enduml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1C1D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567790" y="510895"/>
            <a:ext cx="2518500" cy="34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  <a:defRPr b="1" i="0" sz="2475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457200" y="1183006"/>
            <a:ext cx="82296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1" type="ftr"/>
          </p:nvPr>
        </p:nvSpPr>
        <p:spPr>
          <a:xfrm>
            <a:off x="3108960" y="4783456"/>
            <a:ext cx="29260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0" type="dt"/>
          </p:nvPr>
        </p:nvSpPr>
        <p:spPr>
          <a:xfrm>
            <a:off x="457200" y="4783456"/>
            <a:ext cx="21031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12" type="sldNum"/>
          </p:nvPr>
        </p:nvSpPr>
        <p:spPr>
          <a:xfrm>
            <a:off x="6583680" y="4783456"/>
            <a:ext cx="21031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1_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/>
          <p:nvPr/>
        </p:nvSpPr>
        <p:spPr>
          <a:xfrm>
            <a:off x="397050" y="224136"/>
            <a:ext cx="99600" cy="400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3882" y="121445"/>
            <a:ext cx="835688" cy="53648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6"/>
          <p:cNvSpPr txBox="1"/>
          <p:nvPr/>
        </p:nvSpPr>
        <p:spPr>
          <a:xfrm>
            <a:off x="735354" y="4698742"/>
            <a:ext cx="45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Batang"/>
                <a:ea typeface="Batang"/>
                <a:cs typeface="Batang"/>
                <a:sym typeface="Batang"/>
              </a:rPr>
              <a:t>Copyright © 2023 VTI JSC, All Rights Reserved</a:t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3" name="Google Shape;23;p36"/>
          <p:cNvSpPr/>
          <p:nvPr/>
        </p:nvSpPr>
        <p:spPr>
          <a:xfrm>
            <a:off x="397050" y="4686600"/>
            <a:ext cx="279600" cy="532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397049" y="4720380"/>
            <a:ext cx="279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6"/>
          <p:cNvSpPr txBox="1"/>
          <p:nvPr>
            <p:ph type="title"/>
          </p:nvPr>
        </p:nvSpPr>
        <p:spPr>
          <a:xfrm>
            <a:off x="557213" y="423120"/>
            <a:ext cx="6009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900" u="none" cap="none" strike="noStrike">
                <a:solidFill>
                  <a:srgbClr val="004AAD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" type="subTitle"/>
          </p:nvPr>
        </p:nvSpPr>
        <p:spPr>
          <a:xfrm>
            <a:off x="557213" y="219900"/>
            <a:ext cx="60099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48" name="Google Shape;48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idx="1" type="subTitle"/>
          </p:nvPr>
        </p:nvSpPr>
        <p:spPr>
          <a:xfrm>
            <a:off x="607220" y="2808686"/>
            <a:ext cx="452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94" y="171450"/>
            <a:ext cx="943460" cy="60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75" name="Google Shape;75;p4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76" name="Google Shape;76;p4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1_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3108960" y="4783455"/>
            <a:ext cx="2926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79" name="Google Shape;79;p50"/>
          <p:cNvSpPr txBox="1"/>
          <p:nvPr>
            <p:ph idx="10" type="dt"/>
          </p:nvPr>
        </p:nvSpPr>
        <p:spPr>
          <a:xfrm>
            <a:off x="457200" y="4783455"/>
            <a:ext cx="210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80" name="Google Shape;80;p50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1_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1"/>
          <p:cNvSpPr txBox="1"/>
          <p:nvPr>
            <p:ph type="title"/>
          </p:nvPr>
        </p:nvSpPr>
        <p:spPr>
          <a:xfrm>
            <a:off x="694387" y="399562"/>
            <a:ext cx="701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A8"/>
              </a:buClr>
              <a:buSzPts val="700"/>
              <a:buFont typeface="Arial"/>
              <a:buNone/>
              <a:defRPr b="1" i="0" sz="2000">
                <a:solidFill>
                  <a:srgbClr val="0050A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" type="body"/>
          </p:nvPr>
        </p:nvSpPr>
        <p:spPr>
          <a:xfrm>
            <a:off x="3088081" y="957904"/>
            <a:ext cx="42216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0"/>
              <a:buNone/>
              <a:defRPr b="0" i="0" sz="800">
                <a:solidFill>
                  <a:srgbClr val="333333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9pPr>
          </a:lstStyle>
          <a:p/>
        </p:txBody>
      </p:sp>
      <p:sp>
        <p:nvSpPr>
          <p:cNvPr id="84" name="Google Shape;84;p51"/>
          <p:cNvSpPr txBox="1"/>
          <p:nvPr>
            <p:ph idx="11" type="ftr"/>
          </p:nvPr>
        </p:nvSpPr>
        <p:spPr>
          <a:xfrm>
            <a:off x="3108960" y="4783455"/>
            <a:ext cx="2926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85" name="Google Shape;85;p51"/>
          <p:cNvSpPr txBox="1"/>
          <p:nvPr>
            <p:ph idx="10" type="dt"/>
          </p:nvPr>
        </p:nvSpPr>
        <p:spPr>
          <a:xfrm>
            <a:off x="457200" y="4783455"/>
            <a:ext cx="210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86" name="Google Shape;86;p5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5148" r="-5148" t="0"/>
          <a:stretch/>
        </p:blipFill>
        <p:spPr>
          <a:xfrm>
            <a:off x="4070113" y="724200"/>
            <a:ext cx="1003776" cy="6038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type="ctrTitle"/>
          </p:nvPr>
        </p:nvSpPr>
        <p:spPr>
          <a:xfrm>
            <a:off x="-53625" y="3054525"/>
            <a:ext cx="9144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1400" u="non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V1.0</a:t>
            </a:r>
            <a:endParaRPr b="1"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"/>
          <p:cNvSpPr txBox="1"/>
          <p:nvPr>
            <p:ph type="ctrTitle"/>
          </p:nvPr>
        </p:nvSpPr>
        <p:spPr>
          <a:xfrm>
            <a:off x="0" y="1872880"/>
            <a:ext cx="9144000" cy="114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3700" u="non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SKT – </a:t>
            </a:r>
            <a: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하이브리드 AI </a:t>
            </a:r>
            <a:b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시스템</a:t>
            </a:r>
            <a:endParaRPr b="1" sz="37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7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3"/>
          <p:cNvSpPr txBox="1"/>
          <p:nvPr>
            <p:ph type="ctrTitle"/>
          </p:nvPr>
        </p:nvSpPr>
        <p:spPr>
          <a:xfrm>
            <a:off x="284875" y="2102850"/>
            <a:ext cx="3860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I. 프로젝트 </a:t>
            </a: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7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7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제안 배경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2" name="Google Shape;112;p17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7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86295" y="477117"/>
            <a:ext cx="8125200" cy="124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5A5"/>
                </a:solidFill>
                <a:latin typeface="Noto Sans KR"/>
                <a:ea typeface="Noto Sans KR"/>
                <a:cs typeface="Noto Sans KR"/>
                <a:sym typeface="Noto Sans KR"/>
              </a:rPr>
              <a:t>1. 사업 환경 및 문제 인식</a:t>
            </a:r>
            <a:endParaRPr b="1" i="0" sz="1000" u="none" cap="none" strike="noStrike">
              <a:solidFill>
                <a:srgbClr val="0845A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SK텔레콤은 지난 4년간 AI CCTV 약 160만 대를 공급하며 국내 최대 규모의 영상 인프라를 확보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그러나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시장 성숙·단가 하락으로 기존 하드웨어 중심 사업의 수익성이 감소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, 소프트웨어 기반 AI 고도화 필요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저사양 Edge/NVR 기반 기존 구조에서는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보안 탐지의 성능 한계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가 존재하며, 리테일 분야에서는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방문·동선·체류 등 고객 행동 데이터 분석 수요가 급증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새로운 AI 분석 체계 요구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기존 인프라 변경 없이 적용 가능한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보안·리테일 이원화 AI 전략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86294" y="1725389"/>
            <a:ext cx="8125200" cy="182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5A5"/>
                </a:solidFill>
                <a:latin typeface="Noto Sans KR"/>
                <a:ea typeface="Noto Sans KR"/>
                <a:cs typeface="Noto Sans KR"/>
                <a:sym typeface="Noto Sans KR"/>
              </a:rPr>
              <a:t>2. 기술적 과제</a:t>
            </a:r>
            <a:endParaRPr b="1" i="0" sz="1000" u="none" cap="none" strike="noStrike">
              <a:solidFill>
                <a:srgbClr val="0845A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영역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구조는 영상 저장 중심으로 실시간 이상행동·침입 탐지 기능이 제한적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CCTV/NVR 펌웨어 변경 없이 활용 가능한 게이트웨이 기반 실시간 이벤트 처리 구조 필요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“엣지 = 실시간 이벤트 감지 / 서버 = 고정밀 분석” 역할 분담 재정립 필요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리테일(Retail) 영역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동선·체류·Hot Zone·전환 Funnel 등은 실시간이 아닌 Batch 중심 분석이 적합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CCTV 파이프라인과 다른 전용 카메라 + 셋톱박스 기반 구조 필요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POS/ERP 등 외부 운영 시스템과의 API Mesh-up 데이터 통합 체계 요구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86294" y="3556465"/>
            <a:ext cx="7718700" cy="10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5A5"/>
                </a:solidFill>
                <a:latin typeface="Noto Sans KR"/>
                <a:ea typeface="Noto Sans KR"/>
                <a:cs typeface="Noto Sans KR"/>
                <a:sym typeface="Noto Sans KR"/>
              </a:rPr>
              <a:t>3. 사업 전략 방향</a:t>
            </a:r>
            <a:endParaRPr b="1" i="0" sz="1000" u="none" cap="none" strike="noStrike">
              <a:solidFill>
                <a:srgbClr val="0845A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보안과 리테일을 명확히 구분된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2개 AI 서비스 라인업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제시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인프라는 “자산 활용 관점의 확장 가능성” 수준에서만 언급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카메라·NVR 인프라를 그대로 활용하여 비용·시간을 최소화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보안은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엣지 기반 실시간 처리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, 리테일은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기반 Batch 분석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역할을 구분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3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8"/>
          <p:cNvSpPr txBox="1"/>
          <p:nvPr>
            <p:ph type="ctrTitle"/>
          </p:nvPr>
        </p:nvSpPr>
        <p:spPr>
          <a:xfrm>
            <a:off x="284875" y="2102850"/>
            <a:ext cx="3860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II. 기술 </a:t>
            </a: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제안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3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5"/>
          <p:cNvSpPr txBox="1"/>
          <p:nvPr>
            <p:ph type="ctrTitle"/>
          </p:nvPr>
        </p:nvSpPr>
        <p:spPr>
          <a:xfrm>
            <a:off x="284875" y="2102850"/>
            <a:ext cx="3860700" cy="468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영역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6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6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기능 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제안-1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20981" y="698581"/>
            <a:ext cx="8155286" cy="45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빠르고 효율적인 PoC 구현을 위해,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및 감시 환경에 최적화된 3대 AI 기능 그룹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을 우선 개발 대상으로 제안합니다.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310623" y="1280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1859825"/>
                <a:gridCol w="3821325"/>
                <a:gridCol w="28405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예상 AI 모델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침입 탐지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 구역 내 무단 침입, 이상 동작 감지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YOLOv5 / RT-DETR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행동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장시간 체류, 넘어짐, 폭력적 행동 등 위험 행위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YOLOv5 / RT-DETRByteTrack / DeepSort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신원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인물 재식별(Re-ID), 마스크 착용 여부, 얼굴 인식 기반 접근 제어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InsightFace + AgeGenderNet (OpenCV Zoo)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6"/>
          <p:cNvSpPr txBox="1"/>
          <p:nvPr/>
        </p:nvSpPr>
        <p:spPr>
          <a:xfrm>
            <a:off x="486296" y="3262869"/>
            <a:ext cx="8089971" cy="84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목표: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CCTV 영상을 기반으로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이상 행동 및 침입 감지 자동화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요원의 대응 속도 향상 및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경보 시스템과의 연동 강화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기반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지능형 통합 관제 시스템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확장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7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기능 제안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-1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486296" y="461395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기능별 시나리오 정의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60" name="Google Shape;160;p7"/>
          <p:cNvGraphicFramePr/>
          <p:nvPr/>
        </p:nvGraphicFramePr>
        <p:xfrm>
          <a:off x="379616" y="7690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1190100"/>
                <a:gridCol w="1798325"/>
                <a:gridCol w="2301250"/>
                <a:gridCol w="2931150"/>
              </a:tblGrid>
              <a:tr h="2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시나리오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테스트 조건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기대 결과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4520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침입 탐지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 구역 침입 감지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사람이 ‘출입 금지 구역’에 진입 시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모델이 침입 행위를 1초 탐지하고, 경보 이벤트를 대시보드에 표시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야간 침입 / 저조도 테스트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조명이 약한 환경에서 인체 움직임 발생 시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어두운 영상에서도 탐지 정확도 유지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다중 카메라 동시 탐지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3개 카메라에서 다른 각도로 같은 구역 촬영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중복 탐지 방지 및 다중 뷰 통합 이벤트 로그 생성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행동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장시간 체류 감지 (Loitering)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사람이 지정된 구역에서 2분 이상 머무름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경고 이벤트 생성 및 시간·위치 정보 로그화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넘어짐(Fall) 감지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사람이 카메라 시야 내에서 넘어지는 행동 수행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행동 인식 모델이 즉시 탐지, 이벤트 레벨 “긴급”로 분류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폭력/이상행동 인식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두 사람이 격렬한 움직임을 보이는 경우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이상행동 탐지 모델이 폭력 패턴으로 분류, 관리자 알림 전송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신원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얼굴 인식 기반 출입 제어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등록된 인물이 카메라 인식 범위에 들어옴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등록자면 ‘허용’, 비등록자면 ‘차단’으로 표시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마스크 착용 여부 판별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마스크 착용자와 미착용자가 혼합 출입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모델이 정확히 착용 여부를 구분, 통계 리포트 자동 생성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Re-ID (재식별) 테스트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인물이 다른 카메라 구간을 순차 이동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인물로 정확히 식별</a:t>
                      </a:r>
                      <a:endParaRPr sz="1400" u="none" cap="none" strike="noStrike"/>
                    </a:p>
                  </a:txBody>
                  <a:tcPr marT="20750" marB="20750" marR="41500" marL="41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8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8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아키텍처 구조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2903975" y="749811"/>
            <a:ext cx="3280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C92"/>
                </a:solidFill>
                <a:latin typeface="Noto Sans KR"/>
                <a:ea typeface="Noto Sans KR"/>
                <a:cs typeface="Noto Sans KR"/>
                <a:sym typeface="Noto Sans KR"/>
              </a:rPr>
              <a:t>Camera / NVR</a:t>
            </a:r>
            <a:endParaRPr b="0" i="0" sz="1000" u="none" cap="none" strike="noStrike">
              <a:solidFill>
                <a:srgbClr val="083C9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장비 그대로 사용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Firmware 변경 없음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C92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</a:t>
            </a:r>
            <a:endParaRPr b="0" i="0" sz="1000" u="none" cap="none" strike="noStrike">
              <a:solidFill>
                <a:srgbClr val="083C9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RTSP 스트림 수신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최소 Object Detection 또는 Event Filtering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알람에 필요한 이벤트만 전송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부하·네트워크 비용 절감</a:t>
            </a:r>
            <a:endParaRPr/>
          </a:p>
        </p:txBody>
      </p:sp>
      <p:pic>
        <p:nvPicPr>
          <p:cNvPr descr="A diagram of a computer network&#10;&#10;AI-generated content may be incorrect." id="172" name="Google Shape;1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148" y="654355"/>
            <a:ext cx="2574467" cy="383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6184760" y="749811"/>
            <a:ext cx="2959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C92"/>
                </a:solidFill>
                <a:latin typeface="Noto Sans KR"/>
                <a:ea typeface="Noto Sans KR"/>
                <a:cs typeface="Noto Sans KR"/>
                <a:sym typeface="Noto Sans KR"/>
              </a:rPr>
              <a:t>AI Server</a:t>
            </a:r>
            <a:endParaRPr b="0" i="0" sz="1000" u="none" cap="none" strike="noStrike">
              <a:solidFill>
                <a:srgbClr val="083C9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RT-DETR / YOLO 기반 고정밀 재탐지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ByteTrack 기반 Tracking 안정화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이상행동/침입 판단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관제센터 연동용 API 제공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C92"/>
                </a:solidFill>
                <a:latin typeface="Noto Sans KR"/>
                <a:ea typeface="Noto Sans KR"/>
                <a:cs typeface="Noto Sans KR"/>
                <a:sym typeface="Noto Sans KR"/>
              </a:rPr>
              <a:t>Security Dashboard</a:t>
            </a:r>
            <a:endParaRPr b="0" i="0" sz="1000" u="none" cap="none" strike="noStrike">
              <a:solidFill>
                <a:srgbClr val="083C9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이벤트 시각화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알람 이력 및 위험 구역 분석</a:t>
            </a:r>
            <a:endParaRPr/>
          </a:p>
        </p:txBody>
      </p:sp>
      <p:graphicFrame>
        <p:nvGraphicFramePr>
          <p:cNvPr id="174" name="Google Shape;174;p8"/>
          <p:cNvGraphicFramePr/>
          <p:nvPr/>
        </p:nvGraphicFramePr>
        <p:xfrm>
          <a:off x="2903974" y="3174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2998450"/>
                <a:gridCol w="2998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엣지(Gateway)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서버(AI 분석 서버)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실시간 탐지가 필요한 기능 수행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이벤트 기반 프레임 전달 → 지연 최소화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네트워크 사용량 60~80% 절감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고정밀 모델 기반 재분석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다중 카메라 Tracking / ID 매칭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위험 상황 판단 및 대시보드 연동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부하 상황에 따라 수평 확장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8"/>
          <p:cNvSpPr txBox="1"/>
          <p:nvPr/>
        </p:nvSpPr>
        <p:spPr>
          <a:xfrm>
            <a:off x="2817615" y="2883098"/>
            <a:ext cx="4572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83C92"/>
                </a:solidFill>
                <a:latin typeface="Noto Sans KR"/>
                <a:ea typeface="Noto Sans KR"/>
                <a:cs typeface="Noto Sans KR"/>
                <a:sym typeface="Noto Sans KR"/>
              </a:rPr>
              <a:t>엣지–서버 역할 분담</a:t>
            </a:r>
            <a:endParaRPr b="1" i="0" sz="1050" u="none" cap="none" strike="noStrike">
              <a:solidFill>
                <a:srgbClr val="083C9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5858189" y="749811"/>
            <a:ext cx="30900" cy="19068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9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9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9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486296" y="206508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표준화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486299" y="2414765"/>
            <a:ext cx="3464400" cy="1969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① 카메라 / NVR 메타데이터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ID, 채널 번호</a:t>
            </a:r>
            <a:endParaRPr/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설치 위치, Zone ID</a:t>
            </a:r>
            <a:endParaRPr/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시야각(FOV), 해상도,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② 게이트웨이 메타데이터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게이트웨이 ID</a:t>
            </a:r>
            <a:endParaRPr/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발생 시각</a:t>
            </a:r>
            <a:endParaRPr/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유형 (침입 / 이상행동 등)</a:t>
            </a:r>
            <a:endParaRPr/>
          </a:p>
          <a:p>
            <a:pPr indent="-171450" lvl="0" marL="17145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프레임 ID / 해시값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085704" y="2486340"/>
            <a:ext cx="4572000" cy="1438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③ 이벤트(AI 분석 결과) 메타데이터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UUID 기반 이벤트 ID</a:t>
            </a:r>
            <a:endParaRPr/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ISO 8601 타임스탬프 (UTC)</a:t>
            </a:r>
            <a:endParaRPr/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객체 Bounding Box + Tracking ID</a:t>
            </a:r>
            <a:endParaRPr/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유형 (침입 / 폭력 / 쓰러짐 등)</a:t>
            </a:r>
            <a:endParaRPr/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모델 정보 (RT-DETR / YOLO 등)</a:t>
            </a:r>
            <a:endParaRPr/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저장 여부 (비식별 처리 여부 포함)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932" y="1541020"/>
            <a:ext cx="8330084" cy="2585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/>
          <p:nvPr/>
        </p:nvSpPr>
        <p:spPr>
          <a:xfrm>
            <a:off x="410932" y="474151"/>
            <a:ext cx="832609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본 보안 데이터 파이프라인은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대응이 필요한 보안 시나리오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를 대상으로 하며, 기존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CCTV / NVR 인프라를 변경하지 않고 이벤트 기반 데이터 흐름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설계됩니다.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이상행동·침입 탐지 중심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영상 스트리밍이 아닌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프레임 기반 처리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보안(Security) 목적에 최적화된 경량·저지연 구조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10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0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AI 모델 비교 및 선정 이유-1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01" name="Google Shape;201;p10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0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486296" y="586941"/>
            <a:ext cx="45720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①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침입 탐지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04" name="Google Shape;204;p10"/>
          <p:cNvGraphicFramePr/>
          <p:nvPr/>
        </p:nvGraphicFramePr>
        <p:xfrm>
          <a:off x="311150" y="955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1868175"/>
                <a:gridCol w="2687325"/>
                <a:gridCol w="2687325"/>
                <a:gridCol w="1278900"/>
              </a:tblGrid>
              <a:tr h="33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05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05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제한사항</a:t>
                      </a:r>
                      <a:endParaRPr sz="105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평가</a:t>
                      </a:r>
                      <a:endParaRPr sz="105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75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 v5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경량, 빠른 속도, 배포 용이(ONNX/TensorRT 지원)사람/사물 사전학습(pretrained) 모델 다수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작은 객체에서 정확도 낮음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좋음</a:t>
                      </a:r>
                      <a:endParaRPr b="0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RT-DETR (Real-Time DETR)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높은 정확도, 복잡한 보안 환경에서도 우수False Positive 감소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자원 요구 높음YOLOv5보다 약 20% 느림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좋음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 v8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가장 높은 정확도, 다양한 backbone 지원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GPL 라이선스 제약 → 상용화 어려움모델 크기 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보통 </a:t>
                      </a:r>
                      <a:endParaRPr b="0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0"/>
          <p:cNvSpPr txBox="1"/>
          <p:nvPr/>
        </p:nvSpPr>
        <p:spPr>
          <a:xfrm>
            <a:off x="311150" y="3295087"/>
            <a:ext cx="85218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YOLO v5 + RT-DETR 조합 선정 이유: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GPU 서버에서 바로 배포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속도와 정확도의 균형이 우수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침입 탐지 및 객체 인식에 최적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11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1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AI 모델 비교 및 선정 이유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cxnSp>
        <p:nvCxnSpPr>
          <p:cNvPr id="214" name="Google Shape;214;p11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1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486296" y="536658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②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분석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17" name="Google Shape;217;p11"/>
          <p:cNvGraphicFramePr/>
          <p:nvPr/>
        </p:nvGraphicFramePr>
        <p:xfrm>
          <a:off x="311150" y="986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1187450"/>
                <a:gridCol w="2601925"/>
                <a:gridCol w="2601925"/>
                <a:gridCol w="2130425"/>
              </a:tblGrid>
              <a:tr h="42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제한사항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평가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DeepSort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안정적이며 YOLO과 통합 용이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다중 인원·가림(occlusion)에 취약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좋음</a:t>
                      </a:r>
                      <a:endParaRPr b="0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ByteTrack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높은 추적 정확도(IDF1), 충돌 상황에서도 ID 유지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Detection 모델의 정확도에 의존적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좋음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FairMOT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Detection + Tracking 통합형 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 복잡, 확장성 낮음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보통</a:t>
                      </a:r>
                      <a:endParaRPr b="0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11"/>
          <p:cNvSpPr txBox="1"/>
          <p:nvPr/>
        </p:nvSpPr>
        <p:spPr>
          <a:xfrm>
            <a:off x="486296" y="3161223"/>
            <a:ext cx="85218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YOLO v5 / RT-DETR + ByteTrack / DeepSort 조합 선정 이유: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GPU RTX 4080 기준 FPS ≥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사람 출입, 체류시간, 이상행동 분석에 최적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다중 카메라 환경에서도 ID Drift 최소화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12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2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4. AI 모델 비교 및 선정 이유-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cxnSp>
        <p:nvCxnSpPr>
          <p:cNvPr id="227" name="Google Shape;227;p12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2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486295" y="629930"/>
            <a:ext cx="822590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③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고급 분석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30" name="Google Shape;230;p12"/>
          <p:cNvGraphicFramePr/>
          <p:nvPr/>
        </p:nvGraphicFramePr>
        <p:xfrm>
          <a:off x="338396" y="1126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1756400"/>
                <a:gridCol w="2606050"/>
                <a:gridCol w="2606050"/>
                <a:gridCol w="15532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제한사항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평가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InsightFace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ArcFace, CosFace 등 강력한 얼굴 인식 FrameworkFAISS 지원, 통합 용이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얼굴 인식 전처리(정렬/alignment) 필요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좋음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AgeGenderNet (OpenCV Zoo)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경량, 빠른 추론 속도, 연령/성별 분류에 충분한 정확도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고정밀 인식에는 부적합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좋음</a:t>
                      </a:r>
                      <a:endParaRPr b="0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DeepFace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다양한 모델(VGG-Face, Facenet 등) 통합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속도 느림, 실시간 보안관제에 부적합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보통</a:t>
                      </a:r>
                      <a:endParaRPr b="0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12"/>
          <p:cNvSpPr txBox="1"/>
          <p:nvPr/>
        </p:nvSpPr>
        <p:spPr>
          <a:xfrm>
            <a:off x="338396" y="2936239"/>
            <a:ext cx="8225903" cy="91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InsightFace + AgeGenderNet 조합 선정 이유: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인식 + 연령/성별 추정 동시 수행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출입통제 및 신원확인에 적합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얼굴 기반 출입 인증, 접근 제어로 확장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3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3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대시보드 기능 제안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0" name="Google Shape;240;p13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3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42" name="Google Shape;242;p13"/>
          <p:cNvGraphicFramePr/>
          <p:nvPr/>
        </p:nvGraphicFramePr>
        <p:xfrm>
          <a:off x="486291" y="84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2033375"/>
                <a:gridCol w="2230125"/>
                <a:gridCol w="3794750"/>
              </a:tblGrid>
              <a:tr h="17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기능명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상세 설명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5348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모니터링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카메라 스트림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RTSP 기반 실시간 영상 스트림 표시 및 AI 분석 결과(객체 Bounding Box, 행동 이벤트 등) Overlay 시각화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인식 결과 표시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사람, 차량 등 탐지 객체 및 행동 결과를 Timestamp와 함께 표시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1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분석 및 통계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시간대/지역별 통계 리포트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시간, 구역, 카메라별 출입 인원, 체류 시간, 이벤트 발생 빈도 시각화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객체/인물 분류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탐지된 인물의 성별·연령대 등 메타데이터 분석 및 분류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1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시스템 관리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카메라 관리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등록된 카메라 리스트, Online/Offline 상태, FPS, Bitrate 등 상태 모니터링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1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모델 성능 모니터링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모델별 Latency, Accuracy, FPS, 이벤트 처리량 등 실시간 성능 모니터링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보안 및 접근 제어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권한 관리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관리자(Admin), 운영자(Operator), 뷰어(Viewer)별 접근 권한 설정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영상 익명화 옵션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얼굴, 민감 구역 등 마스킹/블러 처리 기능 On/Off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감사 로그 (Audit Log)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시스템 접속 및 사용자 행위 이력 기록 및 검색 기능 제공</a:t>
                      </a:r>
                      <a:endParaRPr sz="1400" u="none" cap="none" strike="noStrike"/>
                    </a:p>
                  </a:txBody>
                  <a:tcPr marT="25875" marB="25875" marR="51750" marL="517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13"/>
          <p:cNvSpPr txBox="1"/>
          <p:nvPr/>
        </p:nvSpPr>
        <p:spPr>
          <a:xfrm>
            <a:off x="486291" y="474151"/>
            <a:ext cx="80582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대시보드는 실시간 보안 관제와 분석을 하나의 플랫폼에서 수행할 수 있는 통합 관제 허브 역할을 수행합니다.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3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4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14"/>
          <p:cNvSpPr txBox="1"/>
          <p:nvPr>
            <p:ph type="ctrTitle"/>
          </p:nvPr>
        </p:nvSpPr>
        <p:spPr>
          <a:xfrm>
            <a:off x="284875" y="2102850"/>
            <a:ext cx="3860700" cy="468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리테일 영역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19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9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기능 제안 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-1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61" name="Google Shape;261;p19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9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420981" y="698581"/>
            <a:ext cx="8155286" cy="45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빠르고 효율적인 PoC 구현을 위해,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리테일 매장 환경에 최적화된 3대 AI 기능 그룹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을 우선 개발 대상으로 제안합니다.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486296" y="3262869"/>
            <a:ext cx="8089971" cy="124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목표: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매장 방문객 흐름 및 트래픽을 준실시간 또는 Batch 기반으로 분석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매장 운영 및 레이아웃 최적화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고객의 체류 시간·관심 존 데이터를 기반으로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배치·MD 전략 수립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시간대별·요일별 트렌드 파악을 통해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스태핑(인력 운영) 최적화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연령대·성별 등 고객 특성에 따른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 마케팅 및 프로모션 기획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CCTV를 활용하여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장비 없이 Retail KPI 분석 기능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19"/>
          <p:cNvGraphicFramePr/>
          <p:nvPr/>
        </p:nvGraphicFramePr>
        <p:xfrm>
          <a:off x="530980" y="1236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464225"/>
                <a:gridCol w="3583800"/>
                <a:gridCol w="3041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예상 AI 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방문객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 입·출입 인원 수 측정, 시간대별 트래픽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RT-DETR/ Qn ≥ 2B + ByteTrack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동선·체류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고객의 이동 경로, 체류 시간, 관심 존(Hot Zone)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RT-DETR / SAM / ByteTrack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 특성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연령대·성별 분포 분석(집계 단위), 고객군별 행동 패턴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InsightFace + AgeGenderNet (OpenCV Zoo)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19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21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1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기능 제안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-2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21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86296" y="461395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기능별 시나리오 정의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78" name="Google Shape;278;p21"/>
          <p:cNvGraphicFramePr/>
          <p:nvPr/>
        </p:nvGraphicFramePr>
        <p:xfrm>
          <a:off x="364732" y="706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227750"/>
                <a:gridCol w="2409300"/>
                <a:gridCol w="2409300"/>
                <a:gridCol w="2409300"/>
              </a:tblGrid>
              <a:tr h="28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시나리오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테스트 조건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기대 결과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4749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방문객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 입·출입 인원 집계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사람이 매장 출입구를 통과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출입 인원을 정확히 집계하고 시간대별 방문 패턴 생성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피크타임/비피크타임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시간대 방문객 집중 발생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트래픽 변동 자동 분석 및 리포트 생성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다중 카메라 기반 출입 추적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출입구를 여러 카메라에서 촬영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중복 제거된 정확한 방문객 수 산출 및 이벤트 동기화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동선·체류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존(ZONE) 체류 시간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고객이 지정된 존에서 1–3분 이상 머무름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체류 이벤트 생성 + 시간·위치 로그 저장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 이동 동선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고객이 매장 내 여러 구역을 순차 이동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이동 궤적 기반 주요 동선 자동 도출 및 히트맵/라인맵 시각화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인기 존(Hot Zone)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존에 반복적 접근 발생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존별 방문 비율·평균 체류 시간 자동 집계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고객 특성 분석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연령·성별 통계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다양한 고객이 카메라 시야를 통과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연령대·성별 추정값을 일/주/월 단위로 통계화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마스크 착용 여부 판별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착용자·미착용자 혼재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착용 여부 자동 분류 및 통계 리포트 생성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Re-ID 기반 고객 여정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고객이 서로 다른 카메라 구간을 이동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인물로 재식별하여 전체 이동 경로 및 재방문 패턴 분석</a:t>
                      </a:r>
                      <a:endParaRPr sz="1400" u="none" cap="none" strike="noStrike"/>
                    </a:p>
                  </a:txBody>
                  <a:tcPr marT="26825" marB="26825" marR="53650" marL="53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21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27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27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전체 아키텍처 구조 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88" name="Google Shape;288;p27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7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381837" y="426125"/>
            <a:ext cx="8500903" cy="477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당사는 리테일 매장 환경에 최적화된 Batch 기반 AI 분석 아키텍처를 제안합니다.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본 구조는 전용 카메라 및 셋톱박스 기반으로 방문객 행동 데이터를 수집·분석하여 매장 운영 및 마케팅 인사이트를 제공하는 Retail 데이터 분석 플랫폼입니다.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381837" y="964425"/>
            <a:ext cx="4306768" cy="26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5A5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아키텍처 다이어그램</a:t>
            </a:r>
            <a:endParaRPr b="1" i="0" sz="1000" u="none" cap="none" strike="noStrike">
              <a:solidFill>
                <a:srgbClr val="0845A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822" y="1292901"/>
            <a:ext cx="8306932" cy="6224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4" name="Google Shape;294;p27"/>
          <p:cNvGraphicFramePr/>
          <p:nvPr/>
        </p:nvGraphicFramePr>
        <p:xfrm>
          <a:off x="478822" y="2098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{4B179C46-194D-4981-94A7-B9DD84AABCF2}</a:tableStyleId>
              </a:tblPr>
              <a:tblGrid>
                <a:gridCol w="3314425"/>
                <a:gridCol w="4992500"/>
              </a:tblGrid>
              <a:tr h="14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계층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3C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3C92"/>
                    </a:solidFill>
                  </a:tcPr>
                </a:tc>
              </a:tr>
              <a:tr h="25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 Layer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리테일 분석 전용 카메라 영상 입력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보안 CCTV / NVR 구조와 분리</a:t>
                      </a:r>
                      <a:endParaRPr/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Set-top Box Layer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영상 수집 및 프레임 샘플링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기본 전처리(정규화, 해상도 조정, 압축)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Batch 분석을 위한 데이터 업로드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Analysis Layer (Batch / Near-real-time)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RT-DETR 기반 객체 감지, Qn ≥ 2B 모델 기반 고정밀 패턴 분석, SAM 기반 Zone / Hot Zone 분석, ByteTrack 기반 동선·체류 분석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시간 단위 Batch 처리 중심</a:t>
                      </a:r>
                      <a:endParaRPr/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Storage Layer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메타데이터 저장(PostgreSQL 등)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이벤트 프레임 저장(Object Storage)</a:t>
                      </a:r>
                      <a:endParaRPr/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 Layer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POS / ERP / 운영 시스템 연동(API Mesh-up)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OAuth2 / JWT 기반 인증</a:t>
                      </a:r>
                      <a:endParaRPr/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Dashboard / Report Layer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매장별 KPI 시각화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동선 / 체류 / Hot Zone 분석 결과 제공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8800" marB="28800" marR="57575" marL="57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rectangular object with text&#10;&#10;AI-generated content may be incorrect." id="299" name="Google Shape;29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778" y="65080"/>
            <a:ext cx="6491234" cy="2145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67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67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67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67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67"/>
          <p:cNvSpPr txBox="1"/>
          <p:nvPr/>
        </p:nvSpPr>
        <p:spPr>
          <a:xfrm>
            <a:off x="486296" y="215049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표준화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7" name="Google Shape;307;p67"/>
          <p:cNvSpPr txBox="1"/>
          <p:nvPr/>
        </p:nvSpPr>
        <p:spPr>
          <a:xfrm>
            <a:off x="486299" y="2500175"/>
            <a:ext cx="3464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① 카메라 메타데이터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ID, 채널 번호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매장 ID, 존 ID, 위치 좌표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시야각(FOV), 해상도,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설치 높이 및 방향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② 단말(셋톱박스) 메타데이터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단말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펌웨어 버전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상태(지연 시간, 패킷 손실률 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CPU/GPU/메모리 사용률 등 장비 상태 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7"/>
          <p:cNvSpPr txBox="1"/>
          <p:nvPr/>
        </p:nvSpPr>
        <p:spPr>
          <a:xfrm>
            <a:off x="4051024" y="2261606"/>
            <a:ext cx="4572000" cy="147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③ Batch 분석 결과 이벤트 메타데이터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UUID 기반 이벤트 ID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ISO 8601 기준 타임스탬프 (UTC)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바운딩 박스 + Tracking ID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유형 (입장 / 퇴장 / 체류 / 이동)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모델 버전 (예: RT-DETR v1.1, SAM v2.0 등)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비식별 Re-ID 토큰 (암호화된 UUID)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프레임 ID / 해시값</a:t>
            </a:r>
            <a:endParaRPr/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프레임 저장 여부 (원본 영상 미저장)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7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4051024" y="3763617"/>
            <a:ext cx="457200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④ 저장 및 활용 정책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장기 저장 (KPI 분석 목적)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프레임: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정책 기반 저장 (Object Storage)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영상: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기본 미저장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Redis Cache: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대시보드 KPI 응답 성능 최적화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69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69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AI 모델 비교 및 선정 이유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-1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19" name="Google Shape;319;p69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69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1" name="Google Shape;321;p69"/>
          <p:cNvSpPr txBox="1"/>
          <p:nvPr/>
        </p:nvSpPr>
        <p:spPr>
          <a:xfrm>
            <a:off x="486296" y="586941"/>
            <a:ext cx="693943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1. 객체 감지 모델 비교</a:t>
            </a:r>
            <a:endParaRPr b="1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22" name="Google Shape;322;p69"/>
          <p:cNvGraphicFramePr/>
          <p:nvPr/>
        </p:nvGraphicFramePr>
        <p:xfrm>
          <a:off x="418014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186850"/>
                <a:gridCol w="950225"/>
                <a:gridCol w="1039800"/>
                <a:gridCol w="836025"/>
                <a:gridCol w="961425"/>
                <a:gridCol w="1666825"/>
                <a:gridCol w="1666825"/>
              </a:tblGrid>
              <a:tr h="23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 (mAP@50)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FPS (1080p)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Latency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활용률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단점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YOLOv5-L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52–54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65–70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빠름, Edge 친화적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작은 객체 정확도 낮음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YOLOv7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56–58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45–50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중간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중간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v5 대비 정확도 향상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 사이즈 큼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YOLOv8-L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54–56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50–55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중간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정밀도 개선, 안정적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여전히 small-object 약함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EfficientDet-D5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51–53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18–22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다소 높음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정교한 detection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느림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Faster R-CNN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45–48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8–12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높음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정확도 준수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실시간 불가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RT-DETR (R50)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55–58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35–40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효율적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정확도·속도 균형 최강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Transformer 기반 → tuning 필요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RT-DETR (R101)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57–60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25–30 FPS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중간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중~고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더 높은 정확도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중형 GPU 요구</a:t>
                      </a:r>
                      <a:endParaRPr sz="1400" u="none" cap="none" strike="noStrike"/>
                    </a:p>
                  </a:txBody>
                  <a:tcPr marT="29975" marB="29975" marR="59925" marL="599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3" name="Google Shape;323;p69"/>
          <p:cNvGraphicFramePr/>
          <p:nvPr/>
        </p:nvGraphicFramePr>
        <p:xfrm>
          <a:off x="418014" y="3523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8307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** 최종 산정 모델: RT-DETR (R50)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정확도·FPS·Latency 균형 최고. YOLO 대비 중복·small object 처리 강함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4" name="Google Shape;324;p69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70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70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AI 모델 비교 및 선정 이유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70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70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p70"/>
          <p:cNvSpPr txBox="1"/>
          <p:nvPr/>
        </p:nvSpPr>
        <p:spPr>
          <a:xfrm>
            <a:off x="486296" y="536658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2. High-precision 모델 (≥2B Parameters)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36" name="Google Shape;336;p70"/>
          <p:cNvGraphicFramePr/>
          <p:nvPr/>
        </p:nvGraphicFramePr>
        <p:xfrm>
          <a:off x="379075" y="798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178025"/>
                <a:gridCol w="1599050"/>
                <a:gridCol w="804500"/>
                <a:gridCol w="1301050"/>
                <a:gridCol w="1724300"/>
                <a:gridCol w="1724300"/>
              </a:tblGrid>
              <a:tr h="331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FPS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요구도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33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Qn ≥ 2B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높음 (SOTA급)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8–12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높음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RFP 충족, 고정밀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실시간 불가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Swin-L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10–15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Vision Transformer 강점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ViT-L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높음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8–10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높음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복잡 패턴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비용 ↑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70"/>
          <p:cNvGraphicFramePr/>
          <p:nvPr/>
        </p:nvGraphicFramePr>
        <p:xfrm>
          <a:off x="379075" y="23412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8307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** 최종 산정 모델: Qn ≥ 2B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최고 정확도. RFP 충족. Batch 기반 고정밀 분석용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70"/>
          <p:cNvSpPr txBox="1"/>
          <p:nvPr/>
        </p:nvSpPr>
        <p:spPr>
          <a:xfrm>
            <a:off x="486296" y="2802519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3. Segmentation 모델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39" name="Google Shape;339;p70"/>
          <p:cNvGraphicFramePr/>
          <p:nvPr/>
        </p:nvGraphicFramePr>
        <p:xfrm>
          <a:off x="379075" y="3164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178025"/>
                <a:gridCol w="1301050"/>
                <a:gridCol w="987550"/>
                <a:gridCol w="2432300"/>
                <a:gridCol w="24323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IoU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FPS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SAM (ViT-H/B)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최고 (90%+)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10–22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 객체/영역 분할 최강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연산량 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Mask R-CNN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78–82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12–18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안정적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70"/>
          <p:cNvGraphicFramePr/>
          <p:nvPr/>
        </p:nvGraphicFramePr>
        <p:xfrm>
          <a:off x="379074" y="3996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8307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** 최종 산정 모델: SAM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히트맵, 핫존, 구역 중심 분석에 필수. 정확도 1위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70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71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71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AI 모델 비교 및 선정 이유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71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71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71"/>
          <p:cNvSpPr txBox="1"/>
          <p:nvPr/>
        </p:nvSpPr>
        <p:spPr>
          <a:xfrm>
            <a:off x="486296" y="536658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4. Tracking 모델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53" name="Google Shape;353;p71"/>
          <p:cNvGraphicFramePr/>
          <p:nvPr/>
        </p:nvGraphicFramePr>
        <p:xfrm>
          <a:off x="321598" y="8989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141450"/>
                <a:gridCol w="992775"/>
                <a:gridCol w="1086825"/>
                <a:gridCol w="1567550"/>
                <a:gridCol w="1766100"/>
                <a:gridCol w="1766100"/>
              </a:tblGrid>
              <a:tr h="286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IDF1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FPS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28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ByteTrack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81+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83+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45–60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Tracking 정확도 최고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Detector 품질 의존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DeepSort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35–40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안정적 클래식 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속도·정확도 낮음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StrongSORT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30–40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개선된 DeepSort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속도↓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4" name="Google Shape;354;p71"/>
          <p:cNvGraphicFramePr/>
          <p:nvPr/>
        </p:nvGraphicFramePr>
        <p:xfrm>
          <a:off x="418014" y="2119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8307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** 최종 산정 모델: ByteTrack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Path, 동선, 체류 계산에 가장 안정적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71"/>
          <p:cNvSpPr txBox="1"/>
          <p:nvPr/>
        </p:nvSpPr>
        <p:spPr>
          <a:xfrm>
            <a:off x="486296" y="2593098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5. Re-ID / Attribute 모델</a:t>
            </a:r>
            <a:endParaRPr b="1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56" name="Google Shape;356;p71"/>
          <p:cNvGraphicFramePr/>
          <p:nvPr/>
        </p:nvGraphicFramePr>
        <p:xfrm>
          <a:off x="321598" y="2857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240725"/>
                <a:gridCol w="1708625"/>
                <a:gridCol w="1034575"/>
                <a:gridCol w="2168425"/>
                <a:gridCol w="21684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FPS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InsightFace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98%+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40–50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정확도 최고, robust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얼굴 가림 시 약함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FaceNet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92–94%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50–60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빠름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정확도 낮음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AgeGenderNet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 ~85%, Gender ~96%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45–50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Demographic 분석 최적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세부 속성 제한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7" name="Google Shape;357;p71"/>
          <p:cNvGraphicFramePr/>
          <p:nvPr/>
        </p:nvGraphicFramePr>
        <p:xfrm>
          <a:off x="418013" y="39163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8307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** 최종 산정 모델: InsightFace + AgeGenderNet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연령·성별·재방문 패턴 분석 정밀도 최고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71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75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75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대시보드 기능 제안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67" name="Google Shape;367;p75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75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69" name="Google Shape;369;p75"/>
          <p:cNvGraphicFramePr/>
          <p:nvPr/>
        </p:nvGraphicFramePr>
        <p:xfrm>
          <a:off x="486296" y="536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510150"/>
                <a:gridCol w="2707650"/>
                <a:gridCol w="3947150"/>
              </a:tblGrid>
              <a:tr h="20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그룹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기능명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상세 설명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208325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분석 및 통계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방문자 흐름 분석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시간대별 방문 트래픽(입장/퇴장) 표시, 피크 타임 자동 탐지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체류 시간 분석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구역별 평균 체류 시간 계산, 장기 체류 고객/구간 자동 감지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히트맵 시각화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이동 경로 기반 인기 구역/저활성 구역(Cold Zone) 시각화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전환 퍼널 분석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Visit → Engage → Action 단계별 전환율 계산 및 누수(Loss) 지점 분석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다중 매장 비교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 간 방문, 체류, 전환율, 혼잡도 등 핵심 KPI를 비교·랭킹화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트렌드 분석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주간·월간 트렌드, 평균 대비 증감률, 시즌별 패턴 자동 분석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보고 및 리포팅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KPI 자동 리포트 생성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일간/주간/월간 KPI 리포트를 PDF·Excel로 자동 생성 및 스케줄 발송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 효율화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알람·임계치 감지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Footfall 급증/급감, 체류시간 과다, Hot Zone 혼잡도 초과 시 자동 알림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지점별 목표 대비 현황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각 지점의 목표 대비 실적(Goal vs Actual)을 대시보드에서 실시간 표시</a:t>
                      </a:r>
                      <a:endParaRPr sz="1400" u="none" cap="none" strike="noStrike"/>
                    </a:p>
                  </a:txBody>
                  <a:tcPr marT="25000" marB="25000" marR="50000" marL="5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75"/>
          <p:cNvSpPr txBox="1"/>
          <p:nvPr/>
        </p:nvSpPr>
        <p:spPr>
          <a:xfrm>
            <a:off x="486296" y="2666389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UX 역할 기반 접근 권한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71" name="Google Shape;371;p75"/>
          <p:cNvGraphicFramePr/>
          <p:nvPr/>
        </p:nvGraphicFramePr>
        <p:xfrm>
          <a:off x="486296" y="29260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2630225"/>
                <a:gridCol w="5534700"/>
              </a:tblGrid>
              <a:tr h="16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권한 설명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본사 관리자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전국 모든 매장의 KPI·이벤트·영상 접근 권한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매장 간 비교, 체인 전체 트렌드 분석 기능 사용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사용자/권한 관리, AI 모델 운영 등 시스템 전반 설정 가능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매장 관리자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자신이 담당하는 단일 매장의 KPI 조회·운영 데이터 열람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Hot Zone, 체류 시간, 피크 타임 등 매장 최적화 지표 확인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매장 이벤트 모니터링 및 리포트 다운로드 가능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 담당자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카메라 스트림, AI 디텍션, 이벤트 모니터링 중심 기능 접근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시스템 상태(FPS, Bitrate, Online/Offline) 확인 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운영 목적에 필요한 최소 권한만 제공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75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76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76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en-US" sz="1100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 대시보드 기능 제안 – 자동 리포트 생성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81" name="Google Shape;381;p76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76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76"/>
          <p:cNvSpPr txBox="1"/>
          <p:nvPr/>
        </p:nvSpPr>
        <p:spPr>
          <a:xfrm>
            <a:off x="308496" y="810180"/>
            <a:ext cx="4085704" cy="3507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① PDF/Excel 자동 생성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Footfall, 체류시간, 전환 퍼널, 히트맵, 매장 비교 등 KPI 기반 리포트를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PDF/Excel 형식으로 자동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매장별·체인 전체 데이터 구조에 맞춘 템플릿 자동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동일 포맷 유지로 본사(HQ) 보고 품질 표준화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② 일간 매장 리포트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매장 단위의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일일 고객 흐름, 체류시간, 혼잡도, Hot Zone 변화</a:t>
            </a: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카메라/존별 주요 이벤트 발생 시 요약 포함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매니저가 매일 아침 운영 상황을 빠르게 파악할 수 있도록 자동 발송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③ 주간 체인 요약 리포트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전국/지역권 매장 간 KPI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각 매장의 성과 랭킹 및 개선 필요 영역 강조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HQ가 주간 전략 수립 시 활용 가능한 데이터 기반 인사이트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6"/>
          <p:cNvSpPr txBox="1"/>
          <p:nvPr/>
        </p:nvSpPr>
        <p:spPr>
          <a:xfrm>
            <a:off x="4749802" y="897338"/>
            <a:ext cx="3733798" cy="2699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④ 월간 패턴 인사이트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월간 방문객 패턴, 요일/시간대 트렌드 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Hot Zone 이동 경향, 고객 행동 변화 등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Seasonality 분석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전환율 변화 요인 및 운영 개선 포인트 자동 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임계치 기반 이상치 감지 포함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b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⑤ Cron 기반 스케줄링 + S3 저장 구조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Cron 스케줄러</a:t>
            </a: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 일간/주간/월간 자동 리포트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생성된 리포트는 AWS S3에 저장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버전 관리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접근 제어 정책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이메일/SMS/Slack 등으로 자동 알림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76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3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5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3" name="Google Shape;393;p15"/>
          <p:cNvSpPr txBox="1"/>
          <p:nvPr>
            <p:ph type="ctrTitle"/>
          </p:nvPr>
        </p:nvSpPr>
        <p:spPr>
          <a:xfrm>
            <a:off x="284875" y="2102850"/>
            <a:ext cx="3860700" cy="468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b="1" lang="en-US" sz="30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및 배포 전략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72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72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학습·최적화·배포 전략-1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72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72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5" name="Google Shape;405;p72"/>
          <p:cNvSpPr txBox="1"/>
          <p:nvPr/>
        </p:nvSpPr>
        <p:spPr>
          <a:xfrm>
            <a:off x="355668" y="702039"/>
            <a:ext cx="810002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1. 학습 전략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운영 환경 기반 CCTV 영상 데이터 활용 (개인정보 비식별 처리 후 사용)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공개 데이터셋(COCO, MOT17, CrowdHuman 등)과 결합하여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객체 인식·추적·행동 패턴 인식의 일반화 성능 강화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RT-DETR 기반 Detector 파인튜닝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ByteTrack 기반 Tracking 안정화 학습</a:t>
            </a:r>
            <a:endParaRPr/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MLflow 기반 실험·지표·모델 버전 관리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	- mAP, Tracking Stability, Inference Latency 등 모니터링</a:t>
            </a:r>
            <a:endParaRPr/>
          </a:p>
          <a:p>
            <a:pPr indent="0" lvl="2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	- 모델 버전 관리: v1.0 → v1.1 → v2.0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72"/>
          <p:cNvSpPr txBox="1"/>
          <p:nvPr/>
        </p:nvSpPr>
        <p:spPr>
          <a:xfrm>
            <a:off x="355668" y="2319043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2. 최적화 전략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07" name="Google Shape;407;p72"/>
          <p:cNvGraphicFramePr/>
          <p:nvPr/>
        </p:nvGraphicFramePr>
        <p:xfrm>
          <a:off x="311149" y="2609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924600"/>
                <a:gridCol w="3155175"/>
                <a:gridCol w="3441900"/>
              </a:tblGrid>
              <a:tr h="23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단계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기법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 후 (Post-training)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Quantization (INT8/FP16), TensorRT, OpenVINO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추론 성능 개선 및 비용 절감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배포 전 (Pre-deployment)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Layer Pruning, Dynamic Batch Size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도메인별 서버 자원 효율 최적화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실행 중 (Runtime)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 버전 분리 운영 (Security / Retail)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안정성 및 성능 일관성 확보</a:t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72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73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73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학습·최적화·배포 전략-2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73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73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73"/>
          <p:cNvSpPr txBox="1"/>
          <p:nvPr/>
        </p:nvSpPr>
        <p:spPr>
          <a:xfrm>
            <a:off x="439091" y="583701"/>
            <a:ext cx="4765955" cy="3362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배포 아키텍처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a. 엣지 · 게이트웨이 기반 경량 처리 (Edge / Gateway 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엣지 카메라에서는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추론 미수행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, RTSP 영상만 송출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게이트웨이(Gateway)에서 경량 전처리 및 이벤트 필터링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Frame Sampling (30 → 3 FPS)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Motion Detection (경량 모듈, Edge-compatible)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프레임 및 메타데이터만 중앙 서버로 전송</a:t>
            </a:r>
            <a:endParaRPr/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및 NVR 펌웨어 변경 없이 적용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대역폭 80% 절감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하드웨어 변경 불필요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160만 대 기존 장비를 변경 없이 활용 가능한 범위 내에서 재활용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22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b. 서버 측 처리 (AI Central 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중앙 AI 서버(GPU)에서 도메인별 AI 분석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분석 결과는 메타데이터 중심으로 저장 후 API를 통해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Multi-GPU 노드 확장(Horizontal Scaling)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3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A diagram of a data processing process&#10;&#10;AI-generated content may be incorrect." id="421" name="Google Shape;421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6909" y="268329"/>
            <a:ext cx="1580042" cy="440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74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74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학습·최적화·배포 전략-3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30" name="Google Shape;430;p74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74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2" name="Google Shape;432;p74"/>
          <p:cNvSpPr txBox="1"/>
          <p:nvPr/>
        </p:nvSpPr>
        <p:spPr>
          <a:xfrm>
            <a:off x="486295" y="536658"/>
            <a:ext cx="80548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MLflow + Docker Registry 기반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MLOps 파이프라인 구축으로 모델 개발–배포–운영 전 주기를 완전 자동화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33" name="Google Shape;433;p74"/>
          <p:cNvGrpSpPr/>
          <p:nvPr/>
        </p:nvGrpSpPr>
        <p:grpSpPr>
          <a:xfrm>
            <a:off x="397703" y="942537"/>
            <a:ext cx="8231985" cy="3451904"/>
            <a:chOff x="563039" y="1657508"/>
            <a:chExt cx="11065922" cy="4640256"/>
          </a:xfrm>
        </p:grpSpPr>
        <p:grpSp>
          <p:nvGrpSpPr>
            <p:cNvPr id="434" name="Google Shape;434;p74"/>
            <p:cNvGrpSpPr/>
            <p:nvPr/>
          </p:nvGrpSpPr>
          <p:grpSpPr>
            <a:xfrm>
              <a:off x="563040" y="1657508"/>
              <a:ext cx="11064915" cy="409811"/>
              <a:chOff x="237020" y="2079616"/>
              <a:chExt cx="11859003" cy="439222"/>
            </a:xfrm>
          </p:grpSpPr>
          <p:sp>
            <p:nvSpPr>
              <p:cNvPr id="435" name="Google Shape;435;p74"/>
              <p:cNvSpPr/>
              <p:nvPr/>
            </p:nvSpPr>
            <p:spPr>
              <a:xfrm>
                <a:off x="237020" y="2079619"/>
                <a:ext cx="2929467" cy="439219"/>
              </a:xfrm>
              <a:prstGeom prst="roundRect">
                <a:avLst>
                  <a:gd fmla="val 16667" name="adj"/>
                </a:avLst>
              </a:prstGeom>
              <a:solidFill>
                <a:srgbClr val="19B1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rgbClr val="F2F2F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실험 관리 및 모델 저장소</a:t>
                </a:r>
                <a:endParaRPr b="1" i="0" sz="900" u="none" cap="none" strike="noStrike">
                  <a:solidFill>
                    <a:srgbClr val="F2F2F2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36" name="Google Shape;436;p74"/>
              <p:cNvSpPr/>
              <p:nvPr/>
            </p:nvSpPr>
            <p:spPr>
              <a:xfrm>
                <a:off x="3212343" y="2079616"/>
                <a:ext cx="2929467" cy="439219"/>
              </a:xfrm>
              <a:prstGeom prst="roundRect">
                <a:avLst>
                  <a:gd fmla="val 16667" name="adj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rgbClr val="F2F2F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자동 하이퍼파라미터 탐색</a:t>
                </a:r>
                <a:endParaRPr b="1" i="0" sz="900" u="none" cap="none" strike="noStrike">
                  <a:solidFill>
                    <a:srgbClr val="F2F2F2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37" name="Google Shape;437;p74"/>
              <p:cNvSpPr/>
              <p:nvPr/>
            </p:nvSpPr>
            <p:spPr>
              <a:xfrm>
                <a:off x="6187666" y="2079616"/>
                <a:ext cx="2929467" cy="439219"/>
              </a:xfrm>
              <a:prstGeom prst="roundRect">
                <a:avLst>
                  <a:gd fmla="val 16667" name="adj"/>
                </a:avLst>
              </a:prstGeom>
              <a:solidFill>
                <a:srgbClr val="0050A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rgbClr val="F2F2F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자동 배포 및 컨테이너 기반 배포 구조</a:t>
                </a:r>
                <a:endParaRPr b="1" i="0" sz="900" u="none" cap="none" strike="noStrike">
                  <a:solidFill>
                    <a:srgbClr val="F2F2F2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38" name="Google Shape;438;p74"/>
              <p:cNvSpPr/>
              <p:nvPr/>
            </p:nvSpPr>
            <p:spPr>
              <a:xfrm>
                <a:off x="9166556" y="2079616"/>
                <a:ext cx="2929467" cy="439219"/>
              </a:xfrm>
              <a:prstGeom prst="roundRect">
                <a:avLst>
                  <a:gd fmla="val 16667" name="adj"/>
                </a:avLst>
              </a:prstGeom>
              <a:solidFill>
                <a:srgbClr val="1226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-US" sz="900" u="none" cap="none" strike="noStrike">
                    <a:solidFill>
                      <a:srgbClr val="F2F2F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실시간 모니터링</a:t>
                </a:r>
                <a:endParaRPr b="1" i="0" sz="900" u="none" cap="none" strike="noStrike">
                  <a:solidFill>
                    <a:srgbClr val="F2F2F2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439" name="Google Shape;439;p74"/>
            <p:cNvSpPr/>
            <p:nvPr/>
          </p:nvSpPr>
          <p:spPr>
            <a:xfrm>
              <a:off x="563039" y="2122574"/>
              <a:ext cx="2733308" cy="2105077"/>
            </a:xfrm>
            <a:prstGeom prst="roundRect">
              <a:avLst>
                <a:gd fmla="val 1244" name="adj"/>
              </a:avLst>
            </a:prstGeom>
            <a:solidFill>
              <a:schemeClr val="lt1"/>
            </a:solidFill>
            <a:ln cap="flat" cmpd="sng" w="25400">
              <a:solidFill>
                <a:srgbClr val="19B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기록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0" name="Google Shape;440;p74"/>
            <p:cNvSpPr/>
            <p:nvPr/>
          </p:nvSpPr>
          <p:spPr>
            <a:xfrm>
              <a:off x="3338819" y="2122574"/>
              <a:ext cx="2733308" cy="2105077"/>
            </a:xfrm>
            <a:prstGeom prst="roundRect">
              <a:avLst>
                <a:gd fmla="val 1244" name="adj"/>
              </a:avLst>
            </a:prstGeom>
            <a:solidFill>
              <a:schemeClr val="lt1"/>
            </a:solidFill>
            <a:ln cap="flat" cmpd="sng" w="254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기록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1" name="Google Shape;441;p74"/>
            <p:cNvSpPr/>
            <p:nvPr/>
          </p:nvSpPr>
          <p:spPr>
            <a:xfrm>
              <a:off x="6117201" y="2123025"/>
              <a:ext cx="2733308" cy="2105077"/>
            </a:xfrm>
            <a:prstGeom prst="roundRect">
              <a:avLst>
                <a:gd fmla="val 1244" name="adj"/>
              </a:avLst>
            </a:prstGeom>
            <a:solidFill>
              <a:schemeClr val="lt1"/>
            </a:solidFill>
            <a:ln cap="flat" cmpd="sng" w="25400">
              <a:solidFill>
                <a:srgbClr val="0050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기록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2" name="Google Shape;442;p74"/>
            <p:cNvSpPr/>
            <p:nvPr/>
          </p:nvSpPr>
          <p:spPr>
            <a:xfrm>
              <a:off x="8895653" y="2122574"/>
              <a:ext cx="2733308" cy="2105077"/>
            </a:xfrm>
            <a:prstGeom prst="roundRect">
              <a:avLst>
                <a:gd fmla="val 1244" name="adj"/>
              </a:avLst>
            </a:prstGeom>
            <a:solidFill>
              <a:schemeClr val="lt1"/>
            </a:solidFill>
            <a:ln cap="flat" cmpd="sng" w="25400">
              <a:solidFill>
                <a:srgbClr val="1226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기록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3" name="Google Shape;443;p74"/>
            <p:cNvSpPr txBox="1"/>
            <p:nvPr/>
          </p:nvSpPr>
          <p:spPr>
            <a:xfrm>
              <a:off x="656251" y="2210963"/>
              <a:ext cx="2540356" cy="1859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-228594" lvl="0" marL="228594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MLFlow 기반 운영</a:t>
              </a:r>
              <a:endParaRPr b="0" i="0" sz="850" u="none" cap="none" strike="noStrike">
                <a:solidFill>
                  <a:srgbClr val="272E4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정확도, 손실값, 하이퍼파라미터 자동 기록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버전 및 단계(준비 → 운영 → 보관) 체계적 관리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실험 재현성 확보 및 성능 비교 자동화</a:t>
              </a:r>
              <a:endParaRPr b="0" i="0" sz="850" u="none" cap="none" strike="noStrike">
                <a:solidFill>
                  <a:srgbClr val="272E4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4" name="Google Shape;444;p74"/>
            <p:cNvSpPr txBox="1"/>
            <p:nvPr/>
          </p:nvSpPr>
          <p:spPr>
            <a:xfrm>
              <a:off x="3389559" y="2210963"/>
              <a:ext cx="2627902" cy="1331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-228594" lvl="0" marL="228594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Optuna / RayTune 사용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수백~수천 개 조합을 자동으로 탐색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 환경 변화(조도, 밀집도, 장면 복잡도 등)에 맞춘 최적 값 자동 선정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탐색 비용 절감 및 모델 성능 최적화</a:t>
              </a:r>
              <a:endParaRPr b="0" i="0" sz="850" u="none" cap="none" strike="noStrike">
                <a:solidFill>
                  <a:srgbClr val="272E4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5" name="Google Shape;445;p74"/>
            <p:cNvSpPr txBox="1"/>
            <p:nvPr/>
          </p:nvSpPr>
          <p:spPr>
            <a:xfrm>
              <a:off x="6213088" y="2210963"/>
              <a:ext cx="2550001" cy="1613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모델을 컨테이너 이미지로 변환하여 저장소에 보관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자동 검사 후 배포(코드 변경 시 자동 실행)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기준 성능에 미달하면 배포 자동 차단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추론 서버에 자동 반영되어 무중단 운영 지원</a:t>
              </a:r>
              <a:endParaRPr b="0" i="0" sz="850" u="none" cap="none" strike="noStrike">
                <a:solidFill>
                  <a:srgbClr val="272E4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6" name="Google Shape;446;p74"/>
            <p:cNvSpPr txBox="1"/>
            <p:nvPr/>
          </p:nvSpPr>
          <p:spPr>
            <a:xfrm>
              <a:off x="8943346" y="2210963"/>
              <a:ext cx="2583600" cy="1613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입력 데이터 분포 변경 감지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정확도 하락(모델 변동) 실시간 경보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지연 시간, 처리 속도, GPU 사용량 등 운영 지표 자동 수집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28594" lvl="0" marL="228594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272E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성능 저하 시 이전 버전으로 자동 되돌리기</a:t>
              </a:r>
              <a:endParaRPr b="0" i="0" sz="850" u="none" cap="none" strike="noStrike">
                <a:solidFill>
                  <a:srgbClr val="272E4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7" name="Google Shape;447;p74"/>
            <p:cNvSpPr/>
            <p:nvPr/>
          </p:nvSpPr>
          <p:spPr>
            <a:xfrm>
              <a:off x="2601560" y="4500019"/>
              <a:ext cx="6973729" cy="1797745"/>
            </a:xfrm>
            <a:prstGeom prst="roundRect">
              <a:avLst>
                <a:gd fmla="val 9818" name="adj"/>
              </a:avLst>
            </a:prstGeom>
            <a:solidFill>
              <a:srgbClr val="F2F2F2"/>
            </a:solidFill>
            <a:ln cap="flat" cmpd="sng" w="9525">
              <a:solidFill>
                <a:srgbClr val="F2F2F2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139700" rotWithShape="0" algn="ctr">
                <a:schemeClr val="dk1">
                  <a:alpha val="23137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48" name="Google Shape;448;p74"/>
            <p:cNvCxnSpPr/>
            <p:nvPr/>
          </p:nvCxnSpPr>
          <p:spPr>
            <a:xfrm>
              <a:off x="4328478" y="5616790"/>
              <a:ext cx="3366693" cy="0"/>
            </a:xfrm>
            <a:prstGeom prst="straightConnector1">
              <a:avLst/>
            </a:prstGeom>
            <a:noFill/>
            <a:ln cap="flat" cmpd="sng" w="9525">
              <a:solidFill>
                <a:srgbClr val="3B7F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74"/>
            <p:cNvSpPr/>
            <p:nvPr/>
          </p:nvSpPr>
          <p:spPr>
            <a:xfrm>
              <a:off x="3131304" y="4950165"/>
              <a:ext cx="1197174" cy="1197174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12269B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242387" sx="102000" rotWithShape="0" algn="ctr" sy="102000">
                <a:srgbClr val="000000">
                  <a:alpha val="2156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0" name="Google Shape;450;p74"/>
            <p:cNvSpPr/>
            <p:nvPr/>
          </p:nvSpPr>
          <p:spPr>
            <a:xfrm>
              <a:off x="4652593" y="4950165"/>
              <a:ext cx="1197174" cy="1197174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12269B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242387" sx="102000" rotWithShape="0" algn="ctr" sy="102000">
                <a:srgbClr val="000000">
                  <a:alpha val="2156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1" name="Google Shape;451;p74"/>
            <p:cNvSpPr/>
            <p:nvPr/>
          </p:nvSpPr>
          <p:spPr>
            <a:xfrm>
              <a:off x="6173882" y="4950165"/>
              <a:ext cx="1197174" cy="1197174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12269B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242387" sx="102000" rotWithShape="0" algn="ctr" sy="102000">
                <a:srgbClr val="000000">
                  <a:alpha val="2156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2" name="Google Shape;452;p74"/>
            <p:cNvSpPr txBox="1"/>
            <p:nvPr/>
          </p:nvSpPr>
          <p:spPr>
            <a:xfrm>
              <a:off x="3185642" y="5297141"/>
              <a:ext cx="1088498" cy="620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12269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개발 부터 운영까지 자동화</a:t>
              </a:r>
              <a:endParaRPr b="0" i="0" sz="8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3" name="Google Shape;453;p74"/>
            <p:cNvSpPr txBox="1"/>
            <p:nvPr/>
          </p:nvSpPr>
          <p:spPr>
            <a:xfrm>
              <a:off x="6228219" y="5299125"/>
              <a:ext cx="1088498" cy="868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rgbClr val="12269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서비스 규모 증가에 강한 확장성 확보</a:t>
              </a:r>
              <a:endParaRPr b="0" i="0" sz="8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4" name="Google Shape;454;p74"/>
            <p:cNvSpPr/>
            <p:nvPr/>
          </p:nvSpPr>
          <p:spPr>
            <a:xfrm>
              <a:off x="7695171" y="4950165"/>
              <a:ext cx="1197174" cy="1197174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12269B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242387" sx="102000" rotWithShape="0" algn="ctr" sy="102000">
                <a:srgbClr val="000000">
                  <a:alpha val="2156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5" name="Google Shape;455;p74"/>
            <p:cNvSpPr txBox="1"/>
            <p:nvPr/>
          </p:nvSpPr>
          <p:spPr>
            <a:xfrm>
              <a:off x="7695170" y="5309591"/>
              <a:ext cx="1197173" cy="620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12269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운영비 절감 + 배포 속도 향상</a:t>
              </a:r>
              <a:endParaRPr b="0" i="0" sz="8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6" name="Google Shape;456;p74"/>
            <p:cNvSpPr txBox="1"/>
            <p:nvPr/>
          </p:nvSpPr>
          <p:spPr>
            <a:xfrm>
              <a:off x="4701191" y="5309591"/>
              <a:ext cx="1088498" cy="868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12269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상용 환경에서 일관된 모델 품질 유지</a:t>
              </a:r>
              <a:endParaRPr b="0" i="0" sz="800" u="none" cap="none" strike="noStrike">
                <a:solidFill>
                  <a:srgbClr val="12269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7" name="Google Shape;457;p74"/>
            <p:cNvSpPr/>
            <p:nvPr/>
          </p:nvSpPr>
          <p:spPr>
            <a:xfrm>
              <a:off x="3615355" y="5080518"/>
              <a:ext cx="229072" cy="229072"/>
            </a:xfrm>
            <a:prstGeom prst="ellipse">
              <a:avLst/>
            </a:prstGeom>
            <a:solidFill>
              <a:srgbClr val="0050AE"/>
            </a:solidFill>
            <a:ln cap="flat" cmpd="sng" w="25400">
              <a:solidFill>
                <a:srgbClr val="306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1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8" name="Google Shape;458;p74"/>
            <p:cNvSpPr/>
            <p:nvPr/>
          </p:nvSpPr>
          <p:spPr>
            <a:xfrm>
              <a:off x="5130903" y="5080518"/>
              <a:ext cx="229072" cy="229072"/>
            </a:xfrm>
            <a:prstGeom prst="ellipse">
              <a:avLst/>
            </a:prstGeom>
            <a:solidFill>
              <a:srgbClr val="0050AE"/>
            </a:solidFill>
            <a:ln cap="flat" cmpd="sng" w="25400">
              <a:solidFill>
                <a:srgbClr val="306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1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9" name="Google Shape;459;p74"/>
            <p:cNvSpPr/>
            <p:nvPr/>
          </p:nvSpPr>
          <p:spPr>
            <a:xfrm>
              <a:off x="6651834" y="5081721"/>
              <a:ext cx="229072" cy="229072"/>
            </a:xfrm>
            <a:prstGeom prst="ellipse">
              <a:avLst/>
            </a:prstGeom>
            <a:solidFill>
              <a:srgbClr val="0050AE"/>
            </a:solidFill>
            <a:ln cap="flat" cmpd="sng" w="25400">
              <a:solidFill>
                <a:srgbClr val="306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1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60" name="Google Shape;460;p74"/>
            <p:cNvSpPr/>
            <p:nvPr/>
          </p:nvSpPr>
          <p:spPr>
            <a:xfrm>
              <a:off x="8167382" y="5081721"/>
              <a:ext cx="229072" cy="229072"/>
            </a:xfrm>
            <a:prstGeom prst="ellipse">
              <a:avLst/>
            </a:prstGeom>
            <a:solidFill>
              <a:srgbClr val="0050AE"/>
            </a:solidFill>
            <a:ln cap="flat" cmpd="sng" w="25400">
              <a:solidFill>
                <a:srgbClr val="306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b="1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61" name="Google Shape;461;p74"/>
            <p:cNvSpPr txBox="1"/>
            <p:nvPr/>
          </p:nvSpPr>
          <p:spPr>
            <a:xfrm>
              <a:off x="1414768" y="4558807"/>
              <a:ext cx="9347315" cy="325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C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주요 효과</a:t>
              </a:r>
              <a:endParaRPr b="1" i="0" sz="1050" u="none" cap="none" strike="noStrike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62" name="Google Shape;462;p74"/>
            <p:cNvCxnSpPr>
              <a:stCxn id="439" idx="2"/>
              <a:endCxn id="447" idx="1"/>
            </p:cNvCxnSpPr>
            <p:nvPr/>
          </p:nvCxnSpPr>
          <p:spPr>
            <a:xfrm flipH="1" rot="-5400000">
              <a:off x="1680093" y="4477251"/>
              <a:ext cx="1171200" cy="672000"/>
            </a:xfrm>
            <a:prstGeom prst="bentConnector2">
              <a:avLst/>
            </a:prstGeom>
            <a:noFill/>
            <a:ln cap="flat" cmpd="sng" w="9525">
              <a:solidFill>
                <a:srgbClr val="3B7FF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cxnSp>
          <p:nvCxnSpPr>
            <p:cNvPr id="463" name="Google Shape;463;p74"/>
            <p:cNvCxnSpPr>
              <a:stCxn id="442" idx="2"/>
              <a:endCxn id="447" idx="3"/>
            </p:cNvCxnSpPr>
            <p:nvPr/>
          </p:nvCxnSpPr>
          <p:spPr>
            <a:xfrm rot="5400000">
              <a:off x="9333207" y="4469751"/>
              <a:ext cx="1171200" cy="687000"/>
            </a:xfrm>
            <a:prstGeom prst="bentConnector2">
              <a:avLst/>
            </a:prstGeom>
            <a:noFill/>
            <a:ln cap="flat" cmpd="sng" w="9525">
              <a:solidFill>
                <a:srgbClr val="3B7FF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cxnSp>
          <p:nvCxnSpPr>
            <p:cNvPr id="464" name="Google Shape;464;p74"/>
            <p:cNvCxnSpPr>
              <a:stCxn id="440" idx="2"/>
            </p:cNvCxnSpPr>
            <p:nvPr/>
          </p:nvCxnSpPr>
          <p:spPr>
            <a:xfrm flipH="1">
              <a:off x="4701273" y="4227651"/>
              <a:ext cx="4200" cy="272400"/>
            </a:xfrm>
            <a:prstGeom prst="straightConnector1">
              <a:avLst/>
            </a:prstGeom>
            <a:noFill/>
            <a:ln cap="flat" cmpd="sng" w="9525">
              <a:solidFill>
                <a:srgbClr val="3B7FF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cxnSp>
          <p:nvCxnSpPr>
            <p:cNvPr id="465" name="Google Shape;465;p74"/>
            <p:cNvCxnSpPr/>
            <p:nvPr/>
          </p:nvCxnSpPr>
          <p:spPr>
            <a:xfrm flipH="1">
              <a:off x="7690888" y="4227651"/>
              <a:ext cx="4283" cy="272368"/>
            </a:xfrm>
            <a:prstGeom prst="straightConnector1">
              <a:avLst/>
            </a:prstGeom>
            <a:noFill/>
            <a:ln cap="flat" cmpd="sng" w="9525">
              <a:solidFill>
                <a:srgbClr val="3B7FF2"/>
              </a:solidFill>
              <a:prstDash val="dot"/>
              <a:round/>
              <a:headEnd len="sm" w="sm" type="none"/>
              <a:tailEnd len="med" w="med" type="triangle"/>
            </a:ln>
          </p:spPr>
        </p:cxnSp>
      </p:grpSp>
      <p:sp>
        <p:nvSpPr>
          <p:cNvPr id="466" name="Google Shape;466;p74"/>
          <p:cNvSpPr txBox="1"/>
          <p:nvPr/>
        </p:nvSpPr>
        <p:spPr>
          <a:xfrm>
            <a:off x="7304100" y="4866600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77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77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리스크 및 조치 방안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75" name="Google Shape;475;p77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77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77" name="Google Shape;477;p77"/>
          <p:cNvGraphicFramePr/>
          <p:nvPr/>
        </p:nvGraphicFramePr>
        <p:xfrm>
          <a:off x="311150" y="1002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2330450"/>
                <a:gridCol w="2941325"/>
                <a:gridCol w="3249925"/>
              </a:tblGrid>
              <a:tr h="36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리스크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영향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조치 방안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69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NPU 성능 한계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엣지 장비에서 고정밀 AI 추론 수행에 제약 존재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서버 기반 추론으로 전환영상 스트림 압축 및 최적화 적용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네트워크 대역폭 제한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지연(latency) 증가 또는 프레임 손실 발생 가능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적응형 비트레이트(Adaptive Bitrate) 및 버퍼링 메커니즘 적용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개인정보 보호 이슈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민감한 개인정보 노출 위험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얼굴 블러링 및 데이터 익명화 정책 적용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비일관성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카메라별 포맷 차이로 인한 분석 오류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메타데이터 스키마 표준화 및 데이터 수집 프로세스 정규화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8" name="Google Shape;478;p77"/>
          <p:cNvSpPr txBox="1"/>
          <p:nvPr/>
        </p:nvSpPr>
        <p:spPr>
          <a:xfrm>
            <a:off x="486295" y="629930"/>
            <a:ext cx="806842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엣지–서버 혼합 구조의 한계를 인지하고, 성능·보안·데이터 품질 측면의 리스크를 사전 관리 시행</a:t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77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" name="Google Shape;486;p79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79"/>
          <p:cNvSpPr txBox="1"/>
          <p:nvPr/>
        </p:nvSpPr>
        <p:spPr>
          <a:xfrm>
            <a:off x="486299" y="141250"/>
            <a:ext cx="4365097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 사용환경 및 서버 스펙 제안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88" name="Google Shape;488;p79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79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0" name="Google Shape;490;p79"/>
          <p:cNvCxnSpPr/>
          <p:nvPr/>
        </p:nvCxnSpPr>
        <p:spPr>
          <a:xfrm flipH="1">
            <a:off x="10097406" y="141250"/>
            <a:ext cx="1" cy="82647"/>
          </a:xfrm>
          <a:prstGeom prst="straightConnector1">
            <a:avLst/>
          </a:prstGeom>
          <a:noFill/>
          <a:ln cap="flat" cmpd="sng" w="9525">
            <a:solidFill>
              <a:srgbClr val="12269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91" name="Google Shape;491;p79"/>
          <p:cNvGraphicFramePr/>
          <p:nvPr/>
        </p:nvGraphicFramePr>
        <p:xfrm>
          <a:off x="312517" y="536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608000"/>
                <a:gridCol w="2075025"/>
                <a:gridCol w="2420875"/>
                <a:gridCol w="2420875"/>
              </a:tblGrid>
              <a:tr h="26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용도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권장 사양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47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추론 서버 (GPU)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객체·행동 인식 추론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NVIDIA A100 40GB × 1, vCPU 16코어, RAM 128GB, NVMe 2TB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처리량 및 모델 구성에 따라 GPU 사양 조정 가능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전처리 엣지 / 게이트웨이 노드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영상 이벤트 필터링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NPU 1TOPS 이상 또는 CPU 기반 경량 처리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카메라/NVR FW 변경 없이 이벤트 기반 전처리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파이프라인 서버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Kafka / Redis / Storage 운영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vCPU 8코어 / RAM 32GB / SSD 500GB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이벤트 수집·버퍼링·메타데이터 관리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 / 대시보드 서버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 게이트웨이 / UI 제공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vCPU 8코어 / RAM 16GB / SSD 200GB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React 기반 웹 서비스 및 API 연동 처리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클라우드 제공사 권장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AWS / GCP / 네이버 클라우드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AWS p4d 또는 GCP A2 GPU 인스턴스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SKT 계열 클라우드 연동 환경도 고려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PoC 기준 월간 예상 비용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서버 + Web 서버 + DB 구성</a:t>
                      </a:r>
                      <a:endParaRPr sz="1400" u="none" cap="none" strike="noStrike"/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약 $1,200 ~ 1,500 / 월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3개월 PoC 기준 </a:t>
                      </a:r>
                      <a:r>
                        <a:rPr b="1" lang="en-US" sz="9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약 $4,000 ~ 4,500 예상</a:t>
                      </a:r>
                      <a:endParaRPr sz="9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0675" marB="40675" marR="81350" marL="813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2" name="Google Shape;492;p79"/>
          <p:cNvSpPr txBox="1"/>
          <p:nvPr/>
        </p:nvSpPr>
        <p:spPr>
          <a:xfrm>
            <a:off x="312516" y="3119641"/>
            <a:ext cx="8519100" cy="147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** 제안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GPU 사양은 분석 목적 및 처리량에 따라 단계적 확장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	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Security: 실시간 이벤트 중심 → 경량·저지연 구성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	- Retail: Batch·고정밀 분석 → 고성능 GPU 활용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엣지–서버 분산 구조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PoC 단계에서는 단일 노드 구성 가능: 상용 단계에서는 클러스터 기반 확장</a:t>
            </a:r>
            <a:endParaRPr/>
          </a:p>
        </p:txBody>
      </p:sp>
      <p:sp>
        <p:nvSpPr>
          <p:cNvPr id="493" name="Google Shape;493;p79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61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80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1" name="Google Shape;501;p80"/>
          <p:cNvSpPr txBox="1"/>
          <p:nvPr>
            <p:ph type="ctrTitle"/>
          </p:nvPr>
        </p:nvSpPr>
        <p:spPr>
          <a:xfrm>
            <a:off x="284875" y="2102850"/>
            <a:ext cx="3860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III. 일정 및 견적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80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81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81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1. 프로젝트 일정 및 산출물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11" name="Google Shape;511;p81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81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13" name="Google Shape;513;p81"/>
          <p:cNvGraphicFramePr/>
          <p:nvPr/>
        </p:nvGraphicFramePr>
        <p:xfrm>
          <a:off x="522533" y="5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7173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  <a:gridCol w="262725"/>
              </a:tblGrid>
              <a:tr h="38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마스터 스케줄</a:t>
                      </a:r>
                      <a:endParaRPr sz="1400" u="none" cap="none" strike="noStrike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r>
                        <a:rPr b="1" lang="en-US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+1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r>
                        <a:rPr b="1" lang="en-US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+2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r>
                        <a:rPr b="1" lang="en-US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+3</a:t>
                      </a:r>
                      <a:endParaRPr b="1"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r>
                        <a:rPr b="1" lang="en-US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+4</a:t>
                      </a:r>
                      <a:endParaRPr b="1"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</a:t>
                      </a:r>
                      <a:r>
                        <a:rPr b="1" lang="en-US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+5</a:t>
                      </a:r>
                      <a:endParaRPr b="1"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</a:tr>
              <a:tr h="26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sz="1400" u="none" cap="none" strike="noStrike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W3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W4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W5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W6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W7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W8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W9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W10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W11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W12</a:t>
                      </a:r>
                      <a:endParaRPr sz="1400" u="none" cap="none" strike="noStrike"/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W13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W14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W15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W16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W17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W18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W19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W20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W21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W22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W23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W24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B165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 요구사항 명확화</a:t>
                      </a:r>
                      <a:endParaRPr sz="1400" u="none" cap="none" strike="noStrike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B165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 설계</a:t>
                      </a:r>
                      <a:endParaRPr sz="1400" u="none" cap="none" strike="noStrike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B165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 코딩</a:t>
                      </a:r>
                      <a:endParaRPr sz="1400" u="none" cap="none" strike="noStrike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B165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 테스트</a:t>
                      </a:r>
                      <a:endParaRPr b="1" sz="900" u="none" cap="none" strike="noStrike">
                        <a:solidFill>
                          <a:srgbClr val="0B165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B165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5. 인수 테스트</a:t>
                      </a:r>
                      <a:endParaRPr b="1" sz="900" u="none" cap="none" strike="noStrike">
                        <a:solidFill>
                          <a:srgbClr val="0B165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4" name="Google Shape;514;p81"/>
          <p:cNvSpPr txBox="1"/>
          <p:nvPr/>
        </p:nvSpPr>
        <p:spPr>
          <a:xfrm>
            <a:off x="486346" y="3300662"/>
            <a:ext cx="80226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산출물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아키텍처 문서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(엣지–서버–대시보드 데이터 흐름 포함)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모델 비교 및 벤치마크 리포트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(성능, 정확도, 처리 속도 등 평가 결과 포함)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API 명세서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(OpenAPI 3.0 / Swagger 기준 문서화)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대시보드 UX/UI 프로토타입 및 구현물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65100" lvl="0" marL="1714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PoC 테스트 리포트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(KPI 평가 결과 및 성능 최적화 계획 포함)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1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328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" name="Google Shape;522;p82"/>
          <p:cNvCxnSpPr/>
          <p:nvPr/>
        </p:nvCxnSpPr>
        <p:spPr>
          <a:xfrm>
            <a:off x="486300" y="223500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82"/>
          <p:cNvSpPr txBox="1"/>
          <p:nvPr/>
        </p:nvSpPr>
        <p:spPr>
          <a:xfrm>
            <a:off x="486300" y="141250"/>
            <a:ext cx="3090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rPr>
              <a:t>2. 비용 산정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4" name="Google Shape;524;p82"/>
          <p:cNvCxnSpPr/>
          <p:nvPr/>
        </p:nvCxnSpPr>
        <p:spPr>
          <a:xfrm>
            <a:off x="925650" y="46547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82"/>
          <p:cNvSpPr txBox="1"/>
          <p:nvPr/>
        </p:nvSpPr>
        <p:spPr>
          <a:xfrm>
            <a:off x="486301" y="45541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26" name="Google Shape;526;p82"/>
          <p:cNvGraphicFramePr/>
          <p:nvPr/>
        </p:nvGraphicFramePr>
        <p:xfrm>
          <a:off x="470376" y="620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1334400"/>
                <a:gridCol w="2085175"/>
                <a:gridCol w="971550"/>
                <a:gridCol w="1077700"/>
                <a:gridCol w="1367200"/>
                <a:gridCol w="1367200"/>
              </a:tblGrid>
              <a:tr h="42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단가 (USD)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수량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금액 (USD)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금액 (KRW)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45A5"/>
                    </a:solidFill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개발 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Vision 모델 설계 및 학습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$43,000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1식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$43,000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₩63,210,000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서버 구축 및 통합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추론 서버, API, 데이터베이스 구성 및 시스템 통합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$18,700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1식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$18,700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₩27,489,000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대시보드 UX/UI 개발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웹 기반 관제·분석 대시보드 설계 및 구현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$22,000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1식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$22,000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₩32,340,000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테스트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기능·성능 검증, 안정성 테스트, KPI 기준 평가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$9,000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1식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$9,000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₩13,230,000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온사이트 PM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 관리 및 커뮤니케이션 지원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$6,000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2.5MM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$15,000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₩22,050,000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총합 (VAT 별도)</a:t>
                      </a:r>
                      <a:endParaRPr b="1"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원화의 경우, </a:t>
                      </a:r>
                      <a:r>
                        <a:rPr lang="en-US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천</a:t>
                      </a:r>
                      <a:r>
                        <a:rPr lang="en-US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단위 이하 절</a:t>
                      </a:r>
                      <a:r>
                        <a:rPr lang="en-US" sz="8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</a:t>
                      </a:r>
                      <a:endParaRPr sz="8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$107,700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₩158,31</a:t>
                      </a:r>
                      <a:r>
                        <a:rPr b="1" lang="en-US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</a:t>
                      </a:r>
                      <a:r>
                        <a:rPr b="1"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,000</a:t>
                      </a:r>
                      <a:endParaRPr/>
                    </a:p>
                  </a:txBody>
                  <a:tcPr marT="12700" marB="12700" marR="19050" marL="190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7" name="Google Shape;527;p82"/>
          <p:cNvSpPr txBox="1"/>
          <p:nvPr/>
        </p:nvSpPr>
        <p:spPr>
          <a:xfrm>
            <a:off x="486301" y="3698975"/>
            <a:ext cx="7671900" cy="861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🔹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참고: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기준환율: 1,470.90 (25.12.01 하나은행 매매기준) / 적용환율: 1,470원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상기 금액은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예상 견적 기준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이며,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 비용은 별도입니다. 향후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요구사항 확정 시 비용이 조정될 수 있습니다.</a:t>
            </a:r>
            <a:endParaRPr b="1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본 견적 비용의 유효기간은 견적서 송부일로부터 45일입니다.</a:t>
            </a:r>
            <a:endParaRPr b="0"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82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61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83"/>
          <p:cNvSpPr txBox="1"/>
          <p:nvPr/>
        </p:nvSpPr>
        <p:spPr>
          <a:xfrm>
            <a:off x="1164925" y="432200"/>
            <a:ext cx="2225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6" name="Google Shape;536;p83"/>
          <p:cNvSpPr txBox="1"/>
          <p:nvPr>
            <p:ph type="ctrTitle"/>
          </p:nvPr>
        </p:nvSpPr>
        <p:spPr>
          <a:xfrm>
            <a:off x="284875" y="2102850"/>
            <a:ext cx="3860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3000" u="non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IV. 프로젝트 관리</a:t>
            </a:r>
            <a:endParaRPr b="1" sz="30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7" name="Google Shape;537;p83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g33171439fd8_0_16"/>
          <p:cNvGrpSpPr/>
          <p:nvPr/>
        </p:nvGrpSpPr>
        <p:grpSpPr>
          <a:xfrm>
            <a:off x="600348" y="627118"/>
            <a:ext cx="8020489" cy="4029707"/>
            <a:chOff x="872581" y="889811"/>
            <a:chExt cx="10693985" cy="5372942"/>
          </a:xfrm>
        </p:grpSpPr>
        <p:grpSp>
          <p:nvGrpSpPr>
            <p:cNvPr id="543" name="Google Shape;543;g33171439fd8_0_16"/>
            <p:cNvGrpSpPr/>
            <p:nvPr/>
          </p:nvGrpSpPr>
          <p:grpSpPr>
            <a:xfrm>
              <a:off x="872581" y="889811"/>
              <a:ext cx="10693985" cy="5372942"/>
              <a:chOff x="872580" y="889810"/>
              <a:chExt cx="11229137" cy="5457119"/>
            </a:xfrm>
          </p:grpSpPr>
          <p:grpSp>
            <p:nvGrpSpPr>
              <p:cNvPr id="544" name="Google Shape;544;g33171439fd8_0_16"/>
              <p:cNvGrpSpPr/>
              <p:nvPr/>
            </p:nvGrpSpPr>
            <p:grpSpPr>
              <a:xfrm>
                <a:off x="872580" y="889810"/>
                <a:ext cx="11229137" cy="5457119"/>
                <a:chOff x="872579" y="889810"/>
                <a:chExt cx="11229137" cy="5457119"/>
              </a:xfrm>
            </p:grpSpPr>
            <p:sp>
              <p:nvSpPr>
                <p:cNvPr id="545" name="Google Shape;545;g33171439fd8_0_16"/>
                <p:cNvSpPr/>
                <p:nvPr/>
              </p:nvSpPr>
              <p:spPr>
                <a:xfrm rot="10800000">
                  <a:off x="8281011" y="5107448"/>
                  <a:ext cx="1895975" cy="368466"/>
                </a:xfrm>
                <a:prstGeom prst="rightArrow">
                  <a:avLst>
                    <a:gd fmla="val 50000" name="adj1"/>
                    <a:gd fmla="val 50000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46" name="Google Shape;546;g33171439fd8_0_16"/>
                <p:cNvSpPr/>
                <p:nvPr/>
              </p:nvSpPr>
              <p:spPr>
                <a:xfrm>
                  <a:off x="8281013" y="4842128"/>
                  <a:ext cx="1907322" cy="341976"/>
                </a:xfrm>
                <a:prstGeom prst="rightArrow">
                  <a:avLst>
                    <a:gd fmla="val 50000" name="adj1"/>
                    <a:gd fmla="val 50000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47" name="Google Shape;547;g33171439fd8_0_16"/>
                <p:cNvSpPr/>
                <p:nvPr/>
              </p:nvSpPr>
              <p:spPr>
                <a:xfrm>
                  <a:off x="2648446" y="2392734"/>
                  <a:ext cx="2201759" cy="341975"/>
                </a:xfrm>
                <a:prstGeom prst="leftRightArrow">
                  <a:avLst>
                    <a:gd fmla="val 50000" name="adj1"/>
                    <a:gd fmla="val 68597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48" name="Google Shape;548;g33171439fd8_0_16"/>
                <p:cNvSpPr/>
                <p:nvPr/>
              </p:nvSpPr>
              <p:spPr>
                <a:xfrm>
                  <a:off x="8260923" y="5244124"/>
                  <a:ext cx="1275524" cy="2669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noAutofit/>
                </a:bodyPr>
                <a:lstStyle/>
                <a:p>
                  <a:pPr indent="-333359" lvl="1" marL="342884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AEABAB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49" name="Google Shape;549;g33171439fd8_0_16"/>
                <p:cNvSpPr txBox="1"/>
                <p:nvPr/>
              </p:nvSpPr>
              <p:spPr>
                <a:xfrm>
                  <a:off x="2423970" y="2194386"/>
                  <a:ext cx="2676451" cy="68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월간 미팅 </a:t>
                  </a:r>
                  <a:endParaRPr b="0" i="0" sz="12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(진행 현황, 이슈)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pic>
              <p:nvPicPr>
                <p:cNvPr descr="事務員" id="550" name="Google Shape;550;g33171439fd8_0_1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587178" y="1870138"/>
                  <a:ext cx="465359" cy="4653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1" name="Google Shape;551;g33171439fd8_0_16" title="Milestone Graphic"/>
                <p:cNvSpPr/>
                <p:nvPr/>
              </p:nvSpPr>
              <p:spPr>
                <a:xfrm>
                  <a:off x="8358745" y="2355498"/>
                  <a:ext cx="1044488" cy="3778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부서 매니저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52" name="Google Shape;552;g33171439fd8_0_16"/>
                <p:cNvSpPr/>
                <p:nvPr/>
              </p:nvSpPr>
              <p:spPr>
                <a:xfrm>
                  <a:off x="7216102" y="5179102"/>
                  <a:ext cx="540651" cy="218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1" i="0" lang="en-US" sz="6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PM/BA</a:t>
                  </a:r>
                  <a:endParaRPr b="1" i="0" sz="6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pic>
              <p:nvPicPr>
                <p:cNvPr descr="ユーザー" id="553" name="Google Shape;553;g33171439fd8_0_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0388578" y="4726561"/>
                  <a:ext cx="492022" cy="49202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事務員" id="554" name="Google Shape;554;g33171439fd8_0_1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5496410" y="1680400"/>
                  <a:ext cx="501504" cy="50150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5" name="Google Shape;555;g33171439fd8_0_16" title="Milestone Graphic"/>
                <p:cNvSpPr/>
                <p:nvPr/>
              </p:nvSpPr>
              <p:spPr>
                <a:xfrm>
                  <a:off x="5167114" y="2170633"/>
                  <a:ext cx="1117300" cy="3747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VKR 매니저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56" name="Google Shape;556;g33171439fd8_0_16"/>
                <p:cNvSpPr/>
                <p:nvPr/>
              </p:nvSpPr>
              <p:spPr>
                <a:xfrm>
                  <a:off x="4884249" y="1321705"/>
                  <a:ext cx="1025625" cy="365796"/>
                </a:xfrm>
                <a:prstGeom prst="snip2DiagRect">
                  <a:avLst>
                    <a:gd fmla="val 0" name="adj1"/>
                    <a:gd fmla="val 16667" name="adj2"/>
                  </a:avLst>
                </a:pr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VKR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pic>
              <p:nvPicPr>
                <p:cNvPr descr="事務員" id="557" name="Google Shape;557;g33171439fd8_0_1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1513893" y="1870138"/>
                  <a:ext cx="492022" cy="49202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8" name="Google Shape;558;g33171439fd8_0_16" title="Milestone Graphic"/>
                <p:cNvSpPr/>
                <p:nvPr/>
              </p:nvSpPr>
              <p:spPr>
                <a:xfrm>
                  <a:off x="1236560" y="2371642"/>
                  <a:ext cx="1015727" cy="36841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매니저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59" name="Google Shape;559;g33171439fd8_0_16"/>
                <p:cNvSpPr/>
                <p:nvPr/>
              </p:nvSpPr>
              <p:spPr>
                <a:xfrm>
                  <a:off x="872579" y="890442"/>
                  <a:ext cx="911750" cy="365796"/>
                </a:xfrm>
                <a:prstGeom prst="snip2DiagRect">
                  <a:avLst>
                    <a:gd fmla="val 0" name="adj1"/>
                    <a:gd fmla="val 16667" name="adj2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한국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0" name="Google Shape;560;g33171439fd8_0_16"/>
                <p:cNvSpPr/>
                <p:nvPr/>
              </p:nvSpPr>
              <p:spPr>
                <a:xfrm>
                  <a:off x="6868603" y="895334"/>
                  <a:ext cx="1025625" cy="365796"/>
                </a:xfrm>
                <a:prstGeom prst="snip2DiagRect">
                  <a:avLst>
                    <a:gd fmla="val 0" name="adj1"/>
                    <a:gd fmla="val 16667" name="adj2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VN-Offshore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1" name="Google Shape;561;g33171439fd8_0_16" title="Milestone Graphic"/>
                <p:cNvSpPr/>
                <p:nvPr/>
              </p:nvSpPr>
              <p:spPr>
                <a:xfrm>
                  <a:off x="10225519" y="5231778"/>
                  <a:ext cx="836694" cy="23924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2" name="Google Shape;562;g33171439fd8_0_16"/>
                <p:cNvSpPr/>
                <p:nvPr/>
              </p:nvSpPr>
              <p:spPr>
                <a:xfrm>
                  <a:off x="10376047" y="5244505"/>
                  <a:ext cx="517087" cy="218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1" i="0" lang="en-US" sz="6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개발자</a:t>
                  </a:r>
                  <a:endParaRPr b="1" i="0" sz="6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pic>
              <p:nvPicPr>
                <p:cNvPr descr="ユーザー" id="563" name="Google Shape;563;g33171439fd8_0_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1326194" y="4736539"/>
                  <a:ext cx="492022" cy="49202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4" name="Google Shape;564;g33171439fd8_0_16" title="Milestone Graphic"/>
                <p:cNvSpPr/>
                <p:nvPr/>
              </p:nvSpPr>
              <p:spPr>
                <a:xfrm>
                  <a:off x="11163135" y="5241756"/>
                  <a:ext cx="836694" cy="23924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5" name="Google Shape;565;g33171439fd8_0_16"/>
                <p:cNvSpPr/>
                <p:nvPr/>
              </p:nvSpPr>
              <p:spPr>
                <a:xfrm>
                  <a:off x="11315978" y="5253657"/>
                  <a:ext cx="570648" cy="218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1" i="0" lang="en-US" sz="6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개발자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6" name="Google Shape;566;g33171439fd8_0_16"/>
                <p:cNvSpPr txBox="1"/>
                <p:nvPr/>
              </p:nvSpPr>
              <p:spPr>
                <a:xfrm>
                  <a:off x="8120231" y="4375699"/>
                  <a:ext cx="1830124" cy="4688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오류 상세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조사요청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변경 요청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7" name="Google Shape;567;g33171439fd8_0_16" title="Milestone Graphic"/>
                <p:cNvSpPr/>
                <p:nvPr/>
              </p:nvSpPr>
              <p:spPr>
                <a:xfrm>
                  <a:off x="8189018" y="4184792"/>
                  <a:ext cx="706185" cy="14458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8" name="Google Shape;568;g33171439fd8_0_16" title="Year Bar"/>
                <p:cNvSpPr/>
                <p:nvPr/>
              </p:nvSpPr>
              <p:spPr>
                <a:xfrm>
                  <a:off x="9598200" y="4186051"/>
                  <a:ext cx="720172" cy="15540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69" name="Google Shape;569;g33171439fd8_0_16"/>
                <p:cNvSpPr txBox="1"/>
                <p:nvPr/>
              </p:nvSpPr>
              <p:spPr>
                <a:xfrm>
                  <a:off x="9464580" y="4369399"/>
                  <a:ext cx="2146795" cy="3438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・요구사항 정의서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・디자인 문서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70" name="Google Shape;570;g33171439fd8_0_16" title="callout lines"/>
                <p:cNvCxnSpPr/>
                <p:nvPr/>
              </p:nvCxnSpPr>
              <p:spPr>
                <a:xfrm>
                  <a:off x="9464581" y="4169215"/>
                  <a:ext cx="0" cy="66649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D8D8D8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71" name="Google Shape;571;g33171439fd8_0_16"/>
                <p:cNvSpPr txBox="1"/>
                <p:nvPr/>
              </p:nvSpPr>
              <p:spPr>
                <a:xfrm>
                  <a:off x="8215304" y="5670617"/>
                  <a:ext cx="1830124" cy="5938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분석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영향 보고서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개발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-128585" lvl="0" marL="128585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Char char="•"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테스트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2" name="Google Shape;572;g33171439fd8_0_16" title="Milestone Graphic"/>
                <p:cNvSpPr/>
                <p:nvPr/>
              </p:nvSpPr>
              <p:spPr>
                <a:xfrm>
                  <a:off x="8215722" y="5479710"/>
                  <a:ext cx="706185" cy="14458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3" name="Google Shape;573;g33171439fd8_0_16"/>
                <p:cNvSpPr/>
                <p:nvPr/>
              </p:nvSpPr>
              <p:spPr>
                <a:xfrm>
                  <a:off x="8376802" y="5464133"/>
                  <a:ext cx="374012" cy="203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25"/>
                    <a:buFont typeface="Arial"/>
                    <a:buNone/>
                  </a:pPr>
                  <a:r>
                    <a:rPr b="0" i="0" lang="en-US" sz="5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O/M</a:t>
                  </a:r>
                  <a:endParaRPr b="0" i="0" sz="5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4" name="Google Shape;574;g33171439fd8_0_16" title="Year Bar"/>
                <p:cNvSpPr/>
                <p:nvPr/>
              </p:nvSpPr>
              <p:spPr>
                <a:xfrm>
                  <a:off x="9595586" y="5480970"/>
                  <a:ext cx="720172" cy="15540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5" name="Google Shape;575;g33171439fd8_0_16"/>
                <p:cNvSpPr/>
                <p:nvPr/>
              </p:nvSpPr>
              <p:spPr>
                <a:xfrm>
                  <a:off x="9679765" y="5465030"/>
                  <a:ext cx="574314" cy="203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25"/>
                    <a:buFont typeface="Arial"/>
                    <a:buNone/>
                  </a:pPr>
                  <a:r>
                    <a:rPr b="0" i="0" lang="en-US" sz="5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New Dev</a:t>
                  </a:r>
                  <a:endParaRPr b="0" i="0" sz="5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6" name="Google Shape;576;g33171439fd8_0_16"/>
                <p:cNvSpPr txBox="1"/>
                <p:nvPr/>
              </p:nvSpPr>
              <p:spPr>
                <a:xfrm>
                  <a:off x="9462180" y="5664316"/>
                  <a:ext cx="1830124" cy="4688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・설계 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・개발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-US" sz="600" u="none" cap="none" strike="noStrike">
                      <a:solidFill>
                        <a:srgbClr val="595959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・테스트</a:t>
                  </a:r>
                  <a:endParaRPr b="0" i="0" sz="600" u="none" cap="none" strike="noStrike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77" name="Google Shape;577;g33171439fd8_0_16" title="callout lines"/>
                <p:cNvCxnSpPr/>
                <p:nvPr/>
              </p:nvCxnSpPr>
              <p:spPr>
                <a:xfrm>
                  <a:off x="9463797" y="5464133"/>
                  <a:ext cx="0" cy="66649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D8D8D8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78" name="Google Shape;578;g33171439fd8_0_16"/>
                <p:cNvSpPr/>
                <p:nvPr/>
              </p:nvSpPr>
              <p:spPr>
                <a:xfrm>
                  <a:off x="8358745" y="4164791"/>
                  <a:ext cx="374012" cy="203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25"/>
                    <a:buFont typeface="Arial"/>
                    <a:buNone/>
                  </a:pPr>
                  <a:r>
                    <a:rPr b="0" i="0" lang="en-US" sz="5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O/M</a:t>
                  </a:r>
                  <a:endParaRPr b="0" i="0" sz="5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79" name="Google Shape;579;g33171439fd8_0_16"/>
                <p:cNvSpPr/>
                <p:nvPr/>
              </p:nvSpPr>
              <p:spPr>
                <a:xfrm>
                  <a:off x="9684813" y="4164288"/>
                  <a:ext cx="574314" cy="203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25"/>
                    <a:buFont typeface="Arial"/>
                    <a:buNone/>
                  </a:pPr>
                  <a:r>
                    <a:rPr b="0" i="0" lang="en-US" sz="5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New Dev</a:t>
                  </a:r>
                  <a:endParaRPr b="0" i="0" sz="5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0" name="Google Shape;580;g33171439fd8_0_16"/>
                <p:cNvSpPr/>
                <p:nvPr/>
              </p:nvSpPr>
              <p:spPr>
                <a:xfrm rot="5400000">
                  <a:off x="8281799" y="3138056"/>
                  <a:ext cx="1138565" cy="341975"/>
                </a:xfrm>
                <a:prstGeom prst="leftRightArrow">
                  <a:avLst>
                    <a:gd fmla="val 50000" name="adj1"/>
                    <a:gd fmla="val 46871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1" name="Google Shape;581;g33171439fd8_0_16"/>
                <p:cNvSpPr/>
                <p:nvPr/>
              </p:nvSpPr>
              <p:spPr>
                <a:xfrm>
                  <a:off x="9720507" y="1985381"/>
                  <a:ext cx="1085400" cy="541442"/>
                </a:xfrm>
                <a:prstGeom prst="rect">
                  <a:avLst/>
                </a:prstGeom>
                <a:solidFill>
                  <a:srgbClr val="3C72BA"/>
                </a:solidFill>
                <a:ln>
                  <a:noFill/>
                </a:ln>
                <a:effectLst>
                  <a:outerShdw blurRad="76200" rotWithShape="0" algn="tl" dir="2700000" dist="254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품질보장 부서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2" name="Google Shape;582;g33171439fd8_0_16"/>
                <p:cNvSpPr/>
                <p:nvPr/>
              </p:nvSpPr>
              <p:spPr>
                <a:xfrm>
                  <a:off x="10834411" y="1985380"/>
                  <a:ext cx="1085400" cy="541441"/>
                </a:xfrm>
                <a:prstGeom prst="rect">
                  <a:avLst/>
                </a:prstGeom>
                <a:solidFill>
                  <a:srgbClr val="3C72BA"/>
                </a:solidFill>
                <a:ln>
                  <a:noFill/>
                </a:ln>
                <a:effectLst>
                  <a:outerShdw blurRad="76200" rotWithShape="0" algn="tl" dir="2700000" dist="254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언어지원 부서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3" name="Google Shape;583;g33171439fd8_0_16"/>
                <p:cNvSpPr/>
                <p:nvPr/>
              </p:nvSpPr>
              <p:spPr>
                <a:xfrm>
                  <a:off x="9720507" y="2623037"/>
                  <a:ext cx="1085400" cy="541442"/>
                </a:xfrm>
                <a:prstGeom prst="rect">
                  <a:avLst/>
                </a:prstGeom>
                <a:solidFill>
                  <a:srgbClr val="3C72BA"/>
                </a:solidFill>
                <a:ln>
                  <a:noFill/>
                </a:ln>
                <a:effectLst>
                  <a:outerShdw blurRad="76200" rotWithShape="0" algn="tl" dir="2700000" dist="254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ISMS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4" name="Google Shape;584;g33171439fd8_0_16"/>
                <p:cNvSpPr/>
                <p:nvPr/>
              </p:nvSpPr>
              <p:spPr>
                <a:xfrm>
                  <a:off x="10834411" y="2622216"/>
                  <a:ext cx="1085400" cy="541442"/>
                </a:xfrm>
                <a:prstGeom prst="rect">
                  <a:avLst/>
                </a:prstGeom>
                <a:solidFill>
                  <a:srgbClr val="3C72BA"/>
                </a:solidFill>
                <a:ln>
                  <a:noFill/>
                </a:ln>
                <a:effectLst>
                  <a:outerShdw blurRad="76200" rotWithShape="0" algn="tl" dir="2700000" dist="254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마케팅 부서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85" name="Google Shape;585;g33171439fd8_0_16"/>
                <p:cNvSpPr/>
                <p:nvPr/>
              </p:nvSpPr>
              <p:spPr>
                <a:xfrm>
                  <a:off x="9720507" y="3260693"/>
                  <a:ext cx="1085400" cy="541442"/>
                </a:xfrm>
                <a:prstGeom prst="rect">
                  <a:avLst/>
                </a:prstGeom>
                <a:solidFill>
                  <a:srgbClr val="3C72BA"/>
                </a:solidFill>
                <a:ln>
                  <a:noFill/>
                </a:ln>
                <a:effectLst>
                  <a:outerShdw blurRad="76200" rotWithShape="0" algn="tl" dir="2700000" dist="254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IT 지원 부서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grpSp>
              <p:nvGrpSpPr>
                <p:cNvPr id="586" name="Google Shape;586;g33171439fd8_0_16"/>
                <p:cNvGrpSpPr/>
                <p:nvPr/>
              </p:nvGrpSpPr>
              <p:grpSpPr>
                <a:xfrm>
                  <a:off x="1173726" y="4266190"/>
                  <a:ext cx="1130171" cy="913197"/>
                  <a:chOff x="1236560" y="3180875"/>
                  <a:chExt cx="1130171" cy="913197"/>
                </a:xfrm>
              </p:grpSpPr>
              <p:pic>
                <p:nvPicPr>
                  <p:cNvPr descr="事務員" id="587" name="Google Shape;587;g33171439fd8_0_16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1579885" y="3180875"/>
                    <a:ext cx="492022" cy="49202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8" name="Google Shape;588;g33171439fd8_0_16" title="Milestone Graphic"/>
                  <p:cNvSpPr/>
                  <p:nvPr/>
                </p:nvSpPr>
                <p:spPr>
                  <a:xfrm>
                    <a:off x="1236560" y="3715078"/>
                    <a:ext cx="1130171" cy="37899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34275" lIns="68550" spcFirstLastPara="1" rIns="68550" wrap="square" tIns="3427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25"/>
                      <a:buFont typeface="Arial"/>
                      <a:buNone/>
                    </a:pPr>
                    <a:r>
                      <a:rPr b="0" i="0" lang="en-US" sz="825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고객사 팀</a:t>
                    </a:r>
                    <a:endParaRPr b="0" i="0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sp>
              <p:nvSpPr>
                <p:cNvPr id="589" name="Google Shape;589;g33171439fd8_0_16"/>
                <p:cNvSpPr/>
                <p:nvPr/>
              </p:nvSpPr>
              <p:spPr>
                <a:xfrm>
                  <a:off x="986377" y="1321705"/>
                  <a:ext cx="3844502" cy="4508365"/>
                </a:xfrm>
                <a:prstGeom prst="rect">
                  <a:avLst/>
                </a:prstGeom>
                <a:noFill/>
                <a:ln cap="flat" cmpd="sng" w="25400">
                  <a:solidFill>
                    <a:srgbClr val="1C305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0" name="Google Shape;590;g33171439fd8_0_16"/>
                <p:cNvSpPr/>
                <p:nvPr/>
              </p:nvSpPr>
              <p:spPr>
                <a:xfrm rot="5400000">
                  <a:off x="1188295" y="3159471"/>
                  <a:ext cx="1143216" cy="341975"/>
                </a:xfrm>
                <a:prstGeom prst="leftRightArrow">
                  <a:avLst>
                    <a:gd fmla="val 50000" name="adj1"/>
                    <a:gd fmla="val 46871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1" name="Google Shape;591;g33171439fd8_0_16"/>
                <p:cNvSpPr/>
                <p:nvPr/>
              </p:nvSpPr>
              <p:spPr>
                <a:xfrm>
                  <a:off x="4884249" y="1325950"/>
                  <a:ext cx="1683027" cy="2153218"/>
                </a:xfrm>
                <a:prstGeom prst="rect">
                  <a:avLst/>
                </a:prstGeom>
                <a:noFill/>
                <a:ln cap="flat" cmpd="sng" w="25400">
                  <a:solidFill>
                    <a:srgbClr val="1C305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2" name="Google Shape;592;g33171439fd8_0_16"/>
                <p:cNvSpPr/>
                <p:nvPr/>
              </p:nvSpPr>
              <p:spPr>
                <a:xfrm>
                  <a:off x="6872283" y="895333"/>
                  <a:ext cx="5229433" cy="5451596"/>
                </a:xfrm>
                <a:prstGeom prst="rect">
                  <a:avLst/>
                </a:prstGeom>
                <a:noFill/>
                <a:ln cap="flat" cmpd="sng" w="25400">
                  <a:solidFill>
                    <a:srgbClr val="1C305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grpSp>
              <p:nvGrpSpPr>
                <p:cNvPr id="593" name="Google Shape;593;g33171439fd8_0_16"/>
                <p:cNvGrpSpPr/>
                <p:nvPr/>
              </p:nvGrpSpPr>
              <p:grpSpPr>
                <a:xfrm>
                  <a:off x="6902330" y="4284660"/>
                  <a:ext cx="1229030" cy="894441"/>
                  <a:chOff x="1203102" y="4300388"/>
                  <a:chExt cx="1229030" cy="894441"/>
                </a:xfrm>
              </p:grpSpPr>
              <p:pic>
                <p:nvPicPr>
                  <p:cNvPr descr="事務員" id="594" name="Google Shape;594;g33171439fd8_0_16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1579885" y="4300388"/>
                    <a:ext cx="492022" cy="49202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95" name="Google Shape;595;g33171439fd8_0_16" title="Milestone Graphic"/>
                  <p:cNvSpPr/>
                  <p:nvPr/>
                </p:nvSpPr>
                <p:spPr>
                  <a:xfrm>
                    <a:off x="1203102" y="4876166"/>
                    <a:ext cx="1229030" cy="3186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2F5496"/>
                  </a:solidFill>
                  <a:ln>
                    <a:noFill/>
                  </a:ln>
                </p:spPr>
                <p:txBody>
                  <a:bodyPr anchorCtr="0" anchor="ctr" bIns="34275" lIns="68550" spcFirstLastPara="1" rIns="68550" wrap="square" tIns="3427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25"/>
                      <a:buFont typeface="Arial"/>
                      <a:buNone/>
                    </a:pPr>
                    <a:r>
                      <a:rPr b="0" i="0" lang="en-US" sz="825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PM</a:t>
                    </a:r>
                    <a:endParaRPr b="0" i="0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sp>
              <p:nvSpPr>
                <p:cNvPr id="596" name="Google Shape;596;g33171439fd8_0_16"/>
                <p:cNvSpPr/>
                <p:nvPr/>
              </p:nvSpPr>
              <p:spPr>
                <a:xfrm>
                  <a:off x="9522015" y="1390120"/>
                  <a:ext cx="2505164" cy="2603817"/>
                </a:xfrm>
                <a:prstGeom prst="rect">
                  <a:avLst/>
                </a:prstGeom>
                <a:noFill/>
                <a:ln cap="flat" cmpd="sng" w="25400">
                  <a:solidFill>
                    <a:srgbClr val="1C305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7" name="Google Shape;597;g33171439fd8_0_16"/>
                <p:cNvSpPr/>
                <p:nvPr/>
              </p:nvSpPr>
              <p:spPr>
                <a:xfrm>
                  <a:off x="872579" y="889810"/>
                  <a:ext cx="5837156" cy="5457119"/>
                </a:xfrm>
                <a:prstGeom prst="rect">
                  <a:avLst/>
                </a:prstGeom>
                <a:noFill/>
                <a:ln cap="flat" cmpd="sng" w="25400">
                  <a:solidFill>
                    <a:srgbClr val="1C305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ㅇㄹㄹㅇ</a:t>
                  </a:r>
                  <a:endParaRPr b="0" i="0" sz="105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8" name="Google Shape;598;g33171439fd8_0_16"/>
                <p:cNvSpPr/>
                <p:nvPr/>
              </p:nvSpPr>
              <p:spPr>
                <a:xfrm>
                  <a:off x="6265946" y="2384862"/>
                  <a:ext cx="2064295" cy="341975"/>
                </a:xfrm>
                <a:prstGeom prst="leftRightArrow">
                  <a:avLst>
                    <a:gd fmla="val 50000" name="adj1"/>
                    <a:gd fmla="val 68597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99" name="Google Shape;599;g33171439fd8_0_16"/>
                <p:cNvSpPr/>
                <p:nvPr/>
              </p:nvSpPr>
              <p:spPr>
                <a:xfrm>
                  <a:off x="9519489" y="1395954"/>
                  <a:ext cx="1025625" cy="365796"/>
                </a:xfrm>
                <a:prstGeom prst="snip2DiagRect">
                  <a:avLst>
                    <a:gd fmla="val 0" name="adj1"/>
                    <a:gd fmla="val 16667" name="adj2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지원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00" name="Google Shape;600;g33171439fd8_0_16"/>
                <p:cNvSpPr/>
                <p:nvPr/>
              </p:nvSpPr>
              <p:spPr>
                <a:xfrm>
                  <a:off x="983628" y="1321705"/>
                  <a:ext cx="911750" cy="365796"/>
                </a:xfrm>
                <a:prstGeom prst="snip2DiagRect">
                  <a:avLst>
                    <a:gd fmla="val 0" name="adj1"/>
                    <a:gd fmla="val 16667" name="adj2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고객사</a:t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grpSp>
              <p:nvGrpSpPr>
                <p:cNvPr id="601" name="Google Shape;601;g33171439fd8_0_16"/>
                <p:cNvGrpSpPr/>
                <p:nvPr/>
              </p:nvGrpSpPr>
              <p:grpSpPr>
                <a:xfrm>
                  <a:off x="2317342" y="3370062"/>
                  <a:ext cx="5811595" cy="866918"/>
                  <a:chOff x="2317342" y="3485776"/>
                  <a:chExt cx="5811595" cy="866918"/>
                </a:xfrm>
              </p:grpSpPr>
              <p:grpSp>
                <p:nvGrpSpPr>
                  <p:cNvPr id="602" name="Google Shape;602;g33171439fd8_0_16"/>
                  <p:cNvGrpSpPr/>
                  <p:nvPr/>
                </p:nvGrpSpPr>
                <p:grpSpPr>
                  <a:xfrm>
                    <a:off x="2317342" y="3494092"/>
                    <a:ext cx="5802889" cy="849431"/>
                    <a:chOff x="1561877" y="1189267"/>
                    <a:chExt cx="7532190" cy="909338"/>
                  </a:xfrm>
                </p:grpSpPr>
                <p:sp>
                  <p:nvSpPr>
                    <p:cNvPr id="603" name="Google Shape;603;g33171439fd8_0_16"/>
                    <p:cNvSpPr/>
                    <p:nvPr/>
                  </p:nvSpPr>
                  <p:spPr>
                    <a:xfrm>
                      <a:off x="1561877" y="1189267"/>
                      <a:ext cx="7532190" cy="909338"/>
                    </a:xfrm>
                    <a:prstGeom prst="rect">
                      <a:avLst/>
                    </a:prstGeom>
                    <a:solidFill>
                      <a:srgbClr val="D8E2F3"/>
                    </a:solidFill>
                    <a:ln cap="flat" cmpd="sng" w="9525">
                      <a:solidFill>
                        <a:srgbClr val="B3C6E7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t" bIns="34275" lIns="68550" spcFirstLastPara="1" rIns="68550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p:txBody>
                </p:sp>
                <p:sp>
                  <p:nvSpPr>
                    <p:cNvPr id="604" name="Google Shape;604;g33171439fd8_0_16"/>
                    <p:cNvSpPr txBox="1"/>
                    <p:nvPr/>
                  </p:nvSpPr>
                  <p:spPr>
                    <a:xfrm>
                      <a:off x="1668600" y="1262950"/>
                      <a:ext cx="7216238" cy="707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50" spcFirstLastPara="1" rIns="68550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4472C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· VTI는 고객사로부터 명확한 개발 범위 및 비즈니스 요구사항을 받습니다.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4472C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· VTI는 요구사항을 분석하고 품질 기준에 맞는 산출물을 제공합니다.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75"/>
                        <a:buFont typeface="Arial"/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4472C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· 개발하는 동안 보고서 및 회의를 통해 개발 현황을 지속적으로 보고합니다.</a:t>
                      </a:r>
                      <a:endParaRPr b="0" i="0" sz="675" u="none" cap="none" strike="noStrike">
                        <a:solidFill>
                          <a:srgbClr val="4472C4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p:txBody>
                </p:sp>
              </p:grpSp>
              <p:sp>
                <p:nvSpPr>
                  <p:cNvPr id="605" name="Google Shape;605;g33171439fd8_0_16"/>
                  <p:cNvSpPr/>
                  <p:nvPr/>
                </p:nvSpPr>
                <p:spPr>
                  <a:xfrm>
                    <a:off x="2319477" y="3485776"/>
                    <a:ext cx="270436" cy="236984"/>
                  </a:xfrm>
                  <a:custGeom>
                    <a:rect b="b" l="l" r="r" t="t"/>
                    <a:pathLst>
                      <a:path extrusionOk="0" h="1446" w="1446">
                        <a:moveTo>
                          <a:pt x="0" y="0"/>
                        </a:moveTo>
                        <a:lnTo>
                          <a:pt x="1446" y="0"/>
                        </a:lnTo>
                        <a:lnTo>
                          <a:pt x="1446" y="458"/>
                        </a:lnTo>
                        <a:lnTo>
                          <a:pt x="438" y="458"/>
                        </a:lnTo>
                        <a:lnTo>
                          <a:pt x="438" y="1446"/>
                        </a:lnTo>
                        <a:lnTo>
                          <a:pt x="0" y="144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235392"/>
                  </a:solidFill>
                  <a:ln>
                    <a:noFill/>
                  </a:ln>
                </p:spPr>
                <p:txBody>
                  <a:bodyPr anchorCtr="0" anchor="t" bIns="34275" lIns="68550" spcFirstLastPara="1" rIns="68550" wrap="square" tIns="342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t/>
                    </a:r>
                    <a:endParaRPr b="0" i="0" sz="1050" u="none" cap="none" strike="noStrike">
                      <a:solidFill>
                        <a:srgbClr val="000000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sp>
                <p:nvSpPr>
                  <p:cNvPr id="606" name="Google Shape;606;g33171439fd8_0_16"/>
                  <p:cNvSpPr/>
                  <p:nvPr/>
                </p:nvSpPr>
                <p:spPr>
                  <a:xfrm rot="10800000">
                    <a:off x="7879210" y="4103067"/>
                    <a:ext cx="249727" cy="249627"/>
                  </a:xfrm>
                  <a:custGeom>
                    <a:rect b="b" l="l" r="r" t="t"/>
                    <a:pathLst>
                      <a:path extrusionOk="0" h="1446" w="1446">
                        <a:moveTo>
                          <a:pt x="0" y="0"/>
                        </a:moveTo>
                        <a:lnTo>
                          <a:pt x="1446" y="0"/>
                        </a:lnTo>
                        <a:lnTo>
                          <a:pt x="1446" y="458"/>
                        </a:lnTo>
                        <a:lnTo>
                          <a:pt x="438" y="458"/>
                        </a:lnTo>
                        <a:lnTo>
                          <a:pt x="438" y="1446"/>
                        </a:lnTo>
                        <a:lnTo>
                          <a:pt x="0" y="144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2060"/>
                  </a:solidFill>
                  <a:ln>
                    <a:noFill/>
                  </a:ln>
                </p:spPr>
                <p:txBody>
                  <a:bodyPr anchorCtr="0" anchor="t" bIns="34275" lIns="68550" spcFirstLastPara="1" rIns="68550" wrap="square" tIns="342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t/>
                    </a:r>
                    <a:endParaRPr b="0" i="0" sz="1050" u="none" cap="none" strike="noStrike">
                      <a:solidFill>
                        <a:srgbClr val="000000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pic>
              <p:nvPicPr>
                <p:cNvPr descr="ユーザー" id="607" name="Google Shape;607;g33171439fd8_0_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0396803" y="5460496"/>
                  <a:ext cx="492022" cy="49202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8" name="Google Shape;608;g33171439fd8_0_16"/>
                <p:cNvSpPr/>
                <p:nvPr/>
              </p:nvSpPr>
              <p:spPr>
                <a:xfrm>
                  <a:off x="7221450" y="5782209"/>
                  <a:ext cx="717389" cy="3438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1" i="0" lang="en-US" sz="6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Developer</a:t>
                  </a:r>
                  <a:endParaRPr b="1" i="0" sz="6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09" name="Google Shape;609;g33171439fd8_0_16" title="Milestone Graphic"/>
                <p:cNvSpPr/>
                <p:nvPr/>
              </p:nvSpPr>
              <p:spPr>
                <a:xfrm>
                  <a:off x="10223058" y="5902680"/>
                  <a:ext cx="836694" cy="23924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00"/>
                    <a:buFont typeface="Arial"/>
                    <a:buNone/>
                  </a:pPr>
                  <a:r>
                    <a:rPr b="1" i="0" lang="en-US" sz="7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BA/기획자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10" name="Google Shape;610;g33171439fd8_0_16"/>
                <p:cNvSpPr/>
                <p:nvPr/>
              </p:nvSpPr>
              <p:spPr>
                <a:xfrm>
                  <a:off x="2318476" y="4758212"/>
                  <a:ext cx="4602851" cy="365448"/>
                </a:xfrm>
                <a:prstGeom prst="leftRightArrow">
                  <a:avLst>
                    <a:gd fmla="val 50000" name="adj1"/>
                    <a:gd fmla="val 68597" name="adj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t/>
                  </a:r>
                  <a:endParaRPr b="0" i="0" sz="825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pic>
              <p:nvPicPr>
                <p:cNvPr descr="ユーザー" id="611" name="Google Shape;611;g33171439fd8_0_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1340460" y="5459949"/>
                  <a:ext cx="492022" cy="49202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12" name="Google Shape;612;g33171439fd8_0_16" title="Milestone Graphic"/>
                <p:cNvSpPr/>
                <p:nvPr/>
              </p:nvSpPr>
              <p:spPr>
                <a:xfrm>
                  <a:off x="11166715" y="5902133"/>
                  <a:ext cx="836694" cy="23924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3C72BA"/>
                </a:solidFill>
                <a:ln>
                  <a:noFill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00"/>
                    <a:buFont typeface="Arial"/>
                    <a:buNone/>
                  </a:pPr>
                  <a:r>
                    <a:rPr b="1" i="0" lang="en-US" sz="700" u="none" cap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테스터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13" name="Google Shape;613;g33171439fd8_0_16"/>
                <p:cNvSpPr txBox="1"/>
                <p:nvPr/>
              </p:nvSpPr>
              <p:spPr>
                <a:xfrm>
                  <a:off x="6129239" y="2211102"/>
                  <a:ext cx="2676451" cy="68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50" spcFirstLastPara="1" rIns="68550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000000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주간 미팅</a:t>
                  </a:r>
                  <a:endParaRPr b="0" i="0" sz="12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-US" sz="825" u="none" cap="none" strike="noStrike">
                      <a:solidFill>
                        <a:srgbClr val="000000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(진행 현황, 이슈)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sp>
            <p:nvSpPr>
              <p:cNvPr id="614" name="Google Shape;614;g33171439fd8_0_16"/>
              <p:cNvSpPr txBox="1"/>
              <p:nvPr/>
            </p:nvSpPr>
            <p:spPr>
              <a:xfrm>
                <a:off x="3972903" y="4606887"/>
                <a:ext cx="3294861" cy="6095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50" spcFirstLastPara="1" rIns="68550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-US" sz="825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요구사항 및 이슈 전달</a:t>
                </a:r>
                <a:endParaRPr b="0" i="0" sz="825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t/>
                </a:r>
                <a:endParaRPr b="0" i="0" sz="825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-US" sz="825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보고</a:t>
                </a:r>
                <a:endParaRPr b="0" i="0" sz="825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pic>
          <p:nvPicPr>
            <p:cNvPr descr="事務員" id="615" name="Google Shape;615;g33171439fd8_0_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57407" y="2587600"/>
              <a:ext cx="477604" cy="4937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g33171439fd8_0_16" title="Milestone Graphic"/>
            <p:cNvSpPr/>
            <p:nvPr/>
          </p:nvSpPr>
          <p:spPr>
            <a:xfrm>
              <a:off x="4943804" y="3070271"/>
              <a:ext cx="1064052" cy="368956"/>
            </a:xfrm>
            <a:prstGeom prst="roundRect">
              <a:avLst>
                <a:gd fmla="val 50000" name="adj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-US" sz="825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한국인 PMO</a:t>
              </a:r>
              <a:endParaRPr b="0" i="0" sz="82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617" name="Google Shape;617;g33171439fd8_0_16"/>
          <p:cNvSpPr txBox="1"/>
          <p:nvPr/>
        </p:nvSpPr>
        <p:spPr>
          <a:xfrm>
            <a:off x="7333012" y="4835856"/>
            <a:ext cx="1810987" cy="187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grpSp>
        <p:nvGrpSpPr>
          <p:cNvPr id="618" name="Google Shape;618;g33171439fd8_0_16"/>
          <p:cNvGrpSpPr/>
          <p:nvPr/>
        </p:nvGrpSpPr>
        <p:grpSpPr>
          <a:xfrm>
            <a:off x="86254" y="4721550"/>
            <a:ext cx="421745" cy="388235"/>
            <a:chOff x="643120" y="4696974"/>
            <a:chExt cx="287030" cy="388235"/>
          </a:xfrm>
        </p:grpSpPr>
        <p:cxnSp>
          <p:nvCxnSpPr>
            <p:cNvPr id="619" name="Google Shape;619;g33171439fd8_0_16"/>
            <p:cNvCxnSpPr/>
            <p:nvPr/>
          </p:nvCxnSpPr>
          <p:spPr>
            <a:xfrm>
              <a:off x="930150" y="4823834"/>
              <a:ext cx="0" cy="134516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0" name="Google Shape;620;g33171439fd8_0_16"/>
            <p:cNvSpPr txBox="1"/>
            <p:nvPr/>
          </p:nvSpPr>
          <p:spPr>
            <a:xfrm>
              <a:off x="643120" y="4696974"/>
              <a:ext cx="287030" cy="388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fld id="{00000000-1234-1234-1234-123412341234}" type="slidenum">
                <a:rPr b="0" i="0" lang="en-US" sz="1000" u="none" cap="none" strike="noStrike">
                  <a:solidFill>
                    <a:srgbClr val="66666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‹#›</a:t>
              </a:fld>
              <a:endParaRPr b="0" i="0" sz="10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pic>
        <p:nvPicPr>
          <p:cNvPr id="621" name="Google Shape;621;g33171439fd8_0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9010" y="139525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3171439fd8_0_16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1. 조직도</a:t>
            </a:r>
            <a:endParaRPr b="1" i="0" sz="12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3" name="Google Shape;623;g33171439fd8_0_16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9" name="Google Shape;629;p25"/>
          <p:cNvCxnSpPr/>
          <p:nvPr/>
        </p:nvCxnSpPr>
        <p:spPr>
          <a:xfrm>
            <a:off x="486300" y="159875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25"/>
          <p:cNvSpPr txBox="1"/>
          <p:nvPr/>
        </p:nvSpPr>
        <p:spPr>
          <a:xfrm>
            <a:off x="486300" y="60000"/>
            <a:ext cx="309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2. 커뮤니케이션 (회의 및 보고)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631" name="Google Shape;631;p25"/>
          <p:cNvGraphicFramePr/>
          <p:nvPr/>
        </p:nvGraphicFramePr>
        <p:xfrm>
          <a:off x="391150" y="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{4B58C177-44F4-4C19-8C72-F5CEEBA55E42}</a:tableStyleId>
              </a:tblPr>
              <a:tblGrid>
                <a:gridCol w="242025"/>
                <a:gridCol w="1164725"/>
                <a:gridCol w="1259625"/>
                <a:gridCol w="1288250"/>
                <a:gridCol w="2623500"/>
                <a:gridCol w="1783575"/>
              </a:tblGrid>
              <a:tr h="34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#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유형​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방법 및 도구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시간​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세부 사항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참석자 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</a:tr>
              <a:tr h="58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1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킥오프 미팅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 정보 및 이해관계자별 소개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프로세스 및 프로젝트 계획에 대한 계약임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SKT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VTI 팀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일일 회의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진행상황 보고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작업 알림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이슈 </a:t>
                      </a: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보고 및 상담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VTI 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주간회의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1주간 진행 상황, 문제 및 리스크 보고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VTI 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 보고서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1주간 진행 상황, 문제 및 리스크 보고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SKT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VTI 팀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데모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미정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각 마일스톤에 따라 진행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각 마일스톤의 산출물 시연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VTI 팀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32" name="Google Shape;6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0" y="47003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3" name="Google Shape;633;p25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25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5" name="Google Shape;635;p25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1" name="Google Shape;641;p26"/>
          <p:cNvCxnSpPr/>
          <p:nvPr/>
        </p:nvCxnSpPr>
        <p:spPr>
          <a:xfrm>
            <a:off x="486300" y="159875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26"/>
          <p:cNvSpPr txBox="1"/>
          <p:nvPr/>
        </p:nvSpPr>
        <p:spPr>
          <a:xfrm>
            <a:off x="486300" y="60000"/>
            <a:ext cx="309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3. 품질 관리 프로세스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643" name="Google Shape;643;p26"/>
          <p:cNvGrpSpPr/>
          <p:nvPr/>
        </p:nvGrpSpPr>
        <p:grpSpPr>
          <a:xfrm>
            <a:off x="419522" y="1309635"/>
            <a:ext cx="8103899" cy="3029884"/>
            <a:chOff x="529375" y="1120507"/>
            <a:chExt cx="9662165" cy="2308483"/>
          </a:xfrm>
        </p:grpSpPr>
        <p:sp>
          <p:nvSpPr>
            <p:cNvPr id="644" name="Google Shape;644;p26"/>
            <p:cNvSpPr/>
            <p:nvPr/>
          </p:nvSpPr>
          <p:spPr>
            <a:xfrm>
              <a:off x="1238640" y="1543050"/>
              <a:ext cx="1537800" cy="2013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 계획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3136482" y="1543050"/>
              <a:ext cx="1427400" cy="2025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SRS 및 설계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1238640" y="2897981"/>
              <a:ext cx="1714200" cy="2025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검토 참여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3172123" y="2897981"/>
              <a:ext cx="7017600" cy="2073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개선요구 및 평가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8616170" y="2636044"/>
              <a:ext cx="1554900" cy="2001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최종 검사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1238640" y="2638425"/>
              <a:ext cx="1619700" cy="2025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품질보증 계획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0" name="Google Shape;650;p26"/>
            <p:cNvSpPr/>
            <p:nvPr/>
          </p:nvSpPr>
          <p:spPr>
            <a:xfrm rot="-5400000">
              <a:off x="295098" y="1777351"/>
              <a:ext cx="990600" cy="52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</a:t>
              </a:r>
              <a:endParaRPr b="1" i="0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529398" y="2591990"/>
              <a:ext cx="520200" cy="837000"/>
            </a:xfrm>
            <a:prstGeom prst="rect">
              <a:avLst/>
            </a:prstGeom>
            <a:gradFill>
              <a:gsLst>
                <a:gs pos="0">
                  <a:srgbClr val="4F127F">
                    <a:alpha val="85882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134" scaled="0"/>
            </a:gradFill>
            <a:ln>
              <a:noFill/>
            </a:ln>
          </p:spPr>
          <p:txBody>
            <a:bodyPr anchorCtr="0" anchor="ctr" bIns="68550" lIns="68550" spcFirstLastPara="1" rIns="68550" wrap="square" tIns="68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2" name="Google Shape;652;p26"/>
            <p:cNvSpPr txBox="1"/>
            <p:nvPr/>
          </p:nvSpPr>
          <p:spPr>
            <a:xfrm rot="-5400000">
              <a:off x="370975" y="2750385"/>
              <a:ext cx="837000" cy="520200"/>
            </a:xfrm>
            <a:prstGeom prst="rect">
              <a:avLst/>
            </a:prstGeom>
            <a:solidFill>
              <a:srgbClr val="2F5496"/>
            </a:solidFill>
            <a:ln cap="flat" cmpd="sng" w="952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품질보증</a:t>
              </a:r>
              <a:endParaRPr b="1" i="0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1238640" y="1796653"/>
              <a:ext cx="1537800" cy="2049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계약서 검토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3182814" y="2096711"/>
              <a:ext cx="6988500" cy="2226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결함 분석 및 지속적인 개선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4701293" y="1533259"/>
              <a:ext cx="1683900" cy="2121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개발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3182814" y="2638425"/>
              <a:ext cx="5308500" cy="2025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작업 결과물 검토 및 결함 관리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1238640" y="3167063"/>
              <a:ext cx="8952900" cy="2619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프로세스 확인, 프로젝트 관리 보장 및 품질개선 지원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6522508" y="1528033"/>
              <a:ext cx="1570800" cy="2229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테스트 사양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3182813" y="1796652"/>
              <a:ext cx="6988500" cy="2673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작업 결과물 검토 및 결함 관리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3023326" y="1128358"/>
              <a:ext cx="1867500" cy="344100"/>
            </a:xfrm>
            <a:prstGeom prst="chevron">
              <a:avLst>
                <a:gd fmla="val 55891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6080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분석 및 설계</a:t>
              </a:r>
              <a:endParaRPr b="1" i="0" sz="1400" u="none" cap="none" strike="noStrike">
                <a:solidFill>
                  <a:srgbClr val="06080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4701293" y="1128358"/>
              <a:ext cx="1821300" cy="344100"/>
            </a:xfrm>
            <a:prstGeom prst="chevron">
              <a:avLst>
                <a:gd fmla="val 55891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6080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개발</a:t>
              </a:r>
              <a:endParaRPr b="1" i="0" sz="1400" u="none" cap="none" strike="noStrike">
                <a:solidFill>
                  <a:srgbClr val="06080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6352998" y="1128358"/>
              <a:ext cx="1897800" cy="344100"/>
            </a:xfrm>
            <a:prstGeom prst="chevron">
              <a:avLst>
                <a:gd fmla="val 55891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6080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테스트</a:t>
              </a:r>
              <a:endParaRPr b="1" i="0" sz="1400" u="none" cap="none" strike="noStrike">
                <a:solidFill>
                  <a:srgbClr val="06080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8073027" y="1128358"/>
              <a:ext cx="2077800" cy="344100"/>
            </a:xfrm>
            <a:prstGeom prst="chevron">
              <a:avLst>
                <a:gd fmla="val 55891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6080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딜리버리 및 배포</a:t>
              </a:r>
              <a:endParaRPr b="1" i="0" sz="1400" u="none" cap="none" strike="noStrike">
                <a:solidFill>
                  <a:srgbClr val="06080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1238639" y="1120507"/>
              <a:ext cx="1944300" cy="349500"/>
            </a:xfrm>
            <a:prstGeom prst="homePlate">
              <a:avLst>
                <a:gd fmla="val 5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6080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</a:t>
              </a:r>
              <a:endParaRPr b="1" i="0" sz="1400" u="none" cap="none" strike="noStrike">
                <a:solidFill>
                  <a:srgbClr val="06080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5" name="Google Shape;665;p26"/>
            <p:cNvSpPr/>
            <p:nvPr/>
          </p:nvSpPr>
          <p:spPr>
            <a:xfrm>
              <a:off x="8247498" y="1528032"/>
              <a:ext cx="1923600" cy="222900"/>
            </a:xfrm>
            <a:prstGeom prst="roundRect">
              <a:avLst>
                <a:gd fmla="val 12486" name="adj"/>
              </a:avLst>
            </a:prstGeom>
            <a:solidFill>
              <a:srgbClr val="F7CAAC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구성 매뉴얼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3182814" y="2356041"/>
              <a:ext cx="6988500" cy="222600"/>
            </a:xfrm>
            <a:prstGeom prst="roundRect">
              <a:avLst>
                <a:gd fmla="val 12486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품질 개선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667" name="Google Shape;667;p26"/>
          <p:cNvSpPr txBox="1"/>
          <p:nvPr/>
        </p:nvSpPr>
        <p:spPr>
          <a:xfrm>
            <a:off x="419550" y="684980"/>
            <a:ext cx="822015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14297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리뷰 및 테스트와 같은 프로젝트 팀의 품질 보증 활동 외에도 VTI는 품질을 보장하기 위해 프로젝트와 독립적인 품질 보증팀을 지원합니다.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68" name="Google Shape;6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0" y="47003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9" name="Google Shape;669;p26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0" name="Google Shape;670;p26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5125" y="0"/>
            <a:ext cx="835799" cy="5366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84"/>
          <p:cNvCxnSpPr/>
          <p:nvPr/>
        </p:nvCxnSpPr>
        <p:spPr>
          <a:xfrm>
            <a:off x="486300" y="159875"/>
            <a:ext cx="0" cy="1719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84"/>
          <p:cNvSpPr txBox="1"/>
          <p:nvPr/>
        </p:nvSpPr>
        <p:spPr>
          <a:xfrm>
            <a:off x="486300" y="60000"/>
            <a:ext cx="309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4. 보안 관리</a:t>
            </a:r>
            <a:endParaRPr b="1" i="0" sz="1100" u="none" cap="none" strike="noStrike">
              <a:solidFill>
                <a:srgbClr val="3D3D3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79" name="Google Shape;679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690" y="1122416"/>
            <a:ext cx="3541978" cy="3178896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84"/>
          <p:cNvSpPr txBox="1"/>
          <p:nvPr/>
        </p:nvSpPr>
        <p:spPr>
          <a:xfrm>
            <a:off x="655193" y="723188"/>
            <a:ext cx="8189775" cy="349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아래와 같이 회사와 프로젝트 차원에서 보안을 관리하고 있습니다.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1" name="Google Shape;681;p84"/>
          <p:cNvSpPr txBox="1"/>
          <p:nvPr/>
        </p:nvSpPr>
        <p:spPr>
          <a:xfrm>
            <a:off x="3995299" y="1122417"/>
            <a:ext cx="50457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10477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회사 수준: IT 부서에서 관리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보증을 안내하는 적절한 정책과 절차 보유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무결성과 보안을 보장하기 위한 계층과 기술적 조치가 있음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1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물리적 보안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1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보안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1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보안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1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백업 보안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2. 프로젝트 수준: PM/CM이 관리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문서접근통제 : 역할별 분산화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소스 코드: 회사 GIT의 관리 외부 네트워크에서 접속 불가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역할별 권한 부여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환경: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사례 1: VTI의 환경에서 구축 및 관리되며 PM/CM의 권한으로 관리됨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14308" lvl="0" marL="21430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</a:pPr>
            <a:r>
              <a:rPr b="0" i="0" lang="en-US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사례 2: 고객사의 환경과 VTI의 원격 VDI를 기반으로 구축됨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82" name="Google Shape;682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0" y="4700351"/>
            <a:ext cx="486296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3" name="Google Shape;683;p84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84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5" name="Google Shape;685;p84"/>
          <p:cNvSpPr txBox="1"/>
          <p:nvPr/>
        </p:nvSpPr>
        <p:spPr>
          <a:xfrm>
            <a:off x="7304100" y="4866600"/>
            <a:ext cx="183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824" y="0"/>
            <a:ext cx="3428177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1" name="Google Shape;691;p66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92" name="Google Shape;69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6"/>
          <p:cNvPicPr preferRelativeResize="0"/>
          <p:nvPr/>
        </p:nvPicPr>
        <p:blipFill rotWithShape="1">
          <a:blip r:embed="rId5">
            <a:alphaModFix/>
          </a:blip>
          <a:srcRect b="0" l="5148" r="-5148" t="0"/>
          <a:stretch/>
        </p:blipFill>
        <p:spPr>
          <a:xfrm>
            <a:off x="8288799" y="137500"/>
            <a:ext cx="613002" cy="36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66"/>
          <p:cNvGrpSpPr/>
          <p:nvPr/>
        </p:nvGrpSpPr>
        <p:grpSpPr>
          <a:xfrm>
            <a:off x="326275" y="200075"/>
            <a:ext cx="5213100" cy="4306000"/>
            <a:chOff x="345325" y="212775"/>
            <a:chExt cx="5213100" cy="4306000"/>
          </a:xfrm>
        </p:grpSpPr>
        <p:sp>
          <p:nvSpPr>
            <p:cNvPr id="695" name="Google Shape;695;p66"/>
            <p:cNvSpPr txBox="1"/>
            <p:nvPr/>
          </p:nvSpPr>
          <p:spPr>
            <a:xfrm>
              <a:off x="345325" y="212775"/>
              <a:ext cx="51015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연락처</a:t>
              </a:r>
              <a:endParaRPr b="1" i="0" sz="18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323232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696" name="Google Shape;696;p66"/>
            <p:cNvGrpSpPr/>
            <p:nvPr/>
          </p:nvGrpSpPr>
          <p:grpSpPr>
            <a:xfrm>
              <a:off x="345325" y="1559575"/>
              <a:ext cx="5213100" cy="2959200"/>
              <a:chOff x="256425" y="1559575"/>
              <a:chExt cx="5213100" cy="2959200"/>
            </a:xfrm>
          </p:grpSpPr>
          <p:sp>
            <p:nvSpPr>
              <p:cNvPr id="697" name="Google Shape;697;p66"/>
              <p:cNvSpPr txBox="1"/>
              <p:nvPr/>
            </p:nvSpPr>
            <p:spPr>
              <a:xfrm>
                <a:off x="368025" y="1559575"/>
                <a:ext cx="5101500" cy="295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VIETNAM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VTI Building, Me Tri Ha Urban Zone, Nam Tu Liem, Ha Noi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7F, VNO Building, 124 Dien Bien Phu, Da Kao, Dist.1, Ho Chi Minh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KOREA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13 Floor, Goryeo Daeyeongak Tower, 97 Toegye-ro, Jung-gu, Seoul, Korea 04535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JAPAN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4th Floor, T&amp;T Building, 8−21 Tomihisacho, Shinjuku-ku, Tokyo 162−0067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4th Floor, Belx Shinjuku Building, 23−14 Aizumicho, Shinjuku-ku, Tokyo 160−0005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608, Sanko Building Semba, 1−3−9 Minamihonmachi, Chuo-ku, Osaka-shi, Osaka 541−0054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651, Business Center Nagoya Sakae, 3−22−24 Nishiki, Naka-ku, Nagoya-shi, Aichi 460−0003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943, 9th Floor, Daini Okabe Building, 3−27−25 Hakata Ekimae, Hakata-ku, Fukuoka-shi, Fukuoka 812−0011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SINGAPORE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20A Tanjong Pagar Road 088443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id="698" name="Google Shape;698;p6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6425" y="4109858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7843"/>
                  </a:srgbClr>
                </a:outerShdw>
              </a:effectLst>
            </p:spPr>
          </p:pic>
          <p:pic>
            <p:nvPicPr>
              <p:cNvPr id="699" name="Google Shape;699;p6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56429" y="2385960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7843"/>
                  </a:srgbClr>
                </a:outerShdw>
              </a:effectLst>
            </p:spPr>
          </p:pic>
          <p:pic>
            <p:nvPicPr>
              <p:cNvPr id="700" name="Google Shape;700;p6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6433" y="1703385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7843"/>
                  </a:srgbClr>
                </a:outerShdw>
              </a:effectLst>
            </p:spPr>
          </p:pic>
          <p:pic>
            <p:nvPicPr>
              <p:cNvPr id="701" name="Google Shape;701;p6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61093" y="2886858"/>
                <a:ext cx="161807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7843"/>
                  </a:srgbClr>
                </a:outerShdw>
              </a:effectLst>
            </p:spPr>
          </p:pic>
        </p:grpSp>
        <p:sp>
          <p:nvSpPr>
            <p:cNvPr id="702" name="Google Shape;702;p66"/>
            <p:cNvSpPr txBox="1"/>
            <p:nvPr/>
          </p:nvSpPr>
          <p:spPr>
            <a:xfrm>
              <a:off x="345325" y="613075"/>
              <a:ext cx="3000000" cy="1131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홈페이지: 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vti.com.vn</a:t>
              </a:r>
              <a:endParaRPr b="1" i="0" sz="9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이메일: 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bdk@vti.com.vn</a:t>
              </a:r>
              <a:endParaRPr b="1" i="0" sz="9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전화번호: 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(+82) 2-2039-1159</a:t>
              </a:r>
              <a:endParaRPr b="1" i="0" sz="9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703" name="Google Shape;703;p66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2025-02-12T06:26:00Z</dcterms:created>
  <dc:creator>Nawin Tiếng Hàn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BA91ABE55C384A3682B28DEA70BF4172_12</vt:lpwstr>
  </property>
  <property fmtid="{D5CDD505-2E9C-101B-9397-08002B2CF9AE}" pid="3" name="KSOProductBuildVer">
    <vt:lpwstr>1033-12.2.0.19805</vt:lpwstr>
  </property>
</Properties>
</file>