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10287000" cx="18288000"/>
  <p:notesSz cx="6858000" cy="9144000"/>
  <p:embeddedFontLst>
    <p:embeddedFont>
      <p:font typeface="Bai Jamjuree"/>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4" roundtripDataSignature="AMtx7mifARBHLLGmYHGkDv73kfi3fM5S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BaiJamjuree-bold.fntdata"/><Relationship Id="rId50" Type="http://schemas.openxmlformats.org/officeDocument/2006/relationships/font" Target="fonts/BaiJamjuree-regular.fntdata"/><Relationship Id="rId53" Type="http://schemas.openxmlformats.org/officeDocument/2006/relationships/font" Target="fonts/BaiJamjuree-boldItalic.fntdata"/><Relationship Id="rId52" Type="http://schemas.openxmlformats.org/officeDocument/2006/relationships/font" Target="fonts/BaiJamjuree-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1" name="Google Shape;431;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0" name="Google Shape;45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0" name="Google Shape;470;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5" name="Google Shape;565;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1" name="Google Shape;58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5" name="Google Shape;635;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6a6a91b0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a6a6a91b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1" name="Google Shape;661;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6" name="Google Shape;746;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1" name="Google Shape;761;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6" name="Google Shape;77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4" name="Google Shape;794;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0" name="Google Shape;810;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5" name="Google Shape;825;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9" name="Google Shape;849;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7" name="Google Shape;867;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4" name="Google Shape;884;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1" name="Google Shape;901;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8" name="Google Shape;918;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9" name="Google Shape;949;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5" name="Google Shape;965;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1" name="Google Shape;981;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7" name="Google Shape;997;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9" name="Google Shape;103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8" name="Google Shape;107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9" name="Google Shape;109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p:nvPr>
            <p:ph idx="2" type="pic"/>
          </p:nvPr>
        </p:nvSpPr>
        <p:spPr>
          <a:xfrm>
            <a:off x="1792288" y="612775"/>
            <a:ext cx="5486400" cy="4114800"/>
          </a:xfrm>
          <a:prstGeom prst="rect">
            <a:avLst/>
          </a:prstGeom>
          <a:noFill/>
          <a:ln>
            <a:noFill/>
          </a:ln>
        </p:spPr>
      </p:sp>
      <p:sp>
        <p:nvSpPr>
          <p:cNvPr id="64" name="Google Shape;64;p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 Id="rId4" Type="http://schemas.openxmlformats.org/officeDocument/2006/relationships/image" Target="../media/image1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2.png"/><Relationship Id="rId4" Type="http://schemas.openxmlformats.org/officeDocument/2006/relationships/image" Target="../media/image1.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9.png"/><Relationship Id="rId9" Type="http://schemas.openxmlformats.org/officeDocument/2006/relationships/image" Target="../media/image27.jpg"/><Relationship Id="rId5" Type="http://schemas.openxmlformats.org/officeDocument/2006/relationships/image" Target="../media/image38.jpg"/><Relationship Id="rId6" Type="http://schemas.openxmlformats.org/officeDocument/2006/relationships/image" Target="../media/image40.png"/><Relationship Id="rId7" Type="http://schemas.openxmlformats.org/officeDocument/2006/relationships/image" Target="../media/image28.png"/><Relationship Id="rId8" Type="http://schemas.openxmlformats.org/officeDocument/2006/relationships/image" Target="../media/image3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2.png"/><Relationship Id="rId4" Type="http://schemas.openxmlformats.org/officeDocument/2006/relationships/image" Target="../media/image1.png"/><Relationship Id="rId9" Type="http://schemas.openxmlformats.org/officeDocument/2006/relationships/image" Target="../media/image33.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35.jpg"/><Relationship Id="rId6"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47.png"/><Relationship Id="rId6" Type="http://schemas.openxmlformats.org/officeDocument/2006/relationships/image" Target="../media/image41.png"/><Relationship Id="rId7"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1.png"/><Relationship Id="rId5" Type="http://schemas.openxmlformats.org/officeDocument/2006/relationships/image" Target="../media/image47.png"/><Relationship Id="rId6" Type="http://schemas.openxmlformats.org/officeDocument/2006/relationships/image" Target="../media/image44.png"/><Relationship Id="rId7"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6.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6.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9.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55.png"/><Relationship Id="rId5" Type="http://schemas.openxmlformats.org/officeDocument/2006/relationships/image" Target="../media/image36.png"/><Relationship Id="rId6"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52.png"/><Relationship Id="rId6" Type="http://schemas.openxmlformats.org/officeDocument/2006/relationships/image" Target="../media/image49.png"/><Relationship Id="rId7" Type="http://schemas.openxmlformats.org/officeDocument/2006/relationships/image" Target="../media/image58.png"/><Relationship Id="rId8" Type="http://schemas.openxmlformats.org/officeDocument/2006/relationships/image" Target="../media/image6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65.png"/><Relationship Id="rId5" Type="http://schemas.openxmlformats.org/officeDocument/2006/relationships/image" Target="../media/image7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6.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7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7.png"/><Relationship Id="rId5" Type="http://schemas.openxmlformats.org/officeDocument/2006/relationships/image" Target="../media/image73.png"/><Relationship Id="rId6"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82.png"/><Relationship Id="rId5"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6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71.png"/><Relationship Id="rId5"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72.png"/><Relationship Id="rId5" Type="http://schemas.openxmlformats.org/officeDocument/2006/relationships/image" Target="../media/image79.png"/><Relationship Id="rId6" Type="http://schemas.openxmlformats.org/officeDocument/2006/relationships/image" Target="../media/image69.png"/><Relationship Id="rId7" Type="http://schemas.openxmlformats.org/officeDocument/2006/relationships/image" Target="../media/image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86.png"/><Relationship Id="rId5"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8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8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77.png"/><Relationship Id="rId10" Type="http://schemas.openxmlformats.org/officeDocument/2006/relationships/image" Target="../media/image36.png"/><Relationship Id="rId9" Type="http://schemas.openxmlformats.org/officeDocument/2006/relationships/image" Target="../media/image95.png"/><Relationship Id="rId5" Type="http://schemas.openxmlformats.org/officeDocument/2006/relationships/image" Target="../media/image90.png"/><Relationship Id="rId6" Type="http://schemas.openxmlformats.org/officeDocument/2006/relationships/image" Target="../media/image81.png"/><Relationship Id="rId7" Type="http://schemas.openxmlformats.org/officeDocument/2006/relationships/image" Target="../media/image89.png"/><Relationship Id="rId8" Type="http://schemas.openxmlformats.org/officeDocument/2006/relationships/image" Target="../media/image8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92.png"/><Relationship Id="rId4" Type="http://schemas.openxmlformats.org/officeDocument/2006/relationships/image" Target="../media/image8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92.png"/><Relationship Id="rId4" Type="http://schemas.openxmlformats.org/officeDocument/2006/relationships/image" Target="../media/image85.png"/><Relationship Id="rId5" Type="http://schemas.openxmlformats.org/officeDocument/2006/relationships/image" Target="../media/image9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9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55" y="0"/>
            <a:ext cx="18284475" cy="10285000"/>
          </a:xfrm>
          <a:custGeom>
            <a:rect b="b" l="l" r="r" t="t"/>
            <a:pathLst>
              <a:path extrusionOk="0" h="13713333" w="24379301">
                <a:moveTo>
                  <a:pt x="0" y="0"/>
                </a:moveTo>
                <a:lnTo>
                  <a:pt x="24379301" y="0"/>
                </a:lnTo>
                <a:lnTo>
                  <a:pt x="24379301" y="13713333"/>
                </a:lnTo>
                <a:lnTo>
                  <a:pt x="0" y="1371333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8138636" y="1448118"/>
            <a:ext cx="2007203" cy="1207485"/>
          </a:xfrm>
          <a:custGeom>
            <a:rect b="b" l="l" r="r" t="t"/>
            <a:pathLst>
              <a:path extrusionOk="0" h="1609979" w="2676271">
                <a:moveTo>
                  <a:pt x="0" y="0"/>
                </a:moveTo>
                <a:lnTo>
                  <a:pt x="2676271" y="0"/>
                </a:lnTo>
                <a:lnTo>
                  <a:pt x="2676271" y="1609979"/>
                </a:lnTo>
                <a:lnTo>
                  <a:pt x="0" y="1609979"/>
                </a:lnTo>
                <a:lnTo>
                  <a:pt x="0" y="0"/>
                </a:lnTo>
                <a:close/>
              </a:path>
            </a:pathLst>
          </a:custGeom>
          <a:blipFill rotWithShape="1">
            <a:blip r:embed="rId4">
              <a:alphaModFix/>
            </a:blip>
            <a:stretch>
              <a:fillRect b="0" l="-5146" r="514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7952715" y="5498778"/>
            <a:ext cx="2378694" cy="237869"/>
          </a:xfrm>
          <a:custGeom>
            <a:rect b="b" l="l" r="r" t="t"/>
            <a:pathLst>
              <a:path extrusionOk="0" h="237869" w="2378694">
                <a:moveTo>
                  <a:pt x="0" y="0"/>
                </a:moveTo>
                <a:lnTo>
                  <a:pt x="2378694" y="0"/>
                </a:lnTo>
                <a:lnTo>
                  <a:pt x="2378694" y="237869"/>
                </a:lnTo>
                <a:lnTo>
                  <a:pt x="0" y="23786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3705634" y="4293012"/>
            <a:ext cx="10872900" cy="2309094"/>
          </a:xfrm>
          <a:prstGeom prst="rect">
            <a:avLst/>
          </a:prstGeom>
          <a:noFill/>
          <a:ln>
            <a:noFill/>
          </a:ln>
        </p:spPr>
        <p:txBody>
          <a:bodyPr anchorCtr="0" anchor="t" bIns="0" lIns="0" spcFirstLastPara="1" rIns="0" wrap="square" tIns="0">
            <a:spAutoFit/>
          </a:bodyPr>
          <a:lstStyle/>
          <a:p>
            <a:pPr indent="0" lvl="0" marL="0" marR="0" rtl="0" algn="ctr">
              <a:lnSpc>
                <a:spcPct val="119993"/>
              </a:lnSpc>
              <a:spcBef>
                <a:spcPts val="0"/>
              </a:spcBef>
              <a:spcAft>
                <a:spcPts val="0"/>
              </a:spcAft>
              <a:buClr>
                <a:srgbClr val="000000"/>
              </a:buClr>
              <a:buSzPts val="6252"/>
              <a:buFont typeface="Arial"/>
              <a:buNone/>
            </a:pPr>
            <a:r>
              <a:rPr b="1" i="0" lang="en-US" sz="6252" u="none" cap="none" strike="noStrike">
                <a:solidFill>
                  <a:srgbClr val="FFFFFF"/>
                </a:solidFill>
                <a:latin typeface="Bai Jamjuree"/>
                <a:ea typeface="Bai Jamjuree"/>
                <a:cs typeface="Bai Jamjuree"/>
                <a:sym typeface="Bai Jamjuree"/>
              </a:rPr>
              <a:t>Giới thiệu về Công cụ Smart Planogram</a:t>
            </a:r>
            <a:endParaRPr b="0" i="0" sz="1400" u="none" cap="none" strike="noStrike">
              <a:solidFill>
                <a:srgbClr val="000000"/>
              </a:solidFill>
              <a:latin typeface="Bai Jamjuree"/>
              <a:ea typeface="Bai Jamjuree"/>
              <a:cs typeface="Bai Jamjuree"/>
              <a:sym typeface="Bai Jamjure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p:nvPr/>
        </p:nvSpPr>
        <p:spPr>
          <a:xfrm>
            <a:off x="1857084" y="4836542"/>
            <a:ext cx="8211312" cy="660400"/>
          </a:xfrm>
          <a:prstGeom prst="roundRect">
            <a:avLst>
              <a:gd fmla="val 16667" name="adj"/>
            </a:avLst>
          </a:prstGeom>
          <a:solidFill>
            <a:srgbClr val="000000">
              <a:alpha val="0"/>
            </a:srgbClr>
          </a:solidFill>
          <a:ln cap="flat" cmpd="sng" w="19050">
            <a:solidFill>
              <a:srgbClr val="015DB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3" name="Google Shape;93;p2"/>
          <p:cNvSpPr/>
          <p:nvPr/>
        </p:nvSpPr>
        <p:spPr>
          <a:xfrm>
            <a:off x="1857084" y="3969132"/>
            <a:ext cx="8211312" cy="660400"/>
          </a:xfrm>
          <a:prstGeom prst="roundRect">
            <a:avLst>
              <a:gd fmla="val 16667" name="adj"/>
            </a:avLst>
          </a:prstGeom>
          <a:solidFill>
            <a:srgbClr val="000000">
              <a:alpha val="0"/>
            </a:srgbClr>
          </a:solidFill>
          <a:ln cap="flat" cmpd="sng" w="19050">
            <a:solidFill>
              <a:srgbClr val="015DB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4" name="Google Shape;94;p2"/>
          <p:cNvSpPr/>
          <p:nvPr/>
        </p:nvSpPr>
        <p:spPr>
          <a:xfrm>
            <a:off x="12979829" y="-27"/>
            <a:ext cx="5308183" cy="10285000"/>
          </a:xfrm>
          <a:custGeom>
            <a:rect b="b" l="l" r="r" t="t"/>
            <a:pathLst>
              <a:path extrusionOk="0" h="13713333" w="7077577">
                <a:moveTo>
                  <a:pt x="0" y="0"/>
                </a:moveTo>
                <a:lnTo>
                  <a:pt x="7077577" y="0"/>
                </a:lnTo>
                <a:lnTo>
                  <a:pt x="7077577" y="13713333"/>
                </a:lnTo>
                <a:lnTo>
                  <a:pt x="0" y="13713333"/>
                </a:lnTo>
                <a:lnTo>
                  <a:pt x="0" y="0"/>
                </a:lnTo>
                <a:close/>
              </a:path>
            </a:pathLst>
          </a:custGeom>
          <a:solidFill>
            <a:srgbClr val="0065B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5" name="Google Shape;95;p2"/>
          <p:cNvGrpSpPr/>
          <p:nvPr/>
        </p:nvGrpSpPr>
        <p:grpSpPr>
          <a:xfrm>
            <a:off x="11632630" y="3152542"/>
            <a:ext cx="5998788" cy="3980577"/>
            <a:chOff x="0" y="-95"/>
            <a:chExt cx="7998383" cy="5307435"/>
          </a:xfrm>
        </p:grpSpPr>
        <p:sp>
          <p:nvSpPr>
            <p:cNvPr id="96" name="Google Shape;96;p2"/>
            <p:cNvSpPr/>
            <p:nvPr/>
          </p:nvSpPr>
          <p:spPr>
            <a:xfrm>
              <a:off x="364728" y="167682"/>
              <a:ext cx="7120252" cy="4704447"/>
            </a:xfrm>
            <a:custGeom>
              <a:rect b="b" l="l" r="r" t="t"/>
              <a:pathLst>
                <a:path extrusionOk="0" h="6314694" w="9557385">
                  <a:moveTo>
                    <a:pt x="0" y="0"/>
                  </a:moveTo>
                  <a:lnTo>
                    <a:pt x="9557385" y="0"/>
                  </a:lnTo>
                  <a:lnTo>
                    <a:pt x="9557385" y="6314694"/>
                  </a:lnTo>
                  <a:lnTo>
                    <a:pt x="0" y="63146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7" name="Google Shape;97;p2"/>
            <p:cNvGrpSpPr/>
            <p:nvPr/>
          </p:nvGrpSpPr>
          <p:grpSpPr>
            <a:xfrm>
              <a:off x="6617812" y="-95"/>
              <a:ext cx="1380571" cy="906261"/>
              <a:chOff x="0" y="-127"/>
              <a:chExt cx="1850136" cy="1214501"/>
            </a:xfrm>
          </p:grpSpPr>
          <p:sp>
            <p:nvSpPr>
              <p:cNvPr id="98" name="Google Shape;98;p2"/>
              <p:cNvSpPr/>
              <p:nvPr/>
            </p:nvSpPr>
            <p:spPr>
              <a:xfrm>
                <a:off x="0" y="-127"/>
                <a:ext cx="1337437" cy="449453"/>
              </a:xfrm>
              <a:custGeom>
                <a:rect b="b" l="l" r="r" t="t"/>
                <a:pathLst>
                  <a:path extrusionOk="0" h="449453" w="1337437">
                    <a:moveTo>
                      <a:pt x="1337437" y="31750"/>
                    </a:moveTo>
                    <a:lnTo>
                      <a:pt x="1333119" y="16129"/>
                    </a:lnTo>
                    <a:lnTo>
                      <a:pt x="1321816" y="4572"/>
                    </a:lnTo>
                    <a:lnTo>
                      <a:pt x="1305306" y="0"/>
                    </a:lnTo>
                    <a:lnTo>
                      <a:pt x="477901" y="0"/>
                    </a:lnTo>
                    <a:lnTo>
                      <a:pt x="78867" y="254"/>
                    </a:lnTo>
                    <a:lnTo>
                      <a:pt x="68326" y="6350"/>
                    </a:lnTo>
                    <a:lnTo>
                      <a:pt x="0" y="124841"/>
                    </a:lnTo>
                    <a:lnTo>
                      <a:pt x="0" y="137033"/>
                    </a:lnTo>
                    <a:lnTo>
                      <a:pt x="176657" y="443357"/>
                    </a:lnTo>
                    <a:lnTo>
                      <a:pt x="187325" y="449453"/>
                    </a:lnTo>
                    <a:lnTo>
                      <a:pt x="1094740" y="449453"/>
                    </a:lnTo>
                    <a:lnTo>
                      <a:pt x="1105408" y="443357"/>
                    </a:lnTo>
                    <a:lnTo>
                      <a:pt x="1333119" y="48387"/>
                    </a:lnTo>
                    <a:lnTo>
                      <a:pt x="1337437" y="318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9" name="Google Shape;99;p2"/>
              <p:cNvSpPr/>
              <p:nvPr/>
            </p:nvSpPr>
            <p:spPr>
              <a:xfrm>
                <a:off x="954786" y="0"/>
                <a:ext cx="895350" cy="1214374"/>
              </a:xfrm>
              <a:custGeom>
                <a:rect b="b" l="l" r="r" t="t"/>
                <a:pathLst>
                  <a:path extrusionOk="0" h="1214374" w="895350">
                    <a:moveTo>
                      <a:pt x="895350" y="124587"/>
                    </a:moveTo>
                    <a:lnTo>
                      <a:pt x="826897" y="6096"/>
                    </a:lnTo>
                    <a:lnTo>
                      <a:pt x="816356" y="0"/>
                    </a:lnTo>
                    <a:lnTo>
                      <a:pt x="804926" y="0"/>
                    </a:lnTo>
                    <a:lnTo>
                      <a:pt x="463550" y="0"/>
                    </a:lnTo>
                    <a:lnTo>
                      <a:pt x="452882" y="6096"/>
                    </a:lnTo>
                    <a:lnTo>
                      <a:pt x="0" y="792099"/>
                    </a:lnTo>
                    <a:lnTo>
                      <a:pt x="0" y="804291"/>
                    </a:lnTo>
                    <a:lnTo>
                      <a:pt x="227330" y="1198245"/>
                    </a:lnTo>
                    <a:lnTo>
                      <a:pt x="239522" y="1210310"/>
                    </a:lnTo>
                    <a:lnTo>
                      <a:pt x="255143" y="1214374"/>
                    </a:lnTo>
                    <a:lnTo>
                      <a:pt x="270764" y="1210310"/>
                    </a:lnTo>
                    <a:lnTo>
                      <a:pt x="282956" y="1198245"/>
                    </a:lnTo>
                    <a:lnTo>
                      <a:pt x="895223" y="136779"/>
                    </a:lnTo>
                    <a:lnTo>
                      <a:pt x="895223" y="12458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sp>
          <p:nvSpPr>
            <p:cNvPr id="100" name="Google Shape;100;p2"/>
            <p:cNvSpPr/>
            <p:nvPr/>
          </p:nvSpPr>
          <p:spPr>
            <a:xfrm>
              <a:off x="0" y="4451263"/>
              <a:ext cx="729292" cy="856077"/>
            </a:xfrm>
            <a:custGeom>
              <a:rect b="b" l="l" r="r" t="t"/>
              <a:pathLst>
                <a:path extrusionOk="0" h="1149096" w="978916">
                  <a:moveTo>
                    <a:pt x="500761" y="0"/>
                  </a:moveTo>
                  <a:lnTo>
                    <a:pt x="33147" y="0"/>
                  </a:lnTo>
                  <a:lnTo>
                    <a:pt x="16129" y="4699"/>
                  </a:lnTo>
                  <a:lnTo>
                    <a:pt x="4445" y="16510"/>
                  </a:lnTo>
                  <a:lnTo>
                    <a:pt x="0" y="32639"/>
                  </a:lnTo>
                  <a:lnTo>
                    <a:pt x="4445" y="49657"/>
                  </a:lnTo>
                  <a:lnTo>
                    <a:pt x="635127" y="1142746"/>
                  </a:lnTo>
                  <a:lnTo>
                    <a:pt x="646049" y="1149096"/>
                  </a:lnTo>
                  <a:lnTo>
                    <a:pt x="787019" y="1149096"/>
                  </a:lnTo>
                  <a:lnTo>
                    <a:pt x="797941" y="1142746"/>
                  </a:lnTo>
                  <a:lnTo>
                    <a:pt x="978916" y="828929"/>
                  </a:lnTo>
                  <a:lnTo>
                    <a:pt x="978916" y="816356"/>
                  </a:lnTo>
                  <a:lnTo>
                    <a:pt x="717169" y="362585"/>
                  </a:lnTo>
                  <a:lnTo>
                    <a:pt x="511683" y="6350"/>
                  </a:lnTo>
                  <a:lnTo>
                    <a:pt x="500761" y="0"/>
                  </a:lnTo>
                  <a:close/>
                </a:path>
              </a:pathLst>
            </a:custGeom>
            <a:solidFill>
              <a:srgbClr val="2075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sp>
        <p:nvSpPr>
          <p:cNvPr id="101" name="Google Shape;101;p2"/>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2" name="Google Shape;102;p2"/>
          <p:cNvSpPr/>
          <p:nvPr/>
        </p:nvSpPr>
        <p:spPr>
          <a:xfrm>
            <a:off x="17235341" y="233139"/>
            <a:ext cx="792480" cy="476726"/>
          </a:xfrm>
          <a:custGeom>
            <a:rect b="b" l="l" r="r" t="t"/>
            <a:pathLst>
              <a:path extrusionOk="0" h="635635" w="1056640">
                <a:moveTo>
                  <a:pt x="0" y="0"/>
                </a:moveTo>
                <a:lnTo>
                  <a:pt x="1056640" y="0"/>
                </a:lnTo>
                <a:lnTo>
                  <a:pt x="1056640" y="635635"/>
                </a:lnTo>
                <a:lnTo>
                  <a:pt x="0" y="635635"/>
                </a:lnTo>
                <a:lnTo>
                  <a:pt x="0" y="0"/>
                </a:lnTo>
                <a:close/>
              </a:path>
            </a:pathLst>
          </a:custGeom>
          <a:blipFill rotWithShape="1">
            <a:blip r:embed="rId4">
              <a:alphaModFix/>
            </a:blip>
            <a:stretch>
              <a:fillRect b="-8" l="-5148" r="5137"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3" name="Google Shape;103;p2"/>
          <p:cNvSpPr txBox="1"/>
          <p:nvPr/>
        </p:nvSpPr>
        <p:spPr>
          <a:xfrm>
            <a:off x="1028700" y="1197090"/>
            <a:ext cx="9338700" cy="738536"/>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none" cap="none" strike="noStrike">
                <a:solidFill>
                  <a:srgbClr val="1F497D"/>
                </a:solidFill>
                <a:latin typeface="Bai Jamjuree"/>
                <a:ea typeface="Bai Jamjuree"/>
                <a:cs typeface="Bai Jamjuree"/>
                <a:sym typeface="Bai Jamjuree"/>
              </a:rPr>
              <a:t>MỤC LỤC</a:t>
            </a:r>
            <a:endParaRPr b="0" i="0" sz="1400" u="none" cap="none" strike="noStrike">
              <a:solidFill>
                <a:srgbClr val="000000"/>
              </a:solidFill>
              <a:latin typeface="Bai Jamjuree"/>
              <a:ea typeface="Bai Jamjuree"/>
              <a:cs typeface="Bai Jamjuree"/>
              <a:sym typeface="Bai Jamjuree"/>
            </a:endParaRPr>
          </a:p>
        </p:txBody>
      </p:sp>
      <p:grpSp>
        <p:nvGrpSpPr>
          <p:cNvPr id="104" name="Google Shape;104;p2"/>
          <p:cNvGrpSpPr/>
          <p:nvPr/>
        </p:nvGrpSpPr>
        <p:grpSpPr>
          <a:xfrm>
            <a:off x="5776170" y="9896475"/>
            <a:ext cx="6735680" cy="408188"/>
            <a:chOff x="0" y="0"/>
            <a:chExt cx="8980907" cy="544250"/>
          </a:xfrm>
        </p:grpSpPr>
        <p:sp>
          <p:nvSpPr>
            <p:cNvPr id="105" name="Google Shape;105;p2"/>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6" name="Google Shape;106;p2"/>
            <p:cNvSpPr txBox="1"/>
            <p:nvPr/>
          </p:nvSpPr>
          <p:spPr>
            <a:xfrm>
              <a:off x="324001" y="94288"/>
              <a:ext cx="8332800"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107" name="Google Shape;107;p2"/>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108" name="Google Shape;108;p2"/>
          <p:cNvSpPr/>
          <p:nvPr/>
        </p:nvSpPr>
        <p:spPr>
          <a:xfrm>
            <a:off x="1857084" y="2234312"/>
            <a:ext cx="8211312" cy="660400"/>
          </a:xfrm>
          <a:prstGeom prst="roundRect">
            <a:avLst>
              <a:gd fmla="val 16667" name="adj"/>
            </a:avLst>
          </a:prstGeom>
          <a:solidFill>
            <a:srgbClr val="000000">
              <a:alpha val="0"/>
            </a:srgbClr>
          </a:solidFill>
          <a:ln cap="flat" cmpd="sng" w="19050">
            <a:solidFill>
              <a:srgbClr val="015DB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9" name="Google Shape;109;p2"/>
          <p:cNvSpPr/>
          <p:nvPr/>
        </p:nvSpPr>
        <p:spPr>
          <a:xfrm>
            <a:off x="1857084" y="3101722"/>
            <a:ext cx="8211312" cy="660400"/>
          </a:xfrm>
          <a:prstGeom prst="roundRect">
            <a:avLst>
              <a:gd fmla="val 16667" name="adj"/>
            </a:avLst>
          </a:prstGeom>
          <a:solidFill>
            <a:srgbClr val="000000">
              <a:alpha val="0"/>
            </a:srgbClr>
          </a:solidFill>
          <a:ln cap="flat" cmpd="sng" w="19050">
            <a:solidFill>
              <a:srgbClr val="015DB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10" name="Google Shape;110;p2"/>
          <p:cNvSpPr/>
          <p:nvPr/>
        </p:nvSpPr>
        <p:spPr>
          <a:xfrm>
            <a:off x="1950455" y="2388390"/>
            <a:ext cx="7662375" cy="406265"/>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1" i="0" lang="en-US" sz="2400" u="none" cap="none" strike="noStrike">
                <a:solidFill>
                  <a:schemeClr val="dk1"/>
                </a:solidFill>
                <a:latin typeface="Bai Jamjuree"/>
                <a:ea typeface="Bai Jamjuree"/>
                <a:cs typeface="Bai Jamjuree"/>
                <a:sym typeface="Bai Jamjuree"/>
              </a:rPr>
              <a:t>Các loại cửa hàng và thách thức về thiết kế</a:t>
            </a:r>
            <a:endParaRPr b="1" i="0" sz="2400" u="none" cap="none" strike="noStrike">
              <a:solidFill>
                <a:schemeClr val="dk1"/>
              </a:solidFill>
              <a:latin typeface="Bai Jamjuree"/>
              <a:ea typeface="Bai Jamjuree"/>
              <a:cs typeface="Bai Jamjuree"/>
              <a:sym typeface="Bai Jamjuree"/>
            </a:endParaRPr>
          </a:p>
        </p:txBody>
      </p:sp>
      <p:sp>
        <p:nvSpPr>
          <p:cNvPr id="111" name="Google Shape;111;p2"/>
          <p:cNvSpPr/>
          <p:nvPr/>
        </p:nvSpPr>
        <p:spPr>
          <a:xfrm>
            <a:off x="1052003" y="2234312"/>
            <a:ext cx="692341" cy="660400"/>
          </a:xfrm>
          <a:prstGeom prst="roundRect">
            <a:avLst>
              <a:gd fmla="val 16667" name="adj"/>
            </a:avLst>
          </a:pr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12" name="Google Shape;112;p2"/>
          <p:cNvSpPr/>
          <p:nvPr/>
        </p:nvSpPr>
        <p:spPr>
          <a:xfrm>
            <a:off x="1052003" y="2234312"/>
            <a:ext cx="692341"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13" name="Google Shape;113;p2"/>
          <p:cNvSpPr/>
          <p:nvPr/>
        </p:nvSpPr>
        <p:spPr>
          <a:xfrm>
            <a:off x="1062929" y="2320633"/>
            <a:ext cx="65608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Bai Jamjuree"/>
                <a:ea typeface="Bai Jamjuree"/>
                <a:cs typeface="Bai Jamjuree"/>
                <a:sym typeface="Bai Jamjuree"/>
              </a:rPr>
              <a:t>01</a:t>
            </a:r>
            <a:endParaRPr b="0" i="0" sz="1600" u="none" cap="none" strike="noStrike">
              <a:solidFill>
                <a:srgbClr val="000000"/>
              </a:solidFill>
              <a:latin typeface="Bai Jamjuree"/>
              <a:ea typeface="Bai Jamjuree"/>
              <a:cs typeface="Bai Jamjuree"/>
              <a:sym typeface="Bai Jamjuree"/>
            </a:endParaRPr>
          </a:p>
        </p:txBody>
      </p:sp>
      <p:sp>
        <p:nvSpPr>
          <p:cNvPr id="114" name="Google Shape;114;p2"/>
          <p:cNvSpPr/>
          <p:nvPr/>
        </p:nvSpPr>
        <p:spPr>
          <a:xfrm>
            <a:off x="1857085" y="2234312"/>
            <a:ext cx="5462239"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15" name="Google Shape;115;p2"/>
          <p:cNvSpPr/>
          <p:nvPr/>
        </p:nvSpPr>
        <p:spPr>
          <a:xfrm>
            <a:off x="1950456" y="3255800"/>
            <a:ext cx="5184608" cy="36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Bai Jamjuree"/>
                <a:ea typeface="Bai Jamjuree"/>
                <a:cs typeface="Bai Jamjuree"/>
                <a:sym typeface="Bai Jamjuree"/>
              </a:rPr>
              <a:t>Nỗi đau từ thiết kế thủ công</a:t>
            </a:r>
            <a:endParaRPr b="0" i="0" sz="1600" u="none" cap="none" strike="noStrike">
              <a:solidFill>
                <a:srgbClr val="000000"/>
              </a:solidFill>
              <a:latin typeface="Bai Jamjuree"/>
              <a:ea typeface="Bai Jamjuree"/>
              <a:cs typeface="Bai Jamjuree"/>
              <a:sym typeface="Bai Jamjuree"/>
            </a:endParaRPr>
          </a:p>
        </p:txBody>
      </p:sp>
      <p:sp>
        <p:nvSpPr>
          <p:cNvPr id="116" name="Google Shape;116;p2"/>
          <p:cNvSpPr/>
          <p:nvPr/>
        </p:nvSpPr>
        <p:spPr>
          <a:xfrm>
            <a:off x="1052003" y="3101722"/>
            <a:ext cx="692341" cy="660400"/>
          </a:xfrm>
          <a:prstGeom prst="roundRect">
            <a:avLst>
              <a:gd fmla="val 16667" name="adj"/>
            </a:avLst>
          </a:pr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17" name="Google Shape;117;p2"/>
          <p:cNvSpPr/>
          <p:nvPr/>
        </p:nvSpPr>
        <p:spPr>
          <a:xfrm>
            <a:off x="1052003" y="3101722"/>
            <a:ext cx="692341"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18" name="Google Shape;118;p2"/>
          <p:cNvSpPr/>
          <p:nvPr/>
        </p:nvSpPr>
        <p:spPr>
          <a:xfrm>
            <a:off x="1062929" y="3188043"/>
            <a:ext cx="65608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Bai Jamjuree"/>
                <a:ea typeface="Bai Jamjuree"/>
                <a:cs typeface="Bai Jamjuree"/>
                <a:sym typeface="Bai Jamjuree"/>
              </a:rPr>
              <a:t>02</a:t>
            </a:r>
            <a:endParaRPr b="0" i="0" sz="1600" u="none" cap="none" strike="noStrike">
              <a:solidFill>
                <a:srgbClr val="000000"/>
              </a:solidFill>
              <a:latin typeface="Bai Jamjuree"/>
              <a:ea typeface="Bai Jamjuree"/>
              <a:cs typeface="Bai Jamjuree"/>
              <a:sym typeface="Bai Jamjuree"/>
            </a:endParaRPr>
          </a:p>
        </p:txBody>
      </p:sp>
      <p:sp>
        <p:nvSpPr>
          <p:cNvPr id="119" name="Google Shape;119;p2"/>
          <p:cNvSpPr/>
          <p:nvPr/>
        </p:nvSpPr>
        <p:spPr>
          <a:xfrm>
            <a:off x="1857085" y="3101722"/>
            <a:ext cx="5462239"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20" name="Google Shape;120;p2"/>
          <p:cNvSpPr/>
          <p:nvPr/>
        </p:nvSpPr>
        <p:spPr>
          <a:xfrm>
            <a:off x="1950456" y="4116249"/>
            <a:ext cx="7662374"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Bai Jamjuree"/>
                <a:ea typeface="Bai Jamjuree"/>
                <a:cs typeface="Bai Jamjuree"/>
                <a:sym typeface="Bai Jamjuree"/>
              </a:rPr>
              <a:t>Giải pháp thông minh – Smart Planogram</a:t>
            </a:r>
            <a:endParaRPr b="0" i="0" sz="1600" u="none" cap="none" strike="noStrike">
              <a:solidFill>
                <a:srgbClr val="000000"/>
              </a:solidFill>
              <a:latin typeface="Bai Jamjuree"/>
              <a:ea typeface="Bai Jamjuree"/>
              <a:cs typeface="Bai Jamjuree"/>
              <a:sym typeface="Bai Jamjuree"/>
            </a:endParaRPr>
          </a:p>
        </p:txBody>
      </p:sp>
      <p:sp>
        <p:nvSpPr>
          <p:cNvPr id="121" name="Google Shape;121;p2"/>
          <p:cNvSpPr/>
          <p:nvPr/>
        </p:nvSpPr>
        <p:spPr>
          <a:xfrm>
            <a:off x="1052003" y="3969132"/>
            <a:ext cx="692341" cy="660400"/>
          </a:xfrm>
          <a:prstGeom prst="roundRect">
            <a:avLst>
              <a:gd fmla="val 16667" name="adj"/>
            </a:avLst>
          </a:pr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22" name="Google Shape;122;p2"/>
          <p:cNvSpPr/>
          <p:nvPr/>
        </p:nvSpPr>
        <p:spPr>
          <a:xfrm>
            <a:off x="1052003" y="3969132"/>
            <a:ext cx="692341"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23" name="Google Shape;123;p2"/>
          <p:cNvSpPr/>
          <p:nvPr/>
        </p:nvSpPr>
        <p:spPr>
          <a:xfrm>
            <a:off x="1062929" y="4055453"/>
            <a:ext cx="65608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Bai Jamjuree"/>
                <a:ea typeface="Bai Jamjuree"/>
                <a:cs typeface="Bai Jamjuree"/>
                <a:sym typeface="Bai Jamjuree"/>
              </a:rPr>
              <a:t>03</a:t>
            </a:r>
            <a:endParaRPr b="0" i="0" sz="1600" u="none" cap="none" strike="noStrike">
              <a:solidFill>
                <a:srgbClr val="000000"/>
              </a:solidFill>
              <a:latin typeface="Bai Jamjuree"/>
              <a:ea typeface="Bai Jamjuree"/>
              <a:cs typeface="Bai Jamjuree"/>
              <a:sym typeface="Bai Jamjuree"/>
            </a:endParaRPr>
          </a:p>
        </p:txBody>
      </p:sp>
      <p:sp>
        <p:nvSpPr>
          <p:cNvPr id="124" name="Google Shape;124;p2"/>
          <p:cNvSpPr/>
          <p:nvPr/>
        </p:nvSpPr>
        <p:spPr>
          <a:xfrm>
            <a:off x="1857085" y="3969132"/>
            <a:ext cx="5462239"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25" name="Google Shape;125;p2"/>
          <p:cNvSpPr/>
          <p:nvPr/>
        </p:nvSpPr>
        <p:spPr>
          <a:xfrm>
            <a:off x="1950456" y="4983659"/>
            <a:ext cx="5184608" cy="36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Bai Jamjuree"/>
                <a:ea typeface="Bai Jamjuree"/>
                <a:cs typeface="Bai Jamjuree"/>
                <a:sym typeface="Bai Jamjuree"/>
              </a:rPr>
              <a:t>Kết luận</a:t>
            </a:r>
            <a:endParaRPr b="0" i="0" sz="1600" u="none" cap="none" strike="noStrike">
              <a:solidFill>
                <a:srgbClr val="000000"/>
              </a:solidFill>
              <a:latin typeface="Bai Jamjuree"/>
              <a:ea typeface="Bai Jamjuree"/>
              <a:cs typeface="Bai Jamjuree"/>
              <a:sym typeface="Bai Jamjuree"/>
            </a:endParaRPr>
          </a:p>
        </p:txBody>
      </p:sp>
      <p:sp>
        <p:nvSpPr>
          <p:cNvPr id="126" name="Google Shape;126;p2"/>
          <p:cNvSpPr/>
          <p:nvPr/>
        </p:nvSpPr>
        <p:spPr>
          <a:xfrm>
            <a:off x="1052003" y="4836542"/>
            <a:ext cx="692341" cy="660400"/>
          </a:xfrm>
          <a:prstGeom prst="roundRect">
            <a:avLst>
              <a:gd fmla="val 16667" name="adj"/>
            </a:avLst>
          </a:pr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27" name="Google Shape;127;p2"/>
          <p:cNvSpPr/>
          <p:nvPr/>
        </p:nvSpPr>
        <p:spPr>
          <a:xfrm>
            <a:off x="1052003" y="4836542"/>
            <a:ext cx="692341"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28" name="Google Shape;128;p2"/>
          <p:cNvSpPr/>
          <p:nvPr/>
        </p:nvSpPr>
        <p:spPr>
          <a:xfrm>
            <a:off x="993397" y="4922863"/>
            <a:ext cx="79365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Bai Jamjuree"/>
                <a:ea typeface="Bai Jamjuree"/>
                <a:cs typeface="Bai Jamjuree"/>
                <a:sym typeface="Bai Jamjuree"/>
              </a:rPr>
              <a:t>04</a:t>
            </a:r>
            <a:endParaRPr b="0" i="0" sz="1600" u="none" cap="none" strike="noStrike">
              <a:solidFill>
                <a:srgbClr val="000000"/>
              </a:solidFill>
              <a:latin typeface="Bai Jamjuree"/>
              <a:ea typeface="Bai Jamjuree"/>
              <a:cs typeface="Bai Jamjuree"/>
              <a:sym typeface="Bai Jamjuree"/>
            </a:endParaRPr>
          </a:p>
        </p:txBody>
      </p:sp>
      <p:sp>
        <p:nvSpPr>
          <p:cNvPr id="129" name="Google Shape;129;p2"/>
          <p:cNvSpPr/>
          <p:nvPr/>
        </p:nvSpPr>
        <p:spPr>
          <a:xfrm>
            <a:off x="1857084" y="4836542"/>
            <a:ext cx="5462240" cy="660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130" name="Google Shape;130;p2"/>
          <p:cNvSpPr/>
          <p:nvPr/>
        </p:nvSpPr>
        <p:spPr>
          <a:xfrm>
            <a:off x="695679" y="398221"/>
            <a:ext cx="1141923" cy="723293"/>
          </a:xfrm>
          <a:custGeom>
            <a:rect b="b" l="l" r="r" t="t"/>
            <a:pathLst>
              <a:path extrusionOk="0" h="723293" w="114192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31" name="Google Shape;131;p2"/>
          <p:cNvSpPr/>
          <p:nvPr/>
        </p:nvSpPr>
        <p:spPr>
          <a:xfrm>
            <a:off x="7237727" y="883631"/>
            <a:ext cx="1141923" cy="723293"/>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37" name="Google Shape;137;p3"/>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138" name="Google Shape;138;p3"/>
          <p:cNvGrpSpPr/>
          <p:nvPr/>
        </p:nvGrpSpPr>
        <p:grpSpPr>
          <a:xfrm>
            <a:off x="5776170" y="9896475"/>
            <a:ext cx="6735680" cy="408188"/>
            <a:chOff x="0" y="0"/>
            <a:chExt cx="8980907" cy="544250"/>
          </a:xfrm>
        </p:grpSpPr>
        <p:sp>
          <p:nvSpPr>
            <p:cNvPr id="139" name="Google Shape;139;p3"/>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40" name="Google Shape;140;p3"/>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141" name="Google Shape;141;p3"/>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pic>
        <p:nvPicPr>
          <p:cNvPr id="142" name="Google Shape;142;p3"/>
          <p:cNvPicPr preferRelativeResize="0"/>
          <p:nvPr/>
        </p:nvPicPr>
        <p:blipFill rotWithShape="1">
          <a:blip r:embed="rId4">
            <a:alphaModFix/>
          </a:blip>
          <a:srcRect b="0" l="0" r="0" t="0"/>
          <a:stretch/>
        </p:blipFill>
        <p:spPr>
          <a:xfrm>
            <a:off x="1196483" y="3400175"/>
            <a:ext cx="8303280" cy="5160550"/>
          </a:xfrm>
          <a:prstGeom prst="rect">
            <a:avLst/>
          </a:prstGeom>
          <a:noFill/>
          <a:ln>
            <a:noFill/>
          </a:ln>
        </p:spPr>
      </p:pic>
      <p:sp>
        <p:nvSpPr>
          <p:cNvPr id="143" name="Google Shape;143;p3"/>
          <p:cNvSpPr txBox="1"/>
          <p:nvPr/>
        </p:nvSpPr>
        <p:spPr>
          <a:xfrm>
            <a:off x="10011285" y="2901712"/>
            <a:ext cx="6086364" cy="321242"/>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i="0" lang="en-US" sz="2000" u="none" cap="none" strike="noStrike">
                <a:solidFill>
                  <a:srgbClr val="1F2937"/>
                </a:solidFill>
                <a:latin typeface="Bai Jamjuree"/>
                <a:ea typeface="Bai Jamjuree"/>
                <a:cs typeface="Bai Jamjuree"/>
                <a:sym typeface="Bai Jamjuree"/>
              </a:rPr>
              <a:t>Điểm khác biệt theo loại hình cửa hàng</a:t>
            </a:r>
            <a:endParaRPr b="0" i="0" sz="2000" u="none" cap="none" strike="noStrike">
              <a:solidFill>
                <a:srgbClr val="000000"/>
              </a:solidFill>
              <a:latin typeface="Bai Jamjuree"/>
              <a:ea typeface="Bai Jamjuree"/>
              <a:cs typeface="Bai Jamjuree"/>
              <a:sym typeface="Bai Jamjuree"/>
            </a:endParaRPr>
          </a:p>
        </p:txBody>
      </p:sp>
      <p:sp>
        <p:nvSpPr>
          <p:cNvPr id="144" name="Google Shape;144;p3"/>
          <p:cNvSpPr/>
          <p:nvPr/>
        </p:nvSpPr>
        <p:spPr>
          <a:xfrm>
            <a:off x="746252" y="35561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3"/>
          <p:cNvSpPr txBox="1"/>
          <p:nvPr/>
        </p:nvSpPr>
        <p:spPr>
          <a:xfrm>
            <a:off x="936033" y="640570"/>
            <a:ext cx="9231879"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BỐI CẢNH VÀ THÁCH THỨC CHUNG</a:t>
            </a:r>
            <a:endParaRPr b="1" i="0" sz="2249" u="none" cap="none" strike="noStrike">
              <a:solidFill>
                <a:srgbClr val="0050AB"/>
              </a:solidFill>
              <a:latin typeface="Bai Jamjuree"/>
              <a:ea typeface="Bai Jamjuree"/>
              <a:cs typeface="Bai Jamjuree"/>
              <a:sym typeface="Bai Jamjuree"/>
            </a:endParaRPr>
          </a:p>
        </p:txBody>
      </p:sp>
      <p:sp>
        <p:nvSpPr>
          <p:cNvPr id="146" name="Google Shape;146;p3"/>
          <p:cNvSpPr txBox="1"/>
          <p:nvPr/>
        </p:nvSpPr>
        <p:spPr>
          <a:xfrm>
            <a:off x="10646636" y="3521405"/>
            <a:ext cx="9144000" cy="369332"/>
          </a:xfrm>
          <a:prstGeom prst="rect">
            <a:avLst/>
          </a:prstGeom>
          <a:noFill/>
          <a:ln>
            <a:noFill/>
          </a:ln>
        </p:spPr>
        <p:txBody>
          <a:bodyPr anchorCtr="0" anchor="t" bIns="45700" lIns="91425" spcFirstLastPara="1" rIns="91425" wrap="square" tIns="45700">
            <a:spAutoFit/>
          </a:bodyPr>
          <a:lstStyle/>
          <a:p>
            <a:pPr indent="0" lvl="0" marL="27305"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Cửa hàng bán lẻ truyền thống</a:t>
            </a:r>
            <a:endParaRPr b="0" i="0" sz="1800" u="none" cap="none" strike="noStrike">
              <a:solidFill>
                <a:schemeClr val="dk1"/>
              </a:solidFill>
              <a:latin typeface="Bai Jamjuree"/>
              <a:ea typeface="Bai Jamjuree"/>
              <a:cs typeface="Bai Jamjuree"/>
              <a:sym typeface="Bai Jamjuree"/>
            </a:endParaRPr>
          </a:p>
        </p:txBody>
      </p:sp>
      <p:grpSp>
        <p:nvGrpSpPr>
          <p:cNvPr id="147" name="Google Shape;147;p3"/>
          <p:cNvGrpSpPr/>
          <p:nvPr/>
        </p:nvGrpSpPr>
        <p:grpSpPr>
          <a:xfrm>
            <a:off x="10002449" y="3400175"/>
            <a:ext cx="7058801" cy="1406720"/>
            <a:chOff x="10069480" y="3981536"/>
            <a:chExt cx="7058801" cy="1406720"/>
          </a:xfrm>
        </p:grpSpPr>
        <p:sp>
          <p:nvSpPr>
            <p:cNvPr id="148" name="Google Shape;148;p3"/>
            <p:cNvSpPr txBox="1"/>
            <p:nvPr/>
          </p:nvSpPr>
          <p:spPr>
            <a:xfrm>
              <a:off x="10911691" y="5006910"/>
              <a:ext cx="6197854" cy="262892"/>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0" i="1" lang="en-US" sz="1600" u="none" cap="none" strike="noStrike">
                  <a:solidFill>
                    <a:srgbClr val="4A5462"/>
                  </a:solidFill>
                  <a:latin typeface="Bai Jamjuree"/>
                  <a:ea typeface="Bai Jamjuree"/>
                  <a:cs typeface="Bai Jamjuree"/>
                  <a:sym typeface="Bai Jamjuree"/>
                </a:rPr>
                <a:t>Thách thức: Chi phí vận hành, tiếp cận khách hàng giới hạn.</a:t>
              </a:r>
              <a:endParaRPr b="0" i="0" sz="1600" u="none" cap="none" strike="noStrike">
                <a:solidFill>
                  <a:srgbClr val="000000"/>
                </a:solidFill>
                <a:latin typeface="Bai Jamjuree"/>
                <a:ea typeface="Bai Jamjuree"/>
                <a:cs typeface="Bai Jamjuree"/>
                <a:sym typeface="Bai Jamjuree"/>
              </a:endParaRPr>
            </a:p>
          </p:txBody>
        </p:sp>
        <p:sp>
          <p:nvSpPr>
            <p:cNvPr id="149" name="Google Shape;149;p3"/>
            <p:cNvSpPr/>
            <p:nvPr/>
          </p:nvSpPr>
          <p:spPr>
            <a:xfrm>
              <a:off x="10069480" y="3981536"/>
              <a:ext cx="7058801" cy="140672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accent1"/>
                </a:solidFill>
                <a:latin typeface="Bai Jamjuree"/>
                <a:ea typeface="Bai Jamjuree"/>
                <a:cs typeface="Bai Jamjuree"/>
                <a:sym typeface="Bai Jamjuree"/>
              </a:endParaRPr>
            </a:p>
          </p:txBody>
        </p:sp>
        <p:pic>
          <p:nvPicPr>
            <p:cNvPr descr="Store with solid fill" id="150" name="Google Shape;150;p3"/>
            <p:cNvPicPr preferRelativeResize="0"/>
            <p:nvPr/>
          </p:nvPicPr>
          <p:blipFill rotWithShape="1">
            <a:blip r:embed="rId5">
              <a:alphaModFix/>
            </a:blip>
            <a:srcRect b="0" l="0" r="0" t="0"/>
            <a:stretch/>
          </p:blipFill>
          <p:spPr>
            <a:xfrm>
              <a:off x="10171719" y="4267481"/>
              <a:ext cx="457200" cy="457200"/>
            </a:xfrm>
            <a:prstGeom prst="rect">
              <a:avLst/>
            </a:prstGeom>
            <a:noFill/>
            <a:ln>
              <a:noFill/>
            </a:ln>
          </p:spPr>
        </p:pic>
        <p:sp>
          <p:nvSpPr>
            <p:cNvPr id="151" name="Google Shape;151;p3"/>
            <p:cNvSpPr/>
            <p:nvPr/>
          </p:nvSpPr>
          <p:spPr>
            <a:xfrm>
              <a:off x="10865695" y="4558704"/>
              <a:ext cx="2030497" cy="296513"/>
            </a:xfrm>
            <a:prstGeom prst="roundRect">
              <a:avLst>
                <a:gd fmla="val 16667" name="adj"/>
              </a:avLst>
            </a:prstGeom>
            <a:solidFill>
              <a:srgbClr val="538CD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Trải nghiệm trực tiếp</a:t>
              </a:r>
              <a:endParaRPr b="0" i="0" sz="1400" u="none" cap="none" strike="noStrike">
                <a:solidFill>
                  <a:schemeClr val="lt1"/>
                </a:solidFill>
                <a:latin typeface="Arial"/>
                <a:ea typeface="Arial"/>
                <a:cs typeface="Arial"/>
                <a:sym typeface="Arial"/>
              </a:endParaRPr>
            </a:p>
          </p:txBody>
        </p:sp>
        <p:sp>
          <p:nvSpPr>
            <p:cNvPr id="152" name="Google Shape;152;p3"/>
            <p:cNvSpPr/>
            <p:nvPr/>
          </p:nvSpPr>
          <p:spPr>
            <a:xfrm>
              <a:off x="12995370" y="4552020"/>
              <a:ext cx="2030497" cy="296513"/>
            </a:xfrm>
            <a:prstGeom prst="roundRect">
              <a:avLst>
                <a:gd fmla="val 16667" name="adj"/>
              </a:avLst>
            </a:prstGeom>
            <a:solidFill>
              <a:srgbClr val="538CD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T</a:t>
              </a:r>
              <a:r>
                <a:rPr b="0" i="0" lang="en-US" sz="1400" u="none" cap="none" strike="noStrike">
                  <a:solidFill>
                    <a:schemeClr val="lt1"/>
                  </a:solidFill>
                  <a:latin typeface="Arial"/>
                  <a:ea typeface="Arial"/>
                  <a:cs typeface="Arial"/>
                  <a:sym typeface="Arial"/>
                </a:rPr>
                <a:t>ối ưu không gian</a:t>
              </a:r>
              <a:endParaRPr b="0" i="0" sz="1400" u="none" cap="none" strike="noStrike">
                <a:solidFill>
                  <a:schemeClr val="lt1"/>
                </a:solidFill>
                <a:latin typeface="Arial"/>
                <a:ea typeface="Arial"/>
                <a:cs typeface="Arial"/>
                <a:sym typeface="Arial"/>
              </a:endParaRPr>
            </a:p>
          </p:txBody>
        </p:sp>
      </p:grpSp>
      <p:grpSp>
        <p:nvGrpSpPr>
          <p:cNvPr id="153" name="Google Shape;153;p3"/>
          <p:cNvGrpSpPr/>
          <p:nvPr/>
        </p:nvGrpSpPr>
        <p:grpSpPr>
          <a:xfrm>
            <a:off x="10002448" y="5028245"/>
            <a:ext cx="7058801" cy="1406720"/>
            <a:chOff x="10069480" y="3981536"/>
            <a:chExt cx="7058801" cy="1406720"/>
          </a:xfrm>
        </p:grpSpPr>
        <p:sp>
          <p:nvSpPr>
            <p:cNvPr id="154" name="Google Shape;154;p3"/>
            <p:cNvSpPr txBox="1"/>
            <p:nvPr/>
          </p:nvSpPr>
          <p:spPr>
            <a:xfrm>
              <a:off x="10911691" y="5006910"/>
              <a:ext cx="6197854" cy="262892"/>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0" i="1" lang="en-US" sz="1600" u="none" cap="none" strike="noStrike">
                  <a:solidFill>
                    <a:srgbClr val="4A5462"/>
                  </a:solidFill>
                  <a:latin typeface="Bai Jamjuree"/>
                  <a:ea typeface="Bai Jamjuree"/>
                  <a:cs typeface="Bai Jamjuree"/>
                  <a:sym typeface="Bai Jamjuree"/>
                </a:rPr>
                <a:t>Cơ hội: Nâng tầm trải nghiệm, thu hút khách hàng công nghệ</a:t>
              </a:r>
              <a:endParaRPr b="0" i="0" sz="1600" u="none" cap="none" strike="noStrike">
                <a:solidFill>
                  <a:srgbClr val="000000"/>
                </a:solidFill>
                <a:latin typeface="Bai Jamjuree"/>
                <a:ea typeface="Bai Jamjuree"/>
                <a:cs typeface="Bai Jamjuree"/>
                <a:sym typeface="Bai Jamjuree"/>
              </a:endParaRPr>
            </a:p>
          </p:txBody>
        </p:sp>
        <p:sp>
          <p:nvSpPr>
            <p:cNvPr id="155" name="Google Shape;155;p3"/>
            <p:cNvSpPr/>
            <p:nvPr/>
          </p:nvSpPr>
          <p:spPr>
            <a:xfrm>
              <a:off x="10069480" y="3981536"/>
              <a:ext cx="7058801" cy="140672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accent1"/>
                </a:solidFill>
                <a:latin typeface="Bai Jamjuree"/>
                <a:ea typeface="Bai Jamjuree"/>
                <a:cs typeface="Bai Jamjuree"/>
                <a:sym typeface="Bai Jamjuree"/>
              </a:endParaRPr>
            </a:p>
          </p:txBody>
        </p:sp>
        <p:pic>
          <p:nvPicPr>
            <p:cNvPr descr="Store with solid fill" id="156" name="Google Shape;156;p3"/>
            <p:cNvPicPr preferRelativeResize="0"/>
            <p:nvPr/>
          </p:nvPicPr>
          <p:blipFill rotWithShape="1">
            <a:blip r:embed="rId5">
              <a:alphaModFix/>
            </a:blip>
            <a:srcRect b="0" l="0" r="0" t="0"/>
            <a:stretch/>
          </p:blipFill>
          <p:spPr>
            <a:xfrm>
              <a:off x="10171719" y="4267481"/>
              <a:ext cx="457200" cy="457200"/>
            </a:xfrm>
            <a:prstGeom prst="rect">
              <a:avLst/>
            </a:prstGeom>
            <a:noFill/>
            <a:ln>
              <a:noFill/>
            </a:ln>
          </p:spPr>
        </p:pic>
        <p:sp>
          <p:nvSpPr>
            <p:cNvPr id="157" name="Google Shape;157;p3"/>
            <p:cNvSpPr/>
            <p:nvPr/>
          </p:nvSpPr>
          <p:spPr>
            <a:xfrm>
              <a:off x="10865695" y="4576775"/>
              <a:ext cx="2440403" cy="278442"/>
            </a:xfrm>
            <a:prstGeom prst="roundRect">
              <a:avLst>
                <a:gd fmla="val 16667" name="adj"/>
              </a:avLst>
            </a:prstGeom>
            <a:solidFill>
              <a:schemeClr val="accent4">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7030A0"/>
                  </a:solidFill>
                  <a:latin typeface="Arial"/>
                  <a:ea typeface="Arial"/>
                  <a:cs typeface="Arial"/>
                  <a:sym typeface="Arial"/>
                </a:rPr>
                <a:t>Trải nghiệm sản phẩm 3D</a:t>
              </a:r>
              <a:endParaRPr/>
            </a:p>
          </p:txBody>
        </p:sp>
        <p:sp>
          <p:nvSpPr>
            <p:cNvPr id="158" name="Google Shape;158;p3"/>
            <p:cNvSpPr/>
            <p:nvPr/>
          </p:nvSpPr>
          <p:spPr>
            <a:xfrm>
              <a:off x="13391090" y="4561423"/>
              <a:ext cx="2030497" cy="296513"/>
            </a:xfrm>
            <a:prstGeom prst="roundRect">
              <a:avLst>
                <a:gd fmla="val 16667" name="adj"/>
              </a:avLst>
            </a:prstGeom>
            <a:solidFill>
              <a:schemeClr val="accent4">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7030A0"/>
                  </a:solidFill>
                  <a:latin typeface="Arial"/>
                  <a:ea typeface="Arial"/>
                  <a:cs typeface="Arial"/>
                  <a:sym typeface="Arial"/>
                </a:rPr>
                <a:t>Thực tế ảo</a:t>
              </a:r>
              <a:endParaRPr b="0" i="0" sz="1400" u="none" cap="none" strike="noStrike">
                <a:solidFill>
                  <a:srgbClr val="7030A0"/>
                </a:solidFill>
                <a:latin typeface="Arial"/>
                <a:ea typeface="Arial"/>
                <a:cs typeface="Arial"/>
                <a:sym typeface="Arial"/>
              </a:endParaRPr>
            </a:p>
          </p:txBody>
        </p:sp>
      </p:grpSp>
      <p:sp>
        <p:nvSpPr>
          <p:cNvPr id="159" name="Google Shape;159;p3"/>
          <p:cNvSpPr txBox="1"/>
          <p:nvPr/>
        </p:nvSpPr>
        <p:spPr>
          <a:xfrm>
            <a:off x="10664126" y="5125406"/>
            <a:ext cx="9144000" cy="369332"/>
          </a:xfrm>
          <a:prstGeom prst="rect">
            <a:avLst/>
          </a:prstGeom>
          <a:noFill/>
          <a:ln>
            <a:noFill/>
          </a:ln>
        </p:spPr>
        <p:txBody>
          <a:bodyPr anchorCtr="0" anchor="t" bIns="45700" lIns="91425" spcFirstLastPara="1" rIns="91425" wrap="square" tIns="45700">
            <a:spAutoFit/>
          </a:bodyPr>
          <a:lstStyle/>
          <a:p>
            <a:pPr indent="0" lvl="0" marL="27305"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Showroom &amp; Cửa hàng trưng bày</a:t>
            </a:r>
            <a:endParaRPr/>
          </a:p>
        </p:txBody>
      </p:sp>
      <p:grpSp>
        <p:nvGrpSpPr>
          <p:cNvPr id="160" name="Google Shape;160;p3"/>
          <p:cNvGrpSpPr/>
          <p:nvPr/>
        </p:nvGrpSpPr>
        <p:grpSpPr>
          <a:xfrm>
            <a:off x="10011285" y="6722861"/>
            <a:ext cx="7058801" cy="1406720"/>
            <a:chOff x="10069480" y="3981536"/>
            <a:chExt cx="7058801" cy="1406720"/>
          </a:xfrm>
        </p:grpSpPr>
        <p:sp>
          <p:nvSpPr>
            <p:cNvPr id="161" name="Google Shape;161;p3"/>
            <p:cNvSpPr txBox="1"/>
            <p:nvPr/>
          </p:nvSpPr>
          <p:spPr>
            <a:xfrm>
              <a:off x="10911691" y="5006910"/>
              <a:ext cx="6197854" cy="262892"/>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0" i="1" lang="en-US" sz="1600" u="none" cap="none" strike="noStrike">
                  <a:solidFill>
                    <a:srgbClr val="4A5462"/>
                  </a:solidFill>
                  <a:latin typeface="Bai Jamjuree"/>
                  <a:ea typeface="Bai Jamjuree"/>
                  <a:cs typeface="Bai Jamjuree"/>
                  <a:sym typeface="Bai Jamjuree"/>
                </a:rPr>
                <a:t>Thách thức: Thời gian ngắn, xây dựng thương hiệu nhanh.</a:t>
              </a:r>
              <a:endParaRPr/>
            </a:p>
          </p:txBody>
        </p:sp>
        <p:sp>
          <p:nvSpPr>
            <p:cNvPr id="162" name="Google Shape;162;p3"/>
            <p:cNvSpPr/>
            <p:nvPr/>
          </p:nvSpPr>
          <p:spPr>
            <a:xfrm>
              <a:off x="10069480" y="3981536"/>
              <a:ext cx="7058801" cy="140672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accent1"/>
                </a:solidFill>
                <a:latin typeface="Bai Jamjuree"/>
                <a:ea typeface="Bai Jamjuree"/>
                <a:cs typeface="Bai Jamjuree"/>
                <a:sym typeface="Bai Jamjuree"/>
              </a:endParaRPr>
            </a:p>
          </p:txBody>
        </p:sp>
        <p:pic>
          <p:nvPicPr>
            <p:cNvPr descr="Store with solid fill" id="163" name="Google Shape;163;p3"/>
            <p:cNvPicPr preferRelativeResize="0"/>
            <p:nvPr/>
          </p:nvPicPr>
          <p:blipFill rotWithShape="1">
            <a:blip r:embed="rId5">
              <a:alphaModFix/>
            </a:blip>
            <a:srcRect b="0" l="0" r="0" t="0"/>
            <a:stretch/>
          </p:blipFill>
          <p:spPr>
            <a:xfrm>
              <a:off x="10171719" y="4267481"/>
              <a:ext cx="457200" cy="457200"/>
            </a:xfrm>
            <a:prstGeom prst="rect">
              <a:avLst/>
            </a:prstGeom>
            <a:noFill/>
            <a:ln>
              <a:noFill/>
            </a:ln>
          </p:spPr>
        </p:pic>
        <p:sp>
          <p:nvSpPr>
            <p:cNvPr id="164" name="Google Shape;164;p3"/>
            <p:cNvSpPr/>
            <p:nvPr/>
          </p:nvSpPr>
          <p:spPr>
            <a:xfrm>
              <a:off x="10865695" y="4576775"/>
              <a:ext cx="2440403" cy="278442"/>
            </a:xfrm>
            <a:prstGeom prst="roundRect">
              <a:avLst>
                <a:gd fmla="val 16667" name="adj"/>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974806"/>
                  </a:solidFill>
                  <a:latin typeface="Arial"/>
                  <a:ea typeface="Arial"/>
                  <a:cs typeface="Arial"/>
                  <a:sym typeface="Arial"/>
                </a:rPr>
                <a:t>Linh hoạt địa điểm</a:t>
              </a:r>
              <a:endParaRPr b="0" i="0" sz="1400" u="none" cap="none" strike="noStrike">
                <a:solidFill>
                  <a:srgbClr val="974806"/>
                </a:solidFill>
                <a:latin typeface="Arial"/>
                <a:ea typeface="Arial"/>
                <a:cs typeface="Arial"/>
                <a:sym typeface="Arial"/>
              </a:endParaRPr>
            </a:p>
          </p:txBody>
        </p:sp>
        <p:sp>
          <p:nvSpPr>
            <p:cNvPr id="165" name="Google Shape;165;p3"/>
            <p:cNvSpPr/>
            <p:nvPr/>
          </p:nvSpPr>
          <p:spPr>
            <a:xfrm>
              <a:off x="13391090" y="4561423"/>
              <a:ext cx="2030497" cy="296513"/>
            </a:xfrm>
            <a:prstGeom prst="roundRect">
              <a:avLst>
                <a:gd fmla="val 16667" name="adj"/>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974806"/>
                  </a:solidFill>
                  <a:latin typeface="Arial"/>
                  <a:ea typeface="Arial"/>
                  <a:cs typeface="Arial"/>
                  <a:sym typeface="Arial"/>
                </a:rPr>
                <a:t>Hiệu quả chi phí</a:t>
              </a:r>
              <a:endParaRPr b="0" i="0" sz="1400" u="none" cap="none" strike="noStrike">
                <a:solidFill>
                  <a:srgbClr val="974806"/>
                </a:solidFill>
                <a:latin typeface="Arial"/>
                <a:ea typeface="Arial"/>
                <a:cs typeface="Arial"/>
                <a:sym typeface="Arial"/>
              </a:endParaRPr>
            </a:p>
          </p:txBody>
        </p:sp>
      </p:grpSp>
      <p:sp>
        <p:nvSpPr>
          <p:cNvPr id="166" name="Google Shape;166;p3"/>
          <p:cNvSpPr txBox="1"/>
          <p:nvPr/>
        </p:nvSpPr>
        <p:spPr>
          <a:xfrm>
            <a:off x="10672963" y="6820022"/>
            <a:ext cx="9144000" cy="369332"/>
          </a:xfrm>
          <a:prstGeom prst="rect">
            <a:avLst/>
          </a:prstGeom>
          <a:noFill/>
          <a:ln>
            <a:noFill/>
          </a:ln>
        </p:spPr>
        <p:txBody>
          <a:bodyPr anchorCtr="0" anchor="t" bIns="45700" lIns="91425" spcFirstLastPara="1" rIns="91425" wrap="square" tIns="45700">
            <a:spAutoFit/>
          </a:bodyPr>
          <a:lstStyle/>
          <a:p>
            <a:pPr indent="0" lvl="0" marL="27305"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Cửa hàng Pop-up &amp; Ki-ốt</a:t>
            </a:r>
            <a:endParaRPr/>
          </a:p>
        </p:txBody>
      </p:sp>
      <p:grpSp>
        <p:nvGrpSpPr>
          <p:cNvPr id="167" name="Google Shape;167;p3"/>
          <p:cNvGrpSpPr/>
          <p:nvPr/>
        </p:nvGrpSpPr>
        <p:grpSpPr>
          <a:xfrm>
            <a:off x="1196483" y="1284736"/>
            <a:ext cx="8331667" cy="1834996"/>
            <a:chOff x="1196483" y="866486"/>
            <a:chExt cx="8331667" cy="1834996"/>
          </a:xfrm>
        </p:grpSpPr>
        <p:grpSp>
          <p:nvGrpSpPr>
            <p:cNvPr id="168" name="Google Shape;168;p3"/>
            <p:cNvGrpSpPr/>
            <p:nvPr/>
          </p:nvGrpSpPr>
          <p:grpSpPr>
            <a:xfrm>
              <a:off x="1196483" y="866486"/>
              <a:ext cx="8331667" cy="1834996"/>
              <a:chOff x="969987" y="1341508"/>
              <a:chExt cx="8331667" cy="1548307"/>
            </a:xfrm>
          </p:grpSpPr>
          <p:grpSp>
            <p:nvGrpSpPr>
              <p:cNvPr id="169" name="Google Shape;169;p3"/>
              <p:cNvGrpSpPr/>
              <p:nvPr/>
            </p:nvGrpSpPr>
            <p:grpSpPr>
              <a:xfrm>
                <a:off x="969987" y="1341508"/>
                <a:ext cx="8331667" cy="1548307"/>
                <a:chOff x="380999" y="2307450"/>
                <a:chExt cx="5591175" cy="1369199"/>
              </a:xfrm>
            </p:grpSpPr>
            <p:sp>
              <p:nvSpPr>
                <p:cNvPr id="170" name="Google Shape;170;p3"/>
                <p:cNvSpPr/>
                <p:nvPr/>
              </p:nvSpPr>
              <p:spPr>
                <a:xfrm>
                  <a:off x="400049" y="2307450"/>
                  <a:ext cx="5572125" cy="1369199"/>
                </a:xfrm>
                <a:custGeom>
                  <a:rect b="b" l="l" r="r" t="t"/>
                  <a:pathLst>
                    <a:path extrusionOk="0" h="1285875" w="5572125">
                      <a:moveTo>
                        <a:pt x="5492384" y="1285874"/>
                      </a:moveTo>
                      <a:lnTo>
                        <a:pt x="0" y="1285874"/>
                      </a:lnTo>
                      <a:lnTo>
                        <a:pt x="0" y="0"/>
                      </a:lnTo>
                      <a:lnTo>
                        <a:pt x="5492384" y="0"/>
                      </a:lnTo>
                      <a:lnTo>
                        <a:pt x="5497934" y="546"/>
                      </a:lnTo>
                      <a:lnTo>
                        <a:pt x="5538854" y="17496"/>
                      </a:lnTo>
                      <a:lnTo>
                        <a:pt x="5563482" y="47506"/>
                      </a:lnTo>
                      <a:lnTo>
                        <a:pt x="5572124" y="79740"/>
                      </a:lnTo>
                      <a:lnTo>
                        <a:pt x="5572124" y="1206134"/>
                      </a:lnTo>
                      <a:lnTo>
                        <a:pt x="5560853" y="1243285"/>
                      </a:lnTo>
                      <a:lnTo>
                        <a:pt x="5529535" y="1274604"/>
                      </a:lnTo>
                      <a:lnTo>
                        <a:pt x="5492384" y="1285874"/>
                      </a:lnTo>
                      <a:close/>
                    </a:path>
                  </a:pathLst>
                </a:custGeom>
                <a:solidFill>
                  <a:srgbClr val="F9FAF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71" name="Google Shape;171;p3"/>
                <p:cNvSpPr/>
                <p:nvPr/>
              </p:nvSpPr>
              <p:spPr>
                <a:xfrm>
                  <a:off x="380999" y="2390774"/>
                  <a:ext cx="38100" cy="1285875"/>
                </a:xfrm>
                <a:custGeom>
                  <a:rect b="b" l="l" r="r" t="t"/>
                  <a:pathLst>
                    <a:path extrusionOk="0" h="1285875" w="38100">
                      <a:moveTo>
                        <a:pt x="38099" y="1285874"/>
                      </a:moveTo>
                      <a:lnTo>
                        <a:pt x="0" y="1285874"/>
                      </a:lnTo>
                      <a:lnTo>
                        <a:pt x="0" y="0"/>
                      </a:lnTo>
                      <a:lnTo>
                        <a:pt x="38099" y="0"/>
                      </a:lnTo>
                      <a:lnTo>
                        <a:pt x="38099" y="1285874"/>
                      </a:lnTo>
                      <a:close/>
                    </a:path>
                  </a:pathLst>
                </a:custGeom>
                <a:solidFill>
                  <a:srgbClr val="21C45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sp>
            <p:nvSpPr>
              <p:cNvPr id="172" name="Google Shape;172;p3"/>
              <p:cNvSpPr txBox="1"/>
              <p:nvPr/>
            </p:nvSpPr>
            <p:spPr>
              <a:xfrm>
                <a:off x="1725541" y="1442362"/>
                <a:ext cx="7076445" cy="1415003"/>
              </a:xfrm>
              <a:prstGeom prst="rect">
                <a:avLst/>
              </a:prstGeom>
              <a:noFill/>
              <a:ln>
                <a:noFill/>
              </a:ln>
            </p:spPr>
            <p:txBody>
              <a:bodyPr anchorCtr="0" anchor="t" bIns="0" lIns="0" spcFirstLastPara="1" rIns="0" wrap="square" tIns="11425">
                <a:spAutoFit/>
              </a:bodyPr>
              <a:lstStyle/>
              <a:p>
                <a:pPr indent="0" lvl="0" marL="12700" marR="0" rtl="0" algn="l">
                  <a:lnSpc>
                    <a:spcPct val="200000"/>
                  </a:lnSpc>
                  <a:spcBef>
                    <a:spcPts val="0"/>
                  </a:spcBef>
                  <a:spcAft>
                    <a:spcPts val="0"/>
                  </a:spcAft>
                  <a:buNone/>
                </a:pPr>
                <a:r>
                  <a:rPr b="1" i="0" lang="en-US" sz="1600" u="none" cap="none" strike="noStrike">
                    <a:solidFill>
                      <a:srgbClr val="374050"/>
                    </a:solidFill>
                    <a:latin typeface="Bai Jamjuree"/>
                    <a:ea typeface="Bai Jamjuree"/>
                    <a:cs typeface="Bai Jamjuree"/>
                    <a:sym typeface="Bai Jamjuree"/>
                  </a:rPr>
                  <a:t>Sự đa dạng của khách hàng và nhu cầu thị trường.</a:t>
                </a:r>
                <a:endParaRPr b="1" i="0" sz="1600" u="none" cap="none" strike="noStrike">
                  <a:solidFill>
                    <a:srgbClr val="000000"/>
                  </a:solidFill>
                  <a:latin typeface="Bai Jamjuree"/>
                  <a:ea typeface="Bai Jamjuree"/>
                  <a:cs typeface="Bai Jamjuree"/>
                  <a:sym typeface="Bai Jamjuree"/>
                </a:endParaRPr>
              </a:p>
              <a:p>
                <a:pPr indent="0" lvl="0" marL="12700" marR="5080" rtl="0" algn="l">
                  <a:lnSpc>
                    <a:spcPct val="200000"/>
                  </a:lnSpc>
                  <a:spcBef>
                    <a:spcPts val="0"/>
                  </a:spcBef>
                  <a:spcAft>
                    <a:spcPts val="0"/>
                  </a:spcAft>
                  <a:buNone/>
                </a:pPr>
                <a:r>
                  <a:rPr b="1" i="0" lang="en-US" sz="1600" u="none" cap="none" strike="noStrike">
                    <a:solidFill>
                      <a:srgbClr val="374050"/>
                    </a:solidFill>
                    <a:latin typeface="Bai Jamjuree"/>
                    <a:ea typeface="Bai Jamjuree"/>
                    <a:cs typeface="Bai Jamjuree"/>
                    <a:sym typeface="Bai Jamjuree"/>
                  </a:rPr>
                  <a:t>Thách thức tối ưu hóa không gian trưng bày hiệu quả. </a:t>
                </a:r>
                <a:endParaRPr b="1" i="0" sz="1600" u="none" cap="none" strike="noStrike">
                  <a:solidFill>
                    <a:srgbClr val="374050"/>
                  </a:solidFill>
                  <a:latin typeface="Bai Jamjuree"/>
                  <a:ea typeface="Bai Jamjuree"/>
                  <a:cs typeface="Bai Jamjuree"/>
                  <a:sym typeface="Bai Jamjuree"/>
                </a:endParaRPr>
              </a:p>
              <a:p>
                <a:pPr indent="0" lvl="0" marL="12700" marR="5080" rtl="0" algn="l">
                  <a:lnSpc>
                    <a:spcPct val="200000"/>
                  </a:lnSpc>
                  <a:spcBef>
                    <a:spcPts val="0"/>
                  </a:spcBef>
                  <a:spcAft>
                    <a:spcPts val="0"/>
                  </a:spcAft>
                  <a:buNone/>
                </a:pPr>
                <a:r>
                  <a:rPr b="1" i="0" lang="en-US" sz="1600" u="none" cap="none" strike="noStrike">
                    <a:solidFill>
                      <a:srgbClr val="374050"/>
                    </a:solidFill>
                    <a:latin typeface="Bai Jamjuree"/>
                    <a:ea typeface="Bai Jamjuree"/>
                    <a:cs typeface="Bai Jamjuree"/>
                    <a:sym typeface="Bai Jamjuree"/>
                  </a:rPr>
                  <a:t>Cạnh tranh gay gắt từ thương mại điện tử.</a:t>
                </a:r>
                <a:endParaRPr b="1" i="0" sz="1600" u="none" cap="none" strike="noStrike">
                  <a:solidFill>
                    <a:srgbClr val="000000"/>
                  </a:solidFill>
                  <a:latin typeface="Bai Jamjuree"/>
                  <a:ea typeface="Bai Jamjuree"/>
                  <a:cs typeface="Bai Jamjuree"/>
                  <a:sym typeface="Bai Jamjuree"/>
                </a:endParaRPr>
              </a:p>
            </p:txBody>
          </p:sp>
        </p:grpSp>
        <p:pic>
          <p:nvPicPr>
            <p:cNvPr descr="Globe outline" id="173" name="Google Shape;173;p3"/>
            <p:cNvPicPr preferRelativeResize="0"/>
            <p:nvPr/>
          </p:nvPicPr>
          <p:blipFill rotWithShape="1">
            <a:blip r:embed="rId6">
              <a:alphaModFix/>
            </a:blip>
            <a:srcRect b="0" l="0" r="0" t="0"/>
            <a:stretch/>
          </p:blipFill>
          <p:spPr>
            <a:xfrm>
              <a:off x="1398064" y="977451"/>
              <a:ext cx="525376" cy="525376"/>
            </a:xfrm>
            <a:prstGeom prst="rect">
              <a:avLst/>
            </a:prstGeom>
            <a:noFill/>
            <a:ln>
              <a:noFill/>
            </a:ln>
          </p:spPr>
        </p:pic>
        <p:pic>
          <p:nvPicPr>
            <p:cNvPr descr="Store with solid fill" id="174" name="Google Shape;174;p3"/>
            <p:cNvPicPr preferRelativeResize="0"/>
            <p:nvPr/>
          </p:nvPicPr>
          <p:blipFill rotWithShape="1">
            <a:blip r:embed="rId7">
              <a:alphaModFix/>
            </a:blip>
            <a:srcRect b="0" l="0" r="0" t="0"/>
            <a:stretch/>
          </p:blipFill>
          <p:spPr>
            <a:xfrm>
              <a:off x="1439767" y="1548050"/>
              <a:ext cx="457200" cy="457200"/>
            </a:xfrm>
            <a:prstGeom prst="rect">
              <a:avLst/>
            </a:prstGeom>
            <a:noFill/>
            <a:ln>
              <a:noFill/>
            </a:ln>
          </p:spPr>
        </p:pic>
        <p:pic>
          <p:nvPicPr>
            <p:cNvPr descr="Bar graph with upward trend with solid fill" id="175" name="Google Shape;175;p3"/>
            <p:cNvPicPr preferRelativeResize="0"/>
            <p:nvPr/>
          </p:nvPicPr>
          <p:blipFill rotWithShape="1">
            <a:blip r:embed="rId8">
              <a:alphaModFix/>
            </a:blip>
            <a:srcRect b="0" l="0" r="0" t="0"/>
            <a:stretch/>
          </p:blipFill>
          <p:spPr>
            <a:xfrm>
              <a:off x="1416386" y="2067883"/>
              <a:ext cx="457200" cy="457200"/>
            </a:xfrm>
            <a:prstGeom prst="rect">
              <a:avLst/>
            </a:prstGeom>
            <a:noFill/>
            <a:ln>
              <a:noFill/>
            </a:ln>
          </p:spPr>
        </p:pic>
      </p:grpSp>
      <p:sp>
        <p:nvSpPr>
          <p:cNvPr id="176" name="Google Shape;176;p3"/>
          <p:cNvSpPr txBox="1"/>
          <p:nvPr/>
        </p:nvSpPr>
        <p:spPr>
          <a:xfrm>
            <a:off x="936033" y="277584"/>
            <a:ext cx="9908626" cy="329321"/>
          </a:xfrm>
          <a:prstGeom prst="rect">
            <a:avLst/>
          </a:prstGeom>
          <a:noFill/>
          <a:ln>
            <a:noFill/>
          </a:ln>
        </p:spPr>
        <p:txBody>
          <a:bodyPr anchorCtr="0" anchor="t" bIns="45700" lIns="91425" spcFirstLastPara="1" rIns="91425" wrap="square" tIns="45700">
            <a:spAutoFit/>
          </a:bodyPr>
          <a:lstStyle/>
          <a:p>
            <a:pPr indent="0" lvl="0" marL="0" marR="0" rtl="0" algn="l">
              <a:lnSpc>
                <a:spcPct val="120012"/>
              </a:lnSpc>
              <a:spcBef>
                <a:spcPts val="0"/>
              </a:spcBef>
              <a:spcAft>
                <a:spcPts val="0"/>
              </a:spcAft>
              <a:buClr>
                <a:srgbClr val="000000"/>
              </a:buClr>
              <a:buSzPts val="1400"/>
              <a:buFont typeface="Arial"/>
              <a:buNone/>
            </a:pPr>
            <a:r>
              <a:rPr b="0" i="0" lang="en-US" sz="1400" u="none" cap="none" strike="noStrike">
                <a:solidFill>
                  <a:srgbClr val="4D4D4F"/>
                </a:solidFill>
                <a:latin typeface="Bai Jamjuree"/>
                <a:ea typeface="Bai Jamjuree"/>
                <a:cs typeface="Bai Jamjuree"/>
                <a:sym typeface="Bai Jamjuree"/>
              </a:rPr>
              <a:t>Các loại cửa hàng và thách thức về thiết kế</a:t>
            </a:r>
            <a:endParaRPr b="0" i="0" sz="1400" u="none" cap="none" strike="noStrike">
              <a:solidFill>
                <a:srgbClr val="4D4D4F"/>
              </a:solidFill>
              <a:latin typeface="Bai Jamjuree"/>
              <a:ea typeface="Bai Jamjuree"/>
              <a:cs typeface="Bai Jamjuree"/>
              <a:sym typeface="Bai Jamjure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9"/>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82" name="Google Shape;182;p49"/>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183" name="Google Shape;183;p49"/>
          <p:cNvGrpSpPr/>
          <p:nvPr/>
        </p:nvGrpSpPr>
        <p:grpSpPr>
          <a:xfrm>
            <a:off x="5776170" y="9896475"/>
            <a:ext cx="6735680" cy="408188"/>
            <a:chOff x="0" y="0"/>
            <a:chExt cx="8980907" cy="544250"/>
          </a:xfrm>
        </p:grpSpPr>
        <p:sp>
          <p:nvSpPr>
            <p:cNvPr id="184" name="Google Shape;184;p49"/>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85" name="Google Shape;185;p49"/>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186" name="Google Shape;186;p49"/>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187" name="Google Shape;187;p49"/>
          <p:cNvSpPr txBox="1"/>
          <p:nvPr/>
        </p:nvSpPr>
        <p:spPr>
          <a:xfrm>
            <a:off x="919857" y="4594688"/>
            <a:ext cx="9339828" cy="410177"/>
          </a:xfrm>
          <a:prstGeom prst="rect">
            <a:avLst/>
          </a:prstGeom>
          <a:noFill/>
          <a:ln>
            <a:noFill/>
          </a:ln>
        </p:spPr>
        <p:txBody>
          <a:bodyPr anchorCtr="0" anchor="t" bIns="0" lIns="0" spcFirstLastPara="1" rIns="0" wrap="square" tIns="12050">
            <a:spAutoFit/>
          </a:bodyPr>
          <a:lstStyle/>
          <a:p>
            <a:pPr indent="0" lvl="0" marL="12700" marR="5080" rtl="0" algn="l">
              <a:lnSpc>
                <a:spcPct val="117400"/>
              </a:lnSpc>
              <a:spcBef>
                <a:spcPts val="0"/>
              </a:spcBef>
              <a:spcAft>
                <a:spcPts val="0"/>
              </a:spcAft>
              <a:buNone/>
            </a:pPr>
            <a:r>
              <a:rPr b="1" i="0" lang="en-US" sz="2400" u="none" cap="none" strike="noStrike">
                <a:solidFill>
                  <a:srgbClr val="1A237D"/>
                </a:solidFill>
                <a:latin typeface="Bai Jamjuree"/>
                <a:ea typeface="Bai Jamjuree"/>
                <a:cs typeface="Bai Jamjuree"/>
                <a:sym typeface="Bai Jamjuree"/>
              </a:rPr>
              <a:t>Khách hàng đưa ra quyết định chỉ trong 3 giây đầu tiên.</a:t>
            </a:r>
            <a:endParaRPr b="1" i="0" sz="2400" u="none" cap="none" strike="noStrike">
              <a:solidFill>
                <a:srgbClr val="000000"/>
              </a:solidFill>
              <a:latin typeface="Bai Jamjuree"/>
              <a:ea typeface="Bai Jamjuree"/>
              <a:cs typeface="Bai Jamjuree"/>
              <a:sym typeface="Bai Jamjuree"/>
            </a:endParaRPr>
          </a:p>
        </p:txBody>
      </p:sp>
      <p:pic>
        <p:nvPicPr>
          <p:cNvPr id="188" name="Google Shape;188;p49"/>
          <p:cNvPicPr preferRelativeResize="0"/>
          <p:nvPr/>
        </p:nvPicPr>
        <p:blipFill rotWithShape="1">
          <a:blip r:embed="rId4">
            <a:alphaModFix/>
          </a:blip>
          <a:srcRect b="0" l="0" r="0" t="0"/>
          <a:stretch/>
        </p:blipFill>
        <p:spPr>
          <a:xfrm>
            <a:off x="10374477" y="1287675"/>
            <a:ext cx="7315613" cy="6666682"/>
          </a:xfrm>
          <a:prstGeom prst="rect">
            <a:avLst/>
          </a:prstGeom>
          <a:noFill/>
          <a:ln>
            <a:noFill/>
          </a:ln>
          <a:effectLst>
            <a:outerShdw blurRad="292100" rotWithShape="0" algn="tl" dir="2700000" dist="139700">
              <a:srgbClr val="333333">
                <a:alpha val="64705"/>
              </a:srgbClr>
            </a:outerShdw>
          </a:effectLst>
        </p:spPr>
      </p:pic>
      <p:sp>
        <p:nvSpPr>
          <p:cNvPr id="189" name="Google Shape;189;p49"/>
          <p:cNvSpPr/>
          <p:nvPr/>
        </p:nvSpPr>
        <p:spPr>
          <a:xfrm>
            <a:off x="10374476" y="6760526"/>
            <a:ext cx="7315615" cy="1193833"/>
          </a:xfrm>
          <a:custGeom>
            <a:rect b="b" l="l" r="r" t="t"/>
            <a:pathLst>
              <a:path extrusionOk="0" h="847725" w="5543550">
                <a:moveTo>
                  <a:pt x="5543549" y="847724"/>
                </a:moveTo>
                <a:lnTo>
                  <a:pt x="79740" y="847724"/>
                </a:lnTo>
                <a:lnTo>
                  <a:pt x="74190" y="847178"/>
                </a:lnTo>
                <a:lnTo>
                  <a:pt x="33269" y="830228"/>
                </a:lnTo>
                <a:lnTo>
                  <a:pt x="8640" y="800216"/>
                </a:lnTo>
                <a:lnTo>
                  <a:pt x="0" y="767983"/>
                </a:lnTo>
                <a:lnTo>
                  <a:pt x="0" y="762380"/>
                </a:lnTo>
                <a:lnTo>
                  <a:pt x="0" y="0"/>
                </a:lnTo>
                <a:lnTo>
                  <a:pt x="5463809" y="0"/>
                </a:lnTo>
                <a:lnTo>
                  <a:pt x="5500960" y="11268"/>
                </a:lnTo>
                <a:lnTo>
                  <a:pt x="5532279" y="42588"/>
                </a:lnTo>
                <a:lnTo>
                  <a:pt x="5543549" y="79740"/>
                </a:lnTo>
                <a:lnTo>
                  <a:pt x="5543549" y="847724"/>
                </a:lnTo>
                <a:close/>
              </a:path>
            </a:pathLst>
          </a:custGeom>
          <a:solidFill>
            <a:srgbClr val="1A237D">
              <a:alpha val="7960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190" name="Google Shape;190;p49"/>
          <p:cNvGrpSpPr/>
          <p:nvPr/>
        </p:nvGrpSpPr>
        <p:grpSpPr>
          <a:xfrm>
            <a:off x="813581" y="5106160"/>
            <a:ext cx="3836969" cy="347980"/>
            <a:chOff x="919857" y="5052695"/>
            <a:chExt cx="3836969" cy="347980"/>
          </a:xfrm>
        </p:grpSpPr>
        <p:sp>
          <p:nvSpPr>
            <p:cNvPr id="191" name="Google Shape;191;p49"/>
            <p:cNvSpPr/>
            <p:nvPr/>
          </p:nvSpPr>
          <p:spPr>
            <a:xfrm>
              <a:off x="933449" y="5052695"/>
              <a:ext cx="3823377" cy="347980"/>
            </a:xfrm>
            <a:prstGeom prst="rect">
              <a:avLst/>
            </a:prstGeom>
            <a:solidFill>
              <a:srgbClr val="0070C0">
                <a:alpha val="1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pic>
          <p:nvPicPr>
            <p:cNvPr id="192" name="Google Shape;192;p49"/>
            <p:cNvPicPr preferRelativeResize="0"/>
            <p:nvPr/>
          </p:nvPicPr>
          <p:blipFill rotWithShape="1">
            <a:blip r:embed="rId5">
              <a:alphaModFix/>
            </a:blip>
            <a:srcRect b="0" l="0" r="0" t="0"/>
            <a:stretch/>
          </p:blipFill>
          <p:spPr>
            <a:xfrm>
              <a:off x="1019174" y="5170450"/>
              <a:ext cx="85725" cy="85724"/>
            </a:xfrm>
            <a:prstGeom prst="rect">
              <a:avLst/>
            </a:prstGeom>
            <a:noFill/>
            <a:ln>
              <a:noFill/>
            </a:ln>
          </p:spPr>
        </p:pic>
        <p:sp>
          <p:nvSpPr>
            <p:cNvPr id="193" name="Google Shape;193;p49"/>
            <p:cNvSpPr txBox="1"/>
            <p:nvPr/>
          </p:nvSpPr>
          <p:spPr>
            <a:xfrm>
              <a:off x="919857" y="5072796"/>
              <a:ext cx="3560343" cy="307777"/>
            </a:xfrm>
            <a:prstGeom prst="rect">
              <a:avLst/>
            </a:prstGeom>
            <a:noFill/>
            <a:ln>
              <a:noFill/>
            </a:ln>
          </p:spPr>
          <p:txBody>
            <a:bodyPr anchorCtr="0" anchor="t" bIns="45700" lIns="91425" spcFirstLastPara="1" rIns="91425" wrap="square" tIns="45700">
              <a:spAutoFit/>
            </a:bodyPr>
            <a:lstStyle/>
            <a:p>
              <a:pPr indent="0" lvl="0" marL="267970" marR="0" rtl="0" algn="l">
                <a:lnSpc>
                  <a:spcPct val="100000"/>
                </a:lnSpc>
                <a:spcBef>
                  <a:spcPts val="0"/>
                </a:spcBef>
                <a:spcAft>
                  <a:spcPts val="0"/>
                </a:spcAft>
                <a:buNone/>
              </a:pPr>
              <a:r>
                <a:rPr b="0" i="0" lang="en-US" sz="1400" u="none" cap="none" strike="noStrike">
                  <a:solidFill>
                    <a:srgbClr val="1A237D"/>
                  </a:solidFill>
                  <a:latin typeface="Bai Jamjuree"/>
                  <a:ea typeface="Bai Jamjuree"/>
                  <a:cs typeface="Bai Jamjuree"/>
                  <a:sym typeface="Bai Jamjuree"/>
                </a:rPr>
                <a:t>Tạo “cảm giác muốn mua”</a:t>
              </a:r>
              <a:endParaRPr b="0" i="0" sz="1400" u="none" cap="none" strike="noStrike">
                <a:solidFill>
                  <a:srgbClr val="000000"/>
                </a:solidFill>
                <a:latin typeface="Bai Jamjuree"/>
                <a:ea typeface="Bai Jamjuree"/>
                <a:cs typeface="Bai Jamjuree"/>
                <a:sym typeface="Bai Jamjuree"/>
              </a:endParaRPr>
            </a:p>
          </p:txBody>
        </p:sp>
      </p:grpSp>
      <p:sp>
        <p:nvSpPr>
          <p:cNvPr id="194" name="Google Shape;194;p49"/>
          <p:cNvSpPr txBox="1"/>
          <p:nvPr/>
        </p:nvSpPr>
        <p:spPr>
          <a:xfrm>
            <a:off x="919857" y="3498642"/>
            <a:ext cx="8770053" cy="38151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US" sz="2400" u="none" cap="none" strike="noStrike">
                <a:solidFill>
                  <a:srgbClr val="1A237D"/>
                </a:solidFill>
                <a:latin typeface="Bai Jamjuree"/>
                <a:ea typeface="Bai Jamjuree"/>
                <a:cs typeface="Bai Jamjuree"/>
                <a:sym typeface="Bai Jamjuree"/>
              </a:rPr>
              <a:t>Diện tích đắt đỏ, đối thủ cạnh tranh gay gắt.</a:t>
            </a:r>
            <a:endParaRPr b="1" i="0" sz="2400" u="none" cap="none" strike="noStrike">
              <a:solidFill>
                <a:srgbClr val="000000"/>
              </a:solidFill>
              <a:latin typeface="Bai Jamjuree"/>
              <a:ea typeface="Bai Jamjuree"/>
              <a:cs typeface="Bai Jamjuree"/>
              <a:sym typeface="Bai Jamjuree"/>
            </a:endParaRPr>
          </a:p>
        </p:txBody>
      </p:sp>
      <p:grpSp>
        <p:nvGrpSpPr>
          <p:cNvPr id="195" name="Google Shape;195;p49"/>
          <p:cNvGrpSpPr/>
          <p:nvPr/>
        </p:nvGrpSpPr>
        <p:grpSpPr>
          <a:xfrm>
            <a:off x="842648" y="3994443"/>
            <a:ext cx="3836969" cy="347980"/>
            <a:chOff x="919857" y="5052695"/>
            <a:chExt cx="3836969" cy="347980"/>
          </a:xfrm>
        </p:grpSpPr>
        <p:sp>
          <p:nvSpPr>
            <p:cNvPr id="196" name="Google Shape;196;p49"/>
            <p:cNvSpPr/>
            <p:nvPr/>
          </p:nvSpPr>
          <p:spPr>
            <a:xfrm>
              <a:off x="933449" y="5052695"/>
              <a:ext cx="3823377" cy="347980"/>
            </a:xfrm>
            <a:prstGeom prst="rect">
              <a:avLst/>
            </a:prstGeom>
            <a:solidFill>
              <a:srgbClr val="0070C0">
                <a:alpha val="1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pic>
          <p:nvPicPr>
            <p:cNvPr id="197" name="Google Shape;197;p49"/>
            <p:cNvPicPr preferRelativeResize="0"/>
            <p:nvPr/>
          </p:nvPicPr>
          <p:blipFill rotWithShape="1">
            <a:blip r:embed="rId5">
              <a:alphaModFix/>
            </a:blip>
            <a:srcRect b="0" l="0" r="0" t="0"/>
            <a:stretch/>
          </p:blipFill>
          <p:spPr>
            <a:xfrm>
              <a:off x="1019174" y="5170450"/>
              <a:ext cx="85725" cy="85724"/>
            </a:xfrm>
            <a:prstGeom prst="rect">
              <a:avLst/>
            </a:prstGeom>
            <a:noFill/>
            <a:ln>
              <a:noFill/>
            </a:ln>
          </p:spPr>
        </p:pic>
        <p:sp>
          <p:nvSpPr>
            <p:cNvPr id="198" name="Google Shape;198;p49"/>
            <p:cNvSpPr txBox="1"/>
            <p:nvPr/>
          </p:nvSpPr>
          <p:spPr>
            <a:xfrm>
              <a:off x="919857" y="5072796"/>
              <a:ext cx="3560343" cy="307777"/>
            </a:xfrm>
            <a:prstGeom prst="rect">
              <a:avLst/>
            </a:prstGeom>
            <a:noFill/>
            <a:ln>
              <a:noFill/>
            </a:ln>
          </p:spPr>
          <p:txBody>
            <a:bodyPr anchorCtr="0" anchor="t" bIns="45700" lIns="91425" spcFirstLastPara="1" rIns="91425" wrap="square" tIns="45700">
              <a:spAutoFit/>
            </a:bodyPr>
            <a:lstStyle/>
            <a:p>
              <a:pPr indent="0" lvl="0" marL="267970" marR="0" rtl="0" algn="l">
                <a:lnSpc>
                  <a:spcPct val="100000"/>
                </a:lnSpc>
                <a:spcBef>
                  <a:spcPts val="0"/>
                </a:spcBef>
                <a:spcAft>
                  <a:spcPts val="0"/>
                </a:spcAft>
                <a:buNone/>
              </a:pPr>
              <a:r>
                <a:rPr b="0" i="0" lang="en-US" sz="1400" u="none" cap="none" strike="noStrike">
                  <a:solidFill>
                    <a:srgbClr val="1A237D"/>
                  </a:solidFill>
                  <a:latin typeface="Bai Jamjuree"/>
                  <a:ea typeface="Bai Jamjuree"/>
                  <a:cs typeface="Bai Jamjuree"/>
                  <a:sym typeface="Bai Jamjuree"/>
                </a:rPr>
                <a:t>Tối ưu hóa không gian</a:t>
              </a:r>
              <a:endParaRPr b="0" i="0" sz="1400" u="none" cap="none" strike="noStrike">
                <a:solidFill>
                  <a:srgbClr val="000000"/>
                </a:solidFill>
                <a:latin typeface="Bai Jamjuree"/>
                <a:ea typeface="Bai Jamjuree"/>
                <a:cs typeface="Bai Jamjuree"/>
                <a:sym typeface="Bai Jamjuree"/>
              </a:endParaRPr>
            </a:p>
          </p:txBody>
        </p:sp>
      </p:grpSp>
      <p:sp>
        <p:nvSpPr>
          <p:cNvPr id="199" name="Google Shape;199;p49"/>
          <p:cNvSpPr txBox="1"/>
          <p:nvPr/>
        </p:nvSpPr>
        <p:spPr>
          <a:xfrm>
            <a:off x="10865795" y="7102641"/>
            <a:ext cx="9144000" cy="377283"/>
          </a:xfrm>
          <a:prstGeom prst="rect">
            <a:avLst/>
          </a:prstGeom>
          <a:noFill/>
          <a:ln>
            <a:noFill/>
          </a:ln>
        </p:spPr>
        <p:txBody>
          <a:bodyPr anchorCtr="0" anchor="t" bIns="45700" lIns="91425" spcFirstLastPara="1" rIns="91425" wrap="square" tIns="45700">
            <a:spAutoFit/>
          </a:bodyPr>
          <a:lstStyle/>
          <a:p>
            <a:pPr indent="0" lvl="0" marL="12700" marR="575945" rtl="0" algn="l">
              <a:lnSpc>
                <a:spcPct val="129200"/>
              </a:lnSpc>
              <a:spcBef>
                <a:spcPts val="0"/>
              </a:spcBef>
              <a:spcAft>
                <a:spcPts val="0"/>
              </a:spcAft>
              <a:buNone/>
            </a:pPr>
            <a:r>
              <a:rPr b="1" i="0" lang="en-US" sz="1600" u="none" cap="none" strike="noStrike">
                <a:solidFill>
                  <a:srgbClr val="FFFFFF"/>
                </a:solidFill>
                <a:latin typeface="Bai Jamjuree"/>
                <a:ea typeface="Bai Jamjuree"/>
                <a:cs typeface="Bai Jamjuree"/>
                <a:sym typeface="Bai Jamjuree"/>
              </a:rPr>
              <a:t>Áp lực tối ưu từng centimet để tạo “cảm giác muốn mua”.</a:t>
            </a:r>
            <a:endParaRPr b="0" i="0" sz="1600" u="none" cap="none" strike="noStrike">
              <a:solidFill>
                <a:srgbClr val="000000"/>
              </a:solidFill>
              <a:latin typeface="Bai Jamjuree"/>
              <a:ea typeface="Bai Jamjuree"/>
              <a:cs typeface="Bai Jamjuree"/>
              <a:sym typeface="Bai Jamjuree"/>
            </a:endParaRPr>
          </a:p>
        </p:txBody>
      </p:sp>
      <p:sp>
        <p:nvSpPr>
          <p:cNvPr id="200" name="Google Shape;200;p49"/>
          <p:cNvSpPr txBox="1"/>
          <p:nvPr/>
        </p:nvSpPr>
        <p:spPr>
          <a:xfrm>
            <a:off x="856240" y="2182748"/>
            <a:ext cx="9241611" cy="38151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US" sz="2400" u="none" cap="none" strike="noStrike">
                <a:solidFill>
                  <a:srgbClr val="1A237D"/>
                </a:solidFill>
                <a:latin typeface="Bai Jamjuree"/>
                <a:ea typeface="Bai Jamjuree"/>
                <a:cs typeface="Bai Jamjuree"/>
                <a:sym typeface="Bai Jamjuree"/>
              </a:rPr>
              <a:t>Khách không chỉ mua hàng – họ mua trải nghiệm</a:t>
            </a:r>
            <a:endParaRPr b="1" i="0" sz="2400" u="none" cap="none" strike="noStrike">
              <a:solidFill>
                <a:srgbClr val="000000"/>
              </a:solidFill>
              <a:latin typeface="Bai Jamjuree"/>
              <a:ea typeface="Bai Jamjuree"/>
              <a:cs typeface="Bai Jamjuree"/>
              <a:sym typeface="Bai Jamjuree"/>
            </a:endParaRPr>
          </a:p>
        </p:txBody>
      </p:sp>
      <p:grpSp>
        <p:nvGrpSpPr>
          <p:cNvPr id="201" name="Google Shape;201;p49"/>
          <p:cNvGrpSpPr/>
          <p:nvPr/>
        </p:nvGrpSpPr>
        <p:grpSpPr>
          <a:xfrm>
            <a:off x="842648" y="2693010"/>
            <a:ext cx="3836969" cy="347980"/>
            <a:chOff x="919857" y="5052695"/>
            <a:chExt cx="3836969" cy="347980"/>
          </a:xfrm>
        </p:grpSpPr>
        <p:sp>
          <p:nvSpPr>
            <p:cNvPr id="202" name="Google Shape;202;p49"/>
            <p:cNvSpPr/>
            <p:nvPr/>
          </p:nvSpPr>
          <p:spPr>
            <a:xfrm>
              <a:off x="933449" y="5052695"/>
              <a:ext cx="3823377" cy="347980"/>
            </a:xfrm>
            <a:prstGeom prst="rect">
              <a:avLst/>
            </a:prstGeom>
            <a:solidFill>
              <a:srgbClr val="0070C0">
                <a:alpha val="1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pic>
          <p:nvPicPr>
            <p:cNvPr id="203" name="Google Shape;203;p49"/>
            <p:cNvPicPr preferRelativeResize="0"/>
            <p:nvPr/>
          </p:nvPicPr>
          <p:blipFill rotWithShape="1">
            <a:blip r:embed="rId5">
              <a:alphaModFix/>
            </a:blip>
            <a:srcRect b="0" l="0" r="0" t="0"/>
            <a:stretch/>
          </p:blipFill>
          <p:spPr>
            <a:xfrm>
              <a:off x="1019174" y="5170450"/>
              <a:ext cx="85725" cy="85724"/>
            </a:xfrm>
            <a:prstGeom prst="rect">
              <a:avLst/>
            </a:prstGeom>
            <a:noFill/>
            <a:ln>
              <a:noFill/>
            </a:ln>
          </p:spPr>
        </p:pic>
        <p:sp>
          <p:nvSpPr>
            <p:cNvPr id="204" name="Google Shape;204;p49"/>
            <p:cNvSpPr txBox="1"/>
            <p:nvPr/>
          </p:nvSpPr>
          <p:spPr>
            <a:xfrm>
              <a:off x="919857" y="5072796"/>
              <a:ext cx="3560343" cy="307777"/>
            </a:xfrm>
            <a:prstGeom prst="rect">
              <a:avLst/>
            </a:prstGeom>
            <a:noFill/>
            <a:ln>
              <a:noFill/>
            </a:ln>
          </p:spPr>
          <p:txBody>
            <a:bodyPr anchorCtr="0" anchor="t" bIns="45700" lIns="91425" spcFirstLastPara="1" rIns="91425" wrap="square" tIns="45700">
              <a:spAutoFit/>
            </a:bodyPr>
            <a:lstStyle/>
            <a:p>
              <a:pPr indent="0" lvl="0" marL="267970" marR="0" rtl="0" algn="l">
                <a:lnSpc>
                  <a:spcPct val="100000"/>
                </a:lnSpc>
                <a:spcBef>
                  <a:spcPts val="0"/>
                </a:spcBef>
                <a:spcAft>
                  <a:spcPts val="0"/>
                </a:spcAft>
                <a:buNone/>
              </a:pPr>
              <a:r>
                <a:rPr b="0" i="0" lang="en-US" sz="1400" u="none" cap="none" strike="noStrike">
                  <a:solidFill>
                    <a:srgbClr val="1A237D"/>
                  </a:solidFill>
                  <a:latin typeface="Bai Jamjuree"/>
                  <a:ea typeface="Bai Jamjuree"/>
                  <a:cs typeface="Bai Jamjuree"/>
                  <a:sym typeface="Bai Jamjuree"/>
                </a:rPr>
                <a:t>Cá nhân hóa trải nghiệm</a:t>
              </a:r>
              <a:endParaRPr b="0" i="0" sz="1400" u="none" cap="none" strike="noStrike">
                <a:solidFill>
                  <a:srgbClr val="000000"/>
                </a:solidFill>
                <a:latin typeface="Bai Jamjuree"/>
                <a:ea typeface="Bai Jamjuree"/>
                <a:cs typeface="Bai Jamjuree"/>
                <a:sym typeface="Bai Jamjuree"/>
              </a:endParaRPr>
            </a:p>
          </p:txBody>
        </p:sp>
      </p:grpSp>
      <p:sp>
        <p:nvSpPr>
          <p:cNvPr id="205" name="Google Shape;205;p49"/>
          <p:cNvSpPr txBox="1"/>
          <p:nvPr/>
        </p:nvSpPr>
        <p:spPr>
          <a:xfrm>
            <a:off x="919857" y="5896122"/>
            <a:ext cx="9177994" cy="410177"/>
          </a:xfrm>
          <a:prstGeom prst="rect">
            <a:avLst/>
          </a:prstGeom>
          <a:noFill/>
          <a:ln>
            <a:noFill/>
          </a:ln>
        </p:spPr>
        <p:txBody>
          <a:bodyPr anchorCtr="0" anchor="t" bIns="0" lIns="0" spcFirstLastPara="1" rIns="0" wrap="square" tIns="12050">
            <a:spAutoFit/>
          </a:bodyPr>
          <a:lstStyle/>
          <a:p>
            <a:pPr indent="0" lvl="0" marL="12700" marR="5080" rtl="0" algn="l">
              <a:lnSpc>
                <a:spcPct val="117400"/>
              </a:lnSpc>
              <a:spcBef>
                <a:spcPts val="0"/>
              </a:spcBef>
              <a:spcAft>
                <a:spcPts val="0"/>
              </a:spcAft>
              <a:buNone/>
            </a:pPr>
            <a:r>
              <a:rPr b="1" i="0" lang="en-US" sz="2400" u="none" cap="none" strike="noStrike">
                <a:solidFill>
                  <a:srgbClr val="1A237D"/>
                </a:solidFill>
                <a:latin typeface="Bai Jamjuree"/>
                <a:ea typeface="Bai Jamjuree"/>
                <a:cs typeface="Bai Jamjuree"/>
                <a:sym typeface="Bai Jamjuree"/>
              </a:rPr>
              <a:t>Thiết kế không còn là đẹp, mà còn là để sinh tồn</a:t>
            </a:r>
            <a:endParaRPr b="1" i="0" sz="2400" u="none" cap="none" strike="noStrike">
              <a:solidFill>
                <a:srgbClr val="000000"/>
              </a:solidFill>
              <a:latin typeface="Bai Jamjuree"/>
              <a:ea typeface="Bai Jamjuree"/>
              <a:cs typeface="Bai Jamjuree"/>
              <a:sym typeface="Bai Jamjuree"/>
            </a:endParaRPr>
          </a:p>
        </p:txBody>
      </p:sp>
      <p:grpSp>
        <p:nvGrpSpPr>
          <p:cNvPr id="206" name="Google Shape;206;p49"/>
          <p:cNvGrpSpPr/>
          <p:nvPr/>
        </p:nvGrpSpPr>
        <p:grpSpPr>
          <a:xfrm>
            <a:off x="842648" y="6434506"/>
            <a:ext cx="3836969" cy="347980"/>
            <a:chOff x="919857" y="5052695"/>
            <a:chExt cx="3836969" cy="347980"/>
          </a:xfrm>
        </p:grpSpPr>
        <p:sp>
          <p:nvSpPr>
            <p:cNvPr id="207" name="Google Shape;207;p49"/>
            <p:cNvSpPr/>
            <p:nvPr/>
          </p:nvSpPr>
          <p:spPr>
            <a:xfrm>
              <a:off x="933449" y="5052695"/>
              <a:ext cx="3823377" cy="347980"/>
            </a:xfrm>
            <a:prstGeom prst="rect">
              <a:avLst/>
            </a:prstGeom>
            <a:solidFill>
              <a:srgbClr val="0070C0">
                <a:alpha val="1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pic>
          <p:nvPicPr>
            <p:cNvPr id="208" name="Google Shape;208;p49"/>
            <p:cNvPicPr preferRelativeResize="0"/>
            <p:nvPr/>
          </p:nvPicPr>
          <p:blipFill rotWithShape="1">
            <a:blip r:embed="rId5">
              <a:alphaModFix/>
            </a:blip>
            <a:srcRect b="0" l="0" r="0" t="0"/>
            <a:stretch/>
          </p:blipFill>
          <p:spPr>
            <a:xfrm>
              <a:off x="1019174" y="5170450"/>
              <a:ext cx="85725" cy="85724"/>
            </a:xfrm>
            <a:prstGeom prst="rect">
              <a:avLst/>
            </a:prstGeom>
            <a:noFill/>
            <a:ln>
              <a:noFill/>
            </a:ln>
          </p:spPr>
        </p:pic>
        <p:sp>
          <p:nvSpPr>
            <p:cNvPr id="209" name="Google Shape;209;p49"/>
            <p:cNvSpPr txBox="1"/>
            <p:nvPr/>
          </p:nvSpPr>
          <p:spPr>
            <a:xfrm>
              <a:off x="919857" y="5072796"/>
              <a:ext cx="3560343" cy="307777"/>
            </a:xfrm>
            <a:prstGeom prst="rect">
              <a:avLst/>
            </a:prstGeom>
            <a:noFill/>
            <a:ln>
              <a:noFill/>
            </a:ln>
          </p:spPr>
          <p:txBody>
            <a:bodyPr anchorCtr="0" anchor="t" bIns="45700" lIns="91425" spcFirstLastPara="1" rIns="91425" wrap="square" tIns="45700">
              <a:spAutoFit/>
            </a:bodyPr>
            <a:lstStyle/>
            <a:p>
              <a:pPr indent="0" lvl="0" marL="267970" marR="0" rtl="0" algn="l">
                <a:lnSpc>
                  <a:spcPct val="100000"/>
                </a:lnSpc>
                <a:spcBef>
                  <a:spcPts val="0"/>
                </a:spcBef>
                <a:spcAft>
                  <a:spcPts val="0"/>
                </a:spcAft>
                <a:buNone/>
              </a:pPr>
              <a:r>
                <a:rPr b="0" i="0" lang="en-US" sz="1400" u="none" cap="none" strike="noStrike">
                  <a:solidFill>
                    <a:srgbClr val="1A237D"/>
                  </a:solidFill>
                  <a:latin typeface="Bai Jamjuree"/>
                  <a:ea typeface="Bai Jamjuree"/>
                  <a:cs typeface="Bai Jamjuree"/>
                  <a:sym typeface="Bai Jamjuree"/>
                </a:rPr>
                <a:t>Công cụ thiết kế thông mình</a:t>
              </a:r>
              <a:endParaRPr b="0" i="0" sz="1400" u="none" cap="none" strike="noStrike">
                <a:solidFill>
                  <a:srgbClr val="000000"/>
                </a:solidFill>
                <a:latin typeface="Bai Jamjuree"/>
                <a:ea typeface="Bai Jamjuree"/>
                <a:cs typeface="Bai Jamjuree"/>
                <a:sym typeface="Bai Jamjuree"/>
              </a:endParaRPr>
            </a:p>
          </p:txBody>
        </p:sp>
      </p:grpSp>
      <p:sp>
        <p:nvSpPr>
          <p:cNvPr id="210" name="Google Shape;210;p49"/>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49"/>
          <p:cNvSpPr txBox="1"/>
          <p:nvPr/>
        </p:nvSpPr>
        <p:spPr>
          <a:xfrm>
            <a:off x="698052" y="550759"/>
            <a:ext cx="9231879"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TÌNH HÌNH THỊ TRƯỜNG: ÁP LỰC TỐI ƯU THIẾT KẾ</a:t>
            </a:r>
            <a:endParaRPr/>
          </a:p>
        </p:txBody>
      </p:sp>
      <p:sp>
        <p:nvSpPr>
          <p:cNvPr id="212" name="Google Shape;212;p49"/>
          <p:cNvSpPr txBox="1"/>
          <p:nvPr/>
        </p:nvSpPr>
        <p:spPr>
          <a:xfrm>
            <a:off x="716914" y="262207"/>
            <a:ext cx="5713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Các loại cửa hàng và thách thức về thiết kế</a:t>
            </a:r>
            <a:endParaRPr b="0" i="0" sz="1574" u="none" cap="none" strike="noStrike">
              <a:solidFill>
                <a:srgbClr val="4D4D4F"/>
              </a:solidFill>
              <a:latin typeface="Bai Jamjuree"/>
              <a:ea typeface="Bai Jamjuree"/>
              <a:cs typeface="Bai Jamjuree"/>
              <a:sym typeface="Bai Jamjure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50"/>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18" name="Google Shape;218;p50"/>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219" name="Google Shape;219;p50"/>
          <p:cNvGrpSpPr/>
          <p:nvPr/>
        </p:nvGrpSpPr>
        <p:grpSpPr>
          <a:xfrm>
            <a:off x="5776170" y="9896475"/>
            <a:ext cx="6735680" cy="408188"/>
            <a:chOff x="0" y="0"/>
            <a:chExt cx="8980907" cy="544250"/>
          </a:xfrm>
        </p:grpSpPr>
        <p:sp>
          <p:nvSpPr>
            <p:cNvPr id="220" name="Google Shape;220;p50"/>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21" name="Google Shape;221;p50"/>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222" name="Google Shape;222;p50"/>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223" name="Google Shape;223;p50"/>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24" name="Google Shape;224;p50"/>
          <p:cNvSpPr txBox="1"/>
          <p:nvPr/>
        </p:nvSpPr>
        <p:spPr>
          <a:xfrm>
            <a:off x="698052" y="550759"/>
            <a:ext cx="9231879"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CÂU CHUYỆN KHÓ KHĂN: THIẾT KẾ BẰNG CẢM TÍNH</a:t>
            </a:r>
            <a:endParaRPr/>
          </a:p>
        </p:txBody>
      </p:sp>
      <p:sp>
        <p:nvSpPr>
          <p:cNvPr id="225" name="Google Shape;225;p50"/>
          <p:cNvSpPr txBox="1"/>
          <p:nvPr/>
        </p:nvSpPr>
        <p:spPr>
          <a:xfrm>
            <a:off x="716914" y="262207"/>
            <a:ext cx="5713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Nỗi đau từ thiết kế thủ công</a:t>
            </a:r>
            <a:endParaRPr b="0" i="0" sz="1574" u="none" cap="none" strike="noStrike">
              <a:solidFill>
                <a:srgbClr val="4D4D4F"/>
              </a:solidFill>
              <a:latin typeface="Bai Jamjuree"/>
              <a:ea typeface="Bai Jamjuree"/>
              <a:cs typeface="Bai Jamjuree"/>
              <a:sym typeface="Bai Jamjuree"/>
            </a:endParaRPr>
          </a:p>
        </p:txBody>
      </p:sp>
      <p:sp>
        <p:nvSpPr>
          <p:cNvPr id="226" name="Google Shape;226;p50"/>
          <p:cNvSpPr/>
          <p:nvPr/>
        </p:nvSpPr>
        <p:spPr>
          <a:xfrm>
            <a:off x="1229134" y="1570951"/>
            <a:ext cx="7920290" cy="1752600"/>
          </a:xfrm>
          <a:custGeom>
            <a:rect b="b" l="l" r="r" t="t"/>
            <a:pathLst>
              <a:path extrusionOk="0" h="1752600" w="5572125">
                <a:moveTo>
                  <a:pt x="5492384" y="1752599"/>
                </a:moveTo>
                <a:lnTo>
                  <a:pt x="61941" y="1752599"/>
                </a:lnTo>
                <a:lnTo>
                  <a:pt x="57629" y="1752052"/>
                </a:lnTo>
                <a:lnTo>
                  <a:pt x="22495" y="1731565"/>
                </a:lnTo>
                <a:lnTo>
                  <a:pt x="3380" y="1694737"/>
                </a:lnTo>
                <a:lnTo>
                  <a:pt x="0" y="1672859"/>
                </a:lnTo>
                <a:lnTo>
                  <a:pt x="0" y="1667255"/>
                </a:lnTo>
                <a:lnTo>
                  <a:pt x="0" y="79740"/>
                </a:lnTo>
                <a:lnTo>
                  <a:pt x="8754" y="42588"/>
                </a:lnTo>
                <a:lnTo>
                  <a:pt x="33082" y="11269"/>
                </a:lnTo>
                <a:lnTo>
                  <a:pt x="61941" y="0"/>
                </a:lnTo>
                <a:lnTo>
                  <a:pt x="5492384" y="0"/>
                </a:lnTo>
                <a:lnTo>
                  <a:pt x="5529535" y="11269"/>
                </a:lnTo>
                <a:lnTo>
                  <a:pt x="5560853" y="42588"/>
                </a:lnTo>
                <a:lnTo>
                  <a:pt x="5572124" y="79740"/>
                </a:lnTo>
                <a:lnTo>
                  <a:pt x="5572124" y="1672859"/>
                </a:lnTo>
                <a:lnTo>
                  <a:pt x="5560853" y="1710010"/>
                </a:lnTo>
                <a:lnTo>
                  <a:pt x="5529535" y="1741329"/>
                </a:lnTo>
                <a:lnTo>
                  <a:pt x="5497934" y="1752052"/>
                </a:lnTo>
                <a:lnTo>
                  <a:pt x="5492384" y="1752599"/>
                </a:lnTo>
                <a:close/>
              </a:path>
            </a:pathLst>
          </a:cu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27" name="Google Shape;227;p50"/>
          <p:cNvSpPr/>
          <p:nvPr/>
        </p:nvSpPr>
        <p:spPr>
          <a:xfrm>
            <a:off x="1202056" y="1571301"/>
            <a:ext cx="111019"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6" y="0"/>
                </a:lnTo>
                <a:lnTo>
                  <a:pt x="73052" y="1815"/>
                </a:lnTo>
                <a:lnTo>
                  <a:pt x="61476" y="10477"/>
                </a:lnTo>
                <a:lnTo>
                  <a:pt x="43684" y="44722"/>
                </a:lnTo>
                <a:lnTo>
                  <a:pt x="38100" y="84994"/>
                </a:lnTo>
                <a:lnTo>
                  <a:pt x="38100" y="1666906"/>
                </a:lnTo>
                <a:lnTo>
                  <a:pt x="43684" y="1707177"/>
                </a:lnTo>
                <a:lnTo>
                  <a:pt x="61476" y="1741422"/>
                </a:lnTo>
                <a:lnTo>
                  <a:pt x="73052" y="1750084"/>
                </a:lnTo>
                <a:lnTo>
                  <a:pt x="78106" y="1751900"/>
                </a:lnTo>
                <a:close/>
              </a:path>
            </a:pathLst>
          </a:custGeom>
          <a:gradFill>
            <a:gsLst>
              <a:gs pos="0">
                <a:srgbClr val="85312F"/>
              </a:gs>
              <a:gs pos="48000">
                <a:srgbClr val="C15552"/>
              </a:gs>
              <a:gs pos="100000">
                <a:srgbClr val="D99593"/>
              </a:gs>
            </a:gsLst>
            <a:lin ang="162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228" name="Google Shape;228;p50"/>
          <p:cNvSpPr txBox="1"/>
          <p:nvPr/>
        </p:nvSpPr>
        <p:spPr>
          <a:xfrm>
            <a:off x="1904350" y="1940390"/>
            <a:ext cx="6901774" cy="681469"/>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chemeClr val="dk1"/>
                </a:solidFill>
                <a:latin typeface="Bai Jamjuree"/>
                <a:ea typeface="Bai Jamjuree"/>
                <a:cs typeface="Bai Jamjuree"/>
                <a:sym typeface="Bai Jamjuree"/>
              </a:rPr>
              <a:t>Thiết kế thủ công</a:t>
            </a:r>
            <a:endParaRPr b="0" i="0" sz="2000" u="none" cap="none" strike="noStrike">
              <a:solidFill>
                <a:schemeClr val="dk1"/>
              </a:solidFill>
              <a:latin typeface="Bai Jamjuree"/>
              <a:ea typeface="Bai Jamjuree"/>
              <a:cs typeface="Bai Jamjuree"/>
              <a:sym typeface="Bai Jamjuree"/>
            </a:endParaRPr>
          </a:p>
          <a:p>
            <a:pPr indent="0" lvl="0" marL="12700" marR="5080" rtl="0" algn="l">
              <a:lnSpc>
                <a:spcPct val="125000"/>
              </a:lnSpc>
              <a:spcBef>
                <a:spcPts val="605"/>
              </a:spcBef>
              <a:spcAft>
                <a:spcPts val="0"/>
              </a:spcAft>
              <a:buNone/>
            </a:pPr>
            <a:r>
              <a:rPr b="0" i="0" lang="en-US" sz="1600" u="none" cap="none" strike="noStrike">
                <a:solidFill>
                  <a:schemeClr val="dk1"/>
                </a:solidFill>
                <a:latin typeface="Bai Jamjuree"/>
                <a:ea typeface="Bai Jamjuree"/>
                <a:cs typeface="Bai Jamjuree"/>
                <a:sym typeface="Bai Jamjuree"/>
              </a:rPr>
              <a:t>Dựa vào vẽ tay, kẻ ô vuông Excel, phỏng đoán, thiếu căn cứ</a:t>
            </a:r>
            <a:r>
              <a:rPr b="0" i="0" lang="en-US" sz="1350" u="none" cap="none" strike="noStrike">
                <a:solidFill>
                  <a:schemeClr val="dk1"/>
                </a:solidFill>
                <a:latin typeface="Bai Jamjuree"/>
                <a:ea typeface="Bai Jamjuree"/>
                <a:cs typeface="Bai Jamjuree"/>
                <a:sym typeface="Bai Jamjuree"/>
              </a:rPr>
              <a:t>.</a:t>
            </a:r>
            <a:endParaRPr b="0" i="0" sz="1350" u="none" cap="none" strike="noStrike">
              <a:solidFill>
                <a:schemeClr val="dk1"/>
              </a:solidFill>
              <a:latin typeface="Bai Jamjuree"/>
              <a:ea typeface="Bai Jamjuree"/>
              <a:cs typeface="Bai Jamjuree"/>
              <a:sym typeface="Bai Jamjuree"/>
            </a:endParaRPr>
          </a:p>
        </p:txBody>
      </p:sp>
      <p:sp>
        <p:nvSpPr>
          <p:cNvPr id="229" name="Google Shape;229;p50"/>
          <p:cNvSpPr/>
          <p:nvPr/>
        </p:nvSpPr>
        <p:spPr>
          <a:xfrm>
            <a:off x="9535285" y="1531423"/>
            <a:ext cx="7934732" cy="1752600"/>
          </a:xfrm>
          <a:custGeom>
            <a:rect b="b" l="l" r="r" t="t"/>
            <a:pathLst>
              <a:path extrusionOk="0" h="1752600" w="5572125">
                <a:moveTo>
                  <a:pt x="5492384" y="1752599"/>
                </a:moveTo>
                <a:lnTo>
                  <a:pt x="61941" y="1752599"/>
                </a:lnTo>
                <a:lnTo>
                  <a:pt x="57630" y="1752052"/>
                </a:lnTo>
                <a:lnTo>
                  <a:pt x="22495" y="1731565"/>
                </a:lnTo>
                <a:lnTo>
                  <a:pt x="3380" y="1694737"/>
                </a:lnTo>
                <a:lnTo>
                  <a:pt x="0" y="1672859"/>
                </a:lnTo>
                <a:lnTo>
                  <a:pt x="0" y="1667255"/>
                </a:lnTo>
                <a:lnTo>
                  <a:pt x="0" y="79740"/>
                </a:lnTo>
                <a:lnTo>
                  <a:pt x="8753" y="42588"/>
                </a:lnTo>
                <a:lnTo>
                  <a:pt x="33081" y="11269"/>
                </a:lnTo>
                <a:lnTo>
                  <a:pt x="61941" y="0"/>
                </a:lnTo>
                <a:lnTo>
                  <a:pt x="5492384" y="0"/>
                </a:lnTo>
                <a:lnTo>
                  <a:pt x="5529535" y="11269"/>
                </a:lnTo>
                <a:lnTo>
                  <a:pt x="5560854" y="42588"/>
                </a:lnTo>
                <a:lnTo>
                  <a:pt x="5572125" y="79740"/>
                </a:lnTo>
                <a:lnTo>
                  <a:pt x="5572125" y="1672859"/>
                </a:lnTo>
                <a:lnTo>
                  <a:pt x="5560854" y="1710010"/>
                </a:lnTo>
                <a:lnTo>
                  <a:pt x="5529535" y="1741329"/>
                </a:lnTo>
                <a:lnTo>
                  <a:pt x="5497934" y="1752052"/>
                </a:lnTo>
                <a:lnTo>
                  <a:pt x="5492384" y="1752599"/>
                </a:lnTo>
                <a:close/>
              </a:path>
            </a:pathLst>
          </a:cu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30" name="Google Shape;230;p50"/>
          <p:cNvSpPr/>
          <p:nvPr/>
        </p:nvSpPr>
        <p:spPr>
          <a:xfrm>
            <a:off x="9508159" y="1531773"/>
            <a:ext cx="111222"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5" y="0"/>
                </a:lnTo>
                <a:lnTo>
                  <a:pt x="73051" y="1815"/>
                </a:lnTo>
                <a:lnTo>
                  <a:pt x="61476" y="10477"/>
                </a:lnTo>
                <a:lnTo>
                  <a:pt x="43684" y="44722"/>
                </a:lnTo>
                <a:lnTo>
                  <a:pt x="38100" y="84994"/>
                </a:lnTo>
                <a:lnTo>
                  <a:pt x="38100" y="1666906"/>
                </a:lnTo>
                <a:lnTo>
                  <a:pt x="43684" y="1707177"/>
                </a:lnTo>
                <a:lnTo>
                  <a:pt x="61476" y="1741422"/>
                </a:lnTo>
                <a:lnTo>
                  <a:pt x="73051" y="1750084"/>
                </a:lnTo>
                <a:lnTo>
                  <a:pt x="78106" y="1751900"/>
                </a:lnTo>
                <a:close/>
              </a:path>
            </a:pathLst>
          </a:custGeom>
          <a:gradFill>
            <a:gsLst>
              <a:gs pos="0">
                <a:srgbClr val="85312F"/>
              </a:gs>
              <a:gs pos="48000">
                <a:srgbClr val="C15552"/>
              </a:gs>
              <a:gs pos="100000">
                <a:srgbClr val="D99593"/>
              </a:gs>
            </a:gsLst>
            <a:lin ang="162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231" name="Google Shape;231;p50"/>
          <p:cNvSpPr txBox="1"/>
          <p:nvPr/>
        </p:nvSpPr>
        <p:spPr>
          <a:xfrm>
            <a:off x="10263786" y="1944026"/>
            <a:ext cx="7072485" cy="1288814"/>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chemeClr val="dk1"/>
                </a:solidFill>
                <a:latin typeface="Bai Jamjuree"/>
                <a:ea typeface="Bai Jamjuree"/>
                <a:cs typeface="Bai Jamjuree"/>
                <a:sym typeface="Bai Jamjuree"/>
              </a:rPr>
              <a:t>Hiểu lầm liên bộ phận</a:t>
            </a:r>
            <a:endParaRPr b="0" i="0" sz="2000" u="none" cap="none" strike="noStrike">
              <a:solidFill>
                <a:schemeClr val="dk1"/>
              </a:solidFill>
              <a:latin typeface="Bai Jamjuree"/>
              <a:ea typeface="Bai Jamjuree"/>
              <a:cs typeface="Bai Jamjuree"/>
              <a:sym typeface="Bai Jamjuree"/>
            </a:endParaRPr>
          </a:p>
          <a:p>
            <a:pPr indent="0" lvl="0" marL="12700" marR="5080" rtl="0" algn="l">
              <a:lnSpc>
                <a:spcPct val="125000"/>
              </a:lnSpc>
              <a:spcBef>
                <a:spcPts val="605"/>
              </a:spcBef>
              <a:spcAft>
                <a:spcPts val="0"/>
              </a:spcAft>
              <a:buNone/>
            </a:pPr>
            <a:r>
              <a:rPr b="0" i="0" lang="en-US" sz="1600" u="none" cap="none" strike="noStrike">
                <a:solidFill>
                  <a:schemeClr val="dk1"/>
                </a:solidFill>
                <a:latin typeface="Bai Jamjuree"/>
                <a:ea typeface="Bai Jamjuree"/>
                <a:cs typeface="Bai Jamjuree"/>
                <a:sym typeface="Bai Jamjuree"/>
              </a:rPr>
              <a:t>Khó khăn trong thống nhất thông tin và quyết định. Tốn kém thời gian họp.</a:t>
            </a:r>
            <a:endParaRPr b="0" i="0" sz="1600" u="none" cap="none" strike="noStrike">
              <a:solidFill>
                <a:schemeClr val="dk1"/>
              </a:solidFill>
              <a:latin typeface="Bai Jamjuree"/>
              <a:ea typeface="Bai Jamjuree"/>
              <a:cs typeface="Bai Jamjuree"/>
              <a:sym typeface="Bai Jamjuree"/>
            </a:endParaRPr>
          </a:p>
          <a:p>
            <a:pPr indent="0" lvl="0" marL="0" marR="0" rtl="0" algn="l">
              <a:lnSpc>
                <a:spcPct val="100000"/>
              </a:lnSpc>
              <a:spcBef>
                <a:spcPts val="175"/>
              </a:spcBef>
              <a:spcAft>
                <a:spcPts val="0"/>
              </a:spcAft>
              <a:buNone/>
            </a:pPr>
            <a:r>
              <a:t/>
            </a:r>
            <a:endParaRPr b="0" i="0" sz="1600" u="none" cap="none" strike="noStrike">
              <a:solidFill>
                <a:schemeClr val="dk1"/>
              </a:solidFill>
              <a:latin typeface="Bai Jamjuree"/>
              <a:ea typeface="Bai Jamjuree"/>
              <a:cs typeface="Bai Jamjuree"/>
              <a:sym typeface="Bai Jamjuree"/>
            </a:endParaRPr>
          </a:p>
        </p:txBody>
      </p:sp>
      <p:sp>
        <p:nvSpPr>
          <p:cNvPr id="232" name="Google Shape;232;p50"/>
          <p:cNvSpPr/>
          <p:nvPr/>
        </p:nvSpPr>
        <p:spPr>
          <a:xfrm>
            <a:off x="1229320" y="3580726"/>
            <a:ext cx="7931489" cy="1743075"/>
          </a:xfrm>
          <a:custGeom>
            <a:rect b="b" l="l" r="r" t="t"/>
            <a:pathLst>
              <a:path extrusionOk="0" h="1743075" w="5572125">
                <a:moveTo>
                  <a:pt x="5492384" y="1743074"/>
                </a:moveTo>
                <a:lnTo>
                  <a:pt x="61941" y="1743074"/>
                </a:lnTo>
                <a:lnTo>
                  <a:pt x="57629" y="1742528"/>
                </a:lnTo>
                <a:lnTo>
                  <a:pt x="22495" y="1722040"/>
                </a:lnTo>
                <a:lnTo>
                  <a:pt x="3380" y="1685212"/>
                </a:lnTo>
                <a:lnTo>
                  <a:pt x="0" y="1663333"/>
                </a:lnTo>
                <a:lnTo>
                  <a:pt x="0" y="1657730"/>
                </a:lnTo>
                <a:lnTo>
                  <a:pt x="0" y="79739"/>
                </a:lnTo>
                <a:lnTo>
                  <a:pt x="8754" y="42588"/>
                </a:lnTo>
                <a:lnTo>
                  <a:pt x="33082" y="11269"/>
                </a:lnTo>
                <a:lnTo>
                  <a:pt x="61941" y="0"/>
                </a:lnTo>
                <a:lnTo>
                  <a:pt x="5492384" y="0"/>
                </a:lnTo>
                <a:lnTo>
                  <a:pt x="5529535" y="11269"/>
                </a:lnTo>
                <a:lnTo>
                  <a:pt x="5560853" y="42588"/>
                </a:lnTo>
                <a:lnTo>
                  <a:pt x="5572124" y="79739"/>
                </a:lnTo>
                <a:lnTo>
                  <a:pt x="5572124" y="1663333"/>
                </a:lnTo>
                <a:lnTo>
                  <a:pt x="5560853" y="1700485"/>
                </a:lnTo>
                <a:lnTo>
                  <a:pt x="5529535" y="1731804"/>
                </a:lnTo>
                <a:lnTo>
                  <a:pt x="5497934" y="1742528"/>
                </a:lnTo>
                <a:lnTo>
                  <a:pt x="5492384" y="1743074"/>
                </a:lnTo>
                <a:close/>
              </a:path>
            </a:pathLst>
          </a:cu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33" name="Google Shape;233;p50"/>
          <p:cNvSpPr/>
          <p:nvPr/>
        </p:nvSpPr>
        <p:spPr>
          <a:xfrm>
            <a:off x="1202204" y="3581076"/>
            <a:ext cx="111176" cy="1742439"/>
          </a:xfrm>
          <a:custGeom>
            <a:rect b="b" l="l" r="r" t="t"/>
            <a:pathLst>
              <a:path extrusionOk="0" h="1742439" w="78104">
                <a:moveTo>
                  <a:pt x="78106" y="1742375"/>
                </a:moveTo>
                <a:lnTo>
                  <a:pt x="37920" y="1728355"/>
                </a:lnTo>
                <a:lnTo>
                  <a:pt x="10088" y="1697652"/>
                </a:lnTo>
                <a:lnTo>
                  <a:pt x="0" y="1657381"/>
                </a:lnTo>
                <a:lnTo>
                  <a:pt x="0" y="84994"/>
                </a:lnTo>
                <a:lnTo>
                  <a:pt x="10088" y="44722"/>
                </a:lnTo>
                <a:lnTo>
                  <a:pt x="37920" y="14019"/>
                </a:lnTo>
                <a:lnTo>
                  <a:pt x="76936" y="56"/>
                </a:lnTo>
                <a:lnTo>
                  <a:pt x="78106" y="0"/>
                </a:lnTo>
                <a:lnTo>
                  <a:pt x="73052" y="1815"/>
                </a:lnTo>
                <a:lnTo>
                  <a:pt x="61476" y="10477"/>
                </a:lnTo>
                <a:lnTo>
                  <a:pt x="43684" y="44722"/>
                </a:lnTo>
                <a:lnTo>
                  <a:pt x="38100" y="84994"/>
                </a:lnTo>
                <a:lnTo>
                  <a:pt x="38100" y="1657381"/>
                </a:lnTo>
                <a:lnTo>
                  <a:pt x="43684" y="1697652"/>
                </a:lnTo>
                <a:lnTo>
                  <a:pt x="61476" y="1731897"/>
                </a:lnTo>
                <a:lnTo>
                  <a:pt x="73052" y="1740559"/>
                </a:lnTo>
                <a:lnTo>
                  <a:pt x="78106" y="1742375"/>
                </a:lnTo>
                <a:close/>
              </a:path>
            </a:pathLst>
          </a:custGeom>
          <a:gradFill>
            <a:gsLst>
              <a:gs pos="0">
                <a:srgbClr val="85312F"/>
              </a:gs>
              <a:gs pos="48000">
                <a:srgbClr val="C15552"/>
              </a:gs>
              <a:gs pos="100000">
                <a:srgbClr val="D99593"/>
              </a:gs>
            </a:gsLst>
            <a:lin ang="162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234" name="Google Shape;234;p50"/>
          <p:cNvSpPr txBox="1"/>
          <p:nvPr/>
        </p:nvSpPr>
        <p:spPr>
          <a:xfrm>
            <a:off x="1959891" y="3890346"/>
            <a:ext cx="6901774" cy="942566"/>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chemeClr val="dk1"/>
                </a:solidFill>
                <a:latin typeface="Bai Jamjuree"/>
                <a:ea typeface="Bai Jamjuree"/>
                <a:cs typeface="Bai Jamjuree"/>
                <a:sym typeface="Bai Jamjuree"/>
              </a:rPr>
              <a:t>Lãng phí thời gian &amp; Nhiều sai sót</a:t>
            </a:r>
            <a:endParaRPr b="0" i="0" sz="2000" u="none" cap="none" strike="noStrike">
              <a:solidFill>
                <a:schemeClr val="dk1"/>
              </a:solidFill>
              <a:latin typeface="Bai Jamjuree"/>
              <a:ea typeface="Bai Jamjuree"/>
              <a:cs typeface="Bai Jamjuree"/>
              <a:sym typeface="Bai Jamjuree"/>
            </a:endParaRPr>
          </a:p>
          <a:p>
            <a:pPr indent="0" lvl="0" marL="12700" marR="5080" rtl="0" algn="l">
              <a:lnSpc>
                <a:spcPct val="125000"/>
              </a:lnSpc>
              <a:spcBef>
                <a:spcPts val="605"/>
              </a:spcBef>
              <a:spcAft>
                <a:spcPts val="0"/>
              </a:spcAft>
              <a:buNone/>
            </a:pPr>
            <a:r>
              <a:rPr b="0" i="0" lang="en-US" sz="1600" u="none" cap="none" strike="noStrike">
                <a:solidFill>
                  <a:schemeClr val="dk1"/>
                </a:solidFill>
                <a:latin typeface="Bai Jamjuree"/>
                <a:ea typeface="Bai Jamjuree"/>
                <a:cs typeface="Bai Jamjuree"/>
                <a:sym typeface="Bai Jamjuree"/>
              </a:rPr>
              <a:t>Gây ra nhiều lần thay đổi layout. Phát sinh nhiều lỗi không đáng có.</a:t>
            </a:r>
            <a:endParaRPr b="0" i="0" sz="1600" u="none" cap="none" strike="noStrike">
              <a:solidFill>
                <a:schemeClr val="dk1"/>
              </a:solidFill>
              <a:latin typeface="Bai Jamjuree"/>
              <a:ea typeface="Bai Jamjuree"/>
              <a:cs typeface="Bai Jamjuree"/>
              <a:sym typeface="Bai Jamjuree"/>
            </a:endParaRPr>
          </a:p>
          <a:p>
            <a:pPr indent="0" lvl="0" marL="0" marR="0" rtl="0" algn="l">
              <a:lnSpc>
                <a:spcPct val="100000"/>
              </a:lnSpc>
              <a:spcBef>
                <a:spcPts val="175"/>
              </a:spcBef>
              <a:spcAft>
                <a:spcPts val="0"/>
              </a:spcAft>
              <a:buNone/>
            </a:pPr>
            <a:r>
              <a:t/>
            </a:r>
            <a:endParaRPr b="0" i="0" sz="1350" u="none" cap="none" strike="noStrike">
              <a:solidFill>
                <a:schemeClr val="dk1"/>
              </a:solidFill>
              <a:latin typeface="Bai Jamjuree"/>
              <a:ea typeface="Bai Jamjuree"/>
              <a:cs typeface="Bai Jamjuree"/>
              <a:sym typeface="Bai Jamjuree"/>
            </a:endParaRPr>
          </a:p>
        </p:txBody>
      </p:sp>
      <p:sp>
        <p:nvSpPr>
          <p:cNvPr id="235" name="Google Shape;235;p50"/>
          <p:cNvSpPr/>
          <p:nvPr/>
        </p:nvSpPr>
        <p:spPr>
          <a:xfrm>
            <a:off x="9535302" y="3537702"/>
            <a:ext cx="7934750" cy="1743075"/>
          </a:xfrm>
          <a:custGeom>
            <a:rect b="b" l="l" r="r" t="t"/>
            <a:pathLst>
              <a:path extrusionOk="0" h="1743075" w="5572125">
                <a:moveTo>
                  <a:pt x="5492384" y="1743074"/>
                </a:moveTo>
                <a:lnTo>
                  <a:pt x="61941" y="1743074"/>
                </a:lnTo>
                <a:lnTo>
                  <a:pt x="57630" y="1742528"/>
                </a:lnTo>
                <a:lnTo>
                  <a:pt x="22495" y="1722040"/>
                </a:lnTo>
                <a:lnTo>
                  <a:pt x="3380" y="1685212"/>
                </a:lnTo>
                <a:lnTo>
                  <a:pt x="0" y="1663333"/>
                </a:lnTo>
                <a:lnTo>
                  <a:pt x="0" y="1657730"/>
                </a:lnTo>
                <a:lnTo>
                  <a:pt x="0" y="79739"/>
                </a:lnTo>
                <a:lnTo>
                  <a:pt x="8753" y="42588"/>
                </a:lnTo>
                <a:lnTo>
                  <a:pt x="33081" y="11269"/>
                </a:lnTo>
                <a:lnTo>
                  <a:pt x="61941" y="0"/>
                </a:lnTo>
                <a:lnTo>
                  <a:pt x="5492384" y="0"/>
                </a:lnTo>
                <a:lnTo>
                  <a:pt x="5529535" y="11269"/>
                </a:lnTo>
                <a:lnTo>
                  <a:pt x="5560854" y="42588"/>
                </a:lnTo>
                <a:lnTo>
                  <a:pt x="5572125" y="79739"/>
                </a:lnTo>
                <a:lnTo>
                  <a:pt x="5572125" y="1663333"/>
                </a:lnTo>
                <a:lnTo>
                  <a:pt x="5560854" y="1700485"/>
                </a:lnTo>
                <a:lnTo>
                  <a:pt x="5529535" y="1731804"/>
                </a:lnTo>
                <a:lnTo>
                  <a:pt x="5497934" y="1742528"/>
                </a:lnTo>
                <a:lnTo>
                  <a:pt x="5492384" y="1743074"/>
                </a:lnTo>
                <a:close/>
              </a:path>
            </a:pathLst>
          </a:cu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36" name="Google Shape;236;p50"/>
          <p:cNvSpPr/>
          <p:nvPr/>
        </p:nvSpPr>
        <p:spPr>
          <a:xfrm>
            <a:off x="9508176" y="3538052"/>
            <a:ext cx="111222" cy="1742439"/>
          </a:xfrm>
          <a:custGeom>
            <a:rect b="b" l="l" r="r" t="t"/>
            <a:pathLst>
              <a:path extrusionOk="0" h="1742439" w="78104">
                <a:moveTo>
                  <a:pt x="78106" y="1742375"/>
                </a:moveTo>
                <a:lnTo>
                  <a:pt x="37920" y="1728355"/>
                </a:lnTo>
                <a:lnTo>
                  <a:pt x="10088" y="1697652"/>
                </a:lnTo>
                <a:lnTo>
                  <a:pt x="0" y="1657381"/>
                </a:lnTo>
                <a:lnTo>
                  <a:pt x="0" y="84994"/>
                </a:lnTo>
                <a:lnTo>
                  <a:pt x="10088" y="44722"/>
                </a:lnTo>
                <a:lnTo>
                  <a:pt x="37920" y="14019"/>
                </a:lnTo>
                <a:lnTo>
                  <a:pt x="76936" y="56"/>
                </a:lnTo>
                <a:lnTo>
                  <a:pt x="78105" y="0"/>
                </a:lnTo>
                <a:lnTo>
                  <a:pt x="73051" y="1815"/>
                </a:lnTo>
                <a:lnTo>
                  <a:pt x="61476" y="10477"/>
                </a:lnTo>
                <a:lnTo>
                  <a:pt x="43684" y="44722"/>
                </a:lnTo>
                <a:lnTo>
                  <a:pt x="38100" y="84994"/>
                </a:lnTo>
                <a:lnTo>
                  <a:pt x="38100" y="1657381"/>
                </a:lnTo>
                <a:lnTo>
                  <a:pt x="43684" y="1697652"/>
                </a:lnTo>
                <a:lnTo>
                  <a:pt x="61476" y="1731897"/>
                </a:lnTo>
                <a:lnTo>
                  <a:pt x="73051" y="1740559"/>
                </a:lnTo>
                <a:lnTo>
                  <a:pt x="78106" y="1742375"/>
                </a:lnTo>
                <a:close/>
              </a:path>
            </a:pathLst>
          </a:custGeom>
          <a:gradFill>
            <a:gsLst>
              <a:gs pos="0">
                <a:srgbClr val="85312F"/>
              </a:gs>
              <a:gs pos="48000">
                <a:srgbClr val="C15552"/>
              </a:gs>
              <a:gs pos="100000">
                <a:srgbClr val="D99593"/>
              </a:gs>
            </a:gsLst>
            <a:lin ang="162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237" name="Google Shape;237;p50"/>
          <p:cNvSpPr txBox="1"/>
          <p:nvPr/>
        </p:nvSpPr>
        <p:spPr>
          <a:xfrm>
            <a:off x="10231143" y="3932180"/>
            <a:ext cx="7016450" cy="98924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chemeClr val="dk1"/>
                </a:solidFill>
                <a:latin typeface="Bai Jamjuree"/>
                <a:ea typeface="Bai Jamjuree"/>
                <a:cs typeface="Bai Jamjuree"/>
                <a:sym typeface="Bai Jamjuree"/>
              </a:rPr>
              <a:t>Chi phí phát sinh cao</a:t>
            </a:r>
            <a:endParaRPr b="0" i="0" sz="2000" u="none" cap="none" strike="noStrike">
              <a:solidFill>
                <a:schemeClr val="dk1"/>
              </a:solidFill>
              <a:latin typeface="Bai Jamjuree"/>
              <a:ea typeface="Bai Jamjuree"/>
              <a:cs typeface="Bai Jamjuree"/>
              <a:sym typeface="Bai Jamjuree"/>
            </a:endParaRPr>
          </a:p>
          <a:p>
            <a:pPr indent="0" lvl="0" marL="12700" marR="5080" rtl="0" algn="l">
              <a:lnSpc>
                <a:spcPct val="125000"/>
              </a:lnSpc>
              <a:spcBef>
                <a:spcPts val="605"/>
              </a:spcBef>
              <a:spcAft>
                <a:spcPts val="0"/>
              </a:spcAft>
              <a:buNone/>
            </a:pPr>
            <a:r>
              <a:rPr b="0" i="0" lang="en-US" sz="1600" u="none" cap="none" strike="noStrike">
                <a:solidFill>
                  <a:schemeClr val="dk1"/>
                </a:solidFill>
                <a:latin typeface="Bai Jamjuree"/>
                <a:ea typeface="Bai Jamjuree"/>
                <a:cs typeface="Bai Jamjuree"/>
                <a:sym typeface="Bai Jamjuree"/>
              </a:rPr>
              <a:t>Quyết định cảm tính, thiếu cơ sở dữ liệu trực tiếp làm tăng chi phí vận hành.</a:t>
            </a:r>
            <a:endParaRPr b="0" i="0" sz="1600" u="none" cap="none" strike="noStrike">
              <a:solidFill>
                <a:schemeClr val="dk1"/>
              </a:solidFill>
              <a:latin typeface="Bai Jamjuree"/>
              <a:ea typeface="Bai Jamjuree"/>
              <a:cs typeface="Bai Jamjuree"/>
              <a:sym typeface="Bai Jamjuree"/>
            </a:endParaRPr>
          </a:p>
        </p:txBody>
      </p:sp>
      <p:sp>
        <p:nvSpPr>
          <p:cNvPr id="238" name="Google Shape;238;p50"/>
          <p:cNvSpPr/>
          <p:nvPr/>
        </p:nvSpPr>
        <p:spPr>
          <a:xfrm>
            <a:off x="1121060" y="5837830"/>
            <a:ext cx="38100" cy="600075"/>
          </a:xfrm>
          <a:custGeom>
            <a:rect b="b" l="l" r="r" t="t"/>
            <a:pathLst>
              <a:path extrusionOk="0" h="600075" w="38100">
                <a:moveTo>
                  <a:pt x="38099" y="600074"/>
                </a:moveTo>
                <a:lnTo>
                  <a:pt x="0" y="600074"/>
                </a:lnTo>
                <a:lnTo>
                  <a:pt x="0" y="0"/>
                </a:lnTo>
                <a:lnTo>
                  <a:pt x="38099" y="0"/>
                </a:lnTo>
                <a:lnTo>
                  <a:pt x="38099" y="600074"/>
                </a:lnTo>
                <a:close/>
              </a:path>
            </a:pathLst>
          </a:custGeom>
          <a:solidFill>
            <a:srgbClr val="1A237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39" name="Google Shape;239;p50"/>
          <p:cNvSpPr txBox="1"/>
          <p:nvPr/>
        </p:nvSpPr>
        <p:spPr>
          <a:xfrm>
            <a:off x="1257565" y="5943506"/>
            <a:ext cx="13356667" cy="335605"/>
          </a:xfrm>
          <a:prstGeom prst="rect">
            <a:avLst/>
          </a:prstGeom>
          <a:noFill/>
          <a:ln>
            <a:noFill/>
          </a:ln>
        </p:spPr>
        <p:txBody>
          <a:bodyPr anchorCtr="0" anchor="t" bIns="0" lIns="0" spcFirstLastPara="1" rIns="0" wrap="square" tIns="12050">
            <a:spAutoFit/>
          </a:bodyPr>
          <a:lstStyle/>
          <a:p>
            <a:pPr indent="0" lvl="0" marL="12700" marR="5080" rtl="0" algn="l">
              <a:lnSpc>
                <a:spcPct val="129000"/>
              </a:lnSpc>
              <a:spcBef>
                <a:spcPts val="0"/>
              </a:spcBef>
              <a:spcAft>
                <a:spcPts val="0"/>
              </a:spcAft>
              <a:buNone/>
            </a:pPr>
            <a:r>
              <a:rPr b="0" i="1" lang="en-US" sz="1800" u="none" cap="none" strike="noStrike">
                <a:solidFill>
                  <a:srgbClr val="1A237D"/>
                </a:solidFill>
                <a:latin typeface="Bai Jamjuree"/>
                <a:ea typeface="Bai Jamjuree"/>
                <a:cs typeface="Bai Jamjuree"/>
                <a:sym typeface="Bai Jamjuree"/>
              </a:rPr>
              <a:t>“Đó là lúc </a:t>
            </a:r>
            <a:r>
              <a:rPr b="1" i="1" lang="en-US" sz="1800" u="none" cap="none" strike="noStrike">
                <a:solidFill>
                  <a:srgbClr val="1A237D"/>
                </a:solidFill>
                <a:latin typeface="Bai Jamjuree"/>
                <a:ea typeface="Bai Jamjuree"/>
                <a:cs typeface="Bai Jamjuree"/>
                <a:sym typeface="Bai Jamjuree"/>
              </a:rPr>
              <a:t>cảm tính </a:t>
            </a:r>
            <a:r>
              <a:rPr b="0" i="1" lang="en-US" sz="1800" u="none" cap="none" strike="noStrike">
                <a:solidFill>
                  <a:srgbClr val="1A237D"/>
                </a:solidFill>
                <a:latin typeface="Bai Jamjuree"/>
                <a:ea typeface="Bai Jamjuree"/>
                <a:cs typeface="Bai Jamjuree"/>
                <a:sym typeface="Bai Jamjuree"/>
              </a:rPr>
              <a:t>trở thành </a:t>
            </a:r>
            <a:r>
              <a:rPr b="1" i="1" lang="en-US" sz="1800" u="none" cap="none" strike="noStrike">
                <a:solidFill>
                  <a:srgbClr val="1A237D"/>
                </a:solidFill>
                <a:latin typeface="Bai Jamjuree"/>
                <a:ea typeface="Bai Jamjuree"/>
                <a:cs typeface="Bai Jamjuree"/>
                <a:sym typeface="Bai Jamjuree"/>
              </a:rPr>
              <a:t>chi phí</a:t>
            </a:r>
            <a:r>
              <a:rPr b="0" i="1" lang="en-US" sz="1800" u="none" cap="none" strike="noStrike">
                <a:solidFill>
                  <a:srgbClr val="1A237D"/>
                </a:solidFill>
                <a:latin typeface="Bai Jamjuree"/>
                <a:ea typeface="Bai Jamjuree"/>
                <a:cs typeface="Bai Jamjuree"/>
                <a:sym typeface="Bai Jamjuree"/>
              </a:rPr>
              <a:t>. Mỗi quyết định thiếu cơ sở là một rủi ro tài chính không đáng có.”</a:t>
            </a:r>
            <a:endParaRPr b="0" i="0" sz="1800" u="none" cap="none" strike="noStrike">
              <a:solidFill>
                <a:srgbClr val="000000"/>
              </a:solidFill>
              <a:latin typeface="Bai Jamjuree"/>
              <a:ea typeface="Bai Jamjuree"/>
              <a:cs typeface="Bai Jamjuree"/>
              <a:sym typeface="Bai Jamjuree"/>
            </a:endParaRPr>
          </a:p>
        </p:txBody>
      </p:sp>
      <p:pic>
        <p:nvPicPr>
          <p:cNvPr descr="困っている男性会社員のイラスト | かわいいフリー素材集 いらすとや" id="240" name="Google Shape;240;p50"/>
          <p:cNvPicPr preferRelativeResize="0"/>
          <p:nvPr/>
        </p:nvPicPr>
        <p:blipFill rotWithShape="1">
          <a:blip r:embed="rId4">
            <a:alphaModFix/>
          </a:blip>
          <a:srcRect b="0" l="0" r="0" t="0"/>
          <a:stretch/>
        </p:blipFill>
        <p:spPr>
          <a:xfrm>
            <a:off x="15526753" y="5756687"/>
            <a:ext cx="2126645" cy="2691956"/>
          </a:xfrm>
          <a:prstGeom prst="rect">
            <a:avLst/>
          </a:prstGeom>
          <a:noFill/>
          <a:ln>
            <a:noFill/>
          </a:ln>
        </p:spPr>
      </p:pic>
      <p:pic>
        <p:nvPicPr>
          <p:cNvPr descr="Cost reduction icon price lower arrow. low cost money crisis line icon  36420074 PNG" id="241" name="Google Shape;241;p50"/>
          <p:cNvPicPr preferRelativeResize="0"/>
          <p:nvPr/>
        </p:nvPicPr>
        <p:blipFill rotWithShape="1">
          <a:blip r:embed="rId5">
            <a:alphaModFix/>
          </a:blip>
          <a:srcRect b="0" l="0" r="0" t="0"/>
          <a:stretch/>
        </p:blipFill>
        <p:spPr>
          <a:xfrm>
            <a:off x="14310777" y="5390644"/>
            <a:ext cx="1905000" cy="1905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51"/>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47" name="Google Shape;247;p51"/>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248" name="Google Shape;248;p51"/>
          <p:cNvGrpSpPr/>
          <p:nvPr/>
        </p:nvGrpSpPr>
        <p:grpSpPr>
          <a:xfrm>
            <a:off x="5776170" y="9896475"/>
            <a:ext cx="6735680" cy="408188"/>
            <a:chOff x="0" y="0"/>
            <a:chExt cx="8980907" cy="544250"/>
          </a:xfrm>
        </p:grpSpPr>
        <p:sp>
          <p:nvSpPr>
            <p:cNvPr id="249" name="Google Shape;249;p51"/>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50" name="Google Shape;250;p51"/>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251" name="Google Shape;251;p51"/>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252" name="Google Shape;252;p51"/>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53" name="Google Shape;253;p51"/>
          <p:cNvSpPr txBox="1"/>
          <p:nvPr/>
        </p:nvSpPr>
        <p:spPr>
          <a:xfrm>
            <a:off x="698052" y="550759"/>
            <a:ext cx="9231879"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ĐIỀU GÌ SẼ XẢY RA NẾU: THIẾT KẾ THÔNG MINH?</a:t>
            </a:r>
            <a:endParaRPr/>
          </a:p>
        </p:txBody>
      </p:sp>
      <p:sp>
        <p:nvSpPr>
          <p:cNvPr id="254" name="Google Shape;254;p51"/>
          <p:cNvSpPr txBox="1"/>
          <p:nvPr/>
        </p:nvSpPr>
        <p:spPr>
          <a:xfrm>
            <a:off x="716914" y="262207"/>
            <a:ext cx="5713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Giải pháp thông minh</a:t>
            </a:r>
            <a:endParaRPr b="0" i="0" sz="1574" u="none" cap="none" strike="noStrike">
              <a:solidFill>
                <a:srgbClr val="4D4D4F"/>
              </a:solidFill>
              <a:latin typeface="Bai Jamjuree"/>
              <a:ea typeface="Bai Jamjuree"/>
              <a:cs typeface="Bai Jamjuree"/>
              <a:sym typeface="Bai Jamjuree"/>
            </a:endParaRPr>
          </a:p>
        </p:txBody>
      </p:sp>
      <p:sp>
        <p:nvSpPr>
          <p:cNvPr id="255" name="Google Shape;255;p51"/>
          <p:cNvSpPr/>
          <p:nvPr/>
        </p:nvSpPr>
        <p:spPr>
          <a:xfrm>
            <a:off x="1229134" y="1570951"/>
            <a:ext cx="7920290" cy="1752600"/>
          </a:xfrm>
          <a:custGeom>
            <a:rect b="b" l="l" r="r" t="t"/>
            <a:pathLst>
              <a:path extrusionOk="0" h="1752600" w="5572125">
                <a:moveTo>
                  <a:pt x="5492384" y="1752599"/>
                </a:moveTo>
                <a:lnTo>
                  <a:pt x="61941" y="1752599"/>
                </a:lnTo>
                <a:lnTo>
                  <a:pt x="57629" y="1752052"/>
                </a:lnTo>
                <a:lnTo>
                  <a:pt x="22495" y="1731565"/>
                </a:lnTo>
                <a:lnTo>
                  <a:pt x="3380" y="1694737"/>
                </a:lnTo>
                <a:lnTo>
                  <a:pt x="0" y="1672859"/>
                </a:lnTo>
                <a:lnTo>
                  <a:pt x="0" y="1667255"/>
                </a:lnTo>
                <a:lnTo>
                  <a:pt x="0" y="79740"/>
                </a:lnTo>
                <a:lnTo>
                  <a:pt x="8754" y="42588"/>
                </a:lnTo>
                <a:lnTo>
                  <a:pt x="33082" y="11269"/>
                </a:lnTo>
                <a:lnTo>
                  <a:pt x="61941" y="0"/>
                </a:lnTo>
                <a:lnTo>
                  <a:pt x="5492384" y="0"/>
                </a:lnTo>
                <a:lnTo>
                  <a:pt x="5529535" y="11269"/>
                </a:lnTo>
                <a:lnTo>
                  <a:pt x="5560853" y="42588"/>
                </a:lnTo>
                <a:lnTo>
                  <a:pt x="5572124" y="79740"/>
                </a:lnTo>
                <a:lnTo>
                  <a:pt x="5572124" y="1672859"/>
                </a:lnTo>
                <a:lnTo>
                  <a:pt x="5560853" y="1710010"/>
                </a:lnTo>
                <a:lnTo>
                  <a:pt x="5529535" y="1741329"/>
                </a:lnTo>
                <a:lnTo>
                  <a:pt x="5497934" y="1752052"/>
                </a:lnTo>
                <a:lnTo>
                  <a:pt x="5492384" y="1752599"/>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56" name="Google Shape;256;p51"/>
          <p:cNvSpPr/>
          <p:nvPr/>
        </p:nvSpPr>
        <p:spPr>
          <a:xfrm>
            <a:off x="1202056" y="1571301"/>
            <a:ext cx="111019"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6" y="0"/>
                </a:lnTo>
                <a:lnTo>
                  <a:pt x="73052" y="1815"/>
                </a:lnTo>
                <a:lnTo>
                  <a:pt x="61476" y="10477"/>
                </a:lnTo>
                <a:lnTo>
                  <a:pt x="43684" y="44722"/>
                </a:lnTo>
                <a:lnTo>
                  <a:pt x="38100" y="84994"/>
                </a:lnTo>
                <a:lnTo>
                  <a:pt x="38100" y="1666906"/>
                </a:lnTo>
                <a:lnTo>
                  <a:pt x="43684" y="1707177"/>
                </a:lnTo>
                <a:lnTo>
                  <a:pt x="61476" y="1741422"/>
                </a:lnTo>
                <a:lnTo>
                  <a:pt x="73052" y="1750084"/>
                </a:lnTo>
                <a:lnTo>
                  <a:pt x="78106" y="1751900"/>
                </a:lnTo>
                <a:close/>
              </a:path>
            </a:pathLst>
          </a:custGeom>
          <a:solidFill>
            <a:srgbClr val="0070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57" name="Google Shape;257;p51"/>
          <p:cNvSpPr txBox="1"/>
          <p:nvPr/>
        </p:nvSpPr>
        <p:spPr>
          <a:xfrm>
            <a:off x="1863104" y="1816399"/>
            <a:ext cx="6901774" cy="98924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rgbClr val="1A237D"/>
                </a:solidFill>
                <a:latin typeface="Bai Jamjuree"/>
                <a:ea typeface="Bai Jamjuree"/>
                <a:cs typeface="Bai Jamjuree"/>
                <a:sym typeface="Bai Jamjuree"/>
              </a:rPr>
              <a:t>Biết trước 'điểm nóng'</a:t>
            </a:r>
            <a:endParaRPr/>
          </a:p>
          <a:p>
            <a:pPr indent="0" lvl="0" marL="12700" marR="5080" rtl="0" algn="l">
              <a:lnSpc>
                <a:spcPct val="125000"/>
              </a:lnSpc>
              <a:spcBef>
                <a:spcPts val="605"/>
              </a:spcBef>
              <a:spcAft>
                <a:spcPts val="0"/>
              </a:spcAft>
              <a:buNone/>
            </a:pPr>
            <a:r>
              <a:rPr b="0" i="0" lang="en-US" sz="1600" u="none" cap="none" strike="noStrike">
                <a:solidFill>
                  <a:srgbClr val="1A237D"/>
                </a:solidFill>
                <a:latin typeface="Bai Jamjuree"/>
                <a:ea typeface="Bai Jamjuree"/>
                <a:cs typeface="Bai Jamjuree"/>
                <a:sym typeface="Bai Jamjuree"/>
              </a:rPr>
              <a:t>Biết được khu vực nào thu hút khách, khu vực nào bị lãng quên để tối ưu việc trưng bày sản phẩm, nâng cao trải nghiệm mua sắm</a:t>
            </a:r>
            <a:endParaRPr b="0" i="0" sz="1600" u="none" cap="none" strike="noStrike">
              <a:solidFill>
                <a:srgbClr val="000000"/>
              </a:solidFill>
              <a:latin typeface="Bai Jamjuree"/>
              <a:ea typeface="Bai Jamjuree"/>
              <a:cs typeface="Bai Jamjuree"/>
              <a:sym typeface="Bai Jamjuree"/>
            </a:endParaRPr>
          </a:p>
        </p:txBody>
      </p:sp>
      <p:sp>
        <p:nvSpPr>
          <p:cNvPr id="258" name="Google Shape;258;p51"/>
          <p:cNvSpPr/>
          <p:nvPr/>
        </p:nvSpPr>
        <p:spPr>
          <a:xfrm>
            <a:off x="9535285" y="1531423"/>
            <a:ext cx="7934732" cy="1752600"/>
          </a:xfrm>
          <a:custGeom>
            <a:rect b="b" l="l" r="r" t="t"/>
            <a:pathLst>
              <a:path extrusionOk="0" h="1752600" w="5572125">
                <a:moveTo>
                  <a:pt x="5492384" y="1752599"/>
                </a:moveTo>
                <a:lnTo>
                  <a:pt x="61941" y="1752599"/>
                </a:lnTo>
                <a:lnTo>
                  <a:pt x="57630" y="1752052"/>
                </a:lnTo>
                <a:lnTo>
                  <a:pt x="22495" y="1731565"/>
                </a:lnTo>
                <a:lnTo>
                  <a:pt x="3380" y="1694737"/>
                </a:lnTo>
                <a:lnTo>
                  <a:pt x="0" y="1672859"/>
                </a:lnTo>
                <a:lnTo>
                  <a:pt x="0" y="1667255"/>
                </a:lnTo>
                <a:lnTo>
                  <a:pt x="0" y="79740"/>
                </a:lnTo>
                <a:lnTo>
                  <a:pt x="8753" y="42588"/>
                </a:lnTo>
                <a:lnTo>
                  <a:pt x="33081" y="11269"/>
                </a:lnTo>
                <a:lnTo>
                  <a:pt x="61941" y="0"/>
                </a:lnTo>
                <a:lnTo>
                  <a:pt x="5492384" y="0"/>
                </a:lnTo>
                <a:lnTo>
                  <a:pt x="5529535" y="11269"/>
                </a:lnTo>
                <a:lnTo>
                  <a:pt x="5560854" y="42588"/>
                </a:lnTo>
                <a:lnTo>
                  <a:pt x="5572125" y="79740"/>
                </a:lnTo>
                <a:lnTo>
                  <a:pt x="5572125" y="1672859"/>
                </a:lnTo>
                <a:lnTo>
                  <a:pt x="5560854" y="1710010"/>
                </a:lnTo>
                <a:lnTo>
                  <a:pt x="5529535" y="1741329"/>
                </a:lnTo>
                <a:lnTo>
                  <a:pt x="5497934" y="1752052"/>
                </a:lnTo>
                <a:lnTo>
                  <a:pt x="5492384" y="1752599"/>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59" name="Google Shape;259;p51"/>
          <p:cNvSpPr/>
          <p:nvPr/>
        </p:nvSpPr>
        <p:spPr>
          <a:xfrm>
            <a:off x="9508159" y="1531773"/>
            <a:ext cx="111222"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5" y="0"/>
                </a:lnTo>
                <a:lnTo>
                  <a:pt x="73051" y="1815"/>
                </a:lnTo>
                <a:lnTo>
                  <a:pt x="61476" y="10477"/>
                </a:lnTo>
                <a:lnTo>
                  <a:pt x="43684" y="44722"/>
                </a:lnTo>
                <a:lnTo>
                  <a:pt x="38100" y="84994"/>
                </a:lnTo>
                <a:lnTo>
                  <a:pt x="38100" y="1666906"/>
                </a:lnTo>
                <a:lnTo>
                  <a:pt x="43684" y="1707177"/>
                </a:lnTo>
                <a:lnTo>
                  <a:pt x="61476" y="1741422"/>
                </a:lnTo>
                <a:lnTo>
                  <a:pt x="73051" y="1750084"/>
                </a:lnTo>
                <a:lnTo>
                  <a:pt x="78106" y="1751900"/>
                </a:lnTo>
                <a:close/>
              </a:path>
            </a:pathLst>
          </a:custGeom>
          <a:solidFill>
            <a:srgbClr val="0070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60" name="Google Shape;260;p51"/>
          <p:cNvSpPr txBox="1"/>
          <p:nvPr/>
        </p:nvSpPr>
        <p:spPr>
          <a:xfrm>
            <a:off x="10263786" y="1738580"/>
            <a:ext cx="7072485" cy="1288814"/>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rgbClr val="1A237D"/>
                </a:solidFill>
                <a:latin typeface="Bai Jamjuree"/>
                <a:ea typeface="Bai Jamjuree"/>
                <a:cs typeface="Bai Jamjuree"/>
                <a:sym typeface="Bai Jamjuree"/>
              </a:rPr>
              <a:t>Thiết kế linh hoạt</a:t>
            </a:r>
            <a:endParaRPr b="0" i="0" sz="2000" u="none" cap="none" strike="noStrike">
              <a:solidFill>
                <a:srgbClr val="000000"/>
              </a:solidFill>
              <a:latin typeface="Bai Jamjuree"/>
              <a:ea typeface="Bai Jamjuree"/>
              <a:cs typeface="Bai Jamjuree"/>
              <a:sym typeface="Bai Jamjuree"/>
            </a:endParaRPr>
          </a:p>
          <a:p>
            <a:pPr indent="0" lvl="0" marL="12700" marR="5080" rtl="0" algn="l">
              <a:lnSpc>
                <a:spcPct val="125000"/>
              </a:lnSpc>
              <a:spcBef>
                <a:spcPts val="605"/>
              </a:spcBef>
              <a:spcAft>
                <a:spcPts val="0"/>
              </a:spcAft>
              <a:buNone/>
            </a:pPr>
            <a:r>
              <a:rPr b="0" i="0" lang="en-US" sz="1600" u="none" cap="none" strike="noStrike">
                <a:solidFill>
                  <a:srgbClr val="1A237D"/>
                </a:solidFill>
                <a:latin typeface="Bai Jamjuree"/>
                <a:ea typeface="Bai Jamjuree"/>
                <a:cs typeface="Bai Jamjuree"/>
                <a:sym typeface="Bai Jamjuree"/>
              </a:rPr>
              <a:t>Dễ dàng kéo - thả - xoay các vật phẩm, quầy kệ trong không gian 3D trực quan kết hợp sắp xếp 2D như đang chơi game.</a:t>
            </a:r>
            <a:endParaRPr/>
          </a:p>
          <a:p>
            <a:pPr indent="0" lvl="0" marL="0" marR="0" rtl="0" algn="l">
              <a:lnSpc>
                <a:spcPct val="100000"/>
              </a:lnSpc>
              <a:spcBef>
                <a:spcPts val="175"/>
              </a:spcBef>
              <a:spcAft>
                <a:spcPts val="0"/>
              </a:spcAft>
              <a:buNone/>
            </a:pPr>
            <a:r>
              <a:t/>
            </a:r>
            <a:endParaRPr b="0" i="0" sz="1600" u="none" cap="none" strike="noStrike">
              <a:solidFill>
                <a:srgbClr val="000000"/>
              </a:solidFill>
              <a:latin typeface="Bai Jamjuree"/>
              <a:ea typeface="Bai Jamjuree"/>
              <a:cs typeface="Bai Jamjuree"/>
              <a:sym typeface="Bai Jamjuree"/>
            </a:endParaRPr>
          </a:p>
        </p:txBody>
      </p:sp>
      <p:sp>
        <p:nvSpPr>
          <p:cNvPr id="261" name="Google Shape;261;p51"/>
          <p:cNvSpPr/>
          <p:nvPr/>
        </p:nvSpPr>
        <p:spPr>
          <a:xfrm>
            <a:off x="1229320" y="3580726"/>
            <a:ext cx="7931489" cy="1743075"/>
          </a:xfrm>
          <a:custGeom>
            <a:rect b="b" l="l" r="r" t="t"/>
            <a:pathLst>
              <a:path extrusionOk="0" h="1743075" w="5572125">
                <a:moveTo>
                  <a:pt x="5492384" y="1743074"/>
                </a:moveTo>
                <a:lnTo>
                  <a:pt x="61941" y="1743074"/>
                </a:lnTo>
                <a:lnTo>
                  <a:pt x="57629" y="1742528"/>
                </a:lnTo>
                <a:lnTo>
                  <a:pt x="22495" y="1722040"/>
                </a:lnTo>
                <a:lnTo>
                  <a:pt x="3380" y="1685212"/>
                </a:lnTo>
                <a:lnTo>
                  <a:pt x="0" y="1663333"/>
                </a:lnTo>
                <a:lnTo>
                  <a:pt x="0" y="1657730"/>
                </a:lnTo>
                <a:lnTo>
                  <a:pt x="0" y="79739"/>
                </a:lnTo>
                <a:lnTo>
                  <a:pt x="8754" y="42588"/>
                </a:lnTo>
                <a:lnTo>
                  <a:pt x="33082" y="11269"/>
                </a:lnTo>
                <a:lnTo>
                  <a:pt x="61941" y="0"/>
                </a:lnTo>
                <a:lnTo>
                  <a:pt x="5492384" y="0"/>
                </a:lnTo>
                <a:lnTo>
                  <a:pt x="5529535" y="11269"/>
                </a:lnTo>
                <a:lnTo>
                  <a:pt x="5560853" y="42588"/>
                </a:lnTo>
                <a:lnTo>
                  <a:pt x="5572124" y="79739"/>
                </a:lnTo>
                <a:lnTo>
                  <a:pt x="5572124" y="1663333"/>
                </a:lnTo>
                <a:lnTo>
                  <a:pt x="5560853" y="1700485"/>
                </a:lnTo>
                <a:lnTo>
                  <a:pt x="5529535" y="1731804"/>
                </a:lnTo>
                <a:lnTo>
                  <a:pt x="5497934" y="1742528"/>
                </a:lnTo>
                <a:lnTo>
                  <a:pt x="5492384" y="1743074"/>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62" name="Google Shape;262;p51"/>
          <p:cNvSpPr/>
          <p:nvPr/>
        </p:nvSpPr>
        <p:spPr>
          <a:xfrm>
            <a:off x="1202204" y="3581076"/>
            <a:ext cx="111176" cy="1742439"/>
          </a:xfrm>
          <a:custGeom>
            <a:rect b="b" l="l" r="r" t="t"/>
            <a:pathLst>
              <a:path extrusionOk="0" h="1742439" w="78104">
                <a:moveTo>
                  <a:pt x="78106" y="1742375"/>
                </a:moveTo>
                <a:lnTo>
                  <a:pt x="37920" y="1728355"/>
                </a:lnTo>
                <a:lnTo>
                  <a:pt x="10088" y="1697652"/>
                </a:lnTo>
                <a:lnTo>
                  <a:pt x="0" y="1657381"/>
                </a:lnTo>
                <a:lnTo>
                  <a:pt x="0" y="84994"/>
                </a:lnTo>
                <a:lnTo>
                  <a:pt x="10088" y="44722"/>
                </a:lnTo>
                <a:lnTo>
                  <a:pt x="37920" y="14019"/>
                </a:lnTo>
                <a:lnTo>
                  <a:pt x="76936" y="56"/>
                </a:lnTo>
                <a:lnTo>
                  <a:pt x="78106" y="0"/>
                </a:lnTo>
                <a:lnTo>
                  <a:pt x="73052" y="1815"/>
                </a:lnTo>
                <a:lnTo>
                  <a:pt x="61476" y="10477"/>
                </a:lnTo>
                <a:lnTo>
                  <a:pt x="43684" y="44722"/>
                </a:lnTo>
                <a:lnTo>
                  <a:pt x="38100" y="84994"/>
                </a:lnTo>
                <a:lnTo>
                  <a:pt x="38100" y="1657381"/>
                </a:lnTo>
                <a:lnTo>
                  <a:pt x="43684" y="1697652"/>
                </a:lnTo>
                <a:lnTo>
                  <a:pt x="61476" y="1731897"/>
                </a:lnTo>
                <a:lnTo>
                  <a:pt x="73052" y="1740559"/>
                </a:lnTo>
                <a:lnTo>
                  <a:pt x="78106" y="1742375"/>
                </a:lnTo>
                <a:close/>
              </a:path>
            </a:pathLst>
          </a:custGeom>
          <a:solidFill>
            <a:srgbClr val="0070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63" name="Google Shape;263;p51"/>
          <p:cNvSpPr txBox="1"/>
          <p:nvPr/>
        </p:nvSpPr>
        <p:spPr>
          <a:xfrm>
            <a:off x="1925125" y="3797043"/>
            <a:ext cx="6901774" cy="98924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rgbClr val="1A237D"/>
                </a:solidFill>
                <a:latin typeface="Bai Jamjuree"/>
                <a:ea typeface="Bai Jamjuree"/>
                <a:cs typeface="Bai Jamjuree"/>
                <a:sym typeface="Bai Jamjuree"/>
              </a:rPr>
              <a:t>AI gợi ý thông minh</a:t>
            </a:r>
            <a:endParaRPr/>
          </a:p>
          <a:p>
            <a:pPr indent="0" lvl="0" marL="12700" marR="5080" rtl="0" algn="l">
              <a:lnSpc>
                <a:spcPct val="125000"/>
              </a:lnSpc>
              <a:spcBef>
                <a:spcPts val="605"/>
              </a:spcBef>
              <a:spcAft>
                <a:spcPts val="0"/>
              </a:spcAft>
              <a:buNone/>
            </a:pPr>
            <a:r>
              <a:rPr b="0" i="0" lang="en-US" sz="1600" u="none" cap="none" strike="noStrike">
                <a:solidFill>
                  <a:srgbClr val="1A237D"/>
                </a:solidFill>
                <a:latin typeface="Bai Jamjuree"/>
                <a:ea typeface="Bai Jamjuree"/>
                <a:cs typeface="Bai Jamjuree"/>
                <a:sym typeface="Bai Jamjuree"/>
              </a:rPr>
              <a:t>AI phân tích và đưa ra gợi ý: "Đặt sữa ở đây, doanh thu có thể tăng 18%." - dựa trên dữ liệu, không phải cảm tính.</a:t>
            </a:r>
            <a:endParaRPr/>
          </a:p>
        </p:txBody>
      </p:sp>
      <p:sp>
        <p:nvSpPr>
          <p:cNvPr id="264" name="Google Shape;264;p51"/>
          <p:cNvSpPr/>
          <p:nvPr/>
        </p:nvSpPr>
        <p:spPr>
          <a:xfrm>
            <a:off x="9535302" y="3537702"/>
            <a:ext cx="7934750" cy="1743075"/>
          </a:xfrm>
          <a:custGeom>
            <a:rect b="b" l="l" r="r" t="t"/>
            <a:pathLst>
              <a:path extrusionOk="0" h="1743075" w="5572125">
                <a:moveTo>
                  <a:pt x="5492384" y="1743074"/>
                </a:moveTo>
                <a:lnTo>
                  <a:pt x="61941" y="1743074"/>
                </a:lnTo>
                <a:lnTo>
                  <a:pt x="57630" y="1742528"/>
                </a:lnTo>
                <a:lnTo>
                  <a:pt x="22495" y="1722040"/>
                </a:lnTo>
                <a:lnTo>
                  <a:pt x="3380" y="1685212"/>
                </a:lnTo>
                <a:lnTo>
                  <a:pt x="0" y="1663333"/>
                </a:lnTo>
                <a:lnTo>
                  <a:pt x="0" y="1657730"/>
                </a:lnTo>
                <a:lnTo>
                  <a:pt x="0" y="79739"/>
                </a:lnTo>
                <a:lnTo>
                  <a:pt x="8753" y="42588"/>
                </a:lnTo>
                <a:lnTo>
                  <a:pt x="33081" y="11269"/>
                </a:lnTo>
                <a:lnTo>
                  <a:pt x="61941" y="0"/>
                </a:lnTo>
                <a:lnTo>
                  <a:pt x="5492384" y="0"/>
                </a:lnTo>
                <a:lnTo>
                  <a:pt x="5529535" y="11269"/>
                </a:lnTo>
                <a:lnTo>
                  <a:pt x="5560854" y="42588"/>
                </a:lnTo>
                <a:lnTo>
                  <a:pt x="5572125" y="79739"/>
                </a:lnTo>
                <a:lnTo>
                  <a:pt x="5572125" y="1663333"/>
                </a:lnTo>
                <a:lnTo>
                  <a:pt x="5560854" y="1700485"/>
                </a:lnTo>
                <a:lnTo>
                  <a:pt x="5529535" y="1731804"/>
                </a:lnTo>
                <a:lnTo>
                  <a:pt x="5497934" y="1742528"/>
                </a:lnTo>
                <a:lnTo>
                  <a:pt x="5492384" y="1743074"/>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265" name="Google Shape;265;p51"/>
          <p:cNvSpPr/>
          <p:nvPr/>
        </p:nvSpPr>
        <p:spPr>
          <a:xfrm>
            <a:off x="9508176" y="3538052"/>
            <a:ext cx="111222" cy="1742439"/>
          </a:xfrm>
          <a:custGeom>
            <a:rect b="b" l="l" r="r" t="t"/>
            <a:pathLst>
              <a:path extrusionOk="0" h="1742439" w="78104">
                <a:moveTo>
                  <a:pt x="78106" y="1742375"/>
                </a:moveTo>
                <a:lnTo>
                  <a:pt x="37920" y="1728355"/>
                </a:lnTo>
                <a:lnTo>
                  <a:pt x="10088" y="1697652"/>
                </a:lnTo>
                <a:lnTo>
                  <a:pt x="0" y="1657381"/>
                </a:lnTo>
                <a:lnTo>
                  <a:pt x="0" y="84994"/>
                </a:lnTo>
                <a:lnTo>
                  <a:pt x="10088" y="44722"/>
                </a:lnTo>
                <a:lnTo>
                  <a:pt x="37920" y="14019"/>
                </a:lnTo>
                <a:lnTo>
                  <a:pt x="76936" y="56"/>
                </a:lnTo>
                <a:lnTo>
                  <a:pt x="78105" y="0"/>
                </a:lnTo>
                <a:lnTo>
                  <a:pt x="73051" y="1815"/>
                </a:lnTo>
                <a:lnTo>
                  <a:pt x="61476" y="10477"/>
                </a:lnTo>
                <a:lnTo>
                  <a:pt x="43684" y="44722"/>
                </a:lnTo>
                <a:lnTo>
                  <a:pt x="38100" y="84994"/>
                </a:lnTo>
                <a:lnTo>
                  <a:pt x="38100" y="1657381"/>
                </a:lnTo>
                <a:lnTo>
                  <a:pt x="43684" y="1697652"/>
                </a:lnTo>
                <a:lnTo>
                  <a:pt x="61476" y="1731897"/>
                </a:lnTo>
                <a:lnTo>
                  <a:pt x="73051" y="1740559"/>
                </a:lnTo>
                <a:lnTo>
                  <a:pt x="78106" y="1742375"/>
                </a:lnTo>
                <a:close/>
              </a:path>
            </a:pathLst>
          </a:custGeom>
          <a:solidFill>
            <a:srgbClr val="0070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66" name="Google Shape;266;p51"/>
          <p:cNvSpPr txBox="1"/>
          <p:nvPr/>
        </p:nvSpPr>
        <p:spPr>
          <a:xfrm>
            <a:off x="10231143" y="3717936"/>
            <a:ext cx="7016450" cy="98924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i="1" lang="en-US" sz="2000" u="none" cap="none" strike="noStrike">
                <a:solidFill>
                  <a:srgbClr val="1A237D"/>
                </a:solidFill>
                <a:latin typeface="Bai Jamjuree"/>
                <a:ea typeface="Bai Jamjuree"/>
                <a:cs typeface="Bai Jamjuree"/>
                <a:sym typeface="Bai Jamjuree"/>
              </a:rPr>
              <a:t>Nhìn trước tương lai</a:t>
            </a:r>
            <a:endParaRPr/>
          </a:p>
          <a:p>
            <a:pPr indent="0" lvl="0" marL="12700" marR="5080" rtl="0" algn="l">
              <a:lnSpc>
                <a:spcPct val="125000"/>
              </a:lnSpc>
              <a:spcBef>
                <a:spcPts val="605"/>
              </a:spcBef>
              <a:spcAft>
                <a:spcPts val="0"/>
              </a:spcAft>
              <a:buNone/>
            </a:pPr>
            <a:r>
              <a:rPr b="0" i="0" lang="en-US" sz="1600" u="none" cap="none" strike="noStrike">
                <a:solidFill>
                  <a:srgbClr val="1A237D"/>
                </a:solidFill>
                <a:latin typeface="Bai Jamjuree"/>
                <a:ea typeface="Bai Jamjuree"/>
                <a:cs typeface="Bai Jamjuree"/>
                <a:sym typeface="Bai Jamjuree"/>
              </a:rPr>
              <a:t>Có một cách để nhìn trước, đoán trước và ra quyết định đúng ngay từ lần đầu tiên, loại bỏ chi phí thử và sai.</a:t>
            </a:r>
            <a:endParaRPr/>
          </a:p>
        </p:txBody>
      </p:sp>
      <p:sp>
        <p:nvSpPr>
          <p:cNvPr id="267" name="Google Shape;267;p51"/>
          <p:cNvSpPr/>
          <p:nvPr/>
        </p:nvSpPr>
        <p:spPr>
          <a:xfrm>
            <a:off x="1121060" y="5837830"/>
            <a:ext cx="38100" cy="600075"/>
          </a:xfrm>
          <a:custGeom>
            <a:rect b="b" l="l" r="r" t="t"/>
            <a:pathLst>
              <a:path extrusionOk="0" h="600075" w="38100">
                <a:moveTo>
                  <a:pt x="38099" y="600074"/>
                </a:moveTo>
                <a:lnTo>
                  <a:pt x="0" y="600074"/>
                </a:lnTo>
                <a:lnTo>
                  <a:pt x="0" y="0"/>
                </a:lnTo>
                <a:lnTo>
                  <a:pt x="38099" y="0"/>
                </a:lnTo>
                <a:lnTo>
                  <a:pt x="38099" y="600074"/>
                </a:lnTo>
                <a:close/>
              </a:path>
            </a:pathLst>
          </a:custGeom>
          <a:solidFill>
            <a:srgbClr val="1A237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68" name="Google Shape;268;p51"/>
          <p:cNvSpPr txBox="1"/>
          <p:nvPr/>
        </p:nvSpPr>
        <p:spPr>
          <a:xfrm>
            <a:off x="1257565" y="5943506"/>
            <a:ext cx="13356667" cy="335605"/>
          </a:xfrm>
          <a:prstGeom prst="rect">
            <a:avLst/>
          </a:prstGeom>
          <a:noFill/>
          <a:ln>
            <a:noFill/>
          </a:ln>
        </p:spPr>
        <p:txBody>
          <a:bodyPr anchorCtr="0" anchor="t" bIns="0" lIns="0" spcFirstLastPara="1" rIns="0" wrap="square" tIns="12050">
            <a:spAutoFit/>
          </a:bodyPr>
          <a:lstStyle/>
          <a:p>
            <a:pPr indent="0" lvl="0" marL="12700" marR="5080" rtl="0" algn="l">
              <a:lnSpc>
                <a:spcPct val="129000"/>
              </a:lnSpc>
              <a:spcBef>
                <a:spcPts val="0"/>
              </a:spcBef>
              <a:spcAft>
                <a:spcPts val="0"/>
              </a:spcAft>
              <a:buNone/>
            </a:pPr>
            <a:r>
              <a:rPr b="0" i="1" lang="en-US" sz="1800" u="none" cap="none" strike="noStrike">
                <a:solidFill>
                  <a:srgbClr val="1A237D"/>
                </a:solidFill>
                <a:latin typeface="Bai Jamjuree"/>
                <a:ea typeface="Bai Jamjuree"/>
                <a:cs typeface="Bai Jamjuree"/>
                <a:sym typeface="Bai Jamjuree"/>
              </a:rPr>
              <a:t>"Giả sử... có một cách để</a:t>
            </a:r>
            <a:r>
              <a:rPr b="1" i="1" lang="en-US" sz="1800" u="none" cap="none" strike="noStrike">
                <a:solidFill>
                  <a:srgbClr val="1A237D"/>
                </a:solidFill>
                <a:latin typeface="Bai Jamjuree"/>
                <a:ea typeface="Bai Jamjuree"/>
                <a:cs typeface="Bai Jamjuree"/>
                <a:sym typeface="Bai Jamjuree"/>
              </a:rPr>
              <a:t> nhìn trước – đoán trước – và đúng ngay lần đầu</a:t>
            </a:r>
            <a:r>
              <a:rPr b="0" i="1" lang="en-US" sz="1800" u="none" cap="none" strike="noStrike">
                <a:solidFill>
                  <a:srgbClr val="1A237D"/>
                </a:solidFill>
                <a:latin typeface="Bai Jamjuree"/>
                <a:ea typeface="Bai Jamjuree"/>
                <a:cs typeface="Bai Jamjuree"/>
                <a:sym typeface="Bai Jamjuree"/>
              </a:rPr>
              <a:t>?”</a:t>
            </a:r>
            <a:endParaRPr/>
          </a:p>
        </p:txBody>
      </p:sp>
      <p:pic>
        <p:nvPicPr>
          <p:cNvPr descr="目標を達成した人のイラスト（男性） | かわいいフリー素材集 いらすとや" id="269" name="Google Shape;269;p51"/>
          <p:cNvPicPr preferRelativeResize="0"/>
          <p:nvPr/>
        </p:nvPicPr>
        <p:blipFill rotWithShape="1">
          <a:blip r:embed="rId4">
            <a:alphaModFix/>
          </a:blip>
          <a:srcRect b="0" l="0" r="0" t="0"/>
          <a:stretch/>
        </p:blipFill>
        <p:spPr>
          <a:xfrm>
            <a:off x="15344437" y="6703935"/>
            <a:ext cx="2125580" cy="1885987"/>
          </a:xfrm>
          <a:prstGeom prst="rect">
            <a:avLst/>
          </a:prstGeom>
          <a:noFill/>
          <a:ln>
            <a:noFill/>
          </a:ln>
        </p:spPr>
      </p:pic>
      <p:sp>
        <p:nvSpPr>
          <p:cNvPr id="270" name="Google Shape;270;p51"/>
          <p:cNvSpPr/>
          <p:nvPr/>
        </p:nvSpPr>
        <p:spPr>
          <a:xfrm>
            <a:off x="1925125" y="4971753"/>
            <a:ext cx="1249976"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Tăng doanh thu</a:t>
            </a:r>
            <a:endParaRPr b="1" i="0" sz="1200" u="none" cap="none" strike="noStrike">
              <a:solidFill>
                <a:schemeClr val="dk2"/>
              </a:solidFill>
              <a:latin typeface="Bai Jamjuree"/>
              <a:ea typeface="Bai Jamjuree"/>
              <a:cs typeface="Bai Jamjuree"/>
              <a:sym typeface="Bai Jamjuree"/>
            </a:endParaRPr>
          </a:p>
        </p:txBody>
      </p:sp>
      <p:sp>
        <p:nvSpPr>
          <p:cNvPr id="271" name="Google Shape;271;p51"/>
          <p:cNvSpPr/>
          <p:nvPr/>
        </p:nvSpPr>
        <p:spPr>
          <a:xfrm>
            <a:off x="3319309" y="4965106"/>
            <a:ext cx="1372013"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Tối ưu lợi nhuận</a:t>
            </a:r>
            <a:endParaRPr/>
          </a:p>
        </p:txBody>
      </p:sp>
      <p:sp>
        <p:nvSpPr>
          <p:cNvPr id="272" name="Google Shape;272;p51"/>
          <p:cNvSpPr/>
          <p:nvPr/>
        </p:nvSpPr>
        <p:spPr>
          <a:xfrm>
            <a:off x="10224899" y="4882616"/>
            <a:ext cx="1144905"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Giảm rủi ro</a:t>
            </a:r>
            <a:endParaRPr b="1" i="0" sz="1200" u="none" cap="none" strike="noStrike">
              <a:solidFill>
                <a:schemeClr val="dk2"/>
              </a:solidFill>
              <a:latin typeface="Bai Jamjuree"/>
              <a:ea typeface="Bai Jamjuree"/>
              <a:cs typeface="Bai Jamjuree"/>
              <a:sym typeface="Bai Jamjuree"/>
            </a:endParaRPr>
          </a:p>
        </p:txBody>
      </p:sp>
      <p:sp>
        <p:nvSpPr>
          <p:cNvPr id="273" name="Google Shape;273;p51"/>
          <p:cNvSpPr/>
          <p:nvPr/>
        </p:nvSpPr>
        <p:spPr>
          <a:xfrm>
            <a:off x="11575960" y="4882752"/>
            <a:ext cx="1555839" cy="219209"/>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Đúng ngay lần đầu</a:t>
            </a:r>
            <a:endParaRPr b="1" i="0" sz="1200" u="none" cap="none" strike="noStrike">
              <a:solidFill>
                <a:schemeClr val="dk2"/>
              </a:solidFill>
              <a:latin typeface="Bai Jamjuree"/>
              <a:ea typeface="Bai Jamjuree"/>
              <a:cs typeface="Bai Jamjuree"/>
              <a:sym typeface="Bai Jamjuree"/>
            </a:endParaRPr>
          </a:p>
        </p:txBody>
      </p:sp>
      <p:sp>
        <p:nvSpPr>
          <p:cNvPr id="274" name="Google Shape;274;p51"/>
          <p:cNvSpPr/>
          <p:nvPr/>
        </p:nvSpPr>
        <p:spPr>
          <a:xfrm>
            <a:off x="1925125" y="2989753"/>
            <a:ext cx="1249976"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Vùng nóng/lạnh</a:t>
            </a:r>
            <a:endParaRPr b="1" i="0" sz="1200" u="none" cap="none" strike="noStrike">
              <a:solidFill>
                <a:schemeClr val="dk2"/>
              </a:solidFill>
              <a:latin typeface="Bai Jamjuree"/>
              <a:ea typeface="Bai Jamjuree"/>
              <a:cs typeface="Bai Jamjuree"/>
              <a:sym typeface="Bai Jamjuree"/>
            </a:endParaRPr>
          </a:p>
        </p:txBody>
      </p:sp>
      <p:sp>
        <p:nvSpPr>
          <p:cNvPr id="275" name="Google Shape;275;p51"/>
          <p:cNvSpPr/>
          <p:nvPr/>
        </p:nvSpPr>
        <p:spPr>
          <a:xfrm>
            <a:off x="3319308" y="2983203"/>
            <a:ext cx="1468592"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Tối ưu trưng bày</a:t>
            </a:r>
            <a:endParaRPr b="1" i="0" sz="1200" u="none" cap="none" strike="noStrike">
              <a:solidFill>
                <a:schemeClr val="dk2"/>
              </a:solidFill>
              <a:latin typeface="Bai Jamjuree"/>
              <a:ea typeface="Bai Jamjuree"/>
              <a:cs typeface="Bai Jamjuree"/>
              <a:sym typeface="Bai Jamjuree"/>
            </a:endParaRPr>
          </a:p>
        </p:txBody>
      </p:sp>
      <p:sp>
        <p:nvSpPr>
          <p:cNvPr id="276" name="Google Shape;276;p51"/>
          <p:cNvSpPr/>
          <p:nvPr/>
        </p:nvSpPr>
        <p:spPr>
          <a:xfrm>
            <a:off x="10224898" y="2989752"/>
            <a:ext cx="1338361"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Kéo - thả - xoay</a:t>
            </a:r>
            <a:endParaRPr b="1" i="0" sz="1200" u="none" cap="none" strike="noStrike">
              <a:solidFill>
                <a:schemeClr val="dk2"/>
              </a:solidFill>
              <a:latin typeface="Bai Jamjuree"/>
              <a:ea typeface="Bai Jamjuree"/>
              <a:cs typeface="Bai Jamjuree"/>
              <a:sym typeface="Bai Jamjuree"/>
            </a:endParaRPr>
          </a:p>
        </p:txBody>
      </p:sp>
      <p:sp>
        <p:nvSpPr>
          <p:cNvPr id="277" name="Google Shape;277;p51"/>
          <p:cNvSpPr/>
          <p:nvPr/>
        </p:nvSpPr>
        <p:spPr>
          <a:xfrm>
            <a:off x="11731803" y="2979122"/>
            <a:ext cx="1812895" cy="222047"/>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15875">
            <a:spAutoFit/>
          </a:bodyPr>
          <a:lstStyle/>
          <a:p>
            <a:pPr indent="0" lvl="0" marL="12700" marR="0" rtl="0" algn="ctr">
              <a:lnSpc>
                <a:spcPct val="100000"/>
              </a:lnSpc>
              <a:spcBef>
                <a:spcPts val="0"/>
              </a:spcBef>
              <a:spcAft>
                <a:spcPts val="0"/>
              </a:spcAft>
              <a:buNone/>
            </a:pPr>
            <a:r>
              <a:rPr b="1" i="0" lang="en-US" sz="1200" u="none" cap="none" strike="noStrike">
                <a:solidFill>
                  <a:schemeClr val="dk2"/>
                </a:solidFill>
                <a:latin typeface="Bai Jamjuree"/>
                <a:ea typeface="Bai Jamjuree"/>
                <a:cs typeface="Bai Jamjuree"/>
                <a:sym typeface="Bai Jamjuree"/>
              </a:rPr>
              <a:t>Mô phỏng chân thực</a:t>
            </a:r>
            <a:endParaRPr b="1" i="0" sz="1200" u="none" cap="none" strike="noStrike">
              <a:solidFill>
                <a:schemeClr val="dk2"/>
              </a:solidFill>
              <a:latin typeface="Bai Jamjuree"/>
              <a:ea typeface="Bai Jamjuree"/>
              <a:cs typeface="Bai Jamjuree"/>
              <a:sym typeface="Bai Jamjure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Planogram Software | Quant - Intelligent Retail Platform" id="282" name="Google Shape;282;p52"/>
          <p:cNvPicPr preferRelativeResize="0"/>
          <p:nvPr/>
        </p:nvPicPr>
        <p:blipFill rotWithShape="1">
          <a:blip r:embed="rId3">
            <a:alphaModFix/>
          </a:blip>
          <a:srcRect b="0" l="0" r="0" t="0"/>
          <a:stretch/>
        </p:blipFill>
        <p:spPr>
          <a:xfrm>
            <a:off x="1940190" y="1739833"/>
            <a:ext cx="5336176" cy="5336176"/>
          </a:xfrm>
          <a:prstGeom prst="rect">
            <a:avLst/>
          </a:prstGeom>
          <a:noFill/>
          <a:ln>
            <a:noFill/>
          </a:ln>
        </p:spPr>
      </p:pic>
      <p:sp>
        <p:nvSpPr>
          <p:cNvPr id="283" name="Google Shape;283;p52"/>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84" name="Google Shape;284;p52"/>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285" name="Google Shape;285;p52"/>
          <p:cNvGrpSpPr/>
          <p:nvPr/>
        </p:nvGrpSpPr>
        <p:grpSpPr>
          <a:xfrm>
            <a:off x="5776170" y="9896475"/>
            <a:ext cx="6735680" cy="408188"/>
            <a:chOff x="0" y="0"/>
            <a:chExt cx="8980907" cy="544250"/>
          </a:xfrm>
        </p:grpSpPr>
        <p:sp>
          <p:nvSpPr>
            <p:cNvPr id="286" name="Google Shape;286;p52"/>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87" name="Google Shape;287;p52"/>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288" name="Google Shape;288;p52"/>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289" name="Google Shape;289;p52"/>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90" name="Google Shape;290;p52"/>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GIỚI THIỆU GIẢI PHÁP: CÔNG CỤ THIẾT KẾ THÔNG MINH – SMART PLANOGRAM</a:t>
            </a:r>
            <a:endParaRPr b="1" i="0" sz="2249" u="none" cap="none" strike="noStrike">
              <a:solidFill>
                <a:srgbClr val="0050AB"/>
              </a:solidFill>
              <a:latin typeface="Bai Jamjuree"/>
              <a:ea typeface="Bai Jamjuree"/>
              <a:cs typeface="Bai Jamjuree"/>
              <a:sym typeface="Bai Jamjuree"/>
            </a:endParaRPr>
          </a:p>
        </p:txBody>
      </p:sp>
      <p:sp>
        <p:nvSpPr>
          <p:cNvPr id="291" name="Google Shape;291;p52"/>
          <p:cNvSpPr txBox="1"/>
          <p:nvPr/>
        </p:nvSpPr>
        <p:spPr>
          <a:xfrm>
            <a:off x="716914" y="262207"/>
            <a:ext cx="5713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Giải pháp thông minh</a:t>
            </a:r>
            <a:endParaRPr b="0" i="0" sz="1574" u="none" cap="none" strike="noStrike">
              <a:solidFill>
                <a:srgbClr val="4D4D4F"/>
              </a:solidFill>
              <a:latin typeface="Bai Jamjuree"/>
              <a:ea typeface="Bai Jamjuree"/>
              <a:cs typeface="Bai Jamjuree"/>
              <a:sym typeface="Bai Jamjuree"/>
            </a:endParaRPr>
          </a:p>
        </p:txBody>
      </p:sp>
      <p:grpSp>
        <p:nvGrpSpPr>
          <p:cNvPr id="292" name="Google Shape;292;p52"/>
          <p:cNvGrpSpPr/>
          <p:nvPr/>
        </p:nvGrpSpPr>
        <p:grpSpPr>
          <a:xfrm>
            <a:off x="594988" y="1172654"/>
            <a:ext cx="8220062" cy="7477369"/>
            <a:chOff x="423120" y="1245475"/>
            <a:chExt cx="8555780" cy="7301625"/>
          </a:xfrm>
        </p:grpSpPr>
        <p:sp>
          <p:nvSpPr>
            <p:cNvPr id="293" name="Google Shape;293;p52"/>
            <p:cNvSpPr/>
            <p:nvPr/>
          </p:nvSpPr>
          <p:spPr>
            <a:xfrm>
              <a:off x="423120" y="1245475"/>
              <a:ext cx="8555780" cy="7301625"/>
            </a:xfrm>
            <a:custGeom>
              <a:rect b="b" l="l" r="r" t="t"/>
              <a:pathLst>
                <a:path extrusionOk="0" h="2733675" w="5353050">
                  <a:moveTo>
                    <a:pt x="5225033" y="2733674"/>
                  </a:moveTo>
                  <a:lnTo>
                    <a:pt x="128015" y="2733674"/>
                  </a:lnTo>
                  <a:lnTo>
                    <a:pt x="115405" y="2733065"/>
                  </a:lnTo>
                  <a:lnTo>
                    <a:pt x="67608" y="2718540"/>
                  </a:lnTo>
                  <a:lnTo>
                    <a:pt x="29008" y="2686831"/>
                  </a:lnTo>
                  <a:lnTo>
                    <a:pt x="5481" y="2642763"/>
                  </a:lnTo>
                  <a:lnTo>
                    <a:pt x="0" y="2605658"/>
                  </a:lnTo>
                  <a:lnTo>
                    <a:pt x="0" y="128015"/>
                  </a:lnTo>
                  <a:lnTo>
                    <a:pt x="9744" y="79026"/>
                  </a:lnTo>
                  <a:lnTo>
                    <a:pt x="37494" y="37494"/>
                  </a:lnTo>
                  <a:lnTo>
                    <a:pt x="79026" y="9744"/>
                  </a:lnTo>
                  <a:lnTo>
                    <a:pt x="128015" y="0"/>
                  </a:lnTo>
                  <a:lnTo>
                    <a:pt x="5225033" y="0"/>
                  </a:lnTo>
                  <a:lnTo>
                    <a:pt x="5274022" y="9744"/>
                  </a:lnTo>
                  <a:lnTo>
                    <a:pt x="5315554" y="37494"/>
                  </a:lnTo>
                  <a:lnTo>
                    <a:pt x="5343304" y="79026"/>
                  </a:lnTo>
                  <a:lnTo>
                    <a:pt x="5353049" y="128015"/>
                  </a:lnTo>
                  <a:lnTo>
                    <a:pt x="5353049" y="2605658"/>
                  </a:lnTo>
                  <a:lnTo>
                    <a:pt x="5343304" y="2654647"/>
                  </a:lnTo>
                  <a:lnTo>
                    <a:pt x="5315554" y="2696179"/>
                  </a:lnTo>
                  <a:lnTo>
                    <a:pt x="5274022" y="2723929"/>
                  </a:lnTo>
                  <a:lnTo>
                    <a:pt x="5225033" y="2733674"/>
                  </a:lnTo>
                  <a:close/>
                </a:path>
              </a:pathLst>
            </a:custGeom>
            <a:solidFill>
              <a:srgbClr val="17365D">
                <a:alpha val="3960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294" name="Google Shape;294;p52"/>
            <p:cNvSpPr txBox="1"/>
            <p:nvPr/>
          </p:nvSpPr>
          <p:spPr>
            <a:xfrm>
              <a:off x="949500" y="6859439"/>
              <a:ext cx="7503017" cy="887422"/>
            </a:xfrm>
            <a:prstGeom prst="rect">
              <a:avLst/>
            </a:prstGeom>
            <a:noFill/>
            <a:ln>
              <a:noFill/>
            </a:ln>
          </p:spPr>
          <p:txBody>
            <a:bodyPr anchorCtr="0" anchor="t" bIns="0" lIns="0" spcFirstLastPara="1" rIns="0" wrap="square" tIns="17775">
              <a:spAutoFit/>
            </a:bodyPr>
            <a:lstStyle/>
            <a:p>
              <a:pPr indent="0" lvl="0" marL="0" marR="0" rtl="0" algn="ctr">
                <a:lnSpc>
                  <a:spcPct val="15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"Smart Planogram không chỉ mang đến một phần mềm.</a:t>
              </a:r>
              <a:endParaRPr b="0" i="0" sz="2000" u="none" cap="none" strike="noStrike">
                <a:solidFill>
                  <a:schemeClr val="lt1"/>
                </a:solidFill>
                <a:latin typeface="Bai Jamjuree"/>
                <a:ea typeface="Bai Jamjuree"/>
                <a:cs typeface="Bai Jamjuree"/>
                <a:sym typeface="Bai Jamjuree"/>
              </a:endParaRPr>
            </a:p>
            <a:p>
              <a:pPr indent="0" lvl="0" marL="0" marR="0" rtl="0" algn="ctr">
                <a:lnSpc>
                  <a:spcPct val="15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Mà mang đến cả đôi mắt thứ 3”</a:t>
              </a:r>
              <a:endParaRPr b="0" i="0" sz="2000" u="none" cap="none" strike="noStrike">
                <a:solidFill>
                  <a:schemeClr val="lt1"/>
                </a:solidFill>
                <a:latin typeface="Bai Jamjuree"/>
                <a:ea typeface="Bai Jamjuree"/>
                <a:cs typeface="Bai Jamjuree"/>
                <a:sym typeface="Bai Jamjuree"/>
              </a:endParaRPr>
            </a:p>
          </p:txBody>
        </p:sp>
      </p:grpSp>
      <p:sp>
        <p:nvSpPr>
          <p:cNvPr id="295" name="Google Shape;295;p52"/>
          <p:cNvSpPr txBox="1"/>
          <p:nvPr/>
        </p:nvSpPr>
        <p:spPr>
          <a:xfrm>
            <a:off x="9472951" y="3483096"/>
            <a:ext cx="8121356" cy="461665"/>
          </a:xfrm>
          <a:prstGeom prst="rect">
            <a:avLst/>
          </a:prstGeom>
          <a:noFill/>
          <a:ln>
            <a:noFill/>
          </a:ln>
        </p:spPr>
        <p:txBody>
          <a:bodyPr anchorCtr="0" anchor="t" bIns="45700" lIns="91425" spcFirstLastPara="1" rIns="91425" wrap="square" tIns="45700">
            <a:spAutoFit/>
          </a:bodyPr>
          <a:lstStyle/>
          <a:p>
            <a:pPr indent="0" lvl="0" marL="38100" marR="0" rtl="0" algn="l">
              <a:lnSpc>
                <a:spcPct val="100000"/>
              </a:lnSpc>
              <a:spcBef>
                <a:spcPts val="0"/>
              </a:spcBef>
              <a:spcAft>
                <a:spcPts val="0"/>
              </a:spcAft>
              <a:buNone/>
            </a:pPr>
            <a:r>
              <a:rPr b="1" i="0" lang="en-US" sz="2400" u="none" cap="none" strike="noStrike">
                <a:solidFill>
                  <a:srgbClr val="1A237D"/>
                </a:solidFill>
                <a:latin typeface="Bai Jamjuree"/>
                <a:ea typeface="Bai Jamjuree"/>
                <a:cs typeface="Bai Jamjuree"/>
                <a:sym typeface="Bai Jamjuree"/>
              </a:rPr>
              <a:t>Quy trình tối ưu hóa chỉ trong 1 buổi</a:t>
            </a:r>
            <a:endParaRPr b="0" i="0" sz="2400" u="none" cap="none" strike="noStrike">
              <a:solidFill>
                <a:srgbClr val="000000"/>
              </a:solidFill>
              <a:latin typeface="Bai Jamjuree"/>
              <a:ea typeface="Bai Jamjuree"/>
              <a:cs typeface="Bai Jamjuree"/>
              <a:sym typeface="Bai Jamjuree"/>
            </a:endParaRPr>
          </a:p>
        </p:txBody>
      </p:sp>
      <p:grpSp>
        <p:nvGrpSpPr>
          <p:cNvPr id="296" name="Google Shape;296;p52"/>
          <p:cNvGrpSpPr/>
          <p:nvPr/>
        </p:nvGrpSpPr>
        <p:grpSpPr>
          <a:xfrm>
            <a:off x="9645523" y="4015477"/>
            <a:ext cx="9410766" cy="2194319"/>
            <a:chOff x="9646772" y="3052320"/>
            <a:chExt cx="9410766" cy="2194319"/>
          </a:xfrm>
        </p:grpSpPr>
        <p:sp>
          <p:nvSpPr>
            <p:cNvPr id="297" name="Google Shape;297;p52"/>
            <p:cNvSpPr txBox="1"/>
            <p:nvPr/>
          </p:nvSpPr>
          <p:spPr>
            <a:xfrm>
              <a:off x="9947618" y="3052320"/>
              <a:ext cx="9109920" cy="2194319"/>
            </a:xfrm>
            <a:prstGeom prst="rect">
              <a:avLst/>
            </a:prstGeom>
            <a:noFill/>
            <a:ln>
              <a:noFill/>
            </a:ln>
          </p:spPr>
          <p:txBody>
            <a:bodyPr anchorCtr="0" anchor="t" bIns="0" lIns="0" spcFirstLastPara="1" rIns="0" wrap="square" tIns="12050">
              <a:spAutoFit/>
            </a:bodyPr>
            <a:lstStyle/>
            <a:p>
              <a:pPr indent="0" lvl="0" marL="250825" marR="1067435" rtl="0" algn="l">
                <a:lnSpc>
                  <a:spcPct val="200000"/>
                </a:lnSpc>
                <a:spcBef>
                  <a:spcPts val="0"/>
                </a:spcBef>
                <a:spcAft>
                  <a:spcPts val="0"/>
                </a:spcAft>
                <a:buNone/>
              </a:pPr>
              <a:r>
                <a:rPr b="1" i="0" lang="en-US" sz="2400" u="none" cap="none" strike="noStrike">
                  <a:solidFill>
                    <a:schemeClr val="dk2"/>
                  </a:solidFill>
                  <a:latin typeface="Bai Jamjuree"/>
                  <a:ea typeface="Bai Jamjuree"/>
                  <a:cs typeface="Bai Jamjuree"/>
                  <a:sym typeface="Bai Jamjuree"/>
                </a:rPr>
                <a:t>Vẽ: </a:t>
              </a:r>
              <a:r>
                <a:rPr b="0" i="0" lang="en-US" sz="2400" u="none" cap="none" strike="noStrike">
                  <a:solidFill>
                    <a:schemeClr val="dk2"/>
                  </a:solidFill>
                  <a:latin typeface="Bai Jamjuree"/>
                  <a:ea typeface="Bai Jamjuree"/>
                  <a:cs typeface="Bai Jamjuree"/>
                  <a:sym typeface="Bai Jamjuree"/>
                </a:rPr>
                <a:t>Thiết kế không gian kết hợp giữ 2D với 3D chi tiết. </a:t>
              </a:r>
              <a:br>
                <a:rPr b="0" i="0" lang="en-US" sz="2400" u="none" cap="none" strike="noStrike">
                  <a:solidFill>
                    <a:schemeClr val="dk2"/>
                  </a:solidFill>
                  <a:latin typeface="Bai Jamjuree"/>
                  <a:ea typeface="Bai Jamjuree"/>
                  <a:cs typeface="Bai Jamjuree"/>
                  <a:sym typeface="Bai Jamjuree"/>
                </a:rPr>
              </a:br>
              <a:r>
                <a:rPr b="1" i="0" lang="en-US" sz="2400" u="none" cap="none" strike="noStrike">
                  <a:solidFill>
                    <a:schemeClr val="dk2"/>
                  </a:solidFill>
                  <a:latin typeface="Bai Jamjuree"/>
                  <a:ea typeface="Bai Jamjuree"/>
                  <a:cs typeface="Bai Jamjuree"/>
                  <a:sym typeface="Bai Jamjuree"/>
                </a:rPr>
                <a:t>Đoán: </a:t>
              </a:r>
              <a:r>
                <a:rPr b="0" i="0" lang="en-US" sz="2400" u="none" cap="none" strike="noStrike">
                  <a:solidFill>
                    <a:schemeClr val="dk2"/>
                  </a:solidFill>
                  <a:latin typeface="Bai Jamjuree"/>
                  <a:ea typeface="Bai Jamjuree"/>
                  <a:cs typeface="Bai Jamjuree"/>
                  <a:sym typeface="Bai Jamjuree"/>
                </a:rPr>
                <a:t>Phân tích hành vi khách hàng bằng AI.</a:t>
              </a:r>
              <a:endParaRPr b="0" i="0" sz="2400" u="none" cap="none" strike="noStrike">
                <a:solidFill>
                  <a:schemeClr val="dk2"/>
                </a:solidFill>
                <a:latin typeface="Bai Jamjuree"/>
                <a:ea typeface="Bai Jamjuree"/>
                <a:cs typeface="Bai Jamjuree"/>
                <a:sym typeface="Bai Jamjuree"/>
              </a:endParaRPr>
            </a:p>
            <a:p>
              <a:pPr indent="0" lvl="0" marL="250825" marR="0" rtl="0" algn="l">
                <a:lnSpc>
                  <a:spcPct val="200000"/>
                </a:lnSpc>
                <a:spcBef>
                  <a:spcPts val="575"/>
                </a:spcBef>
                <a:spcAft>
                  <a:spcPts val="0"/>
                </a:spcAft>
                <a:buNone/>
              </a:pPr>
              <a:r>
                <a:rPr b="1" i="0" lang="en-US" sz="2400" u="none" cap="none" strike="noStrike">
                  <a:solidFill>
                    <a:schemeClr val="dk2"/>
                  </a:solidFill>
                  <a:latin typeface="Bai Jamjuree"/>
                  <a:ea typeface="Bai Jamjuree"/>
                  <a:cs typeface="Bai Jamjuree"/>
                  <a:sym typeface="Bai Jamjuree"/>
                </a:rPr>
                <a:t>Tối ưu: </a:t>
              </a:r>
              <a:r>
                <a:rPr b="0" i="0" lang="en-US" sz="2400" u="none" cap="none" strike="noStrike">
                  <a:solidFill>
                    <a:schemeClr val="dk2"/>
                  </a:solidFill>
                  <a:latin typeface="Bai Jamjuree"/>
                  <a:ea typeface="Bai Jamjuree"/>
                  <a:cs typeface="Bai Jamjuree"/>
                  <a:sym typeface="Bai Jamjuree"/>
                </a:rPr>
                <a:t>Điều chỉnh để đạt hiệu quả cao nhất.</a:t>
              </a:r>
              <a:endParaRPr b="0" i="0" sz="2400" u="none" cap="none" strike="noStrike">
                <a:solidFill>
                  <a:schemeClr val="dk2"/>
                </a:solidFill>
                <a:latin typeface="Bai Jamjuree"/>
                <a:ea typeface="Bai Jamjuree"/>
                <a:cs typeface="Bai Jamjuree"/>
                <a:sym typeface="Bai Jamjuree"/>
              </a:endParaRPr>
            </a:p>
          </p:txBody>
        </p:sp>
        <p:pic>
          <p:nvPicPr>
            <p:cNvPr descr="Scribble outline" id="298" name="Google Shape;298;p52"/>
            <p:cNvPicPr preferRelativeResize="0"/>
            <p:nvPr/>
          </p:nvPicPr>
          <p:blipFill rotWithShape="1">
            <a:blip r:embed="rId5">
              <a:alphaModFix/>
            </a:blip>
            <a:srcRect b="0" l="0" r="0" t="0"/>
            <a:stretch/>
          </p:blipFill>
          <p:spPr>
            <a:xfrm>
              <a:off x="9666430" y="3274920"/>
              <a:ext cx="408188" cy="408188"/>
            </a:xfrm>
            <a:prstGeom prst="rect">
              <a:avLst/>
            </a:prstGeom>
            <a:noFill/>
            <a:ln>
              <a:noFill/>
            </a:ln>
          </p:spPr>
        </p:pic>
        <p:pic>
          <p:nvPicPr>
            <p:cNvPr descr="Left Brain outline" id="299" name="Google Shape;299;p52"/>
            <p:cNvPicPr preferRelativeResize="0"/>
            <p:nvPr/>
          </p:nvPicPr>
          <p:blipFill rotWithShape="1">
            <a:blip r:embed="rId6">
              <a:alphaModFix/>
            </a:blip>
            <a:srcRect b="0" l="0" r="0" t="0"/>
            <a:stretch/>
          </p:blipFill>
          <p:spPr>
            <a:xfrm>
              <a:off x="9649386" y="4052624"/>
              <a:ext cx="457200" cy="457200"/>
            </a:xfrm>
            <a:prstGeom prst="rect">
              <a:avLst/>
            </a:prstGeom>
            <a:noFill/>
            <a:ln>
              <a:noFill/>
            </a:ln>
          </p:spPr>
        </p:pic>
        <p:pic>
          <p:nvPicPr>
            <p:cNvPr descr="Upward trend outline" id="300" name="Google Shape;300;p52"/>
            <p:cNvPicPr preferRelativeResize="0"/>
            <p:nvPr/>
          </p:nvPicPr>
          <p:blipFill rotWithShape="1">
            <a:blip r:embed="rId7">
              <a:alphaModFix/>
            </a:blip>
            <a:srcRect b="0" l="0" r="0" t="0"/>
            <a:stretch/>
          </p:blipFill>
          <p:spPr>
            <a:xfrm>
              <a:off x="9646772" y="4789439"/>
              <a:ext cx="457200" cy="4572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3"/>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06" name="Google Shape;306;p53"/>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307" name="Google Shape;307;p53"/>
          <p:cNvGrpSpPr/>
          <p:nvPr/>
        </p:nvGrpSpPr>
        <p:grpSpPr>
          <a:xfrm>
            <a:off x="5776170" y="9896475"/>
            <a:ext cx="6735680" cy="408188"/>
            <a:chOff x="0" y="0"/>
            <a:chExt cx="8980907" cy="544250"/>
          </a:xfrm>
        </p:grpSpPr>
        <p:sp>
          <p:nvSpPr>
            <p:cNvPr id="308" name="Google Shape;308;p53"/>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09" name="Google Shape;309;p53"/>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310" name="Google Shape;310;p53"/>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311" name="Google Shape;311;p53"/>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12" name="Google Shape;312;p53"/>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TỔNG QUAN CÁC CHỨC NĂNG NỔI BẬT CỦA SMART PLANOGRAM</a:t>
            </a:r>
            <a:endParaRPr/>
          </a:p>
        </p:txBody>
      </p:sp>
      <p:sp>
        <p:nvSpPr>
          <p:cNvPr id="313" name="Google Shape;313;p53"/>
          <p:cNvSpPr txBox="1"/>
          <p:nvPr/>
        </p:nvSpPr>
        <p:spPr>
          <a:xfrm>
            <a:off x="716914" y="262207"/>
            <a:ext cx="8595898"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GIỚI THIỆU GIẢI PHÁP: CÔNG CỤ THIẾT KẾ THÔNG MINH – SMART PLANOGRAM</a:t>
            </a:r>
            <a:endParaRPr/>
          </a:p>
        </p:txBody>
      </p:sp>
      <p:grpSp>
        <p:nvGrpSpPr>
          <p:cNvPr id="314" name="Google Shape;314;p53"/>
          <p:cNvGrpSpPr/>
          <p:nvPr/>
        </p:nvGrpSpPr>
        <p:grpSpPr>
          <a:xfrm>
            <a:off x="2932032" y="1150923"/>
            <a:ext cx="3714749" cy="4340700"/>
            <a:chOff x="1272043" y="2354172"/>
            <a:chExt cx="3714749" cy="4340700"/>
          </a:xfrm>
        </p:grpSpPr>
        <p:sp>
          <p:nvSpPr>
            <p:cNvPr id="315" name="Google Shape;315;p53"/>
            <p:cNvSpPr/>
            <p:nvPr/>
          </p:nvSpPr>
          <p:spPr>
            <a:xfrm>
              <a:off x="1272043" y="2354172"/>
              <a:ext cx="3714749" cy="908723"/>
            </a:xfrm>
            <a:custGeom>
              <a:rect b="b" l="l" r="r" t="t"/>
              <a:pathLst>
                <a:path extrusionOk="0" h="1485899" w="3714749">
                  <a:moveTo>
                    <a:pt x="0" y="0"/>
                  </a:moveTo>
                  <a:lnTo>
                    <a:pt x="3714749" y="0"/>
                  </a:lnTo>
                  <a:lnTo>
                    <a:pt x="3714749" y="1485899"/>
                  </a:lnTo>
                  <a:lnTo>
                    <a:pt x="0" y="1485899"/>
                  </a:lnTo>
                  <a:lnTo>
                    <a:pt x="0" y="0"/>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520050" lIns="346700" spcFirstLastPara="1" rIns="462275" wrap="square" tIns="346700">
              <a:noAutofit/>
            </a:bodyPr>
            <a:lstStyle/>
            <a:p>
              <a:pPr indent="0" lvl="0" marL="0" marR="0" rtl="0" algn="ctr">
                <a:lnSpc>
                  <a:spcPct val="100000"/>
                </a:lnSpc>
                <a:spcBef>
                  <a:spcPts val="0"/>
                </a:spcBef>
                <a:spcAft>
                  <a:spcPts val="0"/>
                </a:spcAft>
                <a:buNone/>
              </a:pPr>
              <a:r>
                <a:rPr b="1" i="0" lang="en-US" sz="1600" u="none" cap="none" strike="noStrike">
                  <a:solidFill>
                    <a:schemeClr val="dk2"/>
                  </a:solidFill>
                  <a:latin typeface="Bai Jamjuree"/>
                  <a:ea typeface="Bai Jamjuree"/>
                  <a:cs typeface="Bai Jamjuree"/>
                  <a:sym typeface="Bai Jamjuree"/>
                </a:rPr>
                <a:t>MÔ PHỎNG 3D ĐA CHIỀU</a:t>
              </a:r>
              <a:endParaRPr/>
            </a:p>
          </p:txBody>
        </p:sp>
        <p:sp>
          <p:nvSpPr>
            <p:cNvPr id="316" name="Google Shape;316;p53"/>
            <p:cNvSpPr/>
            <p:nvPr/>
          </p:nvSpPr>
          <p:spPr>
            <a:xfrm>
              <a:off x="1272043" y="3262896"/>
              <a:ext cx="3714749" cy="3431976"/>
            </a:xfrm>
            <a:custGeom>
              <a:rect b="b" l="l" r="r" t="t"/>
              <a:pathLst>
                <a:path extrusionOk="0" h="2854800" w="3714749">
                  <a:moveTo>
                    <a:pt x="0" y="0"/>
                  </a:moveTo>
                  <a:lnTo>
                    <a:pt x="3714749" y="0"/>
                  </a:lnTo>
                  <a:lnTo>
                    <a:pt x="3714749" y="2854800"/>
                  </a:lnTo>
                  <a:lnTo>
                    <a:pt x="0" y="2854800"/>
                  </a:lnTo>
                  <a:lnTo>
                    <a:pt x="0" y="0"/>
                  </a:lnTo>
                  <a:close/>
                </a:path>
              </a:pathLst>
            </a:custGeom>
            <a:solidFill>
              <a:schemeClr val="lt1"/>
            </a:solidFill>
            <a:ln cap="flat" cmpd="sng" w="25400">
              <a:solidFill>
                <a:schemeClr val="accen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520050" lIns="346700" spcFirstLastPara="1" rIns="462275" wrap="square" tIns="346700">
              <a:noAutofit/>
            </a:bodyPr>
            <a:lstStyle/>
            <a:p>
              <a:pPr indent="0" lvl="1" marL="285750" marR="0" rtl="0" algn="l">
                <a:lnSpc>
                  <a:spcPct val="90000"/>
                </a:lnSpc>
                <a:spcBef>
                  <a:spcPts val="0"/>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a:p>
              <a:pPr indent="0" lvl="1" marL="285750" marR="0" rtl="0" algn="l">
                <a:lnSpc>
                  <a:spcPct val="90000"/>
                </a:lnSpc>
                <a:spcBef>
                  <a:spcPts val="975"/>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p:txBody>
        </p:sp>
      </p:grpSp>
      <p:sp>
        <p:nvSpPr>
          <p:cNvPr id="317" name="Google Shape;317;p53"/>
          <p:cNvSpPr/>
          <p:nvPr/>
        </p:nvSpPr>
        <p:spPr>
          <a:xfrm>
            <a:off x="6798303" y="1164990"/>
            <a:ext cx="3714749" cy="908723"/>
          </a:xfrm>
          <a:custGeom>
            <a:rect b="b" l="l" r="r" t="t"/>
            <a:pathLst>
              <a:path extrusionOk="0" h="1485899" w="3714749">
                <a:moveTo>
                  <a:pt x="0" y="0"/>
                </a:moveTo>
                <a:lnTo>
                  <a:pt x="3714749" y="0"/>
                </a:lnTo>
                <a:lnTo>
                  <a:pt x="3714749" y="1485899"/>
                </a:lnTo>
                <a:lnTo>
                  <a:pt x="0" y="1485899"/>
                </a:lnTo>
                <a:lnTo>
                  <a:pt x="0" y="0"/>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520050" lIns="346700" spcFirstLastPara="1" rIns="462275" wrap="square" tIns="346700">
            <a:noAutofit/>
          </a:bodyPr>
          <a:lstStyle/>
          <a:p>
            <a:pPr indent="0" lvl="0" marL="0" marR="0" rtl="0" algn="ctr">
              <a:lnSpc>
                <a:spcPct val="100000"/>
              </a:lnSpc>
              <a:spcBef>
                <a:spcPts val="0"/>
              </a:spcBef>
              <a:spcAft>
                <a:spcPts val="0"/>
              </a:spcAft>
              <a:buNone/>
            </a:pPr>
            <a:r>
              <a:rPr b="1" i="0" lang="en-US" sz="1600" u="none" cap="none" strike="noStrike">
                <a:solidFill>
                  <a:schemeClr val="dk2"/>
                </a:solidFill>
                <a:latin typeface="Bai Jamjuree"/>
                <a:ea typeface="Bai Jamjuree"/>
                <a:cs typeface="Bai Jamjuree"/>
                <a:sym typeface="Bai Jamjuree"/>
              </a:rPr>
              <a:t>KẾT HỢP 2D SẮP XẾP SẢN PHẨM</a:t>
            </a:r>
            <a:endParaRPr/>
          </a:p>
        </p:txBody>
      </p:sp>
      <p:sp>
        <p:nvSpPr>
          <p:cNvPr id="318" name="Google Shape;318;p53"/>
          <p:cNvSpPr/>
          <p:nvPr/>
        </p:nvSpPr>
        <p:spPr>
          <a:xfrm>
            <a:off x="6798303" y="2073714"/>
            <a:ext cx="3714749" cy="3431976"/>
          </a:xfrm>
          <a:custGeom>
            <a:rect b="b" l="l" r="r" t="t"/>
            <a:pathLst>
              <a:path extrusionOk="0" h="2854800" w="3714749">
                <a:moveTo>
                  <a:pt x="0" y="0"/>
                </a:moveTo>
                <a:lnTo>
                  <a:pt x="3714749" y="0"/>
                </a:lnTo>
                <a:lnTo>
                  <a:pt x="3714749" y="2854800"/>
                </a:lnTo>
                <a:lnTo>
                  <a:pt x="0" y="2854800"/>
                </a:lnTo>
                <a:lnTo>
                  <a:pt x="0" y="0"/>
                </a:lnTo>
                <a:close/>
              </a:path>
            </a:pathLst>
          </a:custGeom>
          <a:solidFill>
            <a:schemeClr val="lt1"/>
          </a:solidFill>
          <a:ln cap="flat" cmpd="sng" w="25400">
            <a:solidFill>
              <a:schemeClr val="accen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520050" lIns="346700" spcFirstLastPara="1" rIns="462275" wrap="square" tIns="346700">
            <a:noAutofit/>
          </a:bodyPr>
          <a:lstStyle/>
          <a:p>
            <a:pPr indent="0" lvl="1" marL="285750" marR="0" rtl="0" algn="l">
              <a:lnSpc>
                <a:spcPct val="90000"/>
              </a:lnSpc>
              <a:spcBef>
                <a:spcPts val="0"/>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a:p>
            <a:pPr indent="0" lvl="1" marL="285750" marR="0" rtl="0" algn="l">
              <a:lnSpc>
                <a:spcPct val="90000"/>
              </a:lnSpc>
              <a:spcBef>
                <a:spcPts val="975"/>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p:txBody>
      </p:sp>
      <p:sp>
        <p:nvSpPr>
          <p:cNvPr id="319" name="Google Shape;319;p53"/>
          <p:cNvSpPr/>
          <p:nvPr/>
        </p:nvSpPr>
        <p:spPr>
          <a:xfrm>
            <a:off x="3066756" y="2236323"/>
            <a:ext cx="3432517" cy="1350499"/>
          </a:xfrm>
          <a:prstGeom prst="roundRect">
            <a:avLst>
              <a:gd fmla="val 625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320" name="Google Shape;320;p53"/>
          <p:cNvSpPr txBox="1"/>
          <p:nvPr/>
        </p:nvSpPr>
        <p:spPr>
          <a:xfrm>
            <a:off x="3135905" y="3859418"/>
            <a:ext cx="3311818" cy="581441"/>
          </a:xfrm>
          <a:prstGeom prst="rect">
            <a:avLst/>
          </a:prstGeom>
          <a:noFill/>
          <a:ln>
            <a:noFill/>
          </a:ln>
        </p:spPr>
        <p:txBody>
          <a:bodyPr anchorCtr="0" anchor="t" bIns="0" lIns="0" spcFirstLastPara="1" rIns="0" wrap="square" tIns="0">
            <a:spAutoFit/>
          </a:bodyPr>
          <a:lstStyle/>
          <a:p>
            <a:pPr indent="0" lvl="0" marL="0" marR="0" rtl="0" algn="just">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Tạo không gian bán lẻ chân thực, tương tác để tối ưu trưng bày.</a:t>
            </a:r>
            <a:endParaRPr/>
          </a:p>
        </p:txBody>
      </p:sp>
      <p:sp>
        <p:nvSpPr>
          <p:cNvPr id="321" name="Google Shape;321;p53"/>
          <p:cNvSpPr/>
          <p:nvPr/>
        </p:nvSpPr>
        <p:spPr>
          <a:xfrm>
            <a:off x="6939418" y="2235244"/>
            <a:ext cx="3432517" cy="1350499"/>
          </a:xfrm>
          <a:prstGeom prst="roundRect">
            <a:avLst>
              <a:gd fmla="val 6250" name="adj"/>
            </a:avLst>
          </a:prstGeom>
          <a:blipFill rotWithShape="1">
            <a:blip r:embed="rId5">
              <a:alphaModFix/>
            </a:blip>
            <a:stretch>
              <a:fillRect b="0" l="0" r="0" t="0"/>
            </a:stretch>
          </a:blip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322" name="Google Shape;322;p53"/>
          <p:cNvSpPr txBox="1"/>
          <p:nvPr/>
        </p:nvSpPr>
        <p:spPr>
          <a:xfrm>
            <a:off x="6939418" y="3859417"/>
            <a:ext cx="3432517" cy="581441"/>
          </a:xfrm>
          <a:prstGeom prst="rect">
            <a:avLst/>
          </a:prstGeom>
          <a:noFill/>
          <a:ln>
            <a:noFill/>
          </a:ln>
        </p:spPr>
        <p:txBody>
          <a:bodyPr anchorCtr="0" anchor="t" bIns="0" lIns="0" spcFirstLastPara="1" rIns="0" wrap="square" tIns="0">
            <a:spAutoFit/>
          </a:bodyPr>
          <a:lstStyle/>
          <a:p>
            <a:pPr indent="0" lvl="0" marL="0" marR="0" rtl="0" algn="just">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Thiết kế bố cục 2D trực quan, tối ưu hóa từng inch kệ hàng hiệu quả.</a:t>
            </a:r>
            <a:endParaRPr/>
          </a:p>
        </p:txBody>
      </p:sp>
      <p:grpSp>
        <p:nvGrpSpPr>
          <p:cNvPr id="323" name="Google Shape;323;p53"/>
          <p:cNvGrpSpPr/>
          <p:nvPr/>
        </p:nvGrpSpPr>
        <p:grpSpPr>
          <a:xfrm>
            <a:off x="10654167" y="1164990"/>
            <a:ext cx="3714749" cy="4340700"/>
            <a:chOff x="10668619" y="1164990"/>
            <a:chExt cx="3714749" cy="4340700"/>
          </a:xfrm>
        </p:grpSpPr>
        <p:sp>
          <p:nvSpPr>
            <p:cNvPr id="324" name="Google Shape;324;p53"/>
            <p:cNvSpPr/>
            <p:nvPr/>
          </p:nvSpPr>
          <p:spPr>
            <a:xfrm>
              <a:off x="10668619" y="1164990"/>
              <a:ext cx="3714749" cy="908723"/>
            </a:xfrm>
            <a:custGeom>
              <a:rect b="b" l="l" r="r" t="t"/>
              <a:pathLst>
                <a:path extrusionOk="0" h="1485899" w="3714749">
                  <a:moveTo>
                    <a:pt x="0" y="0"/>
                  </a:moveTo>
                  <a:lnTo>
                    <a:pt x="3714749" y="0"/>
                  </a:lnTo>
                  <a:lnTo>
                    <a:pt x="3714749" y="1485899"/>
                  </a:lnTo>
                  <a:lnTo>
                    <a:pt x="0" y="1485899"/>
                  </a:lnTo>
                  <a:lnTo>
                    <a:pt x="0" y="0"/>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520050" lIns="346700" spcFirstLastPara="1" rIns="462275" wrap="square" tIns="346700">
              <a:noAutofit/>
            </a:bodyPr>
            <a:lstStyle/>
            <a:p>
              <a:pPr indent="0" lvl="0" marL="0" marR="0" rtl="0" algn="ctr">
                <a:lnSpc>
                  <a:spcPct val="100000"/>
                </a:lnSpc>
                <a:spcBef>
                  <a:spcPts val="0"/>
                </a:spcBef>
                <a:spcAft>
                  <a:spcPts val="0"/>
                </a:spcAft>
                <a:buNone/>
              </a:pPr>
              <a:r>
                <a:rPr b="1" i="0" lang="en-US" sz="1600" u="none" cap="none" strike="noStrike">
                  <a:solidFill>
                    <a:schemeClr val="dk2"/>
                  </a:solidFill>
                  <a:latin typeface="Bai Jamjuree"/>
                  <a:ea typeface="Bai Jamjuree"/>
                  <a:cs typeface="Bai Jamjuree"/>
                  <a:sym typeface="Bai Jamjuree"/>
                </a:rPr>
                <a:t>FOOT FALL &amp; HEADMAP THÔNG MINH</a:t>
              </a:r>
              <a:endParaRPr/>
            </a:p>
          </p:txBody>
        </p:sp>
        <p:sp>
          <p:nvSpPr>
            <p:cNvPr id="325" name="Google Shape;325;p53"/>
            <p:cNvSpPr/>
            <p:nvPr/>
          </p:nvSpPr>
          <p:spPr>
            <a:xfrm>
              <a:off x="10668619" y="2073714"/>
              <a:ext cx="3714749" cy="3431976"/>
            </a:xfrm>
            <a:custGeom>
              <a:rect b="b" l="l" r="r" t="t"/>
              <a:pathLst>
                <a:path extrusionOk="0" h="2854800" w="3714749">
                  <a:moveTo>
                    <a:pt x="0" y="0"/>
                  </a:moveTo>
                  <a:lnTo>
                    <a:pt x="3714749" y="0"/>
                  </a:lnTo>
                  <a:lnTo>
                    <a:pt x="3714749" y="2854800"/>
                  </a:lnTo>
                  <a:lnTo>
                    <a:pt x="0" y="2854800"/>
                  </a:lnTo>
                  <a:lnTo>
                    <a:pt x="0" y="0"/>
                  </a:lnTo>
                  <a:close/>
                </a:path>
              </a:pathLst>
            </a:custGeom>
            <a:solidFill>
              <a:schemeClr val="lt1"/>
            </a:solidFill>
            <a:ln cap="flat" cmpd="sng" w="25400">
              <a:solidFill>
                <a:schemeClr val="accen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520050" lIns="346700" spcFirstLastPara="1" rIns="462275" wrap="square" tIns="346700">
              <a:noAutofit/>
            </a:bodyPr>
            <a:lstStyle/>
            <a:p>
              <a:pPr indent="0" lvl="1" marL="285750" marR="0" rtl="0" algn="l">
                <a:lnSpc>
                  <a:spcPct val="90000"/>
                </a:lnSpc>
                <a:spcBef>
                  <a:spcPts val="0"/>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a:p>
              <a:pPr indent="0" lvl="1" marL="285750" marR="0" rtl="0" algn="l">
                <a:lnSpc>
                  <a:spcPct val="90000"/>
                </a:lnSpc>
                <a:spcBef>
                  <a:spcPts val="975"/>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p:txBody>
        </p:sp>
        <p:sp>
          <p:nvSpPr>
            <p:cNvPr id="326" name="Google Shape;326;p53"/>
            <p:cNvSpPr/>
            <p:nvPr/>
          </p:nvSpPr>
          <p:spPr>
            <a:xfrm>
              <a:off x="10795591" y="2205589"/>
              <a:ext cx="3432517" cy="1350499"/>
            </a:xfrm>
            <a:prstGeom prst="roundRect">
              <a:avLst>
                <a:gd fmla="val 6250" name="adj"/>
              </a:avLst>
            </a:prstGeom>
            <a:blipFill rotWithShape="1">
              <a:blip r:embed="rId6">
                <a:alphaModFix/>
              </a:blip>
              <a:stretch>
                <a:fillRect b="0" l="0" r="0" t="0"/>
              </a:stretch>
            </a:blip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327" name="Google Shape;327;p53"/>
            <p:cNvSpPr txBox="1"/>
            <p:nvPr/>
          </p:nvSpPr>
          <p:spPr>
            <a:xfrm>
              <a:off x="10795590" y="3859416"/>
              <a:ext cx="3432517" cy="872162"/>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Phân tích hành vi khách hàng, nhận diện khu vực 'nóng'/'lạnh' trong cửa hàng.</a:t>
              </a:r>
              <a:endParaRPr/>
            </a:p>
          </p:txBody>
        </p:sp>
      </p:grpSp>
      <p:grpSp>
        <p:nvGrpSpPr>
          <p:cNvPr id="328" name="Google Shape;328;p53"/>
          <p:cNvGrpSpPr/>
          <p:nvPr/>
        </p:nvGrpSpPr>
        <p:grpSpPr>
          <a:xfrm>
            <a:off x="2921909" y="5601449"/>
            <a:ext cx="3714749" cy="4340700"/>
            <a:chOff x="6788181" y="5674710"/>
            <a:chExt cx="3714749" cy="4340700"/>
          </a:xfrm>
        </p:grpSpPr>
        <p:sp>
          <p:nvSpPr>
            <p:cNvPr id="329" name="Google Shape;329;p53"/>
            <p:cNvSpPr/>
            <p:nvPr/>
          </p:nvSpPr>
          <p:spPr>
            <a:xfrm>
              <a:off x="6788181" y="5674710"/>
              <a:ext cx="3714749" cy="908723"/>
            </a:xfrm>
            <a:custGeom>
              <a:rect b="b" l="l" r="r" t="t"/>
              <a:pathLst>
                <a:path extrusionOk="0" h="1485899" w="3714749">
                  <a:moveTo>
                    <a:pt x="0" y="0"/>
                  </a:moveTo>
                  <a:lnTo>
                    <a:pt x="3714749" y="0"/>
                  </a:lnTo>
                  <a:lnTo>
                    <a:pt x="3714749" y="1485899"/>
                  </a:lnTo>
                  <a:lnTo>
                    <a:pt x="0" y="1485899"/>
                  </a:lnTo>
                  <a:lnTo>
                    <a:pt x="0" y="0"/>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520050" lIns="346700" spcFirstLastPara="1" rIns="462275" wrap="square" tIns="346700">
              <a:noAutofit/>
            </a:bodyPr>
            <a:lstStyle/>
            <a:p>
              <a:pPr indent="0" lvl="0" marL="0" marR="0" rtl="0" algn="ctr">
                <a:lnSpc>
                  <a:spcPct val="100000"/>
                </a:lnSpc>
                <a:spcBef>
                  <a:spcPts val="0"/>
                </a:spcBef>
                <a:spcAft>
                  <a:spcPts val="0"/>
                </a:spcAft>
                <a:buNone/>
              </a:pPr>
              <a:r>
                <a:rPr b="1" i="0" lang="en-US" sz="1600" u="none" cap="none" strike="noStrike">
                  <a:solidFill>
                    <a:schemeClr val="dk2"/>
                  </a:solidFill>
                  <a:latin typeface="Bai Jamjuree"/>
                  <a:ea typeface="Bai Jamjuree"/>
                  <a:cs typeface="Bai Jamjuree"/>
                  <a:sym typeface="Bai Jamjuree"/>
                </a:rPr>
                <a:t>ĐỒNG BỘ DỮ LIỆU TỪ MÁY POS</a:t>
              </a:r>
              <a:endParaRPr/>
            </a:p>
          </p:txBody>
        </p:sp>
        <p:sp>
          <p:nvSpPr>
            <p:cNvPr id="330" name="Google Shape;330;p53"/>
            <p:cNvSpPr/>
            <p:nvPr/>
          </p:nvSpPr>
          <p:spPr>
            <a:xfrm>
              <a:off x="6788181" y="6583434"/>
              <a:ext cx="3714749" cy="3431976"/>
            </a:xfrm>
            <a:custGeom>
              <a:rect b="b" l="l" r="r" t="t"/>
              <a:pathLst>
                <a:path extrusionOk="0" h="2854800" w="3714749">
                  <a:moveTo>
                    <a:pt x="0" y="0"/>
                  </a:moveTo>
                  <a:lnTo>
                    <a:pt x="3714749" y="0"/>
                  </a:lnTo>
                  <a:lnTo>
                    <a:pt x="3714749" y="2854800"/>
                  </a:lnTo>
                  <a:lnTo>
                    <a:pt x="0" y="2854800"/>
                  </a:lnTo>
                  <a:lnTo>
                    <a:pt x="0" y="0"/>
                  </a:lnTo>
                  <a:close/>
                </a:path>
              </a:pathLst>
            </a:custGeom>
            <a:solidFill>
              <a:schemeClr val="lt1"/>
            </a:solidFill>
            <a:ln cap="flat" cmpd="sng" w="25400">
              <a:solidFill>
                <a:schemeClr val="accen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520050" lIns="346700" spcFirstLastPara="1" rIns="462275" wrap="square" tIns="346700">
              <a:noAutofit/>
            </a:bodyPr>
            <a:lstStyle/>
            <a:p>
              <a:pPr indent="0" lvl="1" marL="285750" marR="0" rtl="0" algn="l">
                <a:lnSpc>
                  <a:spcPct val="90000"/>
                </a:lnSpc>
                <a:spcBef>
                  <a:spcPts val="0"/>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a:p>
              <a:pPr indent="0" lvl="1" marL="285750" marR="0" rtl="0" algn="l">
                <a:lnSpc>
                  <a:spcPct val="90000"/>
                </a:lnSpc>
                <a:spcBef>
                  <a:spcPts val="975"/>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p:txBody>
        </p:sp>
        <p:sp>
          <p:nvSpPr>
            <p:cNvPr id="331" name="Google Shape;331;p53"/>
            <p:cNvSpPr/>
            <p:nvPr/>
          </p:nvSpPr>
          <p:spPr>
            <a:xfrm>
              <a:off x="6929296" y="6768227"/>
              <a:ext cx="3432517" cy="1350499"/>
            </a:xfrm>
            <a:prstGeom prst="roundRect">
              <a:avLst>
                <a:gd fmla="val 6250" name="adj"/>
              </a:avLst>
            </a:prstGeom>
            <a:blipFill rotWithShape="1">
              <a:blip r:embed="rId7">
                <a:alphaModFix/>
              </a:blip>
              <a:stretch>
                <a:fillRect b="0" l="0" r="0" t="0"/>
              </a:stretch>
            </a:blip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332" name="Google Shape;332;p53"/>
            <p:cNvSpPr txBox="1"/>
            <p:nvPr/>
          </p:nvSpPr>
          <p:spPr>
            <a:xfrm>
              <a:off x="6922906" y="8383206"/>
              <a:ext cx="3380967" cy="872162"/>
            </a:xfrm>
            <a:prstGeom prst="rect">
              <a:avLst/>
            </a:prstGeom>
            <a:noFill/>
            <a:ln>
              <a:noFill/>
            </a:ln>
          </p:spPr>
          <p:txBody>
            <a:bodyPr anchorCtr="0" anchor="t" bIns="0" lIns="0" spcFirstLastPara="1" rIns="0" wrap="square" tIns="0">
              <a:spAutoFit/>
            </a:bodyPr>
            <a:lstStyle/>
            <a:p>
              <a:pPr indent="0" lvl="0" marL="0" marR="0" rtl="0" algn="just">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Tích hợp liền mạch với hệ thống POS, cập nhật dữ liệu bán hàng theo thời gian thực.</a:t>
              </a:r>
              <a:endParaRPr/>
            </a:p>
          </p:txBody>
        </p:sp>
      </p:grpSp>
      <p:grpSp>
        <p:nvGrpSpPr>
          <p:cNvPr id="333" name="Google Shape;333;p53"/>
          <p:cNvGrpSpPr/>
          <p:nvPr/>
        </p:nvGrpSpPr>
        <p:grpSpPr>
          <a:xfrm>
            <a:off x="10640021" y="5582963"/>
            <a:ext cx="3714749" cy="4340700"/>
            <a:chOff x="10654453" y="5684093"/>
            <a:chExt cx="3714749" cy="4340700"/>
          </a:xfrm>
        </p:grpSpPr>
        <p:sp>
          <p:nvSpPr>
            <p:cNvPr id="334" name="Google Shape;334;p53"/>
            <p:cNvSpPr/>
            <p:nvPr/>
          </p:nvSpPr>
          <p:spPr>
            <a:xfrm>
              <a:off x="10654453" y="5684093"/>
              <a:ext cx="3714749" cy="908723"/>
            </a:xfrm>
            <a:custGeom>
              <a:rect b="b" l="l" r="r" t="t"/>
              <a:pathLst>
                <a:path extrusionOk="0" h="1485899" w="3714749">
                  <a:moveTo>
                    <a:pt x="0" y="0"/>
                  </a:moveTo>
                  <a:lnTo>
                    <a:pt x="3714749" y="0"/>
                  </a:lnTo>
                  <a:lnTo>
                    <a:pt x="3714749" y="1485899"/>
                  </a:lnTo>
                  <a:lnTo>
                    <a:pt x="0" y="1485899"/>
                  </a:lnTo>
                  <a:lnTo>
                    <a:pt x="0" y="0"/>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520050" lIns="346700" spcFirstLastPara="1" rIns="462275" wrap="square" tIns="346700">
              <a:noAutofit/>
            </a:bodyPr>
            <a:lstStyle/>
            <a:p>
              <a:pPr indent="0" lvl="0" marL="0" marR="0" rtl="0" algn="ctr">
                <a:lnSpc>
                  <a:spcPct val="100000"/>
                </a:lnSpc>
                <a:spcBef>
                  <a:spcPts val="0"/>
                </a:spcBef>
                <a:spcAft>
                  <a:spcPts val="0"/>
                </a:spcAft>
                <a:buNone/>
              </a:pPr>
              <a:r>
                <a:rPr b="1" i="0" lang="en-US" sz="1600" u="none" cap="none" strike="noStrike">
                  <a:solidFill>
                    <a:schemeClr val="dk2"/>
                  </a:solidFill>
                  <a:latin typeface="Bai Jamjuree"/>
                  <a:ea typeface="Bai Jamjuree"/>
                  <a:cs typeface="Bai Jamjuree"/>
                  <a:sym typeface="Bai Jamjuree"/>
                </a:rPr>
                <a:t>DASHBOARD &amp; REPORTS CHI TIẾT</a:t>
              </a:r>
              <a:endParaRPr/>
            </a:p>
          </p:txBody>
        </p:sp>
        <p:sp>
          <p:nvSpPr>
            <p:cNvPr id="335" name="Google Shape;335;p53"/>
            <p:cNvSpPr/>
            <p:nvPr/>
          </p:nvSpPr>
          <p:spPr>
            <a:xfrm>
              <a:off x="10654453" y="6592817"/>
              <a:ext cx="3714749" cy="3431976"/>
            </a:xfrm>
            <a:custGeom>
              <a:rect b="b" l="l" r="r" t="t"/>
              <a:pathLst>
                <a:path extrusionOk="0" h="2854800" w="3714749">
                  <a:moveTo>
                    <a:pt x="0" y="0"/>
                  </a:moveTo>
                  <a:lnTo>
                    <a:pt x="3714749" y="0"/>
                  </a:lnTo>
                  <a:lnTo>
                    <a:pt x="3714749" y="2854800"/>
                  </a:lnTo>
                  <a:lnTo>
                    <a:pt x="0" y="2854800"/>
                  </a:lnTo>
                  <a:lnTo>
                    <a:pt x="0" y="0"/>
                  </a:lnTo>
                  <a:close/>
                </a:path>
              </a:pathLst>
            </a:custGeom>
            <a:solidFill>
              <a:schemeClr val="lt1"/>
            </a:solidFill>
            <a:ln cap="flat" cmpd="sng" w="25400">
              <a:solidFill>
                <a:schemeClr val="accen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520050" lIns="346700" spcFirstLastPara="1" rIns="462275" wrap="square" tIns="346700">
              <a:noAutofit/>
            </a:bodyPr>
            <a:lstStyle/>
            <a:p>
              <a:pPr indent="0" lvl="1" marL="285750" marR="0" rtl="0" algn="l">
                <a:lnSpc>
                  <a:spcPct val="90000"/>
                </a:lnSpc>
                <a:spcBef>
                  <a:spcPts val="0"/>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a:p>
              <a:pPr indent="0" lvl="1" marL="285750" marR="0" rtl="0" algn="l">
                <a:lnSpc>
                  <a:spcPct val="90000"/>
                </a:lnSpc>
                <a:spcBef>
                  <a:spcPts val="975"/>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p:txBody>
        </p:sp>
        <p:sp>
          <p:nvSpPr>
            <p:cNvPr id="336" name="Google Shape;336;p53"/>
            <p:cNvSpPr/>
            <p:nvPr/>
          </p:nvSpPr>
          <p:spPr>
            <a:xfrm>
              <a:off x="10795568" y="6777770"/>
              <a:ext cx="3432517" cy="1350499"/>
            </a:xfrm>
            <a:prstGeom prst="roundRect">
              <a:avLst>
                <a:gd fmla="val 6250" name="adj"/>
              </a:avLst>
            </a:prstGeom>
            <a:blipFill rotWithShape="1">
              <a:blip r:embed="rId8">
                <a:alphaModFix/>
              </a:blip>
              <a:stretch>
                <a:fillRect b="0" l="0" r="0" t="0"/>
              </a:stretch>
            </a:blip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337" name="Google Shape;337;p53"/>
            <p:cNvSpPr txBox="1"/>
            <p:nvPr/>
          </p:nvSpPr>
          <p:spPr>
            <a:xfrm>
              <a:off x="10818052" y="8422884"/>
              <a:ext cx="3394661" cy="872162"/>
            </a:xfrm>
            <a:prstGeom prst="rect">
              <a:avLst/>
            </a:prstGeom>
            <a:noFill/>
            <a:ln>
              <a:noFill/>
            </a:ln>
          </p:spPr>
          <p:txBody>
            <a:bodyPr anchorCtr="0" anchor="t" bIns="0" lIns="0" spcFirstLastPara="1" rIns="0" wrap="square" tIns="0">
              <a:spAutoFit/>
            </a:bodyPr>
            <a:lstStyle/>
            <a:p>
              <a:pPr indent="0" lvl="0" marL="0" marR="0" rtl="0" algn="just">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Cung cấp cái nhìn tổng quan, báo cáo chuyên sâu hỗ trợ ra quyết định kinh doanh.</a:t>
              </a:r>
              <a:endParaRPr/>
            </a:p>
          </p:txBody>
        </p:sp>
      </p:grpSp>
      <p:grpSp>
        <p:nvGrpSpPr>
          <p:cNvPr id="338" name="Google Shape;338;p53"/>
          <p:cNvGrpSpPr/>
          <p:nvPr/>
        </p:nvGrpSpPr>
        <p:grpSpPr>
          <a:xfrm>
            <a:off x="6783215" y="5601449"/>
            <a:ext cx="3714749" cy="4340700"/>
            <a:chOff x="10668619" y="5690644"/>
            <a:chExt cx="3714749" cy="4340700"/>
          </a:xfrm>
        </p:grpSpPr>
        <p:sp>
          <p:nvSpPr>
            <p:cNvPr id="339" name="Google Shape;339;p53"/>
            <p:cNvSpPr/>
            <p:nvPr/>
          </p:nvSpPr>
          <p:spPr>
            <a:xfrm>
              <a:off x="10668619" y="5690644"/>
              <a:ext cx="3714749" cy="908723"/>
            </a:xfrm>
            <a:custGeom>
              <a:rect b="b" l="l" r="r" t="t"/>
              <a:pathLst>
                <a:path extrusionOk="0" h="1485899" w="3714749">
                  <a:moveTo>
                    <a:pt x="0" y="0"/>
                  </a:moveTo>
                  <a:lnTo>
                    <a:pt x="3714749" y="0"/>
                  </a:lnTo>
                  <a:lnTo>
                    <a:pt x="3714749" y="1485899"/>
                  </a:lnTo>
                  <a:lnTo>
                    <a:pt x="0" y="1485899"/>
                  </a:lnTo>
                  <a:lnTo>
                    <a:pt x="0" y="0"/>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520050" lIns="346700" spcFirstLastPara="1" rIns="462275" wrap="square" tIns="346700">
              <a:noAutofit/>
            </a:bodyPr>
            <a:lstStyle/>
            <a:p>
              <a:pPr indent="0" lvl="0" marL="0" marR="0" rtl="0" algn="ctr">
                <a:lnSpc>
                  <a:spcPct val="100000"/>
                </a:lnSpc>
                <a:spcBef>
                  <a:spcPts val="0"/>
                </a:spcBef>
                <a:spcAft>
                  <a:spcPts val="0"/>
                </a:spcAft>
                <a:buNone/>
              </a:pPr>
              <a:r>
                <a:rPr b="1" i="0" lang="en-US" sz="1600" u="none" cap="none" strike="noStrike">
                  <a:solidFill>
                    <a:schemeClr val="dk2"/>
                  </a:solidFill>
                  <a:latin typeface="Bai Jamjuree"/>
                  <a:ea typeface="Bai Jamjuree"/>
                  <a:cs typeface="Bai Jamjuree"/>
                  <a:sym typeface="Bai Jamjuree"/>
                </a:rPr>
                <a:t>QUẢN LÝ VÀ LƯU TRỮ LAYOUT DỄ DÀNG</a:t>
              </a:r>
              <a:endParaRPr/>
            </a:p>
          </p:txBody>
        </p:sp>
        <p:sp>
          <p:nvSpPr>
            <p:cNvPr id="340" name="Google Shape;340;p53"/>
            <p:cNvSpPr/>
            <p:nvPr/>
          </p:nvSpPr>
          <p:spPr>
            <a:xfrm>
              <a:off x="10668619" y="6599368"/>
              <a:ext cx="3714749" cy="3431976"/>
            </a:xfrm>
            <a:custGeom>
              <a:rect b="b" l="l" r="r" t="t"/>
              <a:pathLst>
                <a:path extrusionOk="0" h="2854800" w="3714749">
                  <a:moveTo>
                    <a:pt x="0" y="0"/>
                  </a:moveTo>
                  <a:lnTo>
                    <a:pt x="3714749" y="0"/>
                  </a:lnTo>
                  <a:lnTo>
                    <a:pt x="3714749" y="2854800"/>
                  </a:lnTo>
                  <a:lnTo>
                    <a:pt x="0" y="2854800"/>
                  </a:lnTo>
                  <a:lnTo>
                    <a:pt x="0" y="0"/>
                  </a:lnTo>
                  <a:close/>
                </a:path>
              </a:pathLst>
            </a:custGeom>
            <a:solidFill>
              <a:schemeClr val="lt1"/>
            </a:solidFill>
            <a:ln cap="flat" cmpd="sng" w="25400">
              <a:solidFill>
                <a:schemeClr val="accen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520050" lIns="346700" spcFirstLastPara="1" rIns="462275" wrap="square" tIns="346700">
              <a:noAutofit/>
            </a:bodyPr>
            <a:lstStyle/>
            <a:p>
              <a:pPr indent="0" lvl="1" marL="285750" marR="0" rtl="0" algn="l">
                <a:lnSpc>
                  <a:spcPct val="90000"/>
                </a:lnSpc>
                <a:spcBef>
                  <a:spcPts val="0"/>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a:p>
              <a:pPr indent="0" lvl="1" marL="285750" marR="0" rtl="0" algn="l">
                <a:lnSpc>
                  <a:spcPct val="90000"/>
                </a:lnSpc>
                <a:spcBef>
                  <a:spcPts val="975"/>
                </a:spcBef>
                <a:spcAft>
                  <a:spcPts val="0"/>
                </a:spcAft>
                <a:buClr>
                  <a:srgbClr val="000000"/>
                </a:buClr>
                <a:buSzPts val="6500"/>
                <a:buFont typeface="Arial"/>
                <a:buNone/>
              </a:pPr>
              <a:r>
                <a:t/>
              </a:r>
              <a:endParaRPr b="0" i="0" sz="6500" u="none" cap="none" strike="noStrike">
                <a:solidFill>
                  <a:schemeClr val="dk1"/>
                </a:solidFill>
                <a:latin typeface="Bai Jamjuree"/>
                <a:ea typeface="Bai Jamjuree"/>
                <a:cs typeface="Bai Jamjuree"/>
                <a:sym typeface="Bai Jamjuree"/>
              </a:endParaRPr>
            </a:p>
          </p:txBody>
        </p:sp>
        <p:sp>
          <p:nvSpPr>
            <p:cNvPr id="341" name="Google Shape;341;p53"/>
            <p:cNvSpPr/>
            <p:nvPr/>
          </p:nvSpPr>
          <p:spPr>
            <a:xfrm>
              <a:off x="10795590" y="6774778"/>
              <a:ext cx="3432517" cy="1350499"/>
            </a:xfrm>
            <a:prstGeom prst="roundRect">
              <a:avLst>
                <a:gd fmla="val 6250" name="adj"/>
              </a:avLst>
            </a:prstGeom>
            <a:blipFill rotWithShape="1">
              <a:blip r:embed="rId9">
                <a:alphaModFix/>
              </a:blip>
              <a:stretch>
                <a:fillRect b="0" l="0" r="0" t="0"/>
              </a:stretch>
            </a:blip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342" name="Google Shape;342;p53"/>
            <p:cNvSpPr txBox="1"/>
            <p:nvPr/>
          </p:nvSpPr>
          <p:spPr>
            <a:xfrm>
              <a:off x="10821924" y="8361022"/>
              <a:ext cx="3406183" cy="1162882"/>
            </a:xfrm>
            <a:prstGeom prst="rect">
              <a:avLst/>
            </a:prstGeom>
            <a:noFill/>
            <a:ln>
              <a:noFill/>
            </a:ln>
          </p:spPr>
          <p:txBody>
            <a:bodyPr anchorCtr="0" anchor="t" bIns="0" lIns="0" spcFirstLastPara="1" rIns="0" wrap="square" tIns="0">
              <a:spAutoFit/>
            </a:bodyPr>
            <a:lstStyle/>
            <a:p>
              <a:pPr indent="0" lvl="0" marL="0" marR="0" rtl="0" algn="just">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Lưu trữ, quản lý bố cục an toàn trên nền tảng đám mây, hỗ trợ cộng tác.</a:t>
              </a:r>
              <a:endParaRPr b="0" i="0" sz="1574" u="none" cap="none" strike="noStrike">
                <a:solidFill>
                  <a:srgbClr val="4D4D4F"/>
                </a:solidFill>
                <a:latin typeface="Bai Jamjuree"/>
                <a:ea typeface="Bai Jamjuree"/>
                <a:cs typeface="Bai Jamjuree"/>
                <a:sym typeface="Bai Jamjuree"/>
              </a:endParaRPr>
            </a:p>
            <a:p>
              <a:pPr indent="0" lvl="0" marL="0" marR="0" rtl="0" algn="just">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Dễ dàng nắm bắt dữ liệu kinh doanh của từng kiểu layout.</a:t>
              </a:r>
              <a:endParaRPr b="0" i="0" sz="1574" u="none" cap="none" strike="noStrike">
                <a:solidFill>
                  <a:srgbClr val="4D4D4F"/>
                </a:solidFill>
                <a:latin typeface="Bai Jamjuree"/>
                <a:ea typeface="Bai Jamjuree"/>
                <a:cs typeface="Bai Jamjuree"/>
                <a:sym typeface="Bai Jamjuree"/>
              </a:endParaRPr>
            </a:p>
          </p:txBody>
        </p:sp>
      </p:grpSp>
      <p:sp>
        <p:nvSpPr>
          <p:cNvPr id="343" name="Google Shape;343;p53"/>
          <p:cNvSpPr/>
          <p:nvPr/>
        </p:nvSpPr>
        <p:spPr>
          <a:xfrm>
            <a:off x="9863376" y="407567"/>
            <a:ext cx="634588" cy="532588"/>
          </a:xfrm>
          <a:prstGeom prst="star5">
            <a:avLst>
              <a:gd fmla="val 19098" name="adj"/>
              <a:gd fmla="val 105146" name="hf"/>
              <a:gd fmla="val 110557" name="vf"/>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54"/>
          <p:cNvPicPr preferRelativeResize="0"/>
          <p:nvPr/>
        </p:nvPicPr>
        <p:blipFill rotWithShape="1">
          <a:blip r:embed="rId3">
            <a:alphaModFix/>
          </a:blip>
          <a:srcRect b="0" l="0" r="0" t="0"/>
          <a:stretch/>
        </p:blipFill>
        <p:spPr>
          <a:xfrm>
            <a:off x="629101" y="1392110"/>
            <a:ext cx="7069504" cy="6147214"/>
          </a:xfrm>
          <a:prstGeom prst="rect">
            <a:avLst/>
          </a:prstGeom>
          <a:noFill/>
          <a:ln>
            <a:noFill/>
          </a:ln>
        </p:spPr>
      </p:pic>
      <p:sp>
        <p:nvSpPr>
          <p:cNvPr id="349" name="Google Shape;349;p54"/>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50" name="Google Shape;350;p54"/>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351" name="Google Shape;351;p54"/>
          <p:cNvGrpSpPr/>
          <p:nvPr/>
        </p:nvGrpSpPr>
        <p:grpSpPr>
          <a:xfrm>
            <a:off x="5776170" y="9896475"/>
            <a:ext cx="6735680" cy="408188"/>
            <a:chOff x="0" y="0"/>
            <a:chExt cx="8980907" cy="544250"/>
          </a:xfrm>
        </p:grpSpPr>
        <p:sp>
          <p:nvSpPr>
            <p:cNvPr id="352" name="Google Shape;352;p54"/>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53" name="Google Shape;353;p54"/>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354" name="Google Shape;354;p54"/>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355" name="Google Shape;355;p54"/>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56" name="Google Shape;356;p54"/>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357" name="Google Shape;357;p54"/>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grpSp>
        <p:nvGrpSpPr>
          <p:cNvPr id="358" name="Google Shape;358;p54"/>
          <p:cNvGrpSpPr/>
          <p:nvPr/>
        </p:nvGrpSpPr>
        <p:grpSpPr>
          <a:xfrm>
            <a:off x="8096404" y="3308172"/>
            <a:ext cx="9277196" cy="4415774"/>
            <a:chOff x="8116073" y="3377819"/>
            <a:chExt cx="7629923" cy="4072994"/>
          </a:xfrm>
        </p:grpSpPr>
        <p:sp>
          <p:nvSpPr>
            <p:cNvPr id="359" name="Google Shape;359;p54"/>
            <p:cNvSpPr/>
            <p:nvPr/>
          </p:nvSpPr>
          <p:spPr>
            <a:xfrm>
              <a:off x="8116073" y="3377819"/>
              <a:ext cx="7629923" cy="4072994"/>
            </a:xfrm>
            <a:custGeom>
              <a:rect b="b" l="l" r="r" t="t"/>
              <a:pathLst>
                <a:path extrusionOk="0" h="4267200" w="4819650">
                  <a:moveTo>
                    <a:pt x="4700040" y="4267199"/>
                  </a:moveTo>
                  <a:lnTo>
                    <a:pt x="119610" y="4267199"/>
                  </a:lnTo>
                  <a:lnTo>
                    <a:pt x="111285" y="4266378"/>
                  </a:lnTo>
                  <a:lnTo>
                    <a:pt x="71259" y="4254237"/>
                  </a:lnTo>
                  <a:lnTo>
                    <a:pt x="31551" y="4223760"/>
                  </a:lnTo>
                  <a:lnTo>
                    <a:pt x="6527" y="4180406"/>
                  </a:lnTo>
                  <a:lnTo>
                    <a:pt x="0" y="4147589"/>
                  </a:lnTo>
                  <a:lnTo>
                    <a:pt x="0" y="4139183"/>
                  </a:lnTo>
                  <a:lnTo>
                    <a:pt x="0" y="119610"/>
                  </a:lnTo>
                  <a:lnTo>
                    <a:pt x="12960" y="71260"/>
                  </a:lnTo>
                  <a:lnTo>
                    <a:pt x="43437" y="31550"/>
                  </a:lnTo>
                  <a:lnTo>
                    <a:pt x="86791" y="6527"/>
                  </a:lnTo>
                  <a:lnTo>
                    <a:pt x="119610" y="0"/>
                  </a:lnTo>
                  <a:lnTo>
                    <a:pt x="4700040" y="0"/>
                  </a:lnTo>
                  <a:lnTo>
                    <a:pt x="4748388" y="12960"/>
                  </a:lnTo>
                  <a:lnTo>
                    <a:pt x="4788097" y="43438"/>
                  </a:lnTo>
                  <a:lnTo>
                    <a:pt x="4813121" y="86791"/>
                  </a:lnTo>
                  <a:lnTo>
                    <a:pt x="4819650" y="119610"/>
                  </a:lnTo>
                  <a:lnTo>
                    <a:pt x="4819650" y="4147589"/>
                  </a:lnTo>
                  <a:lnTo>
                    <a:pt x="4806687" y="4195937"/>
                  </a:lnTo>
                  <a:lnTo>
                    <a:pt x="4776209" y="4235647"/>
                  </a:lnTo>
                  <a:lnTo>
                    <a:pt x="4732856" y="4260671"/>
                  </a:lnTo>
                  <a:lnTo>
                    <a:pt x="4708364" y="4266379"/>
                  </a:lnTo>
                  <a:lnTo>
                    <a:pt x="4700040" y="4267199"/>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385445" lvl="0" marL="422909" marR="240665" rtl="0" algn="l">
                <a:lnSpc>
                  <a:spcPct val="1108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360" name="Google Shape;360;p54"/>
            <p:cNvSpPr txBox="1"/>
            <p:nvPr/>
          </p:nvSpPr>
          <p:spPr>
            <a:xfrm>
              <a:off x="8410147" y="3533382"/>
              <a:ext cx="6456321" cy="325345"/>
            </a:xfrm>
            <a:prstGeom prst="rect">
              <a:avLst/>
            </a:prstGeom>
            <a:noFill/>
            <a:ln>
              <a:noFill/>
            </a:ln>
          </p:spPr>
          <p:txBody>
            <a:bodyPr anchorCtr="0" anchor="t" bIns="0" lIns="0" spcFirstLastPara="1" rIns="0" wrap="square" tIns="12050">
              <a:spAutoFit/>
            </a:bodyPr>
            <a:lstStyle/>
            <a:p>
              <a:pPr indent="0" lvl="0" marL="38100" marR="30480" rtl="0" algn="l">
                <a:lnSpc>
                  <a:spcPct val="109400"/>
                </a:lnSpc>
                <a:spcBef>
                  <a:spcPts val="0"/>
                </a:spcBef>
                <a:spcAft>
                  <a:spcPts val="0"/>
                </a:spcAft>
                <a:buNone/>
              </a:pPr>
              <a:r>
                <a:rPr b="1" i="0" lang="en-US" sz="2000" u="none" cap="none" strike="noStrike">
                  <a:solidFill>
                    <a:srgbClr val="1A237D"/>
                  </a:solidFill>
                  <a:latin typeface="Bai Jamjuree"/>
                  <a:ea typeface="Bai Jamjuree"/>
                  <a:cs typeface="Bai Jamjuree"/>
                  <a:sym typeface="Bai Jamjuree"/>
                </a:rPr>
                <a:t>Tận Hưởng Quyền Năng Kiểm Soát</a:t>
              </a:r>
              <a:endParaRPr b="0" i="0" sz="2000" u="none" cap="none" strike="noStrike">
                <a:solidFill>
                  <a:srgbClr val="000000"/>
                </a:solidFill>
                <a:latin typeface="Bai Jamjuree"/>
                <a:ea typeface="Bai Jamjuree"/>
                <a:cs typeface="Bai Jamjuree"/>
                <a:sym typeface="Bai Jamjuree"/>
              </a:endParaRPr>
            </a:p>
          </p:txBody>
        </p:sp>
        <p:sp>
          <p:nvSpPr>
            <p:cNvPr id="361" name="Google Shape;361;p54"/>
            <p:cNvSpPr txBox="1"/>
            <p:nvPr/>
          </p:nvSpPr>
          <p:spPr>
            <a:xfrm>
              <a:off x="8915473" y="3894166"/>
              <a:ext cx="6456321" cy="2868895"/>
            </a:xfrm>
            <a:prstGeom prst="rect">
              <a:avLst/>
            </a:prstGeom>
            <a:noFill/>
            <a:ln>
              <a:noFill/>
            </a:ln>
          </p:spPr>
          <p:txBody>
            <a:bodyPr anchorCtr="0" anchor="t" bIns="0" lIns="0" spcFirstLastPara="1" rIns="0" wrap="square" tIns="135875">
              <a:spAutoFit/>
            </a:bodyPr>
            <a:lstStyle/>
            <a:p>
              <a:pPr indent="0" lvl="0" marL="50800" marR="0" rtl="0" algn="l">
                <a:lnSpc>
                  <a:spcPct val="25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Đứng giữa cửa hàng trong môi trường 3D.</a:t>
              </a:r>
              <a:br>
                <a:rPr b="0" baseline="-25000" i="0" lang="en-US" sz="1600" u="none" cap="none" strike="noStrike">
                  <a:solidFill>
                    <a:srgbClr val="4BAF4F"/>
                  </a:solidFill>
                  <a:latin typeface="Bai Jamjuree"/>
                  <a:ea typeface="Bai Jamjuree"/>
                  <a:cs typeface="Bai Jamjuree"/>
                  <a:sym typeface="Bai Jamjuree"/>
                </a:rPr>
              </a:br>
              <a:r>
                <a:rPr b="0" i="0" lang="en-US" sz="1600" u="none" cap="none" strike="noStrike">
                  <a:solidFill>
                    <a:srgbClr val="1A237D"/>
                  </a:solidFill>
                  <a:latin typeface="Bai Jamjuree"/>
                  <a:ea typeface="Bai Jamjuree"/>
                  <a:cs typeface="Bai Jamjuree"/>
                  <a:sym typeface="Bai Jamjuree"/>
                </a:rPr>
                <a:t>Zoom vào từng kệ, đi bộ trong lối đi.</a:t>
              </a:r>
              <a:br>
                <a:rPr b="0" i="0" lang="en-US" sz="1600" u="none" cap="none" strike="noStrike">
                  <a:solidFill>
                    <a:srgbClr val="000000"/>
                  </a:solidFill>
                  <a:latin typeface="Bai Jamjuree"/>
                  <a:ea typeface="Bai Jamjuree"/>
                  <a:cs typeface="Bai Jamjuree"/>
                  <a:sym typeface="Bai Jamjuree"/>
                </a:rPr>
              </a:br>
              <a:r>
                <a:rPr b="0" i="0" lang="en-US" sz="1600" u="none" cap="none" strike="noStrike">
                  <a:solidFill>
                    <a:srgbClr val="1A237D"/>
                  </a:solidFill>
                  <a:latin typeface="Bai Jamjuree"/>
                  <a:ea typeface="Bai Jamjuree"/>
                  <a:cs typeface="Bai Jamjuree"/>
                  <a:sym typeface="Bai Jamjuree"/>
                </a:rPr>
                <a:t>Kiểm tra tầm nhìn từ quầy thu ngân.</a:t>
              </a:r>
              <a:br>
                <a:rPr b="0" i="0" lang="en-US" sz="1600" u="none" cap="none" strike="noStrike">
                  <a:solidFill>
                    <a:srgbClr val="1A237D"/>
                  </a:solidFill>
                  <a:latin typeface="Bai Jamjuree"/>
                  <a:ea typeface="Bai Jamjuree"/>
                  <a:cs typeface="Bai Jamjuree"/>
                  <a:sym typeface="Bai Jamjuree"/>
                </a:rPr>
              </a:br>
              <a:r>
                <a:rPr b="0" i="0" lang="en-US" sz="1600" u="none" cap="none" strike="noStrike">
                  <a:solidFill>
                    <a:srgbClr val="1A237D"/>
                  </a:solidFill>
                  <a:latin typeface="Bai Jamjuree"/>
                  <a:ea typeface="Bai Jamjuree"/>
                  <a:cs typeface="Bai Jamjuree"/>
                  <a:sym typeface="Bai Jamjuree"/>
                </a:rPr>
                <a:t>Xoay 360°, đo khoảng cách, đổi màu sắc.</a:t>
              </a:r>
              <a:br>
                <a:rPr b="0" i="0" lang="en-US" sz="1600" u="none" cap="none" strike="noStrike">
                  <a:solidFill>
                    <a:srgbClr val="1A237D"/>
                  </a:solidFill>
                  <a:latin typeface="Bai Jamjuree"/>
                  <a:ea typeface="Bai Jamjuree"/>
                  <a:cs typeface="Bai Jamjuree"/>
                  <a:sym typeface="Bai Jamjuree"/>
                </a:rPr>
              </a:br>
              <a:r>
                <a:rPr b="0" i="0" lang="en-US" sz="1600" u="none" cap="none" strike="noStrike">
                  <a:solidFill>
                    <a:srgbClr val="1A237D"/>
                  </a:solidFill>
                  <a:latin typeface="Bai Jamjuree"/>
                  <a:ea typeface="Bai Jamjuree"/>
                  <a:cs typeface="Bai Jamjuree"/>
                  <a:sym typeface="Bai Jamjuree"/>
                </a:rPr>
                <a:t>Tất cả chỉ trong 1 cú click.</a:t>
              </a:r>
              <a:endParaRPr/>
            </a:p>
          </p:txBody>
        </p:sp>
      </p:grpSp>
      <p:sp>
        <p:nvSpPr>
          <p:cNvPr id="362" name="Google Shape;362;p54"/>
          <p:cNvSpPr/>
          <p:nvPr/>
        </p:nvSpPr>
        <p:spPr>
          <a:xfrm>
            <a:off x="1608056" y="7900686"/>
            <a:ext cx="1141095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Bai Jamjuree"/>
              <a:ea typeface="Bai Jamjuree"/>
              <a:cs typeface="Bai Jamjuree"/>
              <a:sym typeface="Bai Jamjuree"/>
            </a:endParaRPr>
          </a:p>
        </p:txBody>
      </p:sp>
      <p:sp>
        <p:nvSpPr>
          <p:cNvPr id="363" name="Google Shape;363;p54"/>
          <p:cNvSpPr/>
          <p:nvPr/>
        </p:nvSpPr>
        <p:spPr>
          <a:xfrm>
            <a:off x="698052" y="7899085"/>
            <a:ext cx="38100" cy="600075"/>
          </a:xfrm>
          <a:custGeom>
            <a:rect b="b" l="l" r="r" t="t"/>
            <a:pathLst>
              <a:path extrusionOk="0" h="600075" w="38100">
                <a:moveTo>
                  <a:pt x="38099" y="600074"/>
                </a:moveTo>
                <a:lnTo>
                  <a:pt x="0" y="600074"/>
                </a:lnTo>
                <a:lnTo>
                  <a:pt x="0" y="0"/>
                </a:lnTo>
                <a:lnTo>
                  <a:pt x="38099" y="0"/>
                </a:lnTo>
                <a:lnTo>
                  <a:pt x="38099" y="600074"/>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64" name="Google Shape;364;p54"/>
          <p:cNvSpPr/>
          <p:nvPr/>
        </p:nvSpPr>
        <p:spPr>
          <a:xfrm>
            <a:off x="629101" y="1395960"/>
            <a:ext cx="7069504" cy="6143364"/>
          </a:xfrm>
          <a:custGeom>
            <a:rect b="b" l="l" r="r" t="t"/>
            <a:pathLst>
              <a:path extrusionOk="0" h="6191250" w="6096000">
                <a:moveTo>
                  <a:pt x="5925311" y="6191249"/>
                </a:moveTo>
                <a:lnTo>
                  <a:pt x="170687" y="6191249"/>
                </a:lnTo>
                <a:lnTo>
                  <a:pt x="162302" y="6191044"/>
                </a:lnTo>
                <a:lnTo>
                  <a:pt x="121139" y="6183900"/>
                </a:lnTo>
                <a:lnTo>
                  <a:pt x="82944" y="6166970"/>
                </a:lnTo>
                <a:lnTo>
                  <a:pt x="49993" y="6141256"/>
                </a:lnTo>
                <a:lnTo>
                  <a:pt x="24277" y="6108304"/>
                </a:lnTo>
                <a:lnTo>
                  <a:pt x="7347" y="6070110"/>
                </a:lnTo>
                <a:lnTo>
                  <a:pt x="204" y="6028947"/>
                </a:lnTo>
                <a:lnTo>
                  <a:pt x="0" y="6020561"/>
                </a:lnTo>
                <a:lnTo>
                  <a:pt x="0" y="170687"/>
                </a:lnTo>
                <a:lnTo>
                  <a:pt x="5116" y="129204"/>
                </a:lnTo>
                <a:lnTo>
                  <a:pt x="20152" y="90225"/>
                </a:lnTo>
                <a:lnTo>
                  <a:pt x="44208" y="56067"/>
                </a:lnTo>
                <a:lnTo>
                  <a:pt x="75858" y="28765"/>
                </a:lnTo>
                <a:lnTo>
                  <a:pt x="113194" y="9973"/>
                </a:lnTo>
                <a:lnTo>
                  <a:pt x="153957" y="819"/>
                </a:lnTo>
                <a:lnTo>
                  <a:pt x="170687" y="0"/>
                </a:lnTo>
                <a:lnTo>
                  <a:pt x="5925311" y="0"/>
                </a:lnTo>
                <a:lnTo>
                  <a:pt x="5966794" y="5116"/>
                </a:lnTo>
                <a:lnTo>
                  <a:pt x="6005773" y="20152"/>
                </a:lnTo>
                <a:lnTo>
                  <a:pt x="6039931" y="44208"/>
                </a:lnTo>
                <a:lnTo>
                  <a:pt x="6067232" y="75858"/>
                </a:lnTo>
                <a:lnTo>
                  <a:pt x="6086025" y="113193"/>
                </a:lnTo>
                <a:lnTo>
                  <a:pt x="6095179" y="153957"/>
                </a:lnTo>
                <a:lnTo>
                  <a:pt x="6095999" y="170687"/>
                </a:lnTo>
                <a:lnTo>
                  <a:pt x="6095999" y="6020561"/>
                </a:lnTo>
                <a:lnTo>
                  <a:pt x="6090882" y="6062045"/>
                </a:lnTo>
                <a:lnTo>
                  <a:pt x="6075845" y="6101023"/>
                </a:lnTo>
                <a:lnTo>
                  <a:pt x="6051790" y="6135181"/>
                </a:lnTo>
                <a:lnTo>
                  <a:pt x="6020140" y="6162482"/>
                </a:lnTo>
                <a:lnTo>
                  <a:pt x="5982805" y="6181275"/>
                </a:lnTo>
                <a:lnTo>
                  <a:pt x="5942042" y="6190429"/>
                </a:lnTo>
                <a:lnTo>
                  <a:pt x="5925311" y="6191249"/>
                </a:lnTo>
                <a:close/>
              </a:path>
            </a:pathLst>
          </a:custGeom>
          <a:solidFill>
            <a:srgbClr val="1A237D">
              <a:alpha val="2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65" name="Google Shape;365;p54"/>
          <p:cNvSpPr txBox="1"/>
          <p:nvPr/>
        </p:nvSpPr>
        <p:spPr>
          <a:xfrm>
            <a:off x="1608056" y="1854031"/>
            <a:ext cx="5156200" cy="1466215"/>
          </a:xfrm>
          <a:prstGeom prst="rect">
            <a:avLst/>
          </a:prstGeom>
          <a:noFill/>
          <a:ln>
            <a:noFill/>
          </a:ln>
        </p:spPr>
        <p:txBody>
          <a:bodyPr anchorCtr="0" anchor="t" bIns="0" lIns="0" spcFirstLastPara="1" rIns="0" wrap="square" tIns="15225">
            <a:spAutoFit/>
          </a:bodyPr>
          <a:lstStyle/>
          <a:p>
            <a:pPr indent="0" lvl="0" marL="12700" marR="5080" rtl="0" algn="ctr">
              <a:lnSpc>
                <a:spcPct val="100000"/>
              </a:lnSpc>
              <a:spcBef>
                <a:spcPts val="0"/>
              </a:spcBef>
              <a:spcAft>
                <a:spcPts val="0"/>
              </a:spcAft>
              <a:buNone/>
            </a:pPr>
            <a:r>
              <a:rPr b="1" i="0" lang="en-US" sz="2500" u="none" cap="none" strike="noStrike">
                <a:solidFill>
                  <a:srgbClr val="FFFFFF"/>
                </a:solidFill>
                <a:latin typeface="Bai Jamjuree"/>
                <a:ea typeface="Bai Jamjuree"/>
                <a:cs typeface="Bai Jamjuree"/>
                <a:sym typeface="Bai Jamjuree"/>
              </a:rPr>
              <a:t>KHÔNG CẦN CHỜ ĐỢI: THIẾT KẾ HOÀN HẢO NGAY TỪ ĐẦU</a:t>
            </a:r>
            <a:endParaRPr b="0" i="0" sz="2500" u="none" cap="none" strike="noStrike">
              <a:solidFill>
                <a:srgbClr val="000000"/>
              </a:solidFill>
              <a:latin typeface="Bai Jamjuree"/>
              <a:ea typeface="Bai Jamjuree"/>
              <a:cs typeface="Bai Jamjuree"/>
              <a:sym typeface="Bai Jamjuree"/>
            </a:endParaRPr>
          </a:p>
          <a:p>
            <a:pPr indent="0" lvl="0" marL="203834" marR="196215" rtl="0" algn="ctr">
              <a:lnSpc>
                <a:spcPct val="117600"/>
              </a:lnSpc>
              <a:spcBef>
                <a:spcPts val="515"/>
              </a:spcBef>
              <a:spcAft>
                <a:spcPts val="0"/>
              </a:spcAft>
              <a:buNone/>
            </a:pPr>
            <a:r>
              <a:rPr b="0" i="1" lang="en-US" sz="1700" u="none" cap="none" strike="noStrike">
                <a:solidFill>
                  <a:srgbClr val="FFFFFF"/>
                </a:solidFill>
                <a:latin typeface="Bai Jamjuree"/>
                <a:ea typeface="Bai Jamjuree"/>
                <a:cs typeface="Bai Jamjuree"/>
                <a:sym typeface="Bai Jamjuree"/>
              </a:rPr>
              <a:t>“Chưa động đến 1 viên gạch, đã thấy cả cửa hàng.”</a:t>
            </a:r>
            <a:endParaRPr b="0" i="0" sz="1700" u="none" cap="none" strike="noStrike">
              <a:solidFill>
                <a:srgbClr val="000000"/>
              </a:solidFill>
              <a:latin typeface="Bai Jamjuree"/>
              <a:ea typeface="Bai Jamjuree"/>
              <a:cs typeface="Bai Jamjuree"/>
              <a:sym typeface="Bai Jamjuree"/>
            </a:endParaRPr>
          </a:p>
        </p:txBody>
      </p:sp>
      <p:sp>
        <p:nvSpPr>
          <p:cNvPr id="366" name="Google Shape;366;p54"/>
          <p:cNvSpPr txBox="1"/>
          <p:nvPr/>
        </p:nvSpPr>
        <p:spPr>
          <a:xfrm>
            <a:off x="736152" y="8037971"/>
            <a:ext cx="14995688"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"Giải pháp cửa hàng ảo giúp doanh nghiệp bán lẻ tận dụng lợi thế vượt trội, tăng lợi thế cạnh tranh."</a:t>
            </a:r>
            <a:endParaRPr/>
          </a:p>
        </p:txBody>
      </p:sp>
      <p:sp>
        <p:nvSpPr>
          <p:cNvPr id="367" name="Google Shape;367;p54"/>
          <p:cNvSpPr/>
          <p:nvPr/>
        </p:nvSpPr>
        <p:spPr>
          <a:xfrm>
            <a:off x="8060116" y="1327491"/>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Bai Jamjuree"/>
                <a:ea typeface="Bai Jamjuree"/>
                <a:cs typeface="Bai Jamjuree"/>
                <a:sym typeface="Bai Jamjuree"/>
              </a:rPr>
              <a:t>Mô phỏng 3D Đa chiều</a:t>
            </a:r>
            <a:endParaRPr/>
          </a:p>
        </p:txBody>
      </p:sp>
      <p:sp>
        <p:nvSpPr>
          <p:cNvPr id="368" name="Google Shape;368;p54"/>
          <p:cNvSpPr/>
          <p:nvPr/>
        </p:nvSpPr>
        <p:spPr>
          <a:xfrm>
            <a:off x="8096404" y="1888954"/>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Bai Jamjuree"/>
                <a:ea typeface="Bai Jamjuree"/>
                <a:cs typeface="Bai Jamjuree"/>
                <a:sym typeface="Bai Jamjuree"/>
              </a:rPr>
              <a:t>Thiết Kế Tùy Biến Linh Hoạt</a:t>
            </a:r>
            <a:endParaRPr/>
          </a:p>
        </p:txBody>
      </p:sp>
      <p:sp>
        <p:nvSpPr>
          <p:cNvPr id="369" name="Google Shape;369;p54"/>
          <p:cNvSpPr/>
          <p:nvPr/>
        </p:nvSpPr>
        <p:spPr>
          <a:xfrm>
            <a:off x="8096404" y="2448346"/>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Bai Jamjuree"/>
                <a:ea typeface="Bai Jamjuree"/>
                <a:cs typeface="Bai Jamjuree"/>
                <a:sym typeface="Bai Jamjuree"/>
              </a:rPr>
              <a:t>Ra Quyết Định Nhanh Chóng</a:t>
            </a:r>
            <a:endParaRPr/>
          </a:p>
        </p:txBody>
      </p:sp>
      <p:pic>
        <p:nvPicPr>
          <p:cNvPr descr="Eye outline" id="370" name="Google Shape;370;p54"/>
          <p:cNvPicPr preferRelativeResize="0"/>
          <p:nvPr/>
        </p:nvPicPr>
        <p:blipFill rotWithShape="1">
          <a:blip r:embed="rId5">
            <a:alphaModFix/>
          </a:blip>
          <a:srcRect b="0" l="0" r="0" t="0"/>
          <a:stretch/>
        </p:blipFill>
        <p:spPr>
          <a:xfrm>
            <a:off x="8528582" y="4206375"/>
            <a:ext cx="363871" cy="363871"/>
          </a:xfrm>
          <a:prstGeom prst="rect">
            <a:avLst/>
          </a:prstGeom>
          <a:noFill/>
          <a:ln>
            <a:noFill/>
          </a:ln>
        </p:spPr>
      </p:pic>
      <p:pic>
        <p:nvPicPr>
          <p:cNvPr descr="Zoom in with solid fill" id="371" name="Google Shape;371;p54"/>
          <p:cNvPicPr preferRelativeResize="0"/>
          <p:nvPr/>
        </p:nvPicPr>
        <p:blipFill rotWithShape="1">
          <a:blip r:embed="rId6">
            <a:alphaModFix/>
          </a:blip>
          <a:srcRect b="0" l="0" r="0" t="0"/>
          <a:stretch/>
        </p:blipFill>
        <p:spPr>
          <a:xfrm>
            <a:off x="8572566" y="4800158"/>
            <a:ext cx="363871" cy="363871"/>
          </a:xfrm>
          <a:prstGeom prst="rect">
            <a:avLst/>
          </a:prstGeom>
          <a:noFill/>
          <a:ln>
            <a:noFill/>
          </a:ln>
        </p:spPr>
      </p:pic>
      <p:pic>
        <p:nvPicPr>
          <p:cNvPr descr="Web cam outline" id="372" name="Google Shape;372;p54"/>
          <p:cNvPicPr preferRelativeResize="0"/>
          <p:nvPr/>
        </p:nvPicPr>
        <p:blipFill rotWithShape="1">
          <a:blip r:embed="rId7">
            <a:alphaModFix/>
          </a:blip>
          <a:srcRect b="0" l="0" r="0" t="0"/>
          <a:stretch/>
        </p:blipFill>
        <p:spPr>
          <a:xfrm>
            <a:off x="8577234" y="5399129"/>
            <a:ext cx="363870" cy="363870"/>
          </a:xfrm>
          <a:prstGeom prst="rect">
            <a:avLst/>
          </a:prstGeom>
          <a:noFill/>
          <a:ln>
            <a:noFill/>
          </a:ln>
        </p:spPr>
      </p:pic>
      <p:pic>
        <p:nvPicPr>
          <p:cNvPr descr="Line arrow: Rotate right with solid fill" id="373" name="Google Shape;373;p54"/>
          <p:cNvPicPr preferRelativeResize="0"/>
          <p:nvPr/>
        </p:nvPicPr>
        <p:blipFill rotWithShape="1">
          <a:blip r:embed="rId8">
            <a:alphaModFix/>
          </a:blip>
          <a:srcRect b="0" l="0" r="0" t="0"/>
          <a:stretch/>
        </p:blipFill>
        <p:spPr>
          <a:xfrm>
            <a:off x="8639931" y="6086851"/>
            <a:ext cx="352726" cy="352726"/>
          </a:xfrm>
          <a:prstGeom prst="rect">
            <a:avLst/>
          </a:prstGeom>
          <a:noFill/>
          <a:ln>
            <a:noFill/>
          </a:ln>
        </p:spPr>
      </p:pic>
      <p:pic>
        <p:nvPicPr>
          <p:cNvPr descr="Touchscreen outline" id="374" name="Google Shape;374;p54"/>
          <p:cNvPicPr preferRelativeResize="0"/>
          <p:nvPr/>
        </p:nvPicPr>
        <p:blipFill rotWithShape="1">
          <a:blip r:embed="rId9">
            <a:alphaModFix/>
          </a:blip>
          <a:srcRect b="0" l="0" r="0" t="0"/>
          <a:stretch/>
        </p:blipFill>
        <p:spPr>
          <a:xfrm>
            <a:off x="8639931" y="6661030"/>
            <a:ext cx="352726" cy="3527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55"/>
          <p:cNvPicPr preferRelativeResize="0"/>
          <p:nvPr/>
        </p:nvPicPr>
        <p:blipFill rotWithShape="1">
          <a:blip r:embed="rId3">
            <a:alphaModFix/>
          </a:blip>
          <a:srcRect b="0" l="0" r="0" t="0"/>
          <a:stretch/>
        </p:blipFill>
        <p:spPr>
          <a:xfrm>
            <a:off x="9117195" y="2953297"/>
            <a:ext cx="8269204" cy="4861913"/>
          </a:xfrm>
          <a:prstGeom prst="rect">
            <a:avLst/>
          </a:prstGeom>
          <a:noFill/>
          <a:ln>
            <a:noFill/>
          </a:ln>
          <a:effectLst>
            <a:outerShdw blurRad="292100" rotWithShape="0" algn="tl" dir="2700000" dist="139700">
              <a:srgbClr val="333333">
                <a:alpha val="64705"/>
              </a:srgbClr>
            </a:outerShdw>
          </a:effectLst>
        </p:spPr>
      </p:pic>
      <p:sp>
        <p:nvSpPr>
          <p:cNvPr id="380" name="Google Shape;380;p55"/>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81" name="Google Shape;381;p55"/>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382" name="Google Shape;382;p55"/>
          <p:cNvGrpSpPr/>
          <p:nvPr/>
        </p:nvGrpSpPr>
        <p:grpSpPr>
          <a:xfrm>
            <a:off x="5776170" y="9896475"/>
            <a:ext cx="6735680" cy="408188"/>
            <a:chOff x="0" y="0"/>
            <a:chExt cx="8980907" cy="544250"/>
          </a:xfrm>
        </p:grpSpPr>
        <p:sp>
          <p:nvSpPr>
            <p:cNvPr id="383" name="Google Shape;383;p55"/>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84" name="Google Shape;384;p55"/>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385" name="Google Shape;385;p55"/>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386" name="Google Shape;386;p55"/>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pic>
        <p:nvPicPr>
          <p:cNvPr id="387" name="Google Shape;387;p55"/>
          <p:cNvPicPr preferRelativeResize="0"/>
          <p:nvPr/>
        </p:nvPicPr>
        <p:blipFill rotWithShape="1">
          <a:blip r:embed="rId5">
            <a:alphaModFix/>
          </a:blip>
          <a:srcRect b="0" l="0" r="0" t="0"/>
          <a:stretch/>
        </p:blipFill>
        <p:spPr>
          <a:xfrm>
            <a:off x="1420536" y="3047639"/>
            <a:ext cx="5010150" cy="4886325"/>
          </a:xfrm>
          <a:prstGeom prst="rect">
            <a:avLst/>
          </a:prstGeom>
          <a:noFill/>
          <a:ln>
            <a:noFill/>
          </a:ln>
          <a:effectLst>
            <a:outerShdw blurRad="292100" rotWithShape="0" algn="tl" dir="2700000" dist="139700">
              <a:srgbClr val="333333">
                <a:alpha val="64705"/>
              </a:srgbClr>
            </a:outerShdw>
          </a:effectLst>
        </p:spPr>
      </p:pic>
      <p:sp>
        <p:nvSpPr>
          <p:cNvPr id="388" name="Google Shape;388;p55"/>
          <p:cNvSpPr txBox="1"/>
          <p:nvPr/>
        </p:nvSpPr>
        <p:spPr>
          <a:xfrm>
            <a:off x="716913" y="1331755"/>
            <a:ext cx="1654238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Từ bản vẽ mặt bằng đến bản vẽ 3D với Smart Planogram</a:t>
            </a:r>
            <a:endParaRPr b="1" i="0" sz="3200" u="none" cap="none" strike="noStrike">
              <a:solidFill>
                <a:srgbClr val="0050AB"/>
              </a:solidFill>
              <a:latin typeface="Bai Jamjuree"/>
              <a:ea typeface="Bai Jamjuree"/>
              <a:cs typeface="Bai Jamjuree"/>
              <a:sym typeface="Bai Jamjuree"/>
            </a:endParaRPr>
          </a:p>
        </p:txBody>
      </p:sp>
      <p:sp>
        <p:nvSpPr>
          <p:cNvPr id="389" name="Google Shape;389;p55"/>
          <p:cNvSpPr txBox="1"/>
          <p:nvPr/>
        </p:nvSpPr>
        <p:spPr>
          <a:xfrm>
            <a:off x="2065283" y="8636194"/>
            <a:ext cx="14110137" cy="818173"/>
          </a:xfrm>
          <a:prstGeom prst="rect">
            <a:avLst/>
          </a:prstGeom>
          <a:noFill/>
          <a:ln>
            <a:noFill/>
          </a:ln>
        </p:spPr>
        <p:txBody>
          <a:bodyPr anchorCtr="0" anchor="t" bIns="45700" lIns="91425" spcFirstLastPara="1" rIns="91425" wrap="square" tIns="45700">
            <a:spAutoFit/>
          </a:bodyPr>
          <a:lstStyle/>
          <a:p>
            <a:pPr indent="0" lvl="0" marL="12700" marR="5080" rtl="0" algn="ctr">
              <a:lnSpc>
                <a:spcPct val="125000"/>
              </a:lnSpc>
              <a:spcBef>
                <a:spcPts val="0"/>
              </a:spcBef>
              <a:spcAft>
                <a:spcPts val="0"/>
              </a:spcAft>
              <a:buNone/>
            </a:pPr>
            <a:r>
              <a:rPr b="0" i="1" lang="en-US" sz="1800" u="none" cap="none" strike="noStrike">
                <a:solidFill>
                  <a:srgbClr val="1A237D"/>
                </a:solidFill>
                <a:latin typeface="Bai Jamjuree"/>
                <a:ea typeface="Bai Jamjuree"/>
                <a:cs typeface="Bai Jamjuree"/>
                <a:sym typeface="Bai Jamjuree"/>
              </a:rPr>
              <a:t>"Chuyển đổi từ quy trình phức tạp sang trải nghiệm thiết kế quầy kệ trực quan, mạnh mẽ và độc lập."</a:t>
            </a:r>
            <a:endParaRPr b="0" i="0" sz="1800" u="none" cap="none" strike="noStrike">
              <a:solidFill>
                <a:srgbClr val="000000"/>
              </a:solidFill>
              <a:latin typeface="Bai Jamjuree"/>
              <a:ea typeface="Bai Jamjuree"/>
              <a:cs typeface="Bai Jamjuree"/>
              <a:sym typeface="Bai Jamjuree"/>
            </a:endParaRPr>
          </a:p>
          <a:p>
            <a:pPr indent="0" lvl="0" marL="0" marR="0" rtl="0" algn="ctr">
              <a:lnSpc>
                <a:spcPct val="100000"/>
              </a:lnSpc>
              <a:spcBef>
                <a:spcPts val="815"/>
              </a:spcBef>
              <a:spcAft>
                <a:spcPts val="0"/>
              </a:spcAft>
              <a:buNone/>
            </a:pPr>
            <a:r>
              <a:rPr b="0" i="0" lang="en-US" sz="1800" u="none" cap="none" strike="noStrike">
                <a:solidFill>
                  <a:srgbClr val="4BAF4F"/>
                </a:solidFill>
                <a:latin typeface="Bai Jamjuree"/>
                <a:ea typeface="Bai Jamjuree"/>
                <a:cs typeface="Bai Jamjuree"/>
                <a:sym typeface="Bai Jamjuree"/>
              </a:rPr>
              <a:t>_Tương lai bán lẻ tự động_</a:t>
            </a:r>
            <a:endParaRPr b="0" i="0" sz="1800" u="none" cap="none" strike="noStrike">
              <a:solidFill>
                <a:srgbClr val="000000"/>
              </a:solidFill>
              <a:latin typeface="Bai Jamjuree"/>
              <a:ea typeface="Bai Jamjuree"/>
              <a:cs typeface="Bai Jamjuree"/>
              <a:sym typeface="Bai Jamjuree"/>
            </a:endParaRPr>
          </a:p>
        </p:txBody>
      </p:sp>
      <p:pic>
        <p:nvPicPr>
          <p:cNvPr id="390" name="Google Shape;390;p55"/>
          <p:cNvPicPr preferRelativeResize="0"/>
          <p:nvPr/>
        </p:nvPicPr>
        <p:blipFill rotWithShape="1">
          <a:blip r:embed="rId6">
            <a:alphaModFix/>
          </a:blip>
          <a:srcRect b="0" l="0" r="0" t="0"/>
          <a:stretch/>
        </p:blipFill>
        <p:spPr>
          <a:xfrm>
            <a:off x="7303305" y="5143500"/>
            <a:ext cx="1160628" cy="891665"/>
          </a:xfrm>
          <a:prstGeom prst="rect">
            <a:avLst/>
          </a:prstGeom>
          <a:noFill/>
          <a:ln>
            <a:noFill/>
          </a:ln>
        </p:spPr>
      </p:pic>
      <p:sp>
        <p:nvSpPr>
          <p:cNvPr id="391" name="Google Shape;391;p55"/>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392" name="Google Shape;392;p55"/>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56"/>
          <p:cNvPicPr preferRelativeResize="0"/>
          <p:nvPr/>
        </p:nvPicPr>
        <p:blipFill rotWithShape="1">
          <a:blip r:embed="rId3">
            <a:alphaModFix/>
          </a:blip>
          <a:srcRect b="0" l="0" r="0" t="0"/>
          <a:stretch/>
        </p:blipFill>
        <p:spPr>
          <a:xfrm>
            <a:off x="2663060" y="1995224"/>
            <a:ext cx="12961879" cy="6991411"/>
          </a:xfrm>
          <a:prstGeom prst="rect">
            <a:avLst/>
          </a:prstGeom>
          <a:noFill/>
          <a:ln>
            <a:noFill/>
          </a:ln>
          <a:effectLst>
            <a:outerShdw blurRad="292100" rotWithShape="0" algn="tl" dir="2700000" dist="139700">
              <a:srgbClr val="333333">
                <a:alpha val="64705"/>
              </a:srgbClr>
            </a:outerShdw>
          </a:effectLst>
        </p:spPr>
      </p:pic>
      <p:sp>
        <p:nvSpPr>
          <p:cNvPr id="398" name="Google Shape;398;p56"/>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399" name="Google Shape;399;p56"/>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400" name="Google Shape;400;p56"/>
          <p:cNvGrpSpPr/>
          <p:nvPr/>
        </p:nvGrpSpPr>
        <p:grpSpPr>
          <a:xfrm>
            <a:off x="5776170" y="9896475"/>
            <a:ext cx="6735680" cy="408188"/>
            <a:chOff x="0" y="0"/>
            <a:chExt cx="8980907" cy="544250"/>
          </a:xfrm>
        </p:grpSpPr>
        <p:sp>
          <p:nvSpPr>
            <p:cNvPr id="401" name="Google Shape;401;p56"/>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02" name="Google Shape;402;p56"/>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403" name="Google Shape;403;p56"/>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404" name="Google Shape;404;p56"/>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05" name="Google Shape;405;p56"/>
          <p:cNvSpPr txBox="1"/>
          <p:nvPr/>
        </p:nvSpPr>
        <p:spPr>
          <a:xfrm>
            <a:off x="3101753" y="1167302"/>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Cài đặt kích thước của cửa hàng</a:t>
            </a:r>
            <a:endParaRPr b="1" i="0" sz="3200" u="none" cap="none" strike="noStrike">
              <a:solidFill>
                <a:srgbClr val="0050AB"/>
              </a:solidFill>
              <a:latin typeface="Bai Jamjuree"/>
              <a:ea typeface="Bai Jamjuree"/>
              <a:cs typeface="Bai Jamjuree"/>
              <a:sym typeface="Bai Jamjuree"/>
            </a:endParaRPr>
          </a:p>
        </p:txBody>
      </p:sp>
      <p:sp>
        <p:nvSpPr>
          <p:cNvPr id="406" name="Google Shape;406;p56"/>
          <p:cNvSpPr/>
          <p:nvPr/>
        </p:nvSpPr>
        <p:spPr>
          <a:xfrm>
            <a:off x="422553" y="4193919"/>
            <a:ext cx="2309843" cy="1139058"/>
          </a:xfrm>
          <a:prstGeom prst="wedgeRoundRectCallout">
            <a:avLst>
              <a:gd fmla="val 78135" name="adj1"/>
              <a:gd fmla="val 69886"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Cài đặt kích thước cụ thể</a:t>
            </a:r>
            <a:endParaRPr b="0" i="0" sz="1800" u="none" cap="none" strike="noStrike">
              <a:solidFill>
                <a:schemeClr val="dk2"/>
              </a:solidFill>
              <a:latin typeface="Bai Jamjuree"/>
              <a:ea typeface="Bai Jamjuree"/>
              <a:cs typeface="Bai Jamjuree"/>
              <a:sym typeface="Bai Jamjuree"/>
            </a:endParaRPr>
          </a:p>
        </p:txBody>
      </p:sp>
      <p:sp>
        <p:nvSpPr>
          <p:cNvPr id="407" name="Google Shape;407;p56"/>
          <p:cNvSpPr/>
          <p:nvPr/>
        </p:nvSpPr>
        <p:spPr>
          <a:xfrm>
            <a:off x="5091488" y="6562254"/>
            <a:ext cx="2309843" cy="1139058"/>
          </a:xfrm>
          <a:prstGeom prst="wedgeRoundRectCallout">
            <a:avLst>
              <a:gd fmla="val -64516" name="adj1"/>
              <a:gd fmla="val -38072"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Có thể chọn kích thước có sẵn</a:t>
            </a:r>
            <a:endParaRPr b="0" i="0" sz="1800" u="none" cap="none" strike="noStrike">
              <a:solidFill>
                <a:schemeClr val="dk2"/>
              </a:solidFill>
              <a:latin typeface="Bai Jamjuree"/>
              <a:ea typeface="Bai Jamjuree"/>
              <a:cs typeface="Bai Jamjuree"/>
              <a:sym typeface="Bai Jamjuree"/>
            </a:endParaRPr>
          </a:p>
        </p:txBody>
      </p:sp>
      <p:sp>
        <p:nvSpPr>
          <p:cNvPr id="408" name="Google Shape;408;p56"/>
          <p:cNvSpPr/>
          <p:nvPr/>
        </p:nvSpPr>
        <p:spPr>
          <a:xfrm>
            <a:off x="4848487" y="8334620"/>
            <a:ext cx="2309843" cy="1139058"/>
          </a:xfrm>
          <a:prstGeom prst="wedgeRoundRectCallout">
            <a:avLst>
              <a:gd fmla="val -64516" name="adj1"/>
              <a:gd fmla="val -38072"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Chọn màu cho sàn</a:t>
            </a:r>
            <a:endParaRPr b="0" i="0" sz="1800" u="none" cap="none" strike="noStrike">
              <a:solidFill>
                <a:schemeClr val="dk2"/>
              </a:solidFill>
              <a:latin typeface="Bai Jamjuree"/>
              <a:ea typeface="Bai Jamjuree"/>
              <a:cs typeface="Bai Jamjuree"/>
              <a:sym typeface="Bai Jamjuree"/>
            </a:endParaRPr>
          </a:p>
        </p:txBody>
      </p:sp>
      <p:sp>
        <p:nvSpPr>
          <p:cNvPr id="409" name="Google Shape;409;p56"/>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410" name="Google Shape;410;p56"/>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16" name="Google Shape;416;p57"/>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417" name="Google Shape;417;p57"/>
          <p:cNvGrpSpPr/>
          <p:nvPr/>
        </p:nvGrpSpPr>
        <p:grpSpPr>
          <a:xfrm>
            <a:off x="5776170" y="9896475"/>
            <a:ext cx="6735680" cy="408188"/>
            <a:chOff x="0" y="0"/>
            <a:chExt cx="8980907" cy="544250"/>
          </a:xfrm>
        </p:grpSpPr>
        <p:sp>
          <p:nvSpPr>
            <p:cNvPr id="418" name="Google Shape;418;p57"/>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19" name="Google Shape;419;p57"/>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420" name="Google Shape;420;p57"/>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421" name="Google Shape;421;p57"/>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22" name="Google Shape;422;p57"/>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Thực hiện thêm kệ hàng dễ dàng</a:t>
            </a:r>
            <a:endParaRPr b="1" i="0" sz="3200" u="none" cap="none" strike="noStrike">
              <a:solidFill>
                <a:srgbClr val="0050AB"/>
              </a:solidFill>
              <a:latin typeface="Bai Jamjuree"/>
              <a:ea typeface="Bai Jamjuree"/>
              <a:cs typeface="Bai Jamjuree"/>
              <a:sym typeface="Bai Jamjuree"/>
            </a:endParaRPr>
          </a:p>
        </p:txBody>
      </p:sp>
      <p:pic>
        <p:nvPicPr>
          <p:cNvPr id="423" name="Google Shape;423;p57"/>
          <p:cNvPicPr preferRelativeResize="0"/>
          <p:nvPr/>
        </p:nvPicPr>
        <p:blipFill rotWithShape="1">
          <a:blip r:embed="rId4">
            <a:alphaModFix/>
          </a:blip>
          <a:srcRect b="0" l="0" r="0" t="0"/>
          <a:stretch/>
        </p:blipFill>
        <p:spPr>
          <a:xfrm>
            <a:off x="1397328" y="2852306"/>
            <a:ext cx="4621843" cy="4834692"/>
          </a:xfrm>
          <a:prstGeom prst="rect">
            <a:avLst/>
          </a:prstGeom>
          <a:noFill/>
          <a:ln>
            <a:noFill/>
          </a:ln>
          <a:effectLst>
            <a:outerShdw blurRad="292100" rotWithShape="0" algn="tl" dir="2700000" dist="139700">
              <a:srgbClr val="333333">
                <a:alpha val="64705"/>
              </a:srgbClr>
            </a:outerShdw>
          </a:effectLst>
        </p:spPr>
      </p:pic>
      <p:pic>
        <p:nvPicPr>
          <p:cNvPr descr="Right pointing backhand index with solid fill" id="424" name="Google Shape;424;p57"/>
          <p:cNvPicPr preferRelativeResize="0"/>
          <p:nvPr/>
        </p:nvPicPr>
        <p:blipFill rotWithShape="1">
          <a:blip r:embed="rId5">
            <a:alphaModFix/>
          </a:blip>
          <a:srcRect b="0" l="0" r="0" t="0"/>
          <a:stretch/>
        </p:blipFill>
        <p:spPr>
          <a:xfrm rot="-8801180">
            <a:off x="5561970" y="4820115"/>
            <a:ext cx="914400" cy="914400"/>
          </a:xfrm>
          <a:prstGeom prst="rect">
            <a:avLst/>
          </a:prstGeom>
          <a:noFill/>
          <a:ln>
            <a:noFill/>
          </a:ln>
        </p:spPr>
      </p:pic>
      <p:pic>
        <p:nvPicPr>
          <p:cNvPr id="425" name="Google Shape;425;p57"/>
          <p:cNvPicPr preferRelativeResize="0"/>
          <p:nvPr/>
        </p:nvPicPr>
        <p:blipFill rotWithShape="1">
          <a:blip r:embed="rId6">
            <a:alphaModFix/>
          </a:blip>
          <a:srcRect b="0" l="0" r="0" t="0"/>
          <a:stretch/>
        </p:blipFill>
        <p:spPr>
          <a:xfrm>
            <a:off x="8390166" y="2905558"/>
            <a:ext cx="7974441" cy="4915860"/>
          </a:xfrm>
          <a:prstGeom prst="rect">
            <a:avLst/>
          </a:prstGeom>
          <a:noFill/>
          <a:ln>
            <a:noFill/>
          </a:ln>
          <a:effectLst>
            <a:outerShdw blurRad="292100" rotWithShape="0" algn="tl" dir="2700000" dist="139700">
              <a:srgbClr val="333333">
                <a:alpha val="64705"/>
              </a:srgbClr>
            </a:outerShdw>
          </a:effectLst>
        </p:spPr>
      </p:pic>
      <p:pic>
        <p:nvPicPr>
          <p:cNvPr id="426" name="Google Shape;426;p57"/>
          <p:cNvPicPr preferRelativeResize="0"/>
          <p:nvPr/>
        </p:nvPicPr>
        <p:blipFill rotWithShape="1">
          <a:blip r:embed="rId7">
            <a:alphaModFix/>
          </a:blip>
          <a:srcRect b="0" l="0" r="0" t="0"/>
          <a:stretch/>
        </p:blipFill>
        <p:spPr>
          <a:xfrm>
            <a:off x="6856536" y="4697667"/>
            <a:ext cx="1160628" cy="891665"/>
          </a:xfrm>
          <a:prstGeom prst="rect">
            <a:avLst/>
          </a:prstGeom>
          <a:noFill/>
          <a:ln>
            <a:noFill/>
          </a:ln>
        </p:spPr>
      </p:pic>
      <p:sp>
        <p:nvSpPr>
          <p:cNvPr id="427" name="Google Shape;427;p57"/>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428" name="Google Shape;428;p57"/>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8"/>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34" name="Google Shape;434;p58"/>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435" name="Google Shape;435;p58"/>
          <p:cNvGrpSpPr/>
          <p:nvPr/>
        </p:nvGrpSpPr>
        <p:grpSpPr>
          <a:xfrm>
            <a:off x="5776170" y="9896475"/>
            <a:ext cx="6735680" cy="408188"/>
            <a:chOff x="0" y="0"/>
            <a:chExt cx="8980907" cy="544250"/>
          </a:xfrm>
        </p:grpSpPr>
        <p:sp>
          <p:nvSpPr>
            <p:cNvPr id="436" name="Google Shape;436;p58"/>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37" name="Google Shape;437;p58"/>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438" name="Google Shape;438;p58"/>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439" name="Google Shape;439;p58"/>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40" name="Google Shape;440;p58"/>
          <p:cNvSpPr txBox="1"/>
          <p:nvPr/>
        </p:nvSpPr>
        <p:spPr>
          <a:xfrm>
            <a:off x="1061636" y="1309304"/>
            <a:ext cx="15991285"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Hoặc thêm các chi tiết khác</a:t>
            </a:r>
            <a:endParaRPr b="1" i="0" sz="3200" u="none" cap="none" strike="noStrike">
              <a:solidFill>
                <a:srgbClr val="0050AB"/>
              </a:solidFill>
              <a:latin typeface="Bai Jamjuree"/>
              <a:ea typeface="Bai Jamjuree"/>
              <a:cs typeface="Bai Jamjuree"/>
              <a:sym typeface="Bai Jamjuree"/>
            </a:endParaRPr>
          </a:p>
        </p:txBody>
      </p:sp>
      <p:pic>
        <p:nvPicPr>
          <p:cNvPr id="441" name="Google Shape;441;p58"/>
          <p:cNvPicPr preferRelativeResize="0"/>
          <p:nvPr/>
        </p:nvPicPr>
        <p:blipFill rotWithShape="1">
          <a:blip r:embed="rId4">
            <a:alphaModFix/>
          </a:blip>
          <a:srcRect b="0" l="0" r="0" t="0"/>
          <a:stretch/>
        </p:blipFill>
        <p:spPr>
          <a:xfrm>
            <a:off x="1061636" y="2285881"/>
            <a:ext cx="4102938" cy="6807740"/>
          </a:xfrm>
          <a:prstGeom prst="rect">
            <a:avLst/>
          </a:prstGeom>
          <a:noFill/>
          <a:ln>
            <a:noFill/>
          </a:ln>
          <a:effectLst>
            <a:outerShdw blurRad="292100" rotWithShape="0" algn="tl" dir="2700000" dist="139700">
              <a:srgbClr val="333333">
                <a:alpha val="64705"/>
              </a:srgbClr>
            </a:outerShdw>
          </a:effectLst>
        </p:spPr>
      </p:pic>
      <p:pic>
        <p:nvPicPr>
          <p:cNvPr descr="Right pointing backhand index with solid fill" id="442" name="Google Shape;442;p58"/>
          <p:cNvPicPr preferRelativeResize="0"/>
          <p:nvPr/>
        </p:nvPicPr>
        <p:blipFill rotWithShape="1">
          <a:blip r:embed="rId5">
            <a:alphaModFix/>
          </a:blip>
          <a:srcRect b="0" l="0" r="0" t="0"/>
          <a:stretch/>
        </p:blipFill>
        <p:spPr>
          <a:xfrm rot="-8801180">
            <a:off x="4540206" y="4679716"/>
            <a:ext cx="914400" cy="914400"/>
          </a:xfrm>
          <a:prstGeom prst="rect">
            <a:avLst/>
          </a:prstGeom>
          <a:noFill/>
          <a:ln>
            <a:noFill/>
          </a:ln>
        </p:spPr>
      </p:pic>
      <p:pic>
        <p:nvPicPr>
          <p:cNvPr id="443" name="Google Shape;443;p58"/>
          <p:cNvPicPr preferRelativeResize="0"/>
          <p:nvPr/>
        </p:nvPicPr>
        <p:blipFill rotWithShape="1">
          <a:blip r:embed="rId6">
            <a:alphaModFix/>
          </a:blip>
          <a:srcRect b="0" l="0" r="0" t="0"/>
          <a:stretch/>
        </p:blipFill>
        <p:spPr>
          <a:xfrm>
            <a:off x="7556236" y="2606443"/>
            <a:ext cx="9670128" cy="6408263"/>
          </a:xfrm>
          <a:prstGeom prst="rect">
            <a:avLst/>
          </a:prstGeom>
          <a:noFill/>
          <a:ln>
            <a:noFill/>
          </a:ln>
        </p:spPr>
      </p:pic>
      <p:sp>
        <p:nvSpPr>
          <p:cNvPr id="444" name="Google Shape;444;p58"/>
          <p:cNvSpPr/>
          <p:nvPr/>
        </p:nvSpPr>
        <p:spPr>
          <a:xfrm rot="-2749752">
            <a:off x="12838084" y="7697644"/>
            <a:ext cx="736211" cy="334384"/>
          </a:xfrm>
          <a:prstGeom prst="rightArrow">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45" name="Google Shape;445;p58"/>
          <p:cNvPicPr preferRelativeResize="0"/>
          <p:nvPr/>
        </p:nvPicPr>
        <p:blipFill rotWithShape="1">
          <a:blip r:embed="rId7">
            <a:alphaModFix/>
          </a:blip>
          <a:srcRect b="0" l="0" r="0" t="0"/>
          <a:stretch/>
        </p:blipFill>
        <p:spPr>
          <a:xfrm>
            <a:off x="5929599" y="5464659"/>
            <a:ext cx="1160628" cy="891665"/>
          </a:xfrm>
          <a:prstGeom prst="rect">
            <a:avLst/>
          </a:prstGeom>
          <a:noFill/>
          <a:ln>
            <a:noFill/>
          </a:ln>
        </p:spPr>
      </p:pic>
      <p:sp>
        <p:nvSpPr>
          <p:cNvPr id="446" name="Google Shape;446;p58"/>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447" name="Google Shape;447;p58"/>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9"/>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53" name="Google Shape;453;p59"/>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454" name="Google Shape;454;p59"/>
          <p:cNvGrpSpPr/>
          <p:nvPr/>
        </p:nvGrpSpPr>
        <p:grpSpPr>
          <a:xfrm>
            <a:off x="5776170" y="9896475"/>
            <a:ext cx="6735680" cy="408188"/>
            <a:chOff x="0" y="0"/>
            <a:chExt cx="8980907" cy="544250"/>
          </a:xfrm>
        </p:grpSpPr>
        <p:sp>
          <p:nvSpPr>
            <p:cNvPr id="455" name="Google Shape;455;p59"/>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56" name="Google Shape;456;p59"/>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457" name="Google Shape;457;p59"/>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458" name="Google Shape;458;p59"/>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59" name="Google Shape;459;p59"/>
          <p:cNvSpPr txBox="1"/>
          <p:nvPr/>
        </p:nvSpPr>
        <p:spPr>
          <a:xfrm>
            <a:off x="716913" y="1238457"/>
            <a:ext cx="1654238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Dễ dàng căn chỉnh thông số của kệ</a:t>
            </a:r>
            <a:endParaRPr b="1" i="0" sz="3200" u="none" cap="none" strike="noStrike">
              <a:solidFill>
                <a:srgbClr val="0050AB"/>
              </a:solidFill>
              <a:latin typeface="Bai Jamjuree"/>
              <a:ea typeface="Bai Jamjuree"/>
              <a:cs typeface="Bai Jamjuree"/>
              <a:sym typeface="Bai Jamjuree"/>
            </a:endParaRPr>
          </a:p>
        </p:txBody>
      </p:sp>
      <p:pic>
        <p:nvPicPr>
          <p:cNvPr id="460" name="Google Shape;460;p59"/>
          <p:cNvPicPr preferRelativeResize="0"/>
          <p:nvPr/>
        </p:nvPicPr>
        <p:blipFill rotWithShape="1">
          <a:blip r:embed="rId4">
            <a:alphaModFix/>
          </a:blip>
          <a:srcRect b="0" l="0" r="0" t="0"/>
          <a:stretch/>
        </p:blipFill>
        <p:spPr>
          <a:xfrm>
            <a:off x="978410" y="2199255"/>
            <a:ext cx="2867425" cy="6754168"/>
          </a:xfrm>
          <a:prstGeom prst="rect">
            <a:avLst/>
          </a:prstGeom>
          <a:noFill/>
          <a:ln>
            <a:noFill/>
          </a:ln>
          <a:effectLst>
            <a:outerShdw blurRad="292100" rotWithShape="0" algn="tl" dir="2700000" dist="139700">
              <a:srgbClr val="333333">
                <a:alpha val="64705"/>
              </a:srgbClr>
            </a:outerShdw>
          </a:effectLst>
        </p:spPr>
      </p:pic>
      <p:sp>
        <p:nvSpPr>
          <p:cNvPr id="461" name="Google Shape;461;p59"/>
          <p:cNvSpPr/>
          <p:nvPr/>
        </p:nvSpPr>
        <p:spPr>
          <a:xfrm>
            <a:off x="7678761" y="3928345"/>
            <a:ext cx="8449363" cy="6604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Bai Jamjuree"/>
                <a:ea typeface="Bai Jamjuree"/>
                <a:cs typeface="Bai Jamjuree"/>
                <a:sym typeface="Bai Jamjuree"/>
              </a:rPr>
              <a:t>Căn chỉnh size với Width, Heght, Depth</a:t>
            </a:r>
            <a:endParaRPr/>
          </a:p>
        </p:txBody>
      </p:sp>
      <p:sp>
        <p:nvSpPr>
          <p:cNvPr id="462" name="Google Shape;462;p59"/>
          <p:cNvSpPr/>
          <p:nvPr/>
        </p:nvSpPr>
        <p:spPr>
          <a:xfrm>
            <a:off x="7678761" y="4893881"/>
            <a:ext cx="8449363" cy="6604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Bai Jamjuree"/>
                <a:ea typeface="Bai Jamjuree"/>
                <a:cs typeface="Bai Jamjuree"/>
                <a:sym typeface="Bai Jamjuree"/>
              </a:rPr>
              <a:t>Config số tầng của kệ và số slot</a:t>
            </a:r>
            <a:endParaRPr/>
          </a:p>
        </p:txBody>
      </p:sp>
      <p:sp>
        <p:nvSpPr>
          <p:cNvPr id="463" name="Google Shape;463;p59"/>
          <p:cNvSpPr/>
          <p:nvPr/>
        </p:nvSpPr>
        <p:spPr>
          <a:xfrm>
            <a:off x="7678761" y="6734778"/>
            <a:ext cx="8449363" cy="6604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Bai Jamjuree"/>
                <a:ea typeface="Bai Jamjuree"/>
                <a:cs typeface="Bai Jamjuree"/>
                <a:sym typeface="Bai Jamjuree"/>
              </a:rPr>
              <a:t>Có thể duplicate đồ vật giúp giảm thời gian thao tác</a:t>
            </a:r>
            <a:endParaRPr b="1" i="0" sz="1800" u="none" cap="none" strike="noStrike">
              <a:solidFill>
                <a:schemeClr val="lt1"/>
              </a:solidFill>
              <a:latin typeface="Bai Jamjuree"/>
              <a:ea typeface="Bai Jamjuree"/>
              <a:cs typeface="Bai Jamjuree"/>
              <a:sym typeface="Bai Jamjuree"/>
            </a:endParaRPr>
          </a:p>
        </p:txBody>
      </p:sp>
      <p:pic>
        <p:nvPicPr>
          <p:cNvPr id="464" name="Google Shape;464;p59"/>
          <p:cNvPicPr preferRelativeResize="0"/>
          <p:nvPr/>
        </p:nvPicPr>
        <p:blipFill rotWithShape="1">
          <a:blip r:embed="rId5">
            <a:alphaModFix/>
          </a:blip>
          <a:srcRect b="0" l="0" r="0" t="0"/>
          <a:stretch/>
        </p:blipFill>
        <p:spPr>
          <a:xfrm>
            <a:off x="4160429" y="2174295"/>
            <a:ext cx="2918507" cy="6779128"/>
          </a:xfrm>
          <a:prstGeom prst="rect">
            <a:avLst/>
          </a:prstGeom>
          <a:noFill/>
          <a:ln>
            <a:noFill/>
          </a:ln>
          <a:effectLst>
            <a:outerShdw blurRad="292100" rotWithShape="0" algn="tl" dir="2700000" dist="139700">
              <a:srgbClr val="333333">
                <a:alpha val="64705"/>
              </a:srgbClr>
            </a:outerShdw>
          </a:effectLst>
        </p:spPr>
      </p:pic>
      <p:sp>
        <p:nvSpPr>
          <p:cNvPr id="465" name="Google Shape;465;p59"/>
          <p:cNvSpPr/>
          <p:nvPr/>
        </p:nvSpPr>
        <p:spPr>
          <a:xfrm>
            <a:off x="7678761" y="5802050"/>
            <a:ext cx="8449363" cy="6604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Bai Jamjuree"/>
                <a:ea typeface="Bai Jamjuree"/>
                <a:cs typeface="Bai Jamjuree"/>
                <a:sym typeface="Bai Jamjuree"/>
              </a:rPr>
              <a:t>Đổi màu và type đồ vật</a:t>
            </a:r>
            <a:endParaRPr b="1" i="0" sz="1800" u="none" cap="none" strike="noStrike">
              <a:solidFill>
                <a:schemeClr val="lt1"/>
              </a:solidFill>
              <a:latin typeface="Bai Jamjuree"/>
              <a:ea typeface="Bai Jamjuree"/>
              <a:cs typeface="Bai Jamjuree"/>
              <a:sym typeface="Bai Jamjuree"/>
            </a:endParaRPr>
          </a:p>
        </p:txBody>
      </p:sp>
      <p:sp>
        <p:nvSpPr>
          <p:cNvPr id="466" name="Google Shape;466;p59"/>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467" name="Google Shape;467;p59"/>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0"/>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73" name="Google Shape;473;p60"/>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474" name="Google Shape;474;p60"/>
          <p:cNvGrpSpPr/>
          <p:nvPr/>
        </p:nvGrpSpPr>
        <p:grpSpPr>
          <a:xfrm>
            <a:off x="5776170" y="9896475"/>
            <a:ext cx="6735680" cy="408188"/>
            <a:chOff x="0" y="0"/>
            <a:chExt cx="8980907" cy="544250"/>
          </a:xfrm>
        </p:grpSpPr>
        <p:sp>
          <p:nvSpPr>
            <p:cNvPr id="475" name="Google Shape;475;p60"/>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76" name="Google Shape;476;p60"/>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477" name="Google Shape;477;p60"/>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478" name="Google Shape;478;p60"/>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79" name="Google Shape;479;p60"/>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Di chuyển các chi tiết</a:t>
            </a:r>
            <a:endParaRPr b="1" i="0" sz="3200" u="none" cap="none" strike="noStrike">
              <a:solidFill>
                <a:srgbClr val="0050AB"/>
              </a:solidFill>
              <a:latin typeface="Bai Jamjuree"/>
              <a:ea typeface="Bai Jamjuree"/>
              <a:cs typeface="Bai Jamjuree"/>
              <a:sym typeface="Bai Jamjuree"/>
            </a:endParaRPr>
          </a:p>
        </p:txBody>
      </p:sp>
      <p:pic>
        <p:nvPicPr>
          <p:cNvPr id="480" name="Google Shape;480;p60"/>
          <p:cNvPicPr preferRelativeResize="0"/>
          <p:nvPr/>
        </p:nvPicPr>
        <p:blipFill rotWithShape="1">
          <a:blip r:embed="rId4">
            <a:alphaModFix/>
          </a:blip>
          <a:srcRect b="0" l="0" r="0" t="0"/>
          <a:stretch/>
        </p:blipFill>
        <p:spPr>
          <a:xfrm>
            <a:off x="2545351" y="2477590"/>
            <a:ext cx="13197295" cy="6206608"/>
          </a:xfrm>
          <a:prstGeom prst="rect">
            <a:avLst/>
          </a:prstGeom>
          <a:noFill/>
          <a:ln>
            <a:noFill/>
          </a:ln>
          <a:effectLst>
            <a:outerShdw blurRad="292100" rotWithShape="0" algn="tl" dir="2700000" dist="139700">
              <a:srgbClr val="333333">
                <a:alpha val="64705"/>
              </a:srgbClr>
            </a:outerShdw>
          </a:effectLst>
        </p:spPr>
      </p:pic>
      <p:sp>
        <p:nvSpPr>
          <p:cNvPr id="481" name="Google Shape;481;p60"/>
          <p:cNvSpPr/>
          <p:nvPr/>
        </p:nvSpPr>
        <p:spPr>
          <a:xfrm>
            <a:off x="195314" y="4682359"/>
            <a:ext cx="2309843" cy="1139058"/>
          </a:xfrm>
          <a:prstGeom prst="wedgeRoundRectCallout">
            <a:avLst>
              <a:gd fmla="val 77452" name="adj1"/>
              <a:gd fmla="val 42204"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Chọn mode Move</a:t>
            </a:r>
            <a:endParaRPr/>
          </a:p>
        </p:txBody>
      </p:sp>
      <p:sp>
        <p:nvSpPr>
          <p:cNvPr id="482" name="Google Shape;482;p60"/>
          <p:cNvSpPr/>
          <p:nvPr/>
        </p:nvSpPr>
        <p:spPr>
          <a:xfrm>
            <a:off x="8440220" y="7239881"/>
            <a:ext cx="2309843" cy="1139058"/>
          </a:xfrm>
          <a:prstGeom prst="wedgeRoundRectCallout">
            <a:avLst>
              <a:gd fmla="val 49468" name="adj1"/>
              <a:gd fmla="val -72674"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Dễ dàng căn chỉnh theo các hướng</a:t>
            </a:r>
            <a:endParaRPr b="0" i="0" sz="1800" u="none" cap="none" strike="noStrike">
              <a:solidFill>
                <a:schemeClr val="dk2"/>
              </a:solidFill>
              <a:latin typeface="Bai Jamjuree"/>
              <a:ea typeface="Bai Jamjuree"/>
              <a:cs typeface="Bai Jamjuree"/>
              <a:sym typeface="Bai Jamjuree"/>
            </a:endParaRPr>
          </a:p>
        </p:txBody>
      </p:sp>
      <p:sp>
        <p:nvSpPr>
          <p:cNvPr id="483" name="Google Shape;483;p60"/>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484" name="Google Shape;484;p60"/>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1"/>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90" name="Google Shape;490;p61"/>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491" name="Google Shape;491;p61"/>
          <p:cNvGrpSpPr/>
          <p:nvPr/>
        </p:nvGrpSpPr>
        <p:grpSpPr>
          <a:xfrm>
            <a:off x="5776170" y="9896475"/>
            <a:ext cx="6735680" cy="408188"/>
            <a:chOff x="0" y="0"/>
            <a:chExt cx="8980907" cy="544250"/>
          </a:xfrm>
        </p:grpSpPr>
        <p:sp>
          <p:nvSpPr>
            <p:cNvPr id="492" name="Google Shape;492;p61"/>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93" name="Google Shape;493;p61"/>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494" name="Google Shape;494;p61"/>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495" name="Google Shape;495;p61"/>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496" name="Google Shape;496;p61"/>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Xoay 360°</a:t>
            </a:r>
            <a:endParaRPr b="1" i="0" sz="3200" u="none" cap="none" strike="noStrike">
              <a:solidFill>
                <a:srgbClr val="0050AB"/>
              </a:solidFill>
              <a:latin typeface="Bai Jamjuree"/>
              <a:ea typeface="Bai Jamjuree"/>
              <a:cs typeface="Bai Jamjuree"/>
              <a:sym typeface="Bai Jamjuree"/>
            </a:endParaRPr>
          </a:p>
        </p:txBody>
      </p:sp>
      <p:pic>
        <p:nvPicPr>
          <p:cNvPr id="497" name="Google Shape;497;p61"/>
          <p:cNvPicPr preferRelativeResize="0"/>
          <p:nvPr/>
        </p:nvPicPr>
        <p:blipFill rotWithShape="1">
          <a:blip r:embed="rId4">
            <a:alphaModFix/>
          </a:blip>
          <a:srcRect b="0" l="0" r="0" t="0"/>
          <a:stretch/>
        </p:blipFill>
        <p:spPr>
          <a:xfrm>
            <a:off x="2835335" y="2285881"/>
            <a:ext cx="13110814" cy="6328790"/>
          </a:xfrm>
          <a:prstGeom prst="rect">
            <a:avLst/>
          </a:prstGeom>
          <a:noFill/>
          <a:ln>
            <a:noFill/>
          </a:ln>
          <a:effectLst>
            <a:outerShdw blurRad="292100" rotWithShape="0" algn="tl" dir="2700000" dist="139700">
              <a:srgbClr val="333333">
                <a:alpha val="64705"/>
              </a:srgbClr>
            </a:outerShdw>
          </a:effectLst>
        </p:spPr>
      </p:pic>
      <p:sp>
        <p:nvSpPr>
          <p:cNvPr id="498" name="Google Shape;498;p61"/>
          <p:cNvSpPr/>
          <p:nvPr/>
        </p:nvSpPr>
        <p:spPr>
          <a:xfrm>
            <a:off x="882638" y="4136804"/>
            <a:ext cx="2309843" cy="1139058"/>
          </a:xfrm>
          <a:prstGeom prst="wedgeRoundRectCallout">
            <a:avLst>
              <a:gd fmla="val 82230" name="adj1"/>
              <a:gd fmla="val 51893"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Chọn mode Rotate</a:t>
            </a:r>
            <a:endParaRPr/>
          </a:p>
        </p:txBody>
      </p:sp>
      <p:sp>
        <p:nvSpPr>
          <p:cNvPr id="499" name="Google Shape;499;p61"/>
          <p:cNvSpPr/>
          <p:nvPr/>
        </p:nvSpPr>
        <p:spPr>
          <a:xfrm>
            <a:off x="7906576" y="7185789"/>
            <a:ext cx="2309843" cy="1139058"/>
          </a:xfrm>
          <a:prstGeom prst="wedgeRoundRectCallout">
            <a:avLst>
              <a:gd fmla="val 50833" name="adj1"/>
              <a:gd fmla="val -65755"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Xoay 360° đồ vật tới chiều phù hợp</a:t>
            </a:r>
            <a:endParaRPr b="0" i="0" sz="1800" u="none" cap="none" strike="noStrike">
              <a:solidFill>
                <a:schemeClr val="dk2"/>
              </a:solidFill>
              <a:latin typeface="Bai Jamjuree"/>
              <a:ea typeface="Bai Jamjuree"/>
              <a:cs typeface="Bai Jamjuree"/>
              <a:sym typeface="Bai Jamjuree"/>
            </a:endParaRPr>
          </a:p>
        </p:txBody>
      </p:sp>
      <p:sp>
        <p:nvSpPr>
          <p:cNvPr id="500" name="Google Shape;500;p61"/>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501" name="Google Shape;501;p61"/>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62"/>
          <p:cNvPicPr preferRelativeResize="0"/>
          <p:nvPr/>
        </p:nvPicPr>
        <p:blipFill rotWithShape="1">
          <a:blip r:embed="rId3">
            <a:alphaModFix/>
          </a:blip>
          <a:srcRect b="0" l="0" r="0" t="0"/>
          <a:stretch/>
        </p:blipFill>
        <p:spPr>
          <a:xfrm>
            <a:off x="1073772" y="2494002"/>
            <a:ext cx="15665731" cy="6332955"/>
          </a:xfrm>
          <a:prstGeom prst="rect">
            <a:avLst/>
          </a:prstGeom>
          <a:noFill/>
          <a:ln>
            <a:noFill/>
          </a:ln>
          <a:effectLst>
            <a:outerShdw blurRad="292100" rotWithShape="0" algn="tl" dir="2700000" dist="139700">
              <a:srgbClr val="333333">
                <a:alpha val="64705"/>
              </a:srgbClr>
            </a:outerShdw>
          </a:effectLst>
        </p:spPr>
      </p:pic>
      <p:sp>
        <p:nvSpPr>
          <p:cNvPr id="507" name="Google Shape;507;p62"/>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08" name="Google Shape;508;p62"/>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509" name="Google Shape;509;p62"/>
          <p:cNvGrpSpPr/>
          <p:nvPr/>
        </p:nvGrpSpPr>
        <p:grpSpPr>
          <a:xfrm>
            <a:off x="5776170" y="9896475"/>
            <a:ext cx="6735680" cy="408188"/>
            <a:chOff x="0" y="0"/>
            <a:chExt cx="8980907" cy="544250"/>
          </a:xfrm>
        </p:grpSpPr>
        <p:sp>
          <p:nvSpPr>
            <p:cNvPr id="510" name="Google Shape;510;p62"/>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11" name="Google Shape;511;p62"/>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512" name="Google Shape;512;p62"/>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513" name="Google Shape;513;p62"/>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14" name="Google Shape;514;p62"/>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Scale tỉ lệ đồ vật</a:t>
            </a:r>
            <a:endParaRPr b="1" i="0" sz="3200" u="none" cap="none" strike="noStrike">
              <a:solidFill>
                <a:srgbClr val="0050AB"/>
              </a:solidFill>
              <a:latin typeface="Bai Jamjuree"/>
              <a:ea typeface="Bai Jamjuree"/>
              <a:cs typeface="Bai Jamjuree"/>
              <a:sym typeface="Bai Jamjuree"/>
            </a:endParaRPr>
          </a:p>
        </p:txBody>
      </p:sp>
      <p:sp>
        <p:nvSpPr>
          <p:cNvPr id="515" name="Google Shape;515;p62"/>
          <p:cNvSpPr/>
          <p:nvPr/>
        </p:nvSpPr>
        <p:spPr>
          <a:xfrm>
            <a:off x="345011" y="3764506"/>
            <a:ext cx="2309843" cy="1139058"/>
          </a:xfrm>
          <a:prstGeom prst="wedgeRoundRectCallout">
            <a:avLst>
              <a:gd fmla="val 48786" name="adj1"/>
              <a:gd fmla="val 87879"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Chọn mode Scale</a:t>
            </a:r>
            <a:endParaRPr/>
          </a:p>
        </p:txBody>
      </p:sp>
      <p:sp>
        <p:nvSpPr>
          <p:cNvPr id="516" name="Google Shape;516;p62"/>
          <p:cNvSpPr/>
          <p:nvPr/>
        </p:nvSpPr>
        <p:spPr>
          <a:xfrm>
            <a:off x="6596794" y="7690436"/>
            <a:ext cx="2309843" cy="1139058"/>
          </a:xfrm>
          <a:prstGeom prst="wedgeRoundRectCallout">
            <a:avLst>
              <a:gd fmla="val 1690" name="adj1"/>
              <a:gd fmla="val -101741"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Kéo để phòng to thu nhỏ</a:t>
            </a:r>
            <a:endParaRPr b="0" i="0" sz="1800" u="none" cap="none" strike="noStrike">
              <a:solidFill>
                <a:schemeClr val="dk2"/>
              </a:solidFill>
              <a:latin typeface="Bai Jamjuree"/>
              <a:ea typeface="Bai Jamjuree"/>
              <a:cs typeface="Bai Jamjuree"/>
              <a:sym typeface="Bai Jamjuree"/>
            </a:endParaRPr>
          </a:p>
        </p:txBody>
      </p:sp>
      <p:sp>
        <p:nvSpPr>
          <p:cNvPr id="517" name="Google Shape;517;p62"/>
          <p:cNvSpPr/>
          <p:nvPr/>
        </p:nvSpPr>
        <p:spPr>
          <a:xfrm>
            <a:off x="12511850" y="7347437"/>
            <a:ext cx="2309843" cy="1139058"/>
          </a:xfrm>
          <a:prstGeom prst="wedgeRoundRectCallout">
            <a:avLst>
              <a:gd fmla="val 36499" name="adj1"/>
              <a:gd fmla="val -108661"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Hoặc chỉnh thông số cụ thể</a:t>
            </a:r>
            <a:endParaRPr b="0" i="0" sz="1800" u="none" cap="none" strike="noStrike">
              <a:solidFill>
                <a:schemeClr val="dk2"/>
              </a:solidFill>
              <a:latin typeface="Bai Jamjuree"/>
              <a:ea typeface="Bai Jamjuree"/>
              <a:cs typeface="Bai Jamjuree"/>
              <a:sym typeface="Bai Jamjuree"/>
            </a:endParaRPr>
          </a:p>
        </p:txBody>
      </p:sp>
      <p:sp>
        <p:nvSpPr>
          <p:cNvPr id="518" name="Google Shape;518;p62"/>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MÔ PHỎNG 3D ĐA CHIỀU</a:t>
            </a:r>
            <a:endParaRPr/>
          </a:p>
        </p:txBody>
      </p:sp>
      <p:sp>
        <p:nvSpPr>
          <p:cNvPr id="519" name="Google Shape;519;p62"/>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3"/>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25" name="Google Shape;525;p63"/>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526" name="Google Shape;526;p63"/>
          <p:cNvGrpSpPr/>
          <p:nvPr/>
        </p:nvGrpSpPr>
        <p:grpSpPr>
          <a:xfrm>
            <a:off x="5776170" y="9896475"/>
            <a:ext cx="6735680" cy="408188"/>
            <a:chOff x="0" y="0"/>
            <a:chExt cx="8980907" cy="544250"/>
          </a:xfrm>
        </p:grpSpPr>
        <p:sp>
          <p:nvSpPr>
            <p:cNvPr id="527" name="Google Shape;527;p63"/>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28" name="Google Shape;528;p63"/>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529" name="Google Shape;529;p63"/>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530" name="Google Shape;530;p63"/>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31" name="Google Shape;531;p63"/>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KẾT HỢP 2D SẮP XẾP SẢN PHẨM</a:t>
            </a:r>
            <a:endParaRPr/>
          </a:p>
        </p:txBody>
      </p:sp>
      <p:grpSp>
        <p:nvGrpSpPr>
          <p:cNvPr id="532" name="Google Shape;532;p63"/>
          <p:cNvGrpSpPr/>
          <p:nvPr/>
        </p:nvGrpSpPr>
        <p:grpSpPr>
          <a:xfrm>
            <a:off x="8425395" y="3157173"/>
            <a:ext cx="9277196" cy="4415774"/>
            <a:chOff x="8060116" y="3999962"/>
            <a:chExt cx="7629923" cy="4072994"/>
          </a:xfrm>
        </p:grpSpPr>
        <p:sp>
          <p:nvSpPr>
            <p:cNvPr id="533" name="Google Shape;533;p63"/>
            <p:cNvSpPr/>
            <p:nvPr/>
          </p:nvSpPr>
          <p:spPr>
            <a:xfrm>
              <a:off x="8060116" y="3999962"/>
              <a:ext cx="7629923" cy="4072994"/>
            </a:xfrm>
            <a:custGeom>
              <a:rect b="b" l="l" r="r" t="t"/>
              <a:pathLst>
                <a:path extrusionOk="0" h="4267200" w="4819650">
                  <a:moveTo>
                    <a:pt x="4700040" y="4267199"/>
                  </a:moveTo>
                  <a:lnTo>
                    <a:pt x="119610" y="4267199"/>
                  </a:lnTo>
                  <a:lnTo>
                    <a:pt x="111285" y="4266378"/>
                  </a:lnTo>
                  <a:lnTo>
                    <a:pt x="71259" y="4254237"/>
                  </a:lnTo>
                  <a:lnTo>
                    <a:pt x="31551" y="4223760"/>
                  </a:lnTo>
                  <a:lnTo>
                    <a:pt x="6527" y="4180406"/>
                  </a:lnTo>
                  <a:lnTo>
                    <a:pt x="0" y="4147589"/>
                  </a:lnTo>
                  <a:lnTo>
                    <a:pt x="0" y="4139183"/>
                  </a:lnTo>
                  <a:lnTo>
                    <a:pt x="0" y="119610"/>
                  </a:lnTo>
                  <a:lnTo>
                    <a:pt x="12960" y="71260"/>
                  </a:lnTo>
                  <a:lnTo>
                    <a:pt x="43437" y="31550"/>
                  </a:lnTo>
                  <a:lnTo>
                    <a:pt x="86791" y="6527"/>
                  </a:lnTo>
                  <a:lnTo>
                    <a:pt x="119610" y="0"/>
                  </a:lnTo>
                  <a:lnTo>
                    <a:pt x="4700040" y="0"/>
                  </a:lnTo>
                  <a:lnTo>
                    <a:pt x="4748388" y="12960"/>
                  </a:lnTo>
                  <a:lnTo>
                    <a:pt x="4788097" y="43438"/>
                  </a:lnTo>
                  <a:lnTo>
                    <a:pt x="4813121" y="86791"/>
                  </a:lnTo>
                  <a:lnTo>
                    <a:pt x="4819650" y="119610"/>
                  </a:lnTo>
                  <a:lnTo>
                    <a:pt x="4819650" y="4147589"/>
                  </a:lnTo>
                  <a:lnTo>
                    <a:pt x="4806687" y="4195937"/>
                  </a:lnTo>
                  <a:lnTo>
                    <a:pt x="4776209" y="4235647"/>
                  </a:lnTo>
                  <a:lnTo>
                    <a:pt x="4732856" y="4260671"/>
                  </a:lnTo>
                  <a:lnTo>
                    <a:pt x="4708364" y="4266379"/>
                  </a:lnTo>
                  <a:lnTo>
                    <a:pt x="4700040" y="4267199"/>
                  </a:lnTo>
                  <a:close/>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0" lIns="0" spcFirstLastPara="1" rIns="0" wrap="square" tIns="0">
              <a:noAutofit/>
            </a:bodyPr>
            <a:lstStyle/>
            <a:p>
              <a:pPr indent="-385445" lvl="0" marL="422909" marR="240665" rtl="0" algn="l">
                <a:lnSpc>
                  <a:spcPct val="110800"/>
                </a:lnSpc>
                <a:spcBef>
                  <a:spcPts val="0"/>
                </a:spcBef>
                <a:spcAft>
                  <a:spcPts val="0"/>
                </a:spcAft>
                <a:buNone/>
              </a:pPr>
              <a:r>
                <a:t/>
              </a:r>
              <a:endParaRPr b="0" i="0" sz="1400" u="none" cap="none" strike="noStrike">
                <a:solidFill>
                  <a:schemeClr val="dk1"/>
                </a:solidFill>
                <a:latin typeface="Bai Jamjuree"/>
                <a:ea typeface="Bai Jamjuree"/>
                <a:cs typeface="Bai Jamjuree"/>
                <a:sym typeface="Bai Jamjuree"/>
              </a:endParaRPr>
            </a:p>
          </p:txBody>
        </p:sp>
        <p:sp>
          <p:nvSpPr>
            <p:cNvPr id="534" name="Google Shape;534;p63"/>
            <p:cNvSpPr txBox="1"/>
            <p:nvPr/>
          </p:nvSpPr>
          <p:spPr>
            <a:xfrm>
              <a:off x="8347860" y="4280030"/>
              <a:ext cx="6456321" cy="325345"/>
            </a:xfrm>
            <a:prstGeom prst="rect">
              <a:avLst/>
            </a:prstGeom>
            <a:noFill/>
            <a:ln>
              <a:noFill/>
            </a:ln>
          </p:spPr>
          <p:txBody>
            <a:bodyPr anchorCtr="0" anchor="t" bIns="0" lIns="0" spcFirstLastPara="1" rIns="0" wrap="square" tIns="12050">
              <a:spAutoFit/>
            </a:bodyPr>
            <a:lstStyle/>
            <a:p>
              <a:pPr indent="0" lvl="0" marL="38100" marR="30480" rtl="0" algn="l">
                <a:lnSpc>
                  <a:spcPct val="109400"/>
                </a:lnSpc>
                <a:spcBef>
                  <a:spcPts val="0"/>
                </a:spcBef>
                <a:spcAft>
                  <a:spcPts val="0"/>
                </a:spcAft>
                <a:buNone/>
              </a:pPr>
              <a:r>
                <a:rPr b="1" i="0" lang="en-US" sz="2000" u="none" cap="none" strike="noStrike">
                  <a:solidFill>
                    <a:srgbClr val="1A237D"/>
                  </a:solidFill>
                  <a:latin typeface="Bai Jamjuree"/>
                  <a:ea typeface="Bai Jamjuree"/>
                  <a:cs typeface="Bai Jamjuree"/>
                  <a:sym typeface="Bai Jamjuree"/>
                </a:rPr>
                <a:t>Tận Hưởng Quyền Năng Kiểm Soát</a:t>
              </a:r>
              <a:endParaRPr b="0" i="0" sz="2000" u="none" cap="none" strike="noStrike">
                <a:solidFill>
                  <a:srgbClr val="000000"/>
                </a:solidFill>
                <a:latin typeface="Bai Jamjuree"/>
                <a:ea typeface="Bai Jamjuree"/>
                <a:cs typeface="Bai Jamjuree"/>
                <a:sym typeface="Bai Jamjuree"/>
              </a:endParaRPr>
            </a:p>
          </p:txBody>
        </p:sp>
        <p:sp>
          <p:nvSpPr>
            <p:cNvPr id="535" name="Google Shape;535;p63"/>
            <p:cNvSpPr txBox="1"/>
            <p:nvPr/>
          </p:nvSpPr>
          <p:spPr>
            <a:xfrm>
              <a:off x="8635604" y="4515930"/>
              <a:ext cx="7054435" cy="2703059"/>
            </a:xfrm>
            <a:prstGeom prst="rect">
              <a:avLst/>
            </a:prstGeom>
            <a:noFill/>
            <a:ln>
              <a:noFill/>
            </a:ln>
          </p:spPr>
          <p:txBody>
            <a:bodyPr anchorCtr="0" anchor="t" bIns="0" lIns="0" spcFirstLastPara="1" rIns="0" wrap="square" tIns="135875">
              <a:spAutoFit/>
            </a:bodyPr>
            <a:lstStyle/>
            <a:p>
              <a:pPr indent="0" lvl="0" marL="50800" marR="0" rtl="0" algn="l">
                <a:lnSpc>
                  <a:spcPct val="25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Kéo thả sản phẩm chính xác từng vị trí.</a:t>
              </a:r>
              <a:br>
                <a:rPr b="0" baseline="-25000" i="0" lang="en-US" sz="1800" u="none" cap="none" strike="noStrike">
                  <a:solidFill>
                    <a:srgbClr val="4BAF4F"/>
                  </a:solidFill>
                  <a:latin typeface="Bai Jamjuree"/>
                  <a:ea typeface="Bai Jamjuree"/>
                  <a:cs typeface="Bai Jamjuree"/>
                  <a:sym typeface="Bai Jamjuree"/>
                </a:rPr>
              </a:br>
              <a:r>
                <a:rPr b="0" i="0" lang="en-US" sz="1800" u="none" cap="none" strike="noStrike">
                  <a:solidFill>
                    <a:srgbClr val="1A237D"/>
                  </a:solidFill>
                  <a:latin typeface="Bai Jamjuree"/>
                  <a:ea typeface="Bai Jamjuree"/>
                  <a:cs typeface="Bai Jamjuree"/>
                  <a:sym typeface="Bai Jamjuree"/>
                </a:rPr>
                <a:t>Căn chỉnh tự động theo Grid system</a:t>
              </a:r>
              <a:endParaRPr/>
            </a:p>
            <a:p>
              <a:pPr indent="0" lvl="0" marL="50800" marR="0" rtl="0" algn="l">
                <a:lnSpc>
                  <a:spcPct val="250000"/>
                </a:lnSpc>
                <a:spcBef>
                  <a:spcPts val="1070"/>
                </a:spcBef>
                <a:spcAft>
                  <a:spcPts val="0"/>
                </a:spcAft>
                <a:buNone/>
              </a:pPr>
              <a:r>
                <a:rPr b="0" i="0" lang="en-US" sz="1800" u="none" cap="none" strike="noStrike">
                  <a:solidFill>
                    <a:srgbClr val="1A237D"/>
                  </a:solidFill>
                  <a:latin typeface="Bai Jamjuree"/>
                  <a:ea typeface="Bai Jamjuree"/>
                  <a:cs typeface="Bai Jamjuree"/>
                  <a:sym typeface="Bai Jamjuree"/>
                </a:rPr>
                <a:t>Kiểm soát facing count cho từng SKU</a:t>
              </a:r>
              <a:br>
                <a:rPr b="0" i="0" lang="en-US" sz="1800" u="none" cap="none" strike="noStrike">
                  <a:solidFill>
                    <a:srgbClr val="1A237D"/>
                  </a:solidFill>
                  <a:latin typeface="Bai Jamjuree"/>
                  <a:ea typeface="Bai Jamjuree"/>
                  <a:cs typeface="Bai Jamjuree"/>
                  <a:sym typeface="Bai Jamjuree"/>
                </a:rPr>
              </a:br>
              <a:r>
                <a:rPr b="0" i="0" lang="en-US" sz="1800" u="none" cap="none" strike="noStrike">
                  <a:solidFill>
                    <a:srgbClr val="1A237D"/>
                  </a:solidFill>
                  <a:latin typeface="Bai Jamjuree"/>
                  <a:ea typeface="Bai Jamjuree"/>
                  <a:cs typeface="Bai Jamjuree"/>
                  <a:sym typeface="Bai Jamjuree"/>
                </a:rPr>
                <a:t>AI sẽ tự động optimize dựa vào data bán hang và kích thức của từng SKU. </a:t>
              </a:r>
              <a:endParaRPr/>
            </a:p>
          </p:txBody>
        </p:sp>
      </p:grpSp>
      <p:sp>
        <p:nvSpPr>
          <p:cNvPr id="536" name="Google Shape;536;p63"/>
          <p:cNvSpPr/>
          <p:nvPr/>
        </p:nvSpPr>
        <p:spPr>
          <a:xfrm>
            <a:off x="812352" y="7900686"/>
            <a:ext cx="1371979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Bai Jamjuree"/>
              <a:ea typeface="Bai Jamjuree"/>
              <a:cs typeface="Bai Jamjuree"/>
              <a:sym typeface="Bai Jamjuree"/>
            </a:endParaRPr>
          </a:p>
        </p:txBody>
      </p:sp>
      <p:sp>
        <p:nvSpPr>
          <p:cNvPr id="537" name="Google Shape;537;p63"/>
          <p:cNvSpPr/>
          <p:nvPr/>
        </p:nvSpPr>
        <p:spPr>
          <a:xfrm>
            <a:off x="698052" y="7899085"/>
            <a:ext cx="38100" cy="600075"/>
          </a:xfrm>
          <a:custGeom>
            <a:rect b="b" l="l" r="r" t="t"/>
            <a:pathLst>
              <a:path extrusionOk="0" h="600075" w="38100">
                <a:moveTo>
                  <a:pt x="38099" y="600074"/>
                </a:moveTo>
                <a:lnTo>
                  <a:pt x="0" y="600074"/>
                </a:lnTo>
                <a:lnTo>
                  <a:pt x="0" y="0"/>
                </a:lnTo>
                <a:lnTo>
                  <a:pt x="38099" y="0"/>
                </a:lnTo>
                <a:lnTo>
                  <a:pt x="38099" y="600074"/>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38" name="Google Shape;538;p63"/>
          <p:cNvSpPr txBox="1"/>
          <p:nvPr/>
        </p:nvSpPr>
        <p:spPr>
          <a:xfrm>
            <a:off x="736152" y="8037971"/>
            <a:ext cx="14995688"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Công cụ 2D planogram giúp retail managers thực hiện ý tưởng với độ chính xác tuyệt đối, từ ý tưởng đến thực tế chỉ trong một bước.</a:t>
            </a:r>
            <a:endParaRPr b="0" i="0" sz="1600" u="none" cap="none" strike="noStrike">
              <a:solidFill>
                <a:srgbClr val="1A237D"/>
              </a:solidFill>
              <a:latin typeface="Bai Jamjuree"/>
              <a:ea typeface="Bai Jamjuree"/>
              <a:cs typeface="Bai Jamjuree"/>
              <a:sym typeface="Bai Jamjuree"/>
            </a:endParaRPr>
          </a:p>
        </p:txBody>
      </p:sp>
      <p:sp>
        <p:nvSpPr>
          <p:cNvPr id="539" name="Google Shape;539;p63"/>
          <p:cNvSpPr/>
          <p:nvPr/>
        </p:nvSpPr>
        <p:spPr>
          <a:xfrm>
            <a:off x="8425395" y="1327491"/>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Bai Jamjuree"/>
                <a:ea typeface="Bai Jamjuree"/>
                <a:cs typeface="Bai Jamjuree"/>
                <a:sym typeface="Bai Jamjuree"/>
              </a:rPr>
              <a:t>Drag &amp; Drop SKU</a:t>
            </a:r>
            <a:endParaRPr b="1" i="0" sz="1400" u="none" cap="none" strike="noStrike">
              <a:solidFill>
                <a:srgbClr val="FFFFFF"/>
              </a:solidFill>
              <a:latin typeface="Bai Jamjuree"/>
              <a:ea typeface="Bai Jamjuree"/>
              <a:cs typeface="Bai Jamjuree"/>
              <a:sym typeface="Bai Jamjuree"/>
            </a:endParaRPr>
          </a:p>
        </p:txBody>
      </p:sp>
      <p:sp>
        <p:nvSpPr>
          <p:cNvPr id="540" name="Google Shape;540;p63"/>
          <p:cNvSpPr/>
          <p:nvPr/>
        </p:nvSpPr>
        <p:spPr>
          <a:xfrm>
            <a:off x="8461683" y="1888954"/>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Bai Jamjuree"/>
                <a:ea typeface="Bai Jamjuree"/>
                <a:cs typeface="Bai Jamjuree"/>
                <a:sym typeface="Bai Jamjuree"/>
              </a:rPr>
              <a:t>Căn chỉnh chính xác</a:t>
            </a:r>
            <a:endParaRPr b="1" i="0" sz="1400" u="none" cap="none" strike="noStrike">
              <a:solidFill>
                <a:srgbClr val="FFFFFF"/>
              </a:solidFill>
              <a:latin typeface="Bai Jamjuree"/>
              <a:ea typeface="Bai Jamjuree"/>
              <a:cs typeface="Bai Jamjuree"/>
              <a:sym typeface="Bai Jamjuree"/>
            </a:endParaRPr>
          </a:p>
        </p:txBody>
      </p:sp>
      <p:sp>
        <p:nvSpPr>
          <p:cNvPr id="541" name="Google Shape;541;p63"/>
          <p:cNvSpPr/>
          <p:nvPr/>
        </p:nvSpPr>
        <p:spPr>
          <a:xfrm>
            <a:off x="8461683" y="2448346"/>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Bai Jamjuree"/>
                <a:ea typeface="Bai Jamjuree"/>
                <a:cs typeface="Bai Jamjuree"/>
                <a:sym typeface="Bai Jamjuree"/>
              </a:rPr>
              <a:t>Optimize facing tự động</a:t>
            </a:r>
            <a:endParaRPr b="1" i="0" sz="1400" u="none" cap="none" strike="noStrike">
              <a:solidFill>
                <a:srgbClr val="FFFFFF"/>
              </a:solidFill>
              <a:latin typeface="Bai Jamjuree"/>
              <a:ea typeface="Bai Jamjuree"/>
              <a:cs typeface="Bai Jamjuree"/>
              <a:sym typeface="Bai Jamjuree"/>
            </a:endParaRPr>
          </a:p>
        </p:txBody>
      </p:sp>
      <p:pic>
        <p:nvPicPr>
          <p:cNvPr id="542" name="Google Shape;542;p63"/>
          <p:cNvPicPr preferRelativeResize="0"/>
          <p:nvPr/>
        </p:nvPicPr>
        <p:blipFill rotWithShape="1">
          <a:blip r:embed="rId4">
            <a:alphaModFix/>
          </a:blip>
          <a:srcRect b="0" l="0" r="0" t="0"/>
          <a:stretch/>
        </p:blipFill>
        <p:spPr>
          <a:xfrm>
            <a:off x="830503" y="1293869"/>
            <a:ext cx="7462614" cy="6268774"/>
          </a:xfrm>
          <a:prstGeom prst="rect">
            <a:avLst/>
          </a:prstGeom>
          <a:noFill/>
          <a:ln>
            <a:noFill/>
          </a:ln>
        </p:spPr>
      </p:pic>
      <p:sp>
        <p:nvSpPr>
          <p:cNvPr id="543" name="Google Shape;543;p63"/>
          <p:cNvSpPr/>
          <p:nvPr/>
        </p:nvSpPr>
        <p:spPr>
          <a:xfrm>
            <a:off x="698225" y="1327491"/>
            <a:ext cx="7594892" cy="6372437"/>
          </a:xfrm>
          <a:custGeom>
            <a:rect b="b" l="l" r="r" t="t"/>
            <a:pathLst>
              <a:path extrusionOk="0" h="6191250" w="6096000">
                <a:moveTo>
                  <a:pt x="5925311" y="6191249"/>
                </a:moveTo>
                <a:lnTo>
                  <a:pt x="170687" y="6191249"/>
                </a:lnTo>
                <a:lnTo>
                  <a:pt x="162302" y="6191044"/>
                </a:lnTo>
                <a:lnTo>
                  <a:pt x="121139" y="6183900"/>
                </a:lnTo>
                <a:lnTo>
                  <a:pt x="82944" y="6166970"/>
                </a:lnTo>
                <a:lnTo>
                  <a:pt x="49993" y="6141256"/>
                </a:lnTo>
                <a:lnTo>
                  <a:pt x="24277" y="6108304"/>
                </a:lnTo>
                <a:lnTo>
                  <a:pt x="7347" y="6070110"/>
                </a:lnTo>
                <a:lnTo>
                  <a:pt x="204" y="6028947"/>
                </a:lnTo>
                <a:lnTo>
                  <a:pt x="0" y="6020561"/>
                </a:lnTo>
                <a:lnTo>
                  <a:pt x="0" y="170687"/>
                </a:lnTo>
                <a:lnTo>
                  <a:pt x="5116" y="129204"/>
                </a:lnTo>
                <a:lnTo>
                  <a:pt x="20152" y="90225"/>
                </a:lnTo>
                <a:lnTo>
                  <a:pt x="44208" y="56067"/>
                </a:lnTo>
                <a:lnTo>
                  <a:pt x="75858" y="28765"/>
                </a:lnTo>
                <a:lnTo>
                  <a:pt x="113194" y="9973"/>
                </a:lnTo>
                <a:lnTo>
                  <a:pt x="153957" y="819"/>
                </a:lnTo>
                <a:lnTo>
                  <a:pt x="170687" y="0"/>
                </a:lnTo>
                <a:lnTo>
                  <a:pt x="5925311" y="0"/>
                </a:lnTo>
                <a:lnTo>
                  <a:pt x="5966794" y="5116"/>
                </a:lnTo>
                <a:lnTo>
                  <a:pt x="6005773" y="20152"/>
                </a:lnTo>
                <a:lnTo>
                  <a:pt x="6039931" y="44208"/>
                </a:lnTo>
                <a:lnTo>
                  <a:pt x="6067232" y="75858"/>
                </a:lnTo>
                <a:lnTo>
                  <a:pt x="6086025" y="113193"/>
                </a:lnTo>
                <a:lnTo>
                  <a:pt x="6095179" y="153957"/>
                </a:lnTo>
                <a:lnTo>
                  <a:pt x="6095999" y="170687"/>
                </a:lnTo>
                <a:lnTo>
                  <a:pt x="6095999" y="6020561"/>
                </a:lnTo>
                <a:lnTo>
                  <a:pt x="6090882" y="6062045"/>
                </a:lnTo>
                <a:lnTo>
                  <a:pt x="6075845" y="6101023"/>
                </a:lnTo>
                <a:lnTo>
                  <a:pt x="6051790" y="6135181"/>
                </a:lnTo>
                <a:lnTo>
                  <a:pt x="6020140" y="6162482"/>
                </a:lnTo>
                <a:lnTo>
                  <a:pt x="5982805" y="6181275"/>
                </a:lnTo>
                <a:lnTo>
                  <a:pt x="5942042" y="6190429"/>
                </a:lnTo>
                <a:lnTo>
                  <a:pt x="5925311" y="6191249"/>
                </a:lnTo>
                <a:close/>
              </a:path>
            </a:pathLst>
          </a:custGeom>
          <a:solidFill>
            <a:srgbClr val="1A237D">
              <a:alpha val="2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44" name="Google Shape;544;p63"/>
          <p:cNvSpPr txBox="1"/>
          <p:nvPr/>
        </p:nvSpPr>
        <p:spPr>
          <a:xfrm>
            <a:off x="1065032" y="5884278"/>
            <a:ext cx="6861277" cy="1132811"/>
          </a:xfrm>
          <a:prstGeom prst="rect">
            <a:avLst/>
          </a:prstGeom>
          <a:noFill/>
          <a:ln>
            <a:noFill/>
          </a:ln>
        </p:spPr>
        <p:txBody>
          <a:bodyPr anchorCtr="0" anchor="t" bIns="0" lIns="0" spcFirstLastPara="1" rIns="0" wrap="square" tIns="15225">
            <a:spAutoFit/>
          </a:bodyPr>
          <a:lstStyle/>
          <a:p>
            <a:pPr indent="0" lvl="0" marL="12700" marR="5080" rtl="0" algn="ctr">
              <a:lnSpc>
                <a:spcPct val="100000"/>
              </a:lnSpc>
              <a:spcBef>
                <a:spcPts val="0"/>
              </a:spcBef>
              <a:spcAft>
                <a:spcPts val="0"/>
              </a:spcAft>
              <a:buNone/>
            </a:pPr>
            <a:r>
              <a:rPr b="1" i="0" lang="en-US" sz="2500" u="none" cap="none" strike="noStrike">
                <a:solidFill>
                  <a:srgbClr val="FFFFFF"/>
                </a:solidFill>
                <a:latin typeface="Bai Jamjuree"/>
                <a:ea typeface="Bai Jamjuree"/>
                <a:cs typeface="Bai Jamjuree"/>
                <a:sym typeface="Bai Jamjuree"/>
              </a:rPr>
              <a:t>CHÍNH XÁC TỪNG CHI TIẾT: SẮP XẾP SẢN PHẨM HOÀN HẢO</a:t>
            </a:r>
            <a:endParaRPr b="0" i="0" sz="2500" u="none" cap="none" strike="noStrike">
              <a:solidFill>
                <a:srgbClr val="000000"/>
              </a:solidFill>
              <a:latin typeface="Bai Jamjuree"/>
              <a:ea typeface="Bai Jamjuree"/>
              <a:cs typeface="Bai Jamjuree"/>
              <a:sym typeface="Bai Jamjuree"/>
            </a:endParaRPr>
          </a:p>
          <a:p>
            <a:pPr indent="0" lvl="0" marL="203834" marR="196215" rtl="0" algn="ctr">
              <a:lnSpc>
                <a:spcPct val="117600"/>
              </a:lnSpc>
              <a:spcBef>
                <a:spcPts val="515"/>
              </a:spcBef>
              <a:spcAft>
                <a:spcPts val="0"/>
              </a:spcAft>
              <a:buNone/>
            </a:pPr>
            <a:r>
              <a:rPr b="0" i="1" lang="en-US" sz="1700" u="none" cap="none" strike="noStrike">
                <a:solidFill>
                  <a:srgbClr val="FFFFFF"/>
                </a:solidFill>
                <a:latin typeface="Bai Jamjuree"/>
                <a:ea typeface="Bai Jamjuree"/>
                <a:cs typeface="Bai Jamjuree"/>
                <a:sym typeface="Bai Jamjuree"/>
              </a:rPr>
              <a:t>“Mỗi SKU đều có vị trí tối ưu, mỗi kệ đều được tối ưu hóa.”</a:t>
            </a:r>
            <a:endParaRPr b="0" i="0" sz="1700" u="none" cap="none" strike="noStrike">
              <a:solidFill>
                <a:srgbClr val="000000"/>
              </a:solidFill>
              <a:latin typeface="Bai Jamjuree"/>
              <a:ea typeface="Bai Jamjuree"/>
              <a:cs typeface="Bai Jamjuree"/>
              <a:sym typeface="Bai Jamjuree"/>
            </a:endParaRPr>
          </a:p>
        </p:txBody>
      </p:sp>
      <p:sp>
        <p:nvSpPr>
          <p:cNvPr id="545" name="Google Shape;545;p63"/>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64"/>
          <p:cNvPicPr preferRelativeResize="0"/>
          <p:nvPr/>
        </p:nvPicPr>
        <p:blipFill rotWithShape="1">
          <a:blip r:embed="rId3">
            <a:alphaModFix/>
          </a:blip>
          <a:srcRect b="0" l="0" r="0" t="0"/>
          <a:stretch/>
        </p:blipFill>
        <p:spPr>
          <a:xfrm>
            <a:off x="3243790" y="2291956"/>
            <a:ext cx="11800417" cy="7354507"/>
          </a:xfrm>
          <a:prstGeom prst="rect">
            <a:avLst/>
          </a:prstGeom>
          <a:noFill/>
          <a:ln>
            <a:noFill/>
          </a:ln>
          <a:effectLst>
            <a:outerShdw blurRad="292100" rotWithShape="0" algn="tl" dir="2700000" dist="139700">
              <a:srgbClr val="333333">
                <a:alpha val="64705"/>
              </a:srgbClr>
            </a:outerShdw>
          </a:effectLst>
        </p:spPr>
      </p:pic>
      <p:sp>
        <p:nvSpPr>
          <p:cNvPr id="551" name="Google Shape;551;p64"/>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52" name="Google Shape;552;p64"/>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553" name="Google Shape;553;p64"/>
          <p:cNvGrpSpPr/>
          <p:nvPr/>
        </p:nvGrpSpPr>
        <p:grpSpPr>
          <a:xfrm>
            <a:off x="5776170" y="9896475"/>
            <a:ext cx="6735680" cy="408188"/>
            <a:chOff x="0" y="0"/>
            <a:chExt cx="8980907" cy="544250"/>
          </a:xfrm>
        </p:grpSpPr>
        <p:sp>
          <p:nvSpPr>
            <p:cNvPr id="554" name="Google Shape;554;p64"/>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55" name="Google Shape;555;p64"/>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556" name="Google Shape;556;p64"/>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557" name="Google Shape;557;p64"/>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58" name="Google Shape;558;p64"/>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KẾT HỢP 2D SẮP XẾP SẢN PHẨM</a:t>
            </a:r>
            <a:endParaRPr/>
          </a:p>
        </p:txBody>
      </p:sp>
      <p:sp>
        <p:nvSpPr>
          <p:cNvPr id="559" name="Google Shape;559;p64"/>
          <p:cNvSpPr txBox="1"/>
          <p:nvPr/>
        </p:nvSpPr>
        <p:spPr>
          <a:xfrm>
            <a:off x="716914" y="262207"/>
            <a:ext cx="7599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560" name="Google Shape;560;p64"/>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Tự động tối ưu sản phẩm đặt trên kệ với AI</a:t>
            </a:r>
            <a:endParaRPr b="1" i="0" sz="3200" u="none" cap="none" strike="noStrike">
              <a:solidFill>
                <a:srgbClr val="0050AB"/>
              </a:solidFill>
              <a:latin typeface="Bai Jamjuree"/>
              <a:ea typeface="Bai Jamjuree"/>
              <a:cs typeface="Bai Jamjuree"/>
              <a:sym typeface="Bai Jamjuree"/>
            </a:endParaRPr>
          </a:p>
        </p:txBody>
      </p:sp>
      <p:sp>
        <p:nvSpPr>
          <p:cNvPr id="561" name="Google Shape;561;p64"/>
          <p:cNvSpPr/>
          <p:nvPr/>
        </p:nvSpPr>
        <p:spPr>
          <a:xfrm>
            <a:off x="3905084" y="3283168"/>
            <a:ext cx="2309843" cy="1139058"/>
          </a:xfrm>
          <a:prstGeom prst="wedgeRoundRectCallout">
            <a:avLst>
              <a:gd fmla="val 48786" name="adj1"/>
              <a:gd fmla="val 87879"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Kéo thả 1 sản phẩm lên kệ</a:t>
            </a:r>
            <a:endParaRPr b="0" i="0" sz="1800" u="none" cap="none" strike="noStrike">
              <a:solidFill>
                <a:srgbClr val="1A237D"/>
              </a:solidFill>
              <a:latin typeface="Bai Jamjuree"/>
              <a:ea typeface="Bai Jamjuree"/>
              <a:cs typeface="Bai Jamjuree"/>
              <a:sym typeface="Bai Jamjuree"/>
            </a:endParaRPr>
          </a:p>
        </p:txBody>
      </p:sp>
      <p:sp>
        <p:nvSpPr>
          <p:cNvPr id="562" name="Google Shape;562;p64"/>
          <p:cNvSpPr/>
          <p:nvPr/>
        </p:nvSpPr>
        <p:spPr>
          <a:xfrm>
            <a:off x="10202007" y="2505402"/>
            <a:ext cx="2309843" cy="1139058"/>
          </a:xfrm>
          <a:prstGeom prst="wedgeRoundRectCallout">
            <a:avLst>
              <a:gd fmla="val -61101" name="adj1"/>
              <a:gd fmla="val 20059"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Sau đó click auto Optimize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6" name="Shape 566"/>
        <p:cNvGrpSpPr/>
        <p:nvPr/>
      </p:nvGrpSpPr>
      <p:grpSpPr>
        <a:xfrm>
          <a:off x="0" y="0"/>
          <a:ext cx="0" cy="0"/>
          <a:chOff x="0" y="0"/>
          <a:chExt cx="0" cy="0"/>
        </a:xfrm>
      </p:grpSpPr>
      <p:pic>
        <p:nvPicPr>
          <p:cNvPr id="567" name="Google Shape;567;p65"/>
          <p:cNvPicPr preferRelativeResize="0"/>
          <p:nvPr/>
        </p:nvPicPr>
        <p:blipFill rotWithShape="1">
          <a:blip r:embed="rId3">
            <a:alphaModFix/>
          </a:blip>
          <a:srcRect b="0" l="0" r="0" t="0"/>
          <a:stretch/>
        </p:blipFill>
        <p:spPr>
          <a:xfrm>
            <a:off x="3085987" y="2234456"/>
            <a:ext cx="11804904" cy="7550601"/>
          </a:xfrm>
          <a:prstGeom prst="rect">
            <a:avLst/>
          </a:prstGeom>
          <a:noFill/>
          <a:ln>
            <a:noFill/>
          </a:ln>
          <a:effectLst>
            <a:outerShdw blurRad="292100" rotWithShape="0" algn="tl" dir="2700000" dist="139700">
              <a:srgbClr val="333333">
                <a:alpha val="64705"/>
              </a:srgbClr>
            </a:outerShdw>
          </a:effectLst>
        </p:spPr>
      </p:pic>
      <p:sp>
        <p:nvSpPr>
          <p:cNvPr id="568" name="Google Shape;568;p65"/>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69" name="Google Shape;569;p65"/>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570" name="Google Shape;570;p65"/>
          <p:cNvGrpSpPr/>
          <p:nvPr/>
        </p:nvGrpSpPr>
        <p:grpSpPr>
          <a:xfrm>
            <a:off x="5776170" y="9896475"/>
            <a:ext cx="6735680" cy="408188"/>
            <a:chOff x="0" y="0"/>
            <a:chExt cx="8980907" cy="544250"/>
          </a:xfrm>
        </p:grpSpPr>
        <p:sp>
          <p:nvSpPr>
            <p:cNvPr id="571" name="Google Shape;571;p65"/>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72" name="Google Shape;572;p65"/>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573" name="Google Shape;573;p65"/>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574" name="Google Shape;574;p65"/>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75" name="Google Shape;575;p65"/>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KẾT HỢP 2D SẮP XẾP SẢN PHẨM</a:t>
            </a:r>
            <a:endParaRPr/>
          </a:p>
        </p:txBody>
      </p:sp>
      <p:sp>
        <p:nvSpPr>
          <p:cNvPr id="576" name="Google Shape;576;p65"/>
          <p:cNvSpPr txBox="1"/>
          <p:nvPr/>
        </p:nvSpPr>
        <p:spPr>
          <a:xfrm>
            <a:off x="716913" y="262207"/>
            <a:ext cx="8151315"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577" name="Google Shape;577;p65"/>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Tự động tối ưu sản phẩm đặt trên kệ với AI</a:t>
            </a:r>
            <a:endParaRPr b="1" i="0" sz="3200" u="none" cap="none" strike="noStrike">
              <a:solidFill>
                <a:srgbClr val="0050AB"/>
              </a:solidFill>
              <a:latin typeface="Bai Jamjuree"/>
              <a:ea typeface="Bai Jamjuree"/>
              <a:cs typeface="Bai Jamjuree"/>
              <a:sym typeface="Bai Jamjuree"/>
            </a:endParaRPr>
          </a:p>
        </p:txBody>
      </p:sp>
      <p:sp>
        <p:nvSpPr>
          <p:cNvPr id="578" name="Google Shape;578;p65"/>
          <p:cNvSpPr/>
          <p:nvPr/>
        </p:nvSpPr>
        <p:spPr>
          <a:xfrm>
            <a:off x="9228424" y="5915990"/>
            <a:ext cx="4566030" cy="1139058"/>
          </a:xfrm>
          <a:prstGeom prst="wedgeRoundRectCallout">
            <a:avLst>
              <a:gd fmla="val -31069" name="adj1"/>
              <a:gd fmla="val -101740"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AI tự điền đủ facings dựa vào quy chuẩn kích thước sản phẩm và data bán hàng</a:t>
            </a:r>
            <a:endParaRPr b="0" i="0" sz="1800" u="none" cap="none" strike="noStrike">
              <a:solidFill>
                <a:schemeClr val="dk2"/>
              </a:solidFill>
              <a:latin typeface="Bai Jamjuree"/>
              <a:ea typeface="Bai Jamjuree"/>
              <a:cs typeface="Bai Jamjuree"/>
              <a:sym typeface="Bai Jamjure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6"/>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84" name="Google Shape;584;p66"/>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585" name="Google Shape;585;p66"/>
          <p:cNvGrpSpPr/>
          <p:nvPr/>
        </p:nvGrpSpPr>
        <p:grpSpPr>
          <a:xfrm>
            <a:off x="5776170" y="9896475"/>
            <a:ext cx="6735680" cy="408188"/>
            <a:chOff x="0" y="0"/>
            <a:chExt cx="8980907" cy="544250"/>
          </a:xfrm>
        </p:grpSpPr>
        <p:sp>
          <p:nvSpPr>
            <p:cNvPr id="586" name="Google Shape;586;p66"/>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87" name="Google Shape;587;p66"/>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588" name="Google Shape;588;p66"/>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589" name="Google Shape;589;p66"/>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90" name="Google Shape;590;p66"/>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KẾT HỢP 2D SẮP XẾP SẢN PHẨM</a:t>
            </a:r>
            <a:endParaRPr/>
          </a:p>
        </p:txBody>
      </p:sp>
      <p:sp>
        <p:nvSpPr>
          <p:cNvPr id="591" name="Google Shape;591;p66"/>
          <p:cNvSpPr txBox="1"/>
          <p:nvPr/>
        </p:nvSpPr>
        <p:spPr>
          <a:xfrm>
            <a:off x="716914" y="262207"/>
            <a:ext cx="78029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592" name="Google Shape;592;p66"/>
          <p:cNvSpPr/>
          <p:nvPr/>
        </p:nvSpPr>
        <p:spPr>
          <a:xfrm>
            <a:off x="1196483" y="1474358"/>
            <a:ext cx="3924935" cy="6372437"/>
          </a:xfrm>
          <a:prstGeom prst="rect">
            <a:avLst/>
          </a:pr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593" name="Google Shape;593;p66"/>
          <p:cNvSpPr/>
          <p:nvPr/>
        </p:nvSpPr>
        <p:spPr>
          <a:xfrm>
            <a:off x="1196483" y="1474358"/>
            <a:ext cx="3924935" cy="50857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594" name="Google Shape;594;p66"/>
          <p:cNvSpPr/>
          <p:nvPr/>
        </p:nvSpPr>
        <p:spPr>
          <a:xfrm>
            <a:off x="1457468" y="1817893"/>
            <a:ext cx="3403600"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Bai Jamjuree"/>
                <a:ea typeface="Bai Jamjuree"/>
                <a:cs typeface="Bai Jamjuree"/>
                <a:sym typeface="Bai Jamjuree"/>
              </a:rPr>
              <a:t>AI Tự Động Optimize</a:t>
            </a:r>
            <a:endParaRPr b="0" i="0" sz="2000" u="none" cap="none" strike="noStrike">
              <a:solidFill>
                <a:srgbClr val="000000"/>
              </a:solidFill>
              <a:latin typeface="Bai Jamjuree"/>
              <a:ea typeface="Bai Jamjuree"/>
              <a:cs typeface="Bai Jamjuree"/>
              <a:sym typeface="Bai Jamjuree"/>
            </a:endParaRPr>
          </a:p>
        </p:txBody>
      </p:sp>
      <p:sp>
        <p:nvSpPr>
          <p:cNvPr id="595" name="Google Shape;595;p66"/>
          <p:cNvSpPr/>
          <p:nvPr/>
        </p:nvSpPr>
        <p:spPr>
          <a:xfrm>
            <a:off x="1457468" y="2242073"/>
            <a:ext cx="3521075" cy="170585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FFFFFF"/>
                </a:solidFill>
                <a:latin typeface="Bai Jamjuree"/>
                <a:ea typeface="Bai Jamjuree"/>
                <a:cs typeface="Bai Jamjuree"/>
                <a:sym typeface="Bai Jamjuree"/>
              </a:rPr>
              <a:t>Kéo thả 1 thùng sữa lên kệ – AI tự điền đủ facings một cách tối ưu dựa vào data bán hàng và kích thước của từng SKU</a:t>
            </a:r>
            <a:endParaRPr/>
          </a:p>
        </p:txBody>
      </p:sp>
      <p:sp>
        <p:nvSpPr>
          <p:cNvPr id="596" name="Google Shape;596;p66"/>
          <p:cNvSpPr/>
          <p:nvPr/>
        </p:nvSpPr>
        <p:spPr>
          <a:xfrm>
            <a:off x="1513491" y="5323899"/>
            <a:ext cx="3403600"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Bai Jamjuree"/>
                <a:ea typeface="Bai Jamjuree"/>
                <a:cs typeface="Bai Jamjuree"/>
                <a:sym typeface="Bai Jamjuree"/>
              </a:rPr>
              <a:t>Dễ Dàng Di Chuyển</a:t>
            </a:r>
            <a:endParaRPr b="0" i="0" sz="2000" u="none" cap="none" strike="noStrike">
              <a:solidFill>
                <a:srgbClr val="000000"/>
              </a:solidFill>
              <a:latin typeface="Bai Jamjuree"/>
              <a:ea typeface="Bai Jamjuree"/>
              <a:cs typeface="Bai Jamjuree"/>
              <a:sym typeface="Bai Jamjuree"/>
            </a:endParaRPr>
          </a:p>
        </p:txBody>
      </p:sp>
      <p:sp>
        <p:nvSpPr>
          <p:cNvPr id="597" name="Google Shape;597;p66"/>
          <p:cNvSpPr/>
          <p:nvPr/>
        </p:nvSpPr>
        <p:spPr>
          <a:xfrm>
            <a:off x="1513491" y="5786179"/>
            <a:ext cx="329551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Bai Jamjuree"/>
                <a:ea typeface="Bai Jamjuree"/>
                <a:cs typeface="Bai Jamjuree"/>
                <a:sym typeface="Bai Jamjuree"/>
              </a:rPr>
              <a:t>Drag &amp; drop đơn giản, snap-to-grid tự động,</a:t>
            </a:r>
            <a:endParaRPr b="0" i="0" sz="1800" u="none" cap="none" strike="noStrike">
              <a:solidFill>
                <a:srgbClr val="FFFFFF"/>
              </a:solidFill>
              <a:latin typeface="Bai Jamjuree"/>
              <a:ea typeface="Bai Jamjuree"/>
              <a:cs typeface="Bai Jamjuree"/>
              <a:sym typeface="Bai Jamjuree"/>
            </a:endParaRPr>
          </a:p>
        </p:txBody>
      </p:sp>
      <p:cxnSp>
        <p:nvCxnSpPr>
          <p:cNvPr id="598" name="Google Shape;598;p66"/>
          <p:cNvCxnSpPr/>
          <p:nvPr/>
        </p:nvCxnSpPr>
        <p:spPr>
          <a:xfrm>
            <a:off x="1513491" y="4995412"/>
            <a:ext cx="3403600" cy="0"/>
          </a:xfrm>
          <a:prstGeom prst="straightConnector1">
            <a:avLst/>
          </a:prstGeom>
          <a:noFill/>
          <a:ln cap="flat" cmpd="sng" w="12700">
            <a:solidFill>
              <a:srgbClr val="FFFFFF"/>
            </a:solidFill>
            <a:prstDash val="dash"/>
            <a:round/>
            <a:headEnd len="sm" w="sm" type="none"/>
            <a:tailEnd len="sm" w="sm" type="none"/>
          </a:ln>
        </p:spPr>
      </p:cxnSp>
      <p:sp>
        <p:nvSpPr>
          <p:cNvPr id="599" name="Google Shape;599;p66"/>
          <p:cNvSpPr/>
          <p:nvPr/>
        </p:nvSpPr>
        <p:spPr>
          <a:xfrm>
            <a:off x="13339164" y="1526190"/>
            <a:ext cx="3924935" cy="6268774"/>
          </a:xfrm>
          <a:prstGeom prst="rect">
            <a:avLst/>
          </a:prstGeom>
          <a:solidFill>
            <a:srgbClr val="015DB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00" name="Google Shape;600;p66"/>
          <p:cNvSpPr/>
          <p:nvPr/>
        </p:nvSpPr>
        <p:spPr>
          <a:xfrm>
            <a:off x="13339164" y="1526190"/>
            <a:ext cx="3924935" cy="50857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Bai Jamjuree"/>
              <a:ea typeface="Bai Jamjuree"/>
              <a:cs typeface="Bai Jamjuree"/>
              <a:sym typeface="Bai Jamjuree"/>
            </a:endParaRPr>
          </a:p>
        </p:txBody>
      </p:sp>
      <p:sp>
        <p:nvSpPr>
          <p:cNvPr id="601" name="Google Shape;601;p66"/>
          <p:cNvSpPr/>
          <p:nvPr/>
        </p:nvSpPr>
        <p:spPr>
          <a:xfrm>
            <a:off x="13497279" y="1874805"/>
            <a:ext cx="3403600"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Bai Jamjuree"/>
                <a:ea typeface="Bai Jamjuree"/>
                <a:cs typeface="Bai Jamjuree"/>
                <a:sym typeface="Bai Jamjuree"/>
              </a:rPr>
              <a:t>Kiểm soát facing count</a:t>
            </a:r>
            <a:endParaRPr/>
          </a:p>
        </p:txBody>
      </p:sp>
      <p:sp>
        <p:nvSpPr>
          <p:cNvPr id="602" name="Google Shape;602;p66"/>
          <p:cNvSpPr/>
          <p:nvPr/>
        </p:nvSpPr>
        <p:spPr>
          <a:xfrm>
            <a:off x="13481404" y="2334766"/>
            <a:ext cx="3572510" cy="170585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FFFFFF"/>
                </a:solidFill>
                <a:latin typeface="Bai Jamjuree"/>
                <a:ea typeface="Bai Jamjuree"/>
                <a:cs typeface="Bai Jamjuree"/>
                <a:sym typeface="Bai Jamjuree"/>
              </a:rPr>
              <a:t>Quản lý số lượng mặt trưng bày cho mỗi SKU, tối ưu hóa không gian và khả năng hiển thị sản</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FFFFFF"/>
                </a:solidFill>
                <a:latin typeface="Bai Jamjuree"/>
                <a:ea typeface="Bai Jamjuree"/>
                <a:cs typeface="Bai Jamjuree"/>
                <a:sym typeface="Bai Jamjuree"/>
              </a:rPr>
              <a:t>phẩm.</a:t>
            </a:r>
            <a:endParaRPr b="0" i="0" sz="1800" u="none" cap="none" strike="noStrike">
              <a:solidFill>
                <a:srgbClr val="FFFFFF"/>
              </a:solidFill>
              <a:latin typeface="Bai Jamjuree"/>
              <a:ea typeface="Bai Jamjuree"/>
              <a:cs typeface="Bai Jamjuree"/>
              <a:sym typeface="Bai Jamjuree"/>
            </a:endParaRPr>
          </a:p>
        </p:txBody>
      </p:sp>
      <p:sp>
        <p:nvSpPr>
          <p:cNvPr id="603" name="Google Shape;603;p66"/>
          <p:cNvSpPr/>
          <p:nvPr/>
        </p:nvSpPr>
        <p:spPr>
          <a:xfrm>
            <a:off x="13601421" y="5259376"/>
            <a:ext cx="3403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Data Density &amp; Control</a:t>
            </a:r>
            <a:endParaRPr/>
          </a:p>
        </p:txBody>
      </p:sp>
      <p:sp>
        <p:nvSpPr>
          <p:cNvPr id="604" name="Google Shape;604;p66"/>
          <p:cNvSpPr/>
          <p:nvPr/>
        </p:nvSpPr>
        <p:spPr>
          <a:xfrm>
            <a:off x="13558557" y="5704884"/>
            <a:ext cx="3571875" cy="129035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rgbClr val="FFFFFF"/>
                </a:solidFill>
                <a:latin typeface="Bai Jamjuree"/>
                <a:ea typeface="Bai Jamjuree"/>
                <a:cs typeface="Bai Jamjuree"/>
                <a:sym typeface="Bai Jamjuree"/>
              </a:rPr>
              <a:t>Hiển thị nhiều product information (giá, SKU, margin) trong không gian.</a:t>
            </a:r>
            <a:endParaRPr/>
          </a:p>
        </p:txBody>
      </p:sp>
      <p:cxnSp>
        <p:nvCxnSpPr>
          <p:cNvPr id="605" name="Google Shape;605;p66"/>
          <p:cNvCxnSpPr/>
          <p:nvPr/>
        </p:nvCxnSpPr>
        <p:spPr>
          <a:xfrm>
            <a:off x="13635710" y="4935466"/>
            <a:ext cx="3403600" cy="0"/>
          </a:xfrm>
          <a:prstGeom prst="straightConnector1">
            <a:avLst/>
          </a:prstGeom>
          <a:noFill/>
          <a:ln cap="flat" cmpd="sng" w="12700">
            <a:solidFill>
              <a:srgbClr val="FFFFFF"/>
            </a:solidFill>
            <a:prstDash val="dash"/>
            <a:round/>
            <a:headEnd len="sm" w="sm" type="none"/>
            <a:tailEnd len="sm" w="sm" type="none"/>
          </a:ln>
        </p:spPr>
      </p:cxnSp>
      <p:pic>
        <p:nvPicPr>
          <p:cNvPr id="606" name="Google Shape;606;p66"/>
          <p:cNvPicPr preferRelativeResize="0"/>
          <p:nvPr/>
        </p:nvPicPr>
        <p:blipFill rotWithShape="1">
          <a:blip r:embed="rId4">
            <a:alphaModFix/>
          </a:blip>
          <a:srcRect b="0" l="0" r="0" t="0"/>
          <a:stretch/>
        </p:blipFill>
        <p:spPr>
          <a:xfrm>
            <a:off x="5512229" y="1526190"/>
            <a:ext cx="7462614" cy="6268774"/>
          </a:xfrm>
          <a:prstGeom prst="rect">
            <a:avLst/>
          </a:prstGeom>
          <a:noFill/>
          <a:ln>
            <a:noFill/>
          </a:ln>
        </p:spPr>
      </p:pic>
      <p:sp>
        <p:nvSpPr>
          <p:cNvPr id="607" name="Google Shape;607;p66"/>
          <p:cNvSpPr/>
          <p:nvPr/>
        </p:nvSpPr>
        <p:spPr>
          <a:xfrm>
            <a:off x="5432845" y="1474358"/>
            <a:ext cx="7594892" cy="6372437"/>
          </a:xfrm>
          <a:custGeom>
            <a:rect b="b" l="l" r="r" t="t"/>
            <a:pathLst>
              <a:path extrusionOk="0" h="6191250" w="6096000">
                <a:moveTo>
                  <a:pt x="5925311" y="6191249"/>
                </a:moveTo>
                <a:lnTo>
                  <a:pt x="170687" y="6191249"/>
                </a:lnTo>
                <a:lnTo>
                  <a:pt x="162302" y="6191044"/>
                </a:lnTo>
                <a:lnTo>
                  <a:pt x="121139" y="6183900"/>
                </a:lnTo>
                <a:lnTo>
                  <a:pt x="82944" y="6166970"/>
                </a:lnTo>
                <a:lnTo>
                  <a:pt x="49993" y="6141256"/>
                </a:lnTo>
                <a:lnTo>
                  <a:pt x="24277" y="6108304"/>
                </a:lnTo>
                <a:lnTo>
                  <a:pt x="7347" y="6070110"/>
                </a:lnTo>
                <a:lnTo>
                  <a:pt x="204" y="6028947"/>
                </a:lnTo>
                <a:lnTo>
                  <a:pt x="0" y="6020561"/>
                </a:lnTo>
                <a:lnTo>
                  <a:pt x="0" y="170687"/>
                </a:lnTo>
                <a:lnTo>
                  <a:pt x="5116" y="129204"/>
                </a:lnTo>
                <a:lnTo>
                  <a:pt x="20152" y="90225"/>
                </a:lnTo>
                <a:lnTo>
                  <a:pt x="44208" y="56067"/>
                </a:lnTo>
                <a:lnTo>
                  <a:pt x="75858" y="28765"/>
                </a:lnTo>
                <a:lnTo>
                  <a:pt x="113194" y="9973"/>
                </a:lnTo>
                <a:lnTo>
                  <a:pt x="153957" y="819"/>
                </a:lnTo>
                <a:lnTo>
                  <a:pt x="170687" y="0"/>
                </a:lnTo>
                <a:lnTo>
                  <a:pt x="5925311" y="0"/>
                </a:lnTo>
                <a:lnTo>
                  <a:pt x="5966794" y="5116"/>
                </a:lnTo>
                <a:lnTo>
                  <a:pt x="6005773" y="20152"/>
                </a:lnTo>
                <a:lnTo>
                  <a:pt x="6039931" y="44208"/>
                </a:lnTo>
                <a:lnTo>
                  <a:pt x="6067232" y="75858"/>
                </a:lnTo>
                <a:lnTo>
                  <a:pt x="6086025" y="113193"/>
                </a:lnTo>
                <a:lnTo>
                  <a:pt x="6095179" y="153957"/>
                </a:lnTo>
                <a:lnTo>
                  <a:pt x="6095999" y="170687"/>
                </a:lnTo>
                <a:lnTo>
                  <a:pt x="6095999" y="6020561"/>
                </a:lnTo>
                <a:lnTo>
                  <a:pt x="6090882" y="6062045"/>
                </a:lnTo>
                <a:lnTo>
                  <a:pt x="6075845" y="6101023"/>
                </a:lnTo>
                <a:lnTo>
                  <a:pt x="6051790" y="6135181"/>
                </a:lnTo>
                <a:lnTo>
                  <a:pt x="6020140" y="6162482"/>
                </a:lnTo>
                <a:lnTo>
                  <a:pt x="5982805" y="6181275"/>
                </a:lnTo>
                <a:lnTo>
                  <a:pt x="5942042" y="6190429"/>
                </a:lnTo>
                <a:lnTo>
                  <a:pt x="5925311" y="6191249"/>
                </a:lnTo>
                <a:close/>
              </a:path>
            </a:pathLst>
          </a:custGeom>
          <a:solidFill>
            <a:srgbClr val="1A237D">
              <a:alpha val="2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08" name="Google Shape;608;p66"/>
          <p:cNvSpPr txBox="1"/>
          <p:nvPr/>
        </p:nvSpPr>
        <p:spPr>
          <a:xfrm>
            <a:off x="5512229" y="5981661"/>
            <a:ext cx="7346521" cy="1132811"/>
          </a:xfrm>
          <a:prstGeom prst="rect">
            <a:avLst/>
          </a:prstGeom>
          <a:noFill/>
          <a:ln>
            <a:noFill/>
          </a:ln>
        </p:spPr>
        <p:txBody>
          <a:bodyPr anchorCtr="0" anchor="t" bIns="0" lIns="0" spcFirstLastPara="1" rIns="0" wrap="square" tIns="15225">
            <a:spAutoFit/>
          </a:bodyPr>
          <a:lstStyle/>
          <a:p>
            <a:pPr indent="0" lvl="0" marL="12700" marR="5080" rtl="0" algn="ctr">
              <a:lnSpc>
                <a:spcPct val="100000"/>
              </a:lnSpc>
              <a:spcBef>
                <a:spcPts val="0"/>
              </a:spcBef>
              <a:spcAft>
                <a:spcPts val="0"/>
              </a:spcAft>
              <a:buNone/>
            </a:pPr>
            <a:r>
              <a:rPr b="1" i="0" lang="en-US" sz="2500" u="none" cap="none" strike="noStrike">
                <a:solidFill>
                  <a:srgbClr val="FFFFFF"/>
                </a:solidFill>
                <a:latin typeface="Bai Jamjuree"/>
                <a:ea typeface="Bai Jamjuree"/>
                <a:cs typeface="Bai Jamjuree"/>
                <a:sym typeface="Bai Jamjuree"/>
              </a:rPr>
              <a:t>CHÍNH XÁC TỪNG CHI TIẾT: SẮP XẾP SẢN PHẨM HOÀN HẢO</a:t>
            </a:r>
            <a:endParaRPr b="0" i="0" sz="2500" u="none" cap="none" strike="noStrike">
              <a:solidFill>
                <a:srgbClr val="000000"/>
              </a:solidFill>
              <a:latin typeface="Bai Jamjuree"/>
              <a:ea typeface="Bai Jamjuree"/>
              <a:cs typeface="Bai Jamjuree"/>
              <a:sym typeface="Bai Jamjuree"/>
            </a:endParaRPr>
          </a:p>
          <a:p>
            <a:pPr indent="0" lvl="0" marL="203834" marR="196215" rtl="0" algn="ctr">
              <a:lnSpc>
                <a:spcPct val="117600"/>
              </a:lnSpc>
              <a:spcBef>
                <a:spcPts val="515"/>
              </a:spcBef>
              <a:spcAft>
                <a:spcPts val="0"/>
              </a:spcAft>
              <a:buNone/>
            </a:pPr>
            <a:r>
              <a:rPr b="0" i="1" lang="en-US" sz="1700" u="none" cap="none" strike="noStrike">
                <a:solidFill>
                  <a:srgbClr val="FFFFFF"/>
                </a:solidFill>
                <a:latin typeface="Bai Jamjuree"/>
                <a:ea typeface="Bai Jamjuree"/>
                <a:cs typeface="Bai Jamjuree"/>
                <a:sym typeface="Bai Jamjuree"/>
              </a:rPr>
              <a:t>“Mỗi SKU đều có vị trí tối ưu, mỗi kệ đều được tối ưu hóa.”</a:t>
            </a:r>
            <a:endParaRPr b="0" i="0" sz="1700" u="none" cap="none" strike="noStrike">
              <a:solidFill>
                <a:srgbClr val="000000"/>
              </a:solidFill>
              <a:latin typeface="Bai Jamjuree"/>
              <a:ea typeface="Bai Jamjuree"/>
              <a:cs typeface="Bai Jamjuree"/>
              <a:sym typeface="Bai Jamjuree"/>
            </a:endParaRPr>
          </a:p>
        </p:txBody>
      </p:sp>
      <p:sp>
        <p:nvSpPr>
          <p:cNvPr id="609" name="Google Shape;609;p66"/>
          <p:cNvSpPr/>
          <p:nvPr/>
        </p:nvSpPr>
        <p:spPr>
          <a:xfrm>
            <a:off x="1457468" y="7232123"/>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lt1"/>
          </a:solidFill>
          <a:ln cap="flat" cmpd="sng" w="2540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600" u="none" cap="none" strike="noStrike">
                <a:solidFill>
                  <a:srgbClr val="0050AB"/>
                </a:solidFill>
                <a:latin typeface="Bai Jamjuree"/>
                <a:ea typeface="Bai Jamjuree"/>
                <a:cs typeface="Bai Jamjuree"/>
                <a:sym typeface="Bai Jamjuree"/>
              </a:rPr>
              <a:t>Tiết kiệm thời gian</a:t>
            </a:r>
            <a:endParaRPr b="1" i="0" sz="1600" u="none" cap="none" strike="noStrike">
              <a:solidFill>
                <a:srgbClr val="0050AB"/>
              </a:solidFill>
              <a:latin typeface="Bai Jamjuree"/>
              <a:ea typeface="Bai Jamjuree"/>
              <a:cs typeface="Bai Jamjuree"/>
              <a:sym typeface="Bai Jamjuree"/>
            </a:endParaRPr>
          </a:p>
        </p:txBody>
      </p:sp>
      <p:sp>
        <p:nvSpPr>
          <p:cNvPr id="610" name="Google Shape;610;p66"/>
          <p:cNvSpPr/>
          <p:nvPr/>
        </p:nvSpPr>
        <p:spPr>
          <a:xfrm>
            <a:off x="1457468" y="4385595"/>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lt1"/>
          </a:solidFill>
          <a:ln cap="flat" cmpd="sng" w="2540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600" u="none" cap="none" strike="noStrike">
                <a:solidFill>
                  <a:srgbClr val="0050AB"/>
                </a:solidFill>
                <a:latin typeface="Bai Jamjuree"/>
                <a:ea typeface="Bai Jamjuree"/>
                <a:cs typeface="Bai Jamjuree"/>
                <a:sym typeface="Bai Jamjuree"/>
              </a:rPr>
              <a:t>Tối ưu không gian</a:t>
            </a:r>
            <a:endParaRPr b="1" i="0" sz="1600" u="none" cap="none" strike="noStrike">
              <a:solidFill>
                <a:srgbClr val="0050AB"/>
              </a:solidFill>
              <a:latin typeface="Bai Jamjuree"/>
              <a:ea typeface="Bai Jamjuree"/>
              <a:cs typeface="Bai Jamjuree"/>
              <a:sym typeface="Bai Jamjuree"/>
            </a:endParaRPr>
          </a:p>
        </p:txBody>
      </p:sp>
      <p:sp>
        <p:nvSpPr>
          <p:cNvPr id="611" name="Google Shape;611;p66"/>
          <p:cNvSpPr/>
          <p:nvPr/>
        </p:nvSpPr>
        <p:spPr>
          <a:xfrm>
            <a:off x="13635710" y="4318453"/>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lt1"/>
          </a:solidFill>
          <a:ln cap="flat" cmpd="sng" w="2540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600" u="none" cap="none" strike="noStrike">
                <a:solidFill>
                  <a:srgbClr val="0050AB"/>
                </a:solidFill>
                <a:latin typeface="Bai Jamjuree"/>
                <a:ea typeface="Bai Jamjuree"/>
                <a:cs typeface="Bai Jamjuree"/>
                <a:sym typeface="Bai Jamjuree"/>
              </a:rPr>
              <a:t>Tối ưu tồn kho</a:t>
            </a:r>
            <a:endParaRPr b="1" i="0" sz="1600" u="none" cap="none" strike="noStrike">
              <a:solidFill>
                <a:srgbClr val="0050AB"/>
              </a:solidFill>
              <a:latin typeface="Bai Jamjuree"/>
              <a:ea typeface="Bai Jamjuree"/>
              <a:cs typeface="Bai Jamjuree"/>
              <a:sym typeface="Bai Jamjuree"/>
            </a:endParaRPr>
          </a:p>
        </p:txBody>
      </p:sp>
      <p:sp>
        <p:nvSpPr>
          <p:cNvPr id="612" name="Google Shape;612;p66"/>
          <p:cNvSpPr/>
          <p:nvPr/>
        </p:nvSpPr>
        <p:spPr>
          <a:xfrm>
            <a:off x="13635710" y="7146464"/>
            <a:ext cx="3418204" cy="396061"/>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chemeClr val="lt1"/>
          </a:solidFill>
          <a:ln cap="flat" cmpd="sng" w="2540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600" u="none" cap="none" strike="noStrike">
                <a:solidFill>
                  <a:srgbClr val="0050AB"/>
                </a:solidFill>
                <a:latin typeface="Bai Jamjuree"/>
                <a:ea typeface="Bai Jamjuree"/>
                <a:cs typeface="Bai Jamjuree"/>
                <a:sym typeface="Bai Jamjuree"/>
              </a:rPr>
              <a:t>Thân thiện người dùng</a:t>
            </a:r>
            <a:endParaRPr b="1" i="0" sz="1600" u="none" cap="none" strike="noStrike">
              <a:solidFill>
                <a:srgbClr val="0050AB"/>
              </a:solidFill>
              <a:latin typeface="Bai Jamjuree"/>
              <a:ea typeface="Bai Jamjuree"/>
              <a:cs typeface="Bai Jamjuree"/>
              <a:sym typeface="Bai Jamjure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p67"/>
          <p:cNvPicPr preferRelativeResize="0"/>
          <p:nvPr/>
        </p:nvPicPr>
        <p:blipFill rotWithShape="1">
          <a:blip r:embed="rId3">
            <a:alphaModFix/>
          </a:blip>
          <a:srcRect b="0" l="0" r="0" t="0"/>
          <a:stretch/>
        </p:blipFill>
        <p:spPr>
          <a:xfrm>
            <a:off x="1803383" y="2008933"/>
            <a:ext cx="13260651" cy="6580348"/>
          </a:xfrm>
          <a:prstGeom prst="rect">
            <a:avLst/>
          </a:prstGeom>
          <a:noFill/>
          <a:ln>
            <a:noFill/>
          </a:ln>
          <a:effectLst>
            <a:outerShdw blurRad="292100" rotWithShape="0" algn="tl" dir="2700000" dist="139700">
              <a:srgbClr val="333333">
                <a:alpha val="64705"/>
              </a:srgbClr>
            </a:outerShdw>
          </a:effectLst>
        </p:spPr>
      </p:pic>
      <p:sp>
        <p:nvSpPr>
          <p:cNvPr id="618" name="Google Shape;618;p67"/>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19" name="Google Shape;619;p67"/>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620" name="Google Shape;620;p67"/>
          <p:cNvGrpSpPr/>
          <p:nvPr/>
        </p:nvGrpSpPr>
        <p:grpSpPr>
          <a:xfrm>
            <a:off x="5776170" y="9896475"/>
            <a:ext cx="6735680" cy="408188"/>
            <a:chOff x="0" y="0"/>
            <a:chExt cx="8980907" cy="544250"/>
          </a:xfrm>
        </p:grpSpPr>
        <p:sp>
          <p:nvSpPr>
            <p:cNvPr id="621" name="Google Shape;621;p67"/>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22" name="Google Shape;622;p67"/>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623" name="Google Shape;623;p67"/>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624" name="Google Shape;624;p67"/>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25" name="Google Shape;625;p67"/>
          <p:cNvSpPr txBox="1"/>
          <p:nvPr/>
        </p:nvSpPr>
        <p:spPr>
          <a:xfrm>
            <a:off x="3079474" y="1234278"/>
            <a:ext cx="10708467" cy="443198"/>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2400" u="none" cap="none" strike="noStrike">
                <a:solidFill>
                  <a:srgbClr val="0050AB"/>
                </a:solidFill>
                <a:latin typeface="Bai Jamjuree"/>
                <a:ea typeface="Bai Jamjuree"/>
                <a:cs typeface="Bai Jamjuree"/>
                <a:sym typeface="Bai Jamjuree"/>
              </a:rPr>
              <a:t>Show Heatmap với AI thông minh</a:t>
            </a:r>
            <a:endParaRPr b="1" i="0" sz="2400" u="none" cap="none" strike="noStrike">
              <a:solidFill>
                <a:srgbClr val="0050AB"/>
              </a:solidFill>
              <a:latin typeface="Bai Jamjuree"/>
              <a:ea typeface="Bai Jamjuree"/>
              <a:cs typeface="Bai Jamjuree"/>
              <a:sym typeface="Bai Jamjuree"/>
            </a:endParaRPr>
          </a:p>
        </p:txBody>
      </p:sp>
      <p:sp>
        <p:nvSpPr>
          <p:cNvPr id="626" name="Google Shape;626;p67"/>
          <p:cNvSpPr/>
          <p:nvPr/>
        </p:nvSpPr>
        <p:spPr>
          <a:xfrm>
            <a:off x="641950" y="5442906"/>
            <a:ext cx="2309843" cy="1139058"/>
          </a:xfrm>
          <a:prstGeom prst="wedgeRoundRectCallout">
            <a:avLst>
              <a:gd fmla="val 48786" name="adj1"/>
              <a:gd fmla="val 87879"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Bai Jamjuree"/>
                <a:ea typeface="Bai Jamjuree"/>
                <a:cs typeface="Bai Jamjuree"/>
                <a:sym typeface="Bai Jamjuree"/>
              </a:rPr>
              <a:t>Chọn các Type để hiển thị </a:t>
            </a:r>
            <a:r>
              <a:rPr b="0" i="0" lang="en-US" sz="1800" u="none" cap="none" strike="noStrike">
                <a:solidFill>
                  <a:srgbClr val="1A237D"/>
                </a:solidFill>
                <a:latin typeface="Bai Jamjuree"/>
                <a:ea typeface="Bai Jamjuree"/>
                <a:cs typeface="Bai Jamjuree"/>
                <a:sym typeface="Bai Jamjuree"/>
              </a:rPr>
              <a:t>heatmap</a:t>
            </a:r>
            <a:endParaRPr/>
          </a:p>
        </p:txBody>
      </p:sp>
      <p:sp>
        <p:nvSpPr>
          <p:cNvPr id="627" name="Google Shape;627;p67"/>
          <p:cNvSpPr/>
          <p:nvPr/>
        </p:nvSpPr>
        <p:spPr>
          <a:xfrm>
            <a:off x="7852992" y="6302888"/>
            <a:ext cx="3554731" cy="1359069"/>
          </a:xfrm>
          <a:prstGeom prst="wedgeRoundRectCallout">
            <a:avLst>
              <a:gd fmla="val -25611" name="adj1"/>
              <a:gd fmla="val -93621" name="adj2"/>
              <a:gd fmla="val 16667" name="adj3"/>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FF0000"/>
                </a:solidFill>
                <a:latin typeface="Bai Jamjuree"/>
                <a:ea typeface="Bai Jamjuree"/>
                <a:cs typeface="Bai Jamjuree"/>
                <a:sym typeface="Bai Jamjuree"/>
              </a:rPr>
              <a:t>AI nhuộm đỏ vùng kệ bánh kẹo, chỉ ra khu vực tồn kho bán chậm, cần ưu tiên xử lý</a:t>
            </a:r>
            <a:endParaRPr b="0" i="0" sz="1800" u="none" cap="none" strike="noStrike">
              <a:solidFill>
                <a:srgbClr val="FF0000"/>
              </a:solidFill>
              <a:latin typeface="Bai Jamjuree"/>
              <a:ea typeface="Bai Jamjuree"/>
              <a:cs typeface="Bai Jamjuree"/>
              <a:sym typeface="Bai Jamjuree"/>
            </a:endParaRPr>
          </a:p>
        </p:txBody>
      </p:sp>
      <p:sp>
        <p:nvSpPr>
          <p:cNvPr id="628" name="Google Shape;628;p67"/>
          <p:cNvSpPr/>
          <p:nvPr/>
        </p:nvSpPr>
        <p:spPr>
          <a:xfrm>
            <a:off x="4632542" y="2967312"/>
            <a:ext cx="2760235" cy="1139058"/>
          </a:xfrm>
          <a:prstGeom prst="wedgeRoundRectCallout">
            <a:avLst>
              <a:gd fmla="val 29675" name="adj1"/>
              <a:gd fmla="val 92031" name="adj2"/>
              <a:gd fmla="val 16667" name="adj3"/>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00B050"/>
                </a:solidFill>
                <a:latin typeface="Bai Jamjuree"/>
                <a:ea typeface="Bai Jamjuree"/>
                <a:cs typeface="Bai Jamjuree"/>
                <a:sym typeface="Bai Jamjuree"/>
              </a:rPr>
              <a:t>Vùng xanh lá cho thấy doanh thu khu vực này đang tốt</a:t>
            </a:r>
            <a:endParaRPr b="0" i="0" sz="1800" u="none" cap="none" strike="noStrike">
              <a:solidFill>
                <a:srgbClr val="00B050"/>
              </a:solidFill>
              <a:latin typeface="Bai Jamjuree"/>
              <a:ea typeface="Bai Jamjuree"/>
              <a:cs typeface="Bai Jamjuree"/>
              <a:sym typeface="Bai Jamjuree"/>
            </a:endParaRPr>
          </a:p>
        </p:txBody>
      </p:sp>
      <p:sp>
        <p:nvSpPr>
          <p:cNvPr id="629" name="Google Shape;629;p67"/>
          <p:cNvSpPr/>
          <p:nvPr/>
        </p:nvSpPr>
        <p:spPr>
          <a:xfrm>
            <a:off x="2074723" y="9052722"/>
            <a:ext cx="38100" cy="600075"/>
          </a:xfrm>
          <a:custGeom>
            <a:rect b="b" l="l" r="r" t="t"/>
            <a:pathLst>
              <a:path extrusionOk="0" h="600075" w="38100">
                <a:moveTo>
                  <a:pt x="38099" y="600074"/>
                </a:moveTo>
                <a:lnTo>
                  <a:pt x="0" y="600074"/>
                </a:lnTo>
                <a:lnTo>
                  <a:pt x="0" y="0"/>
                </a:lnTo>
                <a:lnTo>
                  <a:pt x="38099" y="0"/>
                </a:lnTo>
                <a:lnTo>
                  <a:pt x="38099" y="600074"/>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30" name="Google Shape;630;p67"/>
          <p:cNvSpPr txBox="1"/>
          <p:nvPr/>
        </p:nvSpPr>
        <p:spPr>
          <a:xfrm>
            <a:off x="2095829" y="9089376"/>
            <a:ext cx="14995688"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Người quản lý dễ dàng nhận biết ngay khu vực nào hiệu quả, khu vực nào cần cải thiện mà không phải phân tích số liệu rời rạc. Giúp tiết kiệm thời gian so với việc làm thủ công, đồng thời tăng độ chính xác trong quản lý cửa hàng</a:t>
            </a:r>
            <a:endParaRPr b="0" i="0" sz="1600" u="none" cap="none" strike="noStrike">
              <a:solidFill>
                <a:srgbClr val="1A237D"/>
              </a:solidFill>
              <a:latin typeface="Bai Jamjuree"/>
              <a:ea typeface="Bai Jamjuree"/>
              <a:cs typeface="Bai Jamjuree"/>
              <a:sym typeface="Bai Jamjuree"/>
            </a:endParaRPr>
          </a:p>
        </p:txBody>
      </p:sp>
      <p:sp>
        <p:nvSpPr>
          <p:cNvPr id="631" name="Google Shape;631;p67"/>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FOOT FALL &amp; HEADMAP THÔNG MINH</a:t>
            </a:r>
            <a:endParaRPr/>
          </a:p>
        </p:txBody>
      </p:sp>
      <p:sp>
        <p:nvSpPr>
          <p:cNvPr id="632" name="Google Shape;632;p67"/>
          <p:cNvSpPr txBox="1"/>
          <p:nvPr/>
        </p:nvSpPr>
        <p:spPr>
          <a:xfrm>
            <a:off x="716913" y="262207"/>
            <a:ext cx="8673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8"/>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38" name="Google Shape;638;p68"/>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639" name="Google Shape;639;p68"/>
          <p:cNvGrpSpPr/>
          <p:nvPr/>
        </p:nvGrpSpPr>
        <p:grpSpPr>
          <a:xfrm>
            <a:off x="5776170" y="9896475"/>
            <a:ext cx="6735680" cy="408188"/>
            <a:chOff x="0" y="0"/>
            <a:chExt cx="8980907" cy="544250"/>
          </a:xfrm>
        </p:grpSpPr>
        <p:sp>
          <p:nvSpPr>
            <p:cNvPr id="640" name="Google Shape;640;p68"/>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41" name="Google Shape;641;p68"/>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642" name="Google Shape;642;p68"/>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643" name="Google Shape;643;p68"/>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44" name="Google Shape;644;p68"/>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FOOT FALL &amp; HEADMAP THÔNG MINH</a:t>
            </a:r>
            <a:endParaRPr/>
          </a:p>
        </p:txBody>
      </p:sp>
      <p:sp>
        <p:nvSpPr>
          <p:cNvPr id="645" name="Google Shape;645;p68"/>
          <p:cNvSpPr txBox="1"/>
          <p:nvPr/>
        </p:nvSpPr>
        <p:spPr>
          <a:xfrm>
            <a:off x="716913" y="262207"/>
            <a:ext cx="6932115"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pic>
        <p:nvPicPr>
          <p:cNvPr id="646" name="Google Shape;646;p68"/>
          <p:cNvPicPr preferRelativeResize="0"/>
          <p:nvPr/>
        </p:nvPicPr>
        <p:blipFill rotWithShape="1">
          <a:blip r:embed="rId4">
            <a:alphaModFix/>
          </a:blip>
          <a:srcRect b="0" l="0" r="0" t="0"/>
          <a:stretch/>
        </p:blipFill>
        <p:spPr>
          <a:xfrm>
            <a:off x="716914" y="1835587"/>
            <a:ext cx="5233874" cy="5064519"/>
          </a:xfrm>
          <a:prstGeom prst="rect">
            <a:avLst/>
          </a:prstGeom>
          <a:noFill/>
          <a:ln>
            <a:noFill/>
          </a:ln>
        </p:spPr>
      </p:pic>
      <p:sp>
        <p:nvSpPr>
          <p:cNvPr id="647" name="Google Shape;647;p68"/>
          <p:cNvSpPr txBox="1"/>
          <p:nvPr/>
        </p:nvSpPr>
        <p:spPr>
          <a:xfrm>
            <a:off x="913113" y="7345069"/>
            <a:ext cx="428384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Hành vi, flow di chuyển của khách hàng sẽ được camera thu lại</a:t>
            </a:r>
            <a:endParaRPr b="0" i="0" sz="1600" u="none" cap="none" strike="noStrike">
              <a:solidFill>
                <a:srgbClr val="1A237D"/>
              </a:solidFill>
              <a:latin typeface="Bai Jamjuree"/>
              <a:ea typeface="Bai Jamjuree"/>
              <a:cs typeface="Bai Jamjuree"/>
              <a:sym typeface="Bai Jamjuree"/>
            </a:endParaRPr>
          </a:p>
        </p:txBody>
      </p:sp>
      <p:pic>
        <p:nvPicPr>
          <p:cNvPr id="648" name="Google Shape;648;p68"/>
          <p:cNvPicPr preferRelativeResize="0"/>
          <p:nvPr/>
        </p:nvPicPr>
        <p:blipFill rotWithShape="1">
          <a:blip r:embed="rId5">
            <a:alphaModFix/>
          </a:blip>
          <a:srcRect b="0" l="0" r="0" t="0"/>
          <a:stretch/>
        </p:blipFill>
        <p:spPr>
          <a:xfrm>
            <a:off x="5820124" y="4539636"/>
            <a:ext cx="1565414" cy="891665"/>
          </a:xfrm>
          <a:prstGeom prst="rect">
            <a:avLst/>
          </a:prstGeom>
          <a:noFill/>
          <a:ln>
            <a:noFill/>
          </a:ln>
        </p:spPr>
      </p:pic>
      <p:pic>
        <p:nvPicPr>
          <p:cNvPr id="649" name="Google Shape;649;p68"/>
          <p:cNvPicPr preferRelativeResize="0"/>
          <p:nvPr/>
        </p:nvPicPr>
        <p:blipFill rotWithShape="1">
          <a:blip r:embed="rId6">
            <a:alphaModFix/>
          </a:blip>
          <a:srcRect b="0" l="0" r="0" t="0"/>
          <a:stretch/>
        </p:blipFill>
        <p:spPr>
          <a:xfrm>
            <a:off x="8306490" y="1030193"/>
            <a:ext cx="8952810" cy="6075695"/>
          </a:xfrm>
          <a:prstGeom prst="rect">
            <a:avLst/>
          </a:prstGeom>
          <a:noFill/>
          <a:ln>
            <a:noFill/>
          </a:ln>
          <a:effectLst>
            <a:outerShdw blurRad="292100" rotWithShape="0" algn="tl" dir="2700000" dist="139700">
              <a:srgbClr val="333333">
                <a:alpha val="64705"/>
              </a:srgbClr>
            </a:outerShdw>
          </a:effectLst>
        </p:spPr>
      </p:pic>
      <p:sp>
        <p:nvSpPr>
          <p:cNvPr id="650" name="Google Shape;650;p68"/>
          <p:cNvSpPr txBox="1"/>
          <p:nvPr/>
        </p:nvSpPr>
        <p:spPr>
          <a:xfrm>
            <a:off x="9045526" y="7491434"/>
            <a:ext cx="7593809"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Data từ camera sẽ được xử lý </a:t>
            </a:r>
            <a:r>
              <a:rPr b="1" i="0" lang="en-US" sz="1600" u="none" cap="none" strike="noStrike">
                <a:solidFill>
                  <a:srgbClr val="1A237D"/>
                </a:solidFill>
                <a:latin typeface="Bai Jamjuree"/>
                <a:ea typeface="Bai Jamjuree"/>
                <a:cs typeface="Bai Jamjuree"/>
                <a:sym typeface="Bai Jamjuree"/>
              </a:rPr>
              <a:t>và</a:t>
            </a:r>
            <a:r>
              <a:rPr b="0" i="0" lang="en-US" sz="1600" u="none" cap="none" strike="noStrike">
                <a:solidFill>
                  <a:srgbClr val="1A237D"/>
                </a:solidFill>
                <a:latin typeface="Bai Jamjuree"/>
                <a:ea typeface="Bai Jamjuree"/>
                <a:cs typeface="Bai Jamjuree"/>
                <a:sym typeface="Bai Jamjuree"/>
              </a:rPr>
              <a:t> đồng bộ, hiển thị heatmap trên tool</a:t>
            </a:r>
            <a:endParaRPr b="0" i="0" sz="1600" u="none" cap="none" strike="noStrike">
              <a:solidFill>
                <a:srgbClr val="1A237D"/>
              </a:solidFill>
              <a:latin typeface="Bai Jamjuree"/>
              <a:ea typeface="Bai Jamjuree"/>
              <a:cs typeface="Bai Jamjuree"/>
              <a:sym typeface="Bai Jamjuree"/>
            </a:endParaRPr>
          </a:p>
        </p:txBody>
      </p:sp>
      <p:sp>
        <p:nvSpPr>
          <p:cNvPr id="651" name="Google Shape;651;p68"/>
          <p:cNvSpPr/>
          <p:nvPr/>
        </p:nvSpPr>
        <p:spPr>
          <a:xfrm>
            <a:off x="6980752" y="1613824"/>
            <a:ext cx="4566030" cy="1139058"/>
          </a:xfrm>
          <a:prstGeom prst="wedgeRoundRectCallout">
            <a:avLst>
              <a:gd fmla="val 73683" name="adj1"/>
              <a:gd fmla="val 123035"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Vùng nào màu càng đậm càng thể hiện rằng vị trí đó khách hàng càng quan tâm tới sản phẩm</a:t>
            </a:r>
            <a:endParaRPr b="0" i="0" sz="1800" u="none" cap="none" strike="noStrike">
              <a:solidFill>
                <a:schemeClr val="dk2"/>
              </a:solidFill>
              <a:latin typeface="Bai Jamjuree"/>
              <a:ea typeface="Bai Jamjuree"/>
              <a:cs typeface="Bai Jamjuree"/>
              <a:sym typeface="Bai Jamjuree"/>
            </a:endParaRPr>
          </a:p>
        </p:txBody>
      </p:sp>
      <p:sp>
        <p:nvSpPr>
          <p:cNvPr id="652" name="Google Shape;652;p68"/>
          <p:cNvSpPr txBox="1"/>
          <p:nvPr/>
        </p:nvSpPr>
        <p:spPr>
          <a:xfrm>
            <a:off x="628866" y="1254680"/>
            <a:ext cx="491559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Hiển thị vùng Footfall</a:t>
            </a:r>
            <a:endParaRPr b="1" i="0" sz="2249" u="none" cap="none" strike="noStrike">
              <a:solidFill>
                <a:srgbClr val="0050AB"/>
              </a:solidFill>
              <a:latin typeface="Bai Jamjuree"/>
              <a:ea typeface="Bai Jamjuree"/>
              <a:cs typeface="Bai Jamjuree"/>
              <a:sym typeface="Bai Jamjuree"/>
            </a:endParaRPr>
          </a:p>
        </p:txBody>
      </p:sp>
      <p:sp>
        <p:nvSpPr>
          <p:cNvPr id="653" name="Google Shape;653;p68"/>
          <p:cNvSpPr/>
          <p:nvPr/>
        </p:nvSpPr>
        <p:spPr>
          <a:xfrm>
            <a:off x="1121699" y="8484601"/>
            <a:ext cx="38100" cy="600075"/>
          </a:xfrm>
          <a:custGeom>
            <a:rect b="b" l="l" r="r" t="t"/>
            <a:pathLst>
              <a:path extrusionOk="0" h="600075" w="38100">
                <a:moveTo>
                  <a:pt x="38099" y="600074"/>
                </a:moveTo>
                <a:lnTo>
                  <a:pt x="0" y="600074"/>
                </a:lnTo>
                <a:lnTo>
                  <a:pt x="0" y="0"/>
                </a:lnTo>
                <a:lnTo>
                  <a:pt x="38099" y="0"/>
                </a:lnTo>
                <a:lnTo>
                  <a:pt x="38099" y="600074"/>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54" name="Google Shape;654;p68"/>
          <p:cNvSpPr txBox="1"/>
          <p:nvPr/>
        </p:nvSpPr>
        <p:spPr>
          <a:xfrm>
            <a:off x="1196483" y="8666254"/>
            <a:ext cx="14995688"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Người quản lý dễ dàng nhận biết vị trí nào cần đặt sản phẩm chiến lược vào đúng vị trí thu hút khách nhất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9"/>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64" name="Google Shape;664;p69"/>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665" name="Google Shape;665;p69"/>
          <p:cNvGrpSpPr/>
          <p:nvPr/>
        </p:nvGrpSpPr>
        <p:grpSpPr>
          <a:xfrm>
            <a:off x="5776170" y="9896475"/>
            <a:ext cx="6735680" cy="408188"/>
            <a:chOff x="0" y="0"/>
            <a:chExt cx="8980907" cy="544250"/>
          </a:xfrm>
        </p:grpSpPr>
        <p:sp>
          <p:nvSpPr>
            <p:cNvPr id="666" name="Google Shape;666;p69"/>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67" name="Google Shape;667;p69"/>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668" name="Google Shape;668;p69"/>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669" name="Google Shape;669;p69"/>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70" name="Google Shape;670;p69"/>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FOOT FALL &amp; HEADMAP THÔNG MINH</a:t>
            </a:r>
            <a:endParaRPr/>
          </a:p>
        </p:txBody>
      </p:sp>
      <p:sp>
        <p:nvSpPr>
          <p:cNvPr id="671" name="Google Shape;671;p69"/>
          <p:cNvSpPr txBox="1"/>
          <p:nvPr/>
        </p:nvSpPr>
        <p:spPr>
          <a:xfrm>
            <a:off x="716913" y="262207"/>
            <a:ext cx="76578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672" name="Google Shape;672;p69"/>
          <p:cNvSpPr/>
          <p:nvPr/>
        </p:nvSpPr>
        <p:spPr>
          <a:xfrm>
            <a:off x="1316828" y="2522621"/>
            <a:ext cx="7920290" cy="1752600"/>
          </a:xfrm>
          <a:custGeom>
            <a:rect b="b" l="l" r="r" t="t"/>
            <a:pathLst>
              <a:path extrusionOk="0" h="1752600" w="5572125">
                <a:moveTo>
                  <a:pt x="5492384" y="1752599"/>
                </a:moveTo>
                <a:lnTo>
                  <a:pt x="61941" y="1752599"/>
                </a:lnTo>
                <a:lnTo>
                  <a:pt x="57629" y="1752052"/>
                </a:lnTo>
                <a:lnTo>
                  <a:pt x="22495" y="1731565"/>
                </a:lnTo>
                <a:lnTo>
                  <a:pt x="3380" y="1694737"/>
                </a:lnTo>
                <a:lnTo>
                  <a:pt x="0" y="1672859"/>
                </a:lnTo>
                <a:lnTo>
                  <a:pt x="0" y="1667255"/>
                </a:lnTo>
                <a:lnTo>
                  <a:pt x="0" y="79740"/>
                </a:lnTo>
                <a:lnTo>
                  <a:pt x="8754" y="42588"/>
                </a:lnTo>
                <a:lnTo>
                  <a:pt x="33082" y="11269"/>
                </a:lnTo>
                <a:lnTo>
                  <a:pt x="61941" y="0"/>
                </a:lnTo>
                <a:lnTo>
                  <a:pt x="5492384" y="0"/>
                </a:lnTo>
                <a:lnTo>
                  <a:pt x="5529535" y="11269"/>
                </a:lnTo>
                <a:lnTo>
                  <a:pt x="5560853" y="42588"/>
                </a:lnTo>
                <a:lnTo>
                  <a:pt x="5572124" y="79740"/>
                </a:lnTo>
                <a:lnTo>
                  <a:pt x="5572124" y="1672859"/>
                </a:lnTo>
                <a:lnTo>
                  <a:pt x="5560853" y="1710010"/>
                </a:lnTo>
                <a:lnTo>
                  <a:pt x="5529535" y="1741329"/>
                </a:lnTo>
                <a:lnTo>
                  <a:pt x="5497934" y="1752052"/>
                </a:lnTo>
                <a:lnTo>
                  <a:pt x="5492384" y="1752599"/>
                </a:lnTo>
                <a:close/>
              </a:path>
            </a:pathLst>
          </a:custGeom>
          <a:gradFill>
            <a:gsLst>
              <a:gs pos="0">
                <a:srgbClr val="8CDE9E"/>
              </a:gs>
              <a:gs pos="50000">
                <a:srgbClr val="BAE8C3"/>
              </a:gs>
              <a:gs pos="100000">
                <a:srgbClr val="DEF2E1"/>
              </a:gs>
            </a:gsLst>
            <a:lin ang="27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673" name="Google Shape;673;p69"/>
          <p:cNvSpPr/>
          <p:nvPr/>
        </p:nvSpPr>
        <p:spPr>
          <a:xfrm>
            <a:off x="1277479" y="2523831"/>
            <a:ext cx="111019"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6" y="0"/>
                </a:lnTo>
                <a:lnTo>
                  <a:pt x="73052" y="1815"/>
                </a:lnTo>
                <a:lnTo>
                  <a:pt x="61476" y="10477"/>
                </a:lnTo>
                <a:lnTo>
                  <a:pt x="43684" y="44722"/>
                </a:lnTo>
                <a:lnTo>
                  <a:pt x="38100" y="84994"/>
                </a:lnTo>
                <a:lnTo>
                  <a:pt x="38100" y="1666906"/>
                </a:lnTo>
                <a:lnTo>
                  <a:pt x="43684" y="1707177"/>
                </a:lnTo>
                <a:lnTo>
                  <a:pt x="61476" y="1741422"/>
                </a:lnTo>
                <a:lnTo>
                  <a:pt x="73052" y="1750084"/>
                </a:lnTo>
                <a:lnTo>
                  <a:pt x="78106" y="1751900"/>
                </a:lnTo>
                <a:close/>
              </a:path>
            </a:pathLst>
          </a:custGeom>
          <a:solidFill>
            <a:srgbClr val="00B05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74" name="Google Shape;674;p69"/>
          <p:cNvSpPr txBox="1"/>
          <p:nvPr/>
        </p:nvSpPr>
        <p:spPr>
          <a:xfrm>
            <a:off x="1640639" y="3019048"/>
            <a:ext cx="7107355" cy="1081578"/>
          </a:xfrm>
          <a:prstGeom prst="rect">
            <a:avLst/>
          </a:prstGeom>
          <a:noFill/>
          <a:ln>
            <a:noFill/>
          </a:ln>
        </p:spPr>
        <p:txBody>
          <a:bodyPr anchorCtr="0" anchor="t" bIns="0" lIns="0" spcFirstLastPara="1" rIns="0" wrap="square" tIns="16500">
            <a:spAutoFit/>
          </a:bodyPr>
          <a:lstStyle/>
          <a:p>
            <a:pPr indent="0" lvl="0" marL="12700" marR="0" rtl="0" algn="l">
              <a:lnSpc>
                <a:spcPct val="150000"/>
              </a:lnSpc>
              <a:spcBef>
                <a:spcPts val="0"/>
              </a:spcBef>
              <a:spcAft>
                <a:spcPts val="0"/>
              </a:spcAft>
              <a:buNone/>
            </a:pPr>
            <a:r>
              <a:rPr b="0" i="0" lang="en-US" sz="1600" u="none" cap="none" strike="noStrike">
                <a:solidFill>
                  <a:schemeClr val="dk1"/>
                </a:solidFill>
                <a:latin typeface="Bai Jamjuree"/>
                <a:ea typeface="Bai Jamjuree"/>
                <a:cs typeface="Bai Jamjuree"/>
                <a:sym typeface="Bai Jamjuree"/>
              </a:rPr>
              <a:t>- Xác định được “điểm nóng” (hot zone) để bố trí sản phẩm chủ lực, sản phẩm có lợi nhuận cao, hoặc hàng khuyến mãi.</a:t>
            </a:r>
            <a:br>
              <a:rPr b="0" i="0" lang="en-US" sz="1600" u="none" cap="none" strike="noStrike">
                <a:solidFill>
                  <a:schemeClr val="dk1"/>
                </a:solidFill>
                <a:latin typeface="Bai Jamjuree"/>
                <a:ea typeface="Bai Jamjuree"/>
                <a:cs typeface="Bai Jamjuree"/>
                <a:sym typeface="Bai Jamjuree"/>
              </a:rPr>
            </a:br>
            <a:r>
              <a:rPr b="0" i="0" lang="en-US" sz="1600" u="none" cap="none" strike="noStrike">
                <a:solidFill>
                  <a:schemeClr val="dk1"/>
                </a:solidFill>
                <a:latin typeface="Bai Jamjuree"/>
                <a:ea typeface="Bai Jamjuree"/>
                <a:cs typeface="Bai Jamjuree"/>
                <a:sym typeface="Bai Jamjuree"/>
              </a:rPr>
              <a:t>- Giúp tăng khả năng khách hàng nhìn thấy và chọn mua sản phẩm.</a:t>
            </a:r>
            <a:endParaRPr b="0" i="0" sz="1600" u="none" cap="none" strike="noStrike">
              <a:solidFill>
                <a:schemeClr val="dk1"/>
              </a:solidFill>
              <a:latin typeface="Bai Jamjuree"/>
              <a:ea typeface="Bai Jamjuree"/>
              <a:cs typeface="Bai Jamjuree"/>
              <a:sym typeface="Bai Jamjuree"/>
            </a:endParaRPr>
          </a:p>
        </p:txBody>
      </p:sp>
      <p:pic>
        <p:nvPicPr>
          <p:cNvPr descr="目標を達成した人のイラスト（男性） | かわいいフリー素材集 いらすとや" id="675" name="Google Shape;675;p69"/>
          <p:cNvPicPr preferRelativeResize="0"/>
          <p:nvPr/>
        </p:nvPicPr>
        <p:blipFill rotWithShape="1">
          <a:blip r:embed="rId4">
            <a:alphaModFix/>
          </a:blip>
          <a:srcRect b="0" l="0" r="0" t="0"/>
          <a:stretch/>
        </p:blipFill>
        <p:spPr>
          <a:xfrm>
            <a:off x="14965937" y="6790360"/>
            <a:ext cx="2125580" cy="1885987"/>
          </a:xfrm>
          <a:prstGeom prst="rect">
            <a:avLst/>
          </a:prstGeom>
          <a:noFill/>
          <a:ln>
            <a:noFill/>
          </a:ln>
        </p:spPr>
      </p:pic>
      <p:sp>
        <p:nvSpPr>
          <p:cNvPr id="676" name="Google Shape;676;p69"/>
          <p:cNvSpPr txBox="1"/>
          <p:nvPr/>
        </p:nvSpPr>
        <p:spPr>
          <a:xfrm>
            <a:off x="1016000" y="1487373"/>
            <a:ext cx="16449895"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Theo dõi được Heatmap/foot fall của khách hàng giúp ích điều gì?</a:t>
            </a:r>
            <a:endParaRPr b="1" i="0" sz="3200" u="none" cap="none" strike="noStrike">
              <a:solidFill>
                <a:srgbClr val="0050AB"/>
              </a:solidFill>
              <a:latin typeface="Bai Jamjuree"/>
              <a:ea typeface="Bai Jamjuree"/>
              <a:cs typeface="Bai Jamjuree"/>
              <a:sym typeface="Bai Jamjuree"/>
            </a:endParaRPr>
          </a:p>
        </p:txBody>
      </p:sp>
      <p:sp>
        <p:nvSpPr>
          <p:cNvPr id="677" name="Google Shape;677;p69"/>
          <p:cNvSpPr txBox="1"/>
          <p:nvPr/>
        </p:nvSpPr>
        <p:spPr>
          <a:xfrm>
            <a:off x="1583063" y="2681223"/>
            <a:ext cx="69102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Tối ưu trưng bày sản phẩm</a:t>
            </a:r>
            <a:endParaRPr b="0" i="0" sz="1800" u="none" cap="none" strike="noStrike">
              <a:solidFill>
                <a:schemeClr val="dk1"/>
              </a:solidFill>
              <a:latin typeface="Arial"/>
              <a:ea typeface="Arial"/>
              <a:cs typeface="Arial"/>
              <a:sym typeface="Arial"/>
            </a:endParaRPr>
          </a:p>
        </p:txBody>
      </p:sp>
      <p:sp>
        <p:nvSpPr>
          <p:cNvPr id="678" name="Google Shape;678;p69"/>
          <p:cNvSpPr/>
          <p:nvPr/>
        </p:nvSpPr>
        <p:spPr>
          <a:xfrm>
            <a:off x="9656625" y="2502580"/>
            <a:ext cx="7920290" cy="1752600"/>
          </a:xfrm>
          <a:custGeom>
            <a:rect b="b" l="l" r="r" t="t"/>
            <a:pathLst>
              <a:path extrusionOk="0" h="1752600" w="5572125">
                <a:moveTo>
                  <a:pt x="5492384" y="1752599"/>
                </a:moveTo>
                <a:lnTo>
                  <a:pt x="61941" y="1752599"/>
                </a:lnTo>
                <a:lnTo>
                  <a:pt x="57629" y="1752052"/>
                </a:lnTo>
                <a:lnTo>
                  <a:pt x="22495" y="1731565"/>
                </a:lnTo>
                <a:lnTo>
                  <a:pt x="3380" y="1694737"/>
                </a:lnTo>
                <a:lnTo>
                  <a:pt x="0" y="1672859"/>
                </a:lnTo>
                <a:lnTo>
                  <a:pt x="0" y="1667255"/>
                </a:lnTo>
                <a:lnTo>
                  <a:pt x="0" y="79740"/>
                </a:lnTo>
                <a:lnTo>
                  <a:pt x="8754" y="42588"/>
                </a:lnTo>
                <a:lnTo>
                  <a:pt x="33082" y="11269"/>
                </a:lnTo>
                <a:lnTo>
                  <a:pt x="61941" y="0"/>
                </a:lnTo>
                <a:lnTo>
                  <a:pt x="5492384" y="0"/>
                </a:lnTo>
                <a:lnTo>
                  <a:pt x="5529535" y="11269"/>
                </a:lnTo>
                <a:lnTo>
                  <a:pt x="5560853" y="42588"/>
                </a:lnTo>
                <a:lnTo>
                  <a:pt x="5572124" y="79740"/>
                </a:lnTo>
                <a:lnTo>
                  <a:pt x="5572124" y="1672859"/>
                </a:lnTo>
                <a:lnTo>
                  <a:pt x="5560853" y="1710010"/>
                </a:lnTo>
                <a:lnTo>
                  <a:pt x="5529535" y="1741329"/>
                </a:lnTo>
                <a:lnTo>
                  <a:pt x="5497934" y="1752052"/>
                </a:lnTo>
                <a:lnTo>
                  <a:pt x="5492384" y="1752599"/>
                </a:lnTo>
                <a:close/>
              </a:path>
            </a:pathLst>
          </a:custGeom>
          <a:gradFill>
            <a:gsLst>
              <a:gs pos="0">
                <a:srgbClr val="8CDE9E"/>
              </a:gs>
              <a:gs pos="50000">
                <a:srgbClr val="BAE8C3"/>
              </a:gs>
              <a:gs pos="100000">
                <a:srgbClr val="DEF2E1"/>
              </a:gs>
            </a:gsLst>
            <a:lin ang="27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679" name="Google Shape;679;p69"/>
          <p:cNvSpPr/>
          <p:nvPr/>
        </p:nvSpPr>
        <p:spPr>
          <a:xfrm>
            <a:off x="9617276" y="2503790"/>
            <a:ext cx="111019"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6" y="0"/>
                </a:lnTo>
                <a:lnTo>
                  <a:pt x="73052" y="1815"/>
                </a:lnTo>
                <a:lnTo>
                  <a:pt x="61476" y="10477"/>
                </a:lnTo>
                <a:lnTo>
                  <a:pt x="43684" y="44722"/>
                </a:lnTo>
                <a:lnTo>
                  <a:pt x="38100" y="84994"/>
                </a:lnTo>
                <a:lnTo>
                  <a:pt x="38100" y="1666906"/>
                </a:lnTo>
                <a:lnTo>
                  <a:pt x="43684" y="1707177"/>
                </a:lnTo>
                <a:lnTo>
                  <a:pt x="61476" y="1741422"/>
                </a:lnTo>
                <a:lnTo>
                  <a:pt x="73052" y="1750084"/>
                </a:lnTo>
                <a:lnTo>
                  <a:pt x="78106" y="1751900"/>
                </a:lnTo>
                <a:close/>
              </a:path>
            </a:pathLst>
          </a:custGeom>
          <a:solidFill>
            <a:srgbClr val="00B05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80" name="Google Shape;680;p69"/>
          <p:cNvSpPr txBox="1"/>
          <p:nvPr/>
        </p:nvSpPr>
        <p:spPr>
          <a:xfrm>
            <a:off x="10021891" y="3108799"/>
            <a:ext cx="7107355" cy="712246"/>
          </a:xfrm>
          <a:prstGeom prst="rect">
            <a:avLst/>
          </a:prstGeom>
          <a:noFill/>
          <a:ln>
            <a:noFill/>
          </a:ln>
        </p:spPr>
        <p:txBody>
          <a:bodyPr anchorCtr="0" anchor="t" bIns="0" lIns="0" spcFirstLastPara="1" rIns="0" wrap="square" tIns="16500">
            <a:spAutoFit/>
          </a:bodyPr>
          <a:lstStyle/>
          <a:p>
            <a:pPr indent="0" lvl="0" marL="12700" marR="0" rtl="0" algn="l">
              <a:lnSpc>
                <a:spcPct val="150000"/>
              </a:lnSpc>
              <a:spcBef>
                <a:spcPts val="0"/>
              </a:spcBef>
              <a:spcAft>
                <a:spcPts val="0"/>
              </a:spcAft>
              <a:buNone/>
            </a:pPr>
            <a:r>
              <a:rPr b="0" i="0" lang="en-US" sz="1600" u="none" cap="none" strike="noStrike">
                <a:solidFill>
                  <a:schemeClr val="dk1"/>
                </a:solidFill>
                <a:latin typeface="Bai Jamjuree"/>
                <a:ea typeface="Bai Jamjuree"/>
                <a:cs typeface="Bai Jamjuree"/>
                <a:sym typeface="Bai Jamjuree"/>
              </a:rPr>
              <a:t>Khi sản phẩm được đặt ở vùng có lượng khách qua lại cao, khả năng tiếp xúc (exposure) lớn hơn, từ đó thúc đẩy doanh thu.</a:t>
            </a:r>
            <a:endParaRPr b="0" i="0" sz="1600" u="none" cap="none" strike="noStrike">
              <a:solidFill>
                <a:schemeClr val="dk1"/>
              </a:solidFill>
              <a:latin typeface="Bai Jamjuree"/>
              <a:ea typeface="Bai Jamjuree"/>
              <a:cs typeface="Bai Jamjuree"/>
              <a:sym typeface="Bai Jamjuree"/>
            </a:endParaRPr>
          </a:p>
        </p:txBody>
      </p:sp>
      <p:sp>
        <p:nvSpPr>
          <p:cNvPr id="681" name="Google Shape;681;p69"/>
          <p:cNvSpPr txBox="1"/>
          <p:nvPr/>
        </p:nvSpPr>
        <p:spPr>
          <a:xfrm>
            <a:off x="9922860" y="2661182"/>
            <a:ext cx="69102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Tăng doanh số bán hàng</a:t>
            </a:r>
            <a:endParaRPr b="0" i="0" sz="1800" u="none" cap="none" strike="noStrike">
              <a:solidFill>
                <a:schemeClr val="dk1"/>
              </a:solidFill>
              <a:latin typeface="Arial"/>
              <a:ea typeface="Arial"/>
              <a:cs typeface="Arial"/>
              <a:sym typeface="Arial"/>
            </a:endParaRPr>
          </a:p>
        </p:txBody>
      </p:sp>
      <p:sp>
        <p:nvSpPr>
          <p:cNvPr id="682" name="Google Shape;682;p69"/>
          <p:cNvSpPr/>
          <p:nvPr/>
        </p:nvSpPr>
        <p:spPr>
          <a:xfrm>
            <a:off x="1316828" y="4627777"/>
            <a:ext cx="7920290" cy="1752600"/>
          </a:xfrm>
          <a:custGeom>
            <a:rect b="b" l="l" r="r" t="t"/>
            <a:pathLst>
              <a:path extrusionOk="0" h="1752600" w="5572125">
                <a:moveTo>
                  <a:pt x="5492384" y="1752599"/>
                </a:moveTo>
                <a:lnTo>
                  <a:pt x="61941" y="1752599"/>
                </a:lnTo>
                <a:lnTo>
                  <a:pt x="57629" y="1752052"/>
                </a:lnTo>
                <a:lnTo>
                  <a:pt x="22495" y="1731565"/>
                </a:lnTo>
                <a:lnTo>
                  <a:pt x="3380" y="1694737"/>
                </a:lnTo>
                <a:lnTo>
                  <a:pt x="0" y="1672859"/>
                </a:lnTo>
                <a:lnTo>
                  <a:pt x="0" y="1667255"/>
                </a:lnTo>
                <a:lnTo>
                  <a:pt x="0" y="79740"/>
                </a:lnTo>
                <a:lnTo>
                  <a:pt x="8754" y="42588"/>
                </a:lnTo>
                <a:lnTo>
                  <a:pt x="33082" y="11269"/>
                </a:lnTo>
                <a:lnTo>
                  <a:pt x="61941" y="0"/>
                </a:lnTo>
                <a:lnTo>
                  <a:pt x="5492384" y="0"/>
                </a:lnTo>
                <a:lnTo>
                  <a:pt x="5529535" y="11269"/>
                </a:lnTo>
                <a:lnTo>
                  <a:pt x="5560853" y="42588"/>
                </a:lnTo>
                <a:lnTo>
                  <a:pt x="5572124" y="79740"/>
                </a:lnTo>
                <a:lnTo>
                  <a:pt x="5572124" y="1672859"/>
                </a:lnTo>
                <a:lnTo>
                  <a:pt x="5560853" y="1710010"/>
                </a:lnTo>
                <a:lnTo>
                  <a:pt x="5529535" y="1741329"/>
                </a:lnTo>
                <a:lnTo>
                  <a:pt x="5497934" y="1752052"/>
                </a:lnTo>
                <a:lnTo>
                  <a:pt x="5492384" y="1752599"/>
                </a:lnTo>
                <a:close/>
              </a:path>
            </a:pathLst>
          </a:custGeom>
          <a:gradFill>
            <a:gsLst>
              <a:gs pos="0">
                <a:srgbClr val="8CDE9E"/>
              </a:gs>
              <a:gs pos="50000">
                <a:srgbClr val="BAE8C3"/>
              </a:gs>
              <a:gs pos="100000">
                <a:srgbClr val="DEF2E1"/>
              </a:gs>
            </a:gsLst>
            <a:lin ang="27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683" name="Google Shape;683;p69"/>
          <p:cNvSpPr/>
          <p:nvPr/>
        </p:nvSpPr>
        <p:spPr>
          <a:xfrm>
            <a:off x="1277479" y="4628987"/>
            <a:ext cx="111019"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6" y="0"/>
                </a:lnTo>
                <a:lnTo>
                  <a:pt x="73052" y="1815"/>
                </a:lnTo>
                <a:lnTo>
                  <a:pt x="61476" y="10477"/>
                </a:lnTo>
                <a:lnTo>
                  <a:pt x="43684" y="44722"/>
                </a:lnTo>
                <a:lnTo>
                  <a:pt x="38100" y="84994"/>
                </a:lnTo>
                <a:lnTo>
                  <a:pt x="38100" y="1666906"/>
                </a:lnTo>
                <a:lnTo>
                  <a:pt x="43684" y="1707177"/>
                </a:lnTo>
                <a:lnTo>
                  <a:pt x="61476" y="1741422"/>
                </a:lnTo>
                <a:lnTo>
                  <a:pt x="73052" y="1750084"/>
                </a:lnTo>
                <a:lnTo>
                  <a:pt x="78106" y="1751900"/>
                </a:lnTo>
                <a:close/>
              </a:path>
            </a:pathLst>
          </a:custGeom>
          <a:solidFill>
            <a:srgbClr val="00B05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84" name="Google Shape;684;p69"/>
          <p:cNvSpPr txBox="1"/>
          <p:nvPr/>
        </p:nvSpPr>
        <p:spPr>
          <a:xfrm>
            <a:off x="1640639" y="5226427"/>
            <a:ext cx="7107355" cy="712246"/>
          </a:xfrm>
          <a:prstGeom prst="rect">
            <a:avLst/>
          </a:prstGeom>
          <a:noFill/>
          <a:ln>
            <a:noFill/>
          </a:ln>
        </p:spPr>
        <p:txBody>
          <a:bodyPr anchorCtr="0" anchor="t" bIns="0" lIns="0" spcFirstLastPara="1" rIns="0" wrap="square" tIns="16500">
            <a:spAutoFit/>
          </a:bodyPr>
          <a:lstStyle/>
          <a:p>
            <a:pPr indent="0" lvl="0" marL="12700" marR="0" rtl="0" algn="l">
              <a:lnSpc>
                <a:spcPct val="150000"/>
              </a:lnSpc>
              <a:spcBef>
                <a:spcPts val="0"/>
              </a:spcBef>
              <a:spcAft>
                <a:spcPts val="0"/>
              </a:spcAft>
              <a:buNone/>
            </a:pPr>
            <a:r>
              <a:rPr b="0" i="0" lang="en-US" sz="1600" u="none" cap="none" strike="noStrike">
                <a:solidFill>
                  <a:schemeClr val="dk1"/>
                </a:solidFill>
                <a:latin typeface="Bai Jamjuree"/>
                <a:ea typeface="Bai Jamjuree"/>
                <a:cs typeface="Bai Jamjuree"/>
                <a:sym typeface="Bai Jamjuree"/>
              </a:rPr>
              <a:t>So sánh hiệu quả giữa các khu vực: sản phẩm ở vùng footfall cao có bán tốt không, hay cần điều chỉnh.Từ đó đưa ra chiến lược bố trí hàng hóa hợp lý.</a:t>
            </a:r>
            <a:endParaRPr b="0" i="0" sz="1600" u="none" cap="none" strike="noStrike">
              <a:solidFill>
                <a:schemeClr val="dk1"/>
              </a:solidFill>
              <a:latin typeface="Bai Jamjuree"/>
              <a:ea typeface="Bai Jamjuree"/>
              <a:cs typeface="Bai Jamjuree"/>
              <a:sym typeface="Bai Jamjuree"/>
            </a:endParaRPr>
          </a:p>
        </p:txBody>
      </p:sp>
      <p:sp>
        <p:nvSpPr>
          <p:cNvPr id="685" name="Google Shape;685;p69"/>
          <p:cNvSpPr txBox="1"/>
          <p:nvPr/>
        </p:nvSpPr>
        <p:spPr>
          <a:xfrm>
            <a:off x="1583063" y="4786379"/>
            <a:ext cx="69102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Hỗ trợ quyết định merchandising</a:t>
            </a:r>
            <a:endParaRPr b="0" i="0" sz="1800" u="none" cap="none" strike="noStrike">
              <a:solidFill>
                <a:schemeClr val="dk1"/>
              </a:solidFill>
              <a:latin typeface="Arial"/>
              <a:ea typeface="Arial"/>
              <a:cs typeface="Arial"/>
              <a:sym typeface="Arial"/>
            </a:endParaRPr>
          </a:p>
        </p:txBody>
      </p:sp>
      <p:sp>
        <p:nvSpPr>
          <p:cNvPr id="686" name="Google Shape;686;p69"/>
          <p:cNvSpPr/>
          <p:nvPr/>
        </p:nvSpPr>
        <p:spPr>
          <a:xfrm>
            <a:off x="9656625" y="4625069"/>
            <a:ext cx="7920290" cy="1752600"/>
          </a:xfrm>
          <a:custGeom>
            <a:rect b="b" l="l" r="r" t="t"/>
            <a:pathLst>
              <a:path extrusionOk="0" h="1752600" w="5572125">
                <a:moveTo>
                  <a:pt x="5492384" y="1752599"/>
                </a:moveTo>
                <a:lnTo>
                  <a:pt x="61941" y="1752599"/>
                </a:lnTo>
                <a:lnTo>
                  <a:pt x="57629" y="1752052"/>
                </a:lnTo>
                <a:lnTo>
                  <a:pt x="22495" y="1731565"/>
                </a:lnTo>
                <a:lnTo>
                  <a:pt x="3380" y="1694737"/>
                </a:lnTo>
                <a:lnTo>
                  <a:pt x="0" y="1672859"/>
                </a:lnTo>
                <a:lnTo>
                  <a:pt x="0" y="1667255"/>
                </a:lnTo>
                <a:lnTo>
                  <a:pt x="0" y="79740"/>
                </a:lnTo>
                <a:lnTo>
                  <a:pt x="8754" y="42588"/>
                </a:lnTo>
                <a:lnTo>
                  <a:pt x="33082" y="11269"/>
                </a:lnTo>
                <a:lnTo>
                  <a:pt x="61941" y="0"/>
                </a:lnTo>
                <a:lnTo>
                  <a:pt x="5492384" y="0"/>
                </a:lnTo>
                <a:lnTo>
                  <a:pt x="5529535" y="11269"/>
                </a:lnTo>
                <a:lnTo>
                  <a:pt x="5560853" y="42588"/>
                </a:lnTo>
                <a:lnTo>
                  <a:pt x="5572124" y="79740"/>
                </a:lnTo>
                <a:lnTo>
                  <a:pt x="5572124" y="1672859"/>
                </a:lnTo>
                <a:lnTo>
                  <a:pt x="5560853" y="1710010"/>
                </a:lnTo>
                <a:lnTo>
                  <a:pt x="5529535" y="1741329"/>
                </a:lnTo>
                <a:lnTo>
                  <a:pt x="5497934" y="1752052"/>
                </a:lnTo>
                <a:lnTo>
                  <a:pt x="5492384" y="1752599"/>
                </a:lnTo>
                <a:close/>
              </a:path>
            </a:pathLst>
          </a:custGeom>
          <a:gradFill>
            <a:gsLst>
              <a:gs pos="0">
                <a:srgbClr val="8CDE9E"/>
              </a:gs>
              <a:gs pos="50000">
                <a:srgbClr val="BAE8C3"/>
              </a:gs>
              <a:gs pos="100000">
                <a:srgbClr val="DEF2E1"/>
              </a:gs>
            </a:gsLst>
            <a:lin ang="2700000"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Bai Jamjuree"/>
              <a:ea typeface="Bai Jamjuree"/>
              <a:cs typeface="Bai Jamjuree"/>
              <a:sym typeface="Bai Jamjuree"/>
            </a:endParaRPr>
          </a:p>
        </p:txBody>
      </p:sp>
      <p:sp>
        <p:nvSpPr>
          <p:cNvPr id="687" name="Google Shape;687;p69"/>
          <p:cNvSpPr/>
          <p:nvPr/>
        </p:nvSpPr>
        <p:spPr>
          <a:xfrm>
            <a:off x="9617276" y="4626279"/>
            <a:ext cx="111019" cy="1751964"/>
          </a:xfrm>
          <a:custGeom>
            <a:rect b="b" l="l" r="r" t="t"/>
            <a:pathLst>
              <a:path extrusionOk="0" h="1751964" w="78104">
                <a:moveTo>
                  <a:pt x="78106" y="1751900"/>
                </a:moveTo>
                <a:lnTo>
                  <a:pt x="37920" y="1737880"/>
                </a:lnTo>
                <a:lnTo>
                  <a:pt x="10088" y="1707177"/>
                </a:lnTo>
                <a:lnTo>
                  <a:pt x="0" y="1666906"/>
                </a:lnTo>
                <a:lnTo>
                  <a:pt x="0" y="84994"/>
                </a:lnTo>
                <a:lnTo>
                  <a:pt x="10088" y="44722"/>
                </a:lnTo>
                <a:lnTo>
                  <a:pt x="37920" y="14020"/>
                </a:lnTo>
                <a:lnTo>
                  <a:pt x="76936" y="56"/>
                </a:lnTo>
                <a:lnTo>
                  <a:pt x="78106" y="0"/>
                </a:lnTo>
                <a:lnTo>
                  <a:pt x="73052" y="1815"/>
                </a:lnTo>
                <a:lnTo>
                  <a:pt x="61476" y="10477"/>
                </a:lnTo>
                <a:lnTo>
                  <a:pt x="43684" y="44722"/>
                </a:lnTo>
                <a:lnTo>
                  <a:pt x="38100" y="84994"/>
                </a:lnTo>
                <a:lnTo>
                  <a:pt x="38100" y="1666906"/>
                </a:lnTo>
                <a:lnTo>
                  <a:pt x="43684" y="1707177"/>
                </a:lnTo>
                <a:lnTo>
                  <a:pt x="61476" y="1741422"/>
                </a:lnTo>
                <a:lnTo>
                  <a:pt x="73052" y="1750084"/>
                </a:lnTo>
                <a:lnTo>
                  <a:pt x="78106" y="1751900"/>
                </a:lnTo>
                <a:close/>
              </a:path>
            </a:pathLst>
          </a:custGeom>
          <a:solidFill>
            <a:srgbClr val="00B05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88" name="Google Shape;688;p69"/>
          <p:cNvSpPr txBox="1"/>
          <p:nvPr/>
        </p:nvSpPr>
        <p:spPr>
          <a:xfrm>
            <a:off x="9996142" y="5166195"/>
            <a:ext cx="7107355" cy="712246"/>
          </a:xfrm>
          <a:prstGeom prst="rect">
            <a:avLst/>
          </a:prstGeom>
          <a:noFill/>
          <a:ln>
            <a:noFill/>
          </a:ln>
        </p:spPr>
        <p:txBody>
          <a:bodyPr anchorCtr="0" anchor="t" bIns="0" lIns="0" spcFirstLastPara="1" rIns="0" wrap="square" tIns="16500">
            <a:spAutoFit/>
          </a:bodyPr>
          <a:lstStyle/>
          <a:p>
            <a:pPr indent="0" lvl="0" marL="12700" marR="0" rtl="0" algn="l">
              <a:lnSpc>
                <a:spcPct val="150000"/>
              </a:lnSpc>
              <a:spcBef>
                <a:spcPts val="0"/>
              </a:spcBef>
              <a:spcAft>
                <a:spcPts val="0"/>
              </a:spcAft>
              <a:buNone/>
            </a:pPr>
            <a:r>
              <a:rPr b="0" i="0" lang="en-US" sz="1600" u="none" cap="none" strike="noStrike">
                <a:solidFill>
                  <a:schemeClr val="dk1"/>
                </a:solidFill>
                <a:latin typeface="Bai Jamjuree"/>
                <a:ea typeface="Bai Jamjuree"/>
                <a:cs typeface="Bai Jamjuree"/>
                <a:sym typeface="Bai Jamjuree"/>
              </a:rPr>
              <a:t>- Giúp cửa hàng định hình lối đi thuận tiện, hạn chế ùn tắc.</a:t>
            </a:r>
            <a:br>
              <a:rPr b="0" i="0" lang="en-US" sz="1600" u="none" cap="none" strike="noStrike">
                <a:solidFill>
                  <a:schemeClr val="dk1"/>
                </a:solidFill>
                <a:latin typeface="Bai Jamjuree"/>
                <a:ea typeface="Bai Jamjuree"/>
                <a:cs typeface="Bai Jamjuree"/>
                <a:sym typeface="Bai Jamjuree"/>
              </a:rPr>
            </a:br>
            <a:r>
              <a:rPr b="0" i="0" lang="en-US" sz="1600" u="none" cap="none" strike="noStrike">
                <a:solidFill>
                  <a:schemeClr val="dk1"/>
                </a:solidFill>
                <a:latin typeface="Bai Jamjuree"/>
                <a:ea typeface="Bai Jamjuree"/>
                <a:cs typeface="Bai Jamjuree"/>
                <a:sym typeface="Bai Jamjuree"/>
              </a:rPr>
              <a:t>- Sắp xếp hàng hóa sao cho khách dễ tiếp cận đúng nhu cầu.</a:t>
            </a:r>
            <a:endParaRPr b="0" i="0" sz="1600" u="none" cap="none" strike="noStrike">
              <a:solidFill>
                <a:schemeClr val="dk1"/>
              </a:solidFill>
              <a:latin typeface="Bai Jamjuree"/>
              <a:ea typeface="Bai Jamjuree"/>
              <a:cs typeface="Bai Jamjuree"/>
              <a:sym typeface="Bai Jamjuree"/>
            </a:endParaRPr>
          </a:p>
        </p:txBody>
      </p:sp>
      <p:sp>
        <p:nvSpPr>
          <p:cNvPr id="689" name="Google Shape;689;p69"/>
          <p:cNvSpPr txBox="1"/>
          <p:nvPr/>
        </p:nvSpPr>
        <p:spPr>
          <a:xfrm>
            <a:off x="9922860" y="4783671"/>
            <a:ext cx="69102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Bai Jamjuree"/>
                <a:ea typeface="Bai Jamjuree"/>
                <a:cs typeface="Bai Jamjuree"/>
                <a:sym typeface="Bai Jamjuree"/>
              </a:rPr>
              <a:t>Cải thiện trải nghiệm khách hàng</a:t>
            </a:r>
            <a:endParaRPr b="0" i="0" sz="1800" u="none" cap="none" strike="noStrike">
              <a:solidFill>
                <a:schemeClr val="dk1"/>
              </a:solidFill>
              <a:latin typeface="Arial"/>
              <a:ea typeface="Arial"/>
              <a:cs typeface="Arial"/>
              <a:sym typeface="Arial"/>
            </a:endParaRPr>
          </a:p>
        </p:txBody>
      </p:sp>
      <p:sp>
        <p:nvSpPr>
          <p:cNvPr id="690" name="Google Shape;690;p69"/>
          <p:cNvSpPr/>
          <p:nvPr/>
        </p:nvSpPr>
        <p:spPr>
          <a:xfrm>
            <a:off x="1438410" y="7494133"/>
            <a:ext cx="38100" cy="548640"/>
          </a:xfrm>
          <a:custGeom>
            <a:rect b="b" l="l" r="r" t="t"/>
            <a:pathLst>
              <a:path extrusionOk="0" h="600075" w="38100">
                <a:moveTo>
                  <a:pt x="38099" y="600074"/>
                </a:moveTo>
                <a:lnTo>
                  <a:pt x="0" y="600074"/>
                </a:lnTo>
                <a:lnTo>
                  <a:pt x="0" y="0"/>
                </a:lnTo>
                <a:lnTo>
                  <a:pt x="38099" y="0"/>
                </a:lnTo>
                <a:lnTo>
                  <a:pt x="38099" y="600074"/>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91" name="Google Shape;691;p69"/>
          <p:cNvSpPr txBox="1"/>
          <p:nvPr/>
        </p:nvSpPr>
        <p:spPr>
          <a:xfrm>
            <a:off x="1499933" y="7616724"/>
            <a:ext cx="7876000"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Theo bước chân khách hàng, chúng ta tìm ra vị trí vàng cho sản phẩm</a:t>
            </a:r>
            <a:endParaRPr b="0" i="0" sz="1600" u="none" cap="none" strike="noStrike">
              <a:solidFill>
                <a:srgbClr val="1A237D"/>
              </a:solidFill>
              <a:latin typeface="Bai Jamjuree"/>
              <a:ea typeface="Bai Jamjuree"/>
              <a:cs typeface="Bai Jamjuree"/>
              <a:sym typeface="Bai Jamjure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0"/>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697" name="Google Shape;697;p70"/>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698" name="Google Shape;698;p70"/>
          <p:cNvGrpSpPr/>
          <p:nvPr/>
        </p:nvGrpSpPr>
        <p:grpSpPr>
          <a:xfrm>
            <a:off x="5776170" y="9896475"/>
            <a:ext cx="6735680" cy="408188"/>
            <a:chOff x="0" y="0"/>
            <a:chExt cx="8980907" cy="544250"/>
          </a:xfrm>
        </p:grpSpPr>
        <p:sp>
          <p:nvSpPr>
            <p:cNvPr id="699" name="Google Shape;699;p70"/>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00" name="Google Shape;700;p70"/>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701" name="Google Shape;701;p70"/>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702" name="Google Shape;702;p70"/>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03" name="Google Shape;703;p70"/>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ĐỒNG BỘ DỮ LIỆU TỪ MÁY POS</a:t>
            </a:r>
            <a:endParaRPr/>
          </a:p>
        </p:txBody>
      </p:sp>
      <p:sp>
        <p:nvSpPr>
          <p:cNvPr id="704" name="Google Shape;704;p70"/>
          <p:cNvSpPr txBox="1"/>
          <p:nvPr/>
        </p:nvSpPr>
        <p:spPr>
          <a:xfrm>
            <a:off x="716914" y="262207"/>
            <a:ext cx="69901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705" name="Google Shape;705;p70"/>
          <p:cNvSpPr/>
          <p:nvPr/>
        </p:nvSpPr>
        <p:spPr>
          <a:xfrm>
            <a:off x="1540134" y="2999003"/>
            <a:ext cx="3429000" cy="447675"/>
          </a:xfrm>
          <a:custGeom>
            <a:rect b="b" l="l" r="r" t="t"/>
            <a:pathLst>
              <a:path extrusionOk="0" h="447675" w="3429000">
                <a:moveTo>
                  <a:pt x="3365500" y="0"/>
                </a:moveTo>
                <a:lnTo>
                  <a:pt x="63500" y="0"/>
                </a:lnTo>
                <a:lnTo>
                  <a:pt x="38785" y="4989"/>
                </a:lnTo>
                <a:lnTo>
                  <a:pt x="18600" y="18595"/>
                </a:lnTo>
                <a:lnTo>
                  <a:pt x="4990" y="38779"/>
                </a:lnTo>
                <a:lnTo>
                  <a:pt x="0" y="63499"/>
                </a:lnTo>
                <a:lnTo>
                  <a:pt x="0" y="383755"/>
                </a:lnTo>
                <a:lnTo>
                  <a:pt x="4990" y="408470"/>
                </a:lnTo>
                <a:lnTo>
                  <a:pt x="18600" y="428655"/>
                </a:lnTo>
                <a:lnTo>
                  <a:pt x="38785" y="442264"/>
                </a:lnTo>
                <a:lnTo>
                  <a:pt x="63500" y="447255"/>
                </a:lnTo>
                <a:lnTo>
                  <a:pt x="3365500" y="447255"/>
                </a:lnTo>
                <a:lnTo>
                  <a:pt x="3390214" y="442264"/>
                </a:lnTo>
                <a:lnTo>
                  <a:pt x="3410399" y="428655"/>
                </a:lnTo>
                <a:lnTo>
                  <a:pt x="3424009" y="408470"/>
                </a:lnTo>
                <a:lnTo>
                  <a:pt x="3429000" y="383755"/>
                </a:lnTo>
                <a:lnTo>
                  <a:pt x="3429000" y="63499"/>
                </a:lnTo>
                <a:lnTo>
                  <a:pt x="3424009" y="38779"/>
                </a:lnTo>
                <a:lnTo>
                  <a:pt x="3410399" y="18595"/>
                </a:lnTo>
                <a:lnTo>
                  <a:pt x="3390214" y="4989"/>
                </a:lnTo>
                <a:lnTo>
                  <a:pt x="3365500" y="0"/>
                </a:lnTo>
                <a:close/>
              </a:path>
            </a:pathLst>
          </a:custGeom>
          <a:solidFill>
            <a:srgbClr val="0385DD"/>
          </a:solidFill>
          <a:ln cap="flat" cmpd="sng" w="9525">
            <a:solidFill>
              <a:srgbClr val="3776B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Kết nối POS System</a:t>
            </a:r>
            <a:endParaRPr b="1" i="0" sz="2000" u="none" cap="none" strike="noStrike">
              <a:solidFill>
                <a:schemeClr val="lt1"/>
              </a:solidFill>
              <a:latin typeface="Bai Jamjuree"/>
              <a:ea typeface="Bai Jamjuree"/>
              <a:cs typeface="Bai Jamjuree"/>
              <a:sym typeface="Bai Jamjuree"/>
            </a:endParaRPr>
          </a:p>
        </p:txBody>
      </p:sp>
      <p:pic>
        <p:nvPicPr>
          <p:cNvPr id="706" name="Google Shape;706;p70"/>
          <p:cNvPicPr preferRelativeResize="0"/>
          <p:nvPr/>
        </p:nvPicPr>
        <p:blipFill rotWithShape="1">
          <a:blip r:embed="rId4">
            <a:alphaModFix/>
          </a:blip>
          <a:srcRect b="0" l="0" r="0" t="0"/>
          <a:stretch/>
        </p:blipFill>
        <p:spPr>
          <a:xfrm>
            <a:off x="6935364" y="4157309"/>
            <a:ext cx="3886199" cy="2340863"/>
          </a:xfrm>
          <a:prstGeom prst="rect">
            <a:avLst/>
          </a:prstGeom>
          <a:noFill/>
          <a:ln>
            <a:noFill/>
          </a:ln>
        </p:spPr>
      </p:pic>
      <p:sp>
        <p:nvSpPr>
          <p:cNvPr id="707" name="Google Shape;707;p70"/>
          <p:cNvSpPr/>
          <p:nvPr/>
        </p:nvSpPr>
        <p:spPr>
          <a:xfrm>
            <a:off x="12407745" y="3127222"/>
            <a:ext cx="3608351" cy="447675"/>
          </a:xfrm>
          <a:custGeom>
            <a:rect b="b" l="l" r="r" t="t"/>
            <a:pathLst>
              <a:path extrusionOk="0" h="447675" w="1753234">
                <a:moveTo>
                  <a:pt x="1689468" y="0"/>
                </a:moveTo>
                <a:lnTo>
                  <a:pt x="63500" y="0"/>
                </a:lnTo>
                <a:lnTo>
                  <a:pt x="38785" y="4989"/>
                </a:lnTo>
                <a:lnTo>
                  <a:pt x="18600" y="18595"/>
                </a:lnTo>
                <a:lnTo>
                  <a:pt x="4990" y="38779"/>
                </a:lnTo>
                <a:lnTo>
                  <a:pt x="0" y="63499"/>
                </a:lnTo>
                <a:lnTo>
                  <a:pt x="0" y="383755"/>
                </a:lnTo>
                <a:lnTo>
                  <a:pt x="4990" y="408470"/>
                </a:lnTo>
                <a:lnTo>
                  <a:pt x="18600" y="428655"/>
                </a:lnTo>
                <a:lnTo>
                  <a:pt x="38785" y="442264"/>
                </a:lnTo>
                <a:lnTo>
                  <a:pt x="63500" y="447255"/>
                </a:lnTo>
                <a:lnTo>
                  <a:pt x="1689468" y="447255"/>
                </a:lnTo>
                <a:lnTo>
                  <a:pt x="1714183" y="442264"/>
                </a:lnTo>
                <a:lnTo>
                  <a:pt x="1734367" y="428655"/>
                </a:lnTo>
                <a:lnTo>
                  <a:pt x="1747977" y="408470"/>
                </a:lnTo>
                <a:lnTo>
                  <a:pt x="1752968" y="383755"/>
                </a:lnTo>
                <a:lnTo>
                  <a:pt x="1752968" y="63499"/>
                </a:lnTo>
                <a:lnTo>
                  <a:pt x="1747977" y="38779"/>
                </a:lnTo>
                <a:lnTo>
                  <a:pt x="1734367" y="18595"/>
                </a:lnTo>
                <a:lnTo>
                  <a:pt x="1714183" y="4989"/>
                </a:lnTo>
                <a:lnTo>
                  <a:pt x="1689468" y="0"/>
                </a:lnTo>
                <a:close/>
              </a:path>
            </a:pathLst>
          </a:custGeom>
          <a:solidFill>
            <a:srgbClr val="0385D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FFFFFF"/>
                </a:solidFill>
                <a:latin typeface="Bai Jamjuree"/>
                <a:ea typeface="Bai Jamjuree"/>
                <a:cs typeface="Bai Jamjuree"/>
                <a:sym typeface="Bai Jamjuree"/>
              </a:rPr>
              <a:t>Dữ liệu được đồng bộ</a:t>
            </a:r>
            <a:endParaRPr b="0" i="0" sz="2000" u="none" cap="none" strike="noStrike">
              <a:solidFill>
                <a:srgbClr val="000000"/>
              </a:solidFill>
              <a:latin typeface="Bai Jamjuree"/>
              <a:ea typeface="Bai Jamjuree"/>
              <a:cs typeface="Bai Jamjuree"/>
              <a:sym typeface="Bai Jamjuree"/>
            </a:endParaRPr>
          </a:p>
        </p:txBody>
      </p:sp>
      <p:grpSp>
        <p:nvGrpSpPr>
          <p:cNvPr id="708" name="Google Shape;708;p70"/>
          <p:cNvGrpSpPr/>
          <p:nvPr/>
        </p:nvGrpSpPr>
        <p:grpSpPr>
          <a:xfrm>
            <a:off x="1540134" y="3916341"/>
            <a:ext cx="767927" cy="725638"/>
            <a:chOff x="10349776" y="6203975"/>
            <a:chExt cx="1041171" cy="943152"/>
          </a:xfrm>
        </p:grpSpPr>
        <p:pic>
          <p:nvPicPr>
            <p:cNvPr id="709" name="Google Shape;709;p70"/>
            <p:cNvPicPr preferRelativeResize="0"/>
            <p:nvPr/>
          </p:nvPicPr>
          <p:blipFill rotWithShape="1">
            <a:blip r:embed="rId5">
              <a:alphaModFix/>
            </a:blip>
            <a:srcRect b="0" l="0" r="0" t="0"/>
            <a:stretch/>
          </p:blipFill>
          <p:spPr>
            <a:xfrm>
              <a:off x="10349776" y="6203975"/>
              <a:ext cx="1041171" cy="943152"/>
            </a:xfrm>
            <a:prstGeom prst="rect">
              <a:avLst/>
            </a:prstGeom>
            <a:solidFill>
              <a:srgbClr val="0385DD"/>
            </a:solidFill>
            <a:ln>
              <a:noFill/>
            </a:ln>
          </p:spPr>
        </p:pic>
        <p:sp>
          <p:nvSpPr>
            <p:cNvPr id="710" name="Google Shape;710;p70"/>
            <p:cNvSpPr/>
            <p:nvPr/>
          </p:nvSpPr>
          <p:spPr>
            <a:xfrm>
              <a:off x="10587736" y="6393675"/>
              <a:ext cx="565785" cy="563880"/>
            </a:xfrm>
            <a:custGeom>
              <a:rect b="b" l="l" r="r" t="t"/>
              <a:pathLst>
                <a:path extrusionOk="0" h="563879" w="565784">
                  <a:moveTo>
                    <a:pt x="18389" y="290080"/>
                  </a:moveTo>
                  <a:lnTo>
                    <a:pt x="18288" y="287121"/>
                  </a:lnTo>
                  <a:lnTo>
                    <a:pt x="18237" y="284175"/>
                  </a:lnTo>
                  <a:lnTo>
                    <a:pt x="18237" y="281190"/>
                  </a:lnTo>
                  <a:lnTo>
                    <a:pt x="18237" y="278371"/>
                  </a:lnTo>
                  <a:lnTo>
                    <a:pt x="18288" y="275564"/>
                  </a:lnTo>
                  <a:lnTo>
                    <a:pt x="18376" y="272783"/>
                  </a:lnTo>
                  <a:lnTo>
                    <a:pt x="139" y="272199"/>
                  </a:lnTo>
                  <a:lnTo>
                    <a:pt x="50" y="275158"/>
                  </a:lnTo>
                  <a:lnTo>
                    <a:pt x="0" y="278155"/>
                  </a:lnTo>
                  <a:lnTo>
                    <a:pt x="0" y="287566"/>
                  </a:lnTo>
                  <a:lnTo>
                    <a:pt x="165" y="290690"/>
                  </a:lnTo>
                  <a:lnTo>
                    <a:pt x="18389" y="290080"/>
                  </a:lnTo>
                  <a:close/>
                </a:path>
                <a:path extrusionOk="0" h="563879" w="565784">
                  <a:moveTo>
                    <a:pt x="21678" y="238391"/>
                  </a:moveTo>
                  <a:lnTo>
                    <a:pt x="3644" y="235470"/>
                  </a:lnTo>
                  <a:lnTo>
                    <a:pt x="2667" y="241503"/>
                  </a:lnTo>
                  <a:lnTo>
                    <a:pt x="1866" y="247611"/>
                  </a:lnTo>
                  <a:lnTo>
                    <a:pt x="1282" y="253784"/>
                  </a:lnTo>
                  <a:lnTo>
                    <a:pt x="19431" y="255524"/>
                  </a:lnTo>
                  <a:lnTo>
                    <a:pt x="20015" y="249758"/>
                  </a:lnTo>
                  <a:lnTo>
                    <a:pt x="20764" y="244055"/>
                  </a:lnTo>
                  <a:lnTo>
                    <a:pt x="21678" y="238391"/>
                  </a:lnTo>
                  <a:close/>
                </a:path>
                <a:path extrusionOk="0" h="563879" w="565784">
                  <a:moveTo>
                    <a:pt x="21755" y="324497"/>
                  </a:moveTo>
                  <a:lnTo>
                    <a:pt x="20828" y="318820"/>
                  </a:lnTo>
                  <a:lnTo>
                    <a:pt x="20078" y="313093"/>
                  </a:lnTo>
                  <a:lnTo>
                    <a:pt x="19507" y="307314"/>
                  </a:lnTo>
                  <a:lnTo>
                    <a:pt x="1371" y="309143"/>
                  </a:lnTo>
                  <a:lnTo>
                    <a:pt x="1968" y="315302"/>
                  </a:lnTo>
                  <a:lnTo>
                    <a:pt x="2781" y="321398"/>
                  </a:lnTo>
                  <a:lnTo>
                    <a:pt x="3771" y="327456"/>
                  </a:lnTo>
                  <a:lnTo>
                    <a:pt x="21755" y="324497"/>
                  </a:lnTo>
                  <a:close/>
                </a:path>
                <a:path extrusionOk="0" h="563879" w="565784">
                  <a:moveTo>
                    <a:pt x="29464" y="204736"/>
                  </a:moveTo>
                  <a:lnTo>
                    <a:pt x="12001" y="199478"/>
                  </a:lnTo>
                  <a:lnTo>
                    <a:pt x="10236" y="205333"/>
                  </a:lnTo>
                  <a:lnTo>
                    <a:pt x="8674" y="211302"/>
                  </a:lnTo>
                  <a:lnTo>
                    <a:pt x="7302" y="217385"/>
                  </a:lnTo>
                  <a:lnTo>
                    <a:pt x="25057" y="221488"/>
                  </a:lnTo>
                  <a:lnTo>
                    <a:pt x="26339" y="215823"/>
                  </a:lnTo>
                  <a:lnTo>
                    <a:pt x="27800" y="210235"/>
                  </a:lnTo>
                  <a:lnTo>
                    <a:pt x="29464" y="204736"/>
                  </a:lnTo>
                  <a:close/>
                </a:path>
                <a:path extrusionOk="0" h="563879" w="565784">
                  <a:moveTo>
                    <a:pt x="29591" y="358063"/>
                  </a:moveTo>
                  <a:lnTo>
                    <a:pt x="27927" y="352590"/>
                  </a:lnTo>
                  <a:lnTo>
                    <a:pt x="26428" y="347014"/>
                  </a:lnTo>
                  <a:lnTo>
                    <a:pt x="25120" y="341350"/>
                  </a:lnTo>
                  <a:lnTo>
                    <a:pt x="7366" y="345503"/>
                  </a:lnTo>
                  <a:lnTo>
                    <a:pt x="8775" y="351536"/>
                  </a:lnTo>
                  <a:lnTo>
                    <a:pt x="10363" y="357479"/>
                  </a:lnTo>
                  <a:lnTo>
                    <a:pt x="12153" y="363347"/>
                  </a:lnTo>
                  <a:lnTo>
                    <a:pt x="29591" y="358063"/>
                  </a:lnTo>
                  <a:close/>
                </a:path>
                <a:path extrusionOk="0" h="563879" w="565784">
                  <a:moveTo>
                    <a:pt x="41605" y="172364"/>
                  </a:moveTo>
                  <a:lnTo>
                    <a:pt x="24993" y="164846"/>
                  </a:lnTo>
                  <a:lnTo>
                    <a:pt x="22466" y="170446"/>
                  </a:lnTo>
                  <a:lnTo>
                    <a:pt x="20091" y="176187"/>
                  </a:lnTo>
                  <a:lnTo>
                    <a:pt x="17932" y="181940"/>
                  </a:lnTo>
                  <a:lnTo>
                    <a:pt x="35001" y="188328"/>
                  </a:lnTo>
                  <a:lnTo>
                    <a:pt x="37045" y="182918"/>
                  </a:lnTo>
                  <a:lnTo>
                    <a:pt x="39243" y="177596"/>
                  </a:lnTo>
                  <a:lnTo>
                    <a:pt x="41605" y="172364"/>
                  </a:lnTo>
                  <a:close/>
                </a:path>
                <a:path extrusionOk="0" h="563879" w="565784">
                  <a:moveTo>
                    <a:pt x="41770" y="390398"/>
                  </a:moveTo>
                  <a:lnTo>
                    <a:pt x="39395" y="385178"/>
                  </a:lnTo>
                  <a:lnTo>
                    <a:pt x="37185" y="379857"/>
                  </a:lnTo>
                  <a:lnTo>
                    <a:pt x="35153" y="374459"/>
                  </a:lnTo>
                  <a:lnTo>
                    <a:pt x="18097" y="380898"/>
                  </a:lnTo>
                  <a:lnTo>
                    <a:pt x="20281" y="386664"/>
                  </a:lnTo>
                  <a:lnTo>
                    <a:pt x="22631" y="392341"/>
                  </a:lnTo>
                  <a:lnTo>
                    <a:pt x="25171" y="397941"/>
                  </a:lnTo>
                  <a:lnTo>
                    <a:pt x="41770" y="390398"/>
                  </a:lnTo>
                  <a:close/>
                </a:path>
                <a:path extrusionOk="0" h="563879" w="565784">
                  <a:moveTo>
                    <a:pt x="57886" y="141846"/>
                  </a:moveTo>
                  <a:lnTo>
                    <a:pt x="42392" y="132232"/>
                  </a:lnTo>
                  <a:lnTo>
                    <a:pt x="39141" y="137464"/>
                  </a:lnTo>
                  <a:lnTo>
                    <a:pt x="36068" y="142798"/>
                  </a:lnTo>
                  <a:lnTo>
                    <a:pt x="33159" y="148247"/>
                  </a:lnTo>
                  <a:lnTo>
                    <a:pt x="49237" y="156832"/>
                  </a:lnTo>
                  <a:lnTo>
                    <a:pt x="51968" y="151739"/>
                  </a:lnTo>
                  <a:lnTo>
                    <a:pt x="54851" y="146748"/>
                  </a:lnTo>
                  <a:lnTo>
                    <a:pt x="57886" y="141846"/>
                  </a:lnTo>
                  <a:close/>
                </a:path>
                <a:path extrusionOk="0" h="563879" w="565784">
                  <a:moveTo>
                    <a:pt x="58102" y="420827"/>
                  </a:moveTo>
                  <a:lnTo>
                    <a:pt x="55041" y="415950"/>
                  </a:lnTo>
                  <a:lnTo>
                    <a:pt x="52146" y="410984"/>
                  </a:lnTo>
                  <a:lnTo>
                    <a:pt x="49428" y="405892"/>
                  </a:lnTo>
                  <a:lnTo>
                    <a:pt x="33350" y="414489"/>
                  </a:lnTo>
                  <a:lnTo>
                    <a:pt x="36233" y="419874"/>
                  </a:lnTo>
                  <a:lnTo>
                    <a:pt x="39344" y="425259"/>
                  </a:lnTo>
                  <a:lnTo>
                    <a:pt x="42595" y="430479"/>
                  </a:lnTo>
                  <a:lnTo>
                    <a:pt x="58102" y="420827"/>
                  </a:lnTo>
                  <a:close/>
                </a:path>
                <a:path extrusionOk="0" h="563879" w="565784">
                  <a:moveTo>
                    <a:pt x="78016" y="113741"/>
                  </a:moveTo>
                  <a:lnTo>
                    <a:pt x="63919" y="102196"/>
                  </a:lnTo>
                  <a:lnTo>
                    <a:pt x="60020" y="106946"/>
                  </a:lnTo>
                  <a:lnTo>
                    <a:pt x="56273" y="111836"/>
                  </a:lnTo>
                  <a:lnTo>
                    <a:pt x="52679" y="116852"/>
                  </a:lnTo>
                  <a:lnTo>
                    <a:pt x="67462" y="127469"/>
                  </a:lnTo>
                  <a:lnTo>
                    <a:pt x="70853" y="122783"/>
                  </a:lnTo>
                  <a:lnTo>
                    <a:pt x="74371" y="118211"/>
                  </a:lnTo>
                  <a:lnTo>
                    <a:pt x="78016" y="113741"/>
                  </a:lnTo>
                  <a:close/>
                </a:path>
                <a:path extrusionOk="0" h="563879" w="565784">
                  <a:moveTo>
                    <a:pt x="78219" y="448932"/>
                  </a:moveTo>
                  <a:lnTo>
                    <a:pt x="74561" y="444461"/>
                  </a:lnTo>
                  <a:lnTo>
                    <a:pt x="71056" y="439877"/>
                  </a:lnTo>
                  <a:lnTo>
                    <a:pt x="67678" y="435190"/>
                  </a:lnTo>
                  <a:lnTo>
                    <a:pt x="52870" y="445833"/>
                  </a:lnTo>
                  <a:lnTo>
                    <a:pt x="56476" y="450824"/>
                  </a:lnTo>
                  <a:lnTo>
                    <a:pt x="60223" y="455701"/>
                  </a:lnTo>
                  <a:lnTo>
                    <a:pt x="64122" y="460463"/>
                  </a:lnTo>
                  <a:lnTo>
                    <a:pt x="78219" y="448932"/>
                  </a:lnTo>
                  <a:close/>
                </a:path>
                <a:path extrusionOk="0" h="563879" w="565784">
                  <a:moveTo>
                    <a:pt x="101600" y="88506"/>
                  </a:moveTo>
                  <a:lnTo>
                    <a:pt x="89115" y="75171"/>
                  </a:lnTo>
                  <a:lnTo>
                    <a:pt x="84658" y="79349"/>
                  </a:lnTo>
                  <a:lnTo>
                    <a:pt x="80264" y="83756"/>
                  </a:lnTo>
                  <a:lnTo>
                    <a:pt x="76073" y="88252"/>
                  </a:lnTo>
                  <a:lnTo>
                    <a:pt x="89408" y="100698"/>
                  </a:lnTo>
                  <a:lnTo>
                    <a:pt x="93332" y="96507"/>
                  </a:lnTo>
                  <a:lnTo>
                    <a:pt x="97396" y="92456"/>
                  </a:lnTo>
                  <a:lnTo>
                    <a:pt x="101600" y="88506"/>
                  </a:lnTo>
                  <a:close/>
                </a:path>
                <a:path extrusionOk="0" h="563879" w="565784">
                  <a:moveTo>
                    <a:pt x="101841" y="474103"/>
                  </a:moveTo>
                  <a:lnTo>
                    <a:pt x="97637" y="470166"/>
                  </a:lnTo>
                  <a:lnTo>
                    <a:pt x="93560" y="466090"/>
                  </a:lnTo>
                  <a:lnTo>
                    <a:pt x="89611" y="461873"/>
                  </a:lnTo>
                  <a:lnTo>
                    <a:pt x="76314" y="474345"/>
                  </a:lnTo>
                  <a:lnTo>
                    <a:pt x="80530" y="478840"/>
                  </a:lnTo>
                  <a:lnTo>
                    <a:pt x="84874" y="483184"/>
                  </a:lnTo>
                  <a:lnTo>
                    <a:pt x="89369" y="487413"/>
                  </a:lnTo>
                  <a:lnTo>
                    <a:pt x="101841" y="474103"/>
                  </a:lnTo>
                  <a:close/>
                </a:path>
                <a:path extrusionOk="0" h="563879" w="565784">
                  <a:moveTo>
                    <a:pt x="128270" y="66522"/>
                  </a:moveTo>
                  <a:lnTo>
                    <a:pt x="117602" y="51727"/>
                  </a:lnTo>
                  <a:lnTo>
                    <a:pt x="112610" y="55333"/>
                  </a:lnTo>
                  <a:lnTo>
                    <a:pt x="107746" y="59093"/>
                  </a:lnTo>
                  <a:lnTo>
                    <a:pt x="103022" y="63004"/>
                  </a:lnTo>
                  <a:lnTo>
                    <a:pt x="114617" y="77063"/>
                  </a:lnTo>
                  <a:lnTo>
                    <a:pt x="119037" y="73418"/>
                  </a:lnTo>
                  <a:lnTo>
                    <a:pt x="123596" y="69900"/>
                  </a:lnTo>
                  <a:lnTo>
                    <a:pt x="128270" y="66522"/>
                  </a:lnTo>
                  <a:close/>
                </a:path>
                <a:path extrusionOk="0" h="563879" w="565784">
                  <a:moveTo>
                    <a:pt x="128536" y="496062"/>
                  </a:moveTo>
                  <a:lnTo>
                    <a:pt x="123863" y="492696"/>
                  </a:lnTo>
                  <a:lnTo>
                    <a:pt x="119303" y="489191"/>
                  </a:lnTo>
                  <a:lnTo>
                    <a:pt x="114871" y="485521"/>
                  </a:lnTo>
                  <a:lnTo>
                    <a:pt x="103263" y="499605"/>
                  </a:lnTo>
                  <a:lnTo>
                    <a:pt x="108026" y="503516"/>
                  </a:lnTo>
                  <a:lnTo>
                    <a:pt x="112903" y="507263"/>
                  </a:lnTo>
                  <a:lnTo>
                    <a:pt x="117919" y="510870"/>
                  </a:lnTo>
                  <a:lnTo>
                    <a:pt x="128536" y="496062"/>
                  </a:lnTo>
                  <a:close/>
                </a:path>
                <a:path extrusionOk="0" h="563879" w="565784">
                  <a:moveTo>
                    <a:pt x="157543" y="48209"/>
                  </a:moveTo>
                  <a:lnTo>
                    <a:pt x="148907" y="32156"/>
                  </a:lnTo>
                  <a:lnTo>
                    <a:pt x="143484" y="35064"/>
                  </a:lnTo>
                  <a:lnTo>
                    <a:pt x="138163" y="38150"/>
                  </a:lnTo>
                  <a:lnTo>
                    <a:pt x="132943" y="41414"/>
                  </a:lnTo>
                  <a:lnTo>
                    <a:pt x="142608" y="56908"/>
                  </a:lnTo>
                  <a:lnTo>
                    <a:pt x="147485" y="53848"/>
                  </a:lnTo>
                  <a:lnTo>
                    <a:pt x="152463" y="50939"/>
                  </a:lnTo>
                  <a:lnTo>
                    <a:pt x="157543" y="48209"/>
                  </a:lnTo>
                  <a:close/>
                </a:path>
                <a:path extrusionOk="0" h="563879" w="565784">
                  <a:moveTo>
                    <a:pt x="157873" y="514337"/>
                  </a:moveTo>
                  <a:lnTo>
                    <a:pt x="152793" y="511606"/>
                  </a:lnTo>
                  <a:lnTo>
                    <a:pt x="147802" y="508711"/>
                  </a:lnTo>
                  <a:lnTo>
                    <a:pt x="142913" y="505663"/>
                  </a:lnTo>
                  <a:lnTo>
                    <a:pt x="133261" y="521144"/>
                  </a:lnTo>
                  <a:lnTo>
                    <a:pt x="138480" y="524395"/>
                  </a:lnTo>
                  <a:lnTo>
                    <a:pt x="143814" y="527481"/>
                  </a:lnTo>
                  <a:lnTo>
                    <a:pt x="149263" y="530402"/>
                  </a:lnTo>
                  <a:lnTo>
                    <a:pt x="157873" y="514337"/>
                  </a:lnTo>
                  <a:close/>
                </a:path>
                <a:path extrusionOk="0" h="563879" w="565784">
                  <a:moveTo>
                    <a:pt x="188937" y="33896"/>
                  </a:moveTo>
                  <a:lnTo>
                    <a:pt x="182473" y="16827"/>
                  </a:lnTo>
                  <a:lnTo>
                    <a:pt x="176707" y="19011"/>
                  </a:lnTo>
                  <a:lnTo>
                    <a:pt x="171030" y="21374"/>
                  </a:lnTo>
                  <a:lnTo>
                    <a:pt x="165442" y="23926"/>
                  </a:lnTo>
                  <a:lnTo>
                    <a:pt x="173012" y="40525"/>
                  </a:lnTo>
                  <a:lnTo>
                    <a:pt x="178231" y="38150"/>
                  </a:lnTo>
                  <a:lnTo>
                    <a:pt x="183540" y="35941"/>
                  </a:lnTo>
                  <a:lnTo>
                    <a:pt x="188937" y="33896"/>
                  </a:lnTo>
                  <a:close/>
                </a:path>
                <a:path extrusionOk="0" h="563879" w="565784">
                  <a:moveTo>
                    <a:pt x="189357" y="528650"/>
                  </a:moveTo>
                  <a:lnTo>
                    <a:pt x="183959" y="526618"/>
                  </a:lnTo>
                  <a:lnTo>
                    <a:pt x="178638" y="524395"/>
                  </a:lnTo>
                  <a:lnTo>
                    <a:pt x="173393" y="522020"/>
                  </a:lnTo>
                  <a:lnTo>
                    <a:pt x="165849" y="538619"/>
                  </a:lnTo>
                  <a:lnTo>
                    <a:pt x="171424" y="541159"/>
                  </a:lnTo>
                  <a:lnTo>
                    <a:pt x="177165" y="543534"/>
                  </a:lnTo>
                  <a:lnTo>
                    <a:pt x="182930" y="545706"/>
                  </a:lnTo>
                  <a:lnTo>
                    <a:pt x="189357" y="528650"/>
                  </a:lnTo>
                  <a:close/>
                </a:path>
                <a:path extrusionOk="0" h="563879" w="565784">
                  <a:moveTo>
                    <a:pt x="221983" y="23812"/>
                  </a:moveTo>
                  <a:lnTo>
                    <a:pt x="217805" y="6057"/>
                  </a:lnTo>
                  <a:lnTo>
                    <a:pt x="211785" y="7480"/>
                  </a:lnTo>
                  <a:lnTo>
                    <a:pt x="205828" y="9093"/>
                  </a:lnTo>
                  <a:lnTo>
                    <a:pt x="199974" y="10871"/>
                  </a:lnTo>
                  <a:lnTo>
                    <a:pt x="205282" y="28321"/>
                  </a:lnTo>
                  <a:lnTo>
                    <a:pt x="210781" y="26644"/>
                  </a:lnTo>
                  <a:lnTo>
                    <a:pt x="216344" y="25133"/>
                  </a:lnTo>
                  <a:lnTo>
                    <a:pt x="221983" y="23812"/>
                  </a:lnTo>
                  <a:close/>
                </a:path>
                <a:path extrusionOk="0" h="563879" w="565784">
                  <a:moveTo>
                    <a:pt x="222427" y="538670"/>
                  </a:moveTo>
                  <a:lnTo>
                    <a:pt x="216789" y="537362"/>
                  </a:lnTo>
                  <a:lnTo>
                    <a:pt x="211226" y="535876"/>
                  </a:lnTo>
                  <a:lnTo>
                    <a:pt x="205727" y="534200"/>
                  </a:lnTo>
                  <a:lnTo>
                    <a:pt x="200444" y="551649"/>
                  </a:lnTo>
                  <a:lnTo>
                    <a:pt x="206311" y="553427"/>
                  </a:lnTo>
                  <a:lnTo>
                    <a:pt x="212267" y="555028"/>
                  </a:lnTo>
                  <a:lnTo>
                    <a:pt x="218287" y="556425"/>
                  </a:lnTo>
                  <a:lnTo>
                    <a:pt x="222427" y="538670"/>
                  </a:lnTo>
                  <a:close/>
                </a:path>
                <a:path extrusionOk="0" h="563879" w="565784">
                  <a:moveTo>
                    <a:pt x="256044" y="18135"/>
                  </a:moveTo>
                  <a:lnTo>
                    <a:pt x="254215" y="0"/>
                  </a:lnTo>
                  <a:lnTo>
                    <a:pt x="248056" y="596"/>
                  </a:lnTo>
                  <a:lnTo>
                    <a:pt x="241960" y="1409"/>
                  </a:lnTo>
                  <a:lnTo>
                    <a:pt x="235915" y="2425"/>
                  </a:lnTo>
                  <a:lnTo>
                    <a:pt x="238899" y="20408"/>
                  </a:lnTo>
                  <a:lnTo>
                    <a:pt x="244551" y="19469"/>
                  </a:lnTo>
                  <a:lnTo>
                    <a:pt x="250266" y="18707"/>
                  </a:lnTo>
                  <a:lnTo>
                    <a:pt x="256044" y="18135"/>
                  </a:lnTo>
                  <a:close/>
                </a:path>
                <a:path extrusionOk="0" h="563879" w="565784">
                  <a:moveTo>
                    <a:pt x="256565" y="544283"/>
                  </a:moveTo>
                  <a:lnTo>
                    <a:pt x="250799" y="543725"/>
                  </a:lnTo>
                  <a:lnTo>
                    <a:pt x="245097" y="542975"/>
                  </a:lnTo>
                  <a:lnTo>
                    <a:pt x="239445" y="542036"/>
                  </a:lnTo>
                  <a:lnTo>
                    <a:pt x="236423" y="560031"/>
                  </a:lnTo>
                  <a:lnTo>
                    <a:pt x="242443" y="561022"/>
                  </a:lnTo>
                  <a:lnTo>
                    <a:pt x="248602" y="561860"/>
                  </a:lnTo>
                  <a:lnTo>
                    <a:pt x="254749" y="562432"/>
                  </a:lnTo>
                  <a:lnTo>
                    <a:pt x="256565" y="544283"/>
                  </a:lnTo>
                  <a:close/>
                </a:path>
                <a:path extrusionOk="0" h="563879" w="565784">
                  <a:moveTo>
                    <a:pt x="474040" y="281190"/>
                  </a:moveTo>
                  <a:lnTo>
                    <a:pt x="468985" y="237299"/>
                  </a:lnTo>
                  <a:lnTo>
                    <a:pt x="455803" y="200418"/>
                  </a:lnTo>
                  <a:lnTo>
                    <a:pt x="455803" y="281190"/>
                  </a:lnTo>
                  <a:lnTo>
                    <a:pt x="449618" y="327228"/>
                  </a:lnTo>
                  <a:lnTo>
                    <a:pt x="432155" y="368604"/>
                  </a:lnTo>
                  <a:lnTo>
                    <a:pt x="405066" y="403656"/>
                  </a:lnTo>
                  <a:lnTo>
                    <a:pt x="370014" y="430745"/>
                  </a:lnTo>
                  <a:lnTo>
                    <a:pt x="328637" y="448208"/>
                  </a:lnTo>
                  <a:lnTo>
                    <a:pt x="282600" y="454393"/>
                  </a:lnTo>
                  <a:lnTo>
                    <a:pt x="236550" y="448208"/>
                  </a:lnTo>
                  <a:lnTo>
                    <a:pt x="195186" y="430745"/>
                  </a:lnTo>
                  <a:lnTo>
                    <a:pt x="160121" y="403656"/>
                  </a:lnTo>
                  <a:lnTo>
                    <a:pt x="133045" y="368604"/>
                  </a:lnTo>
                  <a:lnTo>
                    <a:pt x="115582" y="327228"/>
                  </a:lnTo>
                  <a:lnTo>
                    <a:pt x="109397" y="281190"/>
                  </a:lnTo>
                  <a:lnTo>
                    <a:pt x="115633" y="235140"/>
                  </a:lnTo>
                  <a:lnTo>
                    <a:pt x="133096" y="193814"/>
                  </a:lnTo>
                  <a:lnTo>
                    <a:pt x="160185" y="158762"/>
                  </a:lnTo>
                  <a:lnTo>
                    <a:pt x="195224" y="131686"/>
                  </a:lnTo>
                  <a:lnTo>
                    <a:pt x="236575" y="114211"/>
                  </a:lnTo>
                  <a:lnTo>
                    <a:pt x="282600" y="107988"/>
                  </a:lnTo>
                  <a:lnTo>
                    <a:pt x="328637" y="114173"/>
                  </a:lnTo>
                  <a:lnTo>
                    <a:pt x="370014" y="131635"/>
                  </a:lnTo>
                  <a:lnTo>
                    <a:pt x="405066" y="158711"/>
                  </a:lnTo>
                  <a:lnTo>
                    <a:pt x="432168" y="193814"/>
                  </a:lnTo>
                  <a:lnTo>
                    <a:pt x="449618" y="235165"/>
                  </a:lnTo>
                  <a:lnTo>
                    <a:pt x="455803" y="281190"/>
                  </a:lnTo>
                  <a:lnTo>
                    <a:pt x="455803" y="200418"/>
                  </a:lnTo>
                  <a:lnTo>
                    <a:pt x="431977" y="161455"/>
                  </a:lnTo>
                  <a:lnTo>
                    <a:pt x="402336" y="131800"/>
                  </a:lnTo>
                  <a:lnTo>
                    <a:pt x="366788" y="109207"/>
                  </a:lnTo>
                  <a:lnTo>
                    <a:pt x="363372" y="107988"/>
                  </a:lnTo>
                  <a:lnTo>
                    <a:pt x="326491" y="94805"/>
                  </a:lnTo>
                  <a:lnTo>
                    <a:pt x="282600" y="89750"/>
                  </a:lnTo>
                  <a:lnTo>
                    <a:pt x="238709" y="94805"/>
                  </a:lnTo>
                  <a:lnTo>
                    <a:pt x="198412" y="109207"/>
                  </a:lnTo>
                  <a:lnTo>
                    <a:pt x="162864" y="131800"/>
                  </a:lnTo>
                  <a:lnTo>
                    <a:pt x="133223" y="161455"/>
                  </a:lnTo>
                  <a:lnTo>
                    <a:pt x="110617" y="197002"/>
                  </a:lnTo>
                  <a:lnTo>
                    <a:pt x="96215" y="237299"/>
                  </a:lnTo>
                  <a:lnTo>
                    <a:pt x="91160" y="281190"/>
                  </a:lnTo>
                  <a:lnTo>
                    <a:pt x="96266" y="325081"/>
                  </a:lnTo>
                  <a:lnTo>
                    <a:pt x="110705" y="365379"/>
                  </a:lnTo>
                  <a:lnTo>
                    <a:pt x="133286" y="400862"/>
                  </a:lnTo>
                  <a:lnTo>
                    <a:pt x="162915" y="430504"/>
                  </a:lnTo>
                  <a:lnTo>
                    <a:pt x="198450" y="453110"/>
                  </a:lnTo>
                  <a:lnTo>
                    <a:pt x="238721" y="467537"/>
                  </a:lnTo>
                  <a:lnTo>
                    <a:pt x="282600" y="472630"/>
                  </a:lnTo>
                  <a:lnTo>
                    <a:pt x="326491" y="467575"/>
                  </a:lnTo>
                  <a:lnTo>
                    <a:pt x="363372" y="454393"/>
                  </a:lnTo>
                  <a:lnTo>
                    <a:pt x="366788" y="453174"/>
                  </a:lnTo>
                  <a:lnTo>
                    <a:pt x="402336" y="430568"/>
                  </a:lnTo>
                  <a:lnTo>
                    <a:pt x="431977" y="400926"/>
                  </a:lnTo>
                  <a:lnTo>
                    <a:pt x="454596" y="365340"/>
                  </a:lnTo>
                  <a:lnTo>
                    <a:pt x="468985" y="325056"/>
                  </a:lnTo>
                  <a:lnTo>
                    <a:pt x="474040" y="281190"/>
                  </a:lnTo>
                  <a:close/>
                </a:path>
                <a:path extrusionOk="0" h="563879" w="565784">
                  <a:moveTo>
                    <a:pt x="510501" y="281190"/>
                  </a:moveTo>
                  <a:lnTo>
                    <a:pt x="505866" y="235254"/>
                  </a:lnTo>
                  <a:lnTo>
                    <a:pt x="492594" y="192481"/>
                  </a:lnTo>
                  <a:lnTo>
                    <a:pt x="492264" y="191884"/>
                  </a:lnTo>
                  <a:lnTo>
                    <a:pt x="492264" y="281190"/>
                  </a:lnTo>
                  <a:lnTo>
                    <a:pt x="486727" y="329260"/>
                  </a:lnTo>
                  <a:lnTo>
                    <a:pt x="470954" y="373392"/>
                  </a:lnTo>
                  <a:lnTo>
                    <a:pt x="446201" y="412330"/>
                  </a:lnTo>
                  <a:lnTo>
                    <a:pt x="413740" y="444792"/>
                  </a:lnTo>
                  <a:lnTo>
                    <a:pt x="374802" y="469544"/>
                  </a:lnTo>
                  <a:lnTo>
                    <a:pt x="330669" y="485330"/>
                  </a:lnTo>
                  <a:lnTo>
                    <a:pt x="282600" y="490867"/>
                  </a:lnTo>
                  <a:lnTo>
                    <a:pt x="234518" y="485330"/>
                  </a:lnTo>
                  <a:lnTo>
                    <a:pt x="190398" y="469544"/>
                  </a:lnTo>
                  <a:lnTo>
                    <a:pt x="151460" y="444792"/>
                  </a:lnTo>
                  <a:lnTo>
                    <a:pt x="118999" y="412330"/>
                  </a:lnTo>
                  <a:lnTo>
                    <a:pt x="94246" y="373392"/>
                  </a:lnTo>
                  <a:lnTo>
                    <a:pt x="78473" y="329260"/>
                  </a:lnTo>
                  <a:lnTo>
                    <a:pt x="72936" y="281190"/>
                  </a:lnTo>
                  <a:lnTo>
                    <a:pt x="78524" y="233108"/>
                  </a:lnTo>
                  <a:lnTo>
                    <a:pt x="94310" y="189026"/>
                  </a:lnTo>
                  <a:lnTo>
                    <a:pt x="119062" y="150114"/>
                  </a:lnTo>
                  <a:lnTo>
                    <a:pt x="151523" y="117652"/>
                  </a:lnTo>
                  <a:lnTo>
                    <a:pt x="190436" y="92900"/>
                  </a:lnTo>
                  <a:lnTo>
                    <a:pt x="234543" y="77101"/>
                  </a:lnTo>
                  <a:lnTo>
                    <a:pt x="282600" y="71526"/>
                  </a:lnTo>
                  <a:lnTo>
                    <a:pt x="330669" y="77063"/>
                  </a:lnTo>
                  <a:lnTo>
                    <a:pt x="374802" y="92837"/>
                  </a:lnTo>
                  <a:lnTo>
                    <a:pt x="413740" y="117576"/>
                  </a:lnTo>
                  <a:lnTo>
                    <a:pt x="446201" y="150050"/>
                  </a:lnTo>
                  <a:lnTo>
                    <a:pt x="470966" y="189026"/>
                  </a:lnTo>
                  <a:lnTo>
                    <a:pt x="486727" y="233133"/>
                  </a:lnTo>
                  <a:lnTo>
                    <a:pt x="492264" y="281190"/>
                  </a:lnTo>
                  <a:lnTo>
                    <a:pt x="492264" y="191884"/>
                  </a:lnTo>
                  <a:lnTo>
                    <a:pt x="471576" y="153771"/>
                  </a:lnTo>
                  <a:lnTo>
                    <a:pt x="443750" y="120040"/>
                  </a:lnTo>
                  <a:lnTo>
                    <a:pt x="410019" y="92214"/>
                  </a:lnTo>
                  <a:lnTo>
                    <a:pt x="371906" y="71526"/>
                  </a:lnTo>
                  <a:lnTo>
                    <a:pt x="371309" y="71196"/>
                  </a:lnTo>
                  <a:lnTo>
                    <a:pt x="328536" y="57912"/>
                  </a:lnTo>
                  <a:lnTo>
                    <a:pt x="282600" y="53289"/>
                  </a:lnTo>
                  <a:lnTo>
                    <a:pt x="236689" y="57962"/>
                  </a:lnTo>
                  <a:lnTo>
                    <a:pt x="193929" y="71259"/>
                  </a:lnTo>
                  <a:lnTo>
                    <a:pt x="155244" y="92278"/>
                  </a:lnTo>
                  <a:lnTo>
                    <a:pt x="121526" y="120103"/>
                  </a:lnTo>
                  <a:lnTo>
                    <a:pt x="93700" y="153822"/>
                  </a:lnTo>
                  <a:lnTo>
                    <a:pt x="72669" y="192519"/>
                  </a:lnTo>
                  <a:lnTo>
                    <a:pt x="59372" y="235280"/>
                  </a:lnTo>
                  <a:lnTo>
                    <a:pt x="54698" y="281190"/>
                  </a:lnTo>
                  <a:lnTo>
                    <a:pt x="59321" y="327113"/>
                  </a:lnTo>
                  <a:lnTo>
                    <a:pt x="72605" y="369900"/>
                  </a:lnTo>
                  <a:lnTo>
                    <a:pt x="93624" y="408609"/>
                  </a:lnTo>
                  <a:lnTo>
                    <a:pt x="121450" y="442341"/>
                  </a:lnTo>
                  <a:lnTo>
                    <a:pt x="155181" y="470166"/>
                  </a:lnTo>
                  <a:lnTo>
                    <a:pt x="193890" y="491172"/>
                  </a:lnTo>
                  <a:lnTo>
                    <a:pt x="236664" y="504456"/>
                  </a:lnTo>
                  <a:lnTo>
                    <a:pt x="282600" y="509092"/>
                  </a:lnTo>
                  <a:lnTo>
                    <a:pt x="328536" y="504456"/>
                  </a:lnTo>
                  <a:lnTo>
                    <a:pt x="371309" y="491172"/>
                  </a:lnTo>
                  <a:lnTo>
                    <a:pt x="410019" y="470166"/>
                  </a:lnTo>
                  <a:lnTo>
                    <a:pt x="443750" y="442341"/>
                  </a:lnTo>
                  <a:lnTo>
                    <a:pt x="471576" y="408609"/>
                  </a:lnTo>
                  <a:lnTo>
                    <a:pt x="492594" y="369900"/>
                  </a:lnTo>
                  <a:lnTo>
                    <a:pt x="505866" y="327113"/>
                  </a:lnTo>
                  <a:lnTo>
                    <a:pt x="510501" y="281190"/>
                  </a:lnTo>
                  <a:close/>
                </a:path>
                <a:path extrusionOk="0" h="563879" w="565784">
                  <a:moveTo>
                    <a:pt x="565226" y="281305"/>
                  </a:moveTo>
                  <a:lnTo>
                    <a:pt x="560311" y="228777"/>
                  </a:lnTo>
                  <a:lnTo>
                    <a:pt x="545871" y="178485"/>
                  </a:lnTo>
                  <a:lnTo>
                    <a:pt x="522414" y="131724"/>
                  </a:lnTo>
                  <a:lnTo>
                    <a:pt x="490448" y="89750"/>
                  </a:lnTo>
                  <a:lnTo>
                    <a:pt x="510501" y="89750"/>
                  </a:lnTo>
                  <a:lnTo>
                    <a:pt x="510501" y="71513"/>
                  </a:lnTo>
                  <a:lnTo>
                    <a:pt x="459892" y="71513"/>
                  </a:lnTo>
                  <a:lnTo>
                    <a:pt x="455803" y="75603"/>
                  </a:lnTo>
                  <a:lnTo>
                    <a:pt x="455803" y="126212"/>
                  </a:lnTo>
                  <a:lnTo>
                    <a:pt x="474040" y="126212"/>
                  </a:lnTo>
                  <a:lnTo>
                    <a:pt x="474040" y="98971"/>
                  </a:lnTo>
                  <a:lnTo>
                    <a:pt x="503720" y="136309"/>
                  </a:lnTo>
                  <a:lnTo>
                    <a:pt x="525665" y="177152"/>
                  </a:lnTo>
                  <a:lnTo>
                    <a:pt x="539915" y="220446"/>
                  </a:lnTo>
                  <a:lnTo>
                    <a:pt x="546481" y="265137"/>
                  </a:lnTo>
                  <a:lnTo>
                    <a:pt x="545388" y="310172"/>
                  </a:lnTo>
                  <a:lnTo>
                    <a:pt x="536663" y="354495"/>
                  </a:lnTo>
                  <a:lnTo>
                    <a:pt x="520344" y="397040"/>
                  </a:lnTo>
                  <a:lnTo>
                    <a:pt x="496443" y="436765"/>
                  </a:lnTo>
                  <a:lnTo>
                    <a:pt x="464985" y="472617"/>
                  </a:lnTo>
                  <a:lnTo>
                    <a:pt x="425297" y="503783"/>
                  </a:lnTo>
                  <a:lnTo>
                    <a:pt x="380822" y="526656"/>
                  </a:lnTo>
                  <a:lnTo>
                    <a:pt x="332828" y="540753"/>
                  </a:lnTo>
                  <a:lnTo>
                    <a:pt x="282600" y="545553"/>
                  </a:lnTo>
                  <a:lnTo>
                    <a:pt x="282600" y="563778"/>
                  </a:lnTo>
                  <a:lnTo>
                    <a:pt x="328434" y="560095"/>
                  </a:lnTo>
                  <a:lnTo>
                    <a:pt x="371906" y="549402"/>
                  </a:lnTo>
                  <a:lnTo>
                    <a:pt x="412457" y="532269"/>
                  </a:lnTo>
                  <a:lnTo>
                    <a:pt x="449491" y="509308"/>
                  </a:lnTo>
                  <a:lnTo>
                    <a:pt x="482422" y="481076"/>
                  </a:lnTo>
                  <a:lnTo>
                    <a:pt x="510667" y="448157"/>
                  </a:lnTo>
                  <a:lnTo>
                    <a:pt x="533654" y="411149"/>
                  </a:lnTo>
                  <a:lnTo>
                    <a:pt x="550799" y="370611"/>
                  </a:lnTo>
                  <a:lnTo>
                    <a:pt x="561517" y="327139"/>
                  </a:lnTo>
                  <a:lnTo>
                    <a:pt x="565226" y="28130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711" name="Google Shape;711;p70"/>
            <p:cNvPicPr preferRelativeResize="0"/>
            <p:nvPr/>
          </p:nvPicPr>
          <p:blipFill rotWithShape="1">
            <a:blip r:embed="rId6">
              <a:alphaModFix/>
            </a:blip>
            <a:srcRect b="0" l="0" r="0" t="0"/>
            <a:stretch/>
          </p:blipFill>
          <p:spPr>
            <a:xfrm>
              <a:off x="10723376" y="6618098"/>
              <a:ext cx="294107" cy="113804"/>
            </a:xfrm>
            <a:prstGeom prst="rect">
              <a:avLst/>
            </a:prstGeom>
            <a:solidFill>
              <a:srgbClr val="0385DD"/>
            </a:solidFill>
            <a:ln>
              <a:noFill/>
            </a:ln>
          </p:spPr>
        </p:pic>
      </p:grpSp>
      <p:sp>
        <p:nvSpPr>
          <p:cNvPr id="712" name="Google Shape;712;p70"/>
          <p:cNvSpPr txBox="1"/>
          <p:nvPr/>
        </p:nvSpPr>
        <p:spPr>
          <a:xfrm>
            <a:off x="2328737" y="3810126"/>
            <a:ext cx="4627303"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1600" u="none" cap="none" strike="noStrike">
                <a:solidFill>
                  <a:srgbClr val="1A237D"/>
                </a:solidFill>
                <a:latin typeface="Bai Jamjuree"/>
                <a:ea typeface="Bai Jamjuree"/>
                <a:cs typeface="Bai Jamjuree"/>
                <a:sym typeface="Bai Jamjuree"/>
              </a:rPr>
              <a:t>Real-time Data Sync</a:t>
            </a:r>
            <a:endParaRPr b="1" i="0" sz="1600" u="none" cap="none" strike="noStrike">
              <a:solidFill>
                <a:srgbClr val="1A237D"/>
              </a:solidFill>
              <a:latin typeface="Bai Jamjuree"/>
              <a:ea typeface="Bai Jamjuree"/>
              <a:cs typeface="Bai Jamjuree"/>
              <a:sym typeface="Bai Jamjuree"/>
            </a:endParaRPr>
          </a:p>
        </p:txBody>
      </p:sp>
      <p:sp>
        <p:nvSpPr>
          <p:cNvPr id="713" name="Google Shape;713;p70"/>
          <p:cNvSpPr txBox="1"/>
          <p:nvPr/>
        </p:nvSpPr>
        <p:spPr>
          <a:xfrm>
            <a:off x="2302180" y="4127920"/>
            <a:ext cx="475649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Đồng bộ giao dịch, inventory, và customer data mỗi giây</a:t>
            </a:r>
            <a:endParaRPr b="0" i="0" sz="1600" u="none" cap="none" strike="noStrike">
              <a:solidFill>
                <a:srgbClr val="1A237D"/>
              </a:solidFill>
              <a:latin typeface="Bai Jamjuree"/>
              <a:ea typeface="Bai Jamjuree"/>
              <a:cs typeface="Bai Jamjuree"/>
              <a:sym typeface="Bai Jamjuree"/>
            </a:endParaRPr>
          </a:p>
        </p:txBody>
      </p:sp>
      <p:grpSp>
        <p:nvGrpSpPr>
          <p:cNvPr id="714" name="Google Shape;714;p70"/>
          <p:cNvGrpSpPr/>
          <p:nvPr/>
        </p:nvGrpSpPr>
        <p:grpSpPr>
          <a:xfrm>
            <a:off x="1540135" y="4974217"/>
            <a:ext cx="768096" cy="757513"/>
            <a:chOff x="1035456" y="3842984"/>
            <a:chExt cx="1041171" cy="943152"/>
          </a:xfrm>
        </p:grpSpPr>
        <p:pic>
          <p:nvPicPr>
            <p:cNvPr id="715" name="Google Shape;715;p70"/>
            <p:cNvPicPr preferRelativeResize="0"/>
            <p:nvPr/>
          </p:nvPicPr>
          <p:blipFill rotWithShape="1">
            <a:blip r:embed="rId5">
              <a:alphaModFix/>
            </a:blip>
            <a:srcRect b="0" l="0" r="0" t="0"/>
            <a:stretch/>
          </p:blipFill>
          <p:spPr>
            <a:xfrm>
              <a:off x="1035456" y="3842984"/>
              <a:ext cx="1041171" cy="943152"/>
            </a:xfrm>
            <a:prstGeom prst="rect">
              <a:avLst/>
            </a:prstGeom>
            <a:noFill/>
            <a:ln>
              <a:noFill/>
            </a:ln>
          </p:spPr>
        </p:pic>
        <p:sp>
          <p:nvSpPr>
            <p:cNvPr id="716" name="Google Shape;716;p70"/>
            <p:cNvSpPr/>
            <p:nvPr/>
          </p:nvSpPr>
          <p:spPr>
            <a:xfrm>
              <a:off x="1305116" y="4062821"/>
              <a:ext cx="502284" cy="505459"/>
            </a:xfrm>
            <a:custGeom>
              <a:rect b="b" l="l" r="r" t="t"/>
              <a:pathLst>
                <a:path extrusionOk="0" h="505459" w="502284">
                  <a:moveTo>
                    <a:pt x="217462" y="322910"/>
                  </a:moveTo>
                  <a:lnTo>
                    <a:pt x="217424" y="252628"/>
                  </a:lnTo>
                  <a:lnTo>
                    <a:pt x="200736" y="230682"/>
                  </a:lnTo>
                  <a:lnTo>
                    <a:pt x="200736" y="249059"/>
                  </a:lnTo>
                  <a:lnTo>
                    <a:pt x="200736" y="326644"/>
                  </a:lnTo>
                  <a:lnTo>
                    <a:pt x="197700" y="329666"/>
                  </a:lnTo>
                  <a:lnTo>
                    <a:pt x="196164" y="329679"/>
                  </a:lnTo>
                  <a:lnTo>
                    <a:pt x="193967" y="329679"/>
                  </a:lnTo>
                  <a:lnTo>
                    <a:pt x="182410" y="329666"/>
                  </a:lnTo>
                  <a:lnTo>
                    <a:pt x="180086" y="328231"/>
                  </a:lnTo>
                  <a:lnTo>
                    <a:pt x="174993" y="317957"/>
                  </a:lnTo>
                  <a:lnTo>
                    <a:pt x="166839" y="312915"/>
                  </a:lnTo>
                  <a:lnTo>
                    <a:pt x="157924" y="312940"/>
                  </a:lnTo>
                  <a:lnTo>
                    <a:pt x="155905" y="312940"/>
                  </a:lnTo>
                  <a:lnTo>
                    <a:pt x="147345" y="314464"/>
                  </a:lnTo>
                  <a:lnTo>
                    <a:pt x="140004" y="318655"/>
                  </a:lnTo>
                  <a:lnTo>
                    <a:pt x="134454" y="325031"/>
                  </a:lnTo>
                  <a:lnTo>
                    <a:pt x="131292" y="333121"/>
                  </a:lnTo>
                  <a:lnTo>
                    <a:pt x="126961" y="354761"/>
                  </a:lnTo>
                  <a:lnTo>
                    <a:pt x="90500" y="354761"/>
                  </a:lnTo>
                  <a:lnTo>
                    <a:pt x="77444" y="318655"/>
                  </a:lnTo>
                  <a:lnTo>
                    <a:pt x="61556" y="312940"/>
                  </a:lnTo>
                  <a:lnTo>
                    <a:pt x="59639" y="312940"/>
                  </a:lnTo>
                  <a:lnTo>
                    <a:pt x="26619" y="361607"/>
                  </a:lnTo>
                  <a:lnTo>
                    <a:pt x="23939" y="363537"/>
                  </a:lnTo>
                  <a:lnTo>
                    <a:pt x="18567" y="362635"/>
                  </a:lnTo>
                  <a:lnTo>
                    <a:pt x="16725" y="360464"/>
                  </a:lnTo>
                  <a:lnTo>
                    <a:pt x="16725" y="329514"/>
                  </a:lnTo>
                  <a:lnTo>
                    <a:pt x="21983" y="303542"/>
                  </a:lnTo>
                  <a:lnTo>
                    <a:pt x="36296" y="282333"/>
                  </a:lnTo>
                  <a:lnTo>
                    <a:pt x="57505" y="268033"/>
                  </a:lnTo>
                  <a:lnTo>
                    <a:pt x="83477" y="262763"/>
                  </a:lnTo>
                  <a:lnTo>
                    <a:pt x="158915" y="262763"/>
                  </a:lnTo>
                  <a:lnTo>
                    <a:pt x="167220" y="262788"/>
                  </a:lnTo>
                  <a:lnTo>
                    <a:pt x="174815" y="258089"/>
                  </a:lnTo>
                  <a:lnTo>
                    <a:pt x="179908" y="247815"/>
                  </a:lnTo>
                  <a:lnTo>
                    <a:pt x="182816" y="246024"/>
                  </a:lnTo>
                  <a:lnTo>
                    <a:pt x="185978" y="246037"/>
                  </a:lnTo>
                  <a:lnTo>
                    <a:pt x="197700" y="246037"/>
                  </a:lnTo>
                  <a:lnTo>
                    <a:pt x="200736" y="249059"/>
                  </a:lnTo>
                  <a:lnTo>
                    <a:pt x="200736" y="230682"/>
                  </a:lnTo>
                  <a:lnTo>
                    <a:pt x="193967" y="229298"/>
                  </a:lnTo>
                  <a:lnTo>
                    <a:pt x="185978" y="229298"/>
                  </a:lnTo>
                  <a:lnTo>
                    <a:pt x="179044" y="230263"/>
                  </a:lnTo>
                  <a:lnTo>
                    <a:pt x="172770" y="233032"/>
                  </a:lnTo>
                  <a:lnTo>
                    <a:pt x="167487" y="237413"/>
                  </a:lnTo>
                  <a:lnTo>
                    <a:pt x="163537" y="243179"/>
                  </a:lnTo>
                  <a:lnTo>
                    <a:pt x="162674" y="244932"/>
                  </a:lnTo>
                  <a:lnTo>
                    <a:pt x="160870" y="246037"/>
                  </a:lnTo>
                  <a:lnTo>
                    <a:pt x="83477" y="246037"/>
                  </a:lnTo>
                  <a:lnTo>
                    <a:pt x="50990" y="252628"/>
                  </a:lnTo>
                  <a:lnTo>
                    <a:pt x="24472" y="270510"/>
                  </a:lnTo>
                  <a:lnTo>
                    <a:pt x="6578" y="297040"/>
                  </a:lnTo>
                  <a:lnTo>
                    <a:pt x="0" y="329514"/>
                  </a:lnTo>
                  <a:lnTo>
                    <a:pt x="0" y="357911"/>
                  </a:lnTo>
                  <a:lnTo>
                    <a:pt x="1727" y="366458"/>
                  </a:lnTo>
                  <a:lnTo>
                    <a:pt x="6426" y="373430"/>
                  </a:lnTo>
                  <a:lnTo>
                    <a:pt x="13398" y="378129"/>
                  </a:lnTo>
                  <a:lnTo>
                    <a:pt x="21945" y="379857"/>
                  </a:lnTo>
                  <a:lnTo>
                    <a:pt x="29616" y="378498"/>
                  </a:lnTo>
                  <a:lnTo>
                    <a:pt x="36144" y="374675"/>
                  </a:lnTo>
                  <a:lnTo>
                    <a:pt x="40982" y="368858"/>
                  </a:lnTo>
                  <a:lnTo>
                    <a:pt x="42875" y="363537"/>
                  </a:lnTo>
                  <a:lnTo>
                    <a:pt x="43599" y="361518"/>
                  </a:lnTo>
                  <a:lnTo>
                    <a:pt x="48145" y="334149"/>
                  </a:lnTo>
                  <a:lnTo>
                    <a:pt x="53441" y="329653"/>
                  </a:lnTo>
                  <a:lnTo>
                    <a:pt x="59639" y="329679"/>
                  </a:lnTo>
                  <a:lnTo>
                    <a:pt x="65544" y="329679"/>
                  </a:lnTo>
                  <a:lnTo>
                    <a:pt x="68973" y="332498"/>
                  </a:lnTo>
                  <a:lnTo>
                    <a:pt x="75184" y="363537"/>
                  </a:lnTo>
                  <a:lnTo>
                    <a:pt x="75272" y="505320"/>
                  </a:lnTo>
                  <a:lnTo>
                    <a:pt x="91998" y="505320"/>
                  </a:lnTo>
                  <a:lnTo>
                    <a:pt x="91998" y="371500"/>
                  </a:lnTo>
                  <a:lnTo>
                    <a:pt x="125463" y="371500"/>
                  </a:lnTo>
                  <a:lnTo>
                    <a:pt x="125463" y="505320"/>
                  </a:lnTo>
                  <a:lnTo>
                    <a:pt x="142189" y="505320"/>
                  </a:lnTo>
                  <a:lnTo>
                    <a:pt x="142189" y="371500"/>
                  </a:lnTo>
                  <a:lnTo>
                    <a:pt x="142265" y="363537"/>
                  </a:lnTo>
                  <a:lnTo>
                    <a:pt x="144018" y="354761"/>
                  </a:lnTo>
                  <a:lnTo>
                    <a:pt x="148488" y="332498"/>
                  </a:lnTo>
                  <a:lnTo>
                    <a:pt x="151917" y="329679"/>
                  </a:lnTo>
                  <a:lnTo>
                    <a:pt x="160502" y="329679"/>
                  </a:lnTo>
                  <a:lnTo>
                    <a:pt x="162839" y="331114"/>
                  </a:lnTo>
                  <a:lnTo>
                    <a:pt x="167944" y="341401"/>
                  </a:lnTo>
                  <a:lnTo>
                    <a:pt x="176085" y="346430"/>
                  </a:lnTo>
                  <a:lnTo>
                    <a:pt x="215607" y="332054"/>
                  </a:lnTo>
                  <a:lnTo>
                    <a:pt x="216090" y="329679"/>
                  </a:lnTo>
                  <a:lnTo>
                    <a:pt x="217462" y="322910"/>
                  </a:lnTo>
                  <a:close/>
                </a:path>
                <a:path extrusionOk="0" h="505459" w="502284">
                  <a:moveTo>
                    <a:pt x="501840" y="281457"/>
                  </a:moveTo>
                  <a:lnTo>
                    <a:pt x="485140" y="249656"/>
                  </a:lnTo>
                  <a:lnTo>
                    <a:pt x="485140" y="273812"/>
                  </a:lnTo>
                  <a:lnTo>
                    <a:pt x="485114" y="463499"/>
                  </a:lnTo>
                  <a:lnTo>
                    <a:pt x="483133" y="473278"/>
                  </a:lnTo>
                  <a:lnTo>
                    <a:pt x="477761" y="481253"/>
                  </a:lnTo>
                  <a:lnTo>
                    <a:pt x="469785" y="486625"/>
                  </a:lnTo>
                  <a:lnTo>
                    <a:pt x="460019" y="488594"/>
                  </a:lnTo>
                  <a:lnTo>
                    <a:pt x="450253" y="486625"/>
                  </a:lnTo>
                  <a:lnTo>
                    <a:pt x="442277" y="481253"/>
                  </a:lnTo>
                  <a:lnTo>
                    <a:pt x="436892" y="473278"/>
                  </a:lnTo>
                  <a:lnTo>
                    <a:pt x="434924" y="463499"/>
                  </a:lnTo>
                  <a:lnTo>
                    <a:pt x="434898" y="273812"/>
                  </a:lnTo>
                  <a:lnTo>
                    <a:pt x="438886" y="266712"/>
                  </a:lnTo>
                  <a:lnTo>
                    <a:pt x="445439" y="262763"/>
                  </a:lnTo>
                  <a:lnTo>
                    <a:pt x="474611" y="262763"/>
                  </a:lnTo>
                  <a:lnTo>
                    <a:pt x="481152" y="266712"/>
                  </a:lnTo>
                  <a:lnTo>
                    <a:pt x="485140" y="273812"/>
                  </a:lnTo>
                  <a:lnTo>
                    <a:pt x="485140" y="249656"/>
                  </a:lnTo>
                  <a:lnTo>
                    <a:pt x="485114" y="246037"/>
                  </a:lnTo>
                  <a:lnTo>
                    <a:pt x="485127" y="28829"/>
                  </a:lnTo>
                  <a:lnTo>
                    <a:pt x="482981" y="23660"/>
                  </a:lnTo>
                  <a:lnTo>
                    <a:pt x="482485" y="22440"/>
                  </a:lnTo>
                  <a:lnTo>
                    <a:pt x="468388" y="8369"/>
                  </a:lnTo>
                  <a:lnTo>
                    <a:pt x="468388" y="33274"/>
                  </a:lnTo>
                  <a:lnTo>
                    <a:pt x="468388" y="246037"/>
                  </a:lnTo>
                  <a:lnTo>
                    <a:pt x="451662" y="246037"/>
                  </a:lnTo>
                  <a:lnTo>
                    <a:pt x="451650" y="33274"/>
                  </a:lnTo>
                  <a:lnTo>
                    <a:pt x="452539" y="31140"/>
                  </a:lnTo>
                  <a:lnTo>
                    <a:pt x="460019" y="23660"/>
                  </a:lnTo>
                  <a:lnTo>
                    <a:pt x="467512" y="31140"/>
                  </a:lnTo>
                  <a:lnTo>
                    <a:pt x="468388" y="33274"/>
                  </a:lnTo>
                  <a:lnTo>
                    <a:pt x="468388" y="8369"/>
                  </a:lnTo>
                  <a:lnTo>
                    <a:pt x="460019" y="0"/>
                  </a:lnTo>
                  <a:lnTo>
                    <a:pt x="437553" y="22440"/>
                  </a:lnTo>
                  <a:lnTo>
                    <a:pt x="434911" y="28829"/>
                  </a:lnTo>
                  <a:lnTo>
                    <a:pt x="434924" y="249631"/>
                  </a:lnTo>
                  <a:lnTo>
                    <a:pt x="427875" y="255854"/>
                  </a:lnTo>
                  <a:lnTo>
                    <a:pt x="422605" y="263474"/>
                  </a:lnTo>
                  <a:lnTo>
                    <a:pt x="419315" y="272135"/>
                  </a:lnTo>
                  <a:lnTo>
                    <a:pt x="418198" y="281457"/>
                  </a:lnTo>
                  <a:lnTo>
                    <a:pt x="418198" y="463499"/>
                  </a:lnTo>
                  <a:lnTo>
                    <a:pt x="421487" y="479780"/>
                  </a:lnTo>
                  <a:lnTo>
                    <a:pt x="430453" y="493077"/>
                  </a:lnTo>
                  <a:lnTo>
                    <a:pt x="443738" y="502043"/>
                  </a:lnTo>
                  <a:lnTo>
                    <a:pt x="460019" y="505320"/>
                  </a:lnTo>
                  <a:lnTo>
                    <a:pt x="476300" y="502043"/>
                  </a:lnTo>
                  <a:lnTo>
                    <a:pt x="489585" y="493077"/>
                  </a:lnTo>
                  <a:lnTo>
                    <a:pt x="492607" y="488594"/>
                  </a:lnTo>
                  <a:lnTo>
                    <a:pt x="498551" y="479780"/>
                  </a:lnTo>
                  <a:lnTo>
                    <a:pt x="501840" y="463499"/>
                  </a:lnTo>
                  <a:lnTo>
                    <a:pt x="501840" y="28145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717" name="Google Shape;717;p70"/>
            <p:cNvPicPr preferRelativeResize="0"/>
            <p:nvPr/>
          </p:nvPicPr>
          <p:blipFill rotWithShape="1">
            <a:blip r:embed="rId7">
              <a:alphaModFix/>
            </a:blip>
            <a:srcRect b="0" l="0" r="0" t="0"/>
            <a:stretch/>
          </p:blipFill>
          <p:spPr>
            <a:xfrm>
              <a:off x="1305115" y="4066294"/>
              <a:ext cx="184010" cy="184010"/>
            </a:xfrm>
            <a:prstGeom prst="rect">
              <a:avLst/>
            </a:prstGeom>
            <a:noFill/>
            <a:ln>
              <a:noFill/>
            </a:ln>
          </p:spPr>
        </p:pic>
        <p:sp>
          <p:nvSpPr>
            <p:cNvPr id="718" name="Google Shape;718;p70"/>
            <p:cNvSpPr/>
            <p:nvPr/>
          </p:nvSpPr>
          <p:spPr>
            <a:xfrm>
              <a:off x="1305116" y="4060992"/>
              <a:ext cx="468630" cy="507365"/>
            </a:xfrm>
            <a:custGeom>
              <a:rect b="b" l="l" r="r" t="t"/>
              <a:pathLst>
                <a:path extrusionOk="0" h="507365" w="468630">
                  <a:moveTo>
                    <a:pt x="316725" y="68059"/>
                  </a:moveTo>
                  <a:lnTo>
                    <a:pt x="277837" y="0"/>
                  </a:lnTo>
                  <a:lnTo>
                    <a:pt x="219913" y="57937"/>
                  </a:lnTo>
                  <a:lnTo>
                    <a:pt x="231736" y="69761"/>
                  </a:lnTo>
                  <a:lnTo>
                    <a:pt x="267233" y="34277"/>
                  </a:lnTo>
                  <a:lnTo>
                    <a:pt x="258191" y="80264"/>
                  </a:lnTo>
                  <a:lnTo>
                    <a:pt x="238455" y="121373"/>
                  </a:lnTo>
                  <a:lnTo>
                    <a:pt x="209562" y="156083"/>
                  </a:lnTo>
                  <a:lnTo>
                    <a:pt x="173101" y="182803"/>
                  </a:lnTo>
                  <a:lnTo>
                    <a:pt x="130594" y="199974"/>
                  </a:lnTo>
                  <a:lnTo>
                    <a:pt x="83642" y="206044"/>
                  </a:lnTo>
                  <a:lnTo>
                    <a:pt x="0" y="206044"/>
                  </a:lnTo>
                  <a:lnTo>
                    <a:pt x="0" y="222770"/>
                  </a:lnTo>
                  <a:lnTo>
                    <a:pt x="83642" y="222770"/>
                  </a:lnTo>
                  <a:lnTo>
                    <a:pt x="133629" y="216471"/>
                  </a:lnTo>
                  <a:lnTo>
                    <a:pt x="179044" y="198615"/>
                  </a:lnTo>
                  <a:lnTo>
                    <a:pt x="218287" y="170789"/>
                  </a:lnTo>
                  <a:lnTo>
                    <a:pt x="249796" y="134556"/>
                  </a:lnTo>
                  <a:lnTo>
                    <a:pt x="271970" y="91503"/>
                  </a:lnTo>
                  <a:lnTo>
                    <a:pt x="283260" y="43205"/>
                  </a:lnTo>
                  <a:lnTo>
                    <a:pt x="302209" y="76365"/>
                  </a:lnTo>
                  <a:lnTo>
                    <a:pt x="316725" y="68059"/>
                  </a:lnTo>
                  <a:close/>
                </a:path>
                <a:path extrusionOk="0" h="507365" w="468630">
                  <a:moveTo>
                    <a:pt x="334556" y="440232"/>
                  </a:moveTo>
                  <a:lnTo>
                    <a:pt x="317830" y="440232"/>
                  </a:lnTo>
                  <a:lnTo>
                    <a:pt x="317830" y="465328"/>
                  </a:lnTo>
                  <a:lnTo>
                    <a:pt x="334556" y="465328"/>
                  </a:lnTo>
                  <a:lnTo>
                    <a:pt x="334556" y="440232"/>
                  </a:lnTo>
                  <a:close/>
                </a:path>
                <a:path extrusionOk="0" h="507365" w="468630">
                  <a:moveTo>
                    <a:pt x="409854" y="255841"/>
                  </a:moveTo>
                  <a:lnTo>
                    <a:pt x="409841" y="174561"/>
                  </a:lnTo>
                  <a:lnTo>
                    <a:pt x="396760" y="152666"/>
                  </a:lnTo>
                  <a:lnTo>
                    <a:pt x="395973" y="152120"/>
                  </a:lnTo>
                  <a:lnTo>
                    <a:pt x="393128" y="150710"/>
                  </a:lnTo>
                  <a:lnTo>
                    <a:pt x="393128" y="171386"/>
                  </a:lnTo>
                  <a:lnTo>
                    <a:pt x="393115" y="250875"/>
                  </a:lnTo>
                  <a:lnTo>
                    <a:pt x="392010" y="253238"/>
                  </a:lnTo>
                  <a:lnTo>
                    <a:pt x="346303" y="291350"/>
                  </a:lnTo>
                  <a:lnTo>
                    <a:pt x="342976" y="298856"/>
                  </a:lnTo>
                  <a:lnTo>
                    <a:pt x="343281" y="306654"/>
                  </a:lnTo>
                  <a:lnTo>
                    <a:pt x="349872" y="465010"/>
                  </a:lnTo>
                  <a:lnTo>
                    <a:pt x="349834" y="466140"/>
                  </a:lnTo>
                  <a:lnTo>
                    <a:pt x="348424" y="475018"/>
                  </a:lnTo>
                  <a:lnTo>
                    <a:pt x="343662" y="482765"/>
                  </a:lnTo>
                  <a:lnTo>
                    <a:pt x="336334" y="488162"/>
                  </a:lnTo>
                  <a:lnTo>
                    <a:pt x="327190" y="490410"/>
                  </a:lnTo>
                  <a:lnTo>
                    <a:pt x="317881" y="488937"/>
                  </a:lnTo>
                  <a:lnTo>
                    <a:pt x="310134" y="484162"/>
                  </a:lnTo>
                  <a:lnTo>
                    <a:pt x="304736" y="476846"/>
                  </a:lnTo>
                  <a:lnTo>
                    <a:pt x="302488" y="467690"/>
                  </a:lnTo>
                  <a:lnTo>
                    <a:pt x="302514" y="465010"/>
                  </a:lnTo>
                  <a:lnTo>
                    <a:pt x="309422" y="298856"/>
                  </a:lnTo>
                  <a:lnTo>
                    <a:pt x="306095" y="291350"/>
                  </a:lnTo>
                  <a:lnTo>
                    <a:pt x="260388" y="253238"/>
                  </a:lnTo>
                  <a:lnTo>
                    <a:pt x="259283" y="250875"/>
                  </a:lnTo>
                  <a:lnTo>
                    <a:pt x="259270" y="171386"/>
                  </a:lnTo>
                  <a:lnTo>
                    <a:pt x="261073" y="168490"/>
                  </a:lnTo>
                  <a:lnTo>
                    <a:pt x="292747" y="152666"/>
                  </a:lnTo>
                  <a:lnTo>
                    <a:pt x="292722" y="222504"/>
                  </a:lnTo>
                  <a:lnTo>
                    <a:pt x="295376" y="228892"/>
                  </a:lnTo>
                  <a:lnTo>
                    <a:pt x="308457" y="241947"/>
                  </a:lnTo>
                  <a:lnTo>
                    <a:pt x="316750" y="247459"/>
                  </a:lnTo>
                  <a:lnTo>
                    <a:pt x="326186" y="249301"/>
                  </a:lnTo>
                  <a:lnTo>
                    <a:pt x="335635" y="247459"/>
                  </a:lnTo>
                  <a:lnTo>
                    <a:pt x="343941" y="241947"/>
                  </a:lnTo>
                  <a:lnTo>
                    <a:pt x="352513" y="233387"/>
                  </a:lnTo>
                  <a:lnTo>
                    <a:pt x="357022" y="228892"/>
                  </a:lnTo>
                  <a:lnTo>
                    <a:pt x="359676" y="222504"/>
                  </a:lnTo>
                  <a:lnTo>
                    <a:pt x="359651" y="152666"/>
                  </a:lnTo>
                  <a:lnTo>
                    <a:pt x="391325" y="168490"/>
                  </a:lnTo>
                  <a:lnTo>
                    <a:pt x="393128" y="171386"/>
                  </a:lnTo>
                  <a:lnTo>
                    <a:pt x="393128" y="150710"/>
                  </a:lnTo>
                  <a:lnTo>
                    <a:pt x="342925" y="125603"/>
                  </a:lnTo>
                  <a:lnTo>
                    <a:pt x="342938" y="218059"/>
                  </a:lnTo>
                  <a:lnTo>
                    <a:pt x="342049" y="220192"/>
                  </a:lnTo>
                  <a:lnTo>
                    <a:pt x="328841" y="233387"/>
                  </a:lnTo>
                  <a:lnTo>
                    <a:pt x="323545" y="233387"/>
                  </a:lnTo>
                  <a:lnTo>
                    <a:pt x="310349" y="220192"/>
                  </a:lnTo>
                  <a:lnTo>
                    <a:pt x="309460" y="218059"/>
                  </a:lnTo>
                  <a:lnTo>
                    <a:pt x="309473" y="152666"/>
                  </a:lnTo>
                  <a:lnTo>
                    <a:pt x="309473" y="125603"/>
                  </a:lnTo>
                  <a:lnTo>
                    <a:pt x="256425" y="152120"/>
                  </a:lnTo>
                  <a:lnTo>
                    <a:pt x="242544" y="255841"/>
                  </a:lnTo>
                  <a:lnTo>
                    <a:pt x="245859" y="262915"/>
                  </a:lnTo>
                  <a:lnTo>
                    <a:pt x="291401" y="300863"/>
                  </a:lnTo>
                  <a:lnTo>
                    <a:pt x="292506" y="303352"/>
                  </a:lnTo>
                  <a:lnTo>
                    <a:pt x="285775" y="465010"/>
                  </a:lnTo>
                  <a:lnTo>
                    <a:pt x="288290" y="480872"/>
                  </a:lnTo>
                  <a:lnTo>
                    <a:pt x="296418" y="494080"/>
                  </a:lnTo>
                  <a:lnTo>
                    <a:pt x="308914" y="503288"/>
                  </a:lnTo>
                  <a:lnTo>
                    <a:pt x="324510" y="507123"/>
                  </a:lnTo>
                  <a:lnTo>
                    <a:pt x="340372" y="504596"/>
                  </a:lnTo>
                  <a:lnTo>
                    <a:pt x="353580" y="496468"/>
                  </a:lnTo>
                  <a:lnTo>
                    <a:pt x="358051" y="490410"/>
                  </a:lnTo>
                  <a:lnTo>
                    <a:pt x="362788" y="483984"/>
                  </a:lnTo>
                  <a:lnTo>
                    <a:pt x="366623" y="468376"/>
                  </a:lnTo>
                  <a:lnTo>
                    <a:pt x="366610" y="465010"/>
                  </a:lnTo>
                  <a:lnTo>
                    <a:pt x="359892" y="303352"/>
                  </a:lnTo>
                  <a:lnTo>
                    <a:pt x="360997" y="300863"/>
                  </a:lnTo>
                  <a:lnTo>
                    <a:pt x="406539" y="262915"/>
                  </a:lnTo>
                  <a:lnTo>
                    <a:pt x="409854" y="255841"/>
                  </a:lnTo>
                  <a:close/>
                </a:path>
                <a:path extrusionOk="0" h="507365" w="468630">
                  <a:moveTo>
                    <a:pt x="468388" y="289674"/>
                  </a:moveTo>
                  <a:lnTo>
                    <a:pt x="451662" y="289674"/>
                  </a:lnTo>
                  <a:lnTo>
                    <a:pt x="451662" y="465328"/>
                  </a:lnTo>
                  <a:lnTo>
                    <a:pt x="468388" y="465328"/>
                  </a:lnTo>
                  <a:lnTo>
                    <a:pt x="468388" y="289674"/>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19" name="Google Shape;719;p70"/>
          <p:cNvSpPr txBox="1"/>
          <p:nvPr/>
        </p:nvSpPr>
        <p:spPr>
          <a:xfrm>
            <a:off x="2298877" y="4936302"/>
            <a:ext cx="4627303"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1600" u="none" cap="none" strike="noStrike">
                <a:solidFill>
                  <a:srgbClr val="1A237D"/>
                </a:solidFill>
                <a:latin typeface="Bai Jamjuree"/>
                <a:ea typeface="Bai Jamjuree"/>
                <a:cs typeface="Bai Jamjuree"/>
                <a:sym typeface="Bai Jamjuree"/>
              </a:rPr>
              <a:t>Secure Integration</a:t>
            </a:r>
            <a:endParaRPr b="1" i="0" sz="1600" u="none" cap="none" strike="noStrike">
              <a:solidFill>
                <a:srgbClr val="1A237D"/>
              </a:solidFill>
              <a:latin typeface="Bai Jamjuree"/>
              <a:ea typeface="Bai Jamjuree"/>
              <a:cs typeface="Bai Jamjuree"/>
              <a:sym typeface="Bai Jamjuree"/>
            </a:endParaRPr>
          </a:p>
        </p:txBody>
      </p:sp>
      <p:sp>
        <p:nvSpPr>
          <p:cNvPr id="720" name="Google Shape;720;p70"/>
          <p:cNvSpPr txBox="1"/>
          <p:nvPr/>
        </p:nvSpPr>
        <p:spPr>
          <a:xfrm>
            <a:off x="2272320" y="5254096"/>
            <a:ext cx="475649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API bảo mật cao, không làm gián đoạn hoạt động POS</a:t>
            </a:r>
            <a:endParaRPr b="0" i="0" sz="1600" u="none" cap="none" strike="noStrike">
              <a:solidFill>
                <a:srgbClr val="1A237D"/>
              </a:solidFill>
              <a:latin typeface="Bai Jamjuree"/>
              <a:ea typeface="Bai Jamjuree"/>
              <a:cs typeface="Bai Jamjuree"/>
              <a:sym typeface="Bai Jamjuree"/>
            </a:endParaRPr>
          </a:p>
        </p:txBody>
      </p:sp>
      <p:pic>
        <p:nvPicPr>
          <p:cNvPr id="721" name="Google Shape;721;p70"/>
          <p:cNvPicPr preferRelativeResize="0"/>
          <p:nvPr/>
        </p:nvPicPr>
        <p:blipFill rotWithShape="1">
          <a:blip r:embed="rId5">
            <a:alphaModFix/>
          </a:blip>
          <a:srcRect b="0" l="0" r="0" t="0"/>
          <a:stretch/>
        </p:blipFill>
        <p:spPr>
          <a:xfrm>
            <a:off x="1530781" y="6090619"/>
            <a:ext cx="768096" cy="757513"/>
          </a:xfrm>
          <a:prstGeom prst="rect">
            <a:avLst/>
          </a:prstGeom>
          <a:noFill/>
          <a:ln>
            <a:noFill/>
          </a:ln>
        </p:spPr>
      </p:pic>
      <p:sp>
        <p:nvSpPr>
          <p:cNvPr id="722" name="Google Shape;722;p70"/>
          <p:cNvSpPr txBox="1"/>
          <p:nvPr/>
        </p:nvSpPr>
        <p:spPr>
          <a:xfrm>
            <a:off x="2308061" y="6041718"/>
            <a:ext cx="4627303"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1600" u="none" cap="none" strike="noStrike">
                <a:solidFill>
                  <a:srgbClr val="1A237D"/>
                </a:solidFill>
                <a:latin typeface="Bai Jamjuree"/>
                <a:ea typeface="Bai Jamjuree"/>
                <a:cs typeface="Bai Jamjuree"/>
                <a:sym typeface="Bai Jamjuree"/>
              </a:rPr>
              <a:t>Multi-POS Support</a:t>
            </a:r>
            <a:endParaRPr b="1" i="0" sz="1600" u="none" cap="none" strike="noStrike">
              <a:solidFill>
                <a:srgbClr val="1A237D"/>
              </a:solidFill>
              <a:latin typeface="Bai Jamjuree"/>
              <a:ea typeface="Bai Jamjuree"/>
              <a:cs typeface="Bai Jamjuree"/>
              <a:sym typeface="Bai Jamjuree"/>
            </a:endParaRPr>
          </a:p>
        </p:txBody>
      </p:sp>
      <p:sp>
        <p:nvSpPr>
          <p:cNvPr id="723" name="Google Shape;723;p70"/>
          <p:cNvSpPr txBox="1"/>
          <p:nvPr/>
        </p:nvSpPr>
        <p:spPr>
          <a:xfrm>
            <a:off x="2281504" y="6359512"/>
            <a:ext cx="475649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Tương thích với các hệ thống POS phổ biến như Sapo, Kiotviet, Misa POS…</a:t>
            </a:r>
            <a:endParaRPr b="0" i="0" sz="1600" u="none" cap="none" strike="noStrike">
              <a:solidFill>
                <a:srgbClr val="1A237D"/>
              </a:solidFill>
              <a:latin typeface="Bai Jamjuree"/>
              <a:ea typeface="Bai Jamjuree"/>
              <a:cs typeface="Bai Jamjuree"/>
              <a:sym typeface="Bai Jamjuree"/>
            </a:endParaRPr>
          </a:p>
        </p:txBody>
      </p:sp>
      <p:sp>
        <p:nvSpPr>
          <p:cNvPr id="724" name="Google Shape;724;p70"/>
          <p:cNvSpPr/>
          <p:nvPr/>
        </p:nvSpPr>
        <p:spPr>
          <a:xfrm>
            <a:off x="11038021" y="3867593"/>
            <a:ext cx="6151799" cy="3105607"/>
          </a:xfrm>
          <a:custGeom>
            <a:rect b="b" l="l" r="r" t="t"/>
            <a:pathLst>
              <a:path extrusionOk="0" h="3474084" w="6649719">
                <a:moveTo>
                  <a:pt x="6554025" y="0"/>
                </a:moveTo>
                <a:lnTo>
                  <a:pt x="95250" y="0"/>
                </a:lnTo>
                <a:lnTo>
                  <a:pt x="58175" y="7485"/>
                </a:lnTo>
                <a:lnTo>
                  <a:pt x="27898" y="27898"/>
                </a:lnTo>
                <a:lnTo>
                  <a:pt x="7485" y="58175"/>
                </a:lnTo>
                <a:lnTo>
                  <a:pt x="0" y="95250"/>
                </a:lnTo>
                <a:lnTo>
                  <a:pt x="0" y="3378479"/>
                </a:lnTo>
                <a:lnTo>
                  <a:pt x="7485" y="3415554"/>
                </a:lnTo>
                <a:lnTo>
                  <a:pt x="27898" y="3445830"/>
                </a:lnTo>
                <a:lnTo>
                  <a:pt x="58175" y="3466243"/>
                </a:lnTo>
                <a:lnTo>
                  <a:pt x="95250" y="3473729"/>
                </a:lnTo>
                <a:lnTo>
                  <a:pt x="6554025" y="3473729"/>
                </a:lnTo>
                <a:lnTo>
                  <a:pt x="6591100" y="3466243"/>
                </a:lnTo>
                <a:lnTo>
                  <a:pt x="6621376" y="3445830"/>
                </a:lnTo>
                <a:lnTo>
                  <a:pt x="6641790" y="3415554"/>
                </a:lnTo>
                <a:lnTo>
                  <a:pt x="6649275" y="3378479"/>
                </a:lnTo>
                <a:lnTo>
                  <a:pt x="6649275" y="95250"/>
                </a:lnTo>
                <a:lnTo>
                  <a:pt x="6641790" y="58175"/>
                </a:lnTo>
                <a:lnTo>
                  <a:pt x="6621376" y="27898"/>
                </a:lnTo>
                <a:lnTo>
                  <a:pt x="6591100" y="7485"/>
                </a:lnTo>
                <a:lnTo>
                  <a:pt x="6554025" y="0"/>
                </a:lnTo>
                <a:close/>
              </a:path>
            </a:pathLst>
          </a:custGeom>
          <a:solidFill>
            <a:srgbClr val="0050A0">
              <a:alpha val="4705"/>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5" name="Google Shape;725;p70"/>
          <p:cNvSpPr txBox="1"/>
          <p:nvPr/>
        </p:nvSpPr>
        <p:spPr>
          <a:xfrm>
            <a:off x="11597416" y="6359512"/>
            <a:ext cx="2516505" cy="248786"/>
          </a:xfrm>
          <a:prstGeom prst="rect">
            <a:avLst/>
          </a:prstGeom>
          <a:noFill/>
          <a:ln>
            <a:noFill/>
          </a:ln>
        </p:spPr>
        <p:txBody>
          <a:bodyPr anchorCtr="0" anchor="t" bIns="0" lIns="0" spcFirstLastPara="1" rIns="0" wrap="square" tIns="33000">
            <a:spAutoFit/>
          </a:bodyPr>
          <a:lstStyle/>
          <a:p>
            <a:pPr indent="0" lvl="0" marL="0" marR="0" rtl="0" algn="ctr">
              <a:lnSpc>
                <a:spcPct val="100000"/>
              </a:lnSpc>
              <a:spcBef>
                <a:spcPts val="0"/>
              </a:spcBef>
              <a:spcAft>
                <a:spcPts val="0"/>
              </a:spcAft>
              <a:buNone/>
            </a:pPr>
            <a:r>
              <a:rPr b="1" i="0" lang="en-US" sz="1400" u="none" cap="none" strike="noStrike">
                <a:solidFill>
                  <a:srgbClr val="4D4D4F"/>
                </a:solidFill>
                <a:latin typeface="Bai Jamjuree"/>
                <a:ea typeface="Bai Jamjuree"/>
                <a:cs typeface="Bai Jamjuree"/>
                <a:sym typeface="Bai Jamjuree"/>
              </a:rPr>
              <a:t>Product Info</a:t>
            </a:r>
            <a:endParaRPr b="0" i="0" sz="1000" u="none" cap="none" strike="noStrike">
              <a:solidFill>
                <a:srgbClr val="000000"/>
              </a:solidFill>
              <a:latin typeface="Bai Jamjuree"/>
              <a:ea typeface="Bai Jamjuree"/>
              <a:cs typeface="Bai Jamjuree"/>
              <a:sym typeface="Bai Jamjuree"/>
            </a:endParaRPr>
          </a:p>
        </p:txBody>
      </p:sp>
      <p:grpSp>
        <p:nvGrpSpPr>
          <p:cNvPr id="726" name="Google Shape;726;p70"/>
          <p:cNvGrpSpPr/>
          <p:nvPr/>
        </p:nvGrpSpPr>
        <p:grpSpPr>
          <a:xfrm>
            <a:off x="12541099" y="5645943"/>
            <a:ext cx="636270" cy="636270"/>
            <a:chOff x="10102535" y="6846378"/>
            <a:chExt cx="636270" cy="636270"/>
          </a:xfrm>
        </p:grpSpPr>
        <p:sp>
          <p:nvSpPr>
            <p:cNvPr id="727" name="Google Shape;727;p70"/>
            <p:cNvSpPr/>
            <p:nvPr/>
          </p:nvSpPr>
          <p:spPr>
            <a:xfrm>
              <a:off x="10102535" y="6846378"/>
              <a:ext cx="636270" cy="636270"/>
            </a:xfrm>
            <a:custGeom>
              <a:rect b="b" l="l" r="r" t="t"/>
              <a:pathLst>
                <a:path extrusionOk="0" h="636270" w="636270">
                  <a:moveTo>
                    <a:pt x="317982" y="0"/>
                  </a:moveTo>
                  <a:lnTo>
                    <a:pt x="270993" y="3447"/>
                  </a:lnTo>
                  <a:lnTo>
                    <a:pt x="226145" y="13462"/>
                  </a:lnTo>
                  <a:lnTo>
                    <a:pt x="183929" y="29552"/>
                  </a:lnTo>
                  <a:lnTo>
                    <a:pt x="144838" y="51225"/>
                  </a:lnTo>
                  <a:lnTo>
                    <a:pt x="109363" y="77990"/>
                  </a:lnTo>
                  <a:lnTo>
                    <a:pt x="77996" y="109355"/>
                  </a:lnTo>
                  <a:lnTo>
                    <a:pt x="51229" y="144829"/>
                  </a:lnTo>
                  <a:lnTo>
                    <a:pt x="29554" y="183919"/>
                  </a:lnTo>
                  <a:lnTo>
                    <a:pt x="13463" y="226133"/>
                  </a:lnTo>
                  <a:lnTo>
                    <a:pt x="3447" y="270981"/>
                  </a:lnTo>
                  <a:lnTo>
                    <a:pt x="0" y="317969"/>
                  </a:lnTo>
                  <a:lnTo>
                    <a:pt x="3447" y="364958"/>
                  </a:lnTo>
                  <a:lnTo>
                    <a:pt x="13463" y="409805"/>
                  </a:lnTo>
                  <a:lnTo>
                    <a:pt x="29554" y="452020"/>
                  </a:lnTo>
                  <a:lnTo>
                    <a:pt x="51229" y="491110"/>
                  </a:lnTo>
                  <a:lnTo>
                    <a:pt x="77996" y="526583"/>
                  </a:lnTo>
                  <a:lnTo>
                    <a:pt x="109363" y="557949"/>
                  </a:lnTo>
                  <a:lnTo>
                    <a:pt x="144838" y="584714"/>
                  </a:lnTo>
                  <a:lnTo>
                    <a:pt x="183929" y="606387"/>
                  </a:lnTo>
                  <a:lnTo>
                    <a:pt x="226145" y="622477"/>
                  </a:lnTo>
                  <a:lnTo>
                    <a:pt x="270993" y="632492"/>
                  </a:lnTo>
                  <a:lnTo>
                    <a:pt x="317982" y="635939"/>
                  </a:lnTo>
                  <a:lnTo>
                    <a:pt x="364968" y="632492"/>
                  </a:lnTo>
                  <a:lnTo>
                    <a:pt x="409813" y="622477"/>
                  </a:lnTo>
                  <a:lnTo>
                    <a:pt x="452027" y="606387"/>
                  </a:lnTo>
                  <a:lnTo>
                    <a:pt x="491117" y="584714"/>
                  </a:lnTo>
                  <a:lnTo>
                    <a:pt x="526591" y="557949"/>
                  </a:lnTo>
                  <a:lnTo>
                    <a:pt x="557957" y="526583"/>
                  </a:lnTo>
                  <a:lnTo>
                    <a:pt x="584723" y="491110"/>
                  </a:lnTo>
                  <a:lnTo>
                    <a:pt x="606398" y="452020"/>
                  </a:lnTo>
                  <a:lnTo>
                    <a:pt x="622489" y="409805"/>
                  </a:lnTo>
                  <a:lnTo>
                    <a:pt x="632504" y="364958"/>
                  </a:lnTo>
                  <a:lnTo>
                    <a:pt x="635952" y="317969"/>
                  </a:lnTo>
                  <a:lnTo>
                    <a:pt x="632504" y="270981"/>
                  </a:lnTo>
                  <a:lnTo>
                    <a:pt x="622489" y="226133"/>
                  </a:lnTo>
                  <a:lnTo>
                    <a:pt x="606398" y="183919"/>
                  </a:lnTo>
                  <a:lnTo>
                    <a:pt x="584723" y="144829"/>
                  </a:lnTo>
                  <a:lnTo>
                    <a:pt x="557957" y="109355"/>
                  </a:lnTo>
                  <a:lnTo>
                    <a:pt x="526591" y="77990"/>
                  </a:lnTo>
                  <a:lnTo>
                    <a:pt x="491117" y="51225"/>
                  </a:lnTo>
                  <a:lnTo>
                    <a:pt x="452027" y="29552"/>
                  </a:lnTo>
                  <a:lnTo>
                    <a:pt x="409813" y="13462"/>
                  </a:lnTo>
                  <a:lnTo>
                    <a:pt x="364968" y="3447"/>
                  </a:lnTo>
                  <a:lnTo>
                    <a:pt x="317982" y="0"/>
                  </a:lnTo>
                  <a:close/>
                </a:path>
              </a:pathLst>
            </a:custGeom>
            <a:solidFill>
              <a:srgbClr val="B7C53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8" name="Google Shape;728;p70"/>
            <p:cNvSpPr/>
            <p:nvPr/>
          </p:nvSpPr>
          <p:spPr>
            <a:xfrm>
              <a:off x="10193585" y="7023388"/>
              <a:ext cx="447040" cy="329565"/>
            </a:xfrm>
            <a:custGeom>
              <a:rect b="b" l="l" r="r" t="t"/>
              <a:pathLst>
                <a:path extrusionOk="0" h="329565" w="447040">
                  <a:moveTo>
                    <a:pt x="406139" y="0"/>
                  </a:moveTo>
                  <a:lnTo>
                    <a:pt x="390071" y="2547"/>
                  </a:lnTo>
                  <a:lnTo>
                    <a:pt x="375756" y="11337"/>
                  </a:lnTo>
                  <a:lnTo>
                    <a:pt x="308979" y="73720"/>
                  </a:lnTo>
                  <a:lnTo>
                    <a:pt x="307608" y="74736"/>
                  </a:lnTo>
                  <a:lnTo>
                    <a:pt x="163006" y="209686"/>
                  </a:lnTo>
                  <a:lnTo>
                    <a:pt x="73305" y="113674"/>
                  </a:lnTo>
                  <a:lnTo>
                    <a:pt x="59619" y="103934"/>
                  </a:lnTo>
                  <a:lnTo>
                    <a:pt x="43759" y="100304"/>
                  </a:lnTo>
                  <a:lnTo>
                    <a:pt x="27689" y="102851"/>
                  </a:lnTo>
                  <a:lnTo>
                    <a:pt x="13374" y="111642"/>
                  </a:lnTo>
                  <a:lnTo>
                    <a:pt x="3629" y="125328"/>
                  </a:lnTo>
                  <a:lnTo>
                    <a:pt x="0" y="141187"/>
                  </a:lnTo>
                  <a:lnTo>
                    <a:pt x="2550" y="157253"/>
                  </a:lnTo>
                  <a:lnTo>
                    <a:pt x="11342" y="171561"/>
                  </a:lnTo>
                  <a:lnTo>
                    <a:pt x="127636" y="296021"/>
                  </a:lnTo>
                  <a:lnTo>
                    <a:pt x="158942" y="329523"/>
                  </a:lnTo>
                  <a:lnTo>
                    <a:pt x="229490" y="263610"/>
                  </a:lnTo>
                  <a:lnTo>
                    <a:pt x="229706" y="263852"/>
                  </a:lnTo>
                  <a:lnTo>
                    <a:pt x="433643" y="73301"/>
                  </a:lnTo>
                  <a:lnTo>
                    <a:pt x="443390" y="59614"/>
                  </a:lnTo>
                  <a:lnTo>
                    <a:pt x="447022" y="43754"/>
                  </a:lnTo>
                  <a:lnTo>
                    <a:pt x="444473" y="27684"/>
                  </a:lnTo>
                  <a:lnTo>
                    <a:pt x="435675" y="13369"/>
                  </a:lnTo>
                  <a:lnTo>
                    <a:pt x="421996" y="3629"/>
                  </a:lnTo>
                  <a:lnTo>
                    <a:pt x="4061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29" name="Google Shape;729;p70"/>
          <p:cNvSpPr txBox="1"/>
          <p:nvPr/>
        </p:nvSpPr>
        <p:spPr>
          <a:xfrm>
            <a:off x="11858240" y="5061103"/>
            <a:ext cx="2123440"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0" lang="en-US" sz="1400" u="none" cap="none" strike="noStrike">
                <a:solidFill>
                  <a:srgbClr val="4D4D4F"/>
                </a:solidFill>
                <a:latin typeface="Bai Jamjuree"/>
                <a:ea typeface="Bai Jamjuree"/>
                <a:cs typeface="Bai Jamjuree"/>
                <a:sym typeface="Bai Jamjuree"/>
              </a:rPr>
              <a:t> Giao dịch bán hàng</a:t>
            </a:r>
            <a:endParaRPr b="0" i="0" sz="1400" u="none" cap="none" strike="noStrike">
              <a:solidFill>
                <a:srgbClr val="000000"/>
              </a:solidFill>
              <a:latin typeface="Bai Jamjuree"/>
              <a:ea typeface="Bai Jamjuree"/>
              <a:cs typeface="Bai Jamjuree"/>
              <a:sym typeface="Bai Jamjuree"/>
            </a:endParaRPr>
          </a:p>
        </p:txBody>
      </p:sp>
      <p:grpSp>
        <p:nvGrpSpPr>
          <p:cNvPr id="730" name="Google Shape;730;p70"/>
          <p:cNvGrpSpPr/>
          <p:nvPr/>
        </p:nvGrpSpPr>
        <p:grpSpPr>
          <a:xfrm>
            <a:off x="12440705" y="4327183"/>
            <a:ext cx="636270" cy="636270"/>
            <a:chOff x="10102535" y="5375747"/>
            <a:chExt cx="636270" cy="636270"/>
          </a:xfrm>
        </p:grpSpPr>
        <p:sp>
          <p:nvSpPr>
            <p:cNvPr id="731" name="Google Shape;731;p70"/>
            <p:cNvSpPr/>
            <p:nvPr/>
          </p:nvSpPr>
          <p:spPr>
            <a:xfrm>
              <a:off x="10102535" y="5375747"/>
              <a:ext cx="636270" cy="636270"/>
            </a:xfrm>
            <a:custGeom>
              <a:rect b="b" l="l" r="r" t="t"/>
              <a:pathLst>
                <a:path extrusionOk="0" h="636270" w="636270">
                  <a:moveTo>
                    <a:pt x="317982" y="0"/>
                  </a:moveTo>
                  <a:lnTo>
                    <a:pt x="270993" y="3447"/>
                  </a:lnTo>
                  <a:lnTo>
                    <a:pt x="226145" y="13462"/>
                  </a:lnTo>
                  <a:lnTo>
                    <a:pt x="183929" y="29552"/>
                  </a:lnTo>
                  <a:lnTo>
                    <a:pt x="144838" y="51225"/>
                  </a:lnTo>
                  <a:lnTo>
                    <a:pt x="109363" y="77990"/>
                  </a:lnTo>
                  <a:lnTo>
                    <a:pt x="77996" y="109355"/>
                  </a:lnTo>
                  <a:lnTo>
                    <a:pt x="51229" y="144829"/>
                  </a:lnTo>
                  <a:lnTo>
                    <a:pt x="29554" y="183919"/>
                  </a:lnTo>
                  <a:lnTo>
                    <a:pt x="13463" y="226133"/>
                  </a:lnTo>
                  <a:lnTo>
                    <a:pt x="3447" y="270981"/>
                  </a:lnTo>
                  <a:lnTo>
                    <a:pt x="0" y="317969"/>
                  </a:lnTo>
                  <a:lnTo>
                    <a:pt x="3447" y="364958"/>
                  </a:lnTo>
                  <a:lnTo>
                    <a:pt x="13463" y="409805"/>
                  </a:lnTo>
                  <a:lnTo>
                    <a:pt x="29554" y="452020"/>
                  </a:lnTo>
                  <a:lnTo>
                    <a:pt x="51229" y="491110"/>
                  </a:lnTo>
                  <a:lnTo>
                    <a:pt x="77996" y="526583"/>
                  </a:lnTo>
                  <a:lnTo>
                    <a:pt x="109363" y="557949"/>
                  </a:lnTo>
                  <a:lnTo>
                    <a:pt x="144838" y="584714"/>
                  </a:lnTo>
                  <a:lnTo>
                    <a:pt x="183929" y="606387"/>
                  </a:lnTo>
                  <a:lnTo>
                    <a:pt x="226145" y="622477"/>
                  </a:lnTo>
                  <a:lnTo>
                    <a:pt x="270993" y="632492"/>
                  </a:lnTo>
                  <a:lnTo>
                    <a:pt x="317982" y="635939"/>
                  </a:lnTo>
                  <a:lnTo>
                    <a:pt x="364968" y="632492"/>
                  </a:lnTo>
                  <a:lnTo>
                    <a:pt x="409813" y="622477"/>
                  </a:lnTo>
                  <a:lnTo>
                    <a:pt x="452027" y="606387"/>
                  </a:lnTo>
                  <a:lnTo>
                    <a:pt x="491117" y="584714"/>
                  </a:lnTo>
                  <a:lnTo>
                    <a:pt x="526591" y="557949"/>
                  </a:lnTo>
                  <a:lnTo>
                    <a:pt x="557957" y="526583"/>
                  </a:lnTo>
                  <a:lnTo>
                    <a:pt x="584723" y="491110"/>
                  </a:lnTo>
                  <a:lnTo>
                    <a:pt x="606398" y="452020"/>
                  </a:lnTo>
                  <a:lnTo>
                    <a:pt x="622489" y="409805"/>
                  </a:lnTo>
                  <a:lnTo>
                    <a:pt x="632504" y="364958"/>
                  </a:lnTo>
                  <a:lnTo>
                    <a:pt x="635952" y="317969"/>
                  </a:lnTo>
                  <a:lnTo>
                    <a:pt x="632504" y="270981"/>
                  </a:lnTo>
                  <a:lnTo>
                    <a:pt x="622489" y="226133"/>
                  </a:lnTo>
                  <a:lnTo>
                    <a:pt x="606398" y="183919"/>
                  </a:lnTo>
                  <a:lnTo>
                    <a:pt x="584723" y="144829"/>
                  </a:lnTo>
                  <a:lnTo>
                    <a:pt x="557957" y="109355"/>
                  </a:lnTo>
                  <a:lnTo>
                    <a:pt x="526591" y="77990"/>
                  </a:lnTo>
                  <a:lnTo>
                    <a:pt x="491117" y="51225"/>
                  </a:lnTo>
                  <a:lnTo>
                    <a:pt x="452027" y="29552"/>
                  </a:lnTo>
                  <a:lnTo>
                    <a:pt x="409813" y="13462"/>
                  </a:lnTo>
                  <a:lnTo>
                    <a:pt x="364968" y="3447"/>
                  </a:lnTo>
                  <a:lnTo>
                    <a:pt x="317982" y="0"/>
                  </a:lnTo>
                  <a:close/>
                </a:path>
              </a:pathLst>
            </a:custGeom>
            <a:solidFill>
              <a:srgbClr val="B7C53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2" name="Google Shape;732;p70"/>
            <p:cNvSpPr/>
            <p:nvPr/>
          </p:nvSpPr>
          <p:spPr>
            <a:xfrm>
              <a:off x="10193585" y="5552758"/>
              <a:ext cx="447040" cy="329565"/>
            </a:xfrm>
            <a:custGeom>
              <a:rect b="b" l="l" r="r" t="t"/>
              <a:pathLst>
                <a:path extrusionOk="0" h="329564" w="447040">
                  <a:moveTo>
                    <a:pt x="406139" y="0"/>
                  </a:moveTo>
                  <a:lnTo>
                    <a:pt x="390071" y="2547"/>
                  </a:lnTo>
                  <a:lnTo>
                    <a:pt x="375756" y="11337"/>
                  </a:lnTo>
                  <a:lnTo>
                    <a:pt x="308979" y="73720"/>
                  </a:lnTo>
                  <a:lnTo>
                    <a:pt x="307608" y="74736"/>
                  </a:lnTo>
                  <a:lnTo>
                    <a:pt x="163006" y="209686"/>
                  </a:lnTo>
                  <a:lnTo>
                    <a:pt x="73305" y="113674"/>
                  </a:lnTo>
                  <a:lnTo>
                    <a:pt x="59619" y="103934"/>
                  </a:lnTo>
                  <a:lnTo>
                    <a:pt x="43759" y="100304"/>
                  </a:lnTo>
                  <a:lnTo>
                    <a:pt x="27689" y="102851"/>
                  </a:lnTo>
                  <a:lnTo>
                    <a:pt x="13374" y="111642"/>
                  </a:lnTo>
                  <a:lnTo>
                    <a:pt x="3629" y="125328"/>
                  </a:lnTo>
                  <a:lnTo>
                    <a:pt x="0" y="141187"/>
                  </a:lnTo>
                  <a:lnTo>
                    <a:pt x="2550" y="157253"/>
                  </a:lnTo>
                  <a:lnTo>
                    <a:pt x="11342" y="171561"/>
                  </a:lnTo>
                  <a:lnTo>
                    <a:pt x="127636" y="296021"/>
                  </a:lnTo>
                  <a:lnTo>
                    <a:pt x="158942" y="329523"/>
                  </a:lnTo>
                  <a:lnTo>
                    <a:pt x="229490" y="263610"/>
                  </a:lnTo>
                  <a:lnTo>
                    <a:pt x="229706" y="263852"/>
                  </a:lnTo>
                  <a:lnTo>
                    <a:pt x="433643" y="73301"/>
                  </a:lnTo>
                  <a:lnTo>
                    <a:pt x="443390" y="59614"/>
                  </a:lnTo>
                  <a:lnTo>
                    <a:pt x="447022" y="43754"/>
                  </a:lnTo>
                  <a:lnTo>
                    <a:pt x="444473" y="27684"/>
                  </a:lnTo>
                  <a:lnTo>
                    <a:pt x="435675" y="13369"/>
                  </a:lnTo>
                  <a:lnTo>
                    <a:pt x="421996" y="3629"/>
                  </a:lnTo>
                  <a:lnTo>
                    <a:pt x="4061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33" name="Google Shape;733;p70"/>
          <p:cNvSpPr txBox="1"/>
          <p:nvPr/>
        </p:nvSpPr>
        <p:spPr>
          <a:xfrm>
            <a:off x="14649139" y="5046588"/>
            <a:ext cx="1722120"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0" lang="en-US" sz="1400" u="none" cap="none" strike="noStrike">
                <a:solidFill>
                  <a:srgbClr val="4D4D4F"/>
                </a:solidFill>
                <a:latin typeface="Bai Jamjuree"/>
                <a:ea typeface="Bai Jamjuree"/>
                <a:cs typeface="Bai Jamjuree"/>
                <a:sym typeface="Bai Jamjuree"/>
              </a:rPr>
              <a:t> Inventory &amp; Stock</a:t>
            </a:r>
            <a:endParaRPr b="0" i="0" sz="1400" u="none" cap="none" strike="noStrike">
              <a:solidFill>
                <a:srgbClr val="000000"/>
              </a:solidFill>
              <a:latin typeface="Bai Jamjuree"/>
              <a:ea typeface="Bai Jamjuree"/>
              <a:cs typeface="Bai Jamjuree"/>
              <a:sym typeface="Bai Jamjuree"/>
            </a:endParaRPr>
          </a:p>
        </p:txBody>
      </p:sp>
      <p:grpSp>
        <p:nvGrpSpPr>
          <p:cNvPr id="734" name="Google Shape;734;p70"/>
          <p:cNvGrpSpPr/>
          <p:nvPr/>
        </p:nvGrpSpPr>
        <p:grpSpPr>
          <a:xfrm>
            <a:off x="15191950" y="4312668"/>
            <a:ext cx="636270" cy="636270"/>
            <a:chOff x="13178863" y="5375747"/>
            <a:chExt cx="636270" cy="636270"/>
          </a:xfrm>
        </p:grpSpPr>
        <p:sp>
          <p:nvSpPr>
            <p:cNvPr id="735" name="Google Shape;735;p70"/>
            <p:cNvSpPr/>
            <p:nvPr/>
          </p:nvSpPr>
          <p:spPr>
            <a:xfrm>
              <a:off x="13178863" y="5375747"/>
              <a:ext cx="636270" cy="636270"/>
            </a:xfrm>
            <a:custGeom>
              <a:rect b="b" l="l" r="r" t="t"/>
              <a:pathLst>
                <a:path extrusionOk="0" h="636270" w="636269">
                  <a:moveTo>
                    <a:pt x="317982" y="0"/>
                  </a:moveTo>
                  <a:lnTo>
                    <a:pt x="270993" y="3447"/>
                  </a:lnTo>
                  <a:lnTo>
                    <a:pt x="226145" y="13462"/>
                  </a:lnTo>
                  <a:lnTo>
                    <a:pt x="183929" y="29552"/>
                  </a:lnTo>
                  <a:lnTo>
                    <a:pt x="144838" y="51225"/>
                  </a:lnTo>
                  <a:lnTo>
                    <a:pt x="109363" y="77990"/>
                  </a:lnTo>
                  <a:lnTo>
                    <a:pt x="77996" y="109355"/>
                  </a:lnTo>
                  <a:lnTo>
                    <a:pt x="51229" y="144829"/>
                  </a:lnTo>
                  <a:lnTo>
                    <a:pt x="29554" y="183919"/>
                  </a:lnTo>
                  <a:lnTo>
                    <a:pt x="13463" y="226133"/>
                  </a:lnTo>
                  <a:lnTo>
                    <a:pt x="3447" y="270981"/>
                  </a:lnTo>
                  <a:lnTo>
                    <a:pt x="0" y="317969"/>
                  </a:lnTo>
                  <a:lnTo>
                    <a:pt x="3447" y="364958"/>
                  </a:lnTo>
                  <a:lnTo>
                    <a:pt x="13463" y="409805"/>
                  </a:lnTo>
                  <a:lnTo>
                    <a:pt x="29554" y="452020"/>
                  </a:lnTo>
                  <a:lnTo>
                    <a:pt x="51229" y="491110"/>
                  </a:lnTo>
                  <a:lnTo>
                    <a:pt x="77996" y="526583"/>
                  </a:lnTo>
                  <a:lnTo>
                    <a:pt x="109363" y="557949"/>
                  </a:lnTo>
                  <a:lnTo>
                    <a:pt x="144838" y="584714"/>
                  </a:lnTo>
                  <a:lnTo>
                    <a:pt x="183929" y="606387"/>
                  </a:lnTo>
                  <a:lnTo>
                    <a:pt x="226145" y="622477"/>
                  </a:lnTo>
                  <a:lnTo>
                    <a:pt x="270993" y="632492"/>
                  </a:lnTo>
                  <a:lnTo>
                    <a:pt x="317982" y="635939"/>
                  </a:lnTo>
                  <a:lnTo>
                    <a:pt x="364968" y="632492"/>
                  </a:lnTo>
                  <a:lnTo>
                    <a:pt x="409813" y="622477"/>
                  </a:lnTo>
                  <a:lnTo>
                    <a:pt x="452027" y="606387"/>
                  </a:lnTo>
                  <a:lnTo>
                    <a:pt x="491117" y="584714"/>
                  </a:lnTo>
                  <a:lnTo>
                    <a:pt x="526591" y="557949"/>
                  </a:lnTo>
                  <a:lnTo>
                    <a:pt x="557957" y="526583"/>
                  </a:lnTo>
                  <a:lnTo>
                    <a:pt x="584723" y="491110"/>
                  </a:lnTo>
                  <a:lnTo>
                    <a:pt x="606398" y="452020"/>
                  </a:lnTo>
                  <a:lnTo>
                    <a:pt x="622489" y="409805"/>
                  </a:lnTo>
                  <a:lnTo>
                    <a:pt x="632504" y="364958"/>
                  </a:lnTo>
                  <a:lnTo>
                    <a:pt x="635952" y="317969"/>
                  </a:lnTo>
                  <a:lnTo>
                    <a:pt x="632504" y="270981"/>
                  </a:lnTo>
                  <a:lnTo>
                    <a:pt x="622489" y="226133"/>
                  </a:lnTo>
                  <a:lnTo>
                    <a:pt x="606398" y="183919"/>
                  </a:lnTo>
                  <a:lnTo>
                    <a:pt x="584723" y="144829"/>
                  </a:lnTo>
                  <a:lnTo>
                    <a:pt x="557957" y="109355"/>
                  </a:lnTo>
                  <a:lnTo>
                    <a:pt x="526591" y="77990"/>
                  </a:lnTo>
                  <a:lnTo>
                    <a:pt x="491117" y="51225"/>
                  </a:lnTo>
                  <a:lnTo>
                    <a:pt x="452027" y="29552"/>
                  </a:lnTo>
                  <a:lnTo>
                    <a:pt x="409813" y="13462"/>
                  </a:lnTo>
                  <a:lnTo>
                    <a:pt x="364968" y="3447"/>
                  </a:lnTo>
                  <a:lnTo>
                    <a:pt x="317982" y="0"/>
                  </a:lnTo>
                  <a:close/>
                </a:path>
              </a:pathLst>
            </a:custGeom>
            <a:solidFill>
              <a:srgbClr val="B7C53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6" name="Google Shape;736;p70"/>
            <p:cNvSpPr/>
            <p:nvPr/>
          </p:nvSpPr>
          <p:spPr>
            <a:xfrm>
              <a:off x="13269914" y="5552758"/>
              <a:ext cx="447040" cy="329565"/>
            </a:xfrm>
            <a:custGeom>
              <a:rect b="b" l="l" r="r" t="t"/>
              <a:pathLst>
                <a:path extrusionOk="0" h="329564" w="447040">
                  <a:moveTo>
                    <a:pt x="406139" y="0"/>
                  </a:moveTo>
                  <a:lnTo>
                    <a:pt x="390071" y="2547"/>
                  </a:lnTo>
                  <a:lnTo>
                    <a:pt x="375756" y="11337"/>
                  </a:lnTo>
                  <a:lnTo>
                    <a:pt x="308979" y="73720"/>
                  </a:lnTo>
                  <a:lnTo>
                    <a:pt x="307608" y="74736"/>
                  </a:lnTo>
                  <a:lnTo>
                    <a:pt x="163006" y="209686"/>
                  </a:lnTo>
                  <a:lnTo>
                    <a:pt x="73305" y="113674"/>
                  </a:lnTo>
                  <a:lnTo>
                    <a:pt x="59619" y="103934"/>
                  </a:lnTo>
                  <a:lnTo>
                    <a:pt x="43759" y="100304"/>
                  </a:lnTo>
                  <a:lnTo>
                    <a:pt x="27689" y="102851"/>
                  </a:lnTo>
                  <a:lnTo>
                    <a:pt x="13374" y="111642"/>
                  </a:lnTo>
                  <a:lnTo>
                    <a:pt x="3629" y="125328"/>
                  </a:lnTo>
                  <a:lnTo>
                    <a:pt x="0" y="141187"/>
                  </a:lnTo>
                  <a:lnTo>
                    <a:pt x="2550" y="157253"/>
                  </a:lnTo>
                  <a:lnTo>
                    <a:pt x="11342" y="171561"/>
                  </a:lnTo>
                  <a:lnTo>
                    <a:pt x="127636" y="296021"/>
                  </a:lnTo>
                  <a:lnTo>
                    <a:pt x="158942" y="329523"/>
                  </a:lnTo>
                  <a:lnTo>
                    <a:pt x="229490" y="263610"/>
                  </a:lnTo>
                  <a:lnTo>
                    <a:pt x="229706" y="263852"/>
                  </a:lnTo>
                  <a:lnTo>
                    <a:pt x="433643" y="73301"/>
                  </a:lnTo>
                  <a:lnTo>
                    <a:pt x="443390" y="59614"/>
                  </a:lnTo>
                  <a:lnTo>
                    <a:pt x="447022" y="43754"/>
                  </a:lnTo>
                  <a:lnTo>
                    <a:pt x="444473" y="27684"/>
                  </a:lnTo>
                  <a:lnTo>
                    <a:pt x="435675" y="13369"/>
                  </a:lnTo>
                  <a:lnTo>
                    <a:pt x="421996" y="3629"/>
                  </a:lnTo>
                  <a:lnTo>
                    <a:pt x="4061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37" name="Google Shape;737;p70"/>
          <p:cNvSpPr txBox="1"/>
          <p:nvPr/>
        </p:nvSpPr>
        <p:spPr>
          <a:xfrm>
            <a:off x="14573386" y="6359512"/>
            <a:ext cx="1853270" cy="277320"/>
          </a:xfrm>
          <a:prstGeom prst="rect">
            <a:avLst/>
          </a:prstGeom>
          <a:noFill/>
          <a:ln>
            <a:noFill/>
          </a:ln>
        </p:spPr>
        <p:txBody>
          <a:bodyPr anchorCtr="0" anchor="t" bIns="0" lIns="0" spcFirstLastPara="1" rIns="0" wrap="square" tIns="12700">
            <a:spAutoFit/>
          </a:bodyPr>
          <a:lstStyle/>
          <a:p>
            <a:pPr indent="364490" lvl="0" marL="12700" marR="5080" rtl="0" algn="l">
              <a:lnSpc>
                <a:spcPct val="136900"/>
              </a:lnSpc>
              <a:spcBef>
                <a:spcPts val="0"/>
              </a:spcBef>
              <a:spcAft>
                <a:spcPts val="0"/>
              </a:spcAft>
              <a:buNone/>
            </a:pPr>
            <a:r>
              <a:rPr b="1" i="0" lang="en-US" sz="1400" u="none" cap="none" strike="noStrike">
                <a:solidFill>
                  <a:srgbClr val="4D4D4F"/>
                </a:solidFill>
                <a:latin typeface="Bai Jamjuree"/>
                <a:ea typeface="Bai Jamjuree"/>
                <a:cs typeface="Bai Jamjuree"/>
                <a:sym typeface="Bai Jamjuree"/>
              </a:rPr>
              <a:t>Customer data</a:t>
            </a:r>
            <a:endParaRPr b="0" i="0" sz="1400" u="none" cap="none" strike="noStrike">
              <a:solidFill>
                <a:srgbClr val="000000"/>
              </a:solidFill>
              <a:latin typeface="Bai Jamjuree"/>
              <a:ea typeface="Bai Jamjuree"/>
              <a:cs typeface="Bai Jamjuree"/>
              <a:sym typeface="Bai Jamjuree"/>
            </a:endParaRPr>
          </a:p>
        </p:txBody>
      </p:sp>
      <p:grpSp>
        <p:nvGrpSpPr>
          <p:cNvPr id="738" name="Google Shape;738;p70"/>
          <p:cNvGrpSpPr/>
          <p:nvPr/>
        </p:nvGrpSpPr>
        <p:grpSpPr>
          <a:xfrm>
            <a:off x="15283001" y="5669600"/>
            <a:ext cx="636270" cy="636270"/>
            <a:chOff x="13178863" y="6846378"/>
            <a:chExt cx="636270" cy="636270"/>
          </a:xfrm>
        </p:grpSpPr>
        <p:sp>
          <p:nvSpPr>
            <p:cNvPr id="739" name="Google Shape;739;p70"/>
            <p:cNvSpPr/>
            <p:nvPr/>
          </p:nvSpPr>
          <p:spPr>
            <a:xfrm>
              <a:off x="13178863" y="6846378"/>
              <a:ext cx="636270" cy="636270"/>
            </a:xfrm>
            <a:custGeom>
              <a:rect b="b" l="l" r="r" t="t"/>
              <a:pathLst>
                <a:path extrusionOk="0" h="636270" w="636269">
                  <a:moveTo>
                    <a:pt x="317982" y="0"/>
                  </a:moveTo>
                  <a:lnTo>
                    <a:pt x="270993" y="3447"/>
                  </a:lnTo>
                  <a:lnTo>
                    <a:pt x="226145" y="13462"/>
                  </a:lnTo>
                  <a:lnTo>
                    <a:pt x="183929" y="29552"/>
                  </a:lnTo>
                  <a:lnTo>
                    <a:pt x="144838" y="51225"/>
                  </a:lnTo>
                  <a:lnTo>
                    <a:pt x="109363" y="77990"/>
                  </a:lnTo>
                  <a:lnTo>
                    <a:pt x="77996" y="109355"/>
                  </a:lnTo>
                  <a:lnTo>
                    <a:pt x="51229" y="144829"/>
                  </a:lnTo>
                  <a:lnTo>
                    <a:pt x="29554" y="183919"/>
                  </a:lnTo>
                  <a:lnTo>
                    <a:pt x="13463" y="226133"/>
                  </a:lnTo>
                  <a:lnTo>
                    <a:pt x="3447" y="270981"/>
                  </a:lnTo>
                  <a:lnTo>
                    <a:pt x="0" y="317969"/>
                  </a:lnTo>
                  <a:lnTo>
                    <a:pt x="3447" y="364958"/>
                  </a:lnTo>
                  <a:lnTo>
                    <a:pt x="13463" y="409805"/>
                  </a:lnTo>
                  <a:lnTo>
                    <a:pt x="29554" y="452020"/>
                  </a:lnTo>
                  <a:lnTo>
                    <a:pt x="51229" y="491110"/>
                  </a:lnTo>
                  <a:lnTo>
                    <a:pt x="77996" y="526583"/>
                  </a:lnTo>
                  <a:lnTo>
                    <a:pt x="109363" y="557949"/>
                  </a:lnTo>
                  <a:lnTo>
                    <a:pt x="144838" y="584714"/>
                  </a:lnTo>
                  <a:lnTo>
                    <a:pt x="183929" y="606387"/>
                  </a:lnTo>
                  <a:lnTo>
                    <a:pt x="226145" y="622477"/>
                  </a:lnTo>
                  <a:lnTo>
                    <a:pt x="270993" y="632492"/>
                  </a:lnTo>
                  <a:lnTo>
                    <a:pt x="317982" y="635939"/>
                  </a:lnTo>
                  <a:lnTo>
                    <a:pt x="364968" y="632492"/>
                  </a:lnTo>
                  <a:lnTo>
                    <a:pt x="409813" y="622477"/>
                  </a:lnTo>
                  <a:lnTo>
                    <a:pt x="452027" y="606387"/>
                  </a:lnTo>
                  <a:lnTo>
                    <a:pt x="491117" y="584714"/>
                  </a:lnTo>
                  <a:lnTo>
                    <a:pt x="526591" y="557949"/>
                  </a:lnTo>
                  <a:lnTo>
                    <a:pt x="557957" y="526583"/>
                  </a:lnTo>
                  <a:lnTo>
                    <a:pt x="584723" y="491110"/>
                  </a:lnTo>
                  <a:lnTo>
                    <a:pt x="606398" y="452020"/>
                  </a:lnTo>
                  <a:lnTo>
                    <a:pt x="622489" y="409805"/>
                  </a:lnTo>
                  <a:lnTo>
                    <a:pt x="632504" y="364958"/>
                  </a:lnTo>
                  <a:lnTo>
                    <a:pt x="635952" y="317969"/>
                  </a:lnTo>
                  <a:lnTo>
                    <a:pt x="632504" y="270981"/>
                  </a:lnTo>
                  <a:lnTo>
                    <a:pt x="622489" y="226133"/>
                  </a:lnTo>
                  <a:lnTo>
                    <a:pt x="606398" y="183919"/>
                  </a:lnTo>
                  <a:lnTo>
                    <a:pt x="584723" y="144829"/>
                  </a:lnTo>
                  <a:lnTo>
                    <a:pt x="557957" y="109355"/>
                  </a:lnTo>
                  <a:lnTo>
                    <a:pt x="526591" y="77990"/>
                  </a:lnTo>
                  <a:lnTo>
                    <a:pt x="491117" y="51225"/>
                  </a:lnTo>
                  <a:lnTo>
                    <a:pt x="452027" y="29552"/>
                  </a:lnTo>
                  <a:lnTo>
                    <a:pt x="409813" y="13462"/>
                  </a:lnTo>
                  <a:lnTo>
                    <a:pt x="364968" y="3447"/>
                  </a:lnTo>
                  <a:lnTo>
                    <a:pt x="317982" y="0"/>
                  </a:lnTo>
                  <a:close/>
                </a:path>
              </a:pathLst>
            </a:custGeom>
            <a:solidFill>
              <a:srgbClr val="B7C53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0" name="Google Shape;740;p70"/>
            <p:cNvSpPr/>
            <p:nvPr/>
          </p:nvSpPr>
          <p:spPr>
            <a:xfrm>
              <a:off x="13269914" y="7023388"/>
              <a:ext cx="447040" cy="329565"/>
            </a:xfrm>
            <a:custGeom>
              <a:rect b="b" l="l" r="r" t="t"/>
              <a:pathLst>
                <a:path extrusionOk="0" h="329565" w="447040">
                  <a:moveTo>
                    <a:pt x="406139" y="0"/>
                  </a:moveTo>
                  <a:lnTo>
                    <a:pt x="390071" y="2547"/>
                  </a:lnTo>
                  <a:lnTo>
                    <a:pt x="375756" y="11337"/>
                  </a:lnTo>
                  <a:lnTo>
                    <a:pt x="308979" y="73720"/>
                  </a:lnTo>
                  <a:lnTo>
                    <a:pt x="307608" y="74736"/>
                  </a:lnTo>
                  <a:lnTo>
                    <a:pt x="163006" y="209686"/>
                  </a:lnTo>
                  <a:lnTo>
                    <a:pt x="73305" y="113674"/>
                  </a:lnTo>
                  <a:lnTo>
                    <a:pt x="59619" y="103934"/>
                  </a:lnTo>
                  <a:lnTo>
                    <a:pt x="43759" y="100304"/>
                  </a:lnTo>
                  <a:lnTo>
                    <a:pt x="27689" y="102851"/>
                  </a:lnTo>
                  <a:lnTo>
                    <a:pt x="13374" y="111642"/>
                  </a:lnTo>
                  <a:lnTo>
                    <a:pt x="3629" y="125328"/>
                  </a:lnTo>
                  <a:lnTo>
                    <a:pt x="0" y="141187"/>
                  </a:lnTo>
                  <a:lnTo>
                    <a:pt x="2550" y="157253"/>
                  </a:lnTo>
                  <a:lnTo>
                    <a:pt x="11342" y="171561"/>
                  </a:lnTo>
                  <a:lnTo>
                    <a:pt x="127636" y="296021"/>
                  </a:lnTo>
                  <a:lnTo>
                    <a:pt x="158942" y="329523"/>
                  </a:lnTo>
                  <a:lnTo>
                    <a:pt x="229490" y="263610"/>
                  </a:lnTo>
                  <a:lnTo>
                    <a:pt x="229706" y="263852"/>
                  </a:lnTo>
                  <a:lnTo>
                    <a:pt x="433643" y="73301"/>
                  </a:lnTo>
                  <a:lnTo>
                    <a:pt x="443390" y="59614"/>
                  </a:lnTo>
                  <a:lnTo>
                    <a:pt x="447022" y="43754"/>
                  </a:lnTo>
                  <a:lnTo>
                    <a:pt x="444473" y="27684"/>
                  </a:lnTo>
                  <a:lnTo>
                    <a:pt x="435675" y="13369"/>
                  </a:lnTo>
                  <a:lnTo>
                    <a:pt x="421996" y="3629"/>
                  </a:lnTo>
                  <a:lnTo>
                    <a:pt x="4061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41" name="Google Shape;741;p70"/>
          <p:cNvSpPr txBox="1"/>
          <p:nvPr/>
        </p:nvSpPr>
        <p:spPr>
          <a:xfrm>
            <a:off x="3273213" y="1725770"/>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Tích hợp real-time với hệ thống bán hàng hiện có</a:t>
            </a:r>
            <a:endParaRPr b="1" i="0" sz="3200" u="none" cap="none" strike="noStrike">
              <a:solidFill>
                <a:srgbClr val="0050AB"/>
              </a:solidFill>
              <a:latin typeface="Bai Jamjuree"/>
              <a:ea typeface="Bai Jamjuree"/>
              <a:cs typeface="Bai Jamjuree"/>
              <a:sym typeface="Bai Jamjuree"/>
            </a:endParaRPr>
          </a:p>
        </p:txBody>
      </p:sp>
      <p:pic>
        <p:nvPicPr>
          <p:cNvPr descr="Syncing cloud outline" id="742" name="Google Shape;742;p70"/>
          <p:cNvPicPr preferRelativeResize="0"/>
          <p:nvPr/>
        </p:nvPicPr>
        <p:blipFill rotWithShape="1">
          <a:blip r:embed="rId8">
            <a:alphaModFix/>
          </a:blip>
          <a:srcRect b="0" l="0" r="0" t="0"/>
          <a:stretch/>
        </p:blipFill>
        <p:spPr>
          <a:xfrm>
            <a:off x="1642097" y="6210995"/>
            <a:ext cx="528092" cy="528092"/>
          </a:xfrm>
          <a:prstGeom prst="rect">
            <a:avLst/>
          </a:prstGeom>
          <a:noFill/>
          <a:ln>
            <a:noFill/>
          </a:ln>
        </p:spPr>
      </p:pic>
      <p:sp>
        <p:nvSpPr>
          <p:cNvPr id="743" name="Google Shape;743;p70"/>
          <p:cNvSpPr/>
          <p:nvPr/>
        </p:nvSpPr>
        <p:spPr>
          <a:xfrm>
            <a:off x="1393371" y="7474857"/>
            <a:ext cx="15865929" cy="1515234"/>
          </a:xfrm>
          <a:prstGeom prst="rect">
            <a:avLst/>
          </a:prstGeom>
          <a:solidFill>
            <a:schemeClr val="accent1">
              <a:alpha val="49803"/>
            </a:schemeClr>
          </a:solidFill>
          <a:ln>
            <a:noFill/>
          </a:ln>
        </p:spPr>
        <p:txBody>
          <a:bodyPr anchorCtr="0" anchor="ctr" bIns="45700" lIns="91425" spcFirstLastPara="1" rIns="91425" wrap="square" tIns="45700">
            <a:noAutofit/>
          </a:bodyPr>
          <a:lstStyle/>
          <a:p>
            <a:pPr indent="0" lvl="0" marL="50800" marR="0" rtl="0" algn="l">
              <a:lnSpc>
                <a:spcPct val="100000"/>
              </a:lnSpc>
              <a:spcBef>
                <a:spcPts val="0"/>
              </a:spcBef>
              <a:spcAft>
                <a:spcPts val="0"/>
              </a:spcAft>
              <a:buNone/>
            </a:pPr>
            <a:r>
              <a:rPr b="1" i="0" lang="en-US" sz="2000" u="none" cap="none" strike="noStrike">
                <a:solidFill>
                  <a:srgbClr val="17365D"/>
                </a:solidFill>
                <a:latin typeface="Bai Jamjuree"/>
                <a:ea typeface="Bai Jamjuree"/>
                <a:cs typeface="Bai Jamjuree"/>
                <a:sym typeface="Bai Jamjuree"/>
              </a:rPr>
              <a:t>🎯 Lợi ích tích hợp POS với Smart Planogram</a:t>
            </a:r>
            <a:endParaRPr b="1" i="0" sz="1600" u="none" cap="none" strike="noStrike">
              <a:solidFill>
                <a:srgbClr val="17365D"/>
              </a:solidFill>
              <a:latin typeface="Bai Jamjuree"/>
              <a:ea typeface="Bai Jamjuree"/>
              <a:cs typeface="Bai Jamjuree"/>
              <a:sym typeface="Bai Jamjuree"/>
            </a:endParaRPr>
          </a:p>
          <a:p>
            <a:pPr indent="0" lvl="0" marL="465138" marR="0" rtl="0" algn="l">
              <a:lnSpc>
                <a:spcPct val="150000"/>
              </a:lnSpc>
              <a:spcBef>
                <a:spcPts val="0"/>
              </a:spcBef>
              <a:spcAft>
                <a:spcPts val="0"/>
              </a:spcAft>
              <a:buNone/>
            </a:pPr>
            <a:r>
              <a:rPr b="0" i="0" lang="en-US" sz="1600" u="none" cap="none" strike="noStrike">
                <a:solidFill>
                  <a:srgbClr val="17365D"/>
                </a:solidFill>
                <a:latin typeface="Bai Jamjuree"/>
                <a:ea typeface="Bai Jamjuree"/>
                <a:cs typeface="Bai Jamjuree"/>
                <a:sym typeface="Bai Jamjuree"/>
              </a:rPr>
              <a:t>Kết nối trực tiếp với hệ thống POS giúp Smart Planogram phân tích dữ liệu bán hàng thực tế, tự động đề xuất tối ưu hóa vị trí sản phẩm dựa trên        hiệu suất thực tế, giảm thiểu tồn kho và tăng doanh thu.</a:t>
            </a:r>
            <a:endParaRPr b="0" i="0" sz="1600" u="none" cap="none" strike="noStrike">
              <a:solidFill>
                <a:srgbClr val="17365D"/>
              </a:solidFill>
              <a:latin typeface="Bai Jamjuree"/>
              <a:ea typeface="Bai Jamjuree"/>
              <a:cs typeface="Bai Jamjuree"/>
              <a:sym typeface="Bai Jamjuree"/>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49" name="Google Shape;749;p71"/>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750" name="Google Shape;750;p71"/>
          <p:cNvGrpSpPr/>
          <p:nvPr/>
        </p:nvGrpSpPr>
        <p:grpSpPr>
          <a:xfrm>
            <a:off x="5776170" y="9896475"/>
            <a:ext cx="6735680" cy="408188"/>
            <a:chOff x="0" y="0"/>
            <a:chExt cx="8980907" cy="544250"/>
          </a:xfrm>
        </p:grpSpPr>
        <p:sp>
          <p:nvSpPr>
            <p:cNvPr id="751" name="Google Shape;751;p71"/>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52" name="Google Shape;752;p71"/>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753" name="Google Shape;753;p71"/>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754" name="Google Shape;754;p71"/>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55" name="Google Shape;755;p71"/>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ĐỒNG BỘ DỮ LIỆU TỪ MÁY POS</a:t>
            </a:r>
            <a:endParaRPr/>
          </a:p>
        </p:txBody>
      </p:sp>
      <p:sp>
        <p:nvSpPr>
          <p:cNvPr id="756" name="Google Shape;756;p71"/>
          <p:cNvSpPr txBox="1"/>
          <p:nvPr/>
        </p:nvSpPr>
        <p:spPr>
          <a:xfrm>
            <a:off x="716914" y="262207"/>
            <a:ext cx="69901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757" name="Google Shape;757;p71"/>
          <p:cNvSpPr txBox="1"/>
          <p:nvPr/>
        </p:nvSpPr>
        <p:spPr>
          <a:xfrm>
            <a:off x="1958927" y="8841108"/>
            <a:ext cx="14370143" cy="443198"/>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0" i="0" lang="en-US" sz="2400" u="none" cap="none" strike="noStrike">
                <a:solidFill>
                  <a:srgbClr val="0050AB"/>
                </a:solidFill>
                <a:latin typeface="Bai Jamjuree"/>
                <a:ea typeface="Bai Jamjuree"/>
                <a:cs typeface="Bai Jamjuree"/>
                <a:sym typeface="Bai Jamjuree"/>
              </a:rPr>
              <a:t>Xem thông tin sản phẩm và tồn kho ngay trên Smart Planogram</a:t>
            </a:r>
            <a:endParaRPr b="0" i="0" sz="2400" u="none" cap="none" strike="noStrike">
              <a:solidFill>
                <a:srgbClr val="0050AB"/>
              </a:solidFill>
              <a:latin typeface="Bai Jamjuree"/>
              <a:ea typeface="Bai Jamjuree"/>
              <a:cs typeface="Bai Jamjuree"/>
              <a:sym typeface="Bai Jamjuree"/>
            </a:endParaRPr>
          </a:p>
        </p:txBody>
      </p:sp>
      <p:pic>
        <p:nvPicPr>
          <p:cNvPr id="758" name="Google Shape;758;p71"/>
          <p:cNvPicPr preferRelativeResize="0"/>
          <p:nvPr/>
        </p:nvPicPr>
        <p:blipFill rotWithShape="1">
          <a:blip r:embed="rId4">
            <a:alphaModFix/>
          </a:blip>
          <a:srcRect b="0" l="0" r="0" t="0"/>
          <a:stretch/>
        </p:blipFill>
        <p:spPr>
          <a:xfrm>
            <a:off x="1857085" y="1115444"/>
            <a:ext cx="15070653" cy="741148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72"/>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64" name="Google Shape;764;p72"/>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765" name="Google Shape;765;p72"/>
          <p:cNvGrpSpPr/>
          <p:nvPr/>
        </p:nvGrpSpPr>
        <p:grpSpPr>
          <a:xfrm>
            <a:off x="5776170" y="9896475"/>
            <a:ext cx="6735680" cy="408188"/>
            <a:chOff x="0" y="0"/>
            <a:chExt cx="8980907" cy="544250"/>
          </a:xfrm>
        </p:grpSpPr>
        <p:sp>
          <p:nvSpPr>
            <p:cNvPr id="766" name="Google Shape;766;p72"/>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67" name="Google Shape;767;p72"/>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768" name="Google Shape;768;p72"/>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769" name="Google Shape;769;p72"/>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70" name="Google Shape;770;p72"/>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ĐỒNG BỘ DỮ LIỆU TỪ MÁY POS</a:t>
            </a:r>
            <a:endParaRPr/>
          </a:p>
        </p:txBody>
      </p:sp>
      <p:sp>
        <p:nvSpPr>
          <p:cNvPr id="771" name="Google Shape;771;p72"/>
          <p:cNvSpPr txBox="1"/>
          <p:nvPr/>
        </p:nvSpPr>
        <p:spPr>
          <a:xfrm>
            <a:off x="716914" y="262207"/>
            <a:ext cx="69901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772" name="Google Shape;772;p72"/>
          <p:cNvSpPr txBox="1"/>
          <p:nvPr/>
        </p:nvSpPr>
        <p:spPr>
          <a:xfrm>
            <a:off x="1958927" y="9190855"/>
            <a:ext cx="14370143" cy="443198"/>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0" i="0" lang="en-US" sz="2400" u="none" cap="none" strike="noStrike">
                <a:solidFill>
                  <a:srgbClr val="0050AB"/>
                </a:solidFill>
                <a:latin typeface="Bai Jamjuree"/>
                <a:ea typeface="Bai Jamjuree"/>
                <a:cs typeface="Bai Jamjuree"/>
                <a:sym typeface="Bai Jamjuree"/>
              </a:rPr>
              <a:t>Xem data bán hàng được đồng bộ từ POS</a:t>
            </a:r>
            <a:endParaRPr b="0" i="0" sz="2400" u="none" cap="none" strike="noStrike">
              <a:solidFill>
                <a:srgbClr val="0050AB"/>
              </a:solidFill>
              <a:latin typeface="Bai Jamjuree"/>
              <a:ea typeface="Bai Jamjuree"/>
              <a:cs typeface="Bai Jamjuree"/>
              <a:sym typeface="Bai Jamjuree"/>
            </a:endParaRPr>
          </a:p>
        </p:txBody>
      </p:sp>
      <p:pic>
        <p:nvPicPr>
          <p:cNvPr id="773" name="Google Shape;773;p72"/>
          <p:cNvPicPr preferRelativeResize="0"/>
          <p:nvPr/>
        </p:nvPicPr>
        <p:blipFill rotWithShape="1">
          <a:blip r:embed="rId4">
            <a:alphaModFix/>
          </a:blip>
          <a:srcRect b="0" l="0" r="0" t="0"/>
          <a:stretch/>
        </p:blipFill>
        <p:spPr>
          <a:xfrm>
            <a:off x="3525530" y="1165097"/>
            <a:ext cx="10888595" cy="7554379"/>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7" name="Shape 777"/>
        <p:cNvGrpSpPr/>
        <p:nvPr/>
      </p:nvGrpSpPr>
      <p:grpSpPr>
        <a:xfrm>
          <a:off x="0" y="0"/>
          <a:ext cx="0" cy="0"/>
          <a:chOff x="0" y="0"/>
          <a:chExt cx="0" cy="0"/>
        </a:xfrm>
      </p:grpSpPr>
      <p:sp>
        <p:nvSpPr>
          <p:cNvPr id="778" name="Google Shape;778;p73"/>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79" name="Google Shape;779;p73"/>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780" name="Google Shape;780;p73"/>
          <p:cNvGrpSpPr/>
          <p:nvPr/>
        </p:nvGrpSpPr>
        <p:grpSpPr>
          <a:xfrm>
            <a:off x="5776170" y="9896475"/>
            <a:ext cx="6735680" cy="408188"/>
            <a:chOff x="0" y="0"/>
            <a:chExt cx="8980907" cy="544250"/>
          </a:xfrm>
        </p:grpSpPr>
        <p:sp>
          <p:nvSpPr>
            <p:cNvPr id="781" name="Google Shape;781;p73"/>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82" name="Google Shape;782;p73"/>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783" name="Google Shape;783;p73"/>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784" name="Google Shape;784;p73"/>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85" name="Google Shape;785;p73"/>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QUẢN LÝ VÀ LƯU TRỮ LAYOUT DỄ DÀNG</a:t>
            </a:r>
            <a:endParaRPr/>
          </a:p>
        </p:txBody>
      </p:sp>
      <p:sp>
        <p:nvSpPr>
          <p:cNvPr id="786" name="Google Shape;786;p73"/>
          <p:cNvSpPr txBox="1"/>
          <p:nvPr/>
        </p:nvSpPr>
        <p:spPr>
          <a:xfrm>
            <a:off x="716913" y="262207"/>
            <a:ext cx="9414057"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787" name="Google Shape;787;p73"/>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Có thể save layout theo từng cửa hàng dễ dàng</a:t>
            </a:r>
            <a:endParaRPr b="1" i="0" sz="3200" u="none" cap="none" strike="noStrike">
              <a:solidFill>
                <a:srgbClr val="0050AB"/>
              </a:solidFill>
              <a:latin typeface="Bai Jamjuree"/>
              <a:ea typeface="Bai Jamjuree"/>
              <a:cs typeface="Bai Jamjuree"/>
              <a:sym typeface="Bai Jamjuree"/>
            </a:endParaRPr>
          </a:p>
        </p:txBody>
      </p:sp>
      <p:pic>
        <p:nvPicPr>
          <p:cNvPr id="788" name="Google Shape;788;p73"/>
          <p:cNvPicPr preferRelativeResize="0"/>
          <p:nvPr/>
        </p:nvPicPr>
        <p:blipFill rotWithShape="1">
          <a:blip r:embed="rId4">
            <a:alphaModFix/>
          </a:blip>
          <a:srcRect b="0" l="0" r="0" t="0"/>
          <a:stretch/>
        </p:blipFill>
        <p:spPr>
          <a:xfrm>
            <a:off x="934050" y="3299886"/>
            <a:ext cx="7135221" cy="3191320"/>
          </a:xfrm>
          <a:prstGeom prst="rect">
            <a:avLst/>
          </a:prstGeom>
          <a:noFill/>
          <a:ln>
            <a:noFill/>
          </a:ln>
          <a:effectLst>
            <a:outerShdw blurRad="292100" rotWithShape="0" algn="tl" dir="2700000" dist="139700">
              <a:srgbClr val="333333">
                <a:alpha val="64705"/>
              </a:srgbClr>
            </a:outerShdw>
          </a:effectLst>
        </p:spPr>
      </p:pic>
      <p:sp>
        <p:nvSpPr>
          <p:cNvPr id="789" name="Google Shape;789;p73"/>
          <p:cNvSpPr/>
          <p:nvPr/>
        </p:nvSpPr>
        <p:spPr>
          <a:xfrm>
            <a:off x="716914" y="1770019"/>
            <a:ext cx="2309843" cy="1139058"/>
          </a:xfrm>
          <a:prstGeom prst="wedgeRoundRectCallout">
            <a:avLst>
              <a:gd fmla="val 41961" name="adj1"/>
              <a:gd fmla="val 90648"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Click button thực hiện save layout</a:t>
            </a:r>
            <a:endParaRPr/>
          </a:p>
        </p:txBody>
      </p:sp>
      <p:pic>
        <p:nvPicPr>
          <p:cNvPr id="790" name="Google Shape;790;p73"/>
          <p:cNvPicPr preferRelativeResize="0"/>
          <p:nvPr/>
        </p:nvPicPr>
        <p:blipFill rotWithShape="1">
          <a:blip r:embed="rId5">
            <a:alphaModFix/>
          </a:blip>
          <a:srcRect b="0" l="0" r="0" t="0"/>
          <a:stretch/>
        </p:blipFill>
        <p:spPr>
          <a:xfrm>
            <a:off x="9114886" y="3298939"/>
            <a:ext cx="6550883" cy="5986151"/>
          </a:xfrm>
          <a:prstGeom prst="rect">
            <a:avLst/>
          </a:prstGeom>
          <a:noFill/>
          <a:ln>
            <a:noFill/>
          </a:ln>
          <a:effectLst>
            <a:outerShdw blurRad="292100" rotWithShape="0" algn="tl" dir="2700000" dist="139700">
              <a:srgbClr val="333333">
                <a:alpha val="64705"/>
              </a:srgbClr>
            </a:outerShdw>
          </a:effectLst>
        </p:spPr>
      </p:pic>
      <p:sp>
        <p:nvSpPr>
          <p:cNvPr id="791" name="Google Shape;791;p73"/>
          <p:cNvSpPr/>
          <p:nvPr/>
        </p:nvSpPr>
        <p:spPr>
          <a:xfrm>
            <a:off x="15207732" y="5328839"/>
            <a:ext cx="2309843" cy="1139058"/>
          </a:xfrm>
          <a:prstGeom prst="wedgeRoundRectCallout">
            <a:avLst>
              <a:gd fmla="val -68610" name="adj1"/>
              <a:gd fmla="val -15926"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Đặt tên và mô tả giúp dễ quản lý</a:t>
            </a:r>
            <a:endParaRPr b="0" i="0" sz="1800" u="none" cap="none" strike="noStrike">
              <a:solidFill>
                <a:srgbClr val="1A237D"/>
              </a:solidFill>
              <a:latin typeface="Bai Jamjuree"/>
              <a:ea typeface="Bai Jamjuree"/>
              <a:cs typeface="Bai Jamjuree"/>
              <a:sym typeface="Bai Jamjure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5" name="Shape 795"/>
        <p:cNvGrpSpPr/>
        <p:nvPr/>
      </p:nvGrpSpPr>
      <p:grpSpPr>
        <a:xfrm>
          <a:off x="0" y="0"/>
          <a:ext cx="0" cy="0"/>
          <a:chOff x="0" y="0"/>
          <a:chExt cx="0" cy="0"/>
        </a:xfrm>
      </p:grpSpPr>
      <p:pic>
        <p:nvPicPr>
          <p:cNvPr id="796" name="Google Shape;796;p74"/>
          <p:cNvPicPr preferRelativeResize="0"/>
          <p:nvPr/>
        </p:nvPicPr>
        <p:blipFill rotWithShape="1">
          <a:blip r:embed="rId3">
            <a:alphaModFix/>
          </a:blip>
          <a:srcRect b="0" l="0" r="0" t="0"/>
          <a:stretch/>
        </p:blipFill>
        <p:spPr>
          <a:xfrm>
            <a:off x="1701553" y="2354963"/>
            <a:ext cx="15117121" cy="6169932"/>
          </a:xfrm>
          <a:prstGeom prst="rect">
            <a:avLst/>
          </a:prstGeom>
          <a:noFill/>
          <a:ln>
            <a:noFill/>
          </a:ln>
          <a:effectLst>
            <a:outerShdw blurRad="292100" rotWithShape="0" algn="tl" dir="2700000" dist="139700">
              <a:srgbClr val="333333">
                <a:alpha val="64705"/>
              </a:srgbClr>
            </a:outerShdw>
          </a:effectLst>
        </p:spPr>
      </p:pic>
      <p:sp>
        <p:nvSpPr>
          <p:cNvPr id="797" name="Google Shape;797;p74"/>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798" name="Google Shape;798;p74"/>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799" name="Google Shape;799;p74"/>
          <p:cNvGrpSpPr/>
          <p:nvPr/>
        </p:nvGrpSpPr>
        <p:grpSpPr>
          <a:xfrm>
            <a:off x="5776170" y="9896475"/>
            <a:ext cx="6735680" cy="408188"/>
            <a:chOff x="0" y="0"/>
            <a:chExt cx="8980907" cy="544250"/>
          </a:xfrm>
        </p:grpSpPr>
        <p:sp>
          <p:nvSpPr>
            <p:cNvPr id="800" name="Google Shape;800;p74"/>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01" name="Google Shape;801;p74"/>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802" name="Google Shape;802;p74"/>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803" name="Google Shape;803;p74"/>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04" name="Google Shape;804;p74"/>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QUẢN LÝ VÀ LƯU TRỮ LAYOUT DỄ DÀNG</a:t>
            </a:r>
            <a:endParaRPr/>
          </a:p>
        </p:txBody>
      </p:sp>
      <p:sp>
        <p:nvSpPr>
          <p:cNvPr id="805" name="Google Shape;805;p74"/>
          <p:cNvSpPr txBox="1"/>
          <p:nvPr/>
        </p:nvSpPr>
        <p:spPr>
          <a:xfrm>
            <a:off x="716913" y="262207"/>
            <a:ext cx="94866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806" name="Google Shape;806;p74"/>
          <p:cNvSpPr/>
          <p:nvPr/>
        </p:nvSpPr>
        <p:spPr>
          <a:xfrm>
            <a:off x="12639532" y="2771073"/>
            <a:ext cx="2309843" cy="1139058"/>
          </a:xfrm>
          <a:prstGeom prst="wedgeRoundRectCallout">
            <a:avLst>
              <a:gd fmla="val -59054" name="adj1"/>
              <a:gd fmla="val 112794" name="adj2"/>
              <a:gd fmla="val 16667" name="adj3"/>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1A237D"/>
                </a:solidFill>
                <a:latin typeface="Bai Jamjuree"/>
                <a:ea typeface="Bai Jamjuree"/>
                <a:cs typeface="Bai Jamjuree"/>
                <a:sym typeface="Bai Jamjuree"/>
              </a:rPr>
              <a:t>Có thể tìm kiếm và load layout đã save</a:t>
            </a:r>
            <a:endParaRPr/>
          </a:p>
        </p:txBody>
      </p:sp>
      <p:sp>
        <p:nvSpPr>
          <p:cNvPr id="807" name="Google Shape;807;p74"/>
          <p:cNvSpPr txBox="1"/>
          <p:nvPr/>
        </p:nvSpPr>
        <p:spPr>
          <a:xfrm>
            <a:off x="3085987" y="1333577"/>
            <a:ext cx="10708467" cy="590931"/>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3200" u="none" cap="none" strike="noStrike">
                <a:solidFill>
                  <a:srgbClr val="0050AB"/>
                </a:solidFill>
                <a:latin typeface="Bai Jamjuree"/>
                <a:ea typeface="Bai Jamjuree"/>
                <a:cs typeface="Bai Jamjuree"/>
                <a:sym typeface="Bai Jamjuree"/>
              </a:rPr>
              <a:t>Có thể save layout theo từng cửa hàng dễ dàng</a:t>
            </a:r>
            <a:endParaRPr b="1" i="0" sz="3200" u="none" cap="none" strike="noStrike">
              <a:solidFill>
                <a:srgbClr val="0050AB"/>
              </a:solidFill>
              <a:latin typeface="Bai Jamjuree"/>
              <a:ea typeface="Bai Jamjuree"/>
              <a:cs typeface="Bai Jamjuree"/>
              <a:sym typeface="Bai Jamjure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1" name="Shape 811"/>
        <p:cNvGrpSpPr/>
        <p:nvPr/>
      </p:nvGrpSpPr>
      <p:grpSpPr>
        <a:xfrm>
          <a:off x="0" y="0"/>
          <a:ext cx="0" cy="0"/>
          <a:chOff x="0" y="0"/>
          <a:chExt cx="0" cy="0"/>
        </a:xfrm>
      </p:grpSpPr>
      <p:sp>
        <p:nvSpPr>
          <p:cNvPr id="812" name="Google Shape;812;p75"/>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13" name="Google Shape;813;p75"/>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814" name="Google Shape;814;p75"/>
          <p:cNvGrpSpPr/>
          <p:nvPr/>
        </p:nvGrpSpPr>
        <p:grpSpPr>
          <a:xfrm>
            <a:off x="5776170" y="9896475"/>
            <a:ext cx="6735680" cy="408188"/>
            <a:chOff x="0" y="0"/>
            <a:chExt cx="8980907" cy="544250"/>
          </a:xfrm>
        </p:grpSpPr>
        <p:sp>
          <p:nvSpPr>
            <p:cNvPr id="815" name="Google Shape;815;p75"/>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16" name="Google Shape;816;p75"/>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817" name="Google Shape;817;p75"/>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818" name="Google Shape;818;p75"/>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19" name="Google Shape;819;p75"/>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QUẢN LÝ VÀ LƯU TRỮ LAYOUT DỄ DÀNG</a:t>
            </a:r>
            <a:endParaRPr/>
          </a:p>
        </p:txBody>
      </p:sp>
      <p:sp>
        <p:nvSpPr>
          <p:cNvPr id="820" name="Google Shape;820;p75"/>
          <p:cNvSpPr txBox="1"/>
          <p:nvPr/>
        </p:nvSpPr>
        <p:spPr>
          <a:xfrm>
            <a:off x="716914" y="262207"/>
            <a:ext cx="87173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821" name="Google Shape;821;p75"/>
          <p:cNvSpPr txBox="1"/>
          <p:nvPr/>
        </p:nvSpPr>
        <p:spPr>
          <a:xfrm>
            <a:off x="1196483" y="8620001"/>
            <a:ext cx="16277037" cy="443198"/>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0" i="0" lang="en-US" sz="2400" u="none" cap="none" strike="noStrike">
                <a:solidFill>
                  <a:srgbClr val="0050AB"/>
                </a:solidFill>
                <a:latin typeface="Bai Jamjuree"/>
                <a:ea typeface="Bai Jamjuree"/>
                <a:cs typeface="Bai Jamjuree"/>
                <a:sym typeface="Bai Jamjuree"/>
              </a:rPr>
              <a:t>Data Layout kết hợp và data bán hang từ máy POS sẽ được tổng hợp để so sánh hiệu quả các layout. </a:t>
            </a:r>
            <a:endParaRPr b="0" i="0" sz="2400" u="none" cap="none" strike="noStrike">
              <a:solidFill>
                <a:srgbClr val="0050AB"/>
              </a:solidFill>
              <a:latin typeface="Bai Jamjuree"/>
              <a:ea typeface="Bai Jamjuree"/>
              <a:cs typeface="Bai Jamjuree"/>
              <a:sym typeface="Bai Jamjuree"/>
            </a:endParaRPr>
          </a:p>
        </p:txBody>
      </p:sp>
      <p:pic>
        <p:nvPicPr>
          <p:cNvPr id="822" name="Google Shape;822;p75"/>
          <p:cNvPicPr preferRelativeResize="0"/>
          <p:nvPr/>
        </p:nvPicPr>
        <p:blipFill rotWithShape="1">
          <a:blip r:embed="rId4">
            <a:alphaModFix/>
          </a:blip>
          <a:srcRect b="0" l="0" r="0" t="0"/>
          <a:stretch/>
        </p:blipFill>
        <p:spPr>
          <a:xfrm>
            <a:off x="1499933" y="1036845"/>
            <a:ext cx="15240452" cy="722178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76"/>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28" name="Google Shape;828;p76"/>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829" name="Google Shape;829;p76"/>
          <p:cNvGrpSpPr/>
          <p:nvPr/>
        </p:nvGrpSpPr>
        <p:grpSpPr>
          <a:xfrm>
            <a:off x="5776170" y="9896475"/>
            <a:ext cx="6735680" cy="408188"/>
            <a:chOff x="0" y="0"/>
            <a:chExt cx="8980907" cy="544250"/>
          </a:xfrm>
        </p:grpSpPr>
        <p:sp>
          <p:nvSpPr>
            <p:cNvPr id="830" name="Google Shape;830;p76"/>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31" name="Google Shape;831;p76"/>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832" name="Google Shape;832;p76"/>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833" name="Google Shape;833;p76"/>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34" name="Google Shape;834;p76"/>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DASHBOARD &amp; REPORTS CHI TIẾT</a:t>
            </a:r>
            <a:endParaRPr/>
          </a:p>
        </p:txBody>
      </p:sp>
      <p:sp>
        <p:nvSpPr>
          <p:cNvPr id="835" name="Google Shape;835;p76"/>
          <p:cNvSpPr txBox="1"/>
          <p:nvPr/>
        </p:nvSpPr>
        <p:spPr>
          <a:xfrm>
            <a:off x="716914" y="262207"/>
            <a:ext cx="8212498"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pic>
        <p:nvPicPr>
          <p:cNvPr id="836" name="Google Shape;836;p76"/>
          <p:cNvPicPr preferRelativeResize="0"/>
          <p:nvPr/>
        </p:nvPicPr>
        <p:blipFill rotWithShape="1">
          <a:blip r:embed="rId4">
            <a:alphaModFix/>
          </a:blip>
          <a:srcRect b="0" l="0" r="0" t="0"/>
          <a:stretch/>
        </p:blipFill>
        <p:spPr>
          <a:xfrm>
            <a:off x="9847385" y="884102"/>
            <a:ext cx="7799722" cy="8555320"/>
          </a:xfrm>
          <a:prstGeom prst="rect">
            <a:avLst/>
          </a:prstGeom>
          <a:noFill/>
          <a:ln>
            <a:noFill/>
          </a:ln>
          <a:effectLst>
            <a:outerShdw blurRad="292100" rotWithShape="0" algn="tl" dir="2700000" dist="139700">
              <a:srgbClr val="333333">
                <a:alpha val="64705"/>
              </a:srgbClr>
            </a:outerShdw>
          </a:effectLst>
        </p:spPr>
      </p:pic>
      <p:sp>
        <p:nvSpPr>
          <p:cNvPr id="837" name="Google Shape;837;p76"/>
          <p:cNvSpPr txBox="1"/>
          <p:nvPr/>
        </p:nvSpPr>
        <p:spPr>
          <a:xfrm>
            <a:off x="903164" y="1156098"/>
            <a:ext cx="7988963"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400" u="none" cap="none" strike="noStrike">
                <a:solidFill>
                  <a:srgbClr val="0066CC"/>
                </a:solidFill>
                <a:latin typeface="Bai Jamjuree"/>
                <a:ea typeface="Bai Jamjuree"/>
                <a:cs typeface="Bai Jamjuree"/>
                <a:sym typeface="Bai Jamjuree"/>
              </a:rPr>
              <a:t>Dashboard tổng quan</a:t>
            </a:r>
            <a:endParaRPr b="1" i="0" sz="2400" u="none" cap="none" strike="noStrike">
              <a:solidFill>
                <a:srgbClr val="0066CC"/>
              </a:solidFill>
              <a:latin typeface="Bai Jamjuree"/>
              <a:ea typeface="Bai Jamjuree"/>
              <a:cs typeface="Bai Jamjuree"/>
              <a:sym typeface="Bai Jamjuree"/>
            </a:endParaRPr>
          </a:p>
        </p:txBody>
      </p:sp>
      <p:sp>
        <p:nvSpPr>
          <p:cNvPr id="838" name="Google Shape;838;p76"/>
          <p:cNvSpPr/>
          <p:nvPr/>
        </p:nvSpPr>
        <p:spPr>
          <a:xfrm>
            <a:off x="716914" y="2211213"/>
            <a:ext cx="3429000" cy="447675"/>
          </a:xfrm>
          <a:custGeom>
            <a:rect b="b" l="l" r="r" t="t"/>
            <a:pathLst>
              <a:path extrusionOk="0" h="447675" w="3429000">
                <a:moveTo>
                  <a:pt x="3365500" y="0"/>
                </a:moveTo>
                <a:lnTo>
                  <a:pt x="63500" y="0"/>
                </a:lnTo>
                <a:lnTo>
                  <a:pt x="38785" y="4989"/>
                </a:lnTo>
                <a:lnTo>
                  <a:pt x="18600" y="18595"/>
                </a:lnTo>
                <a:lnTo>
                  <a:pt x="4990" y="38779"/>
                </a:lnTo>
                <a:lnTo>
                  <a:pt x="0" y="63499"/>
                </a:lnTo>
                <a:lnTo>
                  <a:pt x="0" y="383755"/>
                </a:lnTo>
                <a:lnTo>
                  <a:pt x="4990" y="408470"/>
                </a:lnTo>
                <a:lnTo>
                  <a:pt x="18600" y="428655"/>
                </a:lnTo>
                <a:lnTo>
                  <a:pt x="38785" y="442264"/>
                </a:lnTo>
                <a:lnTo>
                  <a:pt x="63500" y="447255"/>
                </a:lnTo>
                <a:lnTo>
                  <a:pt x="3365500" y="447255"/>
                </a:lnTo>
                <a:lnTo>
                  <a:pt x="3390214" y="442264"/>
                </a:lnTo>
                <a:lnTo>
                  <a:pt x="3410399" y="428655"/>
                </a:lnTo>
                <a:lnTo>
                  <a:pt x="3424009" y="408470"/>
                </a:lnTo>
                <a:lnTo>
                  <a:pt x="3429000" y="383755"/>
                </a:lnTo>
                <a:lnTo>
                  <a:pt x="3429000" y="63499"/>
                </a:lnTo>
                <a:lnTo>
                  <a:pt x="3424009" y="38779"/>
                </a:lnTo>
                <a:lnTo>
                  <a:pt x="3410399" y="18595"/>
                </a:lnTo>
                <a:lnTo>
                  <a:pt x="3390214" y="4989"/>
                </a:lnTo>
                <a:lnTo>
                  <a:pt x="3365500" y="0"/>
                </a:lnTo>
                <a:close/>
              </a:path>
            </a:pathLst>
          </a:custGeom>
          <a:solidFill>
            <a:srgbClr val="0385DD"/>
          </a:solidFill>
          <a:ln cap="flat" cmpd="sng" w="9525">
            <a:solidFill>
              <a:srgbClr val="3776B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KPIs Quan Trọng</a:t>
            </a:r>
            <a:endParaRPr b="1" i="0" sz="2000" u="none" cap="none" strike="noStrike">
              <a:solidFill>
                <a:schemeClr val="lt1"/>
              </a:solidFill>
              <a:latin typeface="Bai Jamjuree"/>
              <a:ea typeface="Bai Jamjuree"/>
              <a:cs typeface="Bai Jamjuree"/>
              <a:sym typeface="Bai Jamjuree"/>
            </a:endParaRPr>
          </a:p>
        </p:txBody>
      </p:sp>
      <p:sp>
        <p:nvSpPr>
          <p:cNvPr id="839" name="Google Shape;839;p76"/>
          <p:cNvSpPr txBox="1"/>
          <p:nvPr/>
        </p:nvSpPr>
        <p:spPr>
          <a:xfrm>
            <a:off x="716914" y="2844380"/>
            <a:ext cx="475649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Doanh thu, biên lợi, OOS rate, compliance planogram</a:t>
            </a:r>
            <a:endParaRPr/>
          </a:p>
        </p:txBody>
      </p:sp>
      <p:sp>
        <p:nvSpPr>
          <p:cNvPr id="840" name="Google Shape;840;p76"/>
          <p:cNvSpPr/>
          <p:nvPr/>
        </p:nvSpPr>
        <p:spPr>
          <a:xfrm>
            <a:off x="716914" y="3790622"/>
            <a:ext cx="3429000" cy="447675"/>
          </a:xfrm>
          <a:custGeom>
            <a:rect b="b" l="l" r="r" t="t"/>
            <a:pathLst>
              <a:path extrusionOk="0" h="447675" w="3429000">
                <a:moveTo>
                  <a:pt x="3365500" y="0"/>
                </a:moveTo>
                <a:lnTo>
                  <a:pt x="63500" y="0"/>
                </a:lnTo>
                <a:lnTo>
                  <a:pt x="38785" y="4989"/>
                </a:lnTo>
                <a:lnTo>
                  <a:pt x="18600" y="18595"/>
                </a:lnTo>
                <a:lnTo>
                  <a:pt x="4990" y="38779"/>
                </a:lnTo>
                <a:lnTo>
                  <a:pt x="0" y="63499"/>
                </a:lnTo>
                <a:lnTo>
                  <a:pt x="0" y="383755"/>
                </a:lnTo>
                <a:lnTo>
                  <a:pt x="4990" y="408470"/>
                </a:lnTo>
                <a:lnTo>
                  <a:pt x="18600" y="428655"/>
                </a:lnTo>
                <a:lnTo>
                  <a:pt x="38785" y="442264"/>
                </a:lnTo>
                <a:lnTo>
                  <a:pt x="63500" y="447255"/>
                </a:lnTo>
                <a:lnTo>
                  <a:pt x="3365500" y="447255"/>
                </a:lnTo>
                <a:lnTo>
                  <a:pt x="3390214" y="442264"/>
                </a:lnTo>
                <a:lnTo>
                  <a:pt x="3410399" y="428655"/>
                </a:lnTo>
                <a:lnTo>
                  <a:pt x="3424009" y="408470"/>
                </a:lnTo>
                <a:lnTo>
                  <a:pt x="3429000" y="383755"/>
                </a:lnTo>
                <a:lnTo>
                  <a:pt x="3429000" y="63499"/>
                </a:lnTo>
                <a:lnTo>
                  <a:pt x="3424009" y="38779"/>
                </a:lnTo>
                <a:lnTo>
                  <a:pt x="3410399" y="18595"/>
                </a:lnTo>
                <a:lnTo>
                  <a:pt x="3390214" y="4989"/>
                </a:lnTo>
                <a:lnTo>
                  <a:pt x="3365500" y="0"/>
                </a:lnTo>
                <a:close/>
              </a:path>
            </a:pathLst>
          </a:custGeom>
          <a:solidFill>
            <a:srgbClr val="0385DD"/>
          </a:solidFill>
          <a:ln cap="flat" cmpd="sng" w="9525">
            <a:solidFill>
              <a:srgbClr val="3776B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Heatmap Trực Quan</a:t>
            </a:r>
            <a:endParaRPr b="1" i="0" sz="2000" u="none" cap="none" strike="noStrike">
              <a:solidFill>
                <a:schemeClr val="lt1"/>
              </a:solidFill>
              <a:latin typeface="Bai Jamjuree"/>
              <a:ea typeface="Bai Jamjuree"/>
              <a:cs typeface="Bai Jamjuree"/>
              <a:sym typeface="Bai Jamjuree"/>
            </a:endParaRPr>
          </a:p>
        </p:txBody>
      </p:sp>
      <p:sp>
        <p:nvSpPr>
          <p:cNvPr id="841" name="Google Shape;841;p76"/>
          <p:cNvSpPr txBox="1"/>
          <p:nvPr/>
        </p:nvSpPr>
        <p:spPr>
          <a:xfrm>
            <a:off x="698052" y="4433325"/>
            <a:ext cx="475649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Xem "điểm nóng" và "điểm chết" theo thời gian thực</a:t>
            </a:r>
            <a:endParaRPr/>
          </a:p>
        </p:txBody>
      </p:sp>
      <p:sp>
        <p:nvSpPr>
          <p:cNvPr id="842" name="Google Shape;842;p76"/>
          <p:cNvSpPr/>
          <p:nvPr/>
        </p:nvSpPr>
        <p:spPr>
          <a:xfrm>
            <a:off x="735776" y="5483381"/>
            <a:ext cx="3429000" cy="447675"/>
          </a:xfrm>
          <a:custGeom>
            <a:rect b="b" l="l" r="r" t="t"/>
            <a:pathLst>
              <a:path extrusionOk="0" h="447675" w="3429000">
                <a:moveTo>
                  <a:pt x="3365500" y="0"/>
                </a:moveTo>
                <a:lnTo>
                  <a:pt x="63500" y="0"/>
                </a:lnTo>
                <a:lnTo>
                  <a:pt x="38785" y="4989"/>
                </a:lnTo>
                <a:lnTo>
                  <a:pt x="18600" y="18595"/>
                </a:lnTo>
                <a:lnTo>
                  <a:pt x="4990" y="38779"/>
                </a:lnTo>
                <a:lnTo>
                  <a:pt x="0" y="63499"/>
                </a:lnTo>
                <a:lnTo>
                  <a:pt x="0" y="383755"/>
                </a:lnTo>
                <a:lnTo>
                  <a:pt x="4990" y="408470"/>
                </a:lnTo>
                <a:lnTo>
                  <a:pt x="18600" y="428655"/>
                </a:lnTo>
                <a:lnTo>
                  <a:pt x="38785" y="442264"/>
                </a:lnTo>
                <a:lnTo>
                  <a:pt x="63500" y="447255"/>
                </a:lnTo>
                <a:lnTo>
                  <a:pt x="3365500" y="447255"/>
                </a:lnTo>
                <a:lnTo>
                  <a:pt x="3390214" y="442264"/>
                </a:lnTo>
                <a:lnTo>
                  <a:pt x="3410399" y="428655"/>
                </a:lnTo>
                <a:lnTo>
                  <a:pt x="3424009" y="408470"/>
                </a:lnTo>
                <a:lnTo>
                  <a:pt x="3429000" y="383755"/>
                </a:lnTo>
                <a:lnTo>
                  <a:pt x="3429000" y="63499"/>
                </a:lnTo>
                <a:lnTo>
                  <a:pt x="3424009" y="38779"/>
                </a:lnTo>
                <a:lnTo>
                  <a:pt x="3410399" y="18595"/>
                </a:lnTo>
                <a:lnTo>
                  <a:pt x="3390214" y="4989"/>
                </a:lnTo>
                <a:lnTo>
                  <a:pt x="3365500" y="0"/>
                </a:lnTo>
                <a:close/>
              </a:path>
            </a:pathLst>
          </a:custGeom>
          <a:solidFill>
            <a:srgbClr val="0385DD"/>
          </a:solidFill>
          <a:ln cap="flat" cmpd="sng" w="9525">
            <a:solidFill>
              <a:srgbClr val="3776B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Bai Jamjuree"/>
                <a:ea typeface="Bai Jamjuree"/>
                <a:cs typeface="Bai Jamjuree"/>
                <a:sym typeface="Bai Jamjuree"/>
              </a:rPr>
              <a:t>Top Performance</a:t>
            </a:r>
            <a:endParaRPr b="1" i="0" sz="2000" u="none" cap="none" strike="noStrike">
              <a:solidFill>
                <a:schemeClr val="lt1"/>
              </a:solidFill>
              <a:latin typeface="Bai Jamjuree"/>
              <a:ea typeface="Bai Jamjuree"/>
              <a:cs typeface="Bai Jamjuree"/>
              <a:sym typeface="Bai Jamjuree"/>
            </a:endParaRPr>
          </a:p>
        </p:txBody>
      </p:sp>
      <p:sp>
        <p:nvSpPr>
          <p:cNvPr id="843" name="Google Shape;843;p76"/>
          <p:cNvSpPr txBox="1"/>
          <p:nvPr/>
        </p:nvSpPr>
        <p:spPr>
          <a:xfrm>
            <a:off x="716914" y="6126084"/>
            <a:ext cx="4756492"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Ranking sản phẩm và kệ hàng theo hiệu suất</a:t>
            </a:r>
            <a:endParaRPr/>
          </a:p>
        </p:txBody>
      </p:sp>
      <p:sp>
        <p:nvSpPr>
          <p:cNvPr id="844" name="Google Shape;844;p76"/>
          <p:cNvSpPr/>
          <p:nvPr/>
        </p:nvSpPr>
        <p:spPr>
          <a:xfrm>
            <a:off x="826964" y="7609604"/>
            <a:ext cx="1371979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Bai Jamjuree"/>
              <a:ea typeface="Bai Jamjuree"/>
              <a:cs typeface="Bai Jamjuree"/>
              <a:sym typeface="Bai Jamjuree"/>
            </a:endParaRPr>
          </a:p>
        </p:txBody>
      </p:sp>
      <p:sp>
        <p:nvSpPr>
          <p:cNvPr id="845" name="Google Shape;845;p76"/>
          <p:cNvSpPr/>
          <p:nvPr/>
        </p:nvSpPr>
        <p:spPr>
          <a:xfrm>
            <a:off x="788864" y="7798590"/>
            <a:ext cx="38100" cy="914400"/>
          </a:xfrm>
          <a:custGeom>
            <a:rect b="b" l="l" r="r" t="t"/>
            <a:pathLst>
              <a:path extrusionOk="0" h="600075" w="38100">
                <a:moveTo>
                  <a:pt x="38099" y="600074"/>
                </a:moveTo>
                <a:lnTo>
                  <a:pt x="0" y="600074"/>
                </a:lnTo>
                <a:lnTo>
                  <a:pt x="0" y="0"/>
                </a:lnTo>
                <a:lnTo>
                  <a:pt x="38099" y="0"/>
                </a:lnTo>
                <a:lnTo>
                  <a:pt x="38099" y="600074"/>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46" name="Google Shape;846;p76"/>
          <p:cNvSpPr txBox="1"/>
          <p:nvPr/>
        </p:nvSpPr>
        <p:spPr>
          <a:xfrm>
            <a:off x="941264" y="7930991"/>
            <a:ext cx="7876000" cy="584775"/>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Dashboard không chỉ hiển thị con số - mà kể câu chuyện về từng khách hang, từng sản phẩm…</a:t>
            </a:r>
            <a:endParaRPr b="0" i="0" sz="1600" u="none" cap="none" strike="noStrike">
              <a:solidFill>
                <a:srgbClr val="1A237D"/>
              </a:solidFill>
              <a:latin typeface="Bai Jamjuree"/>
              <a:ea typeface="Bai Jamjuree"/>
              <a:cs typeface="Bai Jamjuree"/>
              <a:sym typeface="Bai Jamjure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7"/>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52" name="Google Shape;852;p77"/>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853" name="Google Shape;853;p77"/>
          <p:cNvGrpSpPr/>
          <p:nvPr/>
        </p:nvGrpSpPr>
        <p:grpSpPr>
          <a:xfrm>
            <a:off x="5776170" y="9896475"/>
            <a:ext cx="6735680" cy="408188"/>
            <a:chOff x="0" y="0"/>
            <a:chExt cx="8980907" cy="544250"/>
          </a:xfrm>
        </p:grpSpPr>
        <p:sp>
          <p:nvSpPr>
            <p:cNvPr id="854" name="Google Shape;854;p77"/>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55" name="Google Shape;855;p77"/>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856" name="Google Shape;856;p77"/>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857" name="Google Shape;857;p77"/>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58" name="Google Shape;858;p77"/>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DASHBOARD TỔNG QUAN</a:t>
            </a:r>
            <a:endParaRPr/>
          </a:p>
        </p:txBody>
      </p:sp>
      <p:sp>
        <p:nvSpPr>
          <p:cNvPr id="859" name="Google Shape;859;p77"/>
          <p:cNvSpPr txBox="1"/>
          <p:nvPr/>
        </p:nvSpPr>
        <p:spPr>
          <a:xfrm>
            <a:off x="716914" y="262207"/>
            <a:ext cx="8212498"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860" name="Google Shape;860;p77"/>
          <p:cNvSpPr txBox="1"/>
          <p:nvPr/>
        </p:nvSpPr>
        <p:spPr>
          <a:xfrm>
            <a:off x="4364762" y="4757849"/>
            <a:ext cx="8878538" cy="83074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0" i="0" lang="en-US" sz="2249" u="none" cap="none" strike="noStrike">
                <a:solidFill>
                  <a:srgbClr val="0050AB"/>
                </a:solidFill>
                <a:latin typeface="Bai Jamjuree"/>
                <a:ea typeface="Bai Jamjuree"/>
                <a:cs typeface="Bai Jamjuree"/>
                <a:sym typeface="Bai Jamjuree"/>
              </a:rPr>
              <a:t>Nắm bắt hiệu suất kinh doanh tức thì với dashboard KPI real-time được đồng bộ trực tiếp từ máy POS</a:t>
            </a:r>
            <a:endParaRPr b="0" i="0" sz="2249" u="none" cap="none" strike="noStrike">
              <a:solidFill>
                <a:srgbClr val="0050AB"/>
              </a:solidFill>
              <a:latin typeface="Bai Jamjuree"/>
              <a:ea typeface="Bai Jamjuree"/>
              <a:cs typeface="Bai Jamjuree"/>
              <a:sym typeface="Bai Jamjuree"/>
            </a:endParaRPr>
          </a:p>
        </p:txBody>
      </p:sp>
      <p:sp>
        <p:nvSpPr>
          <p:cNvPr id="861" name="Google Shape;861;p77"/>
          <p:cNvSpPr/>
          <p:nvPr/>
        </p:nvSpPr>
        <p:spPr>
          <a:xfrm>
            <a:off x="826964" y="7609604"/>
            <a:ext cx="1371979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Bai Jamjuree"/>
              <a:ea typeface="Bai Jamjuree"/>
              <a:cs typeface="Bai Jamjuree"/>
              <a:sym typeface="Bai Jamjuree"/>
            </a:endParaRPr>
          </a:p>
        </p:txBody>
      </p:sp>
      <p:pic>
        <p:nvPicPr>
          <p:cNvPr id="862" name="Google Shape;862;p77"/>
          <p:cNvPicPr preferRelativeResize="0"/>
          <p:nvPr/>
        </p:nvPicPr>
        <p:blipFill rotWithShape="1">
          <a:blip r:embed="rId4">
            <a:alphaModFix/>
          </a:blip>
          <a:srcRect b="0" l="0" r="0" t="0"/>
          <a:stretch/>
        </p:blipFill>
        <p:spPr>
          <a:xfrm>
            <a:off x="4355236" y="1138078"/>
            <a:ext cx="8878539" cy="3153215"/>
          </a:xfrm>
          <a:prstGeom prst="rect">
            <a:avLst/>
          </a:prstGeom>
          <a:noFill/>
          <a:ln>
            <a:noFill/>
          </a:ln>
          <a:effectLst>
            <a:outerShdw blurRad="292100" rotWithShape="0" algn="tl" dir="2700000" dist="139700">
              <a:srgbClr val="333333">
                <a:alpha val="64705"/>
              </a:srgbClr>
            </a:outerShdw>
          </a:effectLst>
        </p:spPr>
      </p:pic>
      <p:pic>
        <p:nvPicPr>
          <p:cNvPr id="863" name="Google Shape;863;p77"/>
          <p:cNvPicPr preferRelativeResize="0"/>
          <p:nvPr/>
        </p:nvPicPr>
        <p:blipFill rotWithShape="1">
          <a:blip r:embed="rId5">
            <a:alphaModFix/>
          </a:blip>
          <a:srcRect b="0" l="0" r="0" t="0"/>
          <a:stretch/>
        </p:blipFill>
        <p:spPr>
          <a:xfrm>
            <a:off x="4364762" y="5978089"/>
            <a:ext cx="8869013" cy="3067478"/>
          </a:xfrm>
          <a:prstGeom prst="rect">
            <a:avLst/>
          </a:prstGeom>
          <a:noFill/>
          <a:ln>
            <a:noFill/>
          </a:ln>
          <a:effectLst>
            <a:outerShdw blurRad="292100" rotWithShape="0" algn="tl" dir="2700000" dist="139700">
              <a:srgbClr val="333333">
                <a:alpha val="64705"/>
              </a:srgbClr>
            </a:outerShdw>
          </a:effectLst>
        </p:spPr>
      </p:pic>
      <p:pic>
        <p:nvPicPr>
          <p:cNvPr descr="目標を達成した人のイラスト（男性） | かわいいフリー素材集 いらすとや" id="864" name="Google Shape;864;p77"/>
          <p:cNvPicPr preferRelativeResize="0"/>
          <p:nvPr/>
        </p:nvPicPr>
        <p:blipFill rotWithShape="1">
          <a:blip r:embed="rId6">
            <a:alphaModFix/>
          </a:blip>
          <a:srcRect b="0" l="0" r="0" t="0"/>
          <a:stretch/>
        </p:blipFill>
        <p:spPr>
          <a:xfrm>
            <a:off x="14089461" y="4200506"/>
            <a:ext cx="2125580" cy="188598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78"/>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70" name="Google Shape;870;p78"/>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871" name="Google Shape;871;p78"/>
          <p:cNvGrpSpPr/>
          <p:nvPr/>
        </p:nvGrpSpPr>
        <p:grpSpPr>
          <a:xfrm>
            <a:off x="5776170" y="9896475"/>
            <a:ext cx="6735680" cy="408188"/>
            <a:chOff x="0" y="0"/>
            <a:chExt cx="8980907" cy="544250"/>
          </a:xfrm>
        </p:grpSpPr>
        <p:sp>
          <p:nvSpPr>
            <p:cNvPr id="872" name="Google Shape;872;p78"/>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73" name="Google Shape;873;p78"/>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874" name="Google Shape;874;p78"/>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875" name="Google Shape;875;p78"/>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76" name="Google Shape;876;p78"/>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DASHBOARD TỔNG QUAN</a:t>
            </a:r>
            <a:endParaRPr/>
          </a:p>
        </p:txBody>
      </p:sp>
      <p:sp>
        <p:nvSpPr>
          <p:cNvPr id="877" name="Google Shape;877;p78"/>
          <p:cNvSpPr txBox="1"/>
          <p:nvPr/>
        </p:nvSpPr>
        <p:spPr>
          <a:xfrm>
            <a:off x="716914" y="262207"/>
            <a:ext cx="8212498"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878" name="Google Shape;878;p78"/>
          <p:cNvSpPr txBox="1"/>
          <p:nvPr/>
        </p:nvSpPr>
        <p:spPr>
          <a:xfrm>
            <a:off x="957593" y="3742749"/>
            <a:ext cx="4628591" cy="166148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0" i="0" lang="en-US" sz="2249" u="none" cap="none" strike="noStrike">
                <a:solidFill>
                  <a:srgbClr val="0050AB"/>
                </a:solidFill>
                <a:latin typeface="Bai Jamjuree"/>
                <a:ea typeface="Bai Jamjuree"/>
                <a:cs typeface="Bai Jamjuree"/>
                <a:sym typeface="Bai Jamjuree"/>
              </a:rPr>
              <a:t>So sánh các version planogram của cửa hàng để lựa chọn version tối ưu và mang về mức doanh thu cao.</a:t>
            </a:r>
            <a:endParaRPr b="0" i="0" sz="2249" u="none" cap="none" strike="noStrike">
              <a:solidFill>
                <a:srgbClr val="0050AB"/>
              </a:solidFill>
              <a:latin typeface="Bai Jamjuree"/>
              <a:ea typeface="Bai Jamjuree"/>
              <a:cs typeface="Bai Jamjuree"/>
              <a:sym typeface="Bai Jamjuree"/>
            </a:endParaRPr>
          </a:p>
        </p:txBody>
      </p:sp>
      <p:sp>
        <p:nvSpPr>
          <p:cNvPr id="879" name="Google Shape;879;p78"/>
          <p:cNvSpPr/>
          <p:nvPr/>
        </p:nvSpPr>
        <p:spPr>
          <a:xfrm>
            <a:off x="826964" y="7609604"/>
            <a:ext cx="1371979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Bai Jamjuree"/>
              <a:ea typeface="Bai Jamjuree"/>
              <a:cs typeface="Bai Jamjuree"/>
              <a:sym typeface="Bai Jamjuree"/>
            </a:endParaRPr>
          </a:p>
        </p:txBody>
      </p:sp>
      <p:pic>
        <p:nvPicPr>
          <p:cNvPr id="880" name="Google Shape;880;p78"/>
          <p:cNvPicPr preferRelativeResize="0"/>
          <p:nvPr/>
        </p:nvPicPr>
        <p:blipFill rotWithShape="1">
          <a:blip r:embed="rId4">
            <a:alphaModFix/>
          </a:blip>
          <a:srcRect b="0" l="0" r="0" t="0"/>
          <a:stretch/>
        </p:blipFill>
        <p:spPr>
          <a:xfrm>
            <a:off x="5939202" y="1254681"/>
            <a:ext cx="11755491" cy="7392432"/>
          </a:xfrm>
          <a:prstGeom prst="rect">
            <a:avLst/>
          </a:prstGeom>
          <a:noFill/>
          <a:ln>
            <a:noFill/>
          </a:ln>
          <a:effectLst>
            <a:outerShdw blurRad="292100" rotWithShape="0" algn="tl" dir="2700000" dist="139700">
              <a:srgbClr val="333333">
                <a:alpha val="64705"/>
              </a:srgbClr>
            </a:outerShdw>
          </a:effectLst>
        </p:spPr>
      </p:pic>
      <p:pic>
        <p:nvPicPr>
          <p:cNvPr descr="目標を達成した人のイラスト（男性） | かわいいフリー素材集 いらすとや" id="881" name="Google Shape;881;p78"/>
          <p:cNvPicPr preferRelativeResize="0"/>
          <p:nvPr/>
        </p:nvPicPr>
        <p:blipFill rotWithShape="1">
          <a:blip r:embed="rId5">
            <a:alphaModFix/>
          </a:blip>
          <a:srcRect b="0" l="0" r="0" t="0"/>
          <a:stretch/>
        </p:blipFill>
        <p:spPr>
          <a:xfrm>
            <a:off x="2209098" y="5563923"/>
            <a:ext cx="2125580" cy="188598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9"/>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87" name="Google Shape;887;p79"/>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888" name="Google Shape;888;p79"/>
          <p:cNvGrpSpPr/>
          <p:nvPr/>
        </p:nvGrpSpPr>
        <p:grpSpPr>
          <a:xfrm>
            <a:off x="5776170" y="9896475"/>
            <a:ext cx="6735680" cy="408188"/>
            <a:chOff x="0" y="0"/>
            <a:chExt cx="8980907" cy="544250"/>
          </a:xfrm>
        </p:grpSpPr>
        <p:sp>
          <p:nvSpPr>
            <p:cNvPr id="889" name="Google Shape;889;p79"/>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90" name="Google Shape;890;p79"/>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891" name="Google Shape;891;p79"/>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892" name="Google Shape;892;p79"/>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893" name="Google Shape;893;p79"/>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DASHBOARD TỔNG QUAN</a:t>
            </a:r>
            <a:endParaRPr/>
          </a:p>
        </p:txBody>
      </p:sp>
      <p:sp>
        <p:nvSpPr>
          <p:cNvPr id="894" name="Google Shape;894;p79"/>
          <p:cNvSpPr txBox="1"/>
          <p:nvPr/>
        </p:nvSpPr>
        <p:spPr>
          <a:xfrm>
            <a:off x="716914" y="262207"/>
            <a:ext cx="8212498"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895" name="Google Shape;895;p79"/>
          <p:cNvSpPr txBox="1"/>
          <p:nvPr/>
        </p:nvSpPr>
        <p:spPr>
          <a:xfrm>
            <a:off x="1196483" y="3761069"/>
            <a:ext cx="3904693" cy="124611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0" i="0" lang="en-US" sz="2249" u="none" cap="none" strike="noStrike">
                <a:solidFill>
                  <a:srgbClr val="0050AB"/>
                </a:solidFill>
                <a:latin typeface="Bai Jamjuree"/>
                <a:ea typeface="Bai Jamjuree"/>
                <a:cs typeface="Bai Jamjuree"/>
                <a:sym typeface="Bai Jamjuree"/>
              </a:rPr>
              <a:t>Dễ dàng theo dõi Top sản phẩm bán chạy và Top kệ mang về doanh thu cao</a:t>
            </a:r>
            <a:endParaRPr b="0" i="0" sz="2249" u="none" cap="none" strike="noStrike">
              <a:solidFill>
                <a:srgbClr val="0050AB"/>
              </a:solidFill>
              <a:latin typeface="Bai Jamjuree"/>
              <a:ea typeface="Bai Jamjuree"/>
              <a:cs typeface="Bai Jamjuree"/>
              <a:sym typeface="Bai Jamjuree"/>
            </a:endParaRPr>
          </a:p>
        </p:txBody>
      </p:sp>
      <p:sp>
        <p:nvSpPr>
          <p:cNvPr id="896" name="Google Shape;896;p79"/>
          <p:cNvSpPr/>
          <p:nvPr/>
        </p:nvSpPr>
        <p:spPr>
          <a:xfrm>
            <a:off x="826964" y="7609604"/>
            <a:ext cx="1371979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Bai Jamjuree"/>
              <a:ea typeface="Bai Jamjuree"/>
              <a:cs typeface="Bai Jamjuree"/>
              <a:sym typeface="Bai Jamjuree"/>
            </a:endParaRPr>
          </a:p>
        </p:txBody>
      </p:sp>
      <p:pic>
        <p:nvPicPr>
          <p:cNvPr descr="目標を達成した人のイラスト（男性） | かわいいフリー素材集 いらすとや" id="897" name="Google Shape;897;p79"/>
          <p:cNvPicPr preferRelativeResize="0"/>
          <p:nvPr/>
        </p:nvPicPr>
        <p:blipFill rotWithShape="1">
          <a:blip r:embed="rId4">
            <a:alphaModFix/>
          </a:blip>
          <a:srcRect b="0" l="0" r="0" t="0"/>
          <a:stretch/>
        </p:blipFill>
        <p:spPr>
          <a:xfrm>
            <a:off x="1803383" y="5365398"/>
            <a:ext cx="2125580" cy="1885987"/>
          </a:xfrm>
          <a:prstGeom prst="rect">
            <a:avLst/>
          </a:prstGeom>
          <a:noFill/>
          <a:ln>
            <a:noFill/>
          </a:ln>
        </p:spPr>
      </p:pic>
      <p:pic>
        <p:nvPicPr>
          <p:cNvPr id="898" name="Google Shape;898;p79"/>
          <p:cNvPicPr preferRelativeResize="0"/>
          <p:nvPr/>
        </p:nvPicPr>
        <p:blipFill rotWithShape="1">
          <a:blip r:embed="rId5">
            <a:alphaModFix/>
          </a:blip>
          <a:srcRect b="0" l="0" r="0" t="0"/>
          <a:stretch/>
        </p:blipFill>
        <p:spPr>
          <a:xfrm>
            <a:off x="5776170" y="1531722"/>
            <a:ext cx="12136544" cy="667795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80"/>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04" name="Google Shape;904;p80"/>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05" name="Google Shape;905;p80"/>
          <p:cNvGrpSpPr/>
          <p:nvPr/>
        </p:nvGrpSpPr>
        <p:grpSpPr>
          <a:xfrm>
            <a:off x="5776170" y="9896475"/>
            <a:ext cx="6735680" cy="408188"/>
            <a:chOff x="0" y="0"/>
            <a:chExt cx="8980907" cy="544250"/>
          </a:xfrm>
        </p:grpSpPr>
        <p:sp>
          <p:nvSpPr>
            <p:cNvPr id="906" name="Google Shape;906;p80"/>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07" name="Google Shape;907;p80"/>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908" name="Google Shape;908;p80"/>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909" name="Google Shape;909;p80"/>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10" name="Google Shape;910;p80"/>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DASHBOARD TỔNG QUAN</a:t>
            </a:r>
            <a:endParaRPr/>
          </a:p>
        </p:txBody>
      </p:sp>
      <p:sp>
        <p:nvSpPr>
          <p:cNvPr id="911" name="Google Shape;911;p80"/>
          <p:cNvSpPr txBox="1"/>
          <p:nvPr/>
        </p:nvSpPr>
        <p:spPr>
          <a:xfrm>
            <a:off x="716914" y="262207"/>
            <a:ext cx="8212498"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912" name="Google Shape;912;p80"/>
          <p:cNvSpPr txBox="1"/>
          <p:nvPr/>
        </p:nvSpPr>
        <p:spPr>
          <a:xfrm>
            <a:off x="5374868" y="8357931"/>
            <a:ext cx="1040284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0" i="0" lang="en-US" sz="2249" u="none" cap="none" strike="noStrike">
                <a:solidFill>
                  <a:srgbClr val="0050AB"/>
                </a:solidFill>
                <a:latin typeface="Bai Jamjuree"/>
                <a:ea typeface="Bai Jamjuree"/>
                <a:cs typeface="Bai Jamjuree"/>
                <a:sym typeface="Bai Jamjuree"/>
              </a:rPr>
              <a:t>Theo dõi heatmap doanh thu theo khu vực kệ và giờ</a:t>
            </a:r>
            <a:endParaRPr b="0" i="0" sz="2249" u="none" cap="none" strike="noStrike">
              <a:solidFill>
                <a:srgbClr val="0050AB"/>
              </a:solidFill>
              <a:latin typeface="Bai Jamjuree"/>
              <a:ea typeface="Bai Jamjuree"/>
              <a:cs typeface="Bai Jamjuree"/>
              <a:sym typeface="Bai Jamjuree"/>
            </a:endParaRPr>
          </a:p>
        </p:txBody>
      </p:sp>
      <p:sp>
        <p:nvSpPr>
          <p:cNvPr id="913" name="Google Shape;913;p80"/>
          <p:cNvSpPr/>
          <p:nvPr/>
        </p:nvSpPr>
        <p:spPr>
          <a:xfrm>
            <a:off x="826964" y="7609604"/>
            <a:ext cx="13719790" cy="600075"/>
          </a:xfrm>
          <a:custGeom>
            <a:rect b="b" l="l" r="r" t="t"/>
            <a:pathLst>
              <a:path extrusionOk="0" h="600075" w="11410950">
                <a:moveTo>
                  <a:pt x="11331208" y="600074"/>
                </a:moveTo>
                <a:lnTo>
                  <a:pt x="0" y="600074"/>
                </a:lnTo>
                <a:lnTo>
                  <a:pt x="0" y="0"/>
                </a:lnTo>
                <a:lnTo>
                  <a:pt x="11331208" y="0"/>
                </a:lnTo>
                <a:lnTo>
                  <a:pt x="11336758" y="546"/>
                </a:lnTo>
                <a:lnTo>
                  <a:pt x="11377677" y="17495"/>
                </a:lnTo>
                <a:lnTo>
                  <a:pt x="11402307" y="47506"/>
                </a:lnTo>
                <a:lnTo>
                  <a:pt x="11410949" y="79740"/>
                </a:lnTo>
                <a:lnTo>
                  <a:pt x="11410949" y="520334"/>
                </a:lnTo>
                <a:lnTo>
                  <a:pt x="11399678" y="557485"/>
                </a:lnTo>
                <a:lnTo>
                  <a:pt x="11368359" y="588803"/>
                </a:lnTo>
                <a:lnTo>
                  <a:pt x="11331208" y="600074"/>
                </a:lnTo>
                <a:close/>
              </a:path>
            </a:pathLst>
          </a:custGeom>
          <a:solidFill>
            <a:srgbClr val="FFFFF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Bai Jamjuree"/>
              <a:ea typeface="Bai Jamjuree"/>
              <a:cs typeface="Bai Jamjuree"/>
              <a:sym typeface="Bai Jamjuree"/>
            </a:endParaRPr>
          </a:p>
        </p:txBody>
      </p:sp>
      <p:pic>
        <p:nvPicPr>
          <p:cNvPr id="914" name="Google Shape;914;p80"/>
          <p:cNvPicPr preferRelativeResize="0"/>
          <p:nvPr/>
        </p:nvPicPr>
        <p:blipFill rotWithShape="1">
          <a:blip r:embed="rId4">
            <a:alphaModFix/>
          </a:blip>
          <a:srcRect b="0" l="0" r="0" t="0"/>
          <a:stretch/>
        </p:blipFill>
        <p:spPr>
          <a:xfrm>
            <a:off x="272398" y="1242655"/>
            <a:ext cx="17747552" cy="6392167"/>
          </a:xfrm>
          <a:prstGeom prst="rect">
            <a:avLst/>
          </a:prstGeom>
          <a:noFill/>
          <a:ln>
            <a:noFill/>
          </a:ln>
          <a:effectLst>
            <a:outerShdw blurRad="292100" rotWithShape="0" algn="tl" dir="2700000" dist="139700">
              <a:srgbClr val="333333">
                <a:alpha val="64705"/>
              </a:srgbClr>
            </a:outerShdw>
          </a:effectLst>
        </p:spPr>
      </p:pic>
      <p:pic>
        <p:nvPicPr>
          <p:cNvPr descr="目標を達成した人のイラスト（男性） | かわいいフリー素材集 いらすとや" id="915" name="Google Shape;915;p80"/>
          <p:cNvPicPr preferRelativeResize="0"/>
          <p:nvPr/>
        </p:nvPicPr>
        <p:blipFill rotWithShape="1">
          <a:blip r:embed="rId5">
            <a:alphaModFix/>
          </a:blip>
          <a:srcRect b="0" l="0" r="0" t="0"/>
          <a:stretch/>
        </p:blipFill>
        <p:spPr>
          <a:xfrm>
            <a:off x="13948909" y="7760476"/>
            <a:ext cx="2125580" cy="188598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81"/>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21" name="Google Shape;921;p81"/>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22" name="Google Shape;922;p81"/>
          <p:cNvGrpSpPr/>
          <p:nvPr/>
        </p:nvGrpSpPr>
        <p:grpSpPr>
          <a:xfrm>
            <a:off x="5776170" y="9896475"/>
            <a:ext cx="6735680" cy="408188"/>
            <a:chOff x="0" y="0"/>
            <a:chExt cx="8980907" cy="544250"/>
          </a:xfrm>
        </p:grpSpPr>
        <p:sp>
          <p:nvSpPr>
            <p:cNvPr id="923" name="Google Shape;923;p81"/>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24" name="Google Shape;924;p81"/>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925" name="Google Shape;925;p81"/>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926" name="Google Shape;926;p81"/>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27" name="Google Shape;927;p81"/>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DASHBOARD &amp; REPORTS CHI TIẾT</a:t>
            </a:r>
            <a:endParaRPr/>
          </a:p>
        </p:txBody>
      </p:sp>
      <p:sp>
        <p:nvSpPr>
          <p:cNvPr id="928" name="Google Shape;928;p81"/>
          <p:cNvSpPr txBox="1"/>
          <p:nvPr/>
        </p:nvSpPr>
        <p:spPr>
          <a:xfrm>
            <a:off x="716913" y="262207"/>
            <a:ext cx="7643315"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
        <p:nvSpPr>
          <p:cNvPr id="929" name="Google Shape;929;p81"/>
          <p:cNvSpPr txBox="1"/>
          <p:nvPr/>
        </p:nvSpPr>
        <p:spPr>
          <a:xfrm>
            <a:off x="5074645" y="1268593"/>
            <a:ext cx="7988963"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400" u="none" cap="none" strike="noStrike">
                <a:solidFill>
                  <a:srgbClr val="0066CC"/>
                </a:solidFill>
                <a:latin typeface="Bai Jamjuree"/>
                <a:ea typeface="Bai Jamjuree"/>
                <a:cs typeface="Bai Jamjuree"/>
                <a:sym typeface="Bai Jamjuree"/>
              </a:rPr>
              <a:t>Report chi tiết</a:t>
            </a:r>
            <a:endParaRPr b="1" i="0" sz="2400" u="none" cap="none" strike="noStrike">
              <a:solidFill>
                <a:srgbClr val="0066CC"/>
              </a:solidFill>
              <a:latin typeface="Bai Jamjuree"/>
              <a:ea typeface="Bai Jamjuree"/>
              <a:cs typeface="Bai Jamjuree"/>
              <a:sym typeface="Bai Jamjuree"/>
            </a:endParaRPr>
          </a:p>
        </p:txBody>
      </p:sp>
      <p:grpSp>
        <p:nvGrpSpPr>
          <p:cNvPr id="930" name="Google Shape;930;p81"/>
          <p:cNvGrpSpPr/>
          <p:nvPr/>
        </p:nvGrpSpPr>
        <p:grpSpPr>
          <a:xfrm>
            <a:off x="3281095" y="2406016"/>
            <a:ext cx="3545059" cy="3388237"/>
            <a:chOff x="7666892" y="2391508"/>
            <a:chExt cx="3545059" cy="3388237"/>
          </a:xfrm>
        </p:grpSpPr>
        <p:sp>
          <p:nvSpPr>
            <p:cNvPr id="931" name="Google Shape;931;p81"/>
            <p:cNvSpPr/>
            <p:nvPr/>
          </p:nvSpPr>
          <p:spPr>
            <a:xfrm>
              <a:off x="7666892" y="2391508"/>
              <a:ext cx="3545059" cy="3388237"/>
            </a:xfrm>
            <a:prstGeom prst="roundRect">
              <a:avLst>
                <a:gd fmla="val 8730"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id="932" name="Google Shape;932;p81"/>
            <p:cNvPicPr preferRelativeResize="0"/>
            <p:nvPr/>
          </p:nvPicPr>
          <p:blipFill rotWithShape="1">
            <a:blip r:embed="rId4">
              <a:alphaModFix/>
            </a:blip>
            <a:srcRect b="0" l="0" r="0" t="0"/>
            <a:stretch/>
          </p:blipFill>
          <p:spPr>
            <a:xfrm>
              <a:off x="7822185" y="2491201"/>
              <a:ext cx="533474" cy="533474"/>
            </a:xfrm>
            <a:prstGeom prst="rect">
              <a:avLst/>
            </a:prstGeom>
            <a:noFill/>
            <a:ln>
              <a:noFill/>
            </a:ln>
          </p:spPr>
        </p:pic>
        <p:sp>
          <p:nvSpPr>
            <p:cNvPr id="933" name="Google Shape;933;p81"/>
            <p:cNvSpPr txBox="1"/>
            <p:nvPr/>
          </p:nvSpPr>
          <p:spPr>
            <a:xfrm>
              <a:off x="8355659" y="2596653"/>
              <a:ext cx="2701547" cy="338554"/>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1600" u="none" cap="none" strike="noStrike">
                  <a:solidFill>
                    <a:srgbClr val="1A237D"/>
                  </a:solidFill>
                  <a:latin typeface="Bai Jamjuree"/>
                  <a:ea typeface="Bai Jamjuree"/>
                  <a:cs typeface="Bai Jamjuree"/>
                  <a:sym typeface="Bai Jamjuree"/>
                </a:rPr>
                <a:t>Theo dõi Kệ/Khu vực</a:t>
              </a:r>
              <a:endParaRPr/>
            </a:p>
          </p:txBody>
        </p:sp>
        <p:sp>
          <p:nvSpPr>
            <p:cNvPr id="934" name="Google Shape;934;p81"/>
            <p:cNvSpPr txBox="1"/>
            <p:nvPr/>
          </p:nvSpPr>
          <p:spPr>
            <a:xfrm>
              <a:off x="7822185" y="3047527"/>
              <a:ext cx="3108412" cy="2480679"/>
            </a:xfrm>
            <a:prstGeom prst="rect">
              <a:avLst/>
            </a:prstGeom>
            <a:noFill/>
            <a:ln>
              <a:noFill/>
            </a:ln>
          </p:spPr>
          <p:txBody>
            <a:bodyPr anchorCtr="0" anchor="t" bIns="45700" lIns="91425" spcFirstLastPara="1" rIns="91425" wrap="square" tIns="45700">
              <a:spAutoFit/>
            </a:bodyPr>
            <a:lstStyle/>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Doanh thu theo khung giờ</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OOS rate &amp; Empty time</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ROI per facing</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Footfall heatmap</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Conversion analysis</a:t>
              </a:r>
              <a:endParaRPr/>
            </a:p>
          </p:txBody>
        </p:sp>
      </p:grpSp>
      <p:grpSp>
        <p:nvGrpSpPr>
          <p:cNvPr id="935" name="Google Shape;935;p81"/>
          <p:cNvGrpSpPr/>
          <p:nvPr/>
        </p:nvGrpSpPr>
        <p:grpSpPr>
          <a:xfrm>
            <a:off x="7359628" y="2346839"/>
            <a:ext cx="3545059" cy="3388237"/>
            <a:chOff x="11731803" y="2491891"/>
            <a:chExt cx="3545059" cy="3388237"/>
          </a:xfrm>
        </p:grpSpPr>
        <p:grpSp>
          <p:nvGrpSpPr>
            <p:cNvPr id="936" name="Google Shape;936;p81"/>
            <p:cNvGrpSpPr/>
            <p:nvPr/>
          </p:nvGrpSpPr>
          <p:grpSpPr>
            <a:xfrm>
              <a:off x="11731803" y="2491891"/>
              <a:ext cx="3545059" cy="3388237"/>
              <a:chOff x="7666892" y="2391508"/>
              <a:chExt cx="3545059" cy="3388237"/>
            </a:xfrm>
          </p:grpSpPr>
          <p:sp>
            <p:nvSpPr>
              <p:cNvPr id="937" name="Google Shape;937;p81"/>
              <p:cNvSpPr/>
              <p:nvPr/>
            </p:nvSpPr>
            <p:spPr>
              <a:xfrm>
                <a:off x="7666892" y="2391508"/>
                <a:ext cx="3545059" cy="3388237"/>
              </a:xfrm>
              <a:prstGeom prst="roundRect">
                <a:avLst>
                  <a:gd fmla="val 8730" name="adj"/>
                </a:avLst>
              </a:prstGeom>
              <a:solidFill>
                <a:schemeClr val="lt1"/>
              </a:solidFill>
              <a:ln cap="flat" cmpd="sng" w="25400">
                <a:solidFill>
                  <a:srgbClr val="16A08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938" name="Google Shape;938;p81"/>
              <p:cNvSpPr txBox="1"/>
              <p:nvPr/>
            </p:nvSpPr>
            <p:spPr>
              <a:xfrm>
                <a:off x="8164982" y="2541322"/>
                <a:ext cx="2740178" cy="584775"/>
              </a:xfrm>
              <a:prstGeom prst="rect">
                <a:avLst/>
              </a:prstGeom>
              <a:noFill/>
              <a:ln>
                <a:noFill/>
              </a:ln>
            </p:spPr>
            <p:txBody>
              <a:bodyPr anchorCtr="0" anchor="t" bIns="45700" lIns="91425" spcFirstLastPara="1" rIns="91425" wrap="square" tIns="45700">
                <a:spAutoFit/>
              </a:bodyPr>
              <a:lstStyle/>
              <a:p>
                <a:pPr indent="0" lvl="0" marL="50800" marR="0" rtl="0" algn="ctr">
                  <a:lnSpc>
                    <a:spcPct val="100000"/>
                  </a:lnSpc>
                  <a:spcBef>
                    <a:spcPts val="0"/>
                  </a:spcBef>
                  <a:spcAft>
                    <a:spcPts val="0"/>
                  </a:spcAft>
                  <a:buNone/>
                </a:pPr>
                <a:r>
                  <a:rPr b="1" i="0" lang="en-US" sz="1600" u="none" cap="none" strike="noStrike">
                    <a:solidFill>
                      <a:srgbClr val="1A237D"/>
                    </a:solidFill>
                    <a:latin typeface="Bai Jamjuree"/>
                    <a:ea typeface="Bai Jamjuree"/>
                    <a:cs typeface="Bai Jamjuree"/>
                    <a:sym typeface="Bai Jamjuree"/>
                  </a:rPr>
                  <a:t>Theo dõi SKU/Sản phẩm</a:t>
                </a:r>
                <a:endParaRPr/>
              </a:p>
            </p:txBody>
          </p:sp>
          <p:sp>
            <p:nvSpPr>
              <p:cNvPr id="939" name="Google Shape;939;p81"/>
              <p:cNvSpPr txBox="1"/>
              <p:nvPr/>
            </p:nvSpPr>
            <p:spPr>
              <a:xfrm>
                <a:off x="7822185" y="3047527"/>
                <a:ext cx="3108412" cy="2480679"/>
              </a:xfrm>
              <a:prstGeom prst="rect">
                <a:avLst/>
              </a:prstGeom>
              <a:noFill/>
              <a:ln>
                <a:noFill/>
              </a:ln>
            </p:spPr>
            <p:txBody>
              <a:bodyPr anchorCtr="0" anchor="t" bIns="45700" lIns="91425" spcFirstLastPara="1" rIns="91425" wrap="square" tIns="45700">
                <a:spAutoFit/>
              </a:bodyPr>
              <a:lstStyle/>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Hiệu quả theo vị trí</a:t>
                </a:r>
                <a:endParaRPr b="0" i="0" sz="1600" u="none" cap="none" strike="noStrike">
                  <a:solidFill>
                    <a:srgbClr val="1A237D"/>
                  </a:solidFill>
                  <a:latin typeface="Bai Jamjuree"/>
                  <a:ea typeface="Bai Jamjuree"/>
                  <a:cs typeface="Bai Jamjuree"/>
                  <a:sym typeface="Bai Jamjuree"/>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Uplift analysis</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Facings optimization</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Inventory vs OOS</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AI recommendations</a:t>
                </a:r>
                <a:endParaRPr/>
              </a:p>
            </p:txBody>
          </p:sp>
        </p:grpSp>
        <p:pic>
          <p:nvPicPr>
            <p:cNvPr id="940" name="Google Shape;940;p81"/>
            <p:cNvPicPr preferRelativeResize="0"/>
            <p:nvPr/>
          </p:nvPicPr>
          <p:blipFill rotWithShape="1">
            <a:blip r:embed="rId5">
              <a:alphaModFix/>
            </a:blip>
            <a:srcRect b="0" l="0" r="0" t="0"/>
            <a:stretch/>
          </p:blipFill>
          <p:spPr>
            <a:xfrm>
              <a:off x="11897043" y="2597121"/>
              <a:ext cx="495369" cy="476316"/>
            </a:xfrm>
            <a:prstGeom prst="rect">
              <a:avLst/>
            </a:prstGeom>
            <a:noFill/>
            <a:ln>
              <a:noFill/>
            </a:ln>
          </p:spPr>
        </p:pic>
      </p:grpSp>
      <p:grpSp>
        <p:nvGrpSpPr>
          <p:cNvPr id="941" name="Google Shape;941;p81"/>
          <p:cNvGrpSpPr/>
          <p:nvPr/>
        </p:nvGrpSpPr>
        <p:grpSpPr>
          <a:xfrm>
            <a:off x="11438161" y="2346838"/>
            <a:ext cx="3545059" cy="3388237"/>
            <a:chOff x="7666892" y="2391508"/>
            <a:chExt cx="3545059" cy="3388237"/>
          </a:xfrm>
        </p:grpSpPr>
        <p:sp>
          <p:nvSpPr>
            <p:cNvPr id="942" name="Google Shape;942;p81"/>
            <p:cNvSpPr/>
            <p:nvPr/>
          </p:nvSpPr>
          <p:spPr>
            <a:xfrm>
              <a:off x="7666892" y="2391508"/>
              <a:ext cx="3545059" cy="3388237"/>
            </a:xfrm>
            <a:prstGeom prst="roundRect">
              <a:avLst>
                <a:gd fmla="val 8730"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943" name="Google Shape;943;p81"/>
            <p:cNvSpPr txBox="1"/>
            <p:nvPr/>
          </p:nvSpPr>
          <p:spPr>
            <a:xfrm>
              <a:off x="8404190" y="2487173"/>
              <a:ext cx="2231658" cy="584775"/>
            </a:xfrm>
            <a:prstGeom prst="rect">
              <a:avLst/>
            </a:prstGeom>
            <a:noFill/>
            <a:ln>
              <a:noFill/>
            </a:ln>
          </p:spPr>
          <p:txBody>
            <a:bodyPr anchorCtr="0" anchor="t" bIns="45700" lIns="91425" spcFirstLastPara="1" rIns="91425" wrap="square" tIns="45700">
              <a:spAutoFit/>
            </a:bodyPr>
            <a:lstStyle/>
            <a:p>
              <a:pPr indent="0" lvl="0" marL="50800" marR="0" rtl="0" algn="ctr">
                <a:lnSpc>
                  <a:spcPct val="100000"/>
                </a:lnSpc>
                <a:spcBef>
                  <a:spcPts val="0"/>
                </a:spcBef>
                <a:spcAft>
                  <a:spcPts val="0"/>
                </a:spcAft>
                <a:buNone/>
              </a:pPr>
              <a:r>
                <a:rPr b="1" i="0" lang="en-US" sz="1600" u="none" cap="none" strike="noStrike">
                  <a:solidFill>
                    <a:srgbClr val="1A237D"/>
                  </a:solidFill>
                  <a:latin typeface="Bai Jamjuree"/>
                  <a:ea typeface="Bai Jamjuree"/>
                  <a:cs typeface="Bai Jamjuree"/>
                  <a:sym typeface="Bai Jamjuree"/>
                </a:rPr>
                <a:t>Khách hàng &amp; Hành vi</a:t>
              </a:r>
              <a:endParaRPr/>
            </a:p>
          </p:txBody>
        </p:sp>
        <p:sp>
          <p:nvSpPr>
            <p:cNvPr id="944" name="Google Shape;944;p81"/>
            <p:cNvSpPr txBox="1"/>
            <p:nvPr/>
          </p:nvSpPr>
          <p:spPr>
            <a:xfrm>
              <a:off x="7822185" y="3047527"/>
              <a:ext cx="3108412" cy="2480679"/>
            </a:xfrm>
            <a:prstGeom prst="rect">
              <a:avLst/>
            </a:prstGeom>
            <a:noFill/>
            <a:ln>
              <a:noFill/>
            </a:ln>
          </p:spPr>
          <p:txBody>
            <a:bodyPr anchorCtr="0" anchor="t" bIns="45700" lIns="91425" spcFirstLastPara="1" rIns="91425" wrap="square" tIns="45700">
              <a:spAutoFit/>
            </a:bodyPr>
            <a:lstStyle/>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Footfall theo giờ</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Dwell time analysis</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Conversion funnel</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Hot/Cold zones</a:t>
              </a:r>
              <a:endParaRPr/>
            </a:p>
            <a:p>
              <a:pPr indent="0" lvl="0" marL="50800" marR="0" rtl="0" algn="l">
                <a:lnSpc>
                  <a:spcPct val="200000"/>
                </a:lnSpc>
                <a:spcBef>
                  <a:spcPts val="0"/>
                </a:spcBef>
                <a:spcAft>
                  <a:spcPts val="0"/>
                </a:spcAft>
                <a:buNone/>
              </a:pPr>
              <a:r>
                <a:rPr b="0" i="0" lang="en-US" sz="1600" u="none" cap="none" strike="noStrike">
                  <a:solidFill>
                    <a:srgbClr val="1A237D"/>
                  </a:solidFill>
                  <a:latin typeface="Bai Jamjuree"/>
                  <a:ea typeface="Bai Jamjuree"/>
                  <a:cs typeface="Bai Jamjuree"/>
                  <a:sym typeface="Bai Jamjuree"/>
                </a:rPr>
                <a:t>• Zone distribution</a:t>
              </a:r>
              <a:endParaRPr/>
            </a:p>
          </p:txBody>
        </p:sp>
      </p:grpSp>
      <p:pic>
        <p:nvPicPr>
          <p:cNvPr id="945" name="Google Shape;945;p81"/>
          <p:cNvPicPr preferRelativeResize="0"/>
          <p:nvPr/>
        </p:nvPicPr>
        <p:blipFill rotWithShape="1">
          <a:blip r:embed="rId6">
            <a:alphaModFix/>
          </a:blip>
          <a:srcRect b="0" l="0" r="0" t="0"/>
          <a:stretch/>
        </p:blipFill>
        <p:spPr>
          <a:xfrm>
            <a:off x="11593454" y="2461595"/>
            <a:ext cx="514422" cy="457264"/>
          </a:xfrm>
          <a:prstGeom prst="rect">
            <a:avLst/>
          </a:prstGeom>
          <a:noFill/>
          <a:ln>
            <a:noFill/>
          </a:ln>
        </p:spPr>
      </p:pic>
      <p:pic>
        <p:nvPicPr>
          <p:cNvPr id="946" name="Google Shape;946;p81"/>
          <p:cNvPicPr preferRelativeResize="0"/>
          <p:nvPr/>
        </p:nvPicPr>
        <p:blipFill rotWithShape="1">
          <a:blip r:embed="rId7">
            <a:alphaModFix/>
          </a:blip>
          <a:srcRect b="0" l="0" r="0" t="0"/>
          <a:stretch/>
        </p:blipFill>
        <p:spPr>
          <a:xfrm>
            <a:off x="2454565" y="6139555"/>
            <a:ext cx="13378868" cy="224913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82"/>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52" name="Google Shape;952;p82"/>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53" name="Google Shape;953;p82"/>
          <p:cNvGrpSpPr/>
          <p:nvPr/>
        </p:nvGrpSpPr>
        <p:grpSpPr>
          <a:xfrm>
            <a:off x="5776170" y="9896475"/>
            <a:ext cx="6735680" cy="408188"/>
            <a:chOff x="0" y="0"/>
            <a:chExt cx="8980907" cy="544250"/>
          </a:xfrm>
        </p:grpSpPr>
        <p:sp>
          <p:nvSpPr>
            <p:cNvPr id="954" name="Google Shape;954;p82"/>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55" name="Google Shape;955;p82"/>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956" name="Google Shape;956;p82"/>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957" name="Google Shape;957;p82"/>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58" name="Google Shape;958;p82"/>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REPORTS CHI TIẾT</a:t>
            </a:r>
            <a:endParaRPr b="1" i="0" sz="2249" u="none" cap="none" strike="noStrike">
              <a:solidFill>
                <a:srgbClr val="0050AB"/>
              </a:solidFill>
              <a:latin typeface="Bai Jamjuree"/>
              <a:ea typeface="Bai Jamjuree"/>
              <a:cs typeface="Bai Jamjuree"/>
              <a:sym typeface="Bai Jamjuree"/>
            </a:endParaRPr>
          </a:p>
        </p:txBody>
      </p:sp>
      <p:sp>
        <p:nvSpPr>
          <p:cNvPr id="959" name="Google Shape;959;p82"/>
          <p:cNvSpPr txBox="1"/>
          <p:nvPr/>
        </p:nvSpPr>
        <p:spPr>
          <a:xfrm>
            <a:off x="716913" y="262207"/>
            <a:ext cx="6946629"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pic>
        <p:nvPicPr>
          <p:cNvPr id="960" name="Google Shape;960;p82"/>
          <p:cNvPicPr preferRelativeResize="0"/>
          <p:nvPr/>
        </p:nvPicPr>
        <p:blipFill rotWithShape="1">
          <a:blip r:embed="rId4">
            <a:alphaModFix/>
          </a:blip>
          <a:srcRect b="0" l="0" r="0" t="0"/>
          <a:stretch/>
        </p:blipFill>
        <p:spPr>
          <a:xfrm>
            <a:off x="7096033" y="588476"/>
            <a:ext cx="9497921" cy="9186271"/>
          </a:xfrm>
          <a:prstGeom prst="rect">
            <a:avLst/>
          </a:prstGeom>
          <a:noFill/>
          <a:ln>
            <a:noFill/>
          </a:ln>
          <a:effectLst>
            <a:outerShdw blurRad="292100" rotWithShape="0" algn="tl" dir="2700000" dist="139700">
              <a:srgbClr val="333333">
                <a:alpha val="64705"/>
              </a:srgbClr>
            </a:outerShdw>
          </a:effectLst>
        </p:spPr>
      </p:pic>
      <p:pic>
        <p:nvPicPr>
          <p:cNvPr id="961" name="Google Shape;961;p82"/>
          <p:cNvPicPr preferRelativeResize="0"/>
          <p:nvPr/>
        </p:nvPicPr>
        <p:blipFill rotWithShape="1">
          <a:blip r:embed="rId5">
            <a:alphaModFix/>
          </a:blip>
          <a:srcRect b="0" l="0" r="0" t="0"/>
          <a:stretch/>
        </p:blipFill>
        <p:spPr>
          <a:xfrm>
            <a:off x="2006922" y="3541977"/>
            <a:ext cx="4208005" cy="2340863"/>
          </a:xfrm>
          <a:prstGeom prst="rect">
            <a:avLst/>
          </a:prstGeom>
          <a:noFill/>
          <a:ln>
            <a:noFill/>
          </a:ln>
        </p:spPr>
      </p:pic>
      <p:sp>
        <p:nvSpPr>
          <p:cNvPr id="962" name="Google Shape;962;p82"/>
          <p:cNvSpPr txBox="1"/>
          <p:nvPr/>
        </p:nvSpPr>
        <p:spPr>
          <a:xfrm>
            <a:off x="2439554" y="4525444"/>
            <a:ext cx="3075421" cy="400110"/>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2000" u="none" cap="none" strike="noStrike">
                <a:solidFill>
                  <a:srgbClr val="1A237D"/>
                </a:solidFill>
                <a:latin typeface="Bai Jamjuree"/>
                <a:ea typeface="Bai Jamjuree"/>
                <a:cs typeface="Bai Jamjuree"/>
                <a:sym typeface="Bai Jamjuree"/>
              </a:rPr>
              <a:t>Theo dõi Kệ/Khu vực</a:t>
            </a:r>
            <a:endParaRPr b="1" i="0" sz="2000" u="none" cap="none" strike="noStrike">
              <a:solidFill>
                <a:srgbClr val="1A237D"/>
              </a:solidFill>
              <a:latin typeface="Bai Jamjuree"/>
              <a:ea typeface="Bai Jamjuree"/>
              <a:cs typeface="Bai Jamjuree"/>
              <a:sym typeface="Bai Jamjure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83"/>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68" name="Google Shape;968;p83"/>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69" name="Google Shape;969;p83"/>
          <p:cNvGrpSpPr/>
          <p:nvPr/>
        </p:nvGrpSpPr>
        <p:grpSpPr>
          <a:xfrm>
            <a:off x="5776170" y="9896475"/>
            <a:ext cx="6735680" cy="408188"/>
            <a:chOff x="0" y="0"/>
            <a:chExt cx="8980907" cy="544250"/>
          </a:xfrm>
        </p:grpSpPr>
        <p:sp>
          <p:nvSpPr>
            <p:cNvPr id="970" name="Google Shape;970;p83"/>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71" name="Google Shape;971;p83"/>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972" name="Google Shape;972;p83"/>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973" name="Google Shape;973;p83"/>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74" name="Google Shape;974;p83"/>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REPORTS CHI TIẾT</a:t>
            </a:r>
            <a:endParaRPr b="1" i="0" sz="2249" u="none" cap="none" strike="noStrike">
              <a:solidFill>
                <a:srgbClr val="0050AB"/>
              </a:solidFill>
              <a:latin typeface="Bai Jamjuree"/>
              <a:ea typeface="Bai Jamjuree"/>
              <a:cs typeface="Bai Jamjuree"/>
              <a:sym typeface="Bai Jamjuree"/>
            </a:endParaRPr>
          </a:p>
        </p:txBody>
      </p:sp>
      <p:sp>
        <p:nvSpPr>
          <p:cNvPr id="975" name="Google Shape;975;p83"/>
          <p:cNvSpPr txBox="1"/>
          <p:nvPr/>
        </p:nvSpPr>
        <p:spPr>
          <a:xfrm>
            <a:off x="716914" y="262207"/>
            <a:ext cx="7715886"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pic>
        <p:nvPicPr>
          <p:cNvPr id="976" name="Google Shape;976;p83"/>
          <p:cNvPicPr preferRelativeResize="0"/>
          <p:nvPr/>
        </p:nvPicPr>
        <p:blipFill rotWithShape="1">
          <a:blip r:embed="rId4">
            <a:alphaModFix/>
          </a:blip>
          <a:srcRect b="0" l="0" r="0" t="0"/>
          <a:stretch/>
        </p:blipFill>
        <p:spPr>
          <a:xfrm>
            <a:off x="2006922" y="3541977"/>
            <a:ext cx="4208005" cy="2340863"/>
          </a:xfrm>
          <a:prstGeom prst="rect">
            <a:avLst/>
          </a:prstGeom>
          <a:noFill/>
          <a:ln>
            <a:noFill/>
          </a:ln>
        </p:spPr>
      </p:pic>
      <p:sp>
        <p:nvSpPr>
          <p:cNvPr id="977" name="Google Shape;977;p83"/>
          <p:cNvSpPr txBox="1"/>
          <p:nvPr/>
        </p:nvSpPr>
        <p:spPr>
          <a:xfrm>
            <a:off x="2335524" y="4474207"/>
            <a:ext cx="3550800" cy="400110"/>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2000" u="none" cap="none" strike="noStrike">
                <a:solidFill>
                  <a:srgbClr val="1A237D"/>
                </a:solidFill>
                <a:latin typeface="Bai Jamjuree"/>
                <a:ea typeface="Bai Jamjuree"/>
                <a:cs typeface="Bai Jamjuree"/>
                <a:sym typeface="Bai Jamjuree"/>
              </a:rPr>
              <a:t>Theo dõi SKU/Sản phẩm</a:t>
            </a:r>
            <a:endParaRPr b="1" i="0" sz="2000" u="none" cap="none" strike="noStrike">
              <a:solidFill>
                <a:srgbClr val="1A237D"/>
              </a:solidFill>
              <a:latin typeface="Bai Jamjuree"/>
              <a:ea typeface="Bai Jamjuree"/>
              <a:cs typeface="Bai Jamjuree"/>
              <a:sym typeface="Bai Jamjuree"/>
            </a:endParaRPr>
          </a:p>
        </p:txBody>
      </p:sp>
      <p:pic>
        <p:nvPicPr>
          <p:cNvPr id="978" name="Google Shape;978;p83"/>
          <p:cNvPicPr preferRelativeResize="0"/>
          <p:nvPr/>
        </p:nvPicPr>
        <p:blipFill rotWithShape="1">
          <a:blip r:embed="rId5">
            <a:alphaModFix/>
          </a:blip>
          <a:srcRect b="0" l="0" r="0" t="0"/>
          <a:stretch/>
        </p:blipFill>
        <p:spPr>
          <a:xfrm>
            <a:off x="6671667" y="612106"/>
            <a:ext cx="9906320" cy="903435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84"/>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84" name="Google Shape;984;p84"/>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985" name="Google Shape;985;p84"/>
          <p:cNvGrpSpPr/>
          <p:nvPr/>
        </p:nvGrpSpPr>
        <p:grpSpPr>
          <a:xfrm>
            <a:off x="5776170" y="9896475"/>
            <a:ext cx="6735680" cy="408188"/>
            <a:chOff x="0" y="0"/>
            <a:chExt cx="8980907" cy="544250"/>
          </a:xfrm>
        </p:grpSpPr>
        <p:sp>
          <p:nvSpPr>
            <p:cNvPr id="986" name="Google Shape;986;p84"/>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87" name="Google Shape;987;p84"/>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988" name="Google Shape;988;p84"/>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989" name="Google Shape;989;p84"/>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990" name="Google Shape;990;p84"/>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49" u="none" cap="none" strike="noStrike">
                <a:solidFill>
                  <a:srgbClr val="0050AB"/>
                </a:solidFill>
                <a:latin typeface="Bai Jamjuree"/>
                <a:ea typeface="Bai Jamjuree"/>
                <a:cs typeface="Bai Jamjuree"/>
                <a:sym typeface="Bai Jamjuree"/>
              </a:rPr>
              <a:t>REPORTS CHI TIẾT</a:t>
            </a:r>
            <a:endParaRPr b="1" i="0" sz="2249" u="none" cap="none" strike="noStrike">
              <a:solidFill>
                <a:srgbClr val="0050AB"/>
              </a:solidFill>
              <a:latin typeface="Bai Jamjuree"/>
              <a:ea typeface="Bai Jamjuree"/>
              <a:cs typeface="Bai Jamjuree"/>
              <a:sym typeface="Bai Jamjuree"/>
            </a:endParaRPr>
          </a:p>
        </p:txBody>
      </p:sp>
      <p:sp>
        <p:nvSpPr>
          <p:cNvPr id="991" name="Google Shape;991;p84"/>
          <p:cNvSpPr txBox="1"/>
          <p:nvPr/>
        </p:nvSpPr>
        <p:spPr>
          <a:xfrm>
            <a:off x="716914" y="262207"/>
            <a:ext cx="8427086"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pic>
        <p:nvPicPr>
          <p:cNvPr id="992" name="Google Shape;992;p84"/>
          <p:cNvPicPr preferRelativeResize="0"/>
          <p:nvPr/>
        </p:nvPicPr>
        <p:blipFill rotWithShape="1">
          <a:blip r:embed="rId4">
            <a:alphaModFix/>
          </a:blip>
          <a:srcRect b="0" l="0" r="0" t="0"/>
          <a:stretch/>
        </p:blipFill>
        <p:spPr>
          <a:xfrm>
            <a:off x="2006922" y="3541977"/>
            <a:ext cx="4208005" cy="2340863"/>
          </a:xfrm>
          <a:prstGeom prst="rect">
            <a:avLst/>
          </a:prstGeom>
          <a:noFill/>
          <a:ln>
            <a:noFill/>
          </a:ln>
        </p:spPr>
      </p:pic>
      <p:sp>
        <p:nvSpPr>
          <p:cNvPr id="993" name="Google Shape;993;p84"/>
          <p:cNvSpPr txBox="1"/>
          <p:nvPr/>
        </p:nvSpPr>
        <p:spPr>
          <a:xfrm>
            <a:off x="2598790" y="4435614"/>
            <a:ext cx="3024267" cy="707886"/>
          </a:xfrm>
          <a:prstGeom prst="rect">
            <a:avLst/>
          </a:prstGeom>
          <a:noFill/>
          <a:ln>
            <a:noFill/>
          </a:ln>
        </p:spPr>
        <p:txBody>
          <a:bodyPr anchorCtr="0" anchor="t" bIns="45700" lIns="91425" spcFirstLastPara="1" rIns="91425" wrap="square" tIns="45700">
            <a:spAutoFit/>
          </a:bodyPr>
          <a:lstStyle/>
          <a:p>
            <a:pPr indent="0" lvl="0" marL="50800" marR="0" rtl="0" algn="l">
              <a:lnSpc>
                <a:spcPct val="100000"/>
              </a:lnSpc>
              <a:spcBef>
                <a:spcPts val="0"/>
              </a:spcBef>
              <a:spcAft>
                <a:spcPts val="0"/>
              </a:spcAft>
              <a:buNone/>
            </a:pPr>
            <a:r>
              <a:rPr b="1" i="0" lang="en-US" sz="2000" u="none" cap="none" strike="noStrike">
                <a:solidFill>
                  <a:srgbClr val="1A237D"/>
                </a:solidFill>
                <a:latin typeface="Bai Jamjuree"/>
                <a:ea typeface="Bai Jamjuree"/>
                <a:cs typeface="Bai Jamjuree"/>
                <a:sym typeface="Bai Jamjuree"/>
              </a:rPr>
              <a:t>Theo dõi Khách hàng &amp; Hành vi</a:t>
            </a:r>
            <a:endParaRPr b="1" i="0" sz="2000" u="none" cap="none" strike="noStrike">
              <a:solidFill>
                <a:srgbClr val="1A237D"/>
              </a:solidFill>
              <a:latin typeface="Bai Jamjuree"/>
              <a:ea typeface="Bai Jamjuree"/>
              <a:cs typeface="Bai Jamjuree"/>
              <a:sym typeface="Bai Jamjuree"/>
            </a:endParaRPr>
          </a:p>
        </p:txBody>
      </p:sp>
      <p:pic>
        <p:nvPicPr>
          <p:cNvPr id="994" name="Google Shape;994;p84"/>
          <p:cNvPicPr preferRelativeResize="0"/>
          <p:nvPr/>
        </p:nvPicPr>
        <p:blipFill rotWithShape="1">
          <a:blip r:embed="rId5">
            <a:alphaModFix/>
          </a:blip>
          <a:srcRect b="0" l="0" r="0" t="0"/>
          <a:stretch/>
        </p:blipFill>
        <p:spPr>
          <a:xfrm>
            <a:off x="7177149" y="656827"/>
            <a:ext cx="9437911" cy="912823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85"/>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00" name="Google Shape;1000;p85"/>
          <p:cNvSpPr/>
          <p:nvPr/>
        </p:nvSpPr>
        <p:spPr>
          <a:xfrm>
            <a:off x="17259300" y="262207"/>
            <a:ext cx="760650" cy="349899"/>
          </a:xfrm>
          <a:custGeom>
            <a:rect b="b" l="l" r="r" t="t"/>
            <a:pathLst>
              <a:path extrusionOk="0" h="349899" w="760650">
                <a:moveTo>
                  <a:pt x="0" y="0"/>
                </a:moveTo>
                <a:lnTo>
                  <a:pt x="760650" y="0"/>
                </a:lnTo>
                <a:lnTo>
                  <a:pt x="760650" y="349900"/>
                </a:lnTo>
                <a:lnTo>
                  <a:pt x="0" y="3499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1001" name="Google Shape;1001;p85"/>
          <p:cNvGrpSpPr/>
          <p:nvPr/>
        </p:nvGrpSpPr>
        <p:grpSpPr>
          <a:xfrm>
            <a:off x="5776170" y="9896475"/>
            <a:ext cx="6735680" cy="408188"/>
            <a:chOff x="0" y="0"/>
            <a:chExt cx="8980907" cy="544250"/>
          </a:xfrm>
        </p:grpSpPr>
        <p:sp>
          <p:nvSpPr>
            <p:cNvPr id="1002" name="Google Shape;1002;p85"/>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03" name="Google Shape;1003;p85"/>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1004" name="Google Shape;1004;p85"/>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sp>
        <p:nvSpPr>
          <p:cNvPr id="1005" name="Google Shape;1005;p85"/>
          <p:cNvSpPr/>
          <p:nvPr/>
        </p:nvSpPr>
        <p:spPr>
          <a:xfrm>
            <a:off x="511030" y="312382"/>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06" name="Google Shape;1006;p85"/>
          <p:cNvSpPr txBox="1"/>
          <p:nvPr/>
        </p:nvSpPr>
        <p:spPr>
          <a:xfrm>
            <a:off x="698052" y="550759"/>
            <a:ext cx="11033751"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LỢI ÍCH CỦA SMART PLANOGRAM</a:t>
            </a:r>
            <a:endParaRPr b="1" i="0" sz="2249" u="none" cap="none" strike="noStrike">
              <a:solidFill>
                <a:srgbClr val="0050AB"/>
              </a:solidFill>
              <a:latin typeface="Bai Jamjuree"/>
              <a:ea typeface="Bai Jamjuree"/>
              <a:cs typeface="Bai Jamjuree"/>
              <a:sym typeface="Bai Jamjuree"/>
            </a:endParaRPr>
          </a:p>
        </p:txBody>
      </p:sp>
      <p:sp>
        <p:nvSpPr>
          <p:cNvPr id="1007" name="Google Shape;1007;p85"/>
          <p:cNvSpPr txBox="1"/>
          <p:nvPr/>
        </p:nvSpPr>
        <p:spPr>
          <a:xfrm>
            <a:off x="716914" y="262207"/>
            <a:ext cx="8615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574" u="none" cap="none" strike="noStrike">
                <a:solidFill>
                  <a:srgbClr val="4D4D4F"/>
                </a:solidFill>
                <a:latin typeface="Bai Jamjuree"/>
                <a:ea typeface="Bai Jamjuree"/>
                <a:cs typeface="Bai Jamjuree"/>
                <a:sym typeface="Bai Jamjuree"/>
              </a:rPr>
              <a:t>TỔNG QUAN CÁC CHỨC NĂNG NỔI BẬT CỦA SMART PLANOGRAM</a:t>
            </a:r>
            <a:endParaRPr/>
          </a:p>
        </p:txBody>
      </p:sp>
      <p:grpSp>
        <p:nvGrpSpPr>
          <p:cNvPr id="1008" name="Google Shape;1008;p85"/>
          <p:cNvGrpSpPr/>
          <p:nvPr/>
        </p:nvGrpSpPr>
        <p:grpSpPr>
          <a:xfrm>
            <a:off x="2707061" y="1660773"/>
            <a:ext cx="5541265" cy="4541461"/>
            <a:chOff x="3732979" y="1660773"/>
            <a:chExt cx="5541265" cy="4541461"/>
          </a:xfrm>
        </p:grpSpPr>
        <p:sp>
          <p:nvSpPr>
            <p:cNvPr id="1009" name="Google Shape;1009;p85"/>
            <p:cNvSpPr/>
            <p:nvPr/>
          </p:nvSpPr>
          <p:spPr>
            <a:xfrm>
              <a:off x="3732980" y="1735009"/>
              <a:ext cx="5541264" cy="4467225"/>
            </a:xfrm>
            <a:custGeom>
              <a:rect b="b" l="l" r="r" t="t"/>
              <a:pathLst>
                <a:path extrusionOk="0" h="4467225" w="4572000">
                  <a:moveTo>
                    <a:pt x="4401311" y="4467224"/>
                  </a:moveTo>
                  <a:lnTo>
                    <a:pt x="170687" y="4467224"/>
                  </a:lnTo>
                  <a:lnTo>
                    <a:pt x="162302" y="4467019"/>
                  </a:lnTo>
                  <a:lnTo>
                    <a:pt x="121139" y="4459876"/>
                  </a:lnTo>
                  <a:lnTo>
                    <a:pt x="82944" y="4442945"/>
                  </a:lnTo>
                  <a:lnTo>
                    <a:pt x="49993" y="4417231"/>
                  </a:lnTo>
                  <a:lnTo>
                    <a:pt x="24277" y="4384279"/>
                  </a:lnTo>
                  <a:lnTo>
                    <a:pt x="7347" y="4346084"/>
                  </a:lnTo>
                  <a:lnTo>
                    <a:pt x="204" y="4304921"/>
                  </a:lnTo>
                  <a:lnTo>
                    <a:pt x="0" y="4296536"/>
                  </a:lnTo>
                  <a:lnTo>
                    <a:pt x="0" y="132587"/>
                  </a:lnTo>
                  <a:lnTo>
                    <a:pt x="7347" y="94099"/>
                  </a:lnTo>
                  <a:lnTo>
                    <a:pt x="28765" y="58925"/>
                  </a:lnTo>
                  <a:lnTo>
                    <a:pt x="62403" y="30094"/>
                  </a:lnTo>
                  <a:lnTo>
                    <a:pt x="97699" y="12732"/>
                  </a:lnTo>
                  <a:lnTo>
                    <a:pt x="137388" y="2547"/>
                  </a:lnTo>
                  <a:lnTo>
                    <a:pt x="170687" y="0"/>
                  </a:lnTo>
                  <a:lnTo>
                    <a:pt x="4401311" y="0"/>
                  </a:lnTo>
                  <a:lnTo>
                    <a:pt x="4442794" y="3974"/>
                  </a:lnTo>
                  <a:lnTo>
                    <a:pt x="4481773" y="15654"/>
                  </a:lnTo>
                  <a:lnTo>
                    <a:pt x="4515931" y="34340"/>
                  </a:lnTo>
                  <a:lnTo>
                    <a:pt x="4547720" y="64430"/>
                  </a:lnTo>
                  <a:lnTo>
                    <a:pt x="4566882" y="100363"/>
                  </a:lnTo>
                  <a:lnTo>
                    <a:pt x="4571999" y="132587"/>
                  </a:lnTo>
                  <a:lnTo>
                    <a:pt x="4571999" y="4296536"/>
                  </a:lnTo>
                  <a:lnTo>
                    <a:pt x="4566882" y="4338020"/>
                  </a:lnTo>
                  <a:lnTo>
                    <a:pt x="4551845" y="4376999"/>
                  </a:lnTo>
                  <a:lnTo>
                    <a:pt x="4527790" y="4411156"/>
                  </a:lnTo>
                  <a:lnTo>
                    <a:pt x="4496140" y="4438457"/>
                  </a:lnTo>
                  <a:lnTo>
                    <a:pt x="4458804" y="4457250"/>
                  </a:lnTo>
                  <a:lnTo>
                    <a:pt x="4418042" y="4466404"/>
                  </a:lnTo>
                  <a:lnTo>
                    <a:pt x="4401311" y="4467224"/>
                  </a:lnTo>
                  <a:close/>
                </a:path>
              </a:pathLst>
            </a:custGeom>
            <a:solidFill>
              <a:srgbClr val="FFFFFF"/>
            </a:solidFill>
            <a:ln>
              <a:noFill/>
            </a:ln>
            <a:effectLst>
              <a:outerShdw blurRad="50800" rotWithShape="0" algn="t" dir="5400000" dist="38100">
                <a:srgbClr val="000000">
                  <a:alpha val="40000"/>
                </a:srgbClr>
              </a:outerShdw>
            </a:effectLst>
          </p:spPr>
          <p:txBody>
            <a:bodyPr anchorCtr="0" anchor="t"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10" name="Google Shape;1010;p85"/>
            <p:cNvSpPr/>
            <p:nvPr/>
          </p:nvSpPr>
          <p:spPr>
            <a:xfrm>
              <a:off x="3732979" y="1660773"/>
              <a:ext cx="5539355" cy="206952"/>
            </a:xfrm>
            <a:custGeom>
              <a:rect b="b" l="l" r="r" t="t"/>
              <a:pathLst>
                <a:path extrusionOk="0" h="170815" w="4572000">
                  <a:moveTo>
                    <a:pt x="0" y="170687"/>
                  </a:moveTo>
                  <a:lnTo>
                    <a:pt x="7308" y="121213"/>
                  </a:lnTo>
                  <a:lnTo>
                    <a:pt x="28739" y="75840"/>
                  </a:lnTo>
                  <a:lnTo>
                    <a:pt x="62457" y="38677"/>
                  </a:lnTo>
                  <a:lnTo>
                    <a:pt x="105368" y="12992"/>
                  </a:lnTo>
                  <a:lnTo>
                    <a:pt x="153873" y="812"/>
                  </a:lnTo>
                  <a:lnTo>
                    <a:pt x="170687" y="0"/>
                  </a:lnTo>
                  <a:lnTo>
                    <a:pt x="4401311" y="0"/>
                  </a:lnTo>
                  <a:lnTo>
                    <a:pt x="4450785" y="7308"/>
                  </a:lnTo>
                  <a:lnTo>
                    <a:pt x="4496158" y="28739"/>
                  </a:lnTo>
                  <a:lnTo>
                    <a:pt x="4533321" y="62457"/>
                  </a:lnTo>
                  <a:lnTo>
                    <a:pt x="4543474" y="76199"/>
                  </a:lnTo>
                  <a:lnTo>
                    <a:pt x="170687" y="76199"/>
                  </a:lnTo>
                  <a:lnTo>
                    <a:pt x="153873" y="76649"/>
                  </a:lnTo>
                  <a:lnTo>
                    <a:pt x="105368" y="83392"/>
                  </a:lnTo>
                  <a:lnTo>
                    <a:pt x="62457" y="97610"/>
                  </a:lnTo>
                  <a:lnTo>
                    <a:pt x="28739" y="118183"/>
                  </a:lnTo>
                  <a:lnTo>
                    <a:pt x="3248" y="152250"/>
                  </a:lnTo>
                  <a:lnTo>
                    <a:pt x="811" y="161379"/>
                  </a:lnTo>
                  <a:lnTo>
                    <a:pt x="0" y="170687"/>
                  </a:lnTo>
                  <a:close/>
                </a:path>
                <a:path extrusionOk="0" h="170815" w="4572000">
                  <a:moveTo>
                    <a:pt x="4571999" y="170687"/>
                  </a:moveTo>
                  <a:lnTo>
                    <a:pt x="4559006" y="134528"/>
                  </a:lnTo>
                  <a:lnTo>
                    <a:pt x="4522005" y="103874"/>
                  </a:lnTo>
                  <a:lnTo>
                    <a:pt x="4481854" y="87369"/>
                  </a:lnTo>
                  <a:lnTo>
                    <a:pt x="4434617" y="77998"/>
                  </a:lnTo>
                  <a:lnTo>
                    <a:pt x="4401311" y="76199"/>
                  </a:lnTo>
                  <a:lnTo>
                    <a:pt x="4543474" y="76199"/>
                  </a:lnTo>
                  <a:lnTo>
                    <a:pt x="4564691" y="121213"/>
                  </a:lnTo>
                  <a:lnTo>
                    <a:pt x="4571187" y="153873"/>
                  </a:lnTo>
                  <a:lnTo>
                    <a:pt x="4571999" y="170687"/>
                  </a:lnTo>
                  <a:close/>
                </a:path>
              </a:pathLst>
            </a:custGeom>
            <a:solidFill>
              <a:srgbClr val="D0D5D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11" name="Google Shape;1011;p85"/>
            <p:cNvSpPr txBox="1"/>
            <p:nvPr/>
          </p:nvSpPr>
          <p:spPr>
            <a:xfrm>
              <a:off x="4010503" y="1992915"/>
              <a:ext cx="5025211" cy="409575"/>
            </a:xfrm>
            <a:prstGeom prst="rect">
              <a:avLst/>
            </a:prstGeom>
            <a:noFill/>
            <a:ln>
              <a:noFill/>
            </a:ln>
          </p:spPr>
          <p:txBody>
            <a:bodyPr anchorCtr="0" anchor="t" bIns="0" lIns="0" spcFirstLastPara="1" rIns="0" wrap="square" tIns="15225">
              <a:spAutoFit/>
            </a:bodyPr>
            <a:lstStyle/>
            <a:p>
              <a:pPr indent="0" lvl="0" marL="12700" marR="0" rtl="0" algn="ctr">
                <a:lnSpc>
                  <a:spcPct val="100000"/>
                </a:lnSpc>
                <a:spcBef>
                  <a:spcPts val="0"/>
                </a:spcBef>
                <a:spcAft>
                  <a:spcPts val="0"/>
                </a:spcAft>
                <a:buNone/>
              </a:pPr>
              <a:r>
                <a:rPr b="1" i="0" lang="en-US" sz="2500" u="none" cap="none" strike="noStrike">
                  <a:solidFill>
                    <a:srgbClr val="0050AB"/>
                  </a:solidFill>
                  <a:latin typeface="Bai Jamjuree"/>
                  <a:ea typeface="Bai Jamjuree"/>
                  <a:cs typeface="Bai Jamjuree"/>
                  <a:sym typeface="Bai Jamjuree"/>
                </a:rPr>
                <a:t>Quy trình cũ</a:t>
              </a:r>
              <a:endParaRPr b="0" i="0" sz="2500" u="none" cap="none" strike="noStrike">
                <a:solidFill>
                  <a:srgbClr val="0050AB"/>
                </a:solidFill>
                <a:latin typeface="Bai Jamjuree"/>
                <a:ea typeface="Bai Jamjuree"/>
                <a:cs typeface="Bai Jamjuree"/>
                <a:sym typeface="Bai Jamjuree"/>
              </a:endParaRPr>
            </a:p>
          </p:txBody>
        </p:sp>
        <p:sp>
          <p:nvSpPr>
            <p:cNvPr id="1012" name="Google Shape;1012;p85"/>
            <p:cNvSpPr txBox="1"/>
            <p:nvPr/>
          </p:nvSpPr>
          <p:spPr>
            <a:xfrm>
              <a:off x="4524697" y="2606706"/>
              <a:ext cx="3223640" cy="571951"/>
            </a:xfrm>
            <a:prstGeom prst="rect">
              <a:avLst/>
            </a:prstGeom>
            <a:noFill/>
            <a:ln>
              <a:noFill/>
            </a:ln>
          </p:spPr>
          <p:txBody>
            <a:bodyPr anchorCtr="0" anchor="t" bIns="0" lIns="0" spcFirstLastPara="1" rIns="0" wrap="square" tIns="71100">
              <a:spAutoFit/>
            </a:bodyPr>
            <a:lstStyle/>
            <a:p>
              <a:pPr indent="0" lvl="0" marL="12700" marR="0" rtl="0" algn="l">
                <a:lnSpc>
                  <a:spcPct val="100000"/>
                </a:lnSpc>
                <a:spcBef>
                  <a:spcPts val="0"/>
                </a:spcBef>
                <a:spcAft>
                  <a:spcPts val="0"/>
                </a:spcAft>
                <a:buNone/>
              </a:pPr>
              <a:r>
                <a:rPr b="1" i="0" lang="en-US" sz="1650" u="none" cap="none" strike="noStrike">
                  <a:solidFill>
                    <a:srgbClr val="0050AB"/>
                  </a:solidFill>
                  <a:latin typeface="Bai Jamjuree"/>
                  <a:ea typeface="Bai Jamjuree"/>
                  <a:cs typeface="Bai Jamjuree"/>
                  <a:sym typeface="Bai Jamjuree"/>
                </a:rPr>
                <a:t>Vẽ tay thủ công</a:t>
              </a:r>
              <a:endParaRPr b="0" i="0" sz="1650" u="none" cap="none" strike="noStrike">
                <a:solidFill>
                  <a:srgbClr val="0050AB"/>
                </a:solidFill>
                <a:latin typeface="Bai Jamjuree"/>
                <a:ea typeface="Bai Jamjuree"/>
                <a:cs typeface="Bai Jamjuree"/>
                <a:sym typeface="Bai Jamjuree"/>
              </a:endParaRPr>
            </a:p>
            <a:p>
              <a:pPr indent="0" lvl="0" marL="12700" marR="0" rtl="0" algn="l">
                <a:lnSpc>
                  <a:spcPct val="100000"/>
                </a:lnSpc>
                <a:spcBef>
                  <a:spcPts val="345"/>
                </a:spcBef>
                <a:spcAft>
                  <a:spcPts val="0"/>
                </a:spcAft>
                <a:buNone/>
              </a:pPr>
              <a:r>
                <a:rPr b="0" i="0" lang="en-US" sz="1350" u="none" cap="none" strike="noStrike">
                  <a:solidFill>
                    <a:srgbClr val="0050AB"/>
                  </a:solidFill>
                  <a:latin typeface="Bai Jamjuree"/>
                  <a:ea typeface="Bai Jamjuree"/>
                  <a:cs typeface="Bai Jamjuree"/>
                  <a:sym typeface="Bai Jamjuree"/>
                </a:rPr>
                <a:t>Mất khoảng 3 ngày</a:t>
              </a:r>
              <a:endParaRPr b="0" i="0" sz="1350" u="none" cap="none" strike="noStrike">
                <a:solidFill>
                  <a:srgbClr val="0050AB"/>
                </a:solidFill>
                <a:latin typeface="Bai Jamjuree"/>
                <a:ea typeface="Bai Jamjuree"/>
                <a:cs typeface="Bai Jamjuree"/>
                <a:sym typeface="Bai Jamjuree"/>
              </a:endParaRPr>
            </a:p>
          </p:txBody>
        </p:sp>
        <p:sp>
          <p:nvSpPr>
            <p:cNvPr id="1013" name="Google Shape;1013;p85"/>
            <p:cNvSpPr txBox="1"/>
            <p:nvPr/>
          </p:nvSpPr>
          <p:spPr>
            <a:xfrm>
              <a:off x="4524697" y="3356799"/>
              <a:ext cx="3223640" cy="596958"/>
            </a:xfrm>
            <a:prstGeom prst="rect">
              <a:avLst/>
            </a:prstGeom>
            <a:noFill/>
            <a:ln>
              <a:noFill/>
            </a:ln>
          </p:spPr>
          <p:txBody>
            <a:bodyPr anchorCtr="0" anchor="t" bIns="0" lIns="0" spcFirstLastPara="1" rIns="0" wrap="square" tIns="83175">
              <a:spAutoFit/>
            </a:bodyPr>
            <a:lstStyle/>
            <a:p>
              <a:pPr indent="0" lvl="0" marL="12700" marR="0" rtl="0" algn="l">
                <a:lnSpc>
                  <a:spcPct val="100000"/>
                </a:lnSpc>
                <a:spcBef>
                  <a:spcPts val="0"/>
                </a:spcBef>
                <a:spcAft>
                  <a:spcPts val="0"/>
                </a:spcAft>
                <a:buNone/>
              </a:pPr>
              <a:r>
                <a:rPr b="1" i="0" lang="en-US" sz="1650" u="none" cap="none" strike="noStrike">
                  <a:solidFill>
                    <a:srgbClr val="0050AB"/>
                  </a:solidFill>
                  <a:latin typeface="Bai Jamjuree"/>
                  <a:ea typeface="Bai Jamjuree"/>
                  <a:cs typeface="Bai Jamjuree"/>
                  <a:sym typeface="Bai Jamjuree"/>
                </a:rPr>
                <a:t>Đoán vị trí</a:t>
              </a:r>
              <a:endParaRPr b="0" i="0" sz="1650" u="none" cap="none" strike="noStrike">
                <a:solidFill>
                  <a:srgbClr val="0050AB"/>
                </a:solidFill>
                <a:latin typeface="Bai Jamjuree"/>
                <a:ea typeface="Bai Jamjuree"/>
                <a:cs typeface="Bai Jamjuree"/>
                <a:sym typeface="Bai Jamjuree"/>
              </a:endParaRPr>
            </a:p>
            <a:p>
              <a:pPr indent="0" lvl="0" marL="12700" marR="0" rtl="0" algn="l">
                <a:lnSpc>
                  <a:spcPct val="100000"/>
                </a:lnSpc>
                <a:spcBef>
                  <a:spcPts val="420"/>
                </a:spcBef>
                <a:spcAft>
                  <a:spcPts val="0"/>
                </a:spcAft>
                <a:buNone/>
              </a:pPr>
              <a:r>
                <a:rPr b="0" i="0" lang="en-US" sz="1350" u="none" cap="none" strike="noStrike">
                  <a:solidFill>
                    <a:srgbClr val="0050AB"/>
                  </a:solidFill>
                  <a:latin typeface="Bai Jamjuree"/>
                  <a:ea typeface="Bai Jamjuree"/>
                  <a:cs typeface="Bai Jamjuree"/>
                  <a:sym typeface="Bai Jamjuree"/>
                </a:rPr>
                <a:t>Dựa trên cảm tính, thiếu dữ liệu</a:t>
              </a:r>
              <a:endParaRPr b="0" i="0" sz="1350" u="none" cap="none" strike="noStrike">
                <a:solidFill>
                  <a:srgbClr val="0050AB"/>
                </a:solidFill>
                <a:latin typeface="Bai Jamjuree"/>
                <a:ea typeface="Bai Jamjuree"/>
                <a:cs typeface="Bai Jamjuree"/>
                <a:sym typeface="Bai Jamjuree"/>
              </a:endParaRPr>
            </a:p>
          </p:txBody>
        </p:sp>
        <p:sp>
          <p:nvSpPr>
            <p:cNvPr id="1014" name="Google Shape;1014;p85"/>
            <p:cNvSpPr txBox="1"/>
            <p:nvPr/>
          </p:nvSpPr>
          <p:spPr>
            <a:xfrm>
              <a:off x="4524697" y="4140231"/>
              <a:ext cx="2550795" cy="585470"/>
            </a:xfrm>
            <a:prstGeom prst="rect">
              <a:avLst/>
            </a:prstGeom>
            <a:noFill/>
            <a:ln>
              <a:noFill/>
            </a:ln>
          </p:spPr>
          <p:txBody>
            <a:bodyPr anchorCtr="0" anchor="t" bIns="0" lIns="0" spcFirstLastPara="1" rIns="0" wrap="square" tIns="71100">
              <a:spAutoFit/>
            </a:bodyPr>
            <a:lstStyle/>
            <a:p>
              <a:pPr indent="0" lvl="0" marL="12700" marR="0" rtl="0" algn="l">
                <a:lnSpc>
                  <a:spcPct val="100000"/>
                </a:lnSpc>
                <a:spcBef>
                  <a:spcPts val="0"/>
                </a:spcBef>
                <a:spcAft>
                  <a:spcPts val="0"/>
                </a:spcAft>
                <a:buNone/>
              </a:pPr>
              <a:r>
                <a:rPr b="1" i="0" lang="en-US" sz="1650" u="none" cap="none" strike="noStrike">
                  <a:solidFill>
                    <a:srgbClr val="0050AB"/>
                  </a:solidFill>
                  <a:latin typeface="Bai Jamjuree"/>
                  <a:ea typeface="Bai Jamjuree"/>
                  <a:cs typeface="Bai Jamjuree"/>
                  <a:sym typeface="Bai Jamjuree"/>
                </a:rPr>
                <a:t>Lắp thử &amp; Sửa sai</a:t>
              </a:r>
              <a:endParaRPr b="0" i="0" sz="1650" u="none" cap="none" strike="noStrike">
                <a:solidFill>
                  <a:srgbClr val="0050AB"/>
                </a:solidFill>
                <a:latin typeface="Bai Jamjuree"/>
                <a:ea typeface="Bai Jamjuree"/>
                <a:cs typeface="Bai Jamjuree"/>
                <a:sym typeface="Bai Jamjuree"/>
              </a:endParaRPr>
            </a:p>
            <a:p>
              <a:pPr indent="0" lvl="0" marL="12700" marR="0" rtl="0" algn="l">
                <a:lnSpc>
                  <a:spcPct val="100000"/>
                </a:lnSpc>
                <a:spcBef>
                  <a:spcPts val="345"/>
                </a:spcBef>
                <a:spcAft>
                  <a:spcPts val="0"/>
                </a:spcAft>
                <a:buNone/>
              </a:pPr>
              <a:r>
                <a:rPr b="0" i="0" lang="en-US" sz="1350" u="none" cap="none" strike="noStrike">
                  <a:solidFill>
                    <a:srgbClr val="0050AB"/>
                  </a:solidFill>
                  <a:latin typeface="Bai Jamjuree"/>
                  <a:ea typeface="Bai Jamjuree"/>
                  <a:cs typeface="Bai Jamjuree"/>
                  <a:sym typeface="Bai Jamjuree"/>
                </a:rPr>
                <a:t>Tốn kém, mất nhiều công sức</a:t>
              </a:r>
              <a:endParaRPr b="0" i="0" sz="1350" u="none" cap="none" strike="noStrike">
                <a:solidFill>
                  <a:srgbClr val="0050AB"/>
                </a:solidFill>
                <a:latin typeface="Bai Jamjuree"/>
                <a:ea typeface="Bai Jamjuree"/>
                <a:cs typeface="Bai Jamjuree"/>
                <a:sym typeface="Bai Jamjuree"/>
              </a:endParaRPr>
            </a:p>
          </p:txBody>
        </p:sp>
        <p:grpSp>
          <p:nvGrpSpPr>
            <p:cNvPr id="1015" name="Google Shape;1015;p85"/>
            <p:cNvGrpSpPr/>
            <p:nvPr/>
          </p:nvGrpSpPr>
          <p:grpSpPr>
            <a:xfrm>
              <a:off x="3990154" y="4925884"/>
              <a:ext cx="5045561" cy="1028700"/>
              <a:chOff x="1057274" y="4467224"/>
              <a:chExt cx="4057650" cy="1028700"/>
            </a:xfrm>
          </p:grpSpPr>
          <p:sp>
            <p:nvSpPr>
              <p:cNvPr id="1016" name="Google Shape;1016;p85"/>
              <p:cNvSpPr/>
              <p:nvPr/>
            </p:nvSpPr>
            <p:spPr>
              <a:xfrm>
                <a:off x="1057274" y="4467224"/>
                <a:ext cx="4057650" cy="1028700"/>
              </a:xfrm>
              <a:custGeom>
                <a:rect b="b" l="l" r="r" t="t"/>
                <a:pathLst>
                  <a:path extrusionOk="0" h="1028700" w="4057650">
                    <a:moveTo>
                      <a:pt x="3977909" y="1028699"/>
                    </a:moveTo>
                    <a:lnTo>
                      <a:pt x="79740" y="1028699"/>
                    </a:lnTo>
                    <a:lnTo>
                      <a:pt x="74190" y="1028153"/>
                    </a:lnTo>
                    <a:lnTo>
                      <a:pt x="33270" y="1011203"/>
                    </a:lnTo>
                    <a:lnTo>
                      <a:pt x="8640" y="981191"/>
                    </a:lnTo>
                    <a:lnTo>
                      <a:pt x="0" y="948958"/>
                    </a:lnTo>
                    <a:lnTo>
                      <a:pt x="0" y="943355"/>
                    </a:lnTo>
                    <a:lnTo>
                      <a:pt x="0" y="79739"/>
                    </a:lnTo>
                    <a:lnTo>
                      <a:pt x="11269" y="42588"/>
                    </a:lnTo>
                    <a:lnTo>
                      <a:pt x="42588" y="11269"/>
                    </a:lnTo>
                    <a:lnTo>
                      <a:pt x="79740" y="0"/>
                    </a:lnTo>
                    <a:lnTo>
                      <a:pt x="3977909" y="0"/>
                    </a:lnTo>
                    <a:lnTo>
                      <a:pt x="4015060" y="11269"/>
                    </a:lnTo>
                    <a:lnTo>
                      <a:pt x="4046378" y="42588"/>
                    </a:lnTo>
                    <a:lnTo>
                      <a:pt x="4057649" y="79739"/>
                    </a:lnTo>
                    <a:lnTo>
                      <a:pt x="4057649" y="948958"/>
                    </a:lnTo>
                    <a:lnTo>
                      <a:pt x="4046378" y="986110"/>
                    </a:lnTo>
                    <a:lnTo>
                      <a:pt x="4015060" y="1017429"/>
                    </a:lnTo>
                    <a:lnTo>
                      <a:pt x="3983459" y="1028153"/>
                    </a:lnTo>
                    <a:lnTo>
                      <a:pt x="3977909" y="1028699"/>
                    </a:lnTo>
                    <a:close/>
                  </a:path>
                </a:pathLst>
              </a:custGeom>
              <a:solidFill>
                <a:srgbClr val="FE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17" name="Google Shape;1017;p85"/>
              <p:cNvSpPr/>
              <p:nvPr/>
            </p:nvSpPr>
            <p:spPr>
              <a:xfrm>
                <a:off x="2428874" y="5067299"/>
                <a:ext cx="1314450" cy="257175"/>
              </a:xfrm>
              <a:custGeom>
                <a:rect b="b" l="l" r="r" t="t"/>
                <a:pathLst>
                  <a:path extrusionOk="0" h="257175" w="1314450">
                    <a:moveTo>
                      <a:pt x="1194305" y="257174"/>
                    </a:moveTo>
                    <a:lnTo>
                      <a:pt x="120144" y="257174"/>
                    </a:lnTo>
                    <a:lnTo>
                      <a:pt x="111782" y="256351"/>
                    </a:lnTo>
                    <a:lnTo>
                      <a:pt x="71578" y="244155"/>
                    </a:lnTo>
                    <a:lnTo>
                      <a:pt x="31692" y="213542"/>
                    </a:lnTo>
                    <a:lnTo>
                      <a:pt x="6556" y="169995"/>
                    </a:lnTo>
                    <a:lnTo>
                      <a:pt x="0" y="137030"/>
                    </a:lnTo>
                    <a:lnTo>
                      <a:pt x="0" y="128587"/>
                    </a:lnTo>
                    <a:lnTo>
                      <a:pt x="0" y="120144"/>
                    </a:lnTo>
                    <a:lnTo>
                      <a:pt x="13019" y="71578"/>
                    </a:lnTo>
                    <a:lnTo>
                      <a:pt x="43632" y="31692"/>
                    </a:lnTo>
                    <a:lnTo>
                      <a:pt x="87179" y="6557"/>
                    </a:lnTo>
                    <a:lnTo>
                      <a:pt x="120144" y="0"/>
                    </a:lnTo>
                    <a:lnTo>
                      <a:pt x="1194305" y="0"/>
                    </a:lnTo>
                    <a:lnTo>
                      <a:pt x="1242870" y="13018"/>
                    </a:lnTo>
                    <a:lnTo>
                      <a:pt x="1282757" y="43632"/>
                    </a:lnTo>
                    <a:lnTo>
                      <a:pt x="1307892" y="87178"/>
                    </a:lnTo>
                    <a:lnTo>
                      <a:pt x="1314450" y="120144"/>
                    </a:lnTo>
                    <a:lnTo>
                      <a:pt x="1314450" y="137030"/>
                    </a:lnTo>
                    <a:lnTo>
                      <a:pt x="1301430" y="185596"/>
                    </a:lnTo>
                    <a:lnTo>
                      <a:pt x="1270817" y="225482"/>
                    </a:lnTo>
                    <a:lnTo>
                      <a:pt x="1227269" y="250617"/>
                    </a:lnTo>
                    <a:lnTo>
                      <a:pt x="1202667" y="256351"/>
                    </a:lnTo>
                    <a:lnTo>
                      <a:pt x="1194305" y="257174"/>
                    </a:lnTo>
                    <a:close/>
                  </a:path>
                </a:pathLst>
              </a:custGeom>
              <a:solidFill>
                <a:srgbClr val="EF444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Bai Jamjuree"/>
                    <a:ea typeface="Bai Jamjuree"/>
                    <a:cs typeface="Bai Jamjuree"/>
                    <a:sym typeface="Bai Jamjuree"/>
                  </a:rPr>
                  <a:t>KÉM HIỆU QUẢ</a:t>
                </a:r>
                <a:endParaRPr b="0" i="0" sz="1200" u="none" cap="none" strike="noStrike">
                  <a:solidFill>
                    <a:srgbClr val="000000"/>
                  </a:solidFill>
                  <a:latin typeface="Bai Jamjuree"/>
                  <a:ea typeface="Bai Jamjuree"/>
                  <a:cs typeface="Bai Jamjuree"/>
                  <a:sym typeface="Bai Jamjuree"/>
                </a:endParaRPr>
              </a:p>
            </p:txBody>
          </p:sp>
        </p:grpSp>
        <p:sp>
          <p:nvSpPr>
            <p:cNvPr id="1018" name="Google Shape;1018;p85"/>
            <p:cNvSpPr txBox="1"/>
            <p:nvPr/>
          </p:nvSpPr>
          <p:spPr>
            <a:xfrm>
              <a:off x="4247148" y="5085777"/>
              <a:ext cx="4535906" cy="322523"/>
            </a:xfrm>
            <a:prstGeom prst="rect">
              <a:avLst/>
            </a:prstGeom>
            <a:noFill/>
            <a:ln>
              <a:noFill/>
            </a:ln>
          </p:spPr>
          <p:txBody>
            <a:bodyPr anchorCtr="0" anchor="t" bIns="0" lIns="0" spcFirstLastPara="1" rIns="0" wrap="square" tIns="14600">
              <a:spAutoFit/>
            </a:bodyPr>
            <a:lstStyle/>
            <a:p>
              <a:pPr indent="0" lvl="0" marL="0" marR="0" rtl="0" algn="ctr">
                <a:lnSpc>
                  <a:spcPct val="100000"/>
                </a:lnSpc>
                <a:spcBef>
                  <a:spcPts val="0"/>
                </a:spcBef>
                <a:spcAft>
                  <a:spcPts val="0"/>
                </a:spcAft>
                <a:buNone/>
              </a:pPr>
              <a:r>
                <a:rPr b="1" i="0" lang="en-US" sz="2000" u="none" cap="none" strike="noStrike">
                  <a:solidFill>
                    <a:srgbClr val="B91B1B"/>
                  </a:solidFill>
                  <a:latin typeface="Bai Jamjuree"/>
                  <a:ea typeface="Bai Jamjuree"/>
                  <a:cs typeface="Bai Jamjuree"/>
                  <a:sym typeface="Bai Jamjuree"/>
                </a:rPr>
                <a:t>Tổng cộng: ~2 Tuần</a:t>
              </a:r>
              <a:endParaRPr b="0" i="0" sz="2000" u="none" cap="none" strike="noStrike">
                <a:solidFill>
                  <a:srgbClr val="000000"/>
                </a:solidFill>
                <a:latin typeface="Bai Jamjuree"/>
                <a:ea typeface="Bai Jamjuree"/>
                <a:cs typeface="Bai Jamjuree"/>
                <a:sym typeface="Bai Jamjuree"/>
              </a:endParaRPr>
            </a:p>
          </p:txBody>
        </p:sp>
      </p:grpSp>
      <p:sp>
        <p:nvSpPr>
          <p:cNvPr id="1019" name="Google Shape;1019;p85"/>
          <p:cNvSpPr/>
          <p:nvPr/>
        </p:nvSpPr>
        <p:spPr>
          <a:xfrm>
            <a:off x="9752779" y="1735009"/>
            <a:ext cx="5539357" cy="4467225"/>
          </a:xfrm>
          <a:custGeom>
            <a:rect b="b" l="l" r="r" t="t"/>
            <a:pathLst>
              <a:path extrusionOk="0" h="4467225" w="4572000">
                <a:moveTo>
                  <a:pt x="4401311" y="4467224"/>
                </a:moveTo>
                <a:lnTo>
                  <a:pt x="170687" y="4467224"/>
                </a:lnTo>
                <a:lnTo>
                  <a:pt x="162302" y="4467019"/>
                </a:lnTo>
                <a:lnTo>
                  <a:pt x="121138" y="4459876"/>
                </a:lnTo>
                <a:lnTo>
                  <a:pt x="82944" y="4442945"/>
                </a:lnTo>
                <a:lnTo>
                  <a:pt x="49992" y="4417231"/>
                </a:lnTo>
                <a:lnTo>
                  <a:pt x="24277" y="4384279"/>
                </a:lnTo>
                <a:lnTo>
                  <a:pt x="7347" y="4346084"/>
                </a:lnTo>
                <a:lnTo>
                  <a:pt x="204" y="4304921"/>
                </a:lnTo>
                <a:lnTo>
                  <a:pt x="0" y="4296536"/>
                </a:lnTo>
                <a:lnTo>
                  <a:pt x="0" y="132587"/>
                </a:lnTo>
                <a:lnTo>
                  <a:pt x="7347" y="94099"/>
                </a:lnTo>
                <a:lnTo>
                  <a:pt x="28765" y="58925"/>
                </a:lnTo>
                <a:lnTo>
                  <a:pt x="62402" y="30094"/>
                </a:lnTo>
                <a:lnTo>
                  <a:pt x="97699" y="12732"/>
                </a:lnTo>
                <a:lnTo>
                  <a:pt x="137388" y="2547"/>
                </a:lnTo>
                <a:lnTo>
                  <a:pt x="170687" y="0"/>
                </a:lnTo>
                <a:lnTo>
                  <a:pt x="4401311" y="0"/>
                </a:lnTo>
                <a:lnTo>
                  <a:pt x="4442793" y="3974"/>
                </a:lnTo>
                <a:lnTo>
                  <a:pt x="4481772" y="15654"/>
                </a:lnTo>
                <a:lnTo>
                  <a:pt x="4515931" y="34340"/>
                </a:lnTo>
                <a:lnTo>
                  <a:pt x="4547719" y="64430"/>
                </a:lnTo>
                <a:lnTo>
                  <a:pt x="4566881" y="100363"/>
                </a:lnTo>
                <a:lnTo>
                  <a:pt x="4571999" y="132587"/>
                </a:lnTo>
                <a:lnTo>
                  <a:pt x="4571999" y="4296536"/>
                </a:lnTo>
                <a:lnTo>
                  <a:pt x="4566881" y="4338020"/>
                </a:lnTo>
                <a:lnTo>
                  <a:pt x="4551844" y="4376999"/>
                </a:lnTo>
                <a:lnTo>
                  <a:pt x="4527789" y="4411156"/>
                </a:lnTo>
                <a:lnTo>
                  <a:pt x="4496139" y="4438457"/>
                </a:lnTo>
                <a:lnTo>
                  <a:pt x="4458803" y="4457250"/>
                </a:lnTo>
                <a:lnTo>
                  <a:pt x="4418041" y="4466404"/>
                </a:lnTo>
                <a:lnTo>
                  <a:pt x="4401311" y="4467224"/>
                </a:lnTo>
                <a:close/>
              </a:path>
            </a:pathLst>
          </a:custGeom>
          <a:solidFill>
            <a:srgbClr val="FFFFFF"/>
          </a:solidFill>
          <a:ln>
            <a:noFill/>
          </a:ln>
          <a:effectLst>
            <a:outerShdw blurRad="50800" rotWithShape="0" algn="t" dir="5400000" dist="381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20" name="Google Shape;1020;p85"/>
          <p:cNvSpPr/>
          <p:nvPr/>
        </p:nvSpPr>
        <p:spPr>
          <a:xfrm>
            <a:off x="9752780" y="1696909"/>
            <a:ext cx="5539355" cy="170815"/>
          </a:xfrm>
          <a:custGeom>
            <a:rect b="b" l="l" r="r" t="t"/>
            <a:pathLst>
              <a:path extrusionOk="0" h="170815" w="4572000">
                <a:moveTo>
                  <a:pt x="0" y="170687"/>
                </a:moveTo>
                <a:lnTo>
                  <a:pt x="7308" y="121213"/>
                </a:lnTo>
                <a:lnTo>
                  <a:pt x="28738" y="75840"/>
                </a:lnTo>
                <a:lnTo>
                  <a:pt x="62457" y="38677"/>
                </a:lnTo>
                <a:lnTo>
                  <a:pt x="105368" y="12992"/>
                </a:lnTo>
                <a:lnTo>
                  <a:pt x="153873" y="812"/>
                </a:lnTo>
                <a:lnTo>
                  <a:pt x="170687" y="0"/>
                </a:lnTo>
                <a:lnTo>
                  <a:pt x="4401311" y="0"/>
                </a:lnTo>
                <a:lnTo>
                  <a:pt x="4450784" y="7308"/>
                </a:lnTo>
                <a:lnTo>
                  <a:pt x="4496157" y="28739"/>
                </a:lnTo>
                <a:lnTo>
                  <a:pt x="4533320" y="62457"/>
                </a:lnTo>
                <a:lnTo>
                  <a:pt x="4543474" y="76199"/>
                </a:lnTo>
                <a:lnTo>
                  <a:pt x="170687" y="76199"/>
                </a:lnTo>
                <a:lnTo>
                  <a:pt x="153872" y="76649"/>
                </a:lnTo>
                <a:lnTo>
                  <a:pt x="105367" y="83392"/>
                </a:lnTo>
                <a:lnTo>
                  <a:pt x="62457" y="97610"/>
                </a:lnTo>
                <a:lnTo>
                  <a:pt x="28738" y="118183"/>
                </a:lnTo>
                <a:lnTo>
                  <a:pt x="3248" y="152250"/>
                </a:lnTo>
                <a:lnTo>
                  <a:pt x="812" y="161379"/>
                </a:lnTo>
                <a:lnTo>
                  <a:pt x="0" y="170687"/>
                </a:lnTo>
                <a:close/>
              </a:path>
              <a:path extrusionOk="0" h="170815" w="4572000">
                <a:moveTo>
                  <a:pt x="4571999" y="170687"/>
                </a:moveTo>
                <a:lnTo>
                  <a:pt x="4559006" y="134528"/>
                </a:lnTo>
                <a:lnTo>
                  <a:pt x="4522005" y="103874"/>
                </a:lnTo>
                <a:lnTo>
                  <a:pt x="4481853" y="87369"/>
                </a:lnTo>
                <a:lnTo>
                  <a:pt x="4434616" y="77998"/>
                </a:lnTo>
                <a:lnTo>
                  <a:pt x="4401311" y="76199"/>
                </a:lnTo>
                <a:lnTo>
                  <a:pt x="4543474" y="76199"/>
                </a:lnTo>
                <a:lnTo>
                  <a:pt x="4564690" y="121213"/>
                </a:lnTo>
                <a:lnTo>
                  <a:pt x="4571187" y="153873"/>
                </a:lnTo>
                <a:lnTo>
                  <a:pt x="4571999" y="170687"/>
                </a:lnTo>
                <a:close/>
              </a:path>
            </a:pathLst>
          </a:custGeom>
          <a:solidFill>
            <a:srgbClr val="4BAF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21" name="Google Shape;1021;p85"/>
          <p:cNvSpPr txBox="1"/>
          <p:nvPr/>
        </p:nvSpPr>
        <p:spPr>
          <a:xfrm>
            <a:off x="10009954" y="1992915"/>
            <a:ext cx="5089678" cy="400110"/>
          </a:xfrm>
          <a:prstGeom prst="rect">
            <a:avLst/>
          </a:prstGeom>
          <a:noFill/>
          <a:ln>
            <a:noFill/>
          </a:ln>
        </p:spPr>
        <p:txBody>
          <a:bodyPr anchorCtr="0" anchor="t" bIns="0" lIns="0" spcFirstLastPara="1" rIns="0" wrap="square" tIns="15225">
            <a:spAutoFit/>
          </a:bodyPr>
          <a:lstStyle/>
          <a:p>
            <a:pPr indent="0" lvl="0" marL="12700" marR="0" rtl="0" algn="ctr">
              <a:lnSpc>
                <a:spcPct val="100000"/>
              </a:lnSpc>
              <a:spcBef>
                <a:spcPts val="0"/>
              </a:spcBef>
              <a:spcAft>
                <a:spcPts val="0"/>
              </a:spcAft>
              <a:buNone/>
            </a:pPr>
            <a:r>
              <a:rPr b="1" i="0" lang="en-US" sz="2500" u="none" cap="none" strike="noStrike">
                <a:solidFill>
                  <a:srgbClr val="0050AB"/>
                </a:solidFill>
                <a:latin typeface="Bai Jamjuree"/>
                <a:ea typeface="Bai Jamjuree"/>
                <a:cs typeface="Bai Jamjuree"/>
                <a:sym typeface="Bai Jamjuree"/>
              </a:rPr>
              <a:t>Quy trình mới</a:t>
            </a:r>
            <a:endParaRPr b="0" i="0" sz="2500" u="none" cap="none" strike="noStrike">
              <a:solidFill>
                <a:srgbClr val="0050AB"/>
              </a:solidFill>
              <a:latin typeface="Bai Jamjuree"/>
              <a:ea typeface="Bai Jamjuree"/>
              <a:cs typeface="Bai Jamjuree"/>
              <a:sym typeface="Bai Jamjuree"/>
            </a:endParaRPr>
          </a:p>
        </p:txBody>
      </p:sp>
      <p:sp>
        <p:nvSpPr>
          <p:cNvPr id="1022" name="Google Shape;1022;p85"/>
          <p:cNvSpPr txBox="1"/>
          <p:nvPr/>
        </p:nvSpPr>
        <p:spPr>
          <a:xfrm>
            <a:off x="10550746" y="2606706"/>
            <a:ext cx="4224033" cy="571951"/>
          </a:xfrm>
          <a:prstGeom prst="rect">
            <a:avLst/>
          </a:prstGeom>
          <a:noFill/>
          <a:ln>
            <a:noFill/>
          </a:ln>
        </p:spPr>
        <p:txBody>
          <a:bodyPr anchorCtr="0" anchor="t" bIns="0" lIns="0" spcFirstLastPara="1" rIns="0" wrap="square" tIns="71100">
            <a:spAutoFit/>
          </a:bodyPr>
          <a:lstStyle/>
          <a:p>
            <a:pPr indent="0" lvl="0" marL="12700" marR="0" rtl="0" algn="l">
              <a:lnSpc>
                <a:spcPct val="100000"/>
              </a:lnSpc>
              <a:spcBef>
                <a:spcPts val="0"/>
              </a:spcBef>
              <a:spcAft>
                <a:spcPts val="0"/>
              </a:spcAft>
              <a:buNone/>
            </a:pPr>
            <a:r>
              <a:rPr b="1" i="0" lang="en-US" sz="1650" u="none" cap="none" strike="noStrike">
                <a:solidFill>
                  <a:srgbClr val="0050AB"/>
                </a:solidFill>
                <a:latin typeface="Bai Jamjuree"/>
                <a:ea typeface="Bai Jamjuree"/>
                <a:cs typeface="Bai Jamjuree"/>
                <a:sym typeface="Bai Jamjuree"/>
              </a:rPr>
              <a:t>Kéo thả 3D trực quan kết hợp 2D</a:t>
            </a:r>
            <a:endParaRPr b="0" i="0" sz="1650" u="none" cap="none" strike="noStrike">
              <a:solidFill>
                <a:srgbClr val="0050AB"/>
              </a:solidFill>
              <a:latin typeface="Bai Jamjuree"/>
              <a:ea typeface="Bai Jamjuree"/>
              <a:cs typeface="Bai Jamjuree"/>
              <a:sym typeface="Bai Jamjuree"/>
            </a:endParaRPr>
          </a:p>
          <a:p>
            <a:pPr indent="0" lvl="0" marL="12700" marR="0" rtl="0" algn="l">
              <a:lnSpc>
                <a:spcPct val="100000"/>
              </a:lnSpc>
              <a:spcBef>
                <a:spcPts val="345"/>
              </a:spcBef>
              <a:spcAft>
                <a:spcPts val="0"/>
              </a:spcAft>
              <a:buNone/>
            </a:pPr>
            <a:r>
              <a:rPr b="0" i="0" lang="en-US" sz="1350" u="none" cap="none" strike="noStrike">
                <a:solidFill>
                  <a:srgbClr val="0050AB"/>
                </a:solidFill>
                <a:latin typeface="Bai Jamjuree"/>
                <a:ea typeface="Bai Jamjuree"/>
                <a:cs typeface="Bai Jamjuree"/>
                <a:sym typeface="Bai Jamjuree"/>
              </a:rPr>
              <a:t>Chỉ mất 30 phút</a:t>
            </a:r>
            <a:endParaRPr b="0" i="0" sz="1350" u="none" cap="none" strike="noStrike">
              <a:solidFill>
                <a:srgbClr val="0050AB"/>
              </a:solidFill>
              <a:latin typeface="Bai Jamjuree"/>
              <a:ea typeface="Bai Jamjuree"/>
              <a:cs typeface="Bai Jamjuree"/>
              <a:sym typeface="Bai Jamjuree"/>
            </a:endParaRPr>
          </a:p>
        </p:txBody>
      </p:sp>
      <p:sp>
        <p:nvSpPr>
          <p:cNvPr id="1023" name="Google Shape;1023;p85"/>
          <p:cNvSpPr txBox="1"/>
          <p:nvPr/>
        </p:nvSpPr>
        <p:spPr>
          <a:xfrm>
            <a:off x="10550747" y="3356799"/>
            <a:ext cx="3212556" cy="596958"/>
          </a:xfrm>
          <a:prstGeom prst="rect">
            <a:avLst/>
          </a:prstGeom>
          <a:noFill/>
          <a:ln>
            <a:noFill/>
          </a:ln>
        </p:spPr>
        <p:txBody>
          <a:bodyPr anchorCtr="0" anchor="t" bIns="0" lIns="0" spcFirstLastPara="1" rIns="0" wrap="square" tIns="83175">
            <a:spAutoFit/>
          </a:bodyPr>
          <a:lstStyle/>
          <a:p>
            <a:pPr indent="0" lvl="0" marL="12700" marR="0" rtl="0" algn="l">
              <a:lnSpc>
                <a:spcPct val="100000"/>
              </a:lnSpc>
              <a:spcBef>
                <a:spcPts val="0"/>
              </a:spcBef>
              <a:spcAft>
                <a:spcPts val="0"/>
              </a:spcAft>
              <a:buNone/>
            </a:pPr>
            <a:r>
              <a:rPr b="1" i="0" lang="en-US" sz="1650" u="none" cap="none" strike="noStrike">
                <a:solidFill>
                  <a:srgbClr val="0050AB"/>
                </a:solidFill>
                <a:latin typeface="Bai Jamjuree"/>
                <a:ea typeface="Bai Jamjuree"/>
                <a:cs typeface="Bai Jamjuree"/>
                <a:sym typeface="Bai Jamjuree"/>
              </a:rPr>
              <a:t>AI gợi ý vị trí tối ưu</a:t>
            </a:r>
            <a:endParaRPr b="0" i="0" sz="1650" u="none" cap="none" strike="noStrike">
              <a:solidFill>
                <a:srgbClr val="0050AB"/>
              </a:solidFill>
              <a:latin typeface="Bai Jamjuree"/>
              <a:ea typeface="Bai Jamjuree"/>
              <a:cs typeface="Bai Jamjuree"/>
              <a:sym typeface="Bai Jamjuree"/>
            </a:endParaRPr>
          </a:p>
          <a:p>
            <a:pPr indent="0" lvl="0" marL="12700" marR="0" rtl="0" algn="l">
              <a:lnSpc>
                <a:spcPct val="100000"/>
              </a:lnSpc>
              <a:spcBef>
                <a:spcPts val="420"/>
              </a:spcBef>
              <a:spcAft>
                <a:spcPts val="0"/>
              </a:spcAft>
              <a:buNone/>
            </a:pPr>
            <a:r>
              <a:rPr b="0" i="0" lang="en-US" sz="1350" u="none" cap="none" strike="noStrike">
                <a:solidFill>
                  <a:srgbClr val="0050AB"/>
                </a:solidFill>
                <a:latin typeface="Bai Jamjuree"/>
                <a:ea typeface="Bai Jamjuree"/>
                <a:cs typeface="Bai Jamjuree"/>
                <a:sym typeface="Bai Jamjuree"/>
              </a:rPr>
              <a:t>Dựa trên dữ liệu, tăng doanh thu</a:t>
            </a:r>
            <a:endParaRPr b="0" i="0" sz="1350" u="none" cap="none" strike="noStrike">
              <a:solidFill>
                <a:srgbClr val="0050AB"/>
              </a:solidFill>
              <a:latin typeface="Bai Jamjuree"/>
              <a:ea typeface="Bai Jamjuree"/>
              <a:cs typeface="Bai Jamjuree"/>
              <a:sym typeface="Bai Jamjuree"/>
            </a:endParaRPr>
          </a:p>
        </p:txBody>
      </p:sp>
      <p:sp>
        <p:nvSpPr>
          <p:cNvPr id="1024" name="Google Shape;1024;p85"/>
          <p:cNvSpPr txBox="1"/>
          <p:nvPr/>
        </p:nvSpPr>
        <p:spPr>
          <a:xfrm>
            <a:off x="10550747" y="4140231"/>
            <a:ext cx="3074194" cy="585470"/>
          </a:xfrm>
          <a:prstGeom prst="rect">
            <a:avLst/>
          </a:prstGeom>
          <a:noFill/>
          <a:ln>
            <a:noFill/>
          </a:ln>
        </p:spPr>
        <p:txBody>
          <a:bodyPr anchorCtr="0" anchor="t" bIns="0" lIns="0" spcFirstLastPara="1" rIns="0" wrap="square" tIns="71100">
            <a:spAutoFit/>
          </a:bodyPr>
          <a:lstStyle/>
          <a:p>
            <a:pPr indent="0" lvl="0" marL="12700" marR="0" rtl="0" algn="l">
              <a:lnSpc>
                <a:spcPct val="100000"/>
              </a:lnSpc>
              <a:spcBef>
                <a:spcPts val="0"/>
              </a:spcBef>
              <a:spcAft>
                <a:spcPts val="0"/>
              </a:spcAft>
              <a:buNone/>
            </a:pPr>
            <a:r>
              <a:rPr b="1" i="0" lang="en-US" sz="1650" u="none" cap="none" strike="noStrike">
                <a:solidFill>
                  <a:srgbClr val="0050AB"/>
                </a:solidFill>
                <a:latin typeface="Bai Jamjuree"/>
                <a:ea typeface="Bai Jamjuree"/>
                <a:cs typeface="Bai Jamjuree"/>
                <a:sym typeface="Bai Jamjuree"/>
              </a:rPr>
              <a:t>Mô phỏng luồng khách</a:t>
            </a:r>
            <a:endParaRPr b="0" i="0" sz="1650" u="none" cap="none" strike="noStrike">
              <a:solidFill>
                <a:srgbClr val="0050AB"/>
              </a:solidFill>
              <a:latin typeface="Bai Jamjuree"/>
              <a:ea typeface="Bai Jamjuree"/>
              <a:cs typeface="Bai Jamjuree"/>
              <a:sym typeface="Bai Jamjuree"/>
            </a:endParaRPr>
          </a:p>
          <a:p>
            <a:pPr indent="0" lvl="0" marL="12700" marR="0" rtl="0" algn="l">
              <a:lnSpc>
                <a:spcPct val="100000"/>
              </a:lnSpc>
              <a:spcBef>
                <a:spcPts val="345"/>
              </a:spcBef>
              <a:spcAft>
                <a:spcPts val="0"/>
              </a:spcAft>
              <a:buNone/>
            </a:pPr>
            <a:r>
              <a:rPr b="0" i="0" lang="en-US" sz="1350" u="none" cap="none" strike="noStrike">
                <a:solidFill>
                  <a:srgbClr val="0050AB"/>
                </a:solidFill>
                <a:latin typeface="Bai Jamjuree"/>
                <a:ea typeface="Bai Jamjuree"/>
                <a:cs typeface="Bai Jamjuree"/>
                <a:sym typeface="Bai Jamjuree"/>
              </a:rPr>
              <a:t>Độ chính xác đến 95%</a:t>
            </a:r>
            <a:endParaRPr b="0" i="0" sz="1350" u="none" cap="none" strike="noStrike">
              <a:solidFill>
                <a:srgbClr val="0050AB"/>
              </a:solidFill>
              <a:latin typeface="Bai Jamjuree"/>
              <a:ea typeface="Bai Jamjuree"/>
              <a:cs typeface="Bai Jamjuree"/>
              <a:sym typeface="Bai Jamjuree"/>
            </a:endParaRPr>
          </a:p>
        </p:txBody>
      </p:sp>
      <p:grpSp>
        <p:nvGrpSpPr>
          <p:cNvPr id="1025" name="Google Shape;1025;p85"/>
          <p:cNvGrpSpPr/>
          <p:nvPr/>
        </p:nvGrpSpPr>
        <p:grpSpPr>
          <a:xfrm>
            <a:off x="10009954" y="4925884"/>
            <a:ext cx="5089678" cy="1028700"/>
            <a:chOff x="7077074" y="4467224"/>
            <a:chExt cx="4057650" cy="1028700"/>
          </a:xfrm>
        </p:grpSpPr>
        <p:sp>
          <p:nvSpPr>
            <p:cNvPr id="1026" name="Google Shape;1026;p85"/>
            <p:cNvSpPr/>
            <p:nvPr/>
          </p:nvSpPr>
          <p:spPr>
            <a:xfrm>
              <a:off x="7077074" y="4467224"/>
              <a:ext cx="4057650" cy="1028700"/>
            </a:xfrm>
            <a:custGeom>
              <a:rect b="b" l="l" r="r" t="t"/>
              <a:pathLst>
                <a:path extrusionOk="0" h="1028700" w="4057650">
                  <a:moveTo>
                    <a:pt x="3977909" y="1028699"/>
                  </a:moveTo>
                  <a:lnTo>
                    <a:pt x="79741" y="1028699"/>
                  </a:lnTo>
                  <a:lnTo>
                    <a:pt x="74190" y="1028153"/>
                  </a:lnTo>
                  <a:lnTo>
                    <a:pt x="33269" y="1011203"/>
                  </a:lnTo>
                  <a:lnTo>
                    <a:pt x="8640" y="981191"/>
                  </a:lnTo>
                  <a:lnTo>
                    <a:pt x="0" y="948958"/>
                  </a:lnTo>
                  <a:lnTo>
                    <a:pt x="0" y="943355"/>
                  </a:lnTo>
                  <a:lnTo>
                    <a:pt x="0" y="79739"/>
                  </a:lnTo>
                  <a:lnTo>
                    <a:pt x="11269" y="42588"/>
                  </a:lnTo>
                  <a:lnTo>
                    <a:pt x="42588" y="11269"/>
                  </a:lnTo>
                  <a:lnTo>
                    <a:pt x="79741" y="0"/>
                  </a:lnTo>
                  <a:lnTo>
                    <a:pt x="3977909" y="0"/>
                  </a:lnTo>
                  <a:lnTo>
                    <a:pt x="4015061" y="11269"/>
                  </a:lnTo>
                  <a:lnTo>
                    <a:pt x="4046377" y="42588"/>
                  </a:lnTo>
                  <a:lnTo>
                    <a:pt x="4057650" y="79739"/>
                  </a:lnTo>
                  <a:lnTo>
                    <a:pt x="4057650" y="948958"/>
                  </a:lnTo>
                  <a:lnTo>
                    <a:pt x="4046377" y="986110"/>
                  </a:lnTo>
                  <a:lnTo>
                    <a:pt x="4015061" y="1017429"/>
                  </a:lnTo>
                  <a:lnTo>
                    <a:pt x="3983459" y="1028153"/>
                  </a:lnTo>
                  <a:lnTo>
                    <a:pt x="3977909" y="1028699"/>
                  </a:lnTo>
                  <a:close/>
                </a:path>
              </a:pathLst>
            </a:custGeom>
            <a:solidFill>
              <a:srgbClr val="F0FD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27" name="Google Shape;1027;p85"/>
            <p:cNvSpPr/>
            <p:nvPr/>
          </p:nvSpPr>
          <p:spPr>
            <a:xfrm>
              <a:off x="8210549" y="5067299"/>
              <a:ext cx="1800225" cy="257175"/>
            </a:xfrm>
            <a:custGeom>
              <a:rect b="b" l="l" r="r" t="t"/>
              <a:pathLst>
                <a:path extrusionOk="0" h="257175" w="1800225">
                  <a:moveTo>
                    <a:pt x="1680079" y="257174"/>
                  </a:moveTo>
                  <a:lnTo>
                    <a:pt x="120143" y="257174"/>
                  </a:lnTo>
                  <a:lnTo>
                    <a:pt x="111781" y="256351"/>
                  </a:lnTo>
                  <a:lnTo>
                    <a:pt x="71578" y="244155"/>
                  </a:lnTo>
                  <a:lnTo>
                    <a:pt x="31691" y="213542"/>
                  </a:lnTo>
                  <a:lnTo>
                    <a:pt x="6556" y="169995"/>
                  </a:lnTo>
                  <a:lnTo>
                    <a:pt x="0" y="137030"/>
                  </a:lnTo>
                  <a:lnTo>
                    <a:pt x="0" y="128587"/>
                  </a:lnTo>
                  <a:lnTo>
                    <a:pt x="0" y="120144"/>
                  </a:lnTo>
                  <a:lnTo>
                    <a:pt x="13018" y="71578"/>
                  </a:lnTo>
                  <a:lnTo>
                    <a:pt x="43632" y="31692"/>
                  </a:lnTo>
                  <a:lnTo>
                    <a:pt x="87178" y="6557"/>
                  </a:lnTo>
                  <a:lnTo>
                    <a:pt x="120143" y="0"/>
                  </a:lnTo>
                  <a:lnTo>
                    <a:pt x="1680079" y="0"/>
                  </a:lnTo>
                  <a:lnTo>
                    <a:pt x="1728645" y="13018"/>
                  </a:lnTo>
                  <a:lnTo>
                    <a:pt x="1768532" y="43632"/>
                  </a:lnTo>
                  <a:lnTo>
                    <a:pt x="1793667" y="87178"/>
                  </a:lnTo>
                  <a:lnTo>
                    <a:pt x="1800223" y="120144"/>
                  </a:lnTo>
                  <a:lnTo>
                    <a:pt x="1800223" y="137030"/>
                  </a:lnTo>
                  <a:lnTo>
                    <a:pt x="1787204" y="185596"/>
                  </a:lnTo>
                  <a:lnTo>
                    <a:pt x="1756591" y="225482"/>
                  </a:lnTo>
                  <a:lnTo>
                    <a:pt x="1713044" y="250617"/>
                  </a:lnTo>
                  <a:lnTo>
                    <a:pt x="1688440" y="256351"/>
                  </a:lnTo>
                  <a:lnTo>
                    <a:pt x="1680079" y="257174"/>
                  </a:lnTo>
                  <a:close/>
                </a:path>
              </a:pathLst>
            </a:custGeom>
            <a:solidFill>
              <a:srgbClr val="21C45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Bai Jamjuree"/>
                  <a:ea typeface="Bai Jamjuree"/>
                  <a:cs typeface="Bai Jamjuree"/>
                  <a:sym typeface="Bai Jamjuree"/>
                </a:rPr>
                <a:t>HIỆU QUẢ VƯỢT TRỘI</a:t>
              </a:r>
              <a:endParaRPr b="0" i="0" sz="1200" u="none" cap="none" strike="noStrike">
                <a:solidFill>
                  <a:srgbClr val="000000"/>
                </a:solidFill>
                <a:latin typeface="Bai Jamjuree"/>
                <a:ea typeface="Bai Jamjuree"/>
                <a:cs typeface="Bai Jamjuree"/>
                <a:sym typeface="Bai Jamjuree"/>
              </a:endParaRPr>
            </a:p>
          </p:txBody>
        </p:sp>
      </p:grpSp>
      <p:sp>
        <p:nvSpPr>
          <p:cNvPr id="1028" name="Google Shape;1028;p85"/>
          <p:cNvSpPr txBox="1"/>
          <p:nvPr/>
        </p:nvSpPr>
        <p:spPr>
          <a:xfrm>
            <a:off x="10207996" y="5085777"/>
            <a:ext cx="4566783" cy="322523"/>
          </a:xfrm>
          <a:prstGeom prst="rect">
            <a:avLst/>
          </a:prstGeom>
          <a:noFill/>
          <a:ln>
            <a:noFill/>
          </a:ln>
        </p:spPr>
        <p:txBody>
          <a:bodyPr anchorCtr="0" anchor="t" bIns="0" lIns="0" spcFirstLastPara="1" rIns="0" wrap="square" tIns="14600">
            <a:spAutoFit/>
          </a:bodyPr>
          <a:lstStyle/>
          <a:p>
            <a:pPr indent="0" lvl="0" marL="0" marR="0" rtl="0" algn="ctr">
              <a:lnSpc>
                <a:spcPct val="100000"/>
              </a:lnSpc>
              <a:spcBef>
                <a:spcPts val="0"/>
              </a:spcBef>
              <a:spcAft>
                <a:spcPts val="0"/>
              </a:spcAft>
              <a:buNone/>
            </a:pPr>
            <a:r>
              <a:rPr b="1" i="0" lang="en-US" sz="2000" u="none" cap="none" strike="noStrike">
                <a:solidFill>
                  <a:srgbClr val="15803C"/>
                </a:solidFill>
                <a:latin typeface="Bai Jamjuree"/>
                <a:ea typeface="Bai Jamjuree"/>
                <a:cs typeface="Bai Jamjuree"/>
                <a:sym typeface="Bai Jamjuree"/>
              </a:rPr>
              <a:t>Hoàn thành: 1 Buổi</a:t>
            </a:r>
            <a:endParaRPr b="0" i="0" sz="2000" u="none" cap="none" strike="noStrike">
              <a:solidFill>
                <a:srgbClr val="000000"/>
              </a:solidFill>
              <a:latin typeface="Bai Jamjuree"/>
              <a:ea typeface="Bai Jamjuree"/>
              <a:cs typeface="Bai Jamjuree"/>
              <a:sym typeface="Bai Jamjuree"/>
            </a:endParaRPr>
          </a:p>
        </p:txBody>
      </p:sp>
      <p:sp>
        <p:nvSpPr>
          <p:cNvPr id="1029" name="Google Shape;1029;p85"/>
          <p:cNvSpPr txBox="1"/>
          <p:nvPr/>
        </p:nvSpPr>
        <p:spPr>
          <a:xfrm>
            <a:off x="4090168" y="6967409"/>
            <a:ext cx="9191625" cy="501015"/>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None/>
            </a:pPr>
            <a:r>
              <a:rPr b="1" i="1" lang="en-US" sz="3100" u="none" cap="none" strike="noStrike">
                <a:solidFill>
                  <a:srgbClr val="1A237D"/>
                </a:solidFill>
                <a:latin typeface="Bai Jamjuree"/>
                <a:ea typeface="Bai Jamjuree"/>
                <a:cs typeface="Bai Jamjuree"/>
                <a:sym typeface="Bai Jamjuree"/>
              </a:rPr>
              <a:t>“Không còn </a:t>
            </a:r>
            <a:r>
              <a:rPr b="1" i="0" lang="en-US" sz="3000" u="none" cap="none" strike="noStrike">
                <a:solidFill>
                  <a:srgbClr val="EF4444"/>
                </a:solidFill>
                <a:latin typeface="Bai Jamjuree"/>
                <a:ea typeface="Bai Jamjuree"/>
                <a:cs typeface="Bai Jamjuree"/>
                <a:sym typeface="Bai Jamjuree"/>
              </a:rPr>
              <a:t>thử – sai</a:t>
            </a:r>
            <a:r>
              <a:rPr b="1" i="1" lang="en-US" sz="3100" u="none" cap="none" strike="noStrike">
                <a:solidFill>
                  <a:srgbClr val="1A237D"/>
                </a:solidFill>
                <a:latin typeface="Bai Jamjuree"/>
                <a:ea typeface="Bai Jamjuree"/>
                <a:cs typeface="Bai Jamjuree"/>
                <a:sym typeface="Bai Jamjuree"/>
              </a:rPr>
              <a:t>, chỉ còn </a:t>
            </a:r>
            <a:r>
              <a:rPr b="1" i="0" lang="en-US" sz="3000" u="none" cap="none" strike="noStrike">
                <a:solidFill>
                  <a:srgbClr val="16A24A"/>
                </a:solidFill>
                <a:latin typeface="Bai Jamjuree"/>
                <a:ea typeface="Bai Jamjuree"/>
                <a:cs typeface="Bai Jamjuree"/>
                <a:sym typeface="Bai Jamjuree"/>
              </a:rPr>
              <a:t>làm – đúng</a:t>
            </a:r>
            <a:r>
              <a:rPr b="1" i="1" lang="en-US" sz="3100" u="none" cap="none" strike="noStrike">
                <a:solidFill>
                  <a:srgbClr val="1A237D"/>
                </a:solidFill>
                <a:latin typeface="Bai Jamjuree"/>
                <a:ea typeface="Bai Jamjuree"/>
                <a:cs typeface="Bai Jamjuree"/>
                <a:sym typeface="Bai Jamjuree"/>
              </a:rPr>
              <a:t>.”</a:t>
            </a:r>
            <a:endParaRPr b="0" i="0" sz="3100" u="none" cap="none" strike="noStrike">
              <a:solidFill>
                <a:srgbClr val="000000"/>
              </a:solidFill>
              <a:latin typeface="Bai Jamjuree"/>
              <a:ea typeface="Bai Jamjuree"/>
              <a:cs typeface="Bai Jamjuree"/>
              <a:sym typeface="Bai Jamjuree"/>
            </a:endParaRPr>
          </a:p>
        </p:txBody>
      </p:sp>
      <p:pic>
        <p:nvPicPr>
          <p:cNvPr descr="Scribble outline" id="1030" name="Google Shape;1030;p85"/>
          <p:cNvPicPr preferRelativeResize="0"/>
          <p:nvPr/>
        </p:nvPicPr>
        <p:blipFill rotWithShape="1">
          <a:blip r:embed="rId4">
            <a:alphaModFix/>
          </a:blip>
          <a:srcRect b="0" l="0" r="0" t="0"/>
          <a:stretch/>
        </p:blipFill>
        <p:spPr>
          <a:xfrm>
            <a:off x="3013807" y="2747537"/>
            <a:ext cx="346238" cy="346238"/>
          </a:xfrm>
          <a:prstGeom prst="rect">
            <a:avLst/>
          </a:prstGeom>
          <a:noFill/>
          <a:ln>
            <a:noFill/>
          </a:ln>
        </p:spPr>
      </p:pic>
      <p:pic>
        <p:nvPicPr>
          <p:cNvPr descr="Questions outline" id="1031" name="Google Shape;1031;p85"/>
          <p:cNvPicPr preferRelativeResize="0"/>
          <p:nvPr/>
        </p:nvPicPr>
        <p:blipFill rotWithShape="1">
          <a:blip r:embed="rId5">
            <a:alphaModFix/>
          </a:blip>
          <a:srcRect b="0" l="0" r="0" t="0"/>
          <a:stretch/>
        </p:blipFill>
        <p:spPr>
          <a:xfrm>
            <a:off x="2993147" y="3453055"/>
            <a:ext cx="399477" cy="399477"/>
          </a:xfrm>
          <a:prstGeom prst="rect">
            <a:avLst/>
          </a:prstGeom>
          <a:noFill/>
          <a:ln>
            <a:noFill/>
          </a:ln>
        </p:spPr>
      </p:pic>
      <p:pic>
        <p:nvPicPr>
          <p:cNvPr descr="Eraser outline" id="1032" name="Google Shape;1032;p85"/>
          <p:cNvPicPr preferRelativeResize="0"/>
          <p:nvPr/>
        </p:nvPicPr>
        <p:blipFill rotWithShape="1">
          <a:blip r:embed="rId6">
            <a:alphaModFix/>
          </a:blip>
          <a:srcRect b="0" l="0" r="0" t="0"/>
          <a:stretch/>
        </p:blipFill>
        <p:spPr>
          <a:xfrm>
            <a:off x="2984585" y="4193326"/>
            <a:ext cx="435620" cy="435620"/>
          </a:xfrm>
          <a:prstGeom prst="rect">
            <a:avLst/>
          </a:prstGeom>
          <a:noFill/>
          <a:ln>
            <a:noFill/>
          </a:ln>
        </p:spPr>
      </p:pic>
      <p:pic>
        <p:nvPicPr>
          <p:cNvPr descr="Pyramid Shape outline" id="1033" name="Google Shape;1033;p85"/>
          <p:cNvPicPr preferRelativeResize="0"/>
          <p:nvPr/>
        </p:nvPicPr>
        <p:blipFill rotWithShape="1">
          <a:blip r:embed="rId7">
            <a:alphaModFix/>
          </a:blip>
          <a:srcRect b="0" l="0" r="0" t="0"/>
          <a:stretch/>
        </p:blipFill>
        <p:spPr>
          <a:xfrm>
            <a:off x="9975377" y="2713356"/>
            <a:ext cx="457200" cy="457200"/>
          </a:xfrm>
          <a:prstGeom prst="rect">
            <a:avLst/>
          </a:prstGeom>
          <a:noFill/>
          <a:ln>
            <a:noFill/>
          </a:ln>
        </p:spPr>
      </p:pic>
      <p:pic>
        <p:nvPicPr>
          <p:cNvPr descr="Artificial Intelligence outline" id="1034" name="Google Shape;1034;p85"/>
          <p:cNvPicPr preferRelativeResize="0"/>
          <p:nvPr/>
        </p:nvPicPr>
        <p:blipFill rotWithShape="1">
          <a:blip r:embed="rId8">
            <a:alphaModFix/>
          </a:blip>
          <a:srcRect b="0" l="0" r="0" t="0"/>
          <a:stretch/>
        </p:blipFill>
        <p:spPr>
          <a:xfrm>
            <a:off x="10009954" y="3457547"/>
            <a:ext cx="399477" cy="399477"/>
          </a:xfrm>
          <a:prstGeom prst="rect">
            <a:avLst/>
          </a:prstGeom>
          <a:noFill/>
          <a:ln>
            <a:noFill/>
          </a:ln>
        </p:spPr>
      </p:pic>
      <p:pic>
        <p:nvPicPr>
          <p:cNvPr descr="Workflow outline" id="1035" name="Google Shape;1035;p85"/>
          <p:cNvPicPr preferRelativeResize="0"/>
          <p:nvPr/>
        </p:nvPicPr>
        <p:blipFill rotWithShape="1">
          <a:blip r:embed="rId9">
            <a:alphaModFix/>
          </a:blip>
          <a:srcRect b="0" l="0" r="0" t="0"/>
          <a:stretch/>
        </p:blipFill>
        <p:spPr>
          <a:xfrm>
            <a:off x="9975377" y="4193559"/>
            <a:ext cx="501015" cy="501015"/>
          </a:xfrm>
          <a:prstGeom prst="rect">
            <a:avLst/>
          </a:prstGeom>
          <a:noFill/>
          <a:ln>
            <a:noFill/>
          </a:ln>
        </p:spPr>
      </p:pic>
      <p:pic>
        <p:nvPicPr>
          <p:cNvPr id="1036" name="Google Shape;1036;p85"/>
          <p:cNvPicPr preferRelativeResize="0"/>
          <p:nvPr/>
        </p:nvPicPr>
        <p:blipFill rotWithShape="1">
          <a:blip r:embed="rId10">
            <a:alphaModFix/>
          </a:blip>
          <a:srcRect b="0" l="0" r="0" t="0"/>
          <a:stretch/>
        </p:blipFill>
        <p:spPr>
          <a:xfrm>
            <a:off x="8470924" y="3394180"/>
            <a:ext cx="1160628" cy="89166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5"/>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42" name="Google Shape;1042;p5"/>
          <p:cNvSpPr/>
          <p:nvPr/>
        </p:nvSpPr>
        <p:spPr>
          <a:xfrm>
            <a:off x="1187431" y="571388"/>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43" name="Google Shape;1043;p5"/>
          <p:cNvSpPr/>
          <p:nvPr/>
        </p:nvSpPr>
        <p:spPr>
          <a:xfrm>
            <a:off x="17242941" y="314599"/>
            <a:ext cx="682466" cy="256794"/>
          </a:xfrm>
          <a:custGeom>
            <a:rect b="b" l="l" r="r" t="t"/>
            <a:pathLst>
              <a:path extrusionOk="0" h="342392" w="909955">
                <a:moveTo>
                  <a:pt x="0" y="0"/>
                </a:moveTo>
                <a:lnTo>
                  <a:pt x="909955" y="0"/>
                </a:lnTo>
                <a:lnTo>
                  <a:pt x="909955" y="342392"/>
                </a:lnTo>
                <a:lnTo>
                  <a:pt x="0" y="342392"/>
                </a:lnTo>
                <a:lnTo>
                  <a:pt x="0" y="0"/>
                </a:lnTo>
                <a:close/>
              </a:path>
            </a:pathLst>
          </a:custGeom>
          <a:blipFill rotWithShape="1">
            <a:blip r:embed="rId3">
              <a:alphaModFix/>
            </a:blip>
            <a:stretch>
              <a:fillRect b="-288" l="0" r="-2"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grpSp>
        <p:nvGrpSpPr>
          <p:cNvPr id="1044" name="Google Shape;1044;p5"/>
          <p:cNvGrpSpPr/>
          <p:nvPr/>
        </p:nvGrpSpPr>
        <p:grpSpPr>
          <a:xfrm>
            <a:off x="5776170" y="9896475"/>
            <a:ext cx="6735680" cy="408188"/>
            <a:chOff x="0" y="0"/>
            <a:chExt cx="8980907" cy="544250"/>
          </a:xfrm>
        </p:grpSpPr>
        <p:sp>
          <p:nvSpPr>
            <p:cNvPr id="1045" name="Google Shape;1045;p5"/>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Bai Jamjuree"/>
                <a:ea typeface="Bai Jamjuree"/>
                <a:cs typeface="Bai Jamjuree"/>
                <a:sym typeface="Bai Jamjuree"/>
              </a:endParaRPr>
            </a:p>
          </p:txBody>
        </p:sp>
        <p:sp>
          <p:nvSpPr>
            <p:cNvPr id="1046" name="Google Shape;1046;p5"/>
            <p:cNvSpPr txBox="1"/>
            <p:nvPr/>
          </p:nvSpPr>
          <p:spPr>
            <a:xfrm>
              <a:off x="324001" y="94288"/>
              <a:ext cx="8332875"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Bai Jamjuree"/>
                <a:ea typeface="Bai Jamjuree"/>
                <a:cs typeface="Bai Jamjuree"/>
                <a:sym typeface="Bai Jamjuree"/>
              </a:endParaRPr>
            </a:p>
          </p:txBody>
        </p:sp>
      </p:grpSp>
      <p:sp>
        <p:nvSpPr>
          <p:cNvPr id="1047" name="Google Shape;1047;p5"/>
          <p:cNvSpPr txBox="1"/>
          <p:nvPr/>
        </p:nvSpPr>
        <p:spPr>
          <a:xfrm>
            <a:off x="1450629" y="820081"/>
            <a:ext cx="9231879"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LỢI ÍCH CỦA TẠO SMART PLANOGRAM HIỆU QUẢ</a:t>
            </a:r>
            <a:endParaRPr/>
          </a:p>
        </p:txBody>
      </p:sp>
      <p:sp>
        <p:nvSpPr>
          <p:cNvPr id="1048" name="Google Shape;1048;p5"/>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grpSp>
        <p:nvGrpSpPr>
          <p:cNvPr id="1049" name="Google Shape;1049;p5"/>
          <p:cNvGrpSpPr/>
          <p:nvPr/>
        </p:nvGrpSpPr>
        <p:grpSpPr>
          <a:xfrm>
            <a:off x="2897471" y="1531850"/>
            <a:ext cx="3402106" cy="3565526"/>
            <a:chOff x="379996" y="1448370"/>
            <a:chExt cx="3402106" cy="3565526"/>
          </a:xfrm>
        </p:grpSpPr>
        <p:sp>
          <p:nvSpPr>
            <p:cNvPr id="1050" name="Google Shape;1050;p5"/>
            <p:cNvSpPr/>
            <p:nvPr/>
          </p:nvSpPr>
          <p:spPr>
            <a:xfrm>
              <a:off x="379996" y="1448370"/>
              <a:ext cx="3402106" cy="3565526"/>
            </a:xfrm>
            <a:custGeom>
              <a:rect b="b" l="l" r="r" t="t"/>
              <a:pathLst>
                <a:path extrusionOk="0" h="2540000" w="3810000">
                  <a:moveTo>
                    <a:pt x="0" y="0"/>
                  </a:moveTo>
                  <a:lnTo>
                    <a:pt x="3810000" y="0"/>
                  </a:lnTo>
                  <a:lnTo>
                    <a:pt x="3810000" y="2540000"/>
                  </a:lnTo>
                  <a:lnTo>
                    <a:pt x="0" y="2540000"/>
                  </a:lnTo>
                  <a:close/>
                </a:path>
              </a:pathLst>
            </a:custGeom>
            <a:solidFill>
              <a:srgbClr val="7BCFFA">
                <a:alpha val="7843"/>
              </a:srgbClr>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1" name="Google Shape;1051;p5"/>
            <p:cNvSpPr txBox="1"/>
            <p:nvPr/>
          </p:nvSpPr>
          <p:spPr>
            <a:xfrm>
              <a:off x="1101964" y="1576931"/>
              <a:ext cx="1844565" cy="927818"/>
            </a:xfrm>
            <a:prstGeom prst="rect">
              <a:avLst/>
            </a:prstGeom>
            <a:noFill/>
            <a:ln>
              <a:noFill/>
            </a:ln>
          </p:spPr>
          <p:txBody>
            <a:bodyPr anchorCtr="0" anchor="t" bIns="0" lIns="0" spcFirstLastPara="1" rIns="0" wrap="square" tIns="0">
              <a:spAutoFit/>
            </a:bodyPr>
            <a:lstStyle/>
            <a:p>
              <a:pPr indent="0" lvl="0" marL="0" marR="0" rtl="0" algn="ctr">
                <a:lnSpc>
                  <a:spcPct val="120023"/>
                </a:lnSpc>
                <a:spcBef>
                  <a:spcPts val="0"/>
                </a:spcBef>
                <a:spcAft>
                  <a:spcPts val="0"/>
                </a:spcAft>
                <a:buClr>
                  <a:srgbClr val="000000"/>
                </a:buClr>
                <a:buSzPts val="2512"/>
                <a:buFont typeface="Arial"/>
                <a:buNone/>
              </a:pPr>
              <a:r>
                <a:rPr b="1" i="0" lang="en-US" sz="2512" u="none" cap="none" strike="noStrike">
                  <a:solidFill>
                    <a:srgbClr val="1F497D"/>
                  </a:solidFill>
                  <a:latin typeface="Bai Jamjuree"/>
                  <a:ea typeface="Bai Jamjuree"/>
                  <a:cs typeface="Bai Jamjuree"/>
                  <a:sym typeface="Bai Jamjuree"/>
                </a:rPr>
                <a:t>Tối ưu vị trí sản phẩm</a:t>
              </a:r>
              <a:endParaRPr b="0" i="0" sz="1400" u="none" cap="none" strike="noStrike">
                <a:solidFill>
                  <a:srgbClr val="000000"/>
                </a:solidFill>
                <a:latin typeface="Arial"/>
                <a:ea typeface="Arial"/>
                <a:cs typeface="Arial"/>
                <a:sym typeface="Arial"/>
              </a:endParaRPr>
            </a:p>
          </p:txBody>
        </p:sp>
        <p:sp>
          <p:nvSpPr>
            <p:cNvPr id="1052" name="Google Shape;1052;p5"/>
            <p:cNvSpPr txBox="1"/>
            <p:nvPr/>
          </p:nvSpPr>
          <p:spPr>
            <a:xfrm>
              <a:off x="730232" y="2554494"/>
              <a:ext cx="2930177" cy="147732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333333"/>
                  </a:solidFill>
                  <a:latin typeface="Bai Jamjuree"/>
                  <a:ea typeface="Bai Jamjuree"/>
                  <a:cs typeface="Bai Jamjuree"/>
                  <a:sym typeface="Bai Jamjuree"/>
                </a:rPr>
                <a:t>Tăng khả năng hiển thị, thu hút khách hàng, dẫn đến tăng trưởng doanh thu trực tiếp. </a:t>
              </a:r>
              <a:endParaRPr/>
            </a:p>
          </p:txBody>
        </p:sp>
        <p:sp>
          <p:nvSpPr>
            <p:cNvPr id="1053" name="Google Shape;1053;p5"/>
            <p:cNvSpPr txBox="1"/>
            <p:nvPr/>
          </p:nvSpPr>
          <p:spPr>
            <a:xfrm>
              <a:off x="504711" y="4303477"/>
              <a:ext cx="3191290" cy="347916"/>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84"/>
                <a:buFont typeface="Arial"/>
                <a:buNone/>
              </a:pPr>
              <a:r>
                <a:rPr b="1" i="0" lang="en-US" sz="1884" u="none" cap="none" strike="noStrike">
                  <a:solidFill>
                    <a:srgbClr val="195BCD"/>
                  </a:solidFill>
                  <a:latin typeface="Bai Jamjuree"/>
                  <a:ea typeface="Bai Jamjuree"/>
                  <a:cs typeface="Bai Jamjuree"/>
                  <a:sym typeface="Bai Jamjuree"/>
                </a:rPr>
                <a:t>→ Tăng doanh số 5 – 10%</a:t>
              </a:r>
              <a:endParaRPr b="0" i="0" sz="1400" u="none" cap="none" strike="noStrike">
                <a:solidFill>
                  <a:srgbClr val="000000"/>
                </a:solidFill>
                <a:latin typeface="Arial"/>
                <a:ea typeface="Arial"/>
                <a:cs typeface="Arial"/>
                <a:sym typeface="Arial"/>
              </a:endParaRPr>
            </a:p>
          </p:txBody>
        </p:sp>
      </p:grpSp>
      <p:grpSp>
        <p:nvGrpSpPr>
          <p:cNvPr id="1054" name="Google Shape;1054;p5"/>
          <p:cNvGrpSpPr/>
          <p:nvPr/>
        </p:nvGrpSpPr>
        <p:grpSpPr>
          <a:xfrm>
            <a:off x="6631872" y="1531850"/>
            <a:ext cx="3402106" cy="3565526"/>
            <a:chOff x="5014654" y="2454524"/>
            <a:chExt cx="3402106" cy="3565526"/>
          </a:xfrm>
        </p:grpSpPr>
        <p:sp>
          <p:nvSpPr>
            <p:cNvPr id="1055" name="Google Shape;1055;p5"/>
            <p:cNvSpPr/>
            <p:nvPr/>
          </p:nvSpPr>
          <p:spPr>
            <a:xfrm>
              <a:off x="5014654" y="2454524"/>
              <a:ext cx="3402106" cy="3565526"/>
            </a:xfrm>
            <a:custGeom>
              <a:rect b="b" l="l" r="r" t="t"/>
              <a:pathLst>
                <a:path extrusionOk="0" h="2540000" w="3810000">
                  <a:moveTo>
                    <a:pt x="0" y="0"/>
                  </a:moveTo>
                  <a:lnTo>
                    <a:pt x="3810000" y="0"/>
                  </a:lnTo>
                  <a:lnTo>
                    <a:pt x="3810000" y="2540000"/>
                  </a:lnTo>
                  <a:lnTo>
                    <a:pt x="0" y="2540000"/>
                  </a:lnTo>
                  <a:close/>
                </a:path>
              </a:pathLst>
            </a:custGeom>
            <a:solidFill>
              <a:srgbClr val="EAF1DD"/>
            </a:solidFill>
            <a:ln cap="flat" cmpd="sng" w="25400">
              <a:solidFill>
                <a:srgbClr val="16A08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056" name="Google Shape;1056;p5"/>
            <p:cNvSpPr txBox="1"/>
            <p:nvPr/>
          </p:nvSpPr>
          <p:spPr>
            <a:xfrm>
              <a:off x="5736622" y="2583085"/>
              <a:ext cx="1844565" cy="927818"/>
            </a:xfrm>
            <a:prstGeom prst="rect">
              <a:avLst/>
            </a:prstGeom>
            <a:noFill/>
            <a:ln>
              <a:noFill/>
            </a:ln>
          </p:spPr>
          <p:txBody>
            <a:bodyPr anchorCtr="0" anchor="t" bIns="0" lIns="0" spcFirstLastPara="1" rIns="0" wrap="square" tIns="0">
              <a:spAutoFit/>
            </a:bodyPr>
            <a:lstStyle/>
            <a:p>
              <a:pPr indent="0" lvl="0" marL="0" marR="0" rtl="0" algn="ctr">
                <a:lnSpc>
                  <a:spcPct val="120023"/>
                </a:lnSpc>
                <a:spcBef>
                  <a:spcPts val="0"/>
                </a:spcBef>
                <a:spcAft>
                  <a:spcPts val="0"/>
                </a:spcAft>
                <a:buClr>
                  <a:srgbClr val="000000"/>
                </a:buClr>
                <a:buSzPts val="2512"/>
                <a:buFont typeface="Arial"/>
                <a:buNone/>
              </a:pPr>
              <a:r>
                <a:rPr b="1" i="0" lang="en-US" sz="2512" u="none" cap="none" strike="noStrike">
                  <a:solidFill>
                    <a:srgbClr val="16A085"/>
                  </a:solidFill>
                  <a:latin typeface="Bai Jamjuree"/>
                  <a:ea typeface="Bai Jamjuree"/>
                  <a:cs typeface="Bai Jamjuree"/>
                  <a:sym typeface="Bai Jamjuree"/>
                </a:rPr>
                <a:t>Tối đa hóa không gian</a:t>
              </a:r>
              <a:endParaRPr b="0" i="0" sz="1400" u="none" cap="none" strike="noStrike">
                <a:solidFill>
                  <a:srgbClr val="16A085"/>
                </a:solidFill>
                <a:latin typeface="Arial"/>
                <a:ea typeface="Arial"/>
                <a:cs typeface="Arial"/>
                <a:sym typeface="Arial"/>
              </a:endParaRPr>
            </a:p>
          </p:txBody>
        </p:sp>
        <p:sp>
          <p:nvSpPr>
            <p:cNvPr id="1057" name="Google Shape;1057;p5"/>
            <p:cNvSpPr txBox="1"/>
            <p:nvPr/>
          </p:nvSpPr>
          <p:spPr>
            <a:xfrm>
              <a:off x="5364890" y="3560648"/>
              <a:ext cx="2930177" cy="110799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333333"/>
                  </a:solidFill>
                  <a:latin typeface="Bai Jamjuree"/>
                  <a:ea typeface="Bai Jamjuree"/>
                  <a:cs typeface="Bai Jamjuree"/>
                  <a:sym typeface="Bai Jamjuree"/>
                </a:rPr>
                <a:t>Giảm nhu cầu mở rộng tốn kém và tăng doanh thu trên mỗi mét vuông. </a:t>
              </a:r>
              <a:endParaRPr/>
            </a:p>
          </p:txBody>
        </p:sp>
        <p:sp>
          <p:nvSpPr>
            <p:cNvPr id="1058" name="Google Shape;1058;p5"/>
            <p:cNvSpPr txBox="1"/>
            <p:nvPr/>
          </p:nvSpPr>
          <p:spPr>
            <a:xfrm>
              <a:off x="5103777" y="5309631"/>
              <a:ext cx="3191290" cy="347916"/>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84"/>
                <a:buFont typeface="Arial"/>
                <a:buNone/>
              </a:pPr>
              <a:r>
                <a:rPr b="1" i="0" lang="en-US" sz="1884" u="none" cap="none" strike="noStrike">
                  <a:solidFill>
                    <a:srgbClr val="16A085"/>
                  </a:solidFill>
                  <a:latin typeface="Bai Jamjuree"/>
                  <a:ea typeface="Bai Jamjuree"/>
                  <a:cs typeface="Bai Jamjuree"/>
                  <a:sym typeface="Bai Jamjuree"/>
                </a:rPr>
                <a:t>→ Tăng doanh số 5 – 10%</a:t>
              </a:r>
              <a:endParaRPr b="0" i="0" sz="1400" u="none" cap="none" strike="noStrike">
                <a:solidFill>
                  <a:srgbClr val="16A085"/>
                </a:solidFill>
                <a:latin typeface="Arial"/>
                <a:ea typeface="Arial"/>
                <a:cs typeface="Arial"/>
                <a:sym typeface="Arial"/>
              </a:endParaRPr>
            </a:p>
          </p:txBody>
        </p:sp>
      </p:grpSp>
      <p:grpSp>
        <p:nvGrpSpPr>
          <p:cNvPr id="1059" name="Google Shape;1059;p5"/>
          <p:cNvGrpSpPr/>
          <p:nvPr/>
        </p:nvGrpSpPr>
        <p:grpSpPr>
          <a:xfrm>
            <a:off x="1021300" y="5359961"/>
            <a:ext cx="3402106" cy="3530478"/>
            <a:chOff x="5014654" y="2454524"/>
            <a:chExt cx="3402106" cy="3530478"/>
          </a:xfrm>
        </p:grpSpPr>
        <p:sp>
          <p:nvSpPr>
            <p:cNvPr id="1060" name="Google Shape;1060;p5"/>
            <p:cNvSpPr/>
            <p:nvPr/>
          </p:nvSpPr>
          <p:spPr>
            <a:xfrm>
              <a:off x="5014654" y="2454524"/>
              <a:ext cx="3402106" cy="3530478"/>
            </a:xfrm>
            <a:custGeom>
              <a:rect b="b" l="l" r="r" t="t"/>
              <a:pathLst>
                <a:path extrusionOk="0" h="2540000" w="3810000">
                  <a:moveTo>
                    <a:pt x="0" y="0"/>
                  </a:moveTo>
                  <a:lnTo>
                    <a:pt x="3810000" y="0"/>
                  </a:lnTo>
                  <a:lnTo>
                    <a:pt x="3810000" y="2540000"/>
                  </a:lnTo>
                  <a:lnTo>
                    <a:pt x="0" y="2540000"/>
                  </a:lnTo>
                  <a:close/>
                </a:path>
              </a:pathLst>
            </a:custGeom>
            <a:solidFill>
              <a:srgbClr val="F2DADA"/>
            </a:solidFill>
            <a:ln cap="flat" cmpd="sng" w="254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061" name="Google Shape;1061;p5"/>
            <p:cNvSpPr txBox="1"/>
            <p:nvPr/>
          </p:nvSpPr>
          <p:spPr>
            <a:xfrm>
              <a:off x="5736622" y="2583085"/>
              <a:ext cx="1844565" cy="927818"/>
            </a:xfrm>
            <a:prstGeom prst="rect">
              <a:avLst/>
            </a:prstGeom>
            <a:noFill/>
            <a:ln>
              <a:noFill/>
            </a:ln>
          </p:spPr>
          <p:txBody>
            <a:bodyPr anchorCtr="0" anchor="t" bIns="0" lIns="0" spcFirstLastPara="1" rIns="0" wrap="square" tIns="0">
              <a:spAutoFit/>
            </a:bodyPr>
            <a:lstStyle/>
            <a:p>
              <a:pPr indent="0" lvl="0" marL="0" marR="0" rtl="0" algn="ctr">
                <a:lnSpc>
                  <a:spcPct val="120023"/>
                </a:lnSpc>
                <a:spcBef>
                  <a:spcPts val="0"/>
                </a:spcBef>
                <a:spcAft>
                  <a:spcPts val="0"/>
                </a:spcAft>
                <a:buClr>
                  <a:srgbClr val="000000"/>
                </a:buClr>
                <a:buSzPts val="2512"/>
                <a:buFont typeface="Arial"/>
                <a:buNone/>
              </a:pPr>
              <a:r>
                <a:rPr b="1" i="0" lang="en-US" sz="2512" u="none" cap="none" strike="noStrike">
                  <a:solidFill>
                    <a:srgbClr val="FF0000"/>
                  </a:solidFill>
                  <a:latin typeface="Bai Jamjuree"/>
                  <a:ea typeface="Bai Jamjuree"/>
                  <a:cs typeface="Bai Jamjuree"/>
                  <a:sym typeface="Bai Jamjuree"/>
                </a:rPr>
                <a:t>Tối đa hóa không gian</a:t>
              </a:r>
              <a:endParaRPr b="0" i="0" sz="1400" u="none" cap="none" strike="noStrike">
                <a:solidFill>
                  <a:srgbClr val="FF0000"/>
                </a:solidFill>
                <a:latin typeface="Arial"/>
                <a:ea typeface="Arial"/>
                <a:cs typeface="Arial"/>
                <a:sym typeface="Arial"/>
              </a:endParaRPr>
            </a:p>
          </p:txBody>
        </p:sp>
        <p:sp>
          <p:nvSpPr>
            <p:cNvPr id="1062" name="Google Shape;1062;p5"/>
            <p:cNvSpPr txBox="1"/>
            <p:nvPr/>
          </p:nvSpPr>
          <p:spPr>
            <a:xfrm>
              <a:off x="5364890" y="3560648"/>
              <a:ext cx="2930177" cy="147732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333333"/>
                  </a:solidFill>
                  <a:latin typeface="Bai Jamjuree"/>
                  <a:ea typeface="Bai Jamjuree"/>
                  <a:cs typeface="Bai Jamjuree"/>
                  <a:sym typeface="Bai Jamjuree"/>
                </a:rPr>
                <a:t>Cá nhân hóa hành trình mua sắm, giúp khách hàng tìm kiếm sản phẩm dễ dàng.</a:t>
              </a:r>
              <a:endParaRPr b="0" i="0" sz="2000" u="none" cap="none" strike="noStrike">
                <a:solidFill>
                  <a:srgbClr val="333333"/>
                </a:solidFill>
                <a:latin typeface="Bai Jamjuree"/>
                <a:ea typeface="Bai Jamjuree"/>
                <a:cs typeface="Bai Jamjuree"/>
                <a:sym typeface="Bai Jamjuree"/>
              </a:endParaRPr>
            </a:p>
          </p:txBody>
        </p:sp>
        <p:sp>
          <p:nvSpPr>
            <p:cNvPr id="1063" name="Google Shape;1063;p5"/>
            <p:cNvSpPr txBox="1"/>
            <p:nvPr/>
          </p:nvSpPr>
          <p:spPr>
            <a:xfrm>
              <a:off x="5120062" y="5274583"/>
              <a:ext cx="3191290" cy="347916"/>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84"/>
                <a:buFont typeface="Arial"/>
                <a:buNone/>
              </a:pPr>
              <a:r>
                <a:rPr b="1" i="0" lang="en-US" sz="1884" u="none" cap="none" strike="noStrike">
                  <a:solidFill>
                    <a:srgbClr val="FF0000"/>
                  </a:solidFill>
                  <a:latin typeface="Bai Jamjuree"/>
                  <a:ea typeface="Bai Jamjuree"/>
                  <a:cs typeface="Bai Jamjuree"/>
                  <a:sym typeface="Bai Jamjuree"/>
                </a:rPr>
                <a:t>→ Cá nhận hóa trải nghiệm</a:t>
              </a:r>
              <a:endParaRPr b="0" i="0" sz="1400" u="none" cap="none" strike="noStrike">
                <a:solidFill>
                  <a:srgbClr val="FF0000"/>
                </a:solidFill>
                <a:latin typeface="Arial"/>
                <a:ea typeface="Arial"/>
                <a:cs typeface="Arial"/>
                <a:sym typeface="Arial"/>
              </a:endParaRPr>
            </a:p>
          </p:txBody>
        </p:sp>
      </p:grpSp>
      <p:grpSp>
        <p:nvGrpSpPr>
          <p:cNvPr id="1064" name="Google Shape;1064;p5"/>
          <p:cNvGrpSpPr/>
          <p:nvPr/>
        </p:nvGrpSpPr>
        <p:grpSpPr>
          <a:xfrm>
            <a:off x="4598524" y="5347179"/>
            <a:ext cx="3402106" cy="3543260"/>
            <a:chOff x="5014654" y="2454524"/>
            <a:chExt cx="3402106" cy="3543260"/>
          </a:xfrm>
        </p:grpSpPr>
        <p:sp>
          <p:nvSpPr>
            <p:cNvPr id="1065" name="Google Shape;1065;p5"/>
            <p:cNvSpPr/>
            <p:nvPr/>
          </p:nvSpPr>
          <p:spPr>
            <a:xfrm>
              <a:off x="5014654" y="2454524"/>
              <a:ext cx="3402106" cy="3543260"/>
            </a:xfrm>
            <a:custGeom>
              <a:rect b="b" l="l" r="r" t="t"/>
              <a:pathLst>
                <a:path extrusionOk="0" h="2540000" w="3810000">
                  <a:moveTo>
                    <a:pt x="0" y="0"/>
                  </a:moveTo>
                  <a:lnTo>
                    <a:pt x="3810000" y="0"/>
                  </a:lnTo>
                  <a:lnTo>
                    <a:pt x="3810000" y="2540000"/>
                  </a:lnTo>
                  <a:lnTo>
                    <a:pt x="0" y="2540000"/>
                  </a:lnTo>
                  <a:close/>
                </a:path>
              </a:pathLst>
            </a:custGeom>
            <a:solidFill>
              <a:srgbClr val="FEF7EB"/>
            </a:solidFill>
            <a:ln cap="flat" cmpd="sng" w="25400">
              <a:solidFill>
                <a:srgbClr val="FBD4B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066" name="Google Shape;1066;p5"/>
            <p:cNvSpPr txBox="1"/>
            <p:nvPr/>
          </p:nvSpPr>
          <p:spPr>
            <a:xfrm>
              <a:off x="5736622" y="2583085"/>
              <a:ext cx="1844565" cy="927818"/>
            </a:xfrm>
            <a:prstGeom prst="rect">
              <a:avLst/>
            </a:prstGeom>
            <a:noFill/>
            <a:ln>
              <a:noFill/>
            </a:ln>
          </p:spPr>
          <p:txBody>
            <a:bodyPr anchorCtr="0" anchor="t" bIns="0" lIns="0" spcFirstLastPara="1" rIns="0" wrap="square" tIns="0">
              <a:spAutoFit/>
            </a:bodyPr>
            <a:lstStyle/>
            <a:p>
              <a:pPr indent="0" lvl="0" marL="0" marR="0" rtl="0" algn="ctr">
                <a:lnSpc>
                  <a:spcPct val="120023"/>
                </a:lnSpc>
                <a:spcBef>
                  <a:spcPts val="0"/>
                </a:spcBef>
                <a:spcAft>
                  <a:spcPts val="0"/>
                </a:spcAft>
                <a:buClr>
                  <a:srgbClr val="000000"/>
                </a:buClr>
                <a:buSzPts val="2512"/>
                <a:buFont typeface="Arial"/>
                <a:buNone/>
              </a:pPr>
              <a:r>
                <a:rPr b="1" i="0" lang="en-US" sz="2512" u="none" cap="none" strike="noStrike">
                  <a:solidFill>
                    <a:schemeClr val="accent6"/>
                  </a:solidFill>
                  <a:latin typeface="Bai Jamjuree"/>
                  <a:ea typeface="Bai Jamjuree"/>
                  <a:cs typeface="Bai Jamjuree"/>
                  <a:sym typeface="Bai Jamjuree"/>
                </a:rPr>
                <a:t>Hiệu quả vận hành</a:t>
              </a:r>
              <a:endParaRPr b="0" i="0" sz="1400" u="none" cap="none" strike="noStrike">
                <a:solidFill>
                  <a:schemeClr val="accent6"/>
                </a:solidFill>
                <a:latin typeface="Arial"/>
                <a:ea typeface="Arial"/>
                <a:cs typeface="Arial"/>
                <a:sym typeface="Arial"/>
              </a:endParaRPr>
            </a:p>
          </p:txBody>
        </p:sp>
        <p:sp>
          <p:nvSpPr>
            <p:cNvPr id="1067" name="Google Shape;1067;p5"/>
            <p:cNvSpPr txBox="1"/>
            <p:nvPr/>
          </p:nvSpPr>
          <p:spPr>
            <a:xfrm>
              <a:off x="5364890" y="3560648"/>
              <a:ext cx="2930177" cy="147732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333333"/>
                  </a:solidFill>
                  <a:latin typeface="Bai Jamjuree"/>
                  <a:ea typeface="Bai Jamjuree"/>
                  <a:cs typeface="Bai Jamjuree"/>
                  <a:sym typeface="Bai Jamjuree"/>
                </a:rPr>
                <a:t>Giảm chi phí lao động thông qua quy trình bổ sung hàng hóa và trưng bày rõ ràng. </a:t>
              </a:r>
              <a:endParaRPr/>
            </a:p>
          </p:txBody>
        </p:sp>
        <p:sp>
          <p:nvSpPr>
            <p:cNvPr id="1068" name="Google Shape;1068;p5"/>
            <p:cNvSpPr txBox="1"/>
            <p:nvPr/>
          </p:nvSpPr>
          <p:spPr>
            <a:xfrm>
              <a:off x="5120062" y="5225501"/>
              <a:ext cx="3191290" cy="347916"/>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84"/>
                <a:buFont typeface="Arial"/>
                <a:buNone/>
              </a:pPr>
              <a:r>
                <a:rPr b="1" i="0" lang="en-US" sz="1884" u="none" cap="none" strike="noStrike">
                  <a:solidFill>
                    <a:schemeClr val="accent6"/>
                  </a:solidFill>
                  <a:latin typeface="Bai Jamjuree"/>
                  <a:ea typeface="Bai Jamjuree"/>
                  <a:cs typeface="Bai Jamjuree"/>
                  <a:sym typeface="Bai Jamjuree"/>
                </a:rPr>
                <a:t>→ Tăng năng suất 20%</a:t>
              </a:r>
              <a:endParaRPr b="0" i="0" sz="1400" u="none" cap="none" strike="noStrike">
                <a:solidFill>
                  <a:schemeClr val="accent6"/>
                </a:solidFill>
                <a:latin typeface="Arial"/>
                <a:ea typeface="Arial"/>
                <a:cs typeface="Arial"/>
                <a:sym typeface="Arial"/>
              </a:endParaRPr>
            </a:p>
          </p:txBody>
        </p:sp>
      </p:grpSp>
      <p:grpSp>
        <p:nvGrpSpPr>
          <p:cNvPr id="1069" name="Google Shape;1069;p5"/>
          <p:cNvGrpSpPr/>
          <p:nvPr/>
        </p:nvGrpSpPr>
        <p:grpSpPr>
          <a:xfrm>
            <a:off x="8231453" y="5319158"/>
            <a:ext cx="3402106" cy="3543260"/>
            <a:chOff x="5014654" y="2454524"/>
            <a:chExt cx="3402106" cy="3543260"/>
          </a:xfrm>
        </p:grpSpPr>
        <p:sp>
          <p:nvSpPr>
            <p:cNvPr id="1070" name="Google Shape;1070;p5"/>
            <p:cNvSpPr/>
            <p:nvPr/>
          </p:nvSpPr>
          <p:spPr>
            <a:xfrm>
              <a:off x="5014654" y="2454524"/>
              <a:ext cx="3402106" cy="3543260"/>
            </a:xfrm>
            <a:custGeom>
              <a:rect b="b" l="l" r="r" t="t"/>
              <a:pathLst>
                <a:path extrusionOk="0" h="2540000" w="3810000">
                  <a:moveTo>
                    <a:pt x="0" y="0"/>
                  </a:moveTo>
                  <a:lnTo>
                    <a:pt x="3810000" y="0"/>
                  </a:lnTo>
                  <a:lnTo>
                    <a:pt x="3810000" y="2540000"/>
                  </a:lnTo>
                  <a:lnTo>
                    <a:pt x="0" y="2540000"/>
                  </a:lnTo>
                  <a:close/>
                </a:path>
              </a:pathLst>
            </a:custGeom>
            <a:solidFill>
              <a:srgbClr val="FCD3FD"/>
            </a:solidFill>
            <a:ln cap="flat" cmpd="sng" w="25400">
              <a:solidFill>
                <a:srgbClr val="CE00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071" name="Google Shape;1071;p5"/>
            <p:cNvSpPr txBox="1"/>
            <p:nvPr/>
          </p:nvSpPr>
          <p:spPr>
            <a:xfrm>
              <a:off x="5736622" y="2583085"/>
              <a:ext cx="1844565" cy="927818"/>
            </a:xfrm>
            <a:prstGeom prst="rect">
              <a:avLst/>
            </a:prstGeom>
            <a:noFill/>
            <a:ln>
              <a:noFill/>
            </a:ln>
          </p:spPr>
          <p:txBody>
            <a:bodyPr anchorCtr="0" anchor="t" bIns="0" lIns="0" spcFirstLastPara="1" rIns="0" wrap="square" tIns="0">
              <a:spAutoFit/>
            </a:bodyPr>
            <a:lstStyle/>
            <a:p>
              <a:pPr indent="0" lvl="0" marL="0" marR="0" rtl="0" algn="ctr">
                <a:lnSpc>
                  <a:spcPct val="120023"/>
                </a:lnSpc>
                <a:spcBef>
                  <a:spcPts val="0"/>
                </a:spcBef>
                <a:spcAft>
                  <a:spcPts val="0"/>
                </a:spcAft>
                <a:buClr>
                  <a:srgbClr val="000000"/>
                </a:buClr>
                <a:buSzPts val="2512"/>
                <a:buFont typeface="Arial"/>
                <a:buNone/>
              </a:pPr>
              <a:r>
                <a:rPr b="1" i="0" lang="en-US" sz="2512" u="none" cap="none" strike="noStrike">
                  <a:solidFill>
                    <a:srgbClr val="CE00A7"/>
                  </a:solidFill>
                  <a:latin typeface="Bai Jamjuree"/>
                  <a:ea typeface="Bai Jamjuree"/>
                  <a:cs typeface="Bai Jamjuree"/>
                  <a:sym typeface="Bai Jamjuree"/>
                </a:rPr>
                <a:t>Quyết định thông minh</a:t>
              </a:r>
              <a:endParaRPr b="0" i="0" sz="1400" u="none" cap="none" strike="noStrike">
                <a:solidFill>
                  <a:srgbClr val="CE00A7"/>
                </a:solidFill>
                <a:latin typeface="Arial"/>
                <a:ea typeface="Arial"/>
                <a:cs typeface="Arial"/>
                <a:sym typeface="Arial"/>
              </a:endParaRPr>
            </a:p>
          </p:txBody>
        </p:sp>
        <p:sp>
          <p:nvSpPr>
            <p:cNvPr id="1072" name="Google Shape;1072;p5"/>
            <p:cNvSpPr txBox="1"/>
            <p:nvPr/>
          </p:nvSpPr>
          <p:spPr>
            <a:xfrm>
              <a:off x="5364890" y="3560648"/>
              <a:ext cx="2930177" cy="147732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333333"/>
                  </a:solidFill>
                  <a:latin typeface="Bai Jamjuree"/>
                  <a:ea typeface="Bai Jamjuree"/>
                  <a:cs typeface="Bai Jamjuree"/>
                  <a:sym typeface="Bai Jamjuree"/>
                </a:rPr>
                <a:t>Sử dụng dữ liệu hiệu suất để đưa ra các quyết định chiến lược, tối ưu hóa lợi nhuận. </a:t>
              </a:r>
              <a:endParaRPr/>
            </a:p>
          </p:txBody>
        </p:sp>
        <p:sp>
          <p:nvSpPr>
            <p:cNvPr id="1073" name="Google Shape;1073;p5"/>
            <p:cNvSpPr txBox="1"/>
            <p:nvPr/>
          </p:nvSpPr>
          <p:spPr>
            <a:xfrm>
              <a:off x="5120062" y="5225501"/>
              <a:ext cx="3191290" cy="347916"/>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84"/>
                <a:buFont typeface="Arial"/>
                <a:buNone/>
              </a:pPr>
              <a:r>
                <a:rPr b="1" i="0" lang="en-US" sz="1884" u="none" cap="none" strike="noStrike">
                  <a:solidFill>
                    <a:srgbClr val="CE00A7"/>
                  </a:solidFill>
                  <a:latin typeface="Bai Jamjuree"/>
                  <a:ea typeface="Bai Jamjuree"/>
                  <a:cs typeface="Bai Jamjuree"/>
                  <a:sym typeface="Bai Jamjuree"/>
                </a:rPr>
                <a:t>→ Tăng lợi nhuận 60%</a:t>
              </a:r>
              <a:endParaRPr b="0" i="0" sz="1400" u="none" cap="none" strike="noStrike">
                <a:solidFill>
                  <a:srgbClr val="CE00A7"/>
                </a:solidFill>
                <a:latin typeface="Arial"/>
                <a:ea typeface="Arial"/>
                <a:cs typeface="Arial"/>
                <a:sym typeface="Arial"/>
              </a:endParaRPr>
            </a:p>
          </p:txBody>
        </p:sp>
      </p:grpSp>
      <p:pic>
        <p:nvPicPr>
          <p:cNvPr id="1074" name="Google Shape;1074;p5"/>
          <p:cNvPicPr preferRelativeResize="0"/>
          <p:nvPr/>
        </p:nvPicPr>
        <p:blipFill rotWithShape="1">
          <a:blip r:embed="rId4">
            <a:alphaModFix/>
          </a:blip>
          <a:srcRect b="0" l="0" r="0" t="0"/>
          <a:stretch/>
        </p:blipFill>
        <p:spPr>
          <a:xfrm>
            <a:off x="10363216" y="1531850"/>
            <a:ext cx="7220958" cy="3448531"/>
          </a:xfrm>
          <a:prstGeom prst="rect">
            <a:avLst/>
          </a:prstGeom>
          <a:noFill/>
          <a:ln>
            <a:noFill/>
          </a:ln>
        </p:spPr>
      </p:pic>
      <p:sp>
        <p:nvSpPr>
          <p:cNvPr id="1075" name="Google Shape;1075;p5"/>
          <p:cNvSpPr txBox="1"/>
          <p:nvPr/>
        </p:nvSpPr>
        <p:spPr>
          <a:xfrm>
            <a:off x="1371536" y="481304"/>
            <a:ext cx="9144000" cy="329321"/>
          </a:xfrm>
          <a:prstGeom prst="rect">
            <a:avLst/>
          </a:prstGeom>
          <a:noFill/>
          <a:ln>
            <a:noFill/>
          </a:ln>
        </p:spPr>
        <p:txBody>
          <a:bodyPr anchorCtr="0" anchor="t" bIns="45700" lIns="91425" spcFirstLastPara="1" rIns="91425" wrap="square" tIns="45700">
            <a:spAutoFit/>
          </a:bodyPr>
          <a:lstStyle/>
          <a:p>
            <a:pPr indent="0" lvl="0" marL="0" marR="0" rtl="0" algn="l">
              <a:lnSpc>
                <a:spcPct val="120012"/>
              </a:lnSpc>
              <a:spcBef>
                <a:spcPts val="0"/>
              </a:spcBef>
              <a:spcAft>
                <a:spcPts val="0"/>
              </a:spcAft>
              <a:buNone/>
            </a:pPr>
            <a:r>
              <a:rPr b="0" i="0" lang="en-US" sz="1400" u="none" cap="none" strike="noStrike">
                <a:solidFill>
                  <a:srgbClr val="4D4D4F"/>
                </a:solidFill>
                <a:latin typeface="Bai Jamjuree"/>
                <a:ea typeface="Bai Jamjuree"/>
                <a:cs typeface="Bai Jamjuree"/>
                <a:sym typeface="Bai Jamjuree"/>
              </a:rPr>
              <a:t>TỔNG QUAN CÁC CHỨC NĂNG NỔI BẬT CỦA SMART PLANOGRAM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6"/>
          <p:cNvSpPr/>
          <p:nvPr/>
        </p:nvSpPr>
        <p:spPr>
          <a:xfrm>
            <a:off x="1142805" y="9285090"/>
            <a:ext cx="714280" cy="999935"/>
          </a:xfrm>
          <a:custGeom>
            <a:rect b="b" l="l" r="r" t="t"/>
            <a:pathLst>
              <a:path extrusionOk="0" h="1333246" w="952373">
                <a:moveTo>
                  <a:pt x="952373" y="0"/>
                </a:moveTo>
                <a:lnTo>
                  <a:pt x="0" y="0"/>
                </a:lnTo>
                <a:lnTo>
                  <a:pt x="0" y="1333246"/>
                </a:lnTo>
                <a:lnTo>
                  <a:pt x="952373" y="1333246"/>
                </a:lnTo>
                <a:lnTo>
                  <a:pt x="952373" y="0"/>
                </a:lnTo>
                <a:close/>
              </a:path>
            </a:pathLst>
          </a:custGeom>
          <a:solidFill>
            <a:srgbClr val="0391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1" name="Google Shape;1081;p6"/>
          <p:cNvSpPr/>
          <p:nvPr/>
        </p:nvSpPr>
        <p:spPr>
          <a:xfrm>
            <a:off x="17242941" y="314599"/>
            <a:ext cx="682466" cy="256794"/>
          </a:xfrm>
          <a:custGeom>
            <a:rect b="b" l="l" r="r" t="t"/>
            <a:pathLst>
              <a:path extrusionOk="0" h="342392" w="909955">
                <a:moveTo>
                  <a:pt x="0" y="0"/>
                </a:moveTo>
                <a:lnTo>
                  <a:pt x="909955" y="0"/>
                </a:lnTo>
                <a:lnTo>
                  <a:pt x="909955" y="342392"/>
                </a:lnTo>
                <a:lnTo>
                  <a:pt x="0" y="342392"/>
                </a:lnTo>
                <a:lnTo>
                  <a:pt x="0" y="0"/>
                </a:lnTo>
                <a:close/>
              </a:path>
            </a:pathLst>
          </a:custGeom>
          <a:blipFill rotWithShape="1">
            <a:blip r:embed="rId3">
              <a:alphaModFix/>
            </a:blip>
            <a:stretch>
              <a:fillRect b="-288" l="0" r="-2"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82" name="Google Shape;1082;p6"/>
          <p:cNvGrpSpPr/>
          <p:nvPr/>
        </p:nvGrpSpPr>
        <p:grpSpPr>
          <a:xfrm>
            <a:off x="5776170" y="9896475"/>
            <a:ext cx="6735680" cy="408188"/>
            <a:chOff x="0" y="0"/>
            <a:chExt cx="8980907" cy="544250"/>
          </a:xfrm>
        </p:grpSpPr>
        <p:sp>
          <p:nvSpPr>
            <p:cNvPr id="1083" name="Google Shape;1083;p6"/>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4" name="Google Shape;1084;p6"/>
            <p:cNvSpPr txBox="1"/>
            <p:nvPr/>
          </p:nvSpPr>
          <p:spPr>
            <a:xfrm>
              <a:off x="324002" y="94288"/>
              <a:ext cx="8332875" cy="355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Arial"/>
                <a:ea typeface="Arial"/>
                <a:cs typeface="Arial"/>
                <a:sym typeface="Arial"/>
              </a:endParaRPr>
            </a:p>
          </p:txBody>
        </p:sp>
      </p:grpSp>
      <p:sp>
        <p:nvSpPr>
          <p:cNvPr id="1085" name="Google Shape;1085;p6"/>
          <p:cNvSpPr/>
          <p:nvPr/>
        </p:nvSpPr>
        <p:spPr>
          <a:xfrm>
            <a:off x="1187431" y="571388"/>
            <a:ext cx="83958" cy="571720"/>
          </a:xfrm>
          <a:custGeom>
            <a:rect b="b" l="l" r="r" t="t"/>
            <a:pathLst>
              <a:path extrusionOk="0" h="635635" w="93345">
                <a:moveTo>
                  <a:pt x="93345" y="0"/>
                </a:moveTo>
                <a:lnTo>
                  <a:pt x="0" y="0"/>
                </a:lnTo>
                <a:lnTo>
                  <a:pt x="0" y="635635"/>
                </a:lnTo>
                <a:lnTo>
                  <a:pt x="93345" y="635635"/>
                </a:lnTo>
                <a:lnTo>
                  <a:pt x="93345" y="0"/>
                </a:lnTo>
                <a:close/>
              </a:path>
            </a:pathLst>
          </a:custGeom>
          <a:solidFill>
            <a:srgbClr val="0050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6" name="Google Shape;1086;p6"/>
          <p:cNvSpPr txBox="1"/>
          <p:nvPr/>
        </p:nvSpPr>
        <p:spPr>
          <a:xfrm>
            <a:off x="1393315" y="521213"/>
            <a:ext cx="5713772" cy="290721"/>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Clr>
                <a:srgbClr val="000000"/>
              </a:buClr>
              <a:buSzPts val="1574"/>
              <a:buFont typeface="Arial"/>
              <a:buNone/>
            </a:pPr>
            <a:r>
              <a:rPr b="0" i="0" lang="en-US" sz="1574" u="none" cap="none" strike="noStrike">
                <a:solidFill>
                  <a:srgbClr val="4D4D4F"/>
                </a:solidFill>
                <a:latin typeface="Bai Jamjuree"/>
                <a:ea typeface="Bai Jamjuree"/>
                <a:cs typeface="Bai Jamjuree"/>
                <a:sym typeface="Bai Jamjuree"/>
              </a:rPr>
              <a:t>Kết luận</a:t>
            </a:r>
            <a:endParaRPr b="0" i="0" sz="1400" u="none" cap="none" strike="noStrike">
              <a:solidFill>
                <a:srgbClr val="000000"/>
              </a:solidFill>
              <a:latin typeface="Arial"/>
              <a:ea typeface="Arial"/>
              <a:cs typeface="Arial"/>
              <a:sym typeface="Arial"/>
            </a:endParaRPr>
          </a:p>
        </p:txBody>
      </p:sp>
      <p:sp>
        <p:nvSpPr>
          <p:cNvPr id="1087" name="Google Shape;1087;p6"/>
          <p:cNvSpPr txBox="1"/>
          <p:nvPr/>
        </p:nvSpPr>
        <p:spPr>
          <a:xfrm>
            <a:off x="1374453" y="809765"/>
            <a:ext cx="10040508" cy="41537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2249"/>
              <a:buFont typeface="Arial"/>
              <a:buNone/>
            </a:pPr>
            <a:r>
              <a:rPr b="1" i="0" lang="en-US" sz="2249" u="none" cap="none" strike="noStrike">
                <a:solidFill>
                  <a:srgbClr val="0050AB"/>
                </a:solidFill>
                <a:latin typeface="Bai Jamjuree"/>
                <a:ea typeface="Bai Jamjuree"/>
                <a:cs typeface="Bai Jamjuree"/>
                <a:sym typeface="Bai Jamjuree"/>
              </a:rPr>
              <a:t>KẾT LUẬN VỀ SMART PLANOGRAM</a:t>
            </a:r>
            <a:endParaRPr b="0" i="0" sz="1400" u="none" cap="none" strike="noStrike">
              <a:solidFill>
                <a:srgbClr val="000000"/>
              </a:solidFill>
              <a:latin typeface="Arial"/>
              <a:ea typeface="Arial"/>
              <a:cs typeface="Arial"/>
              <a:sym typeface="Arial"/>
            </a:endParaRPr>
          </a:p>
        </p:txBody>
      </p:sp>
      <p:sp>
        <p:nvSpPr>
          <p:cNvPr id="1088" name="Google Shape;1088;p6"/>
          <p:cNvSpPr txBox="1"/>
          <p:nvPr/>
        </p:nvSpPr>
        <p:spPr>
          <a:xfrm>
            <a:off x="1196483" y="9646463"/>
            <a:ext cx="606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Bai Jamjuree"/>
                <a:ea typeface="Bai Jamjuree"/>
                <a:cs typeface="Bai Jamjuree"/>
                <a:sym typeface="Bai Jamjuree"/>
              </a:rPr>
              <a:t>0</a:t>
            </a:r>
            <a:fld id="{00000000-1234-1234-1234-123412341234}" type="slidenum">
              <a:rPr b="1" i="0" lang="en-US" sz="1800" u="none" cap="none" strike="noStrike">
                <a:solidFill>
                  <a:srgbClr val="FFFFFF"/>
                </a:solidFill>
                <a:latin typeface="Bai Jamjuree"/>
                <a:ea typeface="Bai Jamjuree"/>
                <a:cs typeface="Bai Jamjuree"/>
                <a:sym typeface="Bai Jamjuree"/>
              </a:rPr>
              <a:t>‹#›</a:t>
            </a:fld>
            <a:endParaRPr b="1" i="0" sz="1800" u="none" cap="none" strike="noStrike">
              <a:solidFill>
                <a:srgbClr val="FFFFFF"/>
              </a:solidFill>
              <a:latin typeface="Bai Jamjuree"/>
              <a:ea typeface="Bai Jamjuree"/>
              <a:cs typeface="Bai Jamjuree"/>
              <a:sym typeface="Bai Jamjuree"/>
            </a:endParaRPr>
          </a:p>
        </p:txBody>
      </p:sp>
      <p:grpSp>
        <p:nvGrpSpPr>
          <p:cNvPr id="1089" name="Google Shape;1089;p6"/>
          <p:cNvGrpSpPr/>
          <p:nvPr/>
        </p:nvGrpSpPr>
        <p:grpSpPr>
          <a:xfrm>
            <a:off x="1142805" y="1812797"/>
            <a:ext cx="7822160" cy="4493409"/>
            <a:chOff x="-1" y="-84"/>
            <a:chExt cx="1552547" cy="908128"/>
          </a:xfrm>
        </p:grpSpPr>
        <p:sp>
          <p:nvSpPr>
            <p:cNvPr id="1090" name="Google Shape;1090;p6"/>
            <p:cNvSpPr/>
            <p:nvPr/>
          </p:nvSpPr>
          <p:spPr>
            <a:xfrm>
              <a:off x="0" y="0"/>
              <a:ext cx="1552546" cy="908044"/>
            </a:xfrm>
            <a:custGeom>
              <a:rect b="b" l="l" r="r" t="t"/>
              <a:pathLst>
                <a:path extrusionOk="0" h="908044" w="1552546">
                  <a:moveTo>
                    <a:pt x="0" y="0"/>
                  </a:moveTo>
                  <a:lnTo>
                    <a:pt x="1552546" y="0"/>
                  </a:lnTo>
                  <a:lnTo>
                    <a:pt x="1552546" y="908044"/>
                  </a:lnTo>
                  <a:lnTo>
                    <a:pt x="0" y="908044"/>
                  </a:lnTo>
                  <a:close/>
                </a:path>
              </a:pathLst>
            </a:custGeom>
            <a:solidFill>
              <a:srgbClr val="0033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1" name="Google Shape;1091;p6"/>
            <p:cNvSpPr txBox="1"/>
            <p:nvPr/>
          </p:nvSpPr>
          <p:spPr>
            <a:xfrm>
              <a:off x="-1" y="-84"/>
              <a:ext cx="1552500" cy="908100"/>
            </a:xfrm>
            <a:prstGeom prst="rect">
              <a:avLst/>
            </a:prstGeom>
            <a:noFill/>
            <a:ln>
              <a:noFill/>
            </a:ln>
          </p:spPr>
          <p:txBody>
            <a:bodyPr anchorCtr="0" anchor="t" bIns="152400" lIns="152400" spcFirstLastPara="1" rIns="152400" wrap="square" tIns="152400">
              <a:noAutofit/>
            </a:bodyPr>
            <a:lstStyle/>
            <a:p>
              <a:pPr indent="0" lvl="0" marL="0" marR="0" rtl="0" algn="l">
                <a:lnSpc>
                  <a:spcPct val="182028"/>
                </a:lnSpc>
                <a:spcBef>
                  <a:spcPts val="0"/>
                </a:spcBef>
                <a:spcAft>
                  <a:spcPts val="0"/>
                </a:spcAft>
                <a:buClr>
                  <a:srgbClr val="000000"/>
                </a:buClr>
                <a:buSzPts val="2899"/>
                <a:buFont typeface="Arial"/>
                <a:buNone/>
              </a:pPr>
              <a:r>
                <a:rPr b="1" i="0" lang="en-US" sz="2899" u="none" cap="none" strike="noStrike">
                  <a:solidFill>
                    <a:srgbClr val="FFFFFF"/>
                  </a:solidFill>
                  <a:latin typeface="Bai Jamjuree"/>
                  <a:ea typeface="Bai Jamjuree"/>
                  <a:cs typeface="Bai Jamjuree"/>
                  <a:sym typeface="Bai Jamjuree"/>
                </a:rPr>
                <a:t>Quy trình Planogram hiệu quả: Chìa khóa vàng</a:t>
              </a:r>
              <a:endParaRPr b="1" i="0" sz="2899" u="none" cap="none" strike="noStrike">
                <a:solidFill>
                  <a:srgbClr val="FFFFFF"/>
                </a:solidFill>
                <a:latin typeface="Bai Jamjuree"/>
                <a:ea typeface="Bai Jamjuree"/>
                <a:cs typeface="Bai Jamjuree"/>
                <a:sym typeface="Bai Jamjuree"/>
              </a:endParaRPr>
            </a:p>
            <a:p>
              <a:pPr indent="0" lvl="0" marL="0" marR="0" rtl="0" algn="l">
                <a:lnSpc>
                  <a:spcPct val="182041"/>
                </a:lnSpc>
                <a:spcBef>
                  <a:spcPts val="0"/>
                </a:spcBef>
                <a:spcAft>
                  <a:spcPts val="0"/>
                </a:spcAft>
                <a:buClr>
                  <a:srgbClr val="000000"/>
                </a:buClr>
                <a:buSzPts val="1999"/>
                <a:buFont typeface="Arial"/>
                <a:buNone/>
              </a:pPr>
              <a:r>
                <a:rPr b="0" i="0" lang="en-US" sz="1999" u="none" cap="none" strike="noStrike">
                  <a:solidFill>
                    <a:srgbClr val="FFFFFF"/>
                  </a:solidFill>
                  <a:latin typeface="Bai Jamjuree"/>
                  <a:ea typeface="Bai Jamjuree"/>
                  <a:cs typeface="Bai Jamjuree"/>
                  <a:sym typeface="Bai Jamjuree"/>
                </a:rPr>
                <a:t>• Tối ưu bố cục cửa hàng</a:t>
              </a:r>
              <a:endParaRPr b="0" i="0" sz="1400" u="none" cap="none" strike="noStrike">
                <a:solidFill>
                  <a:srgbClr val="000000"/>
                </a:solidFill>
                <a:latin typeface="Arial"/>
                <a:ea typeface="Arial"/>
                <a:cs typeface="Arial"/>
                <a:sym typeface="Arial"/>
              </a:endParaRPr>
            </a:p>
            <a:p>
              <a:pPr indent="0" lvl="0" marL="0" marR="0" rtl="0" algn="l">
                <a:lnSpc>
                  <a:spcPct val="182041"/>
                </a:lnSpc>
                <a:spcBef>
                  <a:spcPts val="0"/>
                </a:spcBef>
                <a:spcAft>
                  <a:spcPts val="0"/>
                </a:spcAft>
                <a:buClr>
                  <a:srgbClr val="000000"/>
                </a:buClr>
                <a:buSzPts val="1999"/>
                <a:buFont typeface="Arial"/>
                <a:buNone/>
              </a:pPr>
              <a:r>
                <a:rPr b="0" i="0" lang="en-US" sz="1999" u="none" cap="none" strike="noStrike">
                  <a:solidFill>
                    <a:srgbClr val="FFFFFF"/>
                  </a:solidFill>
                  <a:latin typeface="Bai Jamjuree"/>
                  <a:ea typeface="Bai Jamjuree"/>
                  <a:cs typeface="Bai Jamjuree"/>
                  <a:sym typeface="Bai Jamjuree"/>
                </a:rPr>
                <a:t>• Cải thiện vị trí sản phẩm</a:t>
              </a:r>
              <a:endParaRPr b="0" i="0" sz="1400" u="none" cap="none" strike="noStrike">
                <a:solidFill>
                  <a:srgbClr val="000000"/>
                </a:solidFill>
                <a:latin typeface="Arial"/>
                <a:ea typeface="Arial"/>
                <a:cs typeface="Arial"/>
                <a:sym typeface="Arial"/>
              </a:endParaRPr>
            </a:p>
            <a:p>
              <a:pPr indent="0" lvl="0" marL="0" marR="0" rtl="0" algn="l">
                <a:lnSpc>
                  <a:spcPct val="182041"/>
                </a:lnSpc>
                <a:spcBef>
                  <a:spcPts val="0"/>
                </a:spcBef>
                <a:spcAft>
                  <a:spcPts val="0"/>
                </a:spcAft>
                <a:buNone/>
              </a:pPr>
              <a:r>
                <a:rPr b="0" i="0" lang="en-US" sz="1999" u="none" cap="none" strike="noStrike">
                  <a:solidFill>
                    <a:srgbClr val="FFFFFF"/>
                  </a:solidFill>
                  <a:latin typeface="Bai Jamjuree"/>
                  <a:ea typeface="Bai Jamjuree"/>
                  <a:cs typeface="Bai Jamjuree"/>
                  <a:sym typeface="Bai Jamjuree"/>
                </a:rPr>
                <a:t>• Tối đa hóa doanh số bán hàng</a:t>
              </a:r>
              <a:endParaRPr b="0" i="0" sz="1999" u="none" cap="none" strike="noStrike">
                <a:solidFill>
                  <a:srgbClr val="FFFFFF"/>
                </a:solidFill>
                <a:latin typeface="Bai Jamjuree"/>
                <a:ea typeface="Bai Jamjuree"/>
                <a:cs typeface="Bai Jamjuree"/>
                <a:sym typeface="Bai Jamjuree"/>
              </a:endParaRPr>
            </a:p>
          </p:txBody>
        </p:sp>
      </p:grpSp>
      <p:sp>
        <p:nvSpPr>
          <p:cNvPr id="1092" name="Google Shape;1092;p6"/>
          <p:cNvSpPr/>
          <p:nvPr/>
        </p:nvSpPr>
        <p:spPr>
          <a:xfrm>
            <a:off x="7814891" y="5222751"/>
            <a:ext cx="766637" cy="748429"/>
          </a:xfrm>
          <a:custGeom>
            <a:rect b="b" l="l" r="r" t="t"/>
            <a:pathLst>
              <a:path extrusionOk="0" h="748429" w="766637">
                <a:moveTo>
                  <a:pt x="0" y="0"/>
                </a:moveTo>
                <a:lnTo>
                  <a:pt x="766636" y="0"/>
                </a:lnTo>
                <a:lnTo>
                  <a:pt x="766636" y="748429"/>
                </a:lnTo>
                <a:lnTo>
                  <a:pt x="0" y="74842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93" name="Google Shape;1093;p6"/>
          <p:cNvGrpSpPr/>
          <p:nvPr/>
        </p:nvGrpSpPr>
        <p:grpSpPr>
          <a:xfrm>
            <a:off x="9420781" y="1812658"/>
            <a:ext cx="7822160" cy="4493409"/>
            <a:chOff x="-1" y="-84"/>
            <a:chExt cx="1552547" cy="908128"/>
          </a:xfrm>
        </p:grpSpPr>
        <p:sp>
          <p:nvSpPr>
            <p:cNvPr id="1094" name="Google Shape;1094;p6"/>
            <p:cNvSpPr/>
            <p:nvPr/>
          </p:nvSpPr>
          <p:spPr>
            <a:xfrm>
              <a:off x="0" y="0"/>
              <a:ext cx="1552546" cy="908044"/>
            </a:xfrm>
            <a:custGeom>
              <a:rect b="b" l="l" r="r" t="t"/>
              <a:pathLst>
                <a:path extrusionOk="0" h="908044" w="1552546">
                  <a:moveTo>
                    <a:pt x="0" y="0"/>
                  </a:moveTo>
                  <a:lnTo>
                    <a:pt x="1552546" y="0"/>
                  </a:lnTo>
                  <a:lnTo>
                    <a:pt x="1552546" y="908044"/>
                  </a:lnTo>
                  <a:lnTo>
                    <a:pt x="0" y="908044"/>
                  </a:lnTo>
                  <a:close/>
                </a:path>
              </a:pathLst>
            </a:custGeom>
            <a:solidFill>
              <a:srgbClr val="0033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5" name="Google Shape;1095;p6"/>
            <p:cNvSpPr txBox="1"/>
            <p:nvPr/>
          </p:nvSpPr>
          <p:spPr>
            <a:xfrm>
              <a:off x="-1" y="-84"/>
              <a:ext cx="1552500" cy="908100"/>
            </a:xfrm>
            <a:prstGeom prst="rect">
              <a:avLst/>
            </a:prstGeom>
            <a:noFill/>
            <a:ln>
              <a:noFill/>
            </a:ln>
          </p:spPr>
          <p:txBody>
            <a:bodyPr anchorCtr="0" anchor="t" bIns="152400" lIns="152400" spcFirstLastPara="1" rIns="152400" wrap="square" tIns="152400">
              <a:noAutofit/>
            </a:bodyPr>
            <a:lstStyle/>
            <a:p>
              <a:pPr indent="0" lvl="0" marL="0" marR="0" rtl="0" algn="l">
                <a:lnSpc>
                  <a:spcPct val="182028"/>
                </a:lnSpc>
                <a:spcBef>
                  <a:spcPts val="0"/>
                </a:spcBef>
                <a:spcAft>
                  <a:spcPts val="0"/>
                </a:spcAft>
                <a:buClr>
                  <a:srgbClr val="000000"/>
                </a:buClr>
                <a:buSzPts val="2899"/>
                <a:buFont typeface="Arial"/>
                <a:buNone/>
              </a:pPr>
              <a:r>
                <a:rPr b="1" i="0" lang="en-US" sz="2899" u="none" cap="none" strike="noStrike">
                  <a:solidFill>
                    <a:srgbClr val="FFFFFF"/>
                  </a:solidFill>
                  <a:latin typeface="Bai Jamjuree"/>
                  <a:ea typeface="Bai Jamjuree"/>
                  <a:cs typeface="Bai Jamjuree"/>
                  <a:sym typeface="Bai Jamjuree"/>
                </a:rPr>
                <a:t>Tận dụng Công nghệ &amp; Dữ liệu: Lợi thế cạnh tranh</a:t>
              </a:r>
              <a:endParaRPr b="1" i="0" sz="2899" u="none" cap="none" strike="noStrike">
                <a:solidFill>
                  <a:srgbClr val="FFFFFF"/>
                </a:solidFill>
                <a:latin typeface="Bai Jamjuree"/>
                <a:ea typeface="Bai Jamjuree"/>
                <a:cs typeface="Bai Jamjuree"/>
                <a:sym typeface="Bai Jamjuree"/>
              </a:endParaRPr>
            </a:p>
            <a:p>
              <a:pPr indent="0" lvl="0" marL="0" marR="0" rtl="0" algn="l">
                <a:lnSpc>
                  <a:spcPct val="182041"/>
                </a:lnSpc>
                <a:spcBef>
                  <a:spcPts val="0"/>
                </a:spcBef>
                <a:spcAft>
                  <a:spcPts val="0"/>
                </a:spcAft>
                <a:buNone/>
              </a:pPr>
              <a:r>
                <a:rPr b="0" i="0" lang="en-US" sz="1999" u="none" cap="none" strike="noStrike">
                  <a:solidFill>
                    <a:srgbClr val="FFFFFF"/>
                  </a:solidFill>
                  <a:latin typeface="Bai Jamjuree"/>
                  <a:ea typeface="Bai Jamjuree"/>
                  <a:cs typeface="Bai Jamjuree"/>
                  <a:sym typeface="Bai Jamjuree"/>
                </a:rPr>
                <a:t>• Dữ liệu định hướng quyết định</a:t>
              </a:r>
              <a:endParaRPr b="0" i="0" sz="1999" u="none" cap="none" strike="noStrike">
                <a:solidFill>
                  <a:srgbClr val="FFFFFF"/>
                </a:solidFill>
                <a:latin typeface="Bai Jamjuree"/>
                <a:ea typeface="Bai Jamjuree"/>
                <a:cs typeface="Bai Jamjuree"/>
                <a:sym typeface="Bai Jamjuree"/>
              </a:endParaRPr>
            </a:p>
            <a:p>
              <a:pPr indent="0" lvl="0" marL="0" marR="0" rtl="0" algn="l">
                <a:lnSpc>
                  <a:spcPct val="182041"/>
                </a:lnSpc>
                <a:spcBef>
                  <a:spcPts val="0"/>
                </a:spcBef>
                <a:spcAft>
                  <a:spcPts val="0"/>
                </a:spcAft>
                <a:buNone/>
              </a:pPr>
              <a:r>
                <a:rPr b="0" i="0" lang="en-US" sz="1999" u="none" cap="none" strike="noStrike">
                  <a:solidFill>
                    <a:srgbClr val="FFFFFF"/>
                  </a:solidFill>
                  <a:latin typeface="Bai Jamjuree"/>
                  <a:ea typeface="Bai Jamjuree"/>
                  <a:cs typeface="Bai Jamjuree"/>
                  <a:sym typeface="Bai Jamjuree"/>
                </a:rPr>
                <a:t>• Tối ưu hóa không gian thông minh</a:t>
              </a:r>
              <a:endParaRPr b="0" i="0" sz="1999" u="none" cap="none" strike="noStrike">
                <a:solidFill>
                  <a:srgbClr val="FFFFFF"/>
                </a:solidFill>
                <a:latin typeface="Bai Jamjuree"/>
                <a:ea typeface="Bai Jamjuree"/>
                <a:cs typeface="Bai Jamjuree"/>
                <a:sym typeface="Bai Jamjuree"/>
              </a:endParaRPr>
            </a:p>
            <a:p>
              <a:pPr indent="0" lvl="0" marL="0" marR="0" rtl="0" algn="l">
                <a:lnSpc>
                  <a:spcPct val="182041"/>
                </a:lnSpc>
                <a:spcBef>
                  <a:spcPts val="0"/>
                </a:spcBef>
                <a:spcAft>
                  <a:spcPts val="0"/>
                </a:spcAft>
                <a:buNone/>
              </a:pPr>
              <a:r>
                <a:rPr b="0" i="0" lang="en-US" sz="1999" u="none" cap="none" strike="noStrike">
                  <a:solidFill>
                    <a:srgbClr val="FFFFFF"/>
                  </a:solidFill>
                  <a:latin typeface="Bai Jamjuree"/>
                  <a:ea typeface="Bai Jamjuree"/>
                  <a:cs typeface="Bai Jamjuree"/>
                  <a:sym typeface="Bai Jamjuree"/>
                </a:rPr>
                <a:t>• Phản ứng nhanh với thị trường</a:t>
              </a:r>
              <a:endParaRPr/>
            </a:p>
          </p:txBody>
        </p:sp>
      </p:grpSp>
      <p:pic>
        <p:nvPicPr>
          <p:cNvPr descr="Artificial Intelligence with solid fill" id="1096" name="Google Shape;1096;p6"/>
          <p:cNvPicPr preferRelativeResize="0"/>
          <p:nvPr/>
        </p:nvPicPr>
        <p:blipFill rotWithShape="1">
          <a:blip r:embed="rId5">
            <a:alphaModFix/>
          </a:blip>
          <a:srcRect b="0" l="0" r="0" t="0"/>
          <a:stretch/>
        </p:blipFill>
        <p:spPr>
          <a:xfrm>
            <a:off x="16230790" y="5143707"/>
            <a:ext cx="914400" cy="914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36"/>
          <p:cNvSpPr/>
          <p:nvPr/>
        </p:nvSpPr>
        <p:spPr>
          <a:xfrm>
            <a:off x="0" y="0"/>
            <a:ext cx="18284476" cy="10285000"/>
          </a:xfrm>
          <a:custGeom>
            <a:rect b="b" l="l" r="r" t="t"/>
            <a:pathLst>
              <a:path extrusionOk="0" h="13713333" w="24379301">
                <a:moveTo>
                  <a:pt x="0" y="0"/>
                </a:moveTo>
                <a:lnTo>
                  <a:pt x="24379301" y="0"/>
                </a:lnTo>
                <a:lnTo>
                  <a:pt x="24379301" y="13713333"/>
                </a:lnTo>
                <a:lnTo>
                  <a:pt x="0" y="1371333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2" name="Google Shape;1102;p36"/>
          <p:cNvSpPr txBox="1"/>
          <p:nvPr/>
        </p:nvSpPr>
        <p:spPr>
          <a:xfrm>
            <a:off x="3596700" y="4853429"/>
            <a:ext cx="11091076" cy="132959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3600"/>
              <a:buFont typeface="Arial"/>
              <a:buNone/>
            </a:pPr>
            <a:r>
              <a:rPr b="0" i="0" lang="en-US" sz="3600" u="none" cap="none" strike="noStrike">
                <a:solidFill>
                  <a:srgbClr val="E8F1FA"/>
                </a:solidFill>
                <a:latin typeface="Bai Jamjuree"/>
                <a:ea typeface="Bai Jamjuree"/>
                <a:cs typeface="Bai Jamjuree"/>
                <a:sym typeface="Bai Jamjuree"/>
              </a:rPr>
              <a:t>“Planogram không chỉ là bản vẽ, mà là công</a:t>
            </a:r>
            <a:endParaRPr/>
          </a:p>
          <a:p>
            <a:pPr indent="0" lvl="0" marL="0" marR="0" rtl="0" algn="ctr">
              <a:lnSpc>
                <a:spcPct val="120000"/>
              </a:lnSpc>
              <a:spcBef>
                <a:spcPts val="0"/>
              </a:spcBef>
              <a:spcAft>
                <a:spcPts val="0"/>
              </a:spcAft>
              <a:buClr>
                <a:srgbClr val="000000"/>
              </a:buClr>
              <a:buSzPts val="3600"/>
              <a:buFont typeface="Arial"/>
              <a:buNone/>
            </a:pPr>
            <a:r>
              <a:rPr b="0" i="0" lang="en-US" sz="3600" u="none" cap="none" strike="noStrike">
                <a:solidFill>
                  <a:srgbClr val="E8F1FA"/>
                </a:solidFill>
                <a:latin typeface="Bai Jamjuree"/>
                <a:ea typeface="Bai Jamjuree"/>
                <a:cs typeface="Bai Jamjuree"/>
                <a:sym typeface="Bai Jamjuree"/>
              </a:rPr>
              <a:t>cụ chiến lược để tối ưu hóa hiệu suất bán lẻ”</a:t>
            </a:r>
            <a:endParaRPr/>
          </a:p>
        </p:txBody>
      </p:sp>
      <p:grpSp>
        <p:nvGrpSpPr>
          <p:cNvPr id="1103" name="Google Shape;1103;p36"/>
          <p:cNvGrpSpPr/>
          <p:nvPr/>
        </p:nvGrpSpPr>
        <p:grpSpPr>
          <a:xfrm>
            <a:off x="5776170" y="9896475"/>
            <a:ext cx="6735680" cy="408188"/>
            <a:chOff x="0" y="0"/>
            <a:chExt cx="8980907" cy="544250"/>
          </a:xfrm>
        </p:grpSpPr>
        <p:sp>
          <p:nvSpPr>
            <p:cNvPr id="1104" name="Google Shape;1104;p36"/>
            <p:cNvSpPr/>
            <p:nvPr/>
          </p:nvSpPr>
          <p:spPr>
            <a:xfrm>
              <a:off x="0" y="0"/>
              <a:ext cx="8980907" cy="544250"/>
            </a:xfrm>
            <a:custGeom>
              <a:rect b="b" l="l" r="r" t="t"/>
              <a:pathLst>
                <a:path extrusionOk="0" h="544250" w="8980907">
                  <a:moveTo>
                    <a:pt x="272212" y="0"/>
                  </a:moveTo>
                  <a:lnTo>
                    <a:pt x="273366" y="2284"/>
                  </a:lnTo>
                  <a:lnTo>
                    <a:pt x="8707535" y="2284"/>
                  </a:lnTo>
                  <a:lnTo>
                    <a:pt x="8708689" y="0"/>
                  </a:lnTo>
                  <a:lnTo>
                    <a:pt x="8709844" y="2284"/>
                  </a:lnTo>
                  <a:lnTo>
                    <a:pt x="8719813" y="2284"/>
                  </a:lnTo>
                  <a:lnTo>
                    <a:pt x="8719813" y="22074"/>
                  </a:lnTo>
                  <a:lnTo>
                    <a:pt x="8980907" y="541956"/>
                  </a:lnTo>
                  <a:lnTo>
                    <a:pt x="8719813" y="541956"/>
                  </a:lnTo>
                  <a:lnTo>
                    <a:pt x="8719813" y="544250"/>
                  </a:lnTo>
                  <a:lnTo>
                    <a:pt x="272212" y="544250"/>
                  </a:lnTo>
                  <a:lnTo>
                    <a:pt x="272212" y="541956"/>
                  </a:lnTo>
                  <a:lnTo>
                    <a:pt x="0" y="541956"/>
                  </a:lnTo>
                  <a:close/>
                </a:path>
              </a:pathLst>
            </a:custGeom>
            <a:solidFill>
              <a:srgbClr val="DAE5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5" name="Google Shape;1105;p36"/>
            <p:cNvSpPr txBox="1"/>
            <p:nvPr/>
          </p:nvSpPr>
          <p:spPr>
            <a:xfrm>
              <a:off x="324002" y="94288"/>
              <a:ext cx="8332875" cy="355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1F497D"/>
                  </a:solidFill>
                  <a:latin typeface="Bai Jamjuree"/>
                  <a:ea typeface="Bai Jamjuree"/>
                  <a:cs typeface="Bai Jamjuree"/>
                  <a:sym typeface="Bai Jamjuree"/>
                </a:rPr>
                <a:t>Copyright © 2025 VTI All rights reserved</a:t>
              </a:r>
              <a:endParaRPr b="0" i="0" sz="1400" u="none" cap="none" strike="noStrike">
                <a:solidFill>
                  <a:srgbClr val="000000"/>
                </a:solidFill>
                <a:latin typeface="Arial"/>
                <a:ea typeface="Arial"/>
                <a:cs typeface="Arial"/>
                <a:sym typeface="Arial"/>
              </a:endParaRPr>
            </a:p>
          </p:txBody>
        </p:sp>
      </p:grpSp>
      <p:sp>
        <p:nvSpPr>
          <p:cNvPr id="1106" name="Google Shape;1106;p36"/>
          <p:cNvSpPr/>
          <p:nvPr/>
        </p:nvSpPr>
        <p:spPr>
          <a:xfrm>
            <a:off x="17235341" y="233139"/>
            <a:ext cx="792480" cy="476726"/>
          </a:xfrm>
          <a:custGeom>
            <a:rect b="b" l="l" r="r" t="t"/>
            <a:pathLst>
              <a:path extrusionOk="0" h="635635" w="1056640">
                <a:moveTo>
                  <a:pt x="0" y="0"/>
                </a:moveTo>
                <a:lnTo>
                  <a:pt x="1056640" y="0"/>
                </a:lnTo>
                <a:lnTo>
                  <a:pt x="1056640" y="635635"/>
                </a:lnTo>
                <a:lnTo>
                  <a:pt x="0" y="635635"/>
                </a:lnTo>
                <a:lnTo>
                  <a:pt x="0" y="0"/>
                </a:lnTo>
                <a:close/>
              </a:path>
            </a:pathLst>
          </a:custGeom>
          <a:blipFill rotWithShape="1">
            <a:blip r:embed="rId4">
              <a:alphaModFix/>
            </a:blip>
            <a:stretch>
              <a:fillRect b="-5" l="-5146" r="513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hung.nguyenquang</dc:creator>
</cp:coreProperties>
</file>