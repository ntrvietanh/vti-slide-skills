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76" r:id="rId2"/>
    <p:sldId id="256" r:id="rId3"/>
    <p:sldId id="275" r:id="rId4"/>
    <p:sldId id="277" r:id="rId5"/>
    <p:sldId id="278" r:id="rId6"/>
    <p:sldId id="279" r:id="rId7"/>
    <p:sldId id="280" r:id="rId8"/>
  </p:sldIdLst>
  <p:sldSz cx="16256000" cy="9144000"/>
  <p:notesSz cx="16256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645">
          <p15:clr>
            <a:srgbClr val="747775"/>
          </p15:clr>
        </p15:guide>
        <p15:guide id="2" orient="horz">
          <p15:clr>
            <a:srgbClr val="747775"/>
          </p15:clr>
        </p15:guide>
        <p15:guide id="3" orient="horz" pos="4849">
          <p15:clr>
            <a:srgbClr val="747775"/>
          </p15:clr>
        </p15:guide>
        <p15:guide id="4" pos="309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i0FeM/uTgSZyKPqmzbUylkGsir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0412" autoAdjust="0"/>
  </p:normalViewPr>
  <p:slideViewPr>
    <p:cSldViewPr snapToGrid="0">
      <p:cViewPr varScale="1">
        <p:scale>
          <a:sx n="50" d="100"/>
          <a:sy n="50" d="100"/>
        </p:scale>
        <p:origin x="2238" y="54"/>
      </p:cViewPr>
      <p:guideLst>
        <p:guide orient="horz" pos="5645"/>
        <p:guide orient="horz"/>
        <p:guide orient="horz" pos="4849"/>
        <p:guide pos="309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709875" y="685800"/>
            <a:ext cx="108378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6afc0634d7_0_2373:notes"/>
          <p:cNvSpPr txBox="1">
            <a:spLocks noGrp="1"/>
          </p:cNvSpPr>
          <p:nvPr>
            <p:ph type="body" idx="1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6" name="Google Shape;166;g36afc0634d7_0_2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080000" y="685800"/>
            <a:ext cx="60975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925625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>
          <a:extLst>
            <a:ext uri="{FF2B5EF4-FFF2-40B4-BE49-F238E27FC236}">
              <a16:creationId xmlns:a16="http://schemas.microsoft.com/office/drawing/2014/main" id="{FFFE1FB1-9095-2466-812C-DDAEE7747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:notes">
            <a:extLst>
              <a:ext uri="{FF2B5EF4-FFF2-40B4-BE49-F238E27FC236}">
                <a16:creationId xmlns:a16="http://schemas.microsoft.com/office/drawing/2014/main" id="{E16E4AE1-B135-B11C-0C58-7DAED2183D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In this use case, we implemented a centralized observability platform for a hybrid cloud environment combining on-premise infrastructure and AWS.</a:t>
            </a:r>
          </a:p>
          <a:p>
            <a:r>
              <a:rPr lang="en-US" dirty="0"/>
              <a:t>This case is derived from our internal VM Platform solution, where we manage hybrid environments including VMware, network systems, and cloud integration.</a:t>
            </a:r>
          </a:p>
          <a:p>
            <a:r>
              <a:rPr lang="en-US" dirty="0"/>
              <a:t>We used ELK to collect, search, and visualize system logs across infrastructure, applications, and user activity.</a:t>
            </a:r>
          </a:p>
          <a:p>
            <a:r>
              <a:rPr lang="en-US" dirty="0"/>
              <a:t>The platform provides real-time monitoring, audit tracking, and alerting.</a:t>
            </a:r>
          </a:p>
          <a:p>
            <a:r>
              <a:rPr lang="en-US" dirty="0"/>
              <a:t>The result is improved visibility, faster incident response, and better governance across hybrid environments.</a:t>
            </a:r>
          </a:p>
          <a:p>
            <a:r>
              <a:rPr lang="en-US" dirty="0"/>
              <a:t>For telco, this directly applies to multi-data center operations and network observability.</a:t>
            </a:r>
          </a:p>
          <a:p>
            <a:r>
              <a:rPr lang="en-US" dirty="0"/>
              <a:t> (</a:t>
            </a:r>
            <a:r>
              <a:rPr lang="en-US" dirty="0" err="1"/>
              <a:t>Nguồn</a:t>
            </a:r>
            <a:r>
              <a:rPr lang="en-US" dirty="0"/>
              <a:t> CS: </a:t>
            </a:r>
            <a:r>
              <a:rPr lang="en-US" b="1" dirty="0"/>
              <a:t>VM Platform + ELK log analysis module</a:t>
            </a:r>
            <a:r>
              <a:rPr lang="en-US" dirty="0"/>
              <a:t>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270" name="Google Shape;270;p2:notes">
            <a:extLst>
              <a:ext uri="{FF2B5EF4-FFF2-40B4-BE49-F238E27FC236}">
                <a16:creationId xmlns:a16="http://schemas.microsoft.com/office/drawing/2014/main" id="{A42173D2-7832-AC6F-483E-47DA3CC4F5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080000" y="685800"/>
            <a:ext cx="60975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76573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>
          <a:extLst>
            <a:ext uri="{FF2B5EF4-FFF2-40B4-BE49-F238E27FC236}">
              <a16:creationId xmlns:a16="http://schemas.microsoft.com/office/drawing/2014/main" id="{40A54749-668E-A918-341E-721873BF6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:notes">
            <a:extLst>
              <a:ext uri="{FF2B5EF4-FFF2-40B4-BE49-F238E27FC236}">
                <a16:creationId xmlns:a16="http://schemas.microsoft.com/office/drawing/2014/main" id="{54B17C02-0E0F-60E0-907A-F71B4FA1EC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This use case is based on a real migration project we delivered for a media platform system.</a:t>
            </a:r>
          </a:p>
          <a:p>
            <a:r>
              <a:rPr lang="en-US" dirty="0"/>
              <a:t>The customer had an ELK system running on-premise and needed to migrate logs to AWS while unifying logs across environments.</a:t>
            </a:r>
          </a:p>
          <a:p>
            <a:r>
              <a:rPr lang="en-US" dirty="0"/>
              <a:t>We designed a migration solution using secure log transfer and batch synchronization, moving data from on-prem Elasticsearch to AWS Elasticsearch.</a:t>
            </a:r>
          </a:p>
          <a:p>
            <a:r>
              <a:rPr lang="en-US" dirty="0"/>
              <a:t>This created a centralized logging platform with better scalability and operational visibility.</a:t>
            </a:r>
          </a:p>
          <a:p>
            <a:r>
              <a:rPr lang="en-US" dirty="0"/>
              <a:t>This approach is highly relevant for telco scenarios involving legacy system migration and multi-region environments.</a:t>
            </a:r>
          </a:p>
          <a:p>
            <a:pPr marL="158750" indent="0">
              <a:buNone/>
            </a:pPr>
            <a:r>
              <a:rPr lang="en-US" dirty="0"/>
              <a:t>(</a:t>
            </a:r>
            <a:r>
              <a:rPr lang="en-US" dirty="0" err="1"/>
              <a:t>Nguồn</a:t>
            </a:r>
            <a:r>
              <a:rPr lang="en-US" dirty="0"/>
              <a:t> CS: </a:t>
            </a:r>
            <a:r>
              <a:rPr lang="en-US" b="1" dirty="0" err="1"/>
              <a:t>Vodaplay</a:t>
            </a:r>
            <a:r>
              <a:rPr lang="en-US" b="1" dirty="0"/>
              <a:t> ELK Migration Plan &amp; AWS deployment scenario</a:t>
            </a:r>
            <a:r>
              <a:rPr lang="en-US" dirty="0"/>
              <a:t>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270" name="Google Shape;270;p2:notes">
            <a:extLst>
              <a:ext uri="{FF2B5EF4-FFF2-40B4-BE49-F238E27FC236}">
                <a16:creationId xmlns:a16="http://schemas.microsoft.com/office/drawing/2014/main" id="{F0A39A53-430C-5319-6E71-194E582312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080000" y="685800"/>
            <a:ext cx="60975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87054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>
          <a:extLst>
            <a:ext uri="{FF2B5EF4-FFF2-40B4-BE49-F238E27FC236}">
              <a16:creationId xmlns:a16="http://schemas.microsoft.com/office/drawing/2014/main" id="{F91BB563-A51F-9CD8-F2F5-68D3F524B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:notes">
            <a:extLst>
              <a:ext uri="{FF2B5EF4-FFF2-40B4-BE49-F238E27FC236}">
                <a16:creationId xmlns:a16="http://schemas.microsoft.com/office/drawing/2014/main" id="{80EEDA0A-D1D8-68D2-A3B5-ACBC8ACFE7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This use case comes from our cloud-native deployment projects using AWS, Kubernetes, and microservices architecture.</a:t>
            </a:r>
          </a:p>
          <a:p>
            <a:r>
              <a:rPr lang="en-US" dirty="0"/>
              <a:t>In this environment, logs and metrics are distributed across multiple services, making troubleshooting complex.</a:t>
            </a:r>
          </a:p>
          <a:p>
            <a:r>
              <a:rPr lang="en-US" dirty="0"/>
              <a:t>We implemented centralized observability using ELK integrated with cloud-native services such as EKS, ECS, and CI/CD pipelines.</a:t>
            </a:r>
          </a:p>
          <a:p>
            <a:r>
              <a:rPr lang="en-US" dirty="0"/>
              <a:t>This enables end-to-end visibility from API requests down to infrastructure and database layers.</a:t>
            </a:r>
          </a:p>
          <a:p>
            <a:r>
              <a:rPr lang="en-US" dirty="0"/>
              <a:t>The result is faster troubleshooting and improved system reliability.</a:t>
            </a:r>
          </a:p>
          <a:p>
            <a:r>
              <a:rPr lang="en-US" dirty="0"/>
              <a:t>This is directly applicable to telco digital platforms and API ecosystems.</a:t>
            </a:r>
          </a:p>
          <a:p>
            <a:pPr marL="158750" indent="0">
              <a:buNone/>
            </a:pPr>
            <a:r>
              <a:rPr lang="en-US" dirty="0"/>
              <a:t>(</a:t>
            </a:r>
            <a:r>
              <a:rPr lang="en-US" dirty="0" err="1"/>
              <a:t>Nguồn</a:t>
            </a:r>
            <a:r>
              <a:rPr lang="en-US" dirty="0"/>
              <a:t> CS: </a:t>
            </a:r>
            <a:r>
              <a:rPr lang="en-US" b="1" dirty="0" err="1"/>
              <a:t>Vodaplay</a:t>
            </a:r>
            <a:r>
              <a:rPr lang="en-US" b="1" dirty="0"/>
              <a:t> production architecture + CI/CD + monitoring &amp; logging design</a:t>
            </a:r>
            <a:r>
              <a:rPr lang="en-US" dirty="0"/>
              <a:t>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270" name="Google Shape;270;p2:notes">
            <a:extLst>
              <a:ext uri="{FF2B5EF4-FFF2-40B4-BE49-F238E27FC236}">
                <a16:creationId xmlns:a16="http://schemas.microsoft.com/office/drawing/2014/main" id="{291DB804-750A-64FC-300C-71CA0F6E84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080000" y="685800"/>
            <a:ext cx="60975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89750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>
          <a:extLst>
            <a:ext uri="{FF2B5EF4-FFF2-40B4-BE49-F238E27FC236}">
              <a16:creationId xmlns:a16="http://schemas.microsoft.com/office/drawing/2014/main" id="{B6334DA0-60C2-D8E1-5E0C-95396781B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:notes">
            <a:extLst>
              <a:ext uri="{FF2B5EF4-FFF2-40B4-BE49-F238E27FC236}">
                <a16:creationId xmlns:a16="http://schemas.microsoft.com/office/drawing/2014/main" id="{D4EFFBB3-9B39-BAD0-585E-450A4A9C21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This use case is an extension of our observability platform into a security monitoring solution.</a:t>
            </a:r>
          </a:p>
          <a:p>
            <a:r>
              <a:rPr lang="en-US" dirty="0"/>
              <a:t>It is derived from multiple projects where we implemented audit logging, user activity tracking, and log-based alerting.</a:t>
            </a:r>
          </a:p>
          <a:p>
            <a:r>
              <a:rPr lang="en-US" dirty="0"/>
              <a:t>Using ELK, we correlate logs from applications, infrastructure, and access systems to detect abnormal behaviors.</a:t>
            </a:r>
          </a:p>
          <a:p>
            <a:r>
              <a:rPr lang="en-US" dirty="0"/>
              <a:t>We also implement rule-based detection for suspicious activities and real-time alerting.</a:t>
            </a:r>
          </a:p>
          <a:p>
            <a:r>
              <a:rPr lang="en-US" dirty="0"/>
              <a:t>This provides a foundation for SOC-lite capabilities such as threat detection and compliance monitoring.</a:t>
            </a:r>
          </a:p>
          <a:p>
            <a:r>
              <a:rPr lang="en-US" dirty="0"/>
              <a:t>For telco, this applies to fraud detection, API abuse monitoring, and internal security operations.</a:t>
            </a:r>
          </a:p>
          <a:p>
            <a:pPr marL="158750" indent="0">
              <a:buNone/>
            </a:pPr>
            <a:r>
              <a:rPr lang="en-US" dirty="0"/>
              <a:t> (</a:t>
            </a:r>
            <a:r>
              <a:rPr lang="en-US" dirty="0" err="1"/>
              <a:t>Nguồn</a:t>
            </a:r>
            <a:r>
              <a:rPr lang="en-US" dirty="0"/>
              <a:t> CS: </a:t>
            </a:r>
            <a:r>
              <a:rPr lang="en-US" b="1" dirty="0"/>
              <a:t>VM Platform audit log + ELK + security monitoring extensions</a:t>
            </a:r>
            <a:r>
              <a:rPr lang="en-US" dirty="0"/>
              <a:t>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270" name="Google Shape;270;p2:notes">
            <a:extLst>
              <a:ext uri="{FF2B5EF4-FFF2-40B4-BE49-F238E27FC236}">
                <a16:creationId xmlns:a16="http://schemas.microsoft.com/office/drawing/2014/main" id="{215710CD-CA42-3554-B446-B0F0960F27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080000" y="685800"/>
            <a:ext cx="60975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041599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>
          <a:extLst>
            <a:ext uri="{FF2B5EF4-FFF2-40B4-BE49-F238E27FC236}">
              <a16:creationId xmlns:a16="http://schemas.microsoft.com/office/drawing/2014/main" id="{00E6C049-CE26-9B27-13B9-4AED56397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:notes">
            <a:extLst>
              <a:ext uri="{FF2B5EF4-FFF2-40B4-BE49-F238E27FC236}">
                <a16:creationId xmlns:a16="http://schemas.microsoft.com/office/drawing/2014/main" id="{E9906EA4-4BAB-D13A-6D8F-63CA1FB223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This use case is based on our internal R&amp;D and deployment experience combining ELK with metrics monitoring tools such as Prometheus and Grafana.</a:t>
            </a:r>
          </a:p>
          <a:p>
            <a:r>
              <a:rPr lang="en-US" dirty="0"/>
              <a:t>ELK is used for deep log analysis and search, while Prometheus collects real-time metrics and Grafana provides visualization.</a:t>
            </a:r>
          </a:p>
          <a:p>
            <a:r>
              <a:rPr lang="en-US" dirty="0"/>
              <a:t>This creates a unified observability platform that combines logs, metrics, and dashboards.</a:t>
            </a:r>
          </a:p>
          <a:p>
            <a:r>
              <a:rPr lang="en-US" dirty="0"/>
              <a:t>The benefit is better performance monitoring, cost optimization, and more advanced operational insights.</a:t>
            </a:r>
          </a:p>
          <a:p>
            <a:r>
              <a:rPr lang="en-US" dirty="0"/>
              <a:t>This architecture is especially suitable for large-scale, distributed environments like telco systems and 5G platforms.</a:t>
            </a:r>
          </a:p>
          <a:p>
            <a:pPr marL="158750" indent="0">
              <a:buNone/>
            </a:pPr>
            <a:r>
              <a:rPr lang="en-US" dirty="0"/>
              <a:t> (</a:t>
            </a:r>
            <a:r>
              <a:rPr lang="en-US" dirty="0" err="1"/>
              <a:t>Nguồn</a:t>
            </a:r>
            <a:r>
              <a:rPr lang="en-US" dirty="0"/>
              <a:t> CS/ Demo: </a:t>
            </a:r>
            <a:r>
              <a:rPr lang="en-US" b="1" dirty="0"/>
              <a:t>Prometheus–Grafana–Loki internal demo + ELK integration practice</a:t>
            </a:r>
            <a:r>
              <a:rPr lang="en-US" dirty="0"/>
              <a:t>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270" name="Google Shape;270;p2:notes">
            <a:extLst>
              <a:ext uri="{FF2B5EF4-FFF2-40B4-BE49-F238E27FC236}">
                <a16:creationId xmlns:a16="http://schemas.microsoft.com/office/drawing/2014/main" id="{525C1EDB-2B3B-9EDC-F5C0-5B1B326FC3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080000" y="685800"/>
            <a:ext cx="60975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4228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6f8919e2d7_0_61"/>
          <p:cNvSpPr txBox="1">
            <a:spLocks noGrp="1"/>
          </p:cNvSpPr>
          <p:nvPr>
            <p:ph type="dt" idx="10"/>
          </p:nvPr>
        </p:nvSpPr>
        <p:spPr>
          <a:xfrm>
            <a:off x="406400" y="5650089"/>
            <a:ext cx="18966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275" tIns="40625" rIns="81275" bIns="406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g36f8919e2d7_0_61"/>
          <p:cNvSpPr txBox="1">
            <a:spLocks noGrp="1"/>
          </p:cNvSpPr>
          <p:nvPr>
            <p:ph type="ftr" idx="11"/>
          </p:nvPr>
        </p:nvSpPr>
        <p:spPr>
          <a:xfrm>
            <a:off x="2777067" y="5650089"/>
            <a:ext cx="25740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275" tIns="40625" rIns="81275" bIns="40625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36f8919e2d7_0_61"/>
          <p:cNvSpPr txBox="1">
            <a:spLocks noGrp="1"/>
          </p:cNvSpPr>
          <p:nvPr>
            <p:ph type="sldNum" idx="12"/>
          </p:nvPr>
        </p:nvSpPr>
        <p:spPr>
          <a:xfrm>
            <a:off x="5825067" y="5650089"/>
            <a:ext cx="18966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275" tIns="40625" rIns="81275" bIns="4062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8"/>
          <p:cNvSpPr txBox="1">
            <a:spLocks noGrp="1"/>
          </p:cNvSpPr>
          <p:nvPr>
            <p:ph type="title"/>
          </p:nvPr>
        </p:nvSpPr>
        <p:spPr>
          <a:xfrm>
            <a:off x="1221972" y="465980"/>
            <a:ext cx="13149630" cy="1011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8"/>
          <p:cNvSpPr txBox="1">
            <a:spLocks noGrp="1"/>
          </p:cNvSpPr>
          <p:nvPr>
            <p:ph type="ftr" idx="11"/>
          </p:nvPr>
        </p:nvSpPr>
        <p:spPr>
          <a:xfrm>
            <a:off x="5527040" y="8503920"/>
            <a:ext cx="5201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8"/>
          <p:cNvSpPr txBox="1">
            <a:spLocks noGrp="1"/>
          </p:cNvSpPr>
          <p:nvPr>
            <p:ph type="dt" idx="10"/>
          </p:nvPr>
        </p:nvSpPr>
        <p:spPr>
          <a:xfrm>
            <a:off x="812800" y="8503920"/>
            <a:ext cx="3738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8"/>
          <p:cNvSpPr txBox="1">
            <a:spLocks noGrp="1"/>
          </p:cNvSpPr>
          <p:nvPr>
            <p:ph type="sldNum" idx="12"/>
          </p:nvPr>
        </p:nvSpPr>
        <p:spPr>
          <a:xfrm>
            <a:off x="11704320" y="8503920"/>
            <a:ext cx="3738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1"/>
          <p:cNvSpPr txBox="1">
            <a:spLocks noGrp="1"/>
          </p:cNvSpPr>
          <p:nvPr>
            <p:ph type="title"/>
          </p:nvPr>
        </p:nvSpPr>
        <p:spPr>
          <a:xfrm>
            <a:off x="1221972" y="465980"/>
            <a:ext cx="13149630" cy="1011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1"/>
          <p:cNvSpPr txBox="1">
            <a:spLocks noGrp="1"/>
          </p:cNvSpPr>
          <p:nvPr>
            <p:ph type="body" idx="1"/>
          </p:nvPr>
        </p:nvSpPr>
        <p:spPr>
          <a:xfrm>
            <a:off x="951298" y="2185961"/>
            <a:ext cx="5826759" cy="5728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1"/>
          <p:cNvSpPr txBox="1">
            <a:spLocks noGrp="1"/>
          </p:cNvSpPr>
          <p:nvPr>
            <p:ph type="body" idx="2"/>
          </p:nvPr>
        </p:nvSpPr>
        <p:spPr>
          <a:xfrm>
            <a:off x="8371840" y="2103120"/>
            <a:ext cx="7071360" cy="603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1"/>
          <p:cNvSpPr txBox="1">
            <a:spLocks noGrp="1"/>
          </p:cNvSpPr>
          <p:nvPr>
            <p:ph type="ftr" idx="11"/>
          </p:nvPr>
        </p:nvSpPr>
        <p:spPr>
          <a:xfrm>
            <a:off x="5527040" y="8503920"/>
            <a:ext cx="5201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1"/>
          <p:cNvSpPr txBox="1">
            <a:spLocks noGrp="1"/>
          </p:cNvSpPr>
          <p:nvPr>
            <p:ph type="dt" idx="10"/>
          </p:nvPr>
        </p:nvSpPr>
        <p:spPr>
          <a:xfrm>
            <a:off x="812800" y="8503920"/>
            <a:ext cx="3738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1"/>
          <p:cNvSpPr txBox="1">
            <a:spLocks noGrp="1"/>
          </p:cNvSpPr>
          <p:nvPr>
            <p:ph type="sldNum" idx="12"/>
          </p:nvPr>
        </p:nvSpPr>
        <p:spPr>
          <a:xfrm>
            <a:off x="11704320" y="8503920"/>
            <a:ext cx="3738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2"/>
          <p:cNvSpPr txBox="1">
            <a:spLocks noGrp="1"/>
          </p:cNvSpPr>
          <p:nvPr>
            <p:ph type="ctrTitle"/>
          </p:nvPr>
        </p:nvSpPr>
        <p:spPr>
          <a:xfrm>
            <a:off x="1219200" y="2834640"/>
            <a:ext cx="1381760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2"/>
          <p:cNvSpPr txBox="1">
            <a:spLocks noGrp="1"/>
          </p:cNvSpPr>
          <p:nvPr>
            <p:ph type="subTitle" idx="1"/>
          </p:nvPr>
        </p:nvSpPr>
        <p:spPr>
          <a:xfrm>
            <a:off x="2438400" y="5120640"/>
            <a:ext cx="113792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2"/>
          <p:cNvSpPr txBox="1">
            <a:spLocks noGrp="1"/>
          </p:cNvSpPr>
          <p:nvPr>
            <p:ph type="ftr" idx="11"/>
          </p:nvPr>
        </p:nvSpPr>
        <p:spPr>
          <a:xfrm>
            <a:off x="5527040" y="8503920"/>
            <a:ext cx="5201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2"/>
          <p:cNvSpPr txBox="1">
            <a:spLocks noGrp="1"/>
          </p:cNvSpPr>
          <p:nvPr>
            <p:ph type="dt" idx="10"/>
          </p:nvPr>
        </p:nvSpPr>
        <p:spPr>
          <a:xfrm>
            <a:off x="812800" y="8503920"/>
            <a:ext cx="3738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2"/>
          <p:cNvSpPr txBox="1">
            <a:spLocks noGrp="1"/>
          </p:cNvSpPr>
          <p:nvPr>
            <p:ph type="sldNum" idx="12"/>
          </p:nvPr>
        </p:nvSpPr>
        <p:spPr>
          <a:xfrm>
            <a:off x="11704320" y="8503920"/>
            <a:ext cx="3738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g36afc0634d7_0_1567"/>
          <p:cNvCxnSpPr/>
          <p:nvPr/>
        </p:nvCxnSpPr>
        <p:spPr>
          <a:xfrm>
            <a:off x="1460581" y="1084500"/>
            <a:ext cx="13716000" cy="0"/>
          </a:xfrm>
          <a:prstGeom prst="straightConnector1">
            <a:avLst/>
          </a:prstGeom>
          <a:noFill/>
          <a:ln w="9525" cap="flat" cmpd="sng">
            <a:solidFill>
              <a:srgbClr val="36365C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45" name="Google Shape;45;g36afc0634d7_0_1567"/>
          <p:cNvGrpSpPr/>
          <p:nvPr/>
        </p:nvGrpSpPr>
        <p:grpSpPr>
          <a:xfrm>
            <a:off x="15545161" y="8422492"/>
            <a:ext cx="570245" cy="574683"/>
            <a:chOff x="11751285" y="6413402"/>
            <a:chExt cx="335853" cy="338467"/>
          </a:xfrm>
        </p:grpSpPr>
        <p:sp>
          <p:nvSpPr>
            <p:cNvPr id="46" name="Google Shape;46;g36afc0634d7_0_1567"/>
            <p:cNvSpPr/>
            <p:nvPr/>
          </p:nvSpPr>
          <p:spPr>
            <a:xfrm>
              <a:off x="11751285" y="6413402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47" name="Google Shape;47;g36afc0634d7_0_1567"/>
            <p:cNvSpPr/>
            <p:nvPr/>
          </p:nvSpPr>
          <p:spPr>
            <a:xfrm>
              <a:off x="11797078" y="6413402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48" name="Google Shape;48;g36afc0634d7_0_1567"/>
            <p:cNvSpPr/>
            <p:nvPr/>
          </p:nvSpPr>
          <p:spPr>
            <a:xfrm>
              <a:off x="11842872" y="6413402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49" name="Google Shape;49;g36afc0634d7_0_1567"/>
            <p:cNvSpPr/>
            <p:nvPr/>
          </p:nvSpPr>
          <p:spPr>
            <a:xfrm>
              <a:off x="11888665" y="6413402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0" name="Google Shape;50;g36afc0634d7_0_1567"/>
            <p:cNvSpPr/>
            <p:nvPr/>
          </p:nvSpPr>
          <p:spPr>
            <a:xfrm>
              <a:off x="11934458" y="6413402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1" name="Google Shape;51;g36afc0634d7_0_1567"/>
            <p:cNvSpPr/>
            <p:nvPr/>
          </p:nvSpPr>
          <p:spPr>
            <a:xfrm>
              <a:off x="11980252" y="6413402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2" name="Google Shape;52;g36afc0634d7_0_1567"/>
            <p:cNvSpPr/>
            <p:nvPr/>
          </p:nvSpPr>
          <p:spPr>
            <a:xfrm>
              <a:off x="12026045" y="6413402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3" name="Google Shape;53;g36afc0634d7_0_1567"/>
            <p:cNvSpPr/>
            <p:nvPr/>
          </p:nvSpPr>
          <p:spPr>
            <a:xfrm>
              <a:off x="12071838" y="6413402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4" name="Google Shape;54;g36afc0634d7_0_1567"/>
            <p:cNvSpPr/>
            <p:nvPr/>
          </p:nvSpPr>
          <p:spPr>
            <a:xfrm>
              <a:off x="11751285" y="6459569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5" name="Google Shape;55;g36afc0634d7_0_1567"/>
            <p:cNvSpPr/>
            <p:nvPr/>
          </p:nvSpPr>
          <p:spPr>
            <a:xfrm>
              <a:off x="11797078" y="6459569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6" name="Google Shape;56;g36afc0634d7_0_1567"/>
            <p:cNvSpPr/>
            <p:nvPr/>
          </p:nvSpPr>
          <p:spPr>
            <a:xfrm>
              <a:off x="11842872" y="6459569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7" name="Google Shape;57;g36afc0634d7_0_1567"/>
            <p:cNvSpPr/>
            <p:nvPr/>
          </p:nvSpPr>
          <p:spPr>
            <a:xfrm>
              <a:off x="11888665" y="6459569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8" name="Google Shape;58;g36afc0634d7_0_1567"/>
            <p:cNvSpPr/>
            <p:nvPr/>
          </p:nvSpPr>
          <p:spPr>
            <a:xfrm>
              <a:off x="11934458" y="6459569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9" name="Google Shape;59;g36afc0634d7_0_1567"/>
            <p:cNvSpPr/>
            <p:nvPr/>
          </p:nvSpPr>
          <p:spPr>
            <a:xfrm>
              <a:off x="11980252" y="6459569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0" name="Google Shape;60;g36afc0634d7_0_1567"/>
            <p:cNvSpPr/>
            <p:nvPr/>
          </p:nvSpPr>
          <p:spPr>
            <a:xfrm>
              <a:off x="12026045" y="6459569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1" name="Google Shape;61;g36afc0634d7_0_1567"/>
            <p:cNvSpPr/>
            <p:nvPr/>
          </p:nvSpPr>
          <p:spPr>
            <a:xfrm>
              <a:off x="12071838" y="6459569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2" name="Google Shape;62;g36afc0634d7_0_1567"/>
            <p:cNvSpPr/>
            <p:nvPr/>
          </p:nvSpPr>
          <p:spPr>
            <a:xfrm>
              <a:off x="11751285" y="6505736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3" name="Google Shape;63;g36afc0634d7_0_1567"/>
            <p:cNvSpPr/>
            <p:nvPr/>
          </p:nvSpPr>
          <p:spPr>
            <a:xfrm>
              <a:off x="11797078" y="6505736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4" name="Google Shape;64;g36afc0634d7_0_1567"/>
            <p:cNvSpPr/>
            <p:nvPr/>
          </p:nvSpPr>
          <p:spPr>
            <a:xfrm>
              <a:off x="12026045" y="6505736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5" name="Google Shape;65;g36afc0634d7_0_1567"/>
            <p:cNvSpPr/>
            <p:nvPr/>
          </p:nvSpPr>
          <p:spPr>
            <a:xfrm>
              <a:off x="12071838" y="6505736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6" name="Google Shape;66;g36afc0634d7_0_1567"/>
            <p:cNvSpPr/>
            <p:nvPr/>
          </p:nvSpPr>
          <p:spPr>
            <a:xfrm>
              <a:off x="11751285" y="6551902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7" name="Google Shape;67;g36afc0634d7_0_1567"/>
            <p:cNvSpPr/>
            <p:nvPr/>
          </p:nvSpPr>
          <p:spPr>
            <a:xfrm>
              <a:off x="11797078" y="6551902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8" name="Google Shape;68;g36afc0634d7_0_1567"/>
            <p:cNvSpPr/>
            <p:nvPr/>
          </p:nvSpPr>
          <p:spPr>
            <a:xfrm>
              <a:off x="12026045" y="6551902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9" name="Google Shape;69;g36afc0634d7_0_1567"/>
            <p:cNvSpPr/>
            <p:nvPr/>
          </p:nvSpPr>
          <p:spPr>
            <a:xfrm>
              <a:off x="12071838" y="6551902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0" name="Google Shape;70;g36afc0634d7_0_1567"/>
            <p:cNvSpPr/>
            <p:nvPr/>
          </p:nvSpPr>
          <p:spPr>
            <a:xfrm>
              <a:off x="11751285" y="6598069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1" name="Google Shape;71;g36afc0634d7_0_1567"/>
            <p:cNvSpPr/>
            <p:nvPr/>
          </p:nvSpPr>
          <p:spPr>
            <a:xfrm>
              <a:off x="11797078" y="6598069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2" name="Google Shape;72;g36afc0634d7_0_1567"/>
            <p:cNvSpPr/>
            <p:nvPr/>
          </p:nvSpPr>
          <p:spPr>
            <a:xfrm>
              <a:off x="12026045" y="6598069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3" name="Google Shape;73;g36afc0634d7_0_1567"/>
            <p:cNvSpPr/>
            <p:nvPr/>
          </p:nvSpPr>
          <p:spPr>
            <a:xfrm>
              <a:off x="12071838" y="6598069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4" name="Google Shape;74;g36afc0634d7_0_1567"/>
            <p:cNvSpPr/>
            <p:nvPr/>
          </p:nvSpPr>
          <p:spPr>
            <a:xfrm>
              <a:off x="11751285" y="6644236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5" name="Google Shape;75;g36afc0634d7_0_1567"/>
            <p:cNvSpPr/>
            <p:nvPr/>
          </p:nvSpPr>
          <p:spPr>
            <a:xfrm>
              <a:off x="11797078" y="6644236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6" name="Google Shape;76;g36afc0634d7_0_1567"/>
            <p:cNvSpPr/>
            <p:nvPr/>
          </p:nvSpPr>
          <p:spPr>
            <a:xfrm>
              <a:off x="12026045" y="6644236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7" name="Google Shape;77;g36afc0634d7_0_1567"/>
            <p:cNvSpPr/>
            <p:nvPr/>
          </p:nvSpPr>
          <p:spPr>
            <a:xfrm>
              <a:off x="12071838" y="6644236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8" name="Google Shape;78;g36afc0634d7_0_1567"/>
            <p:cNvSpPr/>
            <p:nvPr/>
          </p:nvSpPr>
          <p:spPr>
            <a:xfrm>
              <a:off x="11751285" y="6690403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9" name="Google Shape;79;g36afc0634d7_0_1567"/>
            <p:cNvSpPr/>
            <p:nvPr/>
          </p:nvSpPr>
          <p:spPr>
            <a:xfrm>
              <a:off x="11797078" y="6690403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0" name="Google Shape;80;g36afc0634d7_0_1567"/>
            <p:cNvSpPr/>
            <p:nvPr/>
          </p:nvSpPr>
          <p:spPr>
            <a:xfrm>
              <a:off x="11842872" y="6690403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1" name="Google Shape;81;g36afc0634d7_0_1567"/>
            <p:cNvSpPr/>
            <p:nvPr/>
          </p:nvSpPr>
          <p:spPr>
            <a:xfrm>
              <a:off x="11888665" y="6690403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2" name="Google Shape;82;g36afc0634d7_0_1567"/>
            <p:cNvSpPr/>
            <p:nvPr/>
          </p:nvSpPr>
          <p:spPr>
            <a:xfrm>
              <a:off x="11934458" y="6690403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3" name="Google Shape;83;g36afc0634d7_0_1567"/>
            <p:cNvSpPr/>
            <p:nvPr/>
          </p:nvSpPr>
          <p:spPr>
            <a:xfrm>
              <a:off x="11980252" y="6690403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4" name="Google Shape;84;g36afc0634d7_0_1567"/>
            <p:cNvSpPr/>
            <p:nvPr/>
          </p:nvSpPr>
          <p:spPr>
            <a:xfrm>
              <a:off x="12026045" y="6690403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5" name="Google Shape;85;g36afc0634d7_0_1567"/>
            <p:cNvSpPr/>
            <p:nvPr/>
          </p:nvSpPr>
          <p:spPr>
            <a:xfrm>
              <a:off x="12071838" y="6690403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6" name="Google Shape;86;g36afc0634d7_0_1567"/>
            <p:cNvSpPr/>
            <p:nvPr/>
          </p:nvSpPr>
          <p:spPr>
            <a:xfrm>
              <a:off x="11751285" y="6736569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7" name="Google Shape;87;g36afc0634d7_0_1567"/>
            <p:cNvSpPr/>
            <p:nvPr/>
          </p:nvSpPr>
          <p:spPr>
            <a:xfrm>
              <a:off x="11797078" y="6736569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8" name="Google Shape;88;g36afc0634d7_0_1567"/>
            <p:cNvSpPr/>
            <p:nvPr/>
          </p:nvSpPr>
          <p:spPr>
            <a:xfrm>
              <a:off x="11842872" y="6736569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9" name="Google Shape;89;g36afc0634d7_0_1567"/>
            <p:cNvSpPr/>
            <p:nvPr/>
          </p:nvSpPr>
          <p:spPr>
            <a:xfrm>
              <a:off x="11888665" y="6736569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90" name="Google Shape;90;g36afc0634d7_0_1567"/>
            <p:cNvSpPr/>
            <p:nvPr/>
          </p:nvSpPr>
          <p:spPr>
            <a:xfrm>
              <a:off x="11934458" y="6736569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91" name="Google Shape;91;g36afc0634d7_0_1567"/>
            <p:cNvSpPr/>
            <p:nvPr/>
          </p:nvSpPr>
          <p:spPr>
            <a:xfrm>
              <a:off x="11980252" y="6736569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92" name="Google Shape;92;g36afc0634d7_0_1567"/>
            <p:cNvSpPr/>
            <p:nvPr/>
          </p:nvSpPr>
          <p:spPr>
            <a:xfrm>
              <a:off x="12026045" y="6736569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93" name="Google Shape;93;g36afc0634d7_0_1567"/>
            <p:cNvSpPr/>
            <p:nvPr/>
          </p:nvSpPr>
          <p:spPr>
            <a:xfrm>
              <a:off x="12071838" y="6736569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94" name="Google Shape;94;g36afc0634d7_0_1567"/>
          <p:cNvSpPr txBox="1">
            <a:spLocks noGrp="1"/>
          </p:cNvSpPr>
          <p:nvPr>
            <p:ph type="body" idx="1"/>
          </p:nvPr>
        </p:nvSpPr>
        <p:spPr>
          <a:xfrm>
            <a:off x="1265892" y="367320"/>
            <a:ext cx="13950000" cy="7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F27228"/>
              </a:buClr>
              <a:buSzPts val="4300"/>
              <a:buFont typeface="Arial"/>
              <a:buNone/>
              <a:defRPr sz="4300" b="1" i="0" u="none" strike="noStrike" cap="none">
                <a:solidFill>
                  <a:srgbClr val="36365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431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4000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95" name="Google Shape;95;g36afc0634d7_0_1567"/>
          <p:cNvSpPr txBox="1">
            <a:spLocks noGrp="1"/>
          </p:cNvSpPr>
          <p:nvPr>
            <p:ph type="sldNum" idx="12"/>
          </p:nvPr>
        </p:nvSpPr>
        <p:spPr>
          <a:xfrm>
            <a:off x="15571548" y="8541293"/>
            <a:ext cx="519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600" b="0" i="0" u="none" strike="noStrike" cap="none">
                <a:solidFill>
                  <a:srgbClr val="BFBFB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600" b="0" i="0" u="none" strike="noStrike" cap="none">
                <a:solidFill>
                  <a:srgbClr val="BFBFB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600" b="0" i="0" u="none" strike="noStrike" cap="none">
                <a:solidFill>
                  <a:srgbClr val="BFBFB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600" b="0" i="0" u="none" strike="noStrike" cap="none">
                <a:solidFill>
                  <a:srgbClr val="BFBFB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600" b="0" i="0" u="none" strike="noStrike" cap="none">
                <a:solidFill>
                  <a:srgbClr val="BFBFB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600" b="0" i="0" u="none" strike="noStrike" cap="none">
                <a:solidFill>
                  <a:srgbClr val="BFBFB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600" b="0" i="0" u="none" strike="noStrike" cap="none">
                <a:solidFill>
                  <a:srgbClr val="BFBFB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600" b="0" i="0" u="none" strike="noStrike" cap="none">
                <a:solidFill>
                  <a:srgbClr val="BFBFB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600" b="0" i="0" u="none" strike="noStrike" cap="none">
                <a:solidFill>
                  <a:srgbClr val="BFBFB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g36afc0634d7_0_1567"/>
          <p:cNvSpPr txBox="1">
            <a:spLocks noGrp="1"/>
          </p:cNvSpPr>
          <p:nvPr>
            <p:ph type="body" idx="2"/>
          </p:nvPr>
        </p:nvSpPr>
        <p:spPr>
          <a:xfrm>
            <a:off x="1265767" y="1420284"/>
            <a:ext cx="13950900" cy="6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>
            <a:lvl1pPr marL="457200" marR="0" lvl="0" indent="-36195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F27228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36365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27228"/>
              </a:buClr>
              <a:buSzPts val="1900"/>
              <a:buFont typeface="Arial"/>
              <a:buChar char="•"/>
              <a:defRPr sz="1900" b="0" i="0" u="none" strike="noStrike" cap="none">
                <a:solidFill>
                  <a:srgbClr val="36365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27228"/>
              </a:buClr>
              <a:buSzPts val="1900"/>
              <a:buFont typeface="Arial"/>
              <a:buChar char="•"/>
              <a:defRPr sz="1900" b="0" i="0" u="none" strike="noStrike" cap="none">
                <a:solidFill>
                  <a:srgbClr val="36365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27228"/>
              </a:buClr>
              <a:buSzPts val="1900"/>
              <a:buFont typeface="Arial"/>
              <a:buChar char="•"/>
              <a:defRPr sz="1900" b="0" i="0" u="none" strike="noStrike" cap="none">
                <a:solidFill>
                  <a:srgbClr val="36365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27228"/>
              </a:buClr>
              <a:buSzPts val="1900"/>
              <a:buFont typeface="Arial"/>
              <a:buChar char="•"/>
              <a:defRPr sz="1900" b="0" i="0" u="none" strike="noStrike" cap="none">
                <a:solidFill>
                  <a:srgbClr val="36365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>
  <p:cSld name="Section Titl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6afc0634d7_0_1621"/>
          <p:cNvSpPr txBox="1"/>
          <p:nvPr/>
        </p:nvSpPr>
        <p:spPr>
          <a:xfrm>
            <a:off x="0" y="6974012"/>
            <a:ext cx="12624000" cy="323100"/>
          </a:xfrm>
          <a:prstGeom prst="rect">
            <a:avLst/>
          </a:prstGeom>
          <a:gradFill>
            <a:gsLst>
              <a:gs pos="0">
                <a:srgbClr val="4F127F">
                  <a:alpha val="89019"/>
                </a:srgbClr>
              </a:gs>
              <a:gs pos="52999">
                <a:srgbClr val="160976"/>
              </a:gs>
              <a:gs pos="84000">
                <a:srgbClr val="010673"/>
              </a:gs>
              <a:gs pos="100000">
                <a:srgbClr val="010673"/>
              </a:gs>
            </a:gsLst>
            <a:lin ang="8400134" scaled="0"/>
          </a:gradFill>
          <a:ln>
            <a:noFill/>
          </a:ln>
        </p:spPr>
        <p:txBody>
          <a:bodyPr spcFirstLastPara="1" wrap="square" lIns="121900" tIns="0" rIns="1219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6afc0634d7_0_1621"/>
          <p:cNvSpPr txBox="1"/>
          <p:nvPr/>
        </p:nvSpPr>
        <p:spPr>
          <a:xfrm>
            <a:off x="1219200" y="5109992"/>
            <a:ext cx="914400" cy="1887900"/>
          </a:xfrm>
          <a:prstGeom prst="rect">
            <a:avLst/>
          </a:prstGeom>
          <a:gradFill>
            <a:gsLst>
              <a:gs pos="0">
                <a:srgbClr val="4F127F">
                  <a:alpha val="89019"/>
                </a:srgbClr>
              </a:gs>
              <a:gs pos="52999">
                <a:srgbClr val="160976"/>
              </a:gs>
              <a:gs pos="84000">
                <a:srgbClr val="010673"/>
              </a:gs>
              <a:gs pos="100000">
                <a:srgbClr val="010673"/>
              </a:gs>
            </a:gsLst>
            <a:lin ang="8400134" scaled="0"/>
          </a:gradFill>
          <a:ln>
            <a:noFill/>
          </a:ln>
        </p:spPr>
        <p:txBody>
          <a:bodyPr spcFirstLastPara="1" wrap="square" lIns="121900" tIns="0" rIns="1219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6afc0634d7_0_1621"/>
          <p:cNvSpPr txBox="1">
            <a:spLocks noGrp="1"/>
          </p:cNvSpPr>
          <p:nvPr>
            <p:ph type="body" idx="1"/>
          </p:nvPr>
        </p:nvSpPr>
        <p:spPr>
          <a:xfrm>
            <a:off x="589753" y="5571699"/>
            <a:ext cx="21564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F27228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431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4000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01" name="Google Shape;101;g36afc0634d7_0_1621"/>
          <p:cNvSpPr txBox="1">
            <a:spLocks noGrp="1"/>
          </p:cNvSpPr>
          <p:nvPr>
            <p:ph type="body" idx="2"/>
          </p:nvPr>
        </p:nvSpPr>
        <p:spPr>
          <a:xfrm>
            <a:off x="2477241" y="4060041"/>
            <a:ext cx="10299900" cy="10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F27228"/>
              </a:buClr>
              <a:buSzPts val="6400"/>
              <a:buFont typeface="Arial"/>
              <a:buNone/>
              <a:defRPr sz="6400" b="1" i="0" u="none" strike="noStrike" cap="none">
                <a:solidFill>
                  <a:srgbClr val="36365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431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4000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02" name="Google Shape;102;g36afc0634d7_0_1621"/>
          <p:cNvSpPr txBox="1">
            <a:spLocks noGrp="1"/>
          </p:cNvSpPr>
          <p:nvPr>
            <p:ph type="body" idx="3"/>
          </p:nvPr>
        </p:nvSpPr>
        <p:spPr>
          <a:xfrm>
            <a:off x="2495715" y="5106495"/>
            <a:ext cx="102999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F27228"/>
              </a:buClr>
              <a:buSzPts val="5300"/>
              <a:buFont typeface="Arial"/>
              <a:buNone/>
              <a:defRPr sz="5300" b="0" i="0" u="none" strike="noStrike" cap="none">
                <a:solidFill>
                  <a:srgbClr val="36365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431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4000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Slide">
  <p:cSld name="Thank you Slide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6afc0634d7_0_1627"/>
          <p:cNvSpPr txBox="1">
            <a:spLocks noGrp="1"/>
          </p:cNvSpPr>
          <p:nvPr>
            <p:ph type="body" idx="1"/>
          </p:nvPr>
        </p:nvSpPr>
        <p:spPr>
          <a:xfrm>
            <a:off x="775093" y="5209736"/>
            <a:ext cx="10299900" cy="11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F27228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16097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431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4000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">
  <p:cSld name="1_Conten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Google Shape;106;g36afc0634d7_0_1629"/>
          <p:cNvCxnSpPr/>
          <p:nvPr/>
        </p:nvCxnSpPr>
        <p:spPr>
          <a:xfrm>
            <a:off x="1460581" y="1084500"/>
            <a:ext cx="13716000" cy="0"/>
          </a:xfrm>
          <a:prstGeom prst="straightConnector1">
            <a:avLst/>
          </a:prstGeom>
          <a:noFill/>
          <a:ln w="9525" cap="flat" cmpd="sng">
            <a:solidFill>
              <a:srgbClr val="36365C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07" name="Google Shape;107;g36afc0634d7_0_1629"/>
          <p:cNvGrpSpPr/>
          <p:nvPr/>
        </p:nvGrpSpPr>
        <p:grpSpPr>
          <a:xfrm>
            <a:off x="15545161" y="8422492"/>
            <a:ext cx="570245" cy="574683"/>
            <a:chOff x="11751285" y="6413402"/>
            <a:chExt cx="335853" cy="338467"/>
          </a:xfrm>
        </p:grpSpPr>
        <p:sp>
          <p:nvSpPr>
            <p:cNvPr id="108" name="Google Shape;108;g36afc0634d7_0_1629"/>
            <p:cNvSpPr/>
            <p:nvPr/>
          </p:nvSpPr>
          <p:spPr>
            <a:xfrm>
              <a:off x="11751285" y="6413402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09" name="Google Shape;109;g36afc0634d7_0_1629"/>
            <p:cNvSpPr/>
            <p:nvPr/>
          </p:nvSpPr>
          <p:spPr>
            <a:xfrm>
              <a:off x="11797078" y="6413402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10" name="Google Shape;110;g36afc0634d7_0_1629"/>
            <p:cNvSpPr/>
            <p:nvPr/>
          </p:nvSpPr>
          <p:spPr>
            <a:xfrm>
              <a:off x="11842872" y="6413402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11" name="Google Shape;111;g36afc0634d7_0_1629"/>
            <p:cNvSpPr/>
            <p:nvPr/>
          </p:nvSpPr>
          <p:spPr>
            <a:xfrm>
              <a:off x="11888665" y="6413402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12" name="Google Shape;112;g36afc0634d7_0_1629"/>
            <p:cNvSpPr/>
            <p:nvPr/>
          </p:nvSpPr>
          <p:spPr>
            <a:xfrm>
              <a:off x="11934458" y="6413402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13" name="Google Shape;113;g36afc0634d7_0_1629"/>
            <p:cNvSpPr/>
            <p:nvPr/>
          </p:nvSpPr>
          <p:spPr>
            <a:xfrm>
              <a:off x="11980252" y="6413402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14" name="Google Shape;114;g36afc0634d7_0_1629"/>
            <p:cNvSpPr/>
            <p:nvPr/>
          </p:nvSpPr>
          <p:spPr>
            <a:xfrm>
              <a:off x="12026045" y="6413402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15" name="Google Shape;115;g36afc0634d7_0_1629"/>
            <p:cNvSpPr/>
            <p:nvPr/>
          </p:nvSpPr>
          <p:spPr>
            <a:xfrm>
              <a:off x="12071838" y="6413402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16" name="Google Shape;116;g36afc0634d7_0_1629"/>
            <p:cNvSpPr/>
            <p:nvPr/>
          </p:nvSpPr>
          <p:spPr>
            <a:xfrm>
              <a:off x="11751285" y="6459569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17" name="Google Shape;117;g36afc0634d7_0_1629"/>
            <p:cNvSpPr/>
            <p:nvPr/>
          </p:nvSpPr>
          <p:spPr>
            <a:xfrm>
              <a:off x="11797078" y="6459569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18" name="Google Shape;118;g36afc0634d7_0_1629"/>
            <p:cNvSpPr/>
            <p:nvPr/>
          </p:nvSpPr>
          <p:spPr>
            <a:xfrm>
              <a:off x="11842872" y="6459569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19" name="Google Shape;119;g36afc0634d7_0_1629"/>
            <p:cNvSpPr/>
            <p:nvPr/>
          </p:nvSpPr>
          <p:spPr>
            <a:xfrm>
              <a:off x="11888665" y="6459569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0" name="Google Shape;120;g36afc0634d7_0_1629"/>
            <p:cNvSpPr/>
            <p:nvPr/>
          </p:nvSpPr>
          <p:spPr>
            <a:xfrm>
              <a:off x="11934458" y="6459569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1" name="Google Shape;121;g36afc0634d7_0_1629"/>
            <p:cNvSpPr/>
            <p:nvPr/>
          </p:nvSpPr>
          <p:spPr>
            <a:xfrm>
              <a:off x="11980252" y="6459569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2" name="Google Shape;122;g36afc0634d7_0_1629"/>
            <p:cNvSpPr/>
            <p:nvPr/>
          </p:nvSpPr>
          <p:spPr>
            <a:xfrm>
              <a:off x="12026045" y="6459569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3" name="Google Shape;123;g36afc0634d7_0_1629"/>
            <p:cNvSpPr/>
            <p:nvPr/>
          </p:nvSpPr>
          <p:spPr>
            <a:xfrm>
              <a:off x="12071838" y="6459569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4" name="Google Shape;124;g36afc0634d7_0_1629"/>
            <p:cNvSpPr/>
            <p:nvPr/>
          </p:nvSpPr>
          <p:spPr>
            <a:xfrm>
              <a:off x="11751285" y="6505736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5" name="Google Shape;125;g36afc0634d7_0_1629"/>
            <p:cNvSpPr/>
            <p:nvPr/>
          </p:nvSpPr>
          <p:spPr>
            <a:xfrm>
              <a:off x="11797078" y="6505736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6" name="Google Shape;126;g36afc0634d7_0_1629"/>
            <p:cNvSpPr/>
            <p:nvPr/>
          </p:nvSpPr>
          <p:spPr>
            <a:xfrm>
              <a:off x="12026045" y="6505736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7" name="Google Shape;127;g36afc0634d7_0_1629"/>
            <p:cNvSpPr/>
            <p:nvPr/>
          </p:nvSpPr>
          <p:spPr>
            <a:xfrm>
              <a:off x="12071838" y="6505736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8" name="Google Shape;128;g36afc0634d7_0_1629"/>
            <p:cNvSpPr/>
            <p:nvPr/>
          </p:nvSpPr>
          <p:spPr>
            <a:xfrm>
              <a:off x="11751285" y="6551902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9" name="Google Shape;129;g36afc0634d7_0_1629"/>
            <p:cNvSpPr/>
            <p:nvPr/>
          </p:nvSpPr>
          <p:spPr>
            <a:xfrm>
              <a:off x="11797078" y="6551902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0" name="Google Shape;130;g36afc0634d7_0_1629"/>
            <p:cNvSpPr/>
            <p:nvPr/>
          </p:nvSpPr>
          <p:spPr>
            <a:xfrm>
              <a:off x="12026045" y="6551902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1" name="Google Shape;131;g36afc0634d7_0_1629"/>
            <p:cNvSpPr/>
            <p:nvPr/>
          </p:nvSpPr>
          <p:spPr>
            <a:xfrm>
              <a:off x="12071838" y="6551902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2" name="Google Shape;132;g36afc0634d7_0_1629"/>
            <p:cNvSpPr/>
            <p:nvPr/>
          </p:nvSpPr>
          <p:spPr>
            <a:xfrm>
              <a:off x="11751285" y="6598069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3" name="Google Shape;133;g36afc0634d7_0_1629"/>
            <p:cNvSpPr/>
            <p:nvPr/>
          </p:nvSpPr>
          <p:spPr>
            <a:xfrm>
              <a:off x="11797078" y="6598069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4" name="Google Shape;134;g36afc0634d7_0_1629"/>
            <p:cNvSpPr/>
            <p:nvPr/>
          </p:nvSpPr>
          <p:spPr>
            <a:xfrm>
              <a:off x="12026045" y="6598069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5" name="Google Shape;135;g36afc0634d7_0_1629"/>
            <p:cNvSpPr/>
            <p:nvPr/>
          </p:nvSpPr>
          <p:spPr>
            <a:xfrm>
              <a:off x="12071838" y="6598069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6" name="Google Shape;136;g36afc0634d7_0_1629"/>
            <p:cNvSpPr/>
            <p:nvPr/>
          </p:nvSpPr>
          <p:spPr>
            <a:xfrm>
              <a:off x="11751285" y="6644236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7" name="Google Shape;137;g36afc0634d7_0_1629"/>
            <p:cNvSpPr/>
            <p:nvPr/>
          </p:nvSpPr>
          <p:spPr>
            <a:xfrm>
              <a:off x="11797078" y="6644236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8" name="Google Shape;138;g36afc0634d7_0_1629"/>
            <p:cNvSpPr/>
            <p:nvPr/>
          </p:nvSpPr>
          <p:spPr>
            <a:xfrm>
              <a:off x="12026045" y="6644236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9" name="Google Shape;139;g36afc0634d7_0_1629"/>
            <p:cNvSpPr/>
            <p:nvPr/>
          </p:nvSpPr>
          <p:spPr>
            <a:xfrm>
              <a:off x="12071838" y="6644236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0" name="Google Shape;140;g36afc0634d7_0_1629"/>
            <p:cNvSpPr/>
            <p:nvPr/>
          </p:nvSpPr>
          <p:spPr>
            <a:xfrm>
              <a:off x="11751285" y="6690403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1" name="Google Shape;141;g36afc0634d7_0_1629"/>
            <p:cNvSpPr/>
            <p:nvPr/>
          </p:nvSpPr>
          <p:spPr>
            <a:xfrm>
              <a:off x="11797078" y="6690403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2" name="Google Shape;142;g36afc0634d7_0_1629"/>
            <p:cNvSpPr/>
            <p:nvPr/>
          </p:nvSpPr>
          <p:spPr>
            <a:xfrm>
              <a:off x="11842872" y="6690403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3" name="Google Shape;143;g36afc0634d7_0_1629"/>
            <p:cNvSpPr/>
            <p:nvPr/>
          </p:nvSpPr>
          <p:spPr>
            <a:xfrm>
              <a:off x="11888665" y="6690403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4" name="Google Shape;144;g36afc0634d7_0_1629"/>
            <p:cNvSpPr/>
            <p:nvPr/>
          </p:nvSpPr>
          <p:spPr>
            <a:xfrm>
              <a:off x="11934458" y="6690403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5" name="Google Shape;145;g36afc0634d7_0_1629"/>
            <p:cNvSpPr/>
            <p:nvPr/>
          </p:nvSpPr>
          <p:spPr>
            <a:xfrm>
              <a:off x="11980252" y="6690403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6" name="Google Shape;146;g36afc0634d7_0_1629"/>
            <p:cNvSpPr/>
            <p:nvPr/>
          </p:nvSpPr>
          <p:spPr>
            <a:xfrm>
              <a:off x="12026045" y="6690403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7" name="Google Shape;147;g36afc0634d7_0_1629"/>
            <p:cNvSpPr/>
            <p:nvPr/>
          </p:nvSpPr>
          <p:spPr>
            <a:xfrm>
              <a:off x="12071838" y="6690403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8" name="Google Shape;148;g36afc0634d7_0_1629"/>
            <p:cNvSpPr/>
            <p:nvPr/>
          </p:nvSpPr>
          <p:spPr>
            <a:xfrm>
              <a:off x="11751285" y="6736569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9" name="Google Shape;149;g36afc0634d7_0_1629"/>
            <p:cNvSpPr/>
            <p:nvPr/>
          </p:nvSpPr>
          <p:spPr>
            <a:xfrm>
              <a:off x="11797078" y="6736569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0" name="Google Shape;150;g36afc0634d7_0_1629"/>
            <p:cNvSpPr/>
            <p:nvPr/>
          </p:nvSpPr>
          <p:spPr>
            <a:xfrm>
              <a:off x="11842872" y="6736569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1" name="Google Shape;151;g36afc0634d7_0_1629"/>
            <p:cNvSpPr/>
            <p:nvPr/>
          </p:nvSpPr>
          <p:spPr>
            <a:xfrm>
              <a:off x="11888665" y="6736569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2" name="Google Shape;152;g36afc0634d7_0_1629"/>
            <p:cNvSpPr/>
            <p:nvPr/>
          </p:nvSpPr>
          <p:spPr>
            <a:xfrm>
              <a:off x="11934458" y="6736569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3" name="Google Shape;153;g36afc0634d7_0_1629"/>
            <p:cNvSpPr/>
            <p:nvPr/>
          </p:nvSpPr>
          <p:spPr>
            <a:xfrm>
              <a:off x="11980252" y="6736569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4" name="Google Shape;154;g36afc0634d7_0_1629"/>
            <p:cNvSpPr/>
            <p:nvPr/>
          </p:nvSpPr>
          <p:spPr>
            <a:xfrm>
              <a:off x="12026045" y="6736569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5" name="Google Shape;155;g36afc0634d7_0_1629"/>
            <p:cNvSpPr/>
            <p:nvPr/>
          </p:nvSpPr>
          <p:spPr>
            <a:xfrm>
              <a:off x="12071838" y="6736569"/>
              <a:ext cx="15300" cy="153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Quattrocento Sans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156" name="Google Shape;156;g36afc0634d7_0_1629"/>
          <p:cNvSpPr txBox="1">
            <a:spLocks noGrp="1"/>
          </p:cNvSpPr>
          <p:nvPr>
            <p:ph type="body" idx="1"/>
          </p:nvPr>
        </p:nvSpPr>
        <p:spPr>
          <a:xfrm>
            <a:off x="1265892" y="367320"/>
            <a:ext cx="13950000" cy="7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F27228"/>
              </a:buClr>
              <a:buSzPts val="4300"/>
              <a:buFont typeface="Arial"/>
              <a:buNone/>
              <a:defRPr sz="4300" b="1" i="0" u="none" strike="noStrike" cap="none">
                <a:solidFill>
                  <a:srgbClr val="36365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431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4000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57" name="Google Shape;157;g36afc0634d7_0_1629"/>
          <p:cNvSpPr txBox="1">
            <a:spLocks noGrp="1"/>
          </p:cNvSpPr>
          <p:nvPr>
            <p:ph type="sldNum" idx="12"/>
          </p:nvPr>
        </p:nvSpPr>
        <p:spPr>
          <a:xfrm>
            <a:off x="15571548" y="8541293"/>
            <a:ext cx="519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Quattrocento Sans"/>
              <a:buNone/>
              <a:defRPr sz="1600" b="0" i="0" u="none" strike="noStrike" cap="none">
                <a:solidFill>
                  <a:srgbClr val="BFBFB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Quattrocento Sans"/>
              <a:buNone/>
              <a:defRPr sz="1600" b="0" i="0" u="none" strike="noStrike" cap="none">
                <a:solidFill>
                  <a:srgbClr val="BFBFB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Quattrocento Sans"/>
              <a:buNone/>
              <a:defRPr sz="1600" b="0" i="0" u="none" strike="noStrike" cap="none">
                <a:solidFill>
                  <a:srgbClr val="BFBFB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Quattrocento Sans"/>
              <a:buNone/>
              <a:defRPr sz="1600" b="0" i="0" u="none" strike="noStrike" cap="none">
                <a:solidFill>
                  <a:srgbClr val="BFBFB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Quattrocento Sans"/>
              <a:buNone/>
              <a:defRPr sz="1600" b="0" i="0" u="none" strike="noStrike" cap="none">
                <a:solidFill>
                  <a:srgbClr val="BFBFB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Quattrocento Sans"/>
              <a:buNone/>
              <a:defRPr sz="1600" b="0" i="0" u="none" strike="noStrike" cap="none">
                <a:solidFill>
                  <a:srgbClr val="BFBFB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Quattrocento Sans"/>
              <a:buNone/>
              <a:defRPr sz="1600" b="0" i="0" u="none" strike="noStrike" cap="none">
                <a:solidFill>
                  <a:srgbClr val="BFBFB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Quattrocento Sans"/>
              <a:buNone/>
              <a:defRPr sz="1600" b="0" i="0" u="none" strike="noStrike" cap="none">
                <a:solidFill>
                  <a:srgbClr val="BFBFB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Quattrocento Sans"/>
              <a:buNone/>
              <a:defRPr sz="1600" b="0" i="0" u="none" strike="noStrike" cap="none">
                <a:solidFill>
                  <a:srgbClr val="BFBFB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" name="Google Shape;158;g36afc0634d7_0_1629"/>
          <p:cNvSpPr txBox="1">
            <a:spLocks noGrp="1"/>
          </p:cNvSpPr>
          <p:nvPr>
            <p:ph type="body" idx="2"/>
          </p:nvPr>
        </p:nvSpPr>
        <p:spPr>
          <a:xfrm>
            <a:off x="1265767" y="1420284"/>
            <a:ext cx="13950900" cy="6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>
            <a:lvl1pPr marL="457200" marR="0" lvl="0" indent="-36195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F27228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36365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27228"/>
              </a:buClr>
              <a:buSzPts val="1900"/>
              <a:buFont typeface="Arial"/>
              <a:buChar char="•"/>
              <a:defRPr sz="1900" b="0" i="0" u="none" strike="noStrike" cap="none">
                <a:solidFill>
                  <a:srgbClr val="36365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27228"/>
              </a:buClr>
              <a:buSzPts val="1900"/>
              <a:buFont typeface="Arial"/>
              <a:buChar char="•"/>
              <a:defRPr sz="1900" b="0" i="0" u="none" strike="noStrike" cap="none">
                <a:solidFill>
                  <a:srgbClr val="36365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27228"/>
              </a:buClr>
              <a:buSzPts val="1900"/>
              <a:buFont typeface="Arial"/>
              <a:buChar char="•"/>
              <a:defRPr sz="1900" b="0" i="0" u="none" strike="noStrike" cap="none">
                <a:solidFill>
                  <a:srgbClr val="36365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27228"/>
              </a:buClr>
              <a:buSzPts val="1900"/>
              <a:buFont typeface="Arial"/>
              <a:buChar char="•"/>
              <a:defRPr sz="1900" b="0" i="0" u="none" strike="noStrike" cap="none">
                <a:solidFill>
                  <a:srgbClr val="36365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mon">
  <p:cSld name="Common"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afc0634d7_0_1683"/>
          <p:cNvSpPr txBox="1"/>
          <p:nvPr/>
        </p:nvSpPr>
        <p:spPr>
          <a:xfrm>
            <a:off x="1639667" y="8305984"/>
            <a:ext cx="4876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Copyright © 2024 VTI All rights reserved</a:t>
            </a:r>
            <a:endParaRPr sz="1600" b="0" i="0" u="none" strike="noStrike" cap="non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6afc0634d7_0_1683"/>
          <p:cNvSpPr txBox="1">
            <a:spLocks noGrp="1"/>
          </p:cNvSpPr>
          <p:nvPr>
            <p:ph type="sldNum" idx="12"/>
          </p:nvPr>
        </p:nvSpPr>
        <p:spPr>
          <a:xfrm>
            <a:off x="731533" y="8308800"/>
            <a:ext cx="1219200" cy="4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sz="27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sz="27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sz="27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sz="27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sz="27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sz="27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sz="27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sz="27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sz="27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2" name="Google Shape;162;g36afc0634d7_0_168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8369300"/>
            <a:ext cx="731520" cy="3657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3" name="Google Shape;163;g36afc0634d7_0_1683"/>
          <p:cNvCxnSpPr/>
          <p:nvPr/>
        </p:nvCxnSpPr>
        <p:spPr>
          <a:xfrm>
            <a:off x="1639667" y="8366600"/>
            <a:ext cx="0" cy="37110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>
            <a:spLocks noGrp="1"/>
          </p:cNvSpPr>
          <p:nvPr>
            <p:ph type="title"/>
          </p:nvPr>
        </p:nvSpPr>
        <p:spPr>
          <a:xfrm>
            <a:off x="1221972" y="465980"/>
            <a:ext cx="13149630" cy="1011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1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7"/>
          <p:cNvSpPr txBox="1">
            <a:spLocks noGrp="1"/>
          </p:cNvSpPr>
          <p:nvPr>
            <p:ph type="body" idx="1"/>
          </p:nvPr>
        </p:nvSpPr>
        <p:spPr>
          <a:xfrm>
            <a:off x="928303" y="2025600"/>
            <a:ext cx="7339965" cy="3884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7"/>
          <p:cNvSpPr txBox="1">
            <a:spLocks noGrp="1"/>
          </p:cNvSpPr>
          <p:nvPr>
            <p:ph type="ftr" idx="11"/>
          </p:nvPr>
        </p:nvSpPr>
        <p:spPr>
          <a:xfrm>
            <a:off x="5527040" y="8503920"/>
            <a:ext cx="5201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37"/>
          <p:cNvSpPr txBox="1">
            <a:spLocks noGrp="1"/>
          </p:cNvSpPr>
          <p:nvPr>
            <p:ph type="dt" idx="10"/>
          </p:nvPr>
        </p:nvSpPr>
        <p:spPr>
          <a:xfrm>
            <a:off x="812800" y="8503920"/>
            <a:ext cx="3738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37"/>
          <p:cNvSpPr txBox="1">
            <a:spLocks noGrp="1"/>
          </p:cNvSpPr>
          <p:nvPr>
            <p:ph type="sldNum" idx="12"/>
          </p:nvPr>
        </p:nvSpPr>
        <p:spPr>
          <a:xfrm>
            <a:off x="11704320" y="8503920"/>
            <a:ext cx="3738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18B73-E42F-7A69-3653-8E55FF295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972" y="465980"/>
            <a:ext cx="13149630" cy="553998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VTI ELK CAPABILITY &amp; USE CASE PORTFOLIO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41F79-8FD0-E466-5CED-12BD2AF4A950}"/>
              </a:ext>
            </a:extLst>
          </p:cNvPr>
          <p:cNvSpPr txBox="1"/>
          <p:nvPr/>
        </p:nvSpPr>
        <p:spPr>
          <a:xfrm>
            <a:off x="1221972" y="1272421"/>
            <a:ext cx="812596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Executive Summary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VTI provides </a:t>
            </a:r>
            <a:r>
              <a:rPr lang="en-US" b="1" dirty="0"/>
              <a:t>enterprise-grade ELK-based observability platforms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Proven experience across: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Hybrid cloud (On-prem + AWS)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Large-scale systems (microservices, distributed infra)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Security &amp; operational monitoring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Capability goes beyond logging → </a:t>
            </a:r>
            <a:r>
              <a:rPr lang="en-US" b="1" dirty="0"/>
              <a:t>Observability + Security + Analytics Platform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D67816-9618-9F3C-3CED-1AA1C45FE1AF}"/>
              </a:ext>
            </a:extLst>
          </p:cNvPr>
          <p:cNvSpPr txBox="1"/>
          <p:nvPr/>
        </p:nvSpPr>
        <p:spPr>
          <a:xfrm>
            <a:off x="1221972" y="3558437"/>
            <a:ext cx="81259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Capability Overview - What VTI Can Deliver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1EB418-AA50-416D-17B1-23B8A3C999D9}"/>
              </a:ext>
            </a:extLst>
          </p:cNvPr>
          <p:cNvSpPr txBox="1"/>
          <p:nvPr/>
        </p:nvSpPr>
        <p:spPr>
          <a:xfrm>
            <a:off x="1307592" y="5764367"/>
            <a:ext cx="3952748" cy="116955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Advanced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 normalization &amp; enrichment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 pipelines (Logstash)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Domain-specific log modeling: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Telco / Banking / Retail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96D3C6-9393-53D3-DCE1-1DC93455AF21}"/>
              </a:ext>
            </a:extLst>
          </p:cNvPr>
          <p:cNvSpPr txBox="1"/>
          <p:nvPr/>
        </p:nvSpPr>
        <p:spPr>
          <a:xfrm>
            <a:off x="1307592" y="7210639"/>
            <a:ext cx="3952748" cy="95410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Scalable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Multi-node Elasticsearch cluster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High-volume ingestion (GB → TB/day)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Hot–Warm–Cold data tiering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16ED4E-0965-48F3-49A1-F8CCC1421222}"/>
              </a:ext>
            </a:extLst>
          </p:cNvPr>
          <p:cNvSpPr txBox="1"/>
          <p:nvPr/>
        </p:nvSpPr>
        <p:spPr>
          <a:xfrm>
            <a:off x="5764276" y="5764367"/>
            <a:ext cx="3952748" cy="116955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pPr>
              <a:buNone/>
            </a:pPr>
            <a:r>
              <a:rPr lang="en-US" b="1" dirty="0"/>
              <a:t>Security (SOC-lite)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 correlation rules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Anomaly detection (rule-based)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Audit &amp; compliance tracking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6BCEB0-9F96-CB29-5D42-80E26B1480DE}"/>
              </a:ext>
            </a:extLst>
          </p:cNvPr>
          <p:cNvSpPr txBox="1"/>
          <p:nvPr/>
        </p:nvSpPr>
        <p:spPr>
          <a:xfrm>
            <a:off x="5764276" y="7210639"/>
            <a:ext cx="3952748" cy="95410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pPr>
              <a:buNone/>
            </a:pPr>
            <a:r>
              <a:rPr lang="en-US" b="1" dirty="0"/>
              <a:t>Cloud &amp; DevOps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Kubernetes / microservices monitoring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CI/CD pipeline integration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Multi-cloud (AWS / GCP / Azure)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04A5B8-6C14-2A42-DB4F-8C9B8FE6F327}"/>
              </a:ext>
            </a:extLst>
          </p:cNvPr>
          <p:cNvSpPr txBox="1"/>
          <p:nvPr/>
        </p:nvSpPr>
        <p:spPr>
          <a:xfrm>
            <a:off x="1307592" y="4081657"/>
            <a:ext cx="812596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Observability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Centralized logging across: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Applications, infrastructure, network, cloud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Real-time monitoring &amp; alerting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Full-text search &amp; deep log analytics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E8531DA-00FE-2CAC-06A6-221AA0E69D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8543569"/>
              </p:ext>
            </p:extLst>
          </p:nvPr>
        </p:nvGraphicFramePr>
        <p:xfrm>
          <a:off x="10487216" y="5764367"/>
          <a:ext cx="4240720" cy="1828800"/>
        </p:xfrm>
        <a:graphic>
          <a:graphicData uri="http://schemas.openxmlformats.org/drawingml/2006/table">
            <a:tbl>
              <a:tblPr/>
              <a:tblGrid>
                <a:gridCol w="942810">
                  <a:extLst>
                    <a:ext uri="{9D8B030D-6E8A-4147-A177-3AD203B41FA5}">
                      <a16:colId xmlns:a16="http://schemas.microsoft.com/office/drawing/2014/main" val="2140343201"/>
                    </a:ext>
                  </a:extLst>
                </a:gridCol>
                <a:gridCol w="3297910">
                  <a:extLst>
                    <a:ext uri="{9D8B030D-6E8A-4147-A177-3AD203B41FA5}">
                      <a16:colId xmlns:a16="http://schemas.microsoft.com/office/drawing/2014/main" val="15413119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VTI’s Capability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565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Basic logging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865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Centralized logging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6244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Observability platform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835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Security (SOC-lite)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722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AI-driven analytics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262909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BF6BF026-376D-15BA-9C60-4C625150DCA3}"/>
              </a:ext>
            </a:extLst>
          </p:cNvPr>
          <p:cNvSpPr txBox="1"/>
          <p:nvPr/>
        </p:nvSpPr>
        <p:spPr>
          <a:xfrm>
            <a:off x="10308618" y="7687692"/>
            <a:ext cx="54678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VTI </a:t>
            </a:r>
            <a:r>
              <a:rPr lang="en-US" dirty="0">
                <a:solidFill>
                  <a:srgbClr val="00B050"/>
                </a:solidFill>
              </a:rPr>
              <a:t>current</a:t>
            </a:r>
            <a:r>
              <a:rPr lang="en-US" dirty="0"/>
              <a:t> level: L3–L4</a:t>
            </a:r>
          </a:p>
          <a:p>
            <a:r>
              <a:rPr lang="en-US" dirty="0">
                <a:solidFill>
                  <a:srgbClr val="00B050"/>
                </a:solidFill>
              </a:rPr>
              <a:t>Next step: </a:t>
            </a:r>
            <a:r>
              <a:rPr lang="en-US" dirty="0"/>
              <a:t>AI-driven anomaly detection (Demo/ PoC)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D3CA37C-8145-53C0-690E-39CE935E7D10}"/>
              </a:ext>
            </a:extLst>
          </p:cNvPr>
          <p:cNvCxnSpPr/>
          <p:nvPr/>
        </p:nvCxnSpPr>
        <p:spPr>
          <a:xfrm>
            <a:off x="1221972" y="3364992"/>
            <a:ext cx="136156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D4AA531-57F0-2934-51EF-2B912A7FA063}"/>
              </a:ext>
            </a:extLst>
          </p:cNvPr>
          <p:cNvSpPr txBox="1"/>
          <p:nvPr/>
        </p:nvSpPr>
        <p:spPr>
          <a:xfrm>
            <a:off x="10308618" y="3998381"/>
            <a:ext cx="452904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VTI enables ELK as a strategic platform: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Real-time observability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Security intelligence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Scalable cloud-native monitoring </a:t>
            </a:r>
          </a:p>
          <a:p>
            <a:pPr>
              <a:buNone/>
            </a:pPr>
            <a:r>
              <a:rPr lang="en-US" dirty="0"/>
              <a:t>Not just logging — </a:t>
            </a:r>
            <a:r>
              <a:rPr lang="en-US" b="1" dirty="0"/>
              <a:t>Operational intelligence for PRO-scale systems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807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g36afc0634d7_0_23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164687"/>
            <a:ext cx="16256000" cy="5979313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36afc0634d7_0_2373"/>
          <p:cNvSpPr txBox="1"/>
          <p:nvPr/>
        </p:nvSpPr>
        <p:spPr>
          <a:xfrm>
            <a:off x="1752850" y="5449950"/>
            <a:ext cx="15596400" cy="10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6500" b="1" i="0" u="none" strike="noStrike" cap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CASE STUDIES</a:t>
            </a:r>
            <a:endParaRPr sz="6500" b="0" i="0" u="none" strike="noStrike" cap="none">
              <a:solidFill>
                <a:srgbClr val="000000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170" name="Google Shape;170;g36afc0634d7_0_2373"/>
          <p:cNvSpPr/>
          <p:nvPr/>
        </p:nvSpPr>
        <p:spPr>
          <a:xfrm>
            <a:off x="10300843" y="7941691"/>
            <a:ext cx="4493894" cy="517525"/>
          </a:xfrm>
          <a:custGeom>
            <a:avLst/>
            <a:gdLst/>
            <a:ahLst/>
            <a:cxnLst/>
            <a:rect l="l" t="t" r="r" b="b"/>
            <a:pathLst>
              <a:path w="4493894" h="517525" extrusionOk="0">
                <a:moveTo>
                  <a:pt x="345605" y="198132"/>
                </a:moveTo>
                <a:lnTo>
                  <a:pt x="318770" y="171284"/>
                </a:lnTo>
                <a:lnTo>
                  <a:pt x="172808" y="317246"/>
                </a:lnTo>
                <a:lnTo>
                  <a:pt x="26847" y="171284"/>
                </a:lnTo>
                <a:lnTo>
                  <a:pt x="0" y="198132"/>
                </a:lnTo>
                <a:lnTo>
                  <a:pt x="145961" y="344093"/>
                </a:lnTo>
                <a:lnTo>
                  <a:pt x="0" y="490054"/>
                </a:lnTo>
                <a:lnTo>
                  <a:pt x="26847" y="516902"/>
                </a:lnTo>
                <a:lnTo>
                  <a:pt x="172808" y="370954"/>
                </a:lnTo>
                <a:lnTo>
                  <a:pt x="318770" y="516915"/>
                </a:lnTo>
                <a:lnTo>
                  <a:pt x="345605" y="490054"/>
                </a:lnTo>
                <a:lnTo>
                  <a:pt x="199656" y="344093"/>
                </a:lnTo>
                <a:lnTo>
                  <a:pt x="345605" y="198132"/>
                </a:lnTo>
                <a:close/>
              </a:path>
              <a:path w="4493894" h="517525" extrusionOk="0">
                <a:moveTo>
                  <a:pt x="3824528" y="241935"/>
                </a:moveTo>
                <a:lnTo>
                  <a:pt x="3823030" y="234530"/>
                </a:lnTo>
                <a:lnTo>
                  <a:pt x="3818953" y="228498"/>
                </a:lnTo>
                <a:lnTo>
                  <a:pt x="3812921" y="224421"/>
                </a:lnTo>
                <a:lnTo>
                  <a:pt x="3805529" y="222935"/>
                </a:lnTo>
                <a:lnTo>
                  <a:pt x="3798125" y="224421"/>
                </a:lnTo>
                <a:lnTo>
                  <a:pt x="3792093" y="228498"/>
                </a:lnTo>
                <a:lnTo>
                  <a:pt x="3788016" y="234530"/>
                </a:lnTo>
                <a:lnTo>
                  <a:pt x="3786530" y="241935"/>
                </a:lnTo>
                <a:lnTo>
                  <a:pt x="3788016" y="249326"/>
                </a:lnTo>
                <a:lnTo>
                  <a:pt x="3792093" y="255358"/>
                </a:lnTo>
                <a:lnTo>
                  <a:pt x="3798125" y="259435"/>
                </a:lnTo>
                <a:lnTo>
                  <a:pt x="3805529" y="260934"/>
                </a:lnTo>
                <a:lnTo>
                  <a:pt x="3812921" y="259435"/>
                </a:lnTo>
                <a:lnTo>
                  <a:pt x="3818953" y="255358"/>
                </a:lnTo>
                <a:lnTo>
                  <a:pt x="3823030" y="249326"/>
                </a:lnTo>
                <a:lnTo>
                  <a:pt x="3824528" y="241935"/>
                </a:lnTo>
                <a:close/>
              </a:path>
              <a:path w="4493894" h="517525" extrusionOk="0">
                <a:moveTo>
                  <a:pt x="4047452" y="241935"/>
                </a:moveTo>
                <a:lnTo>
                  <a:pt x="4045966" y="234530"/>
                </a:lnTo>
                <a:lnTo>
                  <a:pt x="4041889" y="228498"/>
                </a:lnTo>
                <a:lnTo>
                  <a:pt x="4035844" y="224421"/>
                </a:lnTo>
                <a:lnTo>
                  <a:pt x="4028440" y="222935"/>
                </a:lnTo>
                <a:lnTo>
                  <a:pt x="4021048" y="224421"/>
                </a:lnTo>
                <a:lnTo>
                  <a:pt x="4015016" y="228498"/>
                </a:lnTo>
                <a:lnTo>
                  <a:pt x="4010939" y="234530"/>
                </a:lnTo>
                <a:lnTo>
                  <a:pt x="4009440" y="241935"/>
                </a:lnTo>
                <a:lnTo>
                  <a:pt x="4010939" y="249326"/>
                </a:lnTo>
                <a:lnTo>
                  <a:pt x="4015016" y="255358"/>
                </a:lnTo>
                <a:lnTo>
                  <a:pt x="4021048" y="259435"/>
                </a:lnTo>
                <a:lnTo>
                  <a:pt x="4028440" y="260934"/>
                </a:lnTo>
                <a:lnTo>
                  <a:pt x="4035844" y="259435"/>
                </a:lnTo>
                <a:lnTo>
                  <a:pt x="4041889" y="255358"/>
                </a:lnTo>
                <a:lnTo>
                  <a:pt x="4045966" y="249326"/>
                </a:lnTo>
                <a:lnTo>
                  <a:pt x="4047452" y="241935"/>
                </a:lnTo>
                <a:close/>
              </a:path>
              <a:path w="4493894" h="517525" extrusionOk="0">
                <a:moveTo>
                  <a:pt x="4047452" y="19011"/>
                </a:moveTo>
                <a:lnTo>
                  <a:pt x="4045966" y="11607"/>
                </a:lnTo>
                <a:lnTo>
                  <a:pt x="4041889" y="5562"/>
                </a:lnTo>
                <a:lnTo>
                  <a:pt x="4035844" y="1498"/>
                </a:lnTo>
                <a:lnTo>
                  <a:pt x="4028440" y="0"/>
                </a:lnTo>
                <a:lnTo>
                  <a:pt x="4021048" y="1498"/>
                </a:lnTo>
                <a:lnTo>
                  <a:pt x="4015016" y="5562"/>
                </a:lnTo>
                <a:lnTo>
                  <a:pt x="4010939" y="11607"/>
                </a:lnTo>
                <a:lnTo>
                  <a:pt x="4009440" y="19011"/>
                </a:lnTo>
                <a:lnTo>
                  <a:pt x="4010939" y="26403"/>
                </a:lnTo>
                <a:lnTo>
                  <a:pt x="4015016" y="32448"/>
                </a:lnTo>
                <a:lnTo>
                  <a:pt x="4021048" y="36512"/>
                </a:lnTo>
                <a:lnTo>
                  <a:pt x="4028440" y="38011"/>
                </a:lnTo>
                <a:lnTo>
                  <a:pt x="4035844" y="36512"/>
                </a:lnTo>
                <a:lnTo>
                  <a:pt x="4041889" y="32448"/>
                </a:lnTo>
                <a:lnTo>
                  <a:pt x="4045966" y="26403"/>
                </a:lnTo>
                <a:lnTo>
                  <a:pt x="4047452" y="19011"/>
                </a:lnTo>
                <a:close/>
              </a:path>
              <a:path w="4493894" h="517525" extrusionOk="0">
                <a:moveTo>
                  <a:pt x="4270375" y="241935"/>
                </a:moveTo>
                <a:lnTo>
                  <a:pt x="4268889" y="234530"/>
                </a:lnTo>
                <a:lnTo>
                  <a:pt x="4264812" y="228498"/>
                </a:lnTo>
                <a:lnTo>
                  <a:pt x="4258767" y="224421"/>
                </a:lnTo>
                <a:lnTo>
                  <a:pt x="4251363" y="222935"/>
                </a:lnTo>
                <a:lnTo>
                  <a:pt x="4243971" y="224421"/>
                </a:lnTo>
                <a:lnTo>
                  <a:pt x="4237926" y="228498"/>
                </a:lnTo>
                <a:lnTo>
                  <a:pt x="4233862" y="234530"/>
                </a:lnTo>
                <a:lnTo>
                  <a:pt x="4232364" y="241935"/>
                </a:lnTo>
                <a:lnTo>
                  <a:pt x="4233862" y="249326"/>
                </a:lnTo>
                <a:lnTo>
                  <a:pt x="4237926" y="255358"/>
                </a:lnTo>
                <a:lnTo>
                  <a:pt x="4243971" y="259435"/>
                </a:lnTo>
                <a:lnTo>
                  <a:pt x="4251363" y="260934"/>
                </a:lnTo>
                <a:lnTo>
                  <a:pt x="4258767" y="259435"/>
                </a:lnTo>
                <a:lnTo>
                  <a:pt x="4264812" y="255358"/>
                </a:lnTo>
                <a:lnTo>
                  <a:pt x="4268889" y="249326"/>
                </a:lnTo>
                <a:lnTo>
                  <a:pt x="4270375" y="241935"/>
                </a:lnTo>
                <a:close/>
              </a:path>
              <a:path w="4493894" h="517525" extrusionOk="0">
                <a:moveTo>
                  <a:pt x="4270375" y="19011"/>
                </a:moveTo>
                <a:lnTo>
                  <a:pt x="4268889" y="11607"/>
                </a:lnTo>
                <a:lnTo>
                  <a:pt x="4264812" y="5562"/>
                </a:lnTo>
                <a:lnTo>
                  <a:pt x="4258767" y="1498"/>
                </a:lnTo>
                <a:lnTo>
                  <a:pt x="4251363" y="0"/>
                </a:lnTo>
                <a:lnTo>
                  <a:pt x="4243971" y="1498"/>
                </a:lnTo>
                <a:lnTo>
                  <a:pt x="4237926" y="5562"/>
                </a:lnTo>
                <a:lnTo>
                  <a:pt x="4233862" y="11607"/>
                </a:lnTo>
                <a:lnTo>
                  <a:pt x="4232364" y="19011"/>
                </a:lnTo>
                <a:lnTo>
                  <a:pt x="4233862" y="26403"/>
                </a:lnTo>
                <a:lnTo>
                  <a:pt x="4237926" y="32448"/>
                </a:lnTo>
                <a:lnTo>
                  <a:pt x="4243971" y="36512"/>
                </a:lnTo>
                <a:lnTo>
                  <a:pt x="4251363" y="38011"/>
                </a:lnTo>
                <a:lnTo>
                  <a:pt x="4258767" y="36512"/>
                </a:lnTo>
                <a:lnTo>
                  <a:pt x="4264812" y="32448"/>
                </a:lnTo>
                <a:lnTo>
                  <a:pt x="4268889" y="26403"/>
                </a:lnTo>
                <a:lnTo>
                  <a:pt x="4270375" y="19011"/>
                </a:lnTo>
                <a:close/>
              </a:path>
              <a:path w="4493894" h="517525" extrusionOk="0">
                <a:moveTo>
                  <a:pt x="4493298" y="241935"/>
                </a:moveTo>
                <a:lnTo>
                  <a:pt x="4491799" y="234530"/>
                </a:lnTo>
                <a:lnTo>
                  <a:pt x="4487735" y="228498"/>
                </a:lnTo>
                <a:lnTo>
                  <a:pt x="4481690" y="224421"/>
                </a:lnTo>
                <a:lnTo>
                  <a:pt x="4474286" y="222935"/>
                </a:lnTo>
                <a:lnTo>
                  <a:pt x="4466895" y="224421"/>
                </a:lnTo>
                <a:lnTo>
                  <a:pt x="4460849" y="228498"/>
                </a:lnTo>
                <a:lnTo>
                  <a:pt x="4456773" y="234530"/>
                </a:lnTo>
                <a:lnTo>
                  <a:pt x="4455287" y="241935"/>
                </a:lnTo>
                <a:lnTo>
                  <a:pt x="4456773" y="249326"/>
                </a:lnTo>
                <a:lnTo>
                  <a:pt x="4460849" y="255358"/>
                </a:lnTo>
                <a:lnTo>
                  <a:pt x="4466895" y="259435"/>
                </a:lnTo>
                <a:lnTo>
                  <a:pt x="4474286" y="260934"/>
                </a:lnTo>
                <a:lnTo>
                  <a:pt x="4481690" y="259435"/>
                </a:lnTo>
                <a:lnTo>
                  <a:pt x="4487735" y="255358"/>
                </a:lnTo>
                <a:lnTo>
                  <a:pt x="4491799" y="249326"/>
                </a:lnTo>
                <a:lnTo>
                  <a:pt x="4493298" y="241935"/>
                </a:lnTo>
                <a:close/>
              </a:path>
              <a:path w="4493894" h="517525" extrusionOk="0">
                <a:moveTo>
                  <a:pt x="4493298" y="19011"/>
                </a:moveTo>
                <a:lnTo>
                  <a:pt x="4491799" y="11607"/>
                </a:lnTo>
                <a:lnTo>
                  <a:pt x="4487735" y="5562"/>
                </a:lnTo>
                <a:lnTo>
                  <a:pt x="4481690" y="1498"/>
                </a:lnTo>
                <a:lnTo>
                  <a:pt x="4474286" y="0"/>
                </a:lnTo>
                <a:lnTo>
                  <a:pt x="4466895" y="1498"/>
                </a:lnTo>
                <a:lnTo>
                  <a:pt x="4460849" y="5562"/>
                </a:lnTo>
                <a:lnTo>
                  <a:pt x="4456773" y="11607"/>
                </a:lnTo>
                <a:lnTo>
                  <a:pt x="4455287" y="19011"/>
                </a:lnTo>
                <a:lnTo>
                  <a:pt x="4456773" y="26403"/>
                </a:lnTo>
                <a:lnTo>
                  <a:pt x="4460849" y="32448"/>
                </a:lnTo>
                <a:lnTo>
                  <a:pt x="4466895" y="36512"/>
                </a:lnTo>
                <a:lnTo>
                  <a:pt x="4474286" y="38011"/>
                </a:lnTo>
                <a:lnTo>
                  <a:pt x="4481690" y="36512"/>
                </a:lnTo>
                <a:lnTo>
                  <a:pt x="4487735" y="32448"/>
                </a:lnTo>
                <a:lnTo>
                  <a:pt x="4491799" y="26403"/>
                </a:lnTo>
                <a:lnTo>
                  <a:pt x="4493298" y="19011"/>
                </a:lnTo>
                <a:close/>
              </a:path>
            </a:pathLst>
          </a:custGeom>
          <a:solidFill>
            <a:srgbClr val="007AB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1" name="Google Shape;171;g36afc0634d7_0_2373"/>
          <p:cNvGrpSpPr/>
          <p:nvPr/>
        </p:nvGrpSpPr>
        <p:grpSpPr>
          <a:xfrm>
            <a:off x="7858864" y="0"/>
            <a:ext cx="8593760" cy="7756828"/>
            <a:chOff x="7096864" y="0"/>
            <a:chExt cx="8593760" cy="7756828"/>
          </a:xfrm>
        </p:grpSpPr>
        <p:sp>
          <p:nvSpPr>
            <p:cNvPr id="172" name="Google Shape;172;g36afc0634d7_0_2373"/>
            <p:cNvSpPr/>
            <p:nvPr/>
          </p:nvSpPr>
          <p:spPr>
            <a:xfrm>
              <a:off x="14533207" y="7495844"/>
              <a:ext cx="260984" cy="260984"/>
            </a:xfrm>
            <a:custGeom>
              <a:avLst/>
              <a:gdLst/>
              <a:ahLst/>
              <a:cxnLst/>
              <a:rect l="l" t="t" r="r" b="b"/>
              <a:pathLst>
                <a:path w="260984" h="260984" extrusionOk="0">
                  <a:moveTo>
                    <a:pt x="38011" y="241935"/>
                  </a:moveTo>
                  <a:lnTo>
                    <a:pt x="36525" y="234530"/>
                  </a:lnTo>
                  <a:lnTo>
                    <a:pt x="32448" y="228485"/>
                  </a:lnTo>
                  <a:lnTo>
                    <a:pt x="26403" y="224421"/>
                  </a:lnTo>
                  <a:lnTo>
                    <a:pt x="18999" y="222923"/>
                  </a:lnTo>
                  <a:lnTo>
                    <a:pt x="11607" y="224421"/>
                  </a:lnTo>
                  <a:lnTo>
                    <a:pt x="5562" y="228485"/>
                  </a:lnTo>
                  <a:lnTo>
                    <a:pt x="1498" y="234530"/>
                  </a:lnTo>
                  <a:lnTo>
                    <a:pt x="0" y="241935"/>
                  </a:lnTo>
                  <a:lnTo>
                    <a:pt x="1498" y="249326"/>
                  </a:lnTo>
                  <a:lnTo>
                    <a:pt x="5562" y="255371"/>
                  </a:lnTo>
                  <a:lnTo>
                    <a:pt x="11607" y="259448"/>
                  </a:lnTo>
                  <a:lnTo>
                    <a:pt x="18999" y="260934"/>
                  </a:lnTo>
                  <a:lnTo>
                    <a:pt x="26403" y="259448"/>
                  </a:lnTo>
                  <a:lnTo>
                    <a:pt x="32448" y="255371"/>
                  </a:lnTo>
                  <a:lnTo>
                    <a:pt x="36525" y="249326"/>
                  </a:lnTo>
                  <a:lnTo>
                    <a:pt x="38011" y="241935"/>
                  </a:lnTo>
                  <a:close/>
                </a:path>
                <a:path w="260984" h="260984" extrusionOk="0">
                  <a:moveTo>
                    <a:pt x="260934" y="241935"/>
                  </a:moveTo>
                  <a:lnTo>
                    <a:pt x="259435" y="234530"/>
                  </a:lnTo>
                  <a:lnTo>
                    <a:pt x="255371" y="228485"/>
                  </a:lnTo>
                  <a:lnTo>
                    <a:pt x="249326" y="224421"/>
                  </a:lnTo>
                  <a:lnTo>
                    <a:pt x="241922" y="222923"/>
                  </a:lnTo>
                  <a:lnTo>
                    <a:pt x="234530" y="224421"/>
                  </a:lnTo>
                  <a:lnTo>
                    <a:pt x="228485" y="228485"/>
                  </a:lnTo>
                  <a:lnTo>
                    <a:pt x="224409" y="234530"/>
                  </a:lnTo>
                  <a:lnTo>
                    <a:pt x="222923" y="241935"/>
                  </a:lnTo>
                  <a:lnTo>
                    <a:pt x="224409" y="249326"/>
                  </a:lnTo>
                  <a:lnTo>
                    <a:pt x="228485" y="255371"/>
                  </a:lnTo>
                  <a:lnTo>
                    <a:pt x="234530" y="259448"/>
                  </a:lnTo>
                  <a:lnTo>
                    <a:pt x="241922" y="260934"/>
                  </a:lnTo>
                  <a:lnTo>
                    <a:pt x="249326" y="259448"/>
                  </a:lnTo>
                  <a:lnTo>
                    <a:pt x="255371" y="255371"/>
                  </a:lnTo>
                  <a:lnTo>
                    <a:pt x="259435" y="249326"/>
                  </a:lnTo>
                  <a:lnTo>
                    <a:pt x="260934" y="241935"/>
                  </a:lnTo>
                  <a:close/>
                </a:path>
                <a:path w="260984" h="260984" extrusionOk="0">
                  <a:moveTo>
                    <a:pt x="260934" y="18999"/>
                  </a:moveTo>
                  <a:lnTo>
                    <a:pt x="259435" y="11607"/>
                  </a:lnTo>
                  <a:lnTo>
                    <a:pt x="255371" y="5575"/>
                  </a:lnTo>
                  <a:lnTo>
                    <a:pt x="249326" y="1498"/>
                  </a:lnTo>
                  <a:lnTo>
                    <a:pt x="241922" y="0"/>
                  </a:lnTo>
                  <a:lnTo>
                    <a:pt x="234530" y="1498"/>
                  </a:lnTo>
                  <a:lnTo>
                    <a:pt x="228485" y="5575"/>
                  </a:lnTo>
                  <a:lnTo>
                    <a:pt x="224409" y="11607"/>
                  </a:lnTo>
                  <a:lnTo>
                    <a:pt x="222923" y="18999"/>
                  </a:lnTo>
                  <a:lnTo>
                    <a:pt x="224409" y="26403"/>
                  </a:lnTo>
                  <a:lnTo>
                    <a:pt x="228485" y="32448"/>
                  </a:lnTo>
                  <a:lnTo>
                    <a:pt x="234530" y="36525"/>
                  </a:lnTo>
                  <a:lnTo>
                    <a:pt x="241922" y="38011"/>
                  </a:lnTo>
                  <a:lnTo>
                    <a:pt x="249326" y="36525"/>
                  </a:lnTo>
                  <a:lnTo>
                    <a:pt x="255371" y="32448"/>
                  </a:lnTo>
                  <a:lnTo>
                    <a:pt x="259435" y="26403"/>
                  </a:lnTo>
                  <a:lnTo>
                    <a:pt x="260934" y="18999"/>
                  </a:lnTo>
                  <a:close/>
                </a:path>
              </a:pathLst>
            </a:custGeom>
            <a:solidFill>
              <a:srgbClr val="007AB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g36afc0634d7_0_2373"/>
            <p:cNvSpPr/>
            <p:nvPr/>
          </p:nvSpPr>
          <p:spPr>
            <a:xfrm>
              <a:off x="9423044" y="4592078"/>
              <a:ext cx="1990725" cy="1990725"/>
            </a:xfrm>
            <a:custGeom>
              <a:avLst/>
              <a:gdLst/>
              <a:ahLst/>
              <a:cxnLst/>
              <a:rect l="l" t="t" r="r" b="b"/>
              <a:pathLst>
                <a:path w="1990725" h="1990725" extrusionOk="0">
                  <a:moveTo>
                    <a:pt x="476554" y="143332"/>
                  </a:moveTo>
                  <a:lnTo>
                    <a:pt x="439381" y="167119"/>
                  </a:lnTo>
                  <a:lnTo>
                    <a:pt x="403059" y="192735"/>
                  </a:lnTo>
                  <a:lnTo>
                    <a:pt x="192722" y="403072"/>
                  </a:lnTo>
                  <a:lnTo>
                    <a:pt x="167106" y="439394"/>
                  </a:lnTo>
                  <a:lnTo>
                    <a:pt x="143306" y="476567"/>
                  </a:lnTo>
                  <a:lnTo>
                    <a:pt x="476554" y="143332"/>
                  </a:lnTo>
                  <a:close/>
                </a:path>
                <a:path w="1990725" h="1990725" extrusionOk="0">
                  <a:moveTo>
                    <a:pt x="840359" y="10134"/>
                  </a:moveTo>
                  <a:lnTo>
                    <a:pt x="811301" y="15100"/>
                  </a:lnTo>
                  <a:lnTo>
                    <a:pt x="15087" y="811326"/>
                  </a:lnTo>
                  <a:lnTo>
                    <a:pt x="10121" y="840371"/>
                  </a:lnTo>
                  <a:lnTo>
                    <a:pt x="840359" y="10134"/>
                  </a:lnTo>
                  <a:close/>
                </a:path>
                <a:path w="1990725" h="1990725" extrusionOk="0">
                  <a:moveTo>
                    <a:pt x="1079436" y="1651"/>
                  </a:moveTo>
                  <a:lnTo>
                    <a:pt x="1057008" y="0"/>
                  </a:lnTo>
                  <a:lnTo>
                    <a:pt x="0" y="1056995"/>
                  </a:lnTo>
                  <a:lnTo>
                    <a:pt x="1638" y="1079449"/>
                  </a:lnTo>
                  <a:lnTo>
                    <a:pt x="1079436" y="1651"/>
                  </a:lnTo>
                  <a:close/>
                </a:path>
                <a:path w="1990725" h="1990725" extrusionOk="0">
                  <a:moveTo>
                    <a:pt x="1274025" y="37693"/>
                  </a:moveTo>
                  <a:lnTo>
                    <a:pt x="1255229" y="32385"/>
                  </a:lnTo>
                  <a:lnTo>
                    <a:pt x="32372" y="1255242"/>
                  </a:lnTo>
                  <a:lnTo>
                    <a:pt x="37668" y="1274025"/>
                  </a:lnTo>
                  <a:lnTo>
                    <a:pt x="1274025" y="37693"/>
                  </a:lnTo>
                  <a:close/>
                </a:path>
                <a:path w="1990725" h="1990725" extrusionOk="0">
                  <a:moveTo>
                    <a:pt x="1439862" y="102438"/>
                  </a:moveTo>
                  <a:lnTo>
                    <a:pt x="1423631" y="94576"/>
                  </a:lnTo>
                  <a:lnTo>
                    <a:pt x="94564" y="1423644"/>
                  </a:lnTo>
                  <a:lnTo>
                    <a:pt x="102412" y="1439875"/>
                  </a:lnTo>
                  <a:lnTo>
                    <a:pt x="1439862" y="102438"/>
                  </a:lnTo>
                  <a:close/>
                </a:path>
                <a:path w="1990725" h="1990725" extrusionOk="0">
                  <a:moveTo>
                    <a:pt x="1583194" y="189725"/>
                  </a:moveTo>
                  <a:lnTo>
                    <a:pt x="1569148" y="179679"/>
                  </a:lnTo>
                  <a:lnTo>
                    <a:pt x="179679" y="1569148"/>
                  </a:lnTo>
                  <a:lnTo>
                    <a:pt x="189725" y="1583169"/>
                  </a:lnTo>
                  <a:lnTo>
                    <a:pt x="1583194" y="189725"/>
                  </a:lnTo>
                  <a:close/>
                </a:path>
                <a:path w="1990725" h="1990725" extrusionOk="0">
                  <a:moveTo>
                    <a:pt x="1706753" y="296773"/>
                  </a:moveTo>
                  <a:lnTo>
                    <a:pt x="1694726" y="284721"/>
                  </a:lnTo>
                  <a:lnTo>
                    <a:pt x="284708" y="1694726"/>
                  </a:lnTo>
                  <a:lnTo>
                    <a:pt x="296760" y="1706765"/>
                  </a:lnTo>
                  <a:lnTo>
                    <a:pt x="1706753" y="296773"/>
                  </a:lnTo>
                  <a:close/>
                </a:path>
                <a:path w="1990725" h="1990725" extrusionOk="0">
                  <a:moveTo>
                    <a:pt x="1811578" y="422516"/>
                  </a:moveTo>
                  <a:lnTo>
                    <a:pt x="1801533" y="408482"/>
                  </a:lnTo>
                  <a:lnTo>
                    <a:pt x="408470" y="1801558"/>
                  </a:lnTo>
                  <a:lnTo>
                    <a:pt x="422490" y="1811604"/>
                  </a:lnTo>
                  <a:lnTo>
                    <a:pt x="1811578" y="422516"/>
                  </a:lnTo>
                  <a:close/>
                </a:path>
                <a:path w="1990725" h="1990725" extrusionOk="0">
                  <a:moveTo>
                    <a:pt x="1843430" y="1519643"/>
                  </a:moveTo>
                  <a:lnTo>
                    <a:pt x="1519631" y="1843430"/>
                  </a:lnTo>
                  <a:lnTo>
                    <a:pt x="1539240" y="1830959"/>
                  </a:lnTo>
                  <a:lnTo>
                    <a:pt x="1558607" y="1817979"/>
                  </a:lnTo>
                  <a:lnTo>
                    <a:pt x="1596631" y="1790509"/>
                  </a:lnTo>
                  <a:lnTo>
                    <a:pt x="1790509" y="1596644"/>
                  </a:lnTo>
                  <a:lnTo>
                    <a:pt x="1817966" y="1558620"/>
                  </a:lnTo>
                  <a:lnTo>
                    <a:pt x="1843430" y="1519643"/>
                  </a:lnTo>
                  <a:close/>
                </a:path>
                <a:path w="1990725" h="1990725" extrusionOk="0">
                  <a:moveTo>
                    <a:pt x="1896491" y="568236"/>
                  </a:moveTo>
                  <a:lnTo>
                    <a:pt x="1888667" y="551980"/>
                  </a:lnTo>
                  <a:lnTo>
                    <a:pt x="551967" y="1888680"/>
                  </a:lnTo>
                  <a:lnTo>
                    <a:pt x="568223" y="1896503"/>
                  </a:lnTo>
                  <a:lnTo>
                    <a:pt x="1896491" y="568236"/>
                  </a:lnTo>
                  <a:close/>
                </a:path>
                <a:path w="1990725" h="1990725" extrusionOk="0">
                  <a:moveTo>
                    <a:pt x="1958403" y="736917"/>
                  </a:moveTo>
                  <a:lnTo>
                    <a:pt x="1953145" y="718108"/>
                  </a:lnTo>
                  <a:lnTo>
                    <a:pt x="718083" y="1953158"/>
                  </a:lnTo>
                  <a:lnTo>
                    <a:pt x="736892" y="1958416"/>
                  </a:lnTo>
                  <a:lnTo>
                    <a:pt x="1958403" y="736917"/>
                  </a:lnTo>
                  <a:close/>
                </a:path>
                <a:path w="1990725" h="1990725" extrusionOk="0">
                  <a:moveTo>
                    <a:pt x="1979764" y="1152690"/>
                  </a:moveTo>
                  <a:lnTo>
                    <a:pt x="1152677" y="1979764"/>
                  </a:lnTo>
                  <a:lnTo>
                    <a:pt x="1181811" y="1974735"/>
                  </a:lnTo>
                  <a:lnTo>
                    <a:pt x="1974723" y="1181823"/>
                  </a:lnTo>
                  <a:lnTo>
                    <a:pt x="1979764" y="1152690"/>
                  </a:lnTo>
                  <a:close/>
                </a:path>
                <a:path w="1990725" h="1990725" extrusionOk="0">
                  <a:moveTo>
                    <a:pt x="1990445" y="935507"/>
                  </a:moveTo>
                  <a:lnTo>
                    <a:pt x="1988845" y="913003"/>
                  </a:lnTo>
                  <a:lnTo>
                    <a:pt x="913003" y="1988845"/>
                  </a:lnTo>
                  <a:lnTo>
                    <a:pt x="935494" y="1990445"/>
                  </a:lnTo>
                  <a:lnTo>
                    <a:pt x="1990445" y="935507"/>
                  </a:lnTo>
                  <a:close/>
                </a:path>
              </a:pathLst>
            </a:custGeom>
            <a:solidFill>
              <a:srgbClr val="15376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g36afc0634d7_0_2373"/>
            <p:cNvSpPr/>
            <p:nvPr/>
          </p:nvSpPr>
          <p:spPr>
            <a:xfrm>
              <a:off x="8880273" y="2765428"/>
              <a:ext cx="5847080" cy="4991100"/>
            </a:xfrm>
            <a:custGeom>
              <a:avLst/>
              <a:gdLst/>
              <a:ahLst/>
              <a:cxnLst/>
              <a:rect l="l" t="t" r="r" b="b"/>
              <a:pathLst>
                <a:path w="5847080" h="4991100" extrusionOk="0">
                  <a:moveTo>
                    <a:pt x="2232656" y="0"/>
                  </a:moveTo>
                  <a:lnTo>
                    <a:pt x="2191070" y="9558"/>
                  </a:lnTo>
                  <a:lnTo>
                    <a:pt x="104764" y="789973"/>
                  </a:lnTo>
                  <a:lnTo>
                    <a:pt x="65284" y="811163"/>
                  </a:lnTo>
                  <a:lnTo>
                    <a:pt x="34705" y="840507"/>
                  </a:lnTo>
                  <a:lnTo>
                    <a:pt x="13390" y="875845"/>
                  </a:lnTo>
                  <a:lnTo>
                    <a:pt x="1701" y="915015"/>
                  </a:lnTo>
                  <a:lnTo>
                    <a:pt x="0" y="955856"/>
                  </a:lnTo>
                  <a:lnTo>
                    <a:pt x="8649" y="996207"/>
                  </a:lnTo>
                  <a:lnTo>
                    <a:pt x="28011" y="1033907"/>
                  </a:lnTo>
                  <a:lnTo>
                    <a:pt x="58447" y="1066795"/>
                  </a:lnTo>
                  <a:lnTo>
                    <a:pt x="4773030" y="4954315"/>
                  </a:lnTo>
                  <a:lnTo>
                    <a:pt x="4809238" y="4976891"/>
                  </a:lnTo>
                  <a:lnTo>
                    <a:pt x="4849389" y="4989113"/>
                  </a:lnTo>
                  <a:lnTo>
                    <a:pt x="4891331" y="4990620"/>
                  </a:lnTo>
                  <a:lnTo>
                    <a:pt x="4932911" y="4981049"/>
                  </a:lnTo>
                  <a:lnTo>
                    <a:pt x="5469803" y="4780186"/>
                  </a:lnTo>
                  <a:lnTo>
                    <a:pt x="5507457" y="4760107"/>
                  </a:lnTo>
                  <a:lnTo>
                    <a:pt x="5538112" y="4731435"/>
                  </a:lnTo>
                  <a:lnTo>
                    <a:pt x="5560377" y="4695855"/>
                  </a:lnTo>
                  <a:lnTo>
                    <a:pt x="5572864" y="4655053"/>
                  </a:lnTo>
                  <a:lnTo>
                    <a:pt x="5845126" y="3022302"/>
                  </a:lnTo>
                  <a:lnTo>
                    <a:pt x="5846554" y="2979699"/>
                  </a:lnTo>
                  <a:lnTo>
                    <a:pt x="5837060" y="2938857"/>
                  </a:lnTo>
                  <a:lnTo>
                    <a:pt x="5817410" y="2901816"/>
                  </a:lnTo>
                  <a:lnTo>
                    <a:pt x="5788370" y="2870614"/>
                  </a:lnTo>
                  <a:lnTo>
                    <a:pt x="3857652" y="1278643"/>
                  </a:lnTo>
                  <a:lnTo>
                    <a:pt x="2350950" y="36317"/>
                  </a:lnTo>
                  <a:lnTo>
                    <a:pt x="2314749" y="13735"/>
                  </a:lnTo>
                  <a:lnTo>
                    <a:pt x="2274601" y="1511"/>
                  </a:lnTo>
                  <a:lnTo>
                    <a:pt x="2232656" y="0"/>
                  </a:lnTo>
                  <a:close/>
                </a:path>
              </a:pathLst>
            </a:custGeom>
            <a:solidFill>
              <a:srgbClr val="0066A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g36afc0634d7_0_2373"/>
            <p:cNvSpPr/>
            <p:nvPr/>
          </p:nvSpPr>
          <p:spPr>
            <a:xfrm>
              <a:off x="7096864" y="0"/>
              <a:ext cx="6078219" cy="3458845"/>
            </a:xfrm>
            <a:custGeom>
              <a:avLst/>
              <a:gdLst/>
              <a:ahLst/>
              <a:cxnLst/>
              <a:rect l="l" t="t" r="r" b="b"/>
              <a:pathLst>
                <a:path w="6078219" h="3458845" extrusionOk="0">
                  <a:moveTo>
                    <a:pt x="6078225" y="0"/>
                  </a:moveTo>
                  <a:lnTo>
                    <a:pt x="4258379" y="0"/>
                  </a:lnTo>
                  <a:lnTo>
                    <a:pt x="198876" y="1518840"/>
                  </a:lnTo>
                  <a:lnTo>
                    <a:pt x="161229" y="1538919"/>
                  </a:lnTo>
                  <a:lnTo>
                    <a:pt x="130577" y="1567590"/>
                  </a:lnTo>
                  <a:lnTo>
                    <a:pt x="108309" y="1603170"/>
                  </a:lnTo>
                  <a:lnTo>
                    <a:pt x="95816" y="1643973"/>
                  </a:lnTo>
                  <a:lnTo>
                    <a:pt x="1429" y="2209961"/>
                  </a:lnTo>
                  <a:lnTo>
                    <a:pt x="0" y="2252560"/>
                  </a:lnTo>
                  <a:lnTo>
                    <a:pt x="9489" y="2293402"/>
                  </a:lnTo>
                  <a:lnTo>
                    <a:pt x="29134" y="2330446"/>
                  </a:lnTo>
                  <a:lnTo>
                    <a:pt x="58173" y="2361650"/>
                  </a:lnTo>
                  <a:lnTo>
                    <a:pt x="1344657" y="3422405"/>
                  </a:lnTo>
                  <a:lnTo>
                    <a:pt x="1380858" y="3444981"/>
                  </a:lnTo>
                  <a:lnTo>
                    <a:pt x="1421007" y="3457204"/>
                  </a:lnTo>
                  <a:lnTo>
                    <a:pt x="1462951" y="3458715"/>
                  </a:lnTo>
                  <a:lnTo>
                    <a:pt x="1504538" y="3449151"/>
                  </a:lnTo>
                  <a:lnTo>
                    <a:pt x="5681453" y="1886441"/>
                  </a:lnTo>
                  <a:lnTo>
                    <a:pt x="5719099" y="1866355"/>
                  </a:lnTo>
                  <a:lnTo>
                    <a:pt x="5749748" y="1837680"/>
                  </a:lnTo>
                  <a:lnTo>
                    <a:pt x="5772015" y="1802099"/>
                  </a:lnTo>
                  <a:lnTo>
                    <a:pt x="5784514" y="1761296"/>
                  </a:lnTo>
                  <a:lnTo>
                    <a:pt x="6078225" y="0"/>
                  </a:lnTo>
                  <a:close/>
                </a:path>
              </a:pathLst>
            </a:custGeom>
            <a:solidFill>
              <a:srgbClr val="094D9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g36afc0634d7_0_2373"/>
            <p:cNvSpPr/>
            <p:nvPr/>
          </p:nvSpPr>
          <p:spPr>
            <a:xfrm>
              <a:off x="12785499" y="0"/>
              <a:ext cx="2905125" cy="5285740"/>
            </a:xfrm>
            <a:custGeom>
              <a:avLst/>
              <a:gdLst/>
              <a:ahLst/>
              <a:cxnLst/>
              <a:rect l="l" t="t" r="r" b="b"/>
              <a:pathLst>
                <a:path w="2905125" h="5285740" extrusionOk="0">
                  <a:moveTo>
                    <a:pt x="2905019" y="0"/>
                  </a:moveTo>
                  <a:lnTo>
                    <a:pt x="612501" y="0"/>
                  </a:lnTo>
                  <a:lnTo>
                    <a:pt x="1408" y="3675250"/>
                  </a:lnTo>
                  <a:lnTo>
                    <a:pt x="0" y="3717828"/>
                  </a:lnTo>
                  <a:lnTo>
                    <a:pt x="9498" y="3758648"/>
                  </a:lnTo>
                  <a:lnTo>
                    <a:pt x="29140" y="3795672"/>
                  </a:lnTo>
                  <a:lnTo>
                    <a:pt x="58164" y="3826863"/>
                  </a:lnTo>
                  <a:lnTo>
                    <a:pt x="1783040" y="5249085"/>
                  </a:lnTo>
                  <a:lnTo>
                    <a:pt x="1821138" y="5272704"/>
                  </a:lnTo>
                  <a:lnTo>
                    <a:pt x="1861854" y="5284522"/>
                  </a:lnTo>
                  <a:lnTo>
                    <a:pt x="1903131" y="5285310"/>
                  </a:lnTo>
                  <a:lnTo>
                    <a:pt x="1942914" y="5275836"/>
                  </a:lnTo>
                  <a:lnTo>
                    <a:pt x="1979146" y="5256870"/>
                  </a:lnTo>
                  <a:lnTo>
                    <a:pt x="2009772" y="5229181"/>
                  </a:lnTo>
                  <a:lnTo>
                    <a:pt x="2032735" y="5193538"/>
                  </a:lnTo>
                  <a:lnTo>
                    <a:pt x="2045981" y="5150711"/>
                  </a:lnTo>
                  <a:lnTo>
                    <a:pt x="2905019" y="0"/>
                  </a:lnTo>
                  <a:close/>
                </a:path>
              </a:pathLst>
            </a:custGeom>
            <a:solidFill>
              <a:srgbClr val="1F80C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7" name="Google Shape;177;g36afc0634d7_0_237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096867" y="0"/>
              <a:ext cx="8593652" cy="77560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8" name="Google Shape;178;g36afc0634d7_0_2373"/>
          <p:cNvSpPr/>
          <p:nvPr/>
        </p:nvSpPr>
        <p:spPr>
          <a:xfrm>
            <a:off x="6108102" y="8886354"/>
            <a:ext cx="5018783" cy="238382"/>
          </a:xfrm>
          <a:custGeom>
            <a:avLst/>
            <a:gdLst/>
            <a:ahLst/>
            <a:cxnLst/>
            <a:rect l="l" t="t" r="r" b="b"/>
            <a:pathLst>
              <a:path w="7247340" h="423790" extrusionOk="0">
                <a:moveTo>
                  <a:pt x="219653" y="0"/>
                </a:moveTo>
                <a:lnTo>
                  <a:pt x="220563" y="1747"/>
                </a:lnTo>
                <a:lnTo>
                  <a:pt x="7026779" y="1747"/>
                </a:lnTo>
                <a:lnTo>
                  <a:pt x="7027688" y="0"/>
                </a:lnTo>
                <a:lnTo>
                  <a:pt x="7028597" y="1747"/>
                </a:lnTo>
                <a:lnTo>
                  <a:pt x="7036635" y="1747"/>
                </a:lnTo>
                <a:lnTo>
                  <a:pt x="7036635" y="17191"/>
                </a:lnTo>
                <a:lnTo>
                  <a:pt x="7247340" y="422043"/>
                </a:lnTo>
                <a:lnTo>
                  <a:pt x="7036635" y="422043"/>
                </a:lnTo>
                <a:lnTo>
                  <a:pt x="7036635" y="423790"/>
                </a:lnTo>
                <a:lnTo>
                  <a:pt x="219653" y="423790"/>
                </a:lnTo>
                <a:lnTo>
                  <a:pt x="219653" y="422043"/>
                </a:lnTo>
                <a:lnTo>
                  <a:pt x="0" y="422043"/>
                </a:lnTo>
                <a:close/>
              </a:path>
            </a:pathLst>
          </a:custGeom>
          <a:solidFill>
            <a:srgbClr val="DAE5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6afc0634d7_0_2373"/>
          <p:cNvSpPr txBox="1"/>
          <p:nvPr/>
        </p:nvSpPr>
        <p:spPr>
          <a:xfrm>
            <a:off x="6516936" y="8867094"/>
            <a:ext cx="3953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400" b="0" i="0" u="none" strike="noStrike" cap="none">
                <a:solidFill>
                  <a:srgbClr val="1F497D"/>
                </a:solidFill>
                <a:latin typeface="Bai Jamjuree"/>
                <a:ea typeface="Bai Jamjuree"/>
                <a:cs typeface="Bai Jamjuree"/>
                <a:sym typeface="Bai Jamjuree"/>
              </a:rPr>
              <a:t>Copyright © 2025 VTI All rights reserved</a:t>
            </a:r>
            <a:endParaRPr sz="1400" b="0" i="0" u="none" strike="noStrike" cap="none">
              <a:solidFill>
                <a:srgbClr val="1F497D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pic>
        <p:nvPicPr>
          <p:cNvPr id="180" name="Google Shape;180;g36afc0634d7_0_2373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7307" y="166364"/>
            <a:ext cx="892875" cy="573198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36afc0634d7_0_2373"/>
          <p:cNvSpPr/>
          <p:nvPr/>
        </p:nvSpPr>
        <p:spPr>
          <a:xfrm>
            <a:off x="920525" y="8443050"/>
            <a:ext cx="517525" cy="777875"/>
          </a:xfrm>
          <a:custGeom>
            <a:avLst/>
            <a:gdLst/>
            <a:ahLst/>
            <a:cxnLst/>
            <a:rect l="l" t="t" r="r" b="b"/>
            <a:pathLst>
              <a:path w="635000" h="889000" extrusionOk="0">
                <a:moveTo>
                  <a:pt x="635000" y="0"/>
                </a:moveTo>
                <a:lnTo>
                  <a:pt x="0" y="0"/>
                </a:lnTo>
                <a:lnTo>
                  <a:pt x="0" y="889000"/>
                </a:lnTo>
                <a:lnTo>
                  <a:pt x="635000" y="889000"/>
                </a:lnTo>
                <a:lnTo>
                  <a:pt x="635000" y="0"/>
                </a:lnTo>
                <a:close/>
              </a:path>
            </a:pathLst>
          </a:custGeom>
          <a:solidFill>
            <a:srgbClr val="0391E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6afc0634d7_0_2373"/>
          <p:cNvSpPr txBox="1"/>
          <p:nvPr/>
        </p:nvSpPr>
        <p:spPr>
          <a:xfrm>
            <a:off x="920519" y="8530238"/>
            <a:ext cx="1071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 11</a:t>
            </a:r>
            <a:endParaRPr sz="1600" b="0" i="0" u="none" strike="noStrike" cap="none">
              <a:solidFill>
                <a:srgbClr val="FFFFFF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</p:spTree>
    <p:extLst>
      <p:ext uri="{BB962C8B-B14F-4D97-AF65-F5344CB8AC3E}">
        <p14:creationId xmlns:p14="http://schemas.microsoft.com/office/powerpoint/2010/main" val="874441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>
          <a:extLst>
            <a:ext uri="{FF2B5EF4-FFF2-40B4-BE49-F238E27FC236}">
              <a16:creationId xmlns:a16="http://schemas.microsoft.com/office/drawing/2014/main" id="{4505B30C-60E3-12BD-1C01-8A2E59AA2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2" name="Google Shape;272;p2">
            <a:extLst>
              <a:ext uri="{FF2B5EF4-FFF2-40B4-BE49-F238E27FC236}">
                <a16:creationId xmlns:a16="http://schemas.microsoft.com/office/drawing/2014/main" id="{1837DDD9-FC33-C0B1-DFDA-9C3B8FCED55A}"/>
              </a:ext>
            </a:extLst>
          </p:cNvPr>
          <p:cNvCxnSpPr/>
          <p:nvPr/>
        </p:nvCxnSpPr>
        <p:spPr>
          <a:xfrm>
            <a:off x="4782298" y="1790860"/>
            <a:ext cx="4637100" cy="0"/>
          </a:xfrm>
          <a:prstGeom prst="straightConnector1">
            <a:avLst/>
          </a:prstGeom>
          <a:noFill/>
          <a:ln w="19050" cap="flat" cmpd="sng">
            <a:solidFill>
              <a:srgbClr val="3A3A3A">
                <a:alpha val="2862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3" name="Google Shape;273;p2">
            <a:extLst>
              <a:ext uri="{FF2B5EF4-FFF2-40B4-BE49-F238E27FC236}">
                <a16:creationId xmlns:a16="http://schemas.microsoft.com/office/drawing/2014/main" id="{850DF14B-8B0A-29F3-45AC-CEA959D8993E}"/>
              </a:ext>
            </a:extLst>
          </p:cNvPr>
          <p:cNvSpPr txBox="1"/>
          <p:nvPr/>
        </p:nvSpPr>
        <p:spPr>
          <a:xfrm>
            <a:off x="4869407" y="5211219"/>
            <a:ext cx="11305165" cy="120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3A3A3A"/>
                </a:solidFill>
                <a:latin typeface="Bai Jamjuree"/>
                <a:ea typeface="Bai Jamjuree"/>
                <a:cs typeface="Bai Jamjuree"/>
                <a:sym typeface="Bai Jamjuree"/>
              </a:rPr>
              <a:t>Highlight </a:t>
            </a:r>
            <a:endParaRPr sz="1600" b="1" i="0" u="none" strike="noStrike" cap="none" dirty="0">
              <a:solidFill>
                <a:srgbClr val="3A3A3A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❖"/>
            </a:pPr>
            <a:r>
              <a:rPr lang="en-US" sz="14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Full-text search across all systems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❖"/>
            </a:pPr>
            <a:r>
              <a:rPr lang="en-US" sz="14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Infrastructure + application observability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❖"/>
            </a:pPr>
            <a:r>
              <a:rPr lang="en-US" sz="14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Audit log tracking (user activity, system events)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❖"/>
            </a:pPr>
            <a:r>
              <a:rPr lang="en-US" sz="14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Alert integration (Email / Slack / </a:t>
            </a:r>
            <a:r>
              <a:rPr lang="en-US" sz="1400" b="0" i="0" u="none" strike="noStrike" cap="none" dirty="0" err="1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ChatOps</a:t>
            </a:r>
            <a:r>
              <a:rPr lang="en-US" sz="14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4" name="Google Shape;274;p2">
            <a:extLst>
              <a:ext uri="{FF2B5EF4-FFF2-40B4-BE49-F238E27FC236}">
                <a16:creationId xmlns:a16="http://schemas.microsoft.com/office/drawing/2014/main" id="{501AAA7C-F707-6B12-20C5-B0AA4DC7424D}"/>
              </a:ext>
            </a:extLst>
          </p:cNvPr>
          <p:cNvCxnSpPr/>
          <p:nvPr/>
        </p:nvCxnSpPr>
        <p:spPr>
          <a:xfrm rot="10800000" flipH="1">
            <a:off x="4855849" y="3882727"/>
            <a:ext cx="4637100" cy="12600"/>
          </a:xfrm>
          <a:prstGeom prst="straightConnector1">
            <a:avLst/>
          </a:prstGeom>
          <a:noFill/>
          <a:ln w="19050" cap="flat" cmpd="sng">
            <a:solidFill>
              <a:srgbClr val="3A3A3A">
                <a:alpha val="2862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5" name="Google Shape;275;p2">
            <a:extLst>
              <a:ext uri="{FF2B5EF4-FFF2-40B4-BE49-F238E27FC236}">
                <a16:creationId xmlns:a16="http://schemas.microsoft.com/office/drawing/2014/main" id="{04F7C706-5811-14B3-4EC1-C8C896309B86}"/>
              </a:ext>
            </a:extLst>
          </p:cNvPr>
          <p:cNvSpPr txBox="1"/>
          <p:nvPr/>
        </p:nvSpPr>
        <p:spPr>
          <a:xfrm>
            <a:off x="4782298" y="1456735"/>
            <a:ext cx="2960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3A3A3A"/>
                </a:solidFill>
                <a:latin typeface="Bai Jamjuree"/>
                <a:ea typeface="Bai Jamjuree"/>
                <a:cs typeface="Bai Jamjuree"/>
                <a:sym typeface="Bai Jamjuree"/>
              </a:rPr>
              <a:t>Overview</a:t>
            </a:r>
            <a:endParaRPr sz="1200" b="0" i="0" u="none" strike="noStrike" cap="none">
              <a:solidFill>
                <a:srgbClr val="000000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76" name="Google Shape;276;p2">
            <a:extLst>
              <a:ext uri="{FF2B5EF4-FFF2-40B4-BE49-F238E27FC236}">
                <a16:creationId xmlns:a16="http://schemas.microsoft.com/office/drawing/2014/main" id="{E87CC875-6B74-CA93-362D-1B2519A5AC48}"/>
              </a:ext>
            </a:extLst>
          </p:cNvPr>
          <p:cNvSpPr txBox="1"/>
          <p:nvPr/>
        </p:nvSpPr>
        <p:spPr>
          <a:xfrm>
            <a:off x="4782298" y="2002140"/>
            <a:ext cx="7095494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Enterprise environment with: </a:t>
            </a:r>
          </a:p>
          <a:p>
            <a:pPr marL="285750" lvl="2" indent="-285750">
              <a:buSzPts val="1400"/>
              <a:buFont typeface="Arial" panose="020B0604020202020204" pitchFamily="34" charset="0"/>
              <a:buChar char="•"/>
            </a:pPr>
            <a:r>
              <a:rPr lang="en-US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VMware (on-prem)</a:t>
            </a:r>
          </a:p>
          <a:p>
            <a:pPr marL="285750" lvl="2" indent="-285750">
              <a:buSzPts val="1400"/>
              <a:buFont typeface="Arial" panose="020B0604020202020204" pitchFamily="34" charset="0"/>
              <a:buChar char="•"/>
            </a:pPr>
            <a:r>
              <a:rPr lang="en-US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AWS cloud </a:t>
            </a:r>
          </a:p>
          <a:p>
            <a:pPr marL="285750" lvl="2" indent="-285750">
              <a:buSzPts val="1400"/>
              <a:buFont typeface="Arial" panose="020B0604020202020204" pitchFamily="34" charset="0"/>
              <a:buChar char="•"/>
            </a:pPr>
            <a:r>
              <a:rPr lang="en-US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Multiple applications &amp; services</a:t>
            </a: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Lack of centralized monitoring &amp; audit visibility</a:t>
            </a:r>
            <a:endParaRPr sz="1200" b="0" i="0" u="none" strike="noStrike" cap="none" dirty="0">
              <a:solidFill>
                <a:srgbClr val="484848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78" name="Google Shape;278;p2">
            <a:extLst>
              <a:ext uri="{FF2B5EF4-FFF2-40B4-BE49-F238E27FC236}">
                <a16:creationId xmlns:a16="http://schemas.microsoft.com/office/drawing/2014/main" id="{7B97A275-C795-BDBE-D1C1-864C3E87CB2A}"/>
              </a:ext>
            </a:extLst>
          </p:cNvPr>
          <p:cNvSpPr/>
          <p:nvPr/>
        </p:nvSpPr>
        <p:spPr>
          <a:xfrm>
            <a:off x="861149" y="6392921"/>
            <a:ext cx="711164" cy="728380"/>
          </a:xfrm>
          <a:custGeom>
            <a:avLst/>
            <a:gdLst/>
            <a:ahLst/>
            <a:cxnLst/>
            <a:rect l="l" t="t" r="r" b="b"/>
            <a:pathLst>
              <a:path w="799061" h="818405" extrusionOk="0">
                <a:moveTo>
                  <a:pt x="0" y="0"/>
                </a:moveTo>
                <a:lnTo>
                  <a:pt x="799061" y="0"/>
                </a:lnTo>
                <a:lnTo>
                  <a:pt x="799061" y="818405"/>
                </a:lnTo>
                <a:lnTo>
                  <a:pt x="0" y="8184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9" name="Google Shape;279;p2">
            <a:extLst>
              <a:ext uri="{FF2B5EF4-FFF2-40B4-BE49-F238E27FC236}">
                <a16:creationId xmlns:a16="http://schemas.microsoft.com/office/drawing/2014/main" id="{0296EABA-EAB4-D0FC-37FB-9F196A2EA52C}"/>
              </a:ext>
            </a:extLst>
          </p:cNvPr>
          <p:cNvSpPr/>
          <p:nvPr/>
        </p:nvSpPr>
        <p:spPr>
          <a:xfrm>
            <a:off x="1173733" y="394023"/>
            <a:ext cx="9192265" cy="475052"/>
          </a:xfrm>
          <a:custGeom>
            <a:avLst/>
            <a:gdLst/>
            <a:ahLst/>
            <a:cxnLst/>
            <a:rect l="l" t="t" r="r" b="b"/>
            <a:pathLst>
              <a:path w="13771184" h="711689" extrusionOk="0">
                <a:moveTo>
                  <a:pt x="0" y="0"/>
                </a:moveTo>
                <a:lnTo>
                  <a:pt x="13771184" y="0"/>
                </a:lnTo>
                <a:lnTo>
                  <a:pt x="13771184" y="711689"/>
                </a:lnTo>
                <a:lnTo>
                  <a:pt x="0" y="71168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0" name="Google Shape;280;p2">
            <a:extLst>
              <a:ext uri="{FF2B5EF4-FFF2-40B4-BE49-F238E27FC236}">
                <a16:creationId xmlns:a16="http://schemas.microsoft.com/office/drawing/2014/main" id="{AA3DDE1E-CD0A-E01E-D120-98A81A6E8A9A}"/>
              </a:ext>
            </a:extLst>
          </p:cNvPr>
          <p:cNvSpPr/>
          <p:nvPr/>
        </p:nvSpPr>
        <p:spPr>
          <a:xfrm>
            <a:off x="1006700" y="473200"/>
            <a:ext cx="58166" cy="473075"/>
          </a:xfrm>
          <a:custGeom>
            <a:avLst/>
            <a:gdLst/>
            <a:ahLst/>
            <a:cxnLst/>
            <a:rect l="l" t="t" r="r" b="b"/>
            <a:pathLst>
              <a:path w="101600" h="635000" extrusionOk="0">
                <a:moveTo>
                  <a:pt x="101600" y="0"/>
                </a:moveTo>
                <a:lnTo>
                  <a:pt x="0" y="0"/>
                </a:lnTo>
                <a:lnTo>
                  <a:pt x="0" y="635000"/>
                </a:lnTo>
                <a:lnTo>
                  <a:pt x="101600" y="635000"/>
                </a:lnTo>
                <a:lnTo>
                  <a:pt x="101600" y="0"/>
                </a:lnTo>
                <a:close/>
              </a:path>
            </a:pathLst>
          </a:custGeom>
          <a:solidFill>
            <a:srgbClr val="0050A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81" name="Google Shape;281;p2">
            <a:extLst>
              <a:ext uri="{FF2B5EF4-FFF2-40B4-BE49-F238E27FC236}">
                <a16:creationId xmlns:a16="http://schemas.microsoft.com/office/drawing/2014/main" id="{CA3E8169-CDDE-E866-3268-98946D23CBF8}"/>
              </a:ext>
            </a:extLst>
          </p:cNvPr>
          <p:cNvSpPr txBox="1"/>
          <p:nvPr/>
        </p:nvSpPr>
        <p:spPr>
          <a:xfrm>
            <a:off x="1173725" y="694450"/>
            <a:ext cx="14569800" cy="28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0054CF"/>
                </a:solidFill>
                <a:latin typeface="Bai Jamjuree"/>
                <a:ea typeface="Bai Jamjuree"/>
                <a:cs typeface="Bai Jamjuree"/>
                <a:sym typeface="Bai Jamjuree"/>
              </a:rPr>
              <a:t>Hybrid Cloud Observability Platform</a:t>
            </a:r>
            <a:endParaRPr sz="1800" b="1" i="0" u="none" strike="noStrike" cap="none" dirty="0">
              <a:solidFill>
                <a:srgbClr val="0054CF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82" name="Google Shape;282;p2">
            <a:extLst>
              <a:ext uri="{FF2B5EF4-FFF2-40B4-BE49-F238E27FC236}">
                <a16:creationId xmlns:a16="http://schemas.microsoft.com/office/drawing/2014/main" id="{82C2F360-FC3D-C4CE-D45A-6A6F2D3D4A84}"/>
              </a:ext>
            </a:extLst>
          </p:cNvPr>
          <p:cNvSpPr txBox="1"/>
          <p:nvPr/>
        </p:nvSpPr>
        <p:spPr>
          <a:xfrm>
            <a:off x="1185569" y="417300"/>
            <a:ext cx="5079900" cy="2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4D4D4F"/>
                </a:solidFill>
                <a:latin typeface="Bai Jamjuree"/>
                <a:ea typeface="Bai Jamjuree"/>
                <a:cs typeface="Bai Jamjuree"/>
                <a:sym typeface="Bai Jamjuree"/>
              </a:rPr>
              <a:t>Key Use Cases in Operation  </a:t>
            </a:r>
            <a:endParaRPr sz="1400" b="0" i="0" u="none" strike="noStrike" cap="none" dirty="0">
              <a:solidFill>
                <a:srgbClr val="4D4D4F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83" name="Google Shape;283;p2">
            <a:extLst>
              <a:ext uri="{FF2B5EF4-FFF2-40B4-BE49-F238E27FC236}">
                <a16:creationId xmlns:a16="http://schemas.microsoft.com/office/drawing/2014/main" id="{23C4B769-977A-0B5D-00B5-99BBAA248194}"/>
              </a:ext>
            </a:extLst>
          </p:cNvPr>
          <p:cNvSpPr/>
          <p:nvPr/>
        </p:nvSpPr>
        <p:spPr>
          <a:xfrm>
            <a:off x="1380286" y="8466624"/>
            <a:ext cx="525462" cy="677863"/>
          </a:xfrm>
          <a:custGeom>
            <a:avLst/>
            <a:gdLst/>
            <a:ahLst/>
            <a:cxnLst/>
            <a:rect l="l" t="t" r="r" b="b"/>
            <a:pathLst>
              <a:path w="635000" h="889000" extrusionOk="0">
                <a:moveTo>
                  <a:pt x="635000" y="0"/>
                </a:moveTo>
                <a:lnTo>
                  <a:pt x="0" y="0"/>
                </a:lnTo>
                <a:lnTo>
                  <a:pt x="0" y="889000"/>
                </a:lnTo>
                <a:lnTo>
                  <a:pt x="635000" y="889000"/>
                </a:lnTo>
                <a:lnTo>
                  <a:pt x="635000" y="0"/>
                </a:lnTo>
                <a:close/>
              </a:path>
            </a:pathLst>
          </a:custGeom>
          <a:solidFill>
            <a:srgbClr val="0391E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">
            <a:extLst>
              <a:ext uri="{FF2B5EF4-FFF2-40B4-BE49-F238E27FC236}">
                <a16:creationId xmlns:a16="http://schemas.microsoft.com/office/drawing/2014/main" id="{7FF1814B-964C-5D6B-ECF1-C951DE8F958D}"/>
              </a:ext>
            </a:extLst>
          </p:cNvPr>
          <p:cNvSpPr txBox="1"/>
          <p:nvPr/>
        </p:nvSpPr>
        <p:spPr>
          <a:xfrm>
            <a:off x="1326700" y="8686382"/>
            <a:ext cx="633000" cy="2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1" i="0" u="none" strike="noStrike" cap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3</a:t>
            </a:fld>
            <a:endParaRPr sz="1400" b="1" i="0" u="none" strike="noStrike" cap="none">
              <a:solidFill>
                <a:srgbClr val="FFFFFF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85" name="Google Shape;285;p2">
            <a:extLst>
              <a:ext uri="{FF2B5EF4-FFF2-40B4-BE49-F238E27FC236}">
                <a16:creationId xmlns:a16="http://schemas.microsoft.com/office/drawing/2014/main" id="{87D3CABA-9FEC-4304-E9E3-F0293A26793A}"/>
              </a:ext>
            </a:extLst>
          </p:cNvPr>
          <p:cNvSpPr/>
          <p:nvPr/>
        </p:nvSpPr>
        <p:spPr>
          <a:xfrm>
            <a:off x="5944725" y="8876224"/>
            <a:ext cx="4366522" cy="268047"/>
          </a:xfrm>
          <a:custGeom>
            <a:avLst/>
            <a:gdLst/>
            <a:ahLst/>
            <a:cxnLst/>
            <a:rect l="l" t="t" r="r" b="b"/>
            <a:pathLst>
              <a:path w="7247340" h="423790" extrusionOk="0">
                <a:moveTo>
                  <a:pt x="219653" y="0"/>
                </a:moveTo>
                <a:lnTo>
                  <a:pt x="220563" y="1747"/>
                </a:lnTo>
                <a:lnTo>
                  <a:pt x="7026779" y="1747"/>
                </a:lnTo>
                <a:lnTo>
                  <a:pt x="7027688" y="0"/>
                </a:lnTo>
                <a:lnTo>
                  <a:pt x="7028597" y="1747"/>
                </a:lnTo>
                <a:lnTo>
                  <a:pt x="7036635" y="1747"/>
                </a:lnTo>
                <a:lnTo>
                  <a:pt x="7036635" y="17191"/>
                </a:lnTo>
                <a:lnTo>
                  <a:pt x="7247340" y="422043"/>
                </a:lnTo>
                <a:lnTo>
                  <a:pt x="7036635" y="422043"/>
                </a:lnTo>
                <a:lnTo>
                  <a:pt x="7036635" y="423790"/>
                </a:lnTo>
                <a:lnTo>
                  <a:pt x="219653" y="423790"/>
                </a:lnTo>
                <a:lnTo>
                  <a:pt x="219653" y="422043"/>
                </a:lnTo>
                <a:lnTo>
                  <a:pt x="0" y="422043"/>
                </a:lnTo>
                <a:close/>
              </a:path>
            </a:pathLst>
          </a:custGeom>
          <a:solidFill>
            <a:srgbClr val="DAE5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5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">
            <a:extLst>
              <a:ext uri="{FF2B5EF4-FFF2-40B4-BE49-F238E27FC236}">
                <a16:creationId xmlns:a16="http://schemas.microsoft.com/office/drawing/2014/main" id="{38FF8646-8E06-06A8-3D56-78DF027D7B76}"/>
              </a:ext>
            </a:extLst>
          </p:cNvPr>
          <p:cNvSpPr txBox="1"/>
          <p:nvPr/>
        </p:nvSpPr>
        <p:spPr>
          <a:xfrm>
            <a:off x="5982388" y="8856338"/>
            <a:ext cx="429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400" b="0" i="0" u="none" strike="noStrike" cap="none">
                <a:solidFill>
                  <a:srgbClr val="1F497D"/>
                </a:solidFill>
                <a:latin typeface="Bai Jamjuree"/>
                <a:ea typeface="Bai Jamjuree"/>
                <a:cs typeface="Bai Jamjuree"/>
                <a:sym typeface="Bai Jamjuree"/>
              </a:rPr>
              <a:t>Copyright © 2025 VTI All rights reserved</a:t>
            </a:r>
            <a:endParaRPr sz="1400" b="0" i="0" u="none" strike="noStrike" cap="none">
              <a:solidFill>
                <a:srgbClr val="1F497D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pic>
        <p:nvPicPr>
          <p:cNvPr id="287" name="Google Shape;287;p2">
            <a:extLst>
              <a:ext uri="{FF2B5EF4-FFF2-40B4-BE49-F238E27FC236}">
                <a16:creationId xmlns:a16="http://schemas.microsoft.com/office/drawing/2014/main" id="{C90FF085-63A9-53E3-E74E-508CE8F27E9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30052" y="279698"/>
            <a:ext cx="606782" cy="22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">
            <a:extLst>
              <a:ext uri="{FF2B5EF4-FFF2-40B4-BE49-F238E27FC236}">
                <a16:creationId xmlns:a16="http://schemas.microsoft.com/office/drawing/2014/main" id="{65568203-AACB-CBB3-B954-AAC64A27B809}"/>
              </a:ext>
            </a:extLst>
          </p:cNvPr>
          <p:cNvSpPr/>
          <p:nvPr/>
        </p:nvSpPr>
        <p:spPr>
          <a:xfrm>
            <a:off x="348650" y="1944800"/>
            <a:ext cx="3806927" cy="5046133"/>
          </a:xfrm>
          <a:custGeom>
            <a:avLst/>
            <a:gdLst/>
            <a:ahLst/>
            <a:cxnLst/>
            <a:rect l="l" t="t" r="r" b="b"/>
            <a:pathLst>
              <a:path w="2748684" h="2709333" extrusionOk="0">
                <a:moveTo>
                  <a:pt x="0" y="0"/>
                </a:moveTo>
                <a:lnTo>
                  <a:pt x="2748684" y="0"/>
                </a:lnTo>
                <a:lnTo>
                  <a:pt x="2748684" y="2709333"/>
                </a:lnTo>
                <a:lnTo>
                  <a:pt x="0" y="2709333"/>
                </a:lnTo>
                <a:close/>
              </a:path>
            </a:pathLst>
          </a:custGeom>
          <a:solidFill>
            <a:srgbClr val="003A8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9" name="Google Shape;289;p2">
            <a:extLst>
              <a:ext uri="{FF2B5EF4-FFF2-40B4-BE49-F238E27FC236}">
                <a16:creationId xmlns:a16="http://schemas.microsoft.com/office/drawing/2014/main" id="{D6696124-9021-23AE-BD06-051FE0E33D08}"/>
              </a:ext>
            </a:extLst>
          </p:cNvPr>
          <p:cNvSpPr txBox="1"/>
          <p:nvPr/>
        </p:nvSpPr>
        <p:spPr>
          <a:xfrm>
            <a:off x="510380" y="2673317"/>
            <a:ext cx="3581761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Telco Relevance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Multi-data center monitoring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Network node observability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Core system operations visibility</a:t>
            </a:r>
          </a:p>
        </p:txBody>
      </p:sp>
      <p:sp>
        <p:nvSpPr>
          <p:cNvPr id="291" name="Google Shape;291;p2">
            <a:extLst>
              <a:ext uri="{FF2B5EF4-FFF2-40B4-BE49-F238E27FC236}">
                <a16:creationId xmlns:a16="http://schemas.microsoft.com/office/drawing/2014/main" id="{88872CDB-86D6-DECF-0148-97297C22A70D}"/>
              </a:ext>
            </a:extLst>
          </p:cNvPr>
          <p:cNvSpPr txBox="1"/>
          <p:nvPr/>
        </p:nvSpPr>
        <p:spPr>
          <a:xfrm>
            <a:off x="4812660" y="3525654"/>
            <a:ext cx="4794636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3A3A3A"/>
                </a:solidFill>
                <a:latin typeface="Bai Jamjuree"/>
                <a:ea typeface="Bai Jamjuree"/>
                <a:cs typeface="Bai Jamjuree"/>
                <a:sym typeface="Bai Jamjuree"/>
              </a:rPr>
              <a:t>Solution &amp; Technology Used</a:t>
            </a:r>
            <a:endParaRPr sz="1200" b="0" i="0" u="none" strike="noStrike" cap="none" dirty="0">
              <a:solidFill>
                <a:schemeClr val="dk1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cxnSp>
        <p:nvCxnSpPr>
          <p:cNvPr id="292" name="Google Shape;292;p2">
            <a:extLst>
              <a:ext uri="{FF2B5EF4-FFF2-40B4-BE49-F238E27FC236}">
                <a16:creationId xmlns:a16="http://schemas.microsoft.com/office/drawing/2014/main" id="{ECEABD37-90FB-519E-601B-3F172913A690}"/>
              </a:ext>
            </a:extLst>
          </p:cNvPr>
          <p:cNvCxnSpPr/>
          <p:nvPr/>
        </p:nvCxnSpPr>
        <p:spPr>
          <a:xfrm rot="10800000" flipH="1">
            <a:off x="4774422" y="5145659"/>
            <a:ext cx="4637100" cy="12600"/>
          </a:xfrm>
          <a:prstGeom prst="straightConnector1">
            <a:avLst/>
          </a:prstGeom>
          <a:noFill/>
          <a:ln w="19050" cap="flat" cmpd="sng">
            <a:solidFill>
              <a:srgbClr val="3A3A3A">
                <a:alpha val="2862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3" name="Google Shape;293;p2">
            <a:extLst>
              <a:ext uri="{FF2B5EF4-FFF2-40B4-BE49-F238E27FC236}">
                <a16:creationId xmlns:a16="http://schemas.microsoft.com/office/drawing/2014/main" id="{D253BCF2-180E-0FE0-AE92-D8F99537113B}"/>
              </a:ext>
            </a:extLst>
          </p:cNvPr>
          <p:cNvSpPr txBox="1"/>
          <p:nvPr/>
        </p:nvSpPr>
        <p:spPr>
          <a:xfrm>
            <a:off x="4836337" y="3998543"/>
            <a:ext cx="7244576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</a:pPr>
            <a:r>
              <a:rPr lang="en-US" sz="13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ELK-based centralized logging platform:</a:t>
            </a:r>
          </a:p>
          <a:p>
            <a:pPr marL="285750" lvl="1" indent="-285750">
              <a:buSzPts val="1300"/>
              <a:buFont typeface="Noto Sans Symbols"/>
              <a:buChar char="▪"/>
            </a:pPr>
            <a:r>
              <a:rPr lang="en-US" sz="13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Collect logs from VM, network, application layers</a:t>
            </a:r>
          </a:p>
          <a:p>
            <a:pPr marL="285750" lvl="1" indent="-285750">
              <a:buSzPts val="1300"/>
              <a:buFont typeface="Noto Sans Symbols"/>
              <a:buChar char="▪"/>
            </a:pPr>
            <a:r>
              <a:rPr lang="en-US" sz="13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Unified dashboard (Kibana)</a:t>
            </a:r>
          </a:p>
          <a:p>
            <a:pPr marL="285750" lvl="1" indent="-285750">
              <a:buSzPts val="1300"/>
              <a:buFont typeface="Noto Sans Symbols"/>
              <a:buChar char="▪"/>
            </a:pPr>
            <a:r>
              <a:rPr lang="en-US" sz="13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Real-time alerting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" name="Google Shape;292;p2">
            <a:extLst>
              <a:ext uri="{FF2B5EF4-FFF2-40B4-BE49-F238E27FC236}">
                <a16:creationId xmlns:a16="http://schemas.microsoft.com/office/drawing/2014/main" id="{54745F0A-60D2-3555-FBCC-2B3FA767D42B}"/>
              </a:ext>
            </a:extLst>
          </p:cNvPr>
          <p:cNvCxnSpPr/>
          <p:nvPr/>
        </p:nvCxnSpPr>
        <p:spPr>
          <a:xfrm rot="10800000" flipH="1">
            <a:off x="4774422" y="6576582"/>
            <a:ext cx="4637100" cy="12600"/>
          </a:xfrm>
          <a:prstGeom prst="straightConnector1">
            <a:avLst/>
          </a:prstGeom>
          <a:noFill/>
          <a:ln w="19050" cap="flat" cmpd="sng">
            <a:solidFill>
              <a:srgbClr val="3A3A3A">
                <a:alpha val="2862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Google Shape;273;p2">
            <a:extLst>
              <a:ext uri="{FF2B5EF4-FFF2-40B4-BE49-F238E27FC236}">
                <a16:creationId xmlns:a16="http://schemas.microsoft.com/office/drawing/2014/main" id="{FC3F0726-15FE-EB79-E2F9-7EAB345C8B51}"/>
              </a:ext>
            </a:extLst>
          </p:cNvPr>
          <p:cNvSpPr txBox="1"/>
          <p:nvPr/>
        </p:nvSpPr>
        <p:spPr>
          <a:xfrm>
            <a:off x="4869407" y="6748062"/>
            <a:ext cx="11305165" cy="991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3A3A3A"/>
                </a:solidFill>
                <a:latin typeface="Bai Jamjuree"/>
                <a:ea typeface="Bai Jamjuree"/>
                <a:cs typeface="Bai Jamjuree"/>
                <a:sym typeface="Bai Jamjuree"/>
              </a:rPr>
              <a:t>Business Value </a:t>
            </a:r>
            <a:endParaRPr sz="1600" b="1" i="0" u="none" strike="noStrike" cap="none" dirty="0">
              <a:solidFill>
                <a:srgbClr val="3A3A3A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❖"/>
            </a:pPr>
            <a:r>
              <a:rPr lang="en-US" sz="14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Single-pane visibility across hybrid environments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❖"/>
            </a:pPr>
            <a:r>
              <a:rPr lang="en-US" sz="14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Faster incident response (MTTR reduction)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❖"/>
            </a:pPr>
            <a:r>
              <a:rPr lang="en-US" sz="14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Improved governance &amp; compliance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7BB09C-F047-5CF0-B395-66DAAD832BF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04" t="29802" r="30770" b="19585"/>
          <a:stretch>
            <a:fillRect/>
          </a:stretch>
        </p:blipFill>
        <p:spPr>
          <a:xfrm>
            <a:off x="9284158" y="1404897"/>
            <a:ext cx="6955029" cy="34296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2CF09F-410D-5985-CB54-922B39FB4C6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9244" t="56122" r="803" b="3284"/>
          <a:stretch>
            <a:fillRect/>
          </a:stretch>
        </p:blipFill>
        <p:spPr>
          <a:xfrm>
            <a:off x="10767329" y="5131779"/>
            <a:ext cx="4108386" cy="37119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AC392AD-EBA5-931E-A068-9DD45ABCDF4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9636" t="9642" r="861" b="43727"/>
          <a:stretch>
            <a:fillRect/>
          </a:stretch>
        </p:blipFill>
        <p:spPr>
          <a:xfrm>
            <a:off x="461232" y="4704612"/>
            <a:ext cx="3581761" cy="377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904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>
          <a:extLst>
            <a:ext uri="{FF2B5EF4-FFF2-40B4-BE49-F238E27FC236}">
              <a16:creationId xmlns:a16="http://schemas.microsoft.com/office/drawing/2014/main" id="{7617F693-D70B-8046-4E47-367F81C65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2" name="Google Shape;272;p2">
            <a:extLst>
              <a:ext uri="{FF2B5EF4-FFF2-40B4-BE49-F238E27FC236}">
                <a16:creationId xmlns:a16="http://schemas.microsoft.com/office/drawing/2014/main" id="{0CE0A009-1E32-3256-FD70-2748E65E14B5}"/>
              </a:ext>
            </a:extLst>
          </p:cNvPr>
          <p:cNvCxnSpPr/>
          <p:nvPr/>
        </p:nvCxnSpPr>
        <p:spPr>
          <a:xfrm>
            <a:off x="4782298" y="1790860"/>
            <a:ext cx="4637100" cy="0"/>
          </a:xfrm>
          <a:prstGeom prst="straightConnector1">
            <a:avLst/>
          </a:prstGeom>
          <a:noFill/>
          <a:ln w="19050" cap="flat" cmpd="sng">
            <a:solidFill>
              <a:srgbClr val="3A3A3A">
                <a:alpha val="2862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3" name="Google Shape;273;p2">
            <a:extLst>
              <a:ext uri="{FF2B5EF4-FFF2-40B4-BE49-F238E27FC236}">
                <a16:creationId xmlns:a16="http://schemas.microsoft.com/office/drawing/2014/main" id="{E29891FA-F31E-6291-160C-4D3C5B5017AF}"/>
              </a:ext>
            </a:extLst>
          </p:cNvPr>
          <p:cNvSpPr txBox="1"/>
          <p:nvPr/>
        </p:nvSpPr>
        <p:spPr>
          <a:xfrm>
            <a:off x="4869407" y="5211219"/>
            <a:ext cx="11305165" cy="120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3A3A3A"/>
                </a:solidFill>
                <a:latin typeface="Bai Jamjuree"/>
                <a:ea typeface="Bai Jamjuree"/>
                <a:cs typeface="Bai Jamjuree"/>
                <a:sym typeface="Bai Jamjuree"/>
              </a:rPr>
              <a:t>Highlight </a:t>
            </a:r>
            <a:endParaRPr sz="1600" b="1" i="0" u="none" strike="noStrike" cap="none" dirty="0">
              <a:solidFill>
                <a:srgbClr val="3A3A3A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Cross-environment log aggregation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Secure ingestion (SSL, authentication)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Data migration (batch + scheduled sync)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Log lifecycle management (rotation &amp; retention) </a:t>
            </a:r>
          </a:p>
        </p:txBody>
      </p:sp>
      <p:cxnSp>
        <p:nvCxnSpPr>
          <p:cNvPr id="274" name="Google Shape;274;p2">
            <a:extLst>
              <a:ext uri="{FF2B5EF4-FFF2-40B4-BE49-F238E27FC236}">
                <a16:creationId xmlns:a16="http://schemas.microsoft.com/office/drawing/2014/main" id="{AD94C65B-E4E0-8DE3-2931-C105C03B671B}"/>
              </a:ext>
            </a:extLst>
          </p:cNvPr>
          <p:cNvCxnSpPr/>
          <p:nvPr/>
        </p:nvCxnSpPr>
        <p:spPr>
          <a:xfrm rot="10800000" flipH="1">
            <a:off x="4855849" y="3882727"/>
            <a:ext cx="4637100" cy="12600"/>
          </a:xfrm>
          <a:prstGeom prst="straightConnector1">
            <a:avLst/>
          </a:prstGeom>
          <a:noFill/>
          <a:ln w="19050" cap="flat" cmpd="sng">
            <a:solidFill>
              <a:srgbClr val="3A3A3A">
                <a:alpha val="2862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5" name="Google Shape;275;p2">
            <a:extLst>
              <a:ext uri="{FF2B5EF4-FFF2-40B4-BE49-F238E27FC236}">
                <a16:creationId xmlns:a16="http://schemas.microsoft.com/office/drawing/2014/main" id="{F69DD640-772B-1D38-461B-39D9F0052C35}"/>
              </a:ext>
            </a:extLst>
          </p:cNvPr>
          <p:cNvSpPr txBox="1"/>
          <p:nvPr/>
        </p:nvSpPr>
        <p:spPr>
          <a:xfrm>
            <a:off x="4782298" y="1456735"/>
            <a:ext cx="2960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3A3A3A"/>
                </a:solidFill>
                <a:latin typeface="Bai Jamjuree"/>
                <a:ea typeface="Bai Jamjuree"/>
                <a:cs typeface="Bai Jamjuree"/>
                <a:sym typeface="Bai Jamjuree"/>
              </a:rPr>
              <a:t>Overview</a:t>
            </a:r>
            <a:endParaRPr sz="1200" b="0" i="0" u="none" strike="noStrike" cap="none">
              <a:solidFill>
                <a:srgbClr val="000000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78" name="Google Shape;278;p2">
            <a:extLst>
              <a:ext uri="{FF2B5EF4-FFF2-40B4-BE49-F238E27FC236}">
                <a16:creationId xmlns:a16="http://schemas.microsoft.com/office/drawing/2014/main" id="{5737938A-1C5C-E120-F91F-E33312BE30A2}"/>
              </a:ext>
            </a:extLst>
          </p:cNvPr>
          <p:cNvSpPr/>
          <p:nvPr/>
        </p:nvSpPr>
        <p:spPr>
          <a:xfrm>
            <a:off x="861149" y="6392921"/>
            <a:ext cx="711164" cy="728380"/>
          </a:xfrm>
          <a:custGeom>
            <a:avLst/>
            <a:gdLst/>
            <a:ahLst/>
            <a:cxnLst/>
            <a:rect l="l" t="t" r="r" b="b"/>
            <a:pathLst>
              <a:path w="799061" h="818405" extrusionOk="0">
                <a:moveTo>
                  <a:pt x="0" y="0"/>
                </a:moveTo>
                <a:lnTo>
                  <a:pt x="799061" y="0"/>
                </a:lnTo>
                <a:lnTo>
                  <a:pt x="799061" y="818405"/>
                </a:lnTo>
                <a:lnTo>
                  <a:pt x="0" y="8184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9" name="Google Shape;279;p2">
            <a:extLst>
              <a:ext uri="{FF2B5EF4-FFF2-40B4-BE49-F238E27FC236}">
                <a16:creationId xmlns:a16="http://schemas.microsoft.com/office/drawing/2014/main" id="{F0060B24-58C6-E939-54AE-5A046A2CEF89}"/>
              </a:ext>
            </a:extLst>
          </p:cNvPr>
          <p:cNvSpPr/>
          <p:nvPr/>
        </p:nvSpPr>
        <p:spPr>
          <a:xfrm>
            <a:off x="1173733" y="394023"/>
            <a:ext cx="9192265" cy="475052"/>
          </a:xfrm>
          <a:custGeom>
            <a:avLst/>
            <a:gdLst/>
            <a:ahLst/>
            <a:cxnLst/>
            <a:rect l="l" t="t" r="r" b="b"/>
            <a:pathLst>
              <a:path w="13771184" h="711689" extrusionOk="0">
                <a:moveTo>
                  <a:pt x="0" y="0"/>
                </a:moveTo>
                <a:lnTo>
                  <a:pt x="13771184" y="0"/>
                </a:lnTo>
                <a:lnTo>
                  <a:pt x="13771184" y="711689"/>
                </a:lnTo>
                <a:lnTo>
                  <a:pt x="0" y="71168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0" name="Google Shape;280;p2">
            <a:extLst>
              <a:ext uri="{FF2B5EF4-FFF2-40B4-BE49-F238E27FC236}">
                <a16:creationId xmlns:a16="http://schemas.microsoft.com/office/drawing/2014/main" id="{93E36A69-54C1-970B-7B24-2313A9A07EA5}"/>
              </a:ext>
            </a:extLst>
          </p:cNvPr>
          <p:cNvSpPr/>
          <p:nvPr/>
        </p:nvSpPr>
        <p:spPr>
          <a:xfrm>
            <a:off x="1006700" y="473200"/>
            <a:ext cx="58166" cy="473075"/>
          </a:xfrm>
          <a:custGeom>
            <a:avLst/>
            <a:gdLst/>
            <a:ahLst/>
            <a:cxnLst/>
            <a:rect l="l" t="t" r="r" b="b"/>
            <a:pathLst>
              <a:path w="101600" h="635000" extrusionOk="0">
                <a:moveTo>
                  <a:pt x="101600" y="0"/>
                </a:moveTo>
                <a:lnTo>
                  <a:pt x="0" y="0"/>
                </a:lnTo>
                <a:lnTo>
                  <a:pt x="0" y="635000"/>
                </a:lnTo>
                <a:lnTo>
                  <a:pt x="101600" y="635000"/>
                </a:lnTo>
                <a:lnTo>
                  <a:pt x="101600" y="0"/>
                </a:lnTo>
                <a:close/>
              </a:path>
            </a:pathLst>
          </a:custGeom>
          <a:solidFill>
            <a:srgbClr val="0050A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81" name="Google Shape;281;p2">
            <a:extLst>
              <a:ext uri="{FF2B5EF4-FFF2-40B4-BE49-F238E27FC236}">
                <a16:creationId xmlns:a16="http://schemas.microsoft.com/office/drawing/2014/main" id="{17272561-A401-0F09-EF1A-D5951232A194}"/>
              </a:ext>
            </a:extLst>
          </p:cNvPr>
          <p:cNvSpPr txBox="1"/>
          <p:nvPr/>
        </p:nvSpPr>
        <p:spPr>
          <a:xfrm>
            <a:off x="1173725" y="694450"/>
            <a:ext cx="14569800" cy="28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1" i="0" u="none" strike="noStrike" cap="none" dirty="0">
                <a:solidFill>
                  <a:srgbClr val="0054CF"/>
                </a:solidFill>
                <a:latin typeface="Bai Jamjuree"/>
                <a:ea typeface="Bai Jamjuree"/>
                <a:cs typeface="Bai Jamjuree"/>
                <a:sym typeface="Bai Jamjuree"/>
              </a:rPr>
              <a:t>ELK Migration &amp; Multi-</a:t>
            </a:r>
            <a:r>
              <a:rPr lang="fr-FR" sz="1800" b="1" i="0" u="none" strike="noStrike" cap="none" dirty="0" err="1">
                <a:solidFill>
                  <a:srgbClr val="0054CF"/>
                </a:solidFill>
                <a:latin typeface="Bai Jamjuree"/>
                <a:ea typeface="Bai Jamjuree"/>
                <a:cs typeface="Bai Jamjuree"/>
                <a:sym typeface="Bai Jamjuree"/>
              </a:rPr>
              <a:t>Environment</a:t>
            </a:r>
            <a:r>
              <a:rPr lang="fr-FR" sz="1800" b="1" i="0" u="none" strike="noStrike" cap="none" dirty="0">
                <a:solidFill>
                  <a:srgbClr val="0054CF"/>
                </a:solidFill>
                <a:latin typeface="Bai Jamjuree"/>
                <a:ea typeface="Bai Jamjuree"/>
                <a:cs typeface="Bai Jamjuree"/>
                <a:sym typeface="Bai Jamjuree"/>
              </a:rPr>
              <a:t> Log Unification</a:t>
            </a:r>
            <a:endParaRPr sz="1800" b="1" i="0" u="none" strike="noStrike" cap="none" dirty="0">
              <a:solidFill>
                <a:srgbClr val="0054CF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82" name="Google Shape;282;p2">
            <a:extLst>
              <a:ext uri="{FF2B5EF4-FFF2-40B4-BE49-F238E27FC236}">
                <a16:creationId xmlns:a16="http://schemas.microsoft.com/office/drawing/2014/main" id="{C22A51B0-A47B-3903-77F9-FC2B4C5D54D2}"/>
              </a:ext>
            </a:extLst>
          </p:cNvPr>
          <p:cNvSpPr txBox="1"/>
          <p:nvPr/>
        </p:nvSpPr>
        <p:spPr>
          <a:xfrm>
            <a:off x="1185569" y="417300"/>
            <a:ext cx="5079900" cy="2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4D4D4F"/>
                </a:solidFill>
                <a:latin typeface="Bai Jamjuree"/>
                <a:ea typeface="Bai Jamjuree"/>
                <a:cs typeface="Bai Jamjuree"/>
                <a:sym typeface="Bai Jamjuree"/>
              </a:rPr>
              <a:t>Key Use Cases in Operation  </a:t>
            </a:r>
            <a:endParaRPr sz="1400" b="0" i="0" u="none" strike="noStrike" cap="none" dirty="0">
              <a:solidFill>
                <a:srgbClr val="4D4D4F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83" name="Google Shape;283;p2">
            <a:extLst>
              <a:ext uri="{FF2B5EF4-FFF2-40B4-BE49-F238E27FC236}">
                <a16:creationId xmlns:a16="http://schemas.microsoft.com/office/drawing/2014/main" id="{26FD7D56-2395-26DA-B4E1-A47996134F94}"/>
              </a:ext>
            </a:extLst>
          </p:cNvPr>
          <p:cNvSpPr/>
          <p:nvPr/>
        </p:nvSpPr>
        <p:spPr>
          <a:xfrm>
            <a:off x="1380286" y="8466624"/>
            <a:ext cx="525462" cy="677863"/>
          </a:xfrm>
          <a:custGeom>
            <a:avLst/>
            <a:gdLst/>
            <a:ahLst/>
            <a:cxnLst/>
            <a:rect l="l" t="t" r="r" b="b"/>
            <a:pathLst>
              <a:path w="635000" h="889000" extrusionOk="0">
                <a:moveTo>
                  <a:pt x="635000" y="0"/>
                </a:moveTo>
                <a:lnTo>
                  <a:pt x="0" y="0"/>
                </a:lnTo>
                <a:lnTo>
                  <a:pt x="0" y="889000"/>
                </a:lnTo>
                <a:lnTo>
                  <a:pt x="635000" y="889000"/>
                </a:lnTo>
                <a:lnTo>
                  <a:pt x="635000" y="0"/>
                </a:lnTo>
                <a:close/>
              </a:path>
            </a:pathLst>
          </a:custGeom>
          <a:solidFill>
            <a:srgbClr val="0391E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">
            <a:extLst>
              <a:ext uri="{FF2B5EF4-FFF2-40B4-BE49-F238E27FC236}">
                <a16:creationId xmlns:a16="http://schemas.microsoft.com/office/drawing/2014/main" id="{2E03C0C4-99B7-8B90-50E1-09F809B4035B}"/>
              </a:ext>
            </a:extLst>
          </p:cNvPr>
          <p:cNvSpPr txBox="1"/>
          <p:nvPr/>
        </p:nvSpPr>
        <p:spPr>
          <a:xfrm>
            <a:off x="1326700" y="8686382"/>
            <a:ext cx="633000" cy="2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1" i="0" u="none" strike="noStrike" cap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4</a:t>
            </a:fld>
            <a:endParaRPr sz="1400" b="1" i="0" u="none" strike="noStrike" cap="none">
              <a:solidFill>
                <a:srgbClr val="FFFFFF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85" name="Google Shape;285;p2">
            <a:extLst>
              <a:ext uri="{FF2B5EF4-FFF2-40B4-BE49-F238E27FC236}">
                <a16:creationId xmlns:a16="http://schemas.microsoft.com/office/drawing/2014/main" id="{DA69C2BE-4189-02AF-2A8F-1B18D9E8AE4E}"/>
              </a:ext>
            </a:extLst>
          </p:cNvPr>
          <p:cNvSpPr/>
          <p:nvPr/>
        </p:nvSpPr>
        <p:spPr>
          <a:xfrm>
            <a:off x="5944725" y="8876224"/>
            <a:ext cx="4366522" cy="268047"/>
          </a:xfrm>
          <a:custGeom>
            <a:avLst/>
            <a:gdLst/>
            <a:ahLst/>
            <a:cxnLst/>
            <a:rect l="l" t="t" r="r" b="b"/>
            <a:pathLst>
              <a:path w="7247340" h="423790" extrusionOk="0">
                <a:moveTo>
                  <a:pt x="219653" y="0"/>
                </a:moveTo>
                <a:lnTo>
                  <a:pt x="220563" y="1747"/>
                </a:lnTo>
                <a:lnTo>
                  <a:pt x="7026779" y="1747"/>
                </a:lnTo>
                <a:lnTo>
                  <a:pt x="7027688" y="0"/>
                </a:lnTo>
                <a:lnTo>
                  <a:pt x="7028597" y="1747"/>
                </a:lnTo>
                <a:lnTo>
                  <a:pt x="7036635" y="1747"/>
                </a:lnTo>
                <a:lnTo>
                  <a:pt x="7036635" y="17191"/>
                </a:lnTo>
                <a:lnTo>
                  <a:pt x="7247340" y="422043"/>
                </a:lnTo>
                <a:lnTo>
                  <a:pt x="7036635" y="422043"/>
                </a:lnTo>
                <a:lnTo>
                  <a:pt x="7036635" y="423790"/>
                </a:lnTo>
                <a:lnTo>
                  <a:pt x="219653" y="423790"/>
                </a:lnTo>
                <a:lnTo>
                  <a:pt x="219653" y="422043"/>
                </a:lnTo>
                <a:lnTo>
                  <a:pt x="0" y="422043"/>
                </a:lnTo>
                <a:close/>
              </a:path>
            </a:pathLst>
          </a:custGeom>
          <a:solidFill>
            <a:srgbClr val="DAE5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5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">
            <a:extLst>
              <a:ext uri="{FF2B5EF4-FFF2-40B4-BE49-F238E27FC236}">
                <a16:creationId xmlns:a16="http://schemas.microsoft.com/office/drawing/2014/main" id="{094C13B2-D596-8626-2EE0-40B4497F53F5}"/>
              </a:ext>
            </a:extLst>
          </p:cNvPr>
          <p:cNvSpPr txBox="1"/>
          <p:nvPr/>
        </p:nvSpPr>
        <p:spPr>
          <a:xfrm>
            <a:off x="5982388" y="8856338"/>
            <a:ext cx="429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400" b="0" i="0" u="none" strike="noStrike" cap="none">
                <a:solidFill>
                  <a:srgbClr val="1F497D"/>
                </a:solidFill>
                <a:latin typeface="Bai Jamjuree"/>
                <a:ea typeface="Bai Jamjuree"/>
                <a:cs typeface="Bai Jamjuree"/>
                <a:sym typeface="Bai Jamjuree"/>
              </a:rPr>
              <a:t>Copyright © 2025 VTI All rights reserved</a:t>
            </a:r>
            <a:endParaRPr sz="1400" b="0" i="0" u="none" strike="noStrike" cap="none">
              <a:solidFill>
                <a:srgbClr val="1F497D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pic>
        <p:nvPicPr>
          <p:cNvPr id="287" name="Google Shape;287;p2">
            <a:extLst>
              <a:ext uri="{FF2B5EF4-FFF2-40B4-BE49-F238E27FC236}">
                <a16:creationId xmlns:a16="http://schemas.microsoft.com/office/drawing/2014/main" id="{60EBCE74-785E-F3AB-823C-8116A50B63D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30052" y="279698"/>
            <a:ext cx="606782" cy="22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">
            <a:extLst>
              <a:ext uri="{FF2B5EF4-FFF2-40B4-BE49-F238E27FC236}">
                <a16:creationId xmlns:a16="http://schemas.microsoft.com/office/drawing/2014/main" id="{C75351F9-3C2C-A055-02A7-7BD8F585441D}"/>
              </a:ext>
            </a:extLst>
          </p:cNvPr>
          <p:cNvSpPr/>
          <p:nvPr/>
        </p:nvSpPr>
        <p:spPr>
          <a:xfrm>
            <a:off x="348650" y="1944800"/>
            <a:ext cx="3806927" cy="5046133"/>
          </a:xfrm>
          <a:custGeom>
            <a:avLst/>
            <a:gdLst/>
            <a:ahLst/>
            <a:cxnLst/>
            <a:rect l="l" t="t" r="r" b="b"/>
            <a:pathLst>
              <a:path w="2748684" h="2709333" extrusionOk="0">
                <a:moveTo>
                  <a:pt x="0" y="0"/>
                </a:moveTo>
                <a:lnTo>
                  <a:pt x="2748684" y="0"/>
                </a:lnTo>
                <a:lnTo>
                  <a:pt x="2748684" y="2709333"/>
                </a:lnTo>
                <a:lnTo>
                  <a:pt x="0" y="2709333"/>
                </a:lnTo>
                <a:close/>
              </a:path>
            </a:pathLst>
          </a:custGeom>
          <a:solidFill>
            <a:srgbClr val="003A8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9" name="Google Shape;289;p2">
            <a:extLst>
              <a:ext uri="{FF2B5EF4-FFF2-40B4-BE49-F238E27FC236}">
                <a16:creationId xmlns:a16="http://schemas.microsoft.com/office/drawing/2014/main" id="{56F65953-E368-9F3B-6744-D266FF6520FB}"/>
              </a:ext>
            </a:extLst>
          </p:cNvPr>
          <p:cNvSpPr txBox="1"/>
          <p:nvPr/>
        </p:nvSpPr>
        <p:spPr>
          <a:xfrm>
            <a:off x="510380" y="2673317"/>
            <a:ext cx="3581761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Telco Relevance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</a:rPr>
              <a:t>Legacy system modernization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</a:rPr>
              <a:t>Multi-region log aggregation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</a:rPr>
              <a:t>Data center consolidation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91" name="Google Shape;291;p2">
            <a:extLst>
              <a:ext uri="{FF2B5EF4-FFF2-40B4-BE49-F238E27FC236}">
                <a16:creationId xmlns:a16="http://schemas.microsoft.com/office/drawing/2014/main" id="{84E1347C-1BEF-DDCF-D4F9-F729154E952A}"/>
              </a:ext>
            </a:extLst>
          </p:cNvPr>
          <p:cNvSpPr txBox="1"/>
          <p:nvPr/>
        </p:nvSpPr>
        <p:spPr>
          <a:xfrm>
            <a:off x="4812660" y="3525654"/>
            <a:ext cx="4794636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3A3A3A"/>
                </a:solidFill>
                <a:latin typeface="Bai Jamjuree"/>
                <a:ea typeface="Bai Jamjuree"/>
                <a:cs typeface="Bai Jamjuree"/>
                <a:sym typeface="Bai Jamjuree"/>
              </a:rPr>
              <a:t>Solution &amp; Technology Used</a:t>
            </a:r>
            <a:endParaRPr sz="1200" b="0" i="0" u="none" strike="noStrike" cap="none" dirty="0">
              <a:solidFill>
                <a:schemeClr val="dk1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cxnSp>
        <p:nvCxnSpPr>
          <p:cNvPr id="292" name="Google Shape;292;p2">
            <a:extLst>
              <a:ext uri="{FF2B5EF4-FFF2-40B4-BE49-F238E27FC236}">
                <a16:creationId xmlns:a16="http://schemas.microsoft.com/office/drawing/2014/main" id="{626E7FA4-98C4-81EF-2549-B0BAEA6E7CA4}"/>
              </a:ext>
            </a:extLst>
          </p:cNvPr>
          <p:cNvCxnSpPr/>
          <p:nvPr/>
        </p:nvCxnSpPr>
        <p:spPr>
          <a:xfrm rot="10800000" flipH="1">
            <a:off x="4774422" y="5145659"/>
            <a:ext cx="4637100" cy="12600"/>
          </a:xfrm>
          <a:prstGeom prst="straightConnector1">
            <a:avLst/>
          </a:prstGeom>
          <a:noFill/>
          <a:ln w="19050" cap="flat" cmpd="sng">
            <a:solidFill>
              <a:srgbClr val="3A3A3A">
                <a:alpha val="2862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3" name="Google Shape;293;p2">
            <a:extLst>
              <a:ext uri="{FF2B5EF4-FFF2-40B4-BE49-F238E27FC236}">
                <a16:creationId xmlns:a16="http://schemas.microsoft.com/office/drawing/2014/main" id="{EFD984A8-824A-959D-F5A6-CDA26A6A2BE9}"/>
              </a:ext>
            </a:extLst>
          </p:cNvPr>
          <p:cNvSpPr txBox="1"/>
          <p:nvPr/>
        </p:nvSpPr>
        <p:spPr>
          <a:xfrm>
            <a:off x="4836337" y="3998543"/>
            <a:ext cx="3063603" cy="100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 pitchFamily="34" charset="0"/>
              <a:buChar char="•"/>
            </a:pPr>
            <a:r>
              <a:rPr lang="en-US" sz="13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Deploy ELK on AWS (Kubernetes-based)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 pitchFamily="34" charset="0"/>
              <a:buChar char="•"/>
            </a:pPr>
            <a:r>
              <a:rPr lang="en-US" sz="13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Migrate logs from on-prem → cloud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 pitchFamily="34" charset="0"/>
              <a:buChar char="•"/>
            </a:pPr>
            <a:r>
              <a:rPr lang="en-US" sz="13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Synchronize and centralize log storage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" name="Google Shape;292;p2">
            <a:extLst>
              <a:ext uri="{FF2B5EF4-FFF2-40B4-BE49-F238E27FC236}">
                <a16:creationId xmlns:a16="http://schemas.microsoft.com/office/drawing/2014/main" id="{B0305160-4CD0-99C7-0CF0-831E1D576CA2}"/>
              </a:ext>
            </a:extLst>
          </p:cNvPr>
          <p:cNvCxnSpPr/>
          <p:nvPr/>
        </p:nvCxnSpPr>
        <p:spPr>
          <a:xfrm rot="10800000" flipH="1">
            <a:off x="4774422" y="6576582"/>
            <a:ext cx="4637100" cy="12600"/>
          </a:xfrm>
          <a:prstGeom prst="straightConnector1">
            <a:avLst/>
          </a:prstGeom>
          <a:noFill/>
          <a:ln w="19050" cap="flat" cmpd="sng">
            <a:solidFill>
              <a:srgbClr val="3A3A3A">
                <a:alpha val="2862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Google Shape;273;p2">
            <a:extLst>
              <a:ext uri="{FF2B5EF4-FFF2-40B4-BE49-F238E27FC236}">
                <a16:creationId xmlns:a16="http://schemas.microsoft.com/office/drawing/2014/main" id="{DABD2BE5-5476-73B3-FC5E-1B4EFA3E1C5A}"/>
              </a:ext>
            </a:extLst>
          </p:cNvPr>
          <p:cNvSpPr txBox="1"/>
          <p:nvPr/>
        </p:nvSpPr>
        <p:spPr>
          <a:xfrm>
            <a:off x="4869407" y="6748062"/>
            <a:ext cx="11305165" cy="991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3A3A3A"/>
                </a:solidFill>
                <a:latin typeface="Bai Jamjuree"/>
                <a:ea typeface="Bai Jamjuree"/>
                <a:cs typeface="Bai Jamjuree"/>
                <a:sym typeface="Bai Jamjuree"/>
              </a:rPr>
              <a:t>Business Value </a:t>
            </a:r>
            <a:endParaRPr sz="1600" b="1" i="0" u="none" strike="noStrike" cap="none" dirty="0">
              <a:solidFill>
                <a:srgbClr val="3A3A3A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❖"/>
            </a:pPr>
            <a:r>
              <a:rPr lang="en-US" sz="14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Unified observability platform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❖"/>
            </a:pPr>
            <a:r>
              <a:rPr lang="en-US" sz="14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Improved scalability &amp; performance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❖"/>
            </a:pPr>
            <a:r>
              <a:rPr lang="en-US" sz="14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Reduced operational complexity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EBF9C0-3456-D9BE-58B2-8FF5BCC5365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04" t="26903" r="29259" b="16934"/>
          <a:stretch>
            <a:fillRect/>
          </a:stretch>
        </p:blipFill>
        <p:spPr>
          <a:xfrm>
            <a:off x="7899940" y="717676"/>
            <a:ext cx="8356060" cy="4473676"/>
          </a:xfrm>
          <a:prstGeom prst="rect">
            <a:avLst/>
          </a:prstGeom>
        </p:spPr>
      </p:pic>
      <p:sp>
        <p:nvSpPr>
          <p:cNvPr id="276" name="Google Shape;276;p2">
            <a:extLst>
              <a:ext uri="{FF2B5EF4-FFF2-40B4-BE49-F238E27FC236}">
                <a16:creationId xmlns:a16="http://schemas.microsoft.com/office/drawing/2014/main" id="{F25862D5-484A-49AB-F0B4-22507A775713}"/>
              </a:ext>
            </a:extLst>
          </p:cNvPr>
          <p:cNvSpPr txBox="1"/>
          <p:nvPr/>
        </p:nvSpPr>
        <p:spPr>
          <a:xfrm>
            <a:off x="4782298" y="2002140"/>
            <a:ext cx="3117642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Existing ELK deployed on-premise</a:t>
            </a:r>
          </a:p>
          <a:p>
            <a:pPr marL="2857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Cloud systems running on AWS</a:t>
            </a:r>
          </a:p>
          <a:p>
            <a:pPr marL="2857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Need unified logging &amp; scalable architecture</a:t>
            </a:r>
            <a:endParaRPr sz="1200" b="0" i="0" u="none" strike="noStrike" cap="none" dirty="0">
              <a:solidFill>
                <a:srgbClr val="484848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E3A9B2-8DBC-88D5-CCD2-24ECBD30581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0077" t="55081" r="414" b="1885"/>
          <a:stretch>
            <a:fillRect/>
          </a:stretch>
        </p:blipFill>
        <p:spPr>
          <a:xfrm>
            <a:off x="10987418" y="5229074"/>
            <a:ext cx="4047516" cy="393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476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>
          <a:extLst>
            <a:ext uri="{FF2B5EF4-FFF2-40B4-BE49-F238E27FC236}">
              <a16:creationId xmlns:a16="http://schemas.microsoft.com/office/drawing/2014/main" id="{5B59463A-4FF9-0BD2-7465-70E0A9A99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2" name="Google Shape;272;p2">
            <a:extLst>
              <a:ext uri="{FF2B5EF4-FFF2-40B4-BE49-F238E27FC236}">
                <a16:creationId xmlns:a16="http://schemas.microsoft.com/office/drawing/2014/main" id="{048D91BC-5599-8012-832C-43B564B57CB4}"/>
              </a:ext>
            </a:extLst>
          </p:cNvPr>
          <p:cNvCxnSpPr/>
          <p:nvPr/>
        </p:nvCxnSpPr>
        <p:spPr>
          <a:xfrm>
            <a:off x="4782298" y="1790860"/>
            <a:ext cx="4637100" cy="0"/>
          </a:xfrm>
          <a:prstGeom prst="straightConnector1">
            <a:avLst/>
          </a:prstGeom>
          <a:noFill/>
          <a:ln w="19050" cap="flat" cmpd="sng">
            <a:solidFill>
              <a:srgbClr val="3A3A3A">
                <a:alpha val="2862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3" name="Google Shape;273;p2">
            <a:extLst>
              <a:ext uri="{FF2B5EF4-FFF2-40B4-BE49-F238E27FC236}">
                <a16:creationId xmlns:a16="http://schemas.microsoft.com/office/drawing/2014/main" id="{2DBDF77F-BCD9-DBDE-24A2-BA2F4E48629A}"/>
              </a:ext>
            </a:extLst>
          </p:cNvPr>
          <p:cNvSpPr txBox="1"/>
          <p:nvPr/>
        </p:nvSpPr>
        <p:spPr>
          <a:xfrm>
            <a:off x="4869408" y="5211219"/>
            <a:ext cx="4623542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3A3A3A"/>
                </a:solidFill>
                <a:latin typeface="Bai Jamjuree"/>
                <a:ea typeface="Bai Jamjuree"/>
                <a:cs typeface="Bai Jamjuree"/>
                <a:sym typeface="Bai Jamjuree"/>
              </a:rPr>
              <a:t>Highlight </a:t>
            </a:r>
            <a:endParaRPr sz="1600" b="1" i="0" u="none" strike="noStrike" cap="none" dirty="0">
              <a:solidFill>
                <a:srgbClr val="3A3A3A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End-to-end request tracing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Real-time monitoring: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API latency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Error rates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Resource usage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Alerting: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5xx error spikes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DB connection failures</a:t>
            </a:r>
          </a:p>
        </p:txBody>
      </p:sp>
      <p:cxnSp>
        <p:nvCxnSpPr>
          <p:cNvPr id="274" name="Google Shape;274;p2">
            <a:extLst>
              <a:ext uri="{FF2B5EF4-FFF2-40B4-BE49-F238E27FC236}">
                <a16:creationId xmlns:a16="http://schemas.microsoft.com/office/drawing/2014/main" id="{23BCFBD8-E4C5-E902-4DD9-B00D1F7EC840}"/>
              </a:ext>
            </a:extLst>
          </p:cNvPr>
          <p:cNvCxnSpPr/>
          <p:nvPr/>
        </p:nvCxnSpPr>
        <p:spPr>
          <a:xfrm rot="10800000" flipH="1">
            <a:off x="4855849" y="3882727"/>
            <a:ext cx="4637100" cy="12600"/>
          </a:xfrm>
          <a:prstGeom prst="straightConnector1">
            <a:avLst/>
          </a:prstGeom>
          <a:noFill/>
          <a:ln w="19050" cap="flat" cmpd="sng">
            <a:solidFill>
              <a:srgbClr val="3A3A3A">
                <a:alpha val="2862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5" name="Google Shape;275;p2">
            <a:extLst>
              <a:ext uri="{FF2B5EF4-FFF2-40B4-BE49-F238E27FC236}">
                <a16:creationId xmlns:a16="http://schemas.microsoft.com/office/drawing/2014/main" id="{31646892-E979-3DA1-BF66-BE2BECE45046}"/>
              </a:ext>
            </a:extLst>
          </p:cNvPr>
          <p:cNvSpPr txBox="1"/>
          <p:nvPr/>
        </p:nvSpPr>
        <p:spPr>
          <a:xfrm>
            <a:off x="4782298" y="1456735"/>
            <a:ext cx="2960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3A3A3A"/>
                </a:solidFill>
                <a:latin typeface="Bai Jamjuree"/>
                <a:ea typeface="Bai Jamjuree"/>
                <a:cs typeface="Bai Jamjuree"/>
                <a:sym typeface="Bai Jamjuree"/>
              </a:rPr>
              <a:t>Overview</a:t>
            </a:r>
            <a:endParaRPr sz="1200" b="0" i="0" u="none" strike="noStrike" cap="none">
              <a:solidFill>
                <a:srgbClr val="000000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76" name="Google Shape;276;p2">
            <a:extLst>
              <a:ext uri="{FF2B5EF4-FFF2-40B4-BE49-F238E27FC236}">
                <a16:creationId xmlns:a16="http://schemas.microsoft.com/office/drawing/2014/main" id="{D9CB1051-F702-CA28-1462-1680AD526D97}"/>
              </a:ext>
            </a:extLst>
          </p:cNvPr>
          <p:cNvSpPr txBox="1"/>
          <p:nvPr/>
        </p:nvSpPr>
        <p:spPr>
          <a:xfrm>
            <a:off x="4782298" y="2002140"/>
            <a:ext cx="3540851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Microservices architecture (EKS / ECS / Lambda)</a:t>
            </a:r>
          </a:p>
          <a:p>
            <a:pPr marL="2857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Distributed systems with high operational complexity</a:t>
            </a:r>
          </a:p>
          <a:p>
            <a:pPr marL="2857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Limited traceability and debugging capability</a:t>
            </a:r>
            <a:endParaRPr sz="1200" b="0" i="0" u="none" strike="noStrike" cap="none" dirty="0">
              <a:solidFill>
                <a:srgbClr val="484848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78" name="Google Shape;278;p2">
            <a:extLst>
              <a:ext uri="{FF2B5EF4-FFF2-40B4-BE49-F238E27FC236}">
                <a16:creationId xmlns:a16="http://schemas.microsoft.com/office/drawing/2014/main" id="{68E3277C-4311-CCDD-2783-5266E6766E20}"/>
              </a:ext>
            </a:extLst>
          </p:cNvPr>
          <p:cNvSpPr/>
          <p:nvPr/>
        </p:nvSpPr>
        <p:spPr>
          <a:xfrm>
            <a:off x="861149" y="6392921"/>
            <a:ext cx="711164" cy="728380"/>
          </a:xfrm>
          <a:custGeom>
            <a:avLst/>
            <a:gdLst/>
            <a:ahLst/>
            <a:cxnLst/>
            <a:rect l="l" t="t" r="r" b="b"/>
            <a:pathLst>
              <a:path w="799061" h="818405" extrusionOk="0">
                <a:moveTo>
                  <a:pt x="0" y="0"/>
                </a:moveTo>
                <a:lnTo>
                  <a:pt x="799061" y="0"/>
                </a:lnTo>
                <a:lnTo>
                  <a:pt x="799061" y="818405"/>
                </a:lnTo>
                <a:lnTo>
                  <a:pt x="0" y="8184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9" name="Google Shape;279;p2">
            <a:extLst>
              <a:ext uri="{FF2B5EF4-FFF2-40B4-BE49-F238E27FC236}">
                <a16:creationId xmlns:a16="http://schemas.microsoft.com/office/drawing/2014/main" id="{F2121A47-672D-C5FD-30CB-C0BCA6AD9956}"/>
              </a:ext>
            </a:extLst>
          </p:cNvPr>
          <p:cNvSpPr/>
          <p:nvPr/>
        </p:nvSpPr>
        <p:spPr>
          <a:xfrm>
            <a:off x="1173733" y="394023"/>
            <a:ext cx="9192265" cy="475052"/>
          </a:xfrm>
          <a:custGeom>
            <a:avLst/>
            <a:gdLst/>
            <a:ahLst/>
            <a:cxnLst/>
            <a:rect l="l" t="t" r="r" b="b"/>
            <a:pathLst>
              <a:path w="13771184" h="711689" extrusionOk="0">
                <a:moveTo>
                  <a:pt x="0" y="0"/>
                </a:moveTo>
                <a:lnTo>
                  <a:pt x="13771184" y="0"/>
                </a:lnTo>
                <a:lnTo>
                  <a:pt x="13771184" y="711689"/>
                </a:lnTo>
                <a:lnTo>
                  <a:pt x="0" y="71168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0" name="Google Shape;280;p2">
            <a:extLst>
              <a:ext uri="{FF2B5EF4-FFF2-40B4-BE49-F238E27FC236}">
                <a16:creationId xmlns:a16="http://schemas.microsoft.com/office/drawing/2014/main" id="{12873EED-8052-9A8D-45D2-828AC70ECD9E}"/>
              </a:ext>
            </a:extLst>
          </p:cNvPr>
          <p:cNvSpPr/>
          <p:nvPr/>
        </p:nvSpPr>
        <p:spPr>
          <a:xfrm>
            <a:off x="1006700" y="473200"/>
            <a:ext cx="58166" cy="473075"/>
          </a:xfrm>
          <a:custGeom>
            <a:avLst/>
            <a:gdLst/>
            <a:ahLst/>
            <a:cxnLst/>
            <a:rect l="l" t="t" r="r" b="b"/>
            <a:pathLst>
              <a:path w="101600" h="635000" extrusionOk="0">
                <a:moveTo>
                  <a:pt x="101600" y="0"/>
                </a:moveTo>
                <a:lnTo>
                  <a:pt x="0" y="0"/>
                </a:lnTo>
                <a:lnTo>
                  <a:pt x="0" y="635000"/>
                </a:lnTo>
                <a:lnTo>
                  <a:pt x="101600" y="635000"/>
                </a:lnTo>
                <a:lnTo>
                  <a:pt x="101600" y="0"/>
                </a:lnTo>
                <a:close/>
              </a:path>
            </a:pathLst>
          </a:custGeom>
          <a:solidFill>
            <a:srgbClr val="0050A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81" name="Google Shape;281;p2">
            <a:extLst>
              <a:ext uri="{FF2B5EF4-FFF2-40B4-BE49-F238E27FC236}">
                <a16:creationId xmlns:a16="http://schemas.microsoft.com/office/drawing/2014/main" id="{CBD7EBA9-F225-B89C-F310-DE9AA3AC27B6}"/>
              </a:ext>
            </a:extLst>
          </p:cNvPr>
          <p:cNvSpPr txBox="1"/>
          <p:nvPr/>
        </p:nvSpPr>
        <p:spPr>
          <a:xfrm>
            <a:off x="1173725" y="694450"/>
            <a:ext cx="14569800" cy="28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1" i="0" u="none" strike="noStrike" cap="none" dirty="0">
                <a:solidFill>
                  <a:srgbClr val="0054CF"/>
                </a:solidFill>
                <a:latin typeface="Bai Jamjuree"/>
                <a:ea typeface="Bai Jamjuree"/>
                <a:cs typeface="Bai Jamjuree"/>
                <a:sym typeface="Bai Jamjuree"/>
              </a:rPr>
              <a:t>Cloud-native DevOps </a:t>
            </a:r>
            <a:r>
              <a:rPr lang="fr-FR" sz="1800" b="1" i="0" u="none" strike="noStrike" cap="none" dirty="0" err="1">
                <a:solidFill>
                  <a:srgbClr val="0054CF"/>
                </a:solidFill>
                <a:latin typeface="Bai Jamjuree"/>
                <a:ea typeface="Bai Jamjuree"/>
                <a:cs typeface="Bai Jamjuree"/>
                <a:sym typeface="Bai Jamjuree"/>
              </a:rPr>
              <a:t>Observability</a:t>
            </a:r>
            <a:endParaRPr sz="1800" b="1" i="0" u="none" strike="noStrike" cap="none" dirty="0">
              <a:solidFill>
                <a:srgbClr val="0054CF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82" name="Google Shape;282;p2">
            <a:extLst>
              <a:ext uri="{FF2B5EF4-FFF2-40B4-BE49-F238E27FC236}">
                <a16:creationId xmlns:a16="http://schemas.microsoft.com/office/drawing/2014/main" id="{C08D981E-FCE7-A219-CF17-F8B17249C8D2}"/>
              </a:ext>
            </a:extLst>
          </p:cNvPr>
          <p:cNvSpPr txBox="1"/>
          <p:nvPr/>
        </p:nvSpPr>
        <p:spPr>
          <a:xfrm>
            <a:off x="1185569" y="417300"/>
            <a:ext cx="5079900" cy="2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4D4D4F"/>
                </a:solidFill>
                <a:latin typeface="Bai Jamjuree"/>
                <a:ea typeface="Bai Jamjuree"/>
                <a:cs typeface="Bai Jamjuree"/>
                <a:sym typeface="Bai Jamjuree"/>
              </a:rPr>
              <a:t>Key Use Cases in Operation  </a:t>
            </a:r>
            <a:endParaRPr sz="1400" b="0" i="0" u="none" strike="noStrike" cap="none" dirty="0">
              <a:solidFill>
                <a:srgbClr val="4D4D4F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83" name="Google Shape;283;p2">
            <a:extLst>
              <a:ext uri="{FF2B5EF4-FFF2-40B4-BE49-F238E27FC236}">
                <a16:creationId xmlns:a16="http://schemas.microsoft.com/office/drawing/2014/main" id="{C4E06B2D-8F6A-DD61-DA3C-FC2DAED7A442}"/>
              </a:ext>
            </a:extLst>
          </p:cNvPr>
          <p:cNvSpPr/>
          <p:nvPr/>
        </p:nvSpPr>
        <p:spPr>
          <a:xfrm>
            <a:off x="1380286" y="8466624"/>
            <a:ext cx="525462" cy="677863"/>
          </a:xfrm>
          <a:custGeom>
            <a:avLst/>
            <a:gdLst/>
            <a:ahLst/>
            <a:cxnLst/>
            <a:rect l="l" t="t" r="r" b="b"/>
            <a:pathLst>
              <a:path w="635000" h="889000" extrusionOk="0">
                <a:moveTo>
                  <a:pt x="635000" y="0"/>
                </a:moveTo>
                <a:lnTo>
                  <a:pt x="0" y="0"/>
                </a:lnTo>
                <a:lnTo>
                  <a:pt x="0" y="889000"/>
                </a:lnTo>
                <a:lnTo>
                  <a:pt x="635000" y="889000"/>
                </a:lnTo>
                <a:lnTo>
                  <a:pt x="635000" y="0"/>
                </a:lnTo>
                <a:close/>
              </a:path>
            </a:pathLst>
          </a:custGeom>
          <a:solidFill>
            <a:srgbClr val="0391E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">
            <a:extLst>
              <a:ext uri="{FF2B5EF4-FFF2-40B4-BE49-F238E27FC236}">
                <a16:creationId xmlns:a16="http://schemas.microsoft.com/office/drawing/2014/main" id="{38610D37-6F43-D646-019F-1E4F547BD0DE}"/>
              </a:ext>
            </a:extLst>
          </p:cNvPr>
          <p:cNvSpPr txBox="1"/>
          <p:nvPr/>
        </p:nvSpPr>
        <p:spPr>
          <a:xfrm>
            <a:off x="1326700" y="8686382"/>
            <a:ext cx="633000" cy="2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1" i="0" u="none" strike="noStrike" cap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5</a:t>
            </a:fld>
            <a:endParaRPr sz="1400" b="1" i="0" u="none" strike="noStrike" cap="none">
              <a:solidFill>
                <a:srgbClr val="FFFFFF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85" name="Google Shape;285;p2">
            <a:extLst>
              <a:ext uri="{FF2B5EF4-FFF2-40B4-BE49-F238E27FC236}">
                <a16:creationId xmlns:a16="http://schemas.microsoft.com/office/drawing/2014/main" id="{CAB167D7-C9E8-4190-615C-24746C38745F}"/>
              </a:ext>
            </a:extLst>
          </p:cNvPr>
          <p:cNvSpPr/>
          <p:nvPr/>
        </p:nvSpPr>
        <p:spPr>
          <a:xfrm>
            <a:off x="5944725" y="8876224"/>
            <a:ext cx="4366522" cy="268047"/>
          </a:xfrm>
          <a:custGeom>
            <a:avLst/>
            <a:gdLst/>
            <a:ahLst/>
            <a:cxnLst/>
            <a:rect l="l" t="t" r="r" b="b"/>
            <a:pathLst>
              <a:path w="7247340" h="423790" extrusionOk="0">
                <a:moveTo>
                  <a:pt x="219653" y="0"/>
                </a:moveTo>
                <a:lnTo>
                  <a:pt x="220563" y="1747"/>
                </a:lnTo>
                <a:lnTo>
                  <a:pt x="7026779" y="1747"/>
                </a:lnTo>
                <a:lnTo>
                  <a:pt x="7027688" y="0"/>
                </a:lnTo>
                <a:lnTo>
                  <a:pt x="7028597" y="1747"/>
                </a:lnTo>
                <a:lnTo>
                  <a:pt x="7036635" y="1747"/>
                </a:lnTo>
                <a:lnTo>
                  <a:pt x="7036635" y="17191"/>
                </a:lnTo>
                <a:lnTo>
                  <a:pt x="7247340" y="422043"/>
                </a:lnTo>
                <a:lnTo>
                  <a:pt x="7036635" y="422043"/>
                </a:lnTo>
                <a:lnTo>
                  <a:pt x="7036635" y="423790"/>
                </a:lnTo>
                <a:lnTo>
                  <a:pt x="219653" y="423790"/>
                </a:lnTo>
                <a:lnTo>
                  <a:pt x="219653" y="422043"/>
                </a:lnTo>
                <a:lnTo>
                  <a:pt x="0" y="422043"/>
                </a:lnTo>
                <a:close/>
              </a:path>
            </a:pathLst>
          </a:custGeom>
          <a:solidFill>
            <a:srgbClr val="DAE5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5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">
            <a:extLst>
              <a:ext uri="{FF2B5EF4-FFF2-40B4-BE49-F238E27FC236}">
                <a16:creationId xmlns:a16="http://schemas.microsoft.com/office/drawing/2014/main" id="{C5DD3755-D6D6-1BE8-25E2-62B244A3497D}"/>
              </a:ext>
            </a:extLst>
          </p:cNvPr>
          <p:cNvSpPr txBox="1"/>
          <p:nvPr/>
        </p:nvSpPr>
        <p:spPr>
          <a:xfrm>
            <a:off x="5982388" y="8856338"/>
            <a:ext cx="429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400" b="0" i="0" u="none" strike="noStrike" cap="none">
                <a:solidFill>
                  <a:srgbClr val="1F497D"/>
                </a:solidFill>
                <a:latin typeface="Bai Jamjuree"/>
                <a:ea typeface="Bai Jamjuree"/>
                <a:cs typeface="Bai Jamjuree"/>
                <a:sym typeface="Bai Jamjuree"/>
              </a:rPr>
              <a:t>Copyright © 2025 VTI All rights reserved</a:t>
            </a:r>
            <a:endParaRPr sz="1400" b="0" i="0" u="none" strike="noStrike" cap="none">
              <a:solidFill>
                <a:srgbClr val="1F497D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pic>
        <p:nvPicPr>
          <p:cNvPr id="287" name="Google Shape;287;p2">
            <a:extLst>
              <a:ext uri="{FF2B5EF4-FFF2-40B4-BE49-F238E27FC236}">
                <a16:creationId xmlns:a16="http://schemas.microsoft.com/office/drawing/2014/main" id="{1262099D-6D99-BC03-69FE-B911BC1FA29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30052" y="279698"/>
            <a:ext cx="606782" cy="22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">
            <a:extLst>
              <a:ext uri="{FF2B5EF4-FFF2-40B4-BE49-F238E27FC236}">
                <a16:creationId xmlns:a16="http://schemas.microsoft.com/office/drawing/2014/main" id="{00988A79-2D34-1EB4-FA20-37041713F9E3}"/>
              </a:ext>
            </a:extLst>
          </p:cNvPr>
          <p:cNvSpPr/>
          <p:nvPr/>
        </p:nvSpPr>
        <p:spPr>
          <a:xfrm>
            <a:off x="348650" y="1944800"/>
            <a:ext cx="3806927" cy="5046133"/>
          </a:xfrm>
          <a:custGeom>
            <a:avLst/>
            <a:gdLst/>
            <a:ahLst/>
            <a:cxnLst/>
            <a:rect l="l" t="t" r="r" b="b"/>
            <a:pathLst>
              <a:path w="2748684" h="2709333" extrusionOk="0">
                <a:moveTo>
                  <a:pt x="0" y="0"/>
                </a:moveTo>
                <a:lnTo>
                  <a:pt x="2748684" y="0"/>
                </a:lnTo>
                <a:lnTo>
                  <a:pt x="2748684" y="2709333"/>
                </a:lnTo>
                <a:lnTo>
                  <a:pt x="0" y="2709333"/>
                </a:lnTo>
                <a:close/>
              </a:path>
            </a:pathLst>
          </a:custGeom>
          <a:solidFill>
            <a:srgbClr val="003A8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9" name="Google Shape;289;p2">
            <a:extLst>
              <a:ext uri="{FF2B5EF4-FFF2-40B4-BE49-F238E27FC236}">
                <a16:creationId xmlns:a16="http://schemas.microsoft.com/office/drawing/2014/main" id="{058F7199-68F2-9B8E-CB36-D1312179CADD}"/>
              </a:ext>
            </a:extLst>
          </p:cNvPr>
          <p:cNvSpPr txBox="1"/>
          <p:nvPr/>
        </p:nvSpPr>
        <p:spPr>
          <a:xfrm>
            <a:off x="510380" y="2673317"/>
            <a:ext cx="3581761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Telco Relevance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</a:rPr>
              <a:t>Digital platforms (apps, portals, OTT)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</a:rPr>
              <a:t>API gateway monitoring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</a:rPr>
              <a:t>Microservices-based telco systems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91" name="Google Shape;291;p2">
            <a:extLst>
              <a:ext uri="{FF2B5EF4-FFF2-40B4-BE49-F238E27FC236}">
                <a16:creationId xmlns:a16="http://schemas.microsoft.com/office/drawing/2014/main" id="{B52BBB65-4D10-05AC-ADB9-397202C73A67}"/>
              </a:ext>
            </a:extLst>
          </p:cNvPr>
          <p:cNvSpPr txBox="1"/>
          <p:nvPr/>
        </p:nvSpPr>
        <p:spPr>
          <a:xfrm>
            <a:off x="4812660" y="3525654"/>
            <a:ext cx="4794636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3A3A3A"/>
                </a:solidFill>
                <a:latin typeface="Bai Jamjuree"/>
                <a:ea typeface="Bai Jamjuree"/>
                <a:cs typeface="Bai Jamjuree"/>
                <a:sym typeface="Bai Jamjuree"/>
              </a:rPr>
              <a:t>Solution &amp; Technology Used</a:t>
            </a:r>
            <a:endParaRPr sz="1200" b="0" i="0" u="none" strike="noStrike" cap="none" dirty="0">
              <a:solidFill>
                <a:schemeClr val="dk1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cxnSp>
        <p:nvCxnSpPr>
          <p:cNvPr id="292" name="Google Shape;292;p2">
            <a:extLst>
              <a:ext uri="{FF2B5EF4-FFF2-40B4-BE49-F238E27FC236}">
                <a16:creationId xmlns:a16="http://schemas.microsoft.com/office/drawing/2014/main" id="{55EC21FA-3437-4701-93B0-894810C4ECA0}"/>
              </a:ext>
            </a:extLst>
          </p:cNvPr>
          <p:cNvCxnSpPr/>
          <p:nvPr/>
        </p:nvCxnSpPr>
        <p:spPr>
          <a:xfrm rot="10800000" flipH="1">
            <a:off x="4774422" y="5145659"/>
            <a:ext cx="4637100" cy="12600"/>
          </a:xfrm>
          <a:prstGeom prst="straightConnector1">
            <a:avLst/>
          </a:prstGeom>
          <a:noFill/>
          <a:ln w="19050" cap="flat" cmpd="sng">
            <a:solidFill>
              <a:srgbClr val="3A3A3A">
                <a:alpha val="2862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3" name="Google Shape;293;p2">
            <a:extLst>
              <a:ext uri="{FF2B5EF4-FFF2-40B4-BE49-F238E27FC236}">
                <a16:creationId xmlns:a16="http://schemas.microsoft.com/office/drawing/2014/main" id="{758ED207-A1F3-2F6A-F2D5-FDBA92F50417}"/>
              </a:ext>
            </a:extLst>
          </p:cNvPr>
          <p:cNvSpPr txBox="1"/>
          <p:nvPr/>
        </p:nvSpPr>
        <p:spPr>
          <a:xfrm>
            <a:off x="4836338" y="3998543"/>
            <a:ext cx="3486812" cy="100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Wingdings" panose="05000000000000000000" pitchFamily="2" charset="2"/>
              <a:buChar char="q"/>
            </a:pPr>
            <a:r>
              <a:rPr lang="en-US" sz="13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Centralized logging across:</a:t>
            </a:r>
          </a:p>
          <a:p>
            <a:pPr marL="285750" lvl="2" indent="-285750">
              <a:buSzPts val="1300"/>
              <a:buFont typeface="Arial" panose="020B0604020202020204" pitchFamily="34" charset="0"/>
              <a:buChar char="•"/>
            </a:pPr>
            <a:r>
              <a:rPr lang="en-US" sz="13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Applications</a:t>
            </a:r>
          </a:p>
          <a:p>
            <a:pPr marL="285750" lvl="2" indent="-285750">
              <a:buSzPts val="1300"/>
              <a:buFont typeface="Arial" panose="020B0604020202020204" pitchFamily="34" charset="0"/>
              <a:buChar char="•"/>
            </a:pPr>
            <a:r>
              <a:rPr lang="en-US" sz="13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Infrastructure</a:t>
            </a:r>
          </a:p>
          <a:p>
            <a:pPr marL="285750" lvl="2" indent="-285750">
              <a:buSzPts val="1300"/>
              <a:buFont typeface="Arial" panose="020B0604020202020204" pitchFamily="34" charset="0"/>
              <a:buChar char="•"/>
            </a:pPr>
            <a:r>
              <a:rPr lang="en-US" sz="13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CI/CD pipelines</a:t>
            </a:r>
          </a:p>
          <a:p>
            <a:pPr marL="285750" lvl="2" indent="-285750">
              <a:buSzPts val="1300"/>
              <a:buFont typeface="Wingdings" panose="05000000000000000000" pitchFamily="2" charset="2"/>
              <a:buChar char="q"/>
            </a:pPr>
            <a:r>
              <a:rPr lang="en-US" sz="13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Integrated observability stack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" name="Google Shape;292;p2">
            <a:extLst>
              <a:ext uri="{FF2B5EF4-FFF2-40B4-BE49-F238E27FC236}">
                <a16:creationId xmlns:a16="http://schemas.microsoft.com/office/drawing/2014/main" id="{9163E293-B460-7A9F-BD3E-2C009EDDDA3D}"/>
              </a:ext>
            </a:extLst>
          </p:cNvPr>
          <p:cNvCxnSpPr/>
          <p:nvPr/>
        </p:nvCxnSpPr>
        <p:spPr>
          <a:xfrm rot="10800000" flipH="1">
            <a:off x="4774422" y="7540968"/>
            <a:ext cx="4637100" cy="12600"/>
          </a:xfrm>
          <a:prstGeom prst="straightConnector1">
            <a:avLst/>
          </a:prstGeom>
          <a:noFill/>
          <a:ln w="19050" cap="flat" cmpd="sng">
            <a:solidFill>
              <a:srgbClr val="3A3A3A">
                <a:alpha val="2862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Google Shape;273;p2">
            <a:extLst>
              <a:ext uri="{FF2B5EF4-FFF2-40B4-BE49-F238E27FC236}">
                <a16:creationId xmlns:a16="http://schemas.microsoft.com/office/drawing/2014/main" id="{23A7535A-BA8B-1435-3698-2019F86B24C6}"/>
              </a:ext>
            </a:extLst>
          </p:cNvPr>
          <p:cNvSpPr txBox="1"/>
          <p:nvPr/>
        </p:nvSpPr>
        <p:spPr>
          <a:xfrm>
            <a:off x="4869407" y="7712448"/>
            <a:ext cx="4737889" cy="991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3A3A3A"/>
                </a:solidFill>
                <a:latin typeface="Bai Jamjuree"/>
                <a:ea typeface="Bai Jamjuree"/>
                <a:cs typeface="Bai Jamjuree"/>
                <a:sym typeface="Bai Jamjuree"/>
              </a:rPr>
              <a:t>Business Value </a:t>
            </a:r>
            <a:endParaRPr sz="1600" b="1" i="0" u="none" strike="noStrike" cap="none" dirty="0">
              <a:solidFill>
                <a:srgbClr val="3A3A3A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❖"/>
            </a:pPr>
            <a:r>
              <a:rPr lang="en-US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5</a:t>
            </a:r>
            <a:r>
              <a:rPr lang="en-US" sz="14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0–70% faster troubleshooting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❖"/>
            </a:pPr>
            <a:r>
              <a:rPr lang="en-US" sz="14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Improved deployment reliability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❖"/>
            </a:pPr>
            <a:r>
              <a:rPr lang="en-US" sz="14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Enhanced system stability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829664-E1BD-9CA1-27F9-C1F664CFBCD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97" t="26535" r="28637" b="30086"/>
          <a:stretch>
            <a:fillRect/>
          </a:stretch>
        </p:blipFill>
        <p:spPr>
          <a:xfrm>
            <a:off x="8323149" y="1169502"/>
            <a:ext cx="7860835" cy="32537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990520-4C1A-F804-86AE-ECBEEC37F56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1227" t="50938" r="1704" b="9111"/>
          <a:stretch>
            <a:fillRect/>
          </a:stretch>
        </p:blipFill>
        <p:spPr>
          <a:xfrm>
            <a:off x="11063877" y="5145659"/>
            <a:ext cx="3712828" cy="365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870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>
          <a:extLst>
            <a:ext uri="{FF2B5EF4-FFF2-40B4-BE49-F238E27FC236}">
              <a16:creationId xmlns:a16="http://schemas.microsoft.com/office/drawing/2014/main" id="{7BD59C52-7359-727C-D20C-60B7F4E32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2" name="Google Shape;272;p2">
            <a:extLst>
              <a:ext uri="{FF2B5EF4-FFF2-40B4-BE49-F238E27FC236}">
                <a16:creationId xmlns:a16="http://schemas.microsoft.com/office/drawing/2014/main" id="{A94DA5E6-8A01-11B5-3AE6-E9B897B56C9B}"/>
              </a:ext>
            </a:extLst>
          </p:cNvPr>
          <p:cNvCxnSpPr/>
          <p:nvPr/>
        </p:nvCxnSpPr>
        <p:spPr>
          <a:xfrm>
            <a:off x="4782298" y="1790860"/>
            <a:ext cx="4637100" cy="0"/>
          </a:xfrm>
          <a:prstGeom prst="straightConnector1">
            <a:avLst/>
          </a:prstGeom>
          <a:noFill/>
          <a:ln w="19050" cap="flat" cmpd="sng">
            <a:solidFill>
              <a:srgbClr val="3A3A3A">
                <a:alpha val="2862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3" name="Google Shape;273;p2">
            <a:extLst>
              <a:ext uri="{FF2B5EF4-FFF2-40B4-BE49-F238E27FC236}">
                <a16:creationId xmlns:a16="http://schemas.microsoft.com/office/drawing/2014/main" id="{3E7B2164-B5E9-3F10-B334-7C411738BC0D}"/>
              </a:ext>
            </a:extLst>
          </p:cNvPr>
          <p:cNvSpPr txBox="1"/>
          <p:nvPr/>
        </p:nvSpPr>
        <p:spPr>
          <a:xfrm>
            <a:off x="4869407" y="5211219"/>
            <a:ext cx="4542115" cy="1421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3A3A3A"/>
                </a:solidFill>
                <a:latin typeface="Bai Jamjuree"/>
                <a:ea typeface="Bai Jamjuree"/>
                <a:cs typeface="Bai Jamjuree"/>
                <a:sym typeface="Bai Jamjuree"/>
              </a:rPr>
              <a:t>Highlight </a:t>
            </a:r>
            <a:endParaRPr sz="1600" b="1" i="0" u="none" strike="noStrike" cap="none" dirty="0">
              <a:solidFill>
                <a:srgbClr val="3A3A3A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Detect: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Abnormal login behavior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Suspicious access patterns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Real-time alerts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Full audit trail</a:t>
            </a:r>
          </a:p>
        </p:txBody>
      </p:sp>
      <p:cxnSp>
        <p:nvCxnSpPr>
          <p:cNvPr id="274" name="Google Shape;274;p2">
            <a:extLst>
              <a:ext uri="{FF2B5EF4-FFF2-40B4-BE49-F238E27FC236}">
                <a16:creationId xmlns:a16="http://schemas.microsoft.com/office/drawing/2014/main" id="{C62A4199-89F5-FCB0-0CF1-18E0756B64CB}"/>
              </a:ext>
            </a:extLst>
          </p:cNvPr>
          <p:cNvCxnSpPr/>
          <p:nvPr/>
        </p:nvCxnSpPr>
        <p:spPr>
          <a:xfrm rot="10800000" flipH="1">
            <a:off x="4855849" y="3882727"/>
            <a:ext cx="4637100" cy="12600"/>
          </a:xfrm>
          <a:prstGeom prst="straightConnector1">
            <a:avLst/>
          </a:prstGeom>
          <a:noFill/>
          <a:ln w="19050" cap="flat" cmpd="sng">
            <a:solidFill>
              <a:srgbClr val="3A3A3A">
                <a:alpha val="2862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5" name="Google Shape;275;p2">
            <a:extLst>
              <a:ext uri="{FF2B5EF4-FFF2-40B4-BE49-F238E27FC236}">
                <a16:creationId xmlns:a16="http://schemas.microsoft.com/office/drawing/2014/main" id="{7DFA98B9-6A1E-F07D-2D17-E0B64B94E7AE}"/>
              </a:ext>
            </a:extLst>
          </p:cNvPr>
          <p:cNvSpPr txBox="1"/>
          <p:nvPr/>
        </p:nvSpPr>
        <p:spPr>
          <a:xfrm>
            <a:off x="4782298" y="1456735"/>
            <a:ext cx="2960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3A3A3A"/>
                </a:solidFill>
                <a:latin typeface="Bai Jamjuree"/>
                <a:ea typeface="Bai Jamjuree"/>
                <a:cs typeface="Bai Jamjuree"/>
                <a:sym typeface="Bai Jamjuree"/>
              </a:rPr>
              <a:t>Overview</a:t>
            </a:r>
            <a:endParaRPr sz="1200" b="0" i="0" u="none" strike="noStrike" cap="none">
              <a:solidFill>
                <a:srgbClr val="000000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76" name="Google Shape;276;p2">
            <a:extLst>
              <a:ext uri="{FF2B5EF4-FFF2-40B4-BE49-F238E27FC236}">
                <a16:creationId xmlns:a16="http://schemas.microsoft.com/office/drawing/2014/main" id="{50CD180B-E0DA-3398-C46D-E9D203535939}"/>
              </a:ext>
            </a:extLst>
          </p:cNvPr>
          <p:cNvSpPr txBox="1"/>
          <p:nvPr/>
        </p:nvSpPr>
        <p:spPr>
          <a:xfrm>
            <a:off x="4782298" y="2002140"/>
            <a:ext cx="334570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Lack of centralized security monitoring</a:t>
            </a:r>
          </a:p>
          <a:p>
            <a:pPr marL="2857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Distributed logs across systems</a:t>
            </a:r>
            <a:endParaRPr sz="1200" b="0" i="0" u="none" strike="noStrike" cap="none" dirty="0">
              <a:solidFill>
                <a:srgbClr val="484848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78" name="Google Shape;278;p2">
            <a:extLst>
              <a:ext uri="{FF2B5EF4-FFF2-40B4-BE49-F238E27FC236}">
                <a16:creationId xmlns:a16="http://schemas.microsoft.com/office/drawing/2014/main" id="{3AC112CB-5189-A1F3-978B-E9ABD4E8101B}"/>
              </a:ext>
            </a:extLst>
          </p:cNvPr>
          <p:cNvSpPr/>
          <p:nvPr/>
        </p:nvSpPr>
        <p:spPr>
          <a:xfrm>
            <a:off x="861149" y="6392921"/>
            <a:ext cx="711164" cy="728380"/>
          </a:xfrm>
          <a:custGeom>
            <a:avLst/>
            <a:gdLst/>
            <a:ahLst/>
            <a:cxnLst/>
            <a:rect l="l" t="t" r="r" b="b"/>
            <a:pathLst>
              <a:path w="799061" h="818405" extrusionOk="0">
                <a:moveTo>
                  <a:pt x="0" y="0"/>
                </a:moveTo>
                <a:lnTo>
                  <a:pt x="799061" y="0"/>
                </a:lnTo>
                <a:lnTo>
                  <a:pt x="799061" y="818405"/>
                </a:lnTo>
                <a:lnTo>
                  <a:pt x="0" y="8184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9" name="Google Shape;279;p2">
            <a:extLst>
              <a:ext uri="{FF2B5EF4-FFF2-40B4-BE49-F238E27FC236}">
                <a16:creationId xmlns:a16="http://schemas.microsoft.com/office/drawing/2014/main" id="{548EF358-2F79-6F07-BF86-5DBCAB32B3B9}"/>
              </a:ext>
            </a:extLst>
          </p:cNvPr>
          <p:cNvSpPr/>
          <p:nvPr/>
        </p:nvSpPr>
        <p:spPr>
          <a:xfrm>
            <a:off x="1173733" y="394023"/>
            <a:ext cx="9192265" cy="475052"/>
          </a:xfrm>
          <a:custGeom>
            <a:avLst/>
            <a:gdLst/>
            <a:ahLst/>
            <a:cxnLst/>
            <a:rect l="l" t="t" r="r" b="b"/>
            <a:pathLst>
              <a:path w="13771184" h="711689" extrusionOk="0">
                <a:moveTo>
                  <a:pt x="0" y="0"/>
                </a:moveTo>
                <a:lnTo>
                  <a:pt x="13771184" y="0"/>
                </a:lnTo>
                <a:lnTo>
                  <a:pt x="13771184" y="711689"/>
                </a:lnTo>
                <a:lnTo>
                  <a:pt x="0" y="71168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0" name="Google Shape;280;p2">
            <a:extLst>
              <a:ext uri="{FF2B5EF4-FFF2-40B4-BE49-F238E27FC236}">
                <a16:creationId xmlns:a16="http://schemas.microsoft.com/office/drawing/2014/main" id="{0F11AAA3-E45F-D448-202B-D400D6F5F609}"/>
              </a:ext>
            </a:extLst>
          </p:cNvPr>
          <p:cNvSpPr/>
          <p:nvPr/>
        </p:nvSpPr>
        <p:spPr>
          <a:xfrm>
            <a:off x="1006700" y="473200"/>
            <a:ext cx="58166" cy="473075"/>
          </a:xfrm>
          <a:custGeom>
            <a:avLst/>
            <a:gdLst/>
            <a:ahLst/>
            <a:cxnLst/>
            <a:rect l="l" t="t" r="r" b="b"/>
            <a:pathLst>
              <a:path w="101600" h="635000" extrusionOk="0">
                <a:moveTo>
                  <a:pt x="101600" y="0"/>
                </a:moveTo>
                <a:lnTo>
                  <a:pt x="0" y="0"/>
                </a:lnTo>
                <a:lnTo>
                  <a:pt x="0" y="635000"/>
                </a:lnTo>
                <a:lnTo>
                  <a:pt x="101600" y="635000"/>
                </a:lnTo>
                <a:lnTo>
                  <a:pt x="101600" y="0"/>
                </a:lnTo>
                <a:close/>
              </a:path>
            </a:pathLst>
          </a:custGeom>
          <a:solidFill>
            <a:srgbClr val="0050A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81" name="Google Shape;281;p2">
            <a:extLst>
              <a:ext uri="{FF2B5EF4-FFF2-40B4-BE49-F238E27FC236}">
                <a16:creationId xmlns:a16="http://schemas.microsoft.com/office/drawing/2014/main" id="{FA6E13F6-6005-EF84-A5AC-E108A2AD0660}"/>
              </a:ext>
            </a:extLst>
          </p:cNvPr>
          <p:cNvSpPr txBox="1"/>
          <p:nvPr/>
        </p:nvSpPr>
        <p:spPr>
          <a:xfrm>
            <a:off x="1173725" y="694450"/>
            <a:ext cx="14569800" cy="28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1" i="0" u="none" strike="noStrike" cap="none" dirty="0">
                <a:solidFill>
                  <a:srgbClr val="0054CF"/>
                </a:solidFill>
                <a:latin typeface="Bai Jamjuree"/>
                <a:ea typeface="Bai Jamjuree"/>
                <a:cs typeface="Bai Jamjuree"/>
                <a:sym typeface="Bai Jamjuree"/>
              </a:rPr>
              <a:t>Security Monitoring &amp; SOC-lite Platform</a:t>
            </a:r>
            <a:endParaRPr sz="1800" b="1" i="0" u="none" strike="noStrike" cap="none" dirty="0">
              <a:solidFill>
                <a:srgbClr val="0054CF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82" name="Google Shape;282;p2">
            <a:extLst>
              <a:ext uri="{FF2B5EF4-FFF2-40B4-BE49-F238E27FC236}">
                <a16:creationId xmlns:a16="http://schemas.microsoft.com/office/drawing/2014/main" id="{A5BB6A13-4705-122C-34B4-6B26EDDD95B6}"/>
              </a:ext>
            </a:extLst>
          </p:cNvPr>
          <p:cNvSpPr txBox="1"/>
          <p:nvPr/>
        </p:nvSpPr>
        <p:spPr>
          <a:xfrm>
            <a:off x="1185569" y="417300"/>
            <a:ext cx="5079900" cy="2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4D4D4F"/>
                </a:solidFill>
                <a:latin typeface="Bai Jamjuree"/>
                <a:ea typeface="Bai Jamjuree"/>
                <a:cs typeface="Bai Jamjuree"/>
                <a:sym typeface="Bai Jamjuree"/>
              </a:rPr>
              <a:t>Key Use Cases in Operation  </a:t>
            </a:r>
            <a:endParaRPr sz="1400" b="0" i="0" u="none" strike="noStrike" cap="none" dirty="0">
              <a:solidFill>
                <a:srgbClr val="4D4D4F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83" name="Google Shape;283;p2">
            <a:extLst>
              <a:ext uri="{FF2B5EF4-FFF2-40B4-BE49-F238E27FC236}">
                <a16:creationId xmlns:a16="http://schemas.microsoft.com/office/drawing/2014/main" id="{8E8FF03E-D967-7E89-1737-62DDAE827FA7}"/>
              </a:ext>
            </a:extLst>
          </p:cNvPr>
          <p:cNvSpPr/>
          <p:nvPr/>
        </p:nvSpPr>
        <p:spPr>
          <a:xfrm>
            <a:off x="1380286" y="8466624"/>
            <a:ext cx="525462" cy="677863"/>
          </a:xfrm>
          <a:custGeom>
            <a:avLst/>
            <a:gdLst/>
            <a:ahLst/>
            <a:cxnLst/>
            <a:rect l="l" t="t" r="r" b="b"/>
            <a:pathLst>
              <a:path w="635000" h="889000" extrusionOk="0">
                <a:moveTo>
                  <a:pt x="635000" y="0"/>
                </a:moveTo>
                <a:lnTo>
                  <a:pt x="0" y="0"/>
                </a:lnTo>
                <a:lnTo>
                  <a:pt x="0" y="889000"/>
                </a:lnTo>
                <a:lnTo>
                  <a:pt x="635000" y="889000"/>
                </a:lnTo>
                <a:lnTo>
                  <a:pt x="635000" y="0"/>
                </a:lnTo>
                <a:close/>
              </a:path>
            </a:pathLst>
          </a:custGeom>
          <a:solidFill>
            <a:srgbClr val="0391E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">
            <a:extLst>
              <a:ext uri="{FF2B5EF4-FFF2-40B4-BE49-F238E27FC236}">
                <a16:creationId xmlns:a16="http://schemas.microsoft.com/office/drawing/2014/main" id="{505C1F0F-F912-A685-E8BC-A32FA9C10020}"/>
              </a:ext>
            </a:extLst>
          </p:cNvPr>
          <p:cNvSpPr txBox="1"/>
          <p:nvPr/>
        </p:nvSpPr>
        <p:spPr>
          <a:xfrm>
            <a:off x="1326700" y="8686382"/>
            <a:ext cx="633000" cy="2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1" i="0" u="none" strike="noStrike" cap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6</a:t>
            </a:fld>
            <a:endParaRPr sz="1400" b="1" i="0" u="none" strike="noStrike" cap="none">
              <a:solidFill>
                <a:srgbClr val="FFFFFF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85" name="Google Shape;285;p2">
            <a:extLst>
              <a:ext uri="{FF2B5EF4-FFF2-40B4-BE49-F238E27FC236}">
                <a16:creationId xmlns:a16="http://schemas.microsoft.com/office/drawing/2014/main" id="{AC4FEDC3-DF61-92C2-03AE-10008DC02731}"/>
              </a:ext>
            </a:extLst>
          </p:cNvPr>
          <p:cNvSpPr/>
          <p:nvPr/>
        </p:nvSpPr>
        <p:spPr>
          <a:xfrm>
            <a:off x="5944725" y="8876224"/>
            <a:ext cx="4366522" cy="268047"/>
          </a:xfrm>
          <a:custGeom>
            <a:avLst/>
            <a:gdLst/>
            <a:ahLst/>
            <a:cxnLst/>
            <a:rect l="l" t="t" r="r" b="b"/>
            <a:pathLst>
              <a:path w="7247340" h="423790" extrusionOk="0">
                <a:moveTo>
                  <a:pt x="219653" y="0"/>
                </a:moveTo>
                <a:lnTo>
                  <a:pt x="220563" y="1747"/>
                </a:lnTo>
                <a:lnTo>
                  <a:pt x="7026779" y="1747"/>
                </a:lnTo>
                <a:lnTo>
                  <a:pt x="7027688" y="0"/>
                </a:lnTo>
                <a:lnTo>
                  <a:pt x="7028597" y="1747"/>
                </a:lnTo>
                <a:lnTo>
                  <a:pt x="7036635" y="1747"/>
                </a:lnTo>
                <a:lnTo>
                  <a:pt x="7036635" y="17191"/>
                </a:lnTo>
                <a:lnTo>
                  <a:pt x="7247340" y="422043"/>
                </a:lnTo>
                <a:lnTo>
                  <a:pt x="7036635" y="422043"/>
                </a:lnTo>
                <a:lnTo>
                  <a:pt x="7036635" y="423790"/>
                </a:lnTo>
                <a:lnTo>
                  <a:pt x="219653" y="423790"/>
                </a:lnTo>
                <a:lnTo>
                  <a:pt x="219653" y="422043"/>
                </a:lnTo>
                <a:lnTo>
                  <a:pt x="0" y="422043"/>
                </a:lnTo>
                <a:close/>
              </a:path>
            </a:pathLst>
          </a:custGeom>
          <a:solidFill>
            <a:srgbClr val="DAE5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5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">
            <a:extLst>
              <a:ext uri="{FF2B5EF4-FFF2-40B4-BE49-F238E27FC236}">
                <a16:creationId xmlns:a16="http://schemas.microsoft.com/office/drawing/2014/main" id="{62425989-FFA8-9D6B-14C9-A1B1553B6E45}"/>
              </a:ext>
            </a:extLst>
          </p:cNvPr>
          <p:cNvSpPr txBox="1"/>
          <p:nvPr/>
        </p:nvSpPr>
        <p:spPr>
          <a:xfrm>
            <a:off x="5982388" y="8856338"/>
            <a:ext cx="429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400" b="0" i="0" u="none" strike="noStrike" cap="none">
                <a:solidFill>
                  <a:srgbClr val="1F497D"/>
                </a:solidFill>
                <a:latin typeface="Bai Jamjuree"/>
                <a:ea typeface="Bai Jamjuree"/>
                <a:cs typeface="Bai Jamjuree"/>
                <a:sym typeface="Bai Jamjuree"/>
              </a:rPr>
              <a:t>Copyright © 2025 VTI All rights reserved</a:t>
            </a:r>
            <a:endParaRPr sz="1400" b="0" i="0" u="none" strike="noStrike" cap="none">
              <a:solidFill>
                <a:srgbClr val="1F497D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pic>
        <p:nvPicPr>
          <p:cNvPr id="287" name="Google Shape;287;p2">
            <a:extLst>
              <a:ext uri="{FF2B5EF4-FFF2-40B4-BE49-F238E27FC236}">
                <a16:creationId xmlns:a16="http://schemas.microsoft.com/office/drawing/2014/main" id="{A35BA298-C4CA-1DC7-A62D-3CAEAD76692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30052" y="279698"/>
            <a:ext cx="606782" cy="22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">
            <a:extLst>
              <a:ext uri="{FF2B5EF4-FFF2-40B4-BE49-F238E27FC236}">
                <a16:creationId xmlns:a16="http://schemas.microsoft.com/office/drawing/2014/main" id="{256727AF-C600-0B62-E597-54876F4412A7}"/>
              </a:ext>
            </a:extLst>
          </p:cNvPr>
          <p:cNvSpPr/>
          <p:nvPr/>
        </p:nvSpPr>
        <p:spPr>
          <a:xfrm>
            <a:off x="348650" y="1944800"/>
            <a:ext cx="3806927" cy="5046133"/>
          </a:xfrm>
          <a:custGeom>
            <a:avLst/>
            <a:gdLst/>
            <a:ahLst/>
            <a:cxnLst/>
            <a:rect l="l" t="t" r="r" b="b"/>
            <a:pathLst>
              <a:path w="2748684" h="2709333" extrusionOk="0">
                <a:moveTo>
                  <a:pt x="0" y="0"/>
                </a:moveTo>
                <a:lnTo>
                  <a:pt x="2748684" y="0"/>
                </a:lnTo>
                <a:lnTo>
                  <a:pt x="2748684" y="2709333"/>
                </a:lnTo>
                <a:lnTo>
                  <a:pt x="0" y="2709333"/>
                </a:lnTo>
                <a:close/>
              </a:path>
            </a:pathLst>
          </a:custGeom>
          <a:solidFill>
            <a:srgbClr val="003A8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9" name="Google Shape;289;p2">
            <a:extLst>
              <a:ext uri="{FF2B5EF4-FFF2-40B4-BE49-F238E27FC236}">
                <a16:creationId xmlns:a16="http://schemas.microsoft.com/office/drawing/2014/main" id="{5033CE38-92E4-532D-0B64-B993840DEB1D}"/>
              </a:ext>
            </a:extLst>
          </p:cNvPr>
          <p:cNvSpPr txBox="1"/>
          <p:nvPr/>
        </p:nvSpPr>
        <p:spPr>
          <a:xfrm>
            <a:off x="510380" y="2673317"/>
            <a:ext cx="3581761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Telco Relevance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Subscriber fraud detection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API abuse monitoring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Internal security operations</a:t>
            </a:r>
          </a:p>
        </p:txBody>
      </p:sp>
      <p:sp>
        <p:nvSpPr>
          <p:cNvPr id="291" name="Google Shape;291;p2">
            <a:extLst>
              <a:ext uri="{FF2B5EF4-FFF2-40B4-BE49-F238E27FC236}">
                <a16:creationId xmlns:a16="http://schemas.microsoft.com/office/drawing/2014/main" id="{A523D8E8-D480-B71E-D4B8-90E96FF62B13}"/>
              </a:ext>
            </a:extLst>
          </p:cNvPr>
          <p:cNvSpPr txBox="1"/>
          <p:nvPr/>
        </p:nvSpPr>
        <p:spPr>
          <a:xfrm>
            <a:off x="4812660" y="3525654"/>
            <a:ext cx="4794636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3A3A3A"/>
                </a:solidFill>
                <a:latin typeface="Bai Jamjuree"/>
                <a:ea typeface="Bai Jamjuree"/>
                <a:cs typeface="Bai Jamjuree"/>
                <a:sym typeface="Bai Jamjuree"/>
              </a:rPr>
              <a:t>Solution &amp; Technology Used</a:t>
            </a:r>
            <a:endParaRPr sz="1200" b="0" i="0" u="none" strike="noStrike" cap="none" dirty="0">
              <a:solidFill>
                <a:schemeClr val="dk1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cxnSp>
        <p:nvCxnSpPr>
          <p:cNvPr id="292" name="Google Shape;292;p2">
            <a:extLst>
              <a:ext uri="{FF2B5EF4-FFF2-40B4-BE49-F238E27FC236}">
                <a16:creationId xmlns:a16="http://schemas.microsoft.com/office/drawing/2014/main" id="{771B95EF-5A11-0E83-AA3D-13BE59190E11}"/>
              </a:ext>
            </a:extLst>
          </p:cNvPr>
          <p:cNvCxnSpPr/>
          <p:nvPr/>
        </p:nvCxnSpPr>
        <p:spPr>
          <a:xfrm rot="10800000" flipH="1">
            <a:off x="4774422" y="5145659"/>
            <a:ext cx="4637100" cy="12600"/>
          </a:xfrm>
          <a:prstGeom prst="straightConnector1">
            <a:avLst/>
          </a:prstGeom>
          <a:noFill/>
          <a:ln w="19050" cap="flat" cmpd="sng">
            <a:solidFill>
              <a:srgbClr val="3A3A3A">
                <a:alpha val="2862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3" name="Google Shape;293;p2">
            <a:extLst>
              <a:ext uri="{FF2B5EF4-FFF2-40B4-BE49-F238E27FC236}">
                <a16:creationId xmlns:a16="http://schemas.microsoft.com/office/drawing/2014/main" id="{B3050AAA-215E-18E0-E161-186AC9A9D3E6}"/>
              </a:ext>
            </a:extLst>
          </p:cNvPr>
          <p:cNvSpPr txBox="1"/>
          <p:nvPr/>
        </p:nvSpPr>
        <p:spPr>
          <a:xfrm>
            <a:off x="4836337" y="3998543"/>
            <a:ext cx="3446209" cy="100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Wingdings" panose="05000000000000000000" pitchFamily="2" charset="2"/>
              <a:buChar char="q"/>
            </a:pPr>
            <a:r>
              <a:rPr lang="en-US" sz="13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ELK-based security monitoring platform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Wingdings" panose="05000000000000000000" pitchFamily="2" charset="2"/>
              <a:buChar char="q"/>
            </a:pPr>
            <a:r>
              <a:rPr lang="en-US" sz="13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Correlation of logs across: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 pitchFamily="34" charset="0"/>
              <a:buChar char="•"/>
            </a:pPr>
            <a:r>
              <a:rPr lang="en-US" sz="13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Applications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 pitchFamily="34" charset="0"/>
              <a:buChar char="•"/>
            </a:pPr>
            <a:r>
              <a:rPr lang="en-US" sz="13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Network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 pitchFamily="34" charset="0"/>
              <a:buChar char="•"/>
            </a:pPr>
            <a:r>
              <a:rPr lang="en-US" sz="13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User access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" name="Google Shape;292;p2">
            <a:extLst>
              <a:ext uri="{FF2B5EF4-FFF2-40B4-BE49-F238E27FC236}">
                <a16:creationId xmlns:a16="http://schemas.microsoft.com/office/drawing/2014/main" id="{AFDD0080-20A9-8377-3591-5BEF9D1F9DA8}"/>
              </a:ext>
            </a:extLst>
          </p:cNvPr>
          <p:cNvCxnSpPr/>
          <p:nvPr/>
        </p:nvCxnSpPr>
        <p:spPr>
          <a:xfrm rot="10800000" flipH="1">
            <a:off x="4774422" y="7540968"/>
            <a:ext cx="4637100" cy="12600"/>
          </a:xfrm>
          <a:prstGeom prst="straightConnector1">
            <a:avLst/>
          </a:prstGeom>
          <a:noFill/>
          <a:ln w="19050" cap="flat" cmpd="sng">
            <a:solidFill>
              <a:srgbClr val="3A3A3A">
                <a:alpha val="2862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Google Shape;273;p2">
            <a:extLst>
              <a:ext uri="{FF2B5EF4-FFF2-40B4-BE49-F238E27FC236}">
                <a16:creationId xmlns:a16="http://schemas.microsoft.com/office/drawing/2014/main" id="{B1C104B6-223D-E715-FB55-903F18417DBF}"/>
              </a:ext>
            </a:extLst>
          </p:cNvPr>
          <p:cNvSpPr txBox="1"/>
          <p:nvPr/>
        </p:nvSpPr>
        <p:spPr>
          <a:xfrm>
            <a:off x="4869407" y="7712448"/>
            <a:ext cx="4542115" cy="991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3A3A3A"/>
                </a:solidFill>
                <a:latin typeface="Bai Jamjuree"/>
                <a:ea typeface="Bai Jamjuree"/>
                <a:cs typeface="Bai Jamjuree"/>
                <a:sym typeface="Bai Jamjuree"/>
              </a:rPr>
              <a:t>Business Value </a:t>
            </a:r>
            <a:endParaRPr sz="1600" b="1" i="0" u="none" strike="noStrike" cap="none" dirty="0">
              <a:solidFill>
                <a:srgbClr val="3A3A3A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❖"/>
            </a:pPr>
            <a:r>
              <a:rPr lang="en-US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Improved threat detection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❖"/>
            </a:pPr>
            <a:r>
              <a:rPr lang="en-US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Faster incident response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❖"/>
            </a:pPr>
            <a:r>
              <a:rPr lang="en-US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Foundation for SOC implementation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29CAED-2593-5EEB-075F-C292378A7F6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6608" r="24637" b="24373"/>
          <a:stretch>
            <a:fillRect/>
          </a:stretch>
        </p:blipFill>
        <p:spPr>
          <a:xfrm>
            <a:off x="8128000" y="1666834"/>
            <a:ext cx="8128000" cy="35245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DAA74E-7570-0C9E-8B0D-C1FB4E71D17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5124" t="52400" r="1082" b="11627"/>
          <a:stretch>
            <a:fillRect/>
          </a:stretch>
        </p:blipFill>
        <p:spPr>
          <a:xfrm>
            <a:off x="10013633" y="5416846"/>
            <a:ext cx="3263455" cy="328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146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>
          <a:extLst>
            <a:ext uri="{FF2B5EF4-FFF2-40B4-BE49-F238E27FC236}">
              <a16:creationId xmlns:a16="http://schemas.microsoft.com/office/drawing/2014/main" id="{675EEA35-38A3-67DC-78F2-2BAF9DFEC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2" name="Google Shape;272;p2">
            <a:extLst>
              <a:ext uri="{FF2B5EF4-FFF2-40B4-BE49-F238E27FC236}">
                <a16:creationId xmlns:a16="http://schemas.microsoft.com/office/drawing/2014/main" id="{64A567C4-F2DD-B852-D15B-187E9076A4B2}"/>
              </a:ext>
            </a:extLst>
          </p:cNvPr>
          <p:cNvCxnSpPr/>
          <p:nvPr/>
        </p:nvCxnSpPr>
        <p:spPr>
          <a:xfrm>
            <a:off x="3986478" y="1810727"/>
            <a:ext cx="4637100" cy="0"/>
          </a:xfrm>
          <a:prstGeom prst="straightConnector1">
            <a:avLst/>
          </a:prstGeom>
          <a:noFill/>
          <a:ln w="19050" cap="flat" cmpd="sng">
            <a:solidFill>
              <a:srgbClr val="3A3A3A">
                <a:alpha val="2862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3" name="Google Shape;273;p2">
            <a:extLst>
              <a:ext uri="{FF2B5EF4-FFF2-40B4-BE49-F238E27FC236}">
                <a16:creationId xmlns:a16="http://schemas.microsoft.com/office/drawing/2014/main" id="{09541E76-A233-3417-22E4-693BBEC12B4C}"/>
              </a:ext>
            </a:extLst>
          </p:cNvPr>
          <p:cNvSpPr txBox="1"/>
          <p:nvPr/>
        </p:nvSpPr>
        <p:spPr>
          <a:xfrm>
            <a:off x="4073587" y="5231086"/>
            <a:ext cx="4549991" cy="120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3A3A3A"/>
                </a:solidFill>
                <a:latin typeface="Bai Jamjuree"/>
                <a:ea typeface="Bai Jamjuree"/>
                <a:cs typeface="Bai Jamjuree"/>
                <a:sym typeface="Bai Jamjuree"/>
              </a:rPr>
              <a:t>Highlight </a:t>
            </a:r>
            <a:endParaRPr sz="1600" b="1" i="0" u="none" strike="noStrike" cap="none" dirty="0">
              <a:solidFill>
                <a:srgbClr val="3A3A3A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Unified observability platform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Real-time dashboards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Flexible, scalable architecture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Cost optimization</a:t>
            </a:r>
          </a:p>
        </p:txBody>
      </p:sp>
      <p:cxnSp>
        <p:nvCxnSpPr>
          <p:cNvPr id="274" name="Google Shape;274;p2">
            <a:extLst>
              <a:ext uri="{FF2B5EF4-FFF2-40B4-BE49-F238E27FC236}">
                <a16:creationId xmlns:a16="http://schemas.microsoft.com/office/drawing/2014/main" id="{936E0698-B4DF-51C3-631F-1953D4F34C5D}"/>
              </a:ext>
            </a:extLst>
          </p:cNvPr>
          <p:cNvCxnSpPr/>
          <p:nvPr/>
        </p:nvCxnSpPr>
        <p:spPr>
          <a:xfrm rot="10800000" flipH="1">
            <a:off x="4060029" y="3902594"/>
            <a:ext cx="4637100" cy="12600"/>
          </a:xfrm>
          <a:prstGeom prst="straightConnector1">
            <a:avLst/>
          </a:prstGeom>
          <a:noFill/>
          <a:ln w="19050" cap="flat" cmpd="sng">
            <a:solidFill>
              <a:srgbClr val="3A3A3A">
                <a:alpha val="2862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5" name="Google Shape;275;p2">
            <a:extLst>
              <a:ext uri="{FF2B5EF4-FFF2-40B4-BE49-F238E27FC236}">
                <a16:creationId xmlns:a16="http://schemas.microsoft.com/office/drawing/2014/main" id="{71A2525B-DD7F-6988-3ADB-41ED9666943A}"/>
              </a:ext>
            </a:extLst>
          </p:cNvPr>
          <p:cNvSpPr txBox="1"/>
          <p:nvPr/>
        </p:nvSpPr>
        <p:spPr>
          <a:xfrm>
            <a:off x="3986478" y="1476602"/>
            <a:ext cx="2960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3A3A3A"/>
                </a:solidFill>
                <a:latin typeface="Bai Jamjuree"/>
                <a:ea typeface="Bai Jamjuree"/>
                <a:cs typeface="Bai Jamjuree"/>
                <a:sym typeface="Bai Jamjuree"/>
              </a:rPr>
              <a:t>Overview</a:t>
            </a:r>
            <a:endParaRPr sz="1200" b="0" i="0" u="none" strike="noStrike" cap="none" dirty="0">
              <a:solidFill>
                <a:srgbClr val="000000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76" name="Google Shape;276;p2">
            <a:extLst>
              <a:ext uri="{FF2B5EF4-FFF2-40B4-BE49-F238E27FC236}">
                <a16:creationId xmlns:a16="http://schemas.microsoft.com/office/drawing/2014/main" id="{BC0914D4-0432-A09E-6BCB-6E49B75CA2D0}"/>
              </a:ext>
            </a:extLst>
          </p:cNvPr>
          <p:cNvSpPr txBox="1"/>
          <p:nvPr/>
        </p:nvSpPr>
        <p:spPr>
          <a:xfrm>
            <a:off x="3986478" y="2022007"/>
            <a:ext cx="3581761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Need unified monitoring:</a:t>
            </a:r>
          </a:p>
          <a:p>
            <a:pPr marL="2857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Logs + Metrics + Dashboards</a:t>
            </a:r>
          </a:p>
          <a:p>
            <a:pPr marL="2857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Performance &amp; cost optimization challenges</a:t>
            </a:r>
            <a:endParaRPr sz="1200" b="0" i="0" u="none" strike="noStrike" cap="none" dirty="0">
              <a:solidFill>
                <a:srgbClr val="484848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78" name="Google Shape;278;p2">
            <a:extLst>
              <a:ext uri="{FF2B5EF4-FFF2-40B4-BE49-F238E27FC236}">
                <a16:creationId xmlns:a16="http://schemas.microsoft.com/office/drawing/2014/main" id="{28F3D4AF-4993-D784-3941-9526C05470EE}"/>
              </a:ext>
            </a:extLst>
          </p:cNvPr>
          <p:cNvSpPr/>
          <p:nvPr/>
        </p:nvSpPr>
        <p:spPr>
          <a:xfrm>
            <a:off x="861149" y="6392921"/>
            <a:ext cx="711164" cy="728380"/>
          </a:xfrm>
          <a:custGeom>
            <a:avLst/>
            <a:gdLst/>
            <a:ahLst/>
            <a:cxnLst/>
            <a:rect l="l" t="t" r="r" b="b"/>
            <a:pathLst>
              <a:path w="799061" h="818405" extrusionOk="0">
                <a:moveTo>
                  <a:pt x="0" y="0"/>
                </a:moveTo>
                <a:lnTo>
                  <a:pt x="799061" y="0"/>
                </a:lnTo>
                <a:lnTo>
                  <a:pt x="799061" y="818405"/>
                </a:lnTo>
                <a:lnTo>
                  <a:pt x="0" y="8184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9" name="Google Shape;279;p2">
            <a:extLst>
              <a:ext uri="{FF2B5EF4-FFF2-40B4-BE49-F238E27FC236}">
                <a16:creationId xmlns:a16="http://schemas.microsoft.com/office/drawing/2014/main" id="{4387C436-843C-F426-C819-BEAC852DA5C5}"/>
              </a:ext>
            </a:extLst>
          </p:cNvPr>
          <p:cNvSpPr/>
          <p:nvPr/>
        </p:nvSpPr>
        <p:spPr>
          <a:xfrm>
            <a:off x="1173733" y="394023"/>
            <a:ext cx="9192265" cy="475052"/>
          </a:xfrm>
          <a:custGeom>
            <a:avLst/>
            <a:gdLst/>
            <a:ahLst/>
            <a:cxnLst/>
            <a:rect l="l" t="t" r="r" b="b"/>
            <a:pathLst>
              <a:path w="13771184" h="711689" extrusionOk="0">
                <a:moveTo>
                  <a:pt x="0" y="0"/>
                </a:moveTo>
                <a:lnTo>
                  <a:pt x="13771184" y="0"/>
                </a:lnTo>
                <a:lnTo>
                  <a:pt x="13771184" y="711689"/>
                </a:lnTo>
                <a:lnTo>
                  <a:pt x="0" y="71168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0" name="Google Shape;280;p2">
            <a:extLst>
              <a:ext uri="{FF2B5EF4-FFF2-40B4-BE49-F238E27FC236}">
                <a16:creationId xmlns:a16="http://schemas.microsoft.com/office/drawing/2014/main" id="{65C8DCB7-65DB-1634-DD00-9EC253A51B0E}"/>
              </a:ext>
            </a:extLst>
          </p:cNvPr>
          <p:cNvSpPr/>
          <p:nvPr/>
        </p:nvSpPr>
        <p:spPr>
          <a:xfrm>
            <a:off x="1006700" y="473200"/>
            <a:ext cx="58166" cy="473075"/>
          </a:xfrm>
          <a:custGeom>
            <a:avLst/>
            <a:gdLst/>
            <a:ahLst/>
            <a:cxnLst/>
            <a:rect l="l" t="t" r="r" b="b"/>
            <a:pathLst>
              <a:path w="101600" h="635000" extrusionOk="0">
                <a:moveTo>
                  <a:pt x="101600" y="0"/>
                </a:moveTo>
                <a:lnTo>
                  <a:pt x="0" y="0"/>
                </a:lnTo>
                <a:lnTo>
                  <a:pt x="0" y="635000"/>
                </a:lnTo>
                <a:lnTo>
                  <a:pt x="101600" y="635000"/>
                </a:lnTo>
                <a:lnTo>
                  <a:pt x="101600" y="0"/>
                </a:lnTo>
                <a:close/>
              </a:path>
            </a:pathLst>
          </a:custGeom>
          <a:solidFill>
            <a:srgbClr val="0050A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81" name="Google Shape;281;p2">
            <a:extLst>
              <a:ext uri="{FF2B5EF4-FFF2-40B4-BE49-F238E27FC236}">
                <a16:creationId xmlns:a16="http://schemas.microsoft.com/office/drawing/2014/main" id="{B384FEC7-3ABA-7590-1170-CADFEB2F3E40}"/>
              </a:ext>
            </a:extLst>
          </p:cNvPr>
          <p:cNvSpPr txBox="1"/>
          <p:nvPr/>
        </p:nvSpPr>
        <p:spPr>
          <a:xfrm>
            <a:off x="1173725" y="694450"/>
            <a:ext cx="14569800" cy="28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0054CF"/>
                </a:solidFill>
                <a:latin typeface="Bai Jamjuree"/>
                <a:ea typeface="Bai Jamjuree"/>
                <a:cs typeface="Bai Jamjuree"/>
                <a:sym typeface="Bai Jamjuree"/>
              </a:rPr>
              <a:t>Unified Observability (ELK + Metrics Stack)</a:t>
            </a:r>
            <a:endParaRPr sz="1800" b="1" i="0" u="none" strike="noStrike" cap="none" dirty="0">
              <a:solidFill>
                <a:srgbClr val="0054CF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82" name="Google Shape;282;p2">
            <a:extLst>
              <a:ext uri="{FF2B5EF4-FFF2-40B4-BE49-F238E27FC236}">
                <a16:creationId xmlns:a16="http://schemas.microsoft.com/office/drawing/2014/main" id="{9414F153-8113-311D-E5EE-75B6F137714D}"/>
              </a:ext>
            </a:extLst>
          </p:cNvPr>
          <p:cNvSpPr txBox="1"/>
          <p:nvPr/>
        </p:nvSpPr>
        <p:spPr>
          <a:xfrm>
            <a:off x="1185569" y="417300"/>
            <a:ext cx="5079900" cy="2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4D4D4F"/>
                </a:solidFill>
                <a:latin typeface="Bai Jamjuree"/>
                <a:ea typeface="Bai Jamjuree"/>
                <a:cs typeface="Bai Jamjuree"/>
                <a:sym typeface="Bai Jamjuree"/>
              </a:rPr>
              <a:t>Key Use Cases in Operation  </a:t>
            </a:r>
            <a:endParaRPr sz="1400" b="0" i="0" u="none" strike="noStrike" cap="none" dirty="0">
              <a:solidFill>
                <a:srgbClr val="4D4D4F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83" name="Google Shape;283;p2">
            <a:extLst>
              <a:ext uri="{FF2B5EF4-FFF2-40B4-BE49-F238E27FC236}">
                <a16:creationId xmlns:a16="http://schemas.microsoft.com/office/drawing/2014/main" id="{AB201376-3F69-17B3-948A-2B87403343E0}"/>
              </a:ext>
            </a:extLst>
          </p:cNvPr>
          <p:cNvSpPr/>
          <p:nvPr/>
        </p:nvSpPr>
        <p:spPr>
          <a:xfrm>
            <a:off x="1380286" y="8466624"/>
            <a:ext cx="525462" cy="677863"/>
          </a:xfrm>
          <a:custGeom>
            <a:avLst/>
            <a:gdLst/>
            <a:ahLst/>
            <a:cxnLst/>
            <a:rect l="l" t="t" r="r" b="b"/>
            <a:pathLst>
              <a:path w="635000" h="889000" extrusionOk="0">
                <a:moveTo>
                  <a:pt x="635000" y="0"/>
                </a:moveTo>
                <a:lnTo>
                  <a:pt x="0" y="0"/>
                </a:lnTo>
                <a:lnTo>
                  <a:pt x="0" y="889000"/>
                </a:lnTo>
                <a:lnTo>
                  <a:pt x="635000" y="889000"/>
                </a:lnTo>
                <a:lnTo>
                  <a:pt x="635000" y="0"/>
                </a:lnTo>
                <a:close/>
              </a:path>
            </a:pathLst>
          </a:custGeom>
          <a:solidFill>
            <a:srgbClr val="0391E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">
            <a:extLst>
              <a:ext uri="{FF2B5EF4-FFF2-40B4-BE49-F238E27FC236}">
                <a16:creationId xmlns:a16="http://schemas.microsoft.com/office/drawing/2014/main" id="{18A54246-2C46-A1B1-BC36-BF43556C6F8C}"/>
              </a:ext>
            </a:extLst>
          </p:cNvPr>
          <p:cNvSpPr txBox="1"/>
          <p:nvPr/>
        </p:nvSpPr>
        <p:spPr>
          <a:xfrm>
            <a:off x="1326700" y="8686382"/>
            <a:ext cx="633000" cy="2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1" i="0" u="none" strike="noStrike" cap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7</a:t>
            </a:fld>
            <a:endParaRPr sz="1400" b="1" i="0" u="none" strike="noStrike" cap="none">
              <a:solidFill>
                <a:srgbClr val="FFFFFF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85" name="Google Shape;285;p2">
            <a:extLst>
              <a:ext uri="{FF2B5EF4-FFF2-40B4-BE49-F238E27FC236}">
                <a16:creationId xmlns:a16="http://schemas.microsoft.com/office/drawing/2014/main" id="{BE2ECE3E-D060-D8FD-17E9-F2DFDD12450C}"/>
              </a:ext>
            </a:extLst>
          </p:cNvPr>
          <p:cNvSpPr/>
          <p:nvPr/>
        </p:nvSpPr>
        <p:spPr>
          <a:xfrm>
            <a:off x="5148905" y="8896091"/>
            <a:ext cx="4366522" cy="268047"/>
          </a:xfrm>
          <a:custGeom>
            <a:avLst/>
            <a:gdLst/>
            <a:ahLst/>
            <a:cxnLst/>
            <a:rect l="l" t="t" r="r" b="b"/>
            <a:pathLst>
              <a:path w="7247340" h="423790" extrusionOk="0">
                <a:moveTo>
                  <a:pt x="219653" y="0"/>
                </a:moveTo>
                <a:lnTo>
                  <a:pt x="220563" y="1747"/>
                </a:lnTo>
                <a:lnTo>
                  <a:pt x="7026779" y="1747"/>
                </a:lnTo>
                <a:lnTo>
                  <a:pt x="7027688" y="0"/>
                </a:lnTo>
                <a:lnTo>
                  <a:pt x="7028597" y="1747"/>
                </a:lnTo>
                <a:lnTo>
                  <a:pt x="7036635" y="1747"/>
                </a:lnTo>
                <a:lnTo>
                  <a:pt x="7036635" y="17191"/>
                </a:lnTo>
                <a:lnTo>
                  <a:pt x="7247340" y="422043"/>
                </a:lnTo>
                <a:lnTo>
                  <a:pt x="7036635" y="422043"/>
                </a:lnTo>
                <a:lnTo>
                  <a:pt x="7036635" y="423790"/>
                </a:lnTo>
                <a:lnTo>
                  <a:pt x="219653" y="423790"/>
                </a:lnTo>
                <a:lnTo>
                  <a:pt x="219653" y="422043"/>
                </a:lnTo>
                <a:lnTo>
                  <a:pt x="0" y="422043"/>
                </a:lnTo>
                <a:close/>
              </a:path>
            </a:pathLst>
          </a:custGeom>
          <a:solidFill>
            <a:srgbClr val="DAE5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5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">
            <a:extLst>
              <a:ext uri="{FF2B5EF4-FFF2-40B4-BE49-F238E27FC236}">
                <a16:creationId xmlns:a16="http://schemas.microsoft.com/office/drawing/2014/main" id="{3E6838EF-EA62-AD9E-C8A1-C29865FE688A}"/>
              </a:ext>
            </a:extLst>
          </p:cNvPr>
          <p:cNvSpPr txBox="1"/>
          <p:nvPr/>
        </p:nvSpPr>
        <p:spPr>
          <a:xfrm>
            <a:off x="5982388" y="8856338"/>
            <a:ext cx="429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400" b="0" i="0" u="none" strike="noStrike" cap="none">
                <a:solidFill>
                  <a:srgbClr val="1F497D"/>
                </a:solidFill>
                <a:latin typeface="Bai Jamjuree"/>
                <a:ea typeface="Bai Jamjuree"/>
                <a:cs typeface="Bai Jamjuree"/>
                <a:sym typeface="Bai Jamjuree"/>
              </a:rPr>
              <a:t>Copyright © 2025 VTI All rights reserved</a:t>
            </a:r>
            <a:endParaRPr sz="1400" b="0" i="0" u="none" strike="noStrike" cap="none">
              <a:solidFill>
                <a:srgbClr val="1F497D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pic>
        <p:nvPicPr>
          <p:cNvPr id="287" name="Google Shape;287;p2">
            <a:extLst>
              <a:ext uri="{FF2B5EF4-FFF2-40B4-BE49-F238E27FC236}">
                <a16:creationId xmlns:a16="http://schemas.microsoft.com/office/drawing/2014/main" id="{5F1CF486-6B38-41B5-FEB9-D6C52E77DAF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30052" y="279698"/>
            <a:ext cx="606782" cy="22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">
            <a:extLst>
              <a:ext uri="{FF2B5EF4-FFF2-40B4-BE49-F238E27FC236}">
                <a16:creationId xmlns:a16="http://schemas.microsoft.com/office/drawing/2014/main" id="{6F3B5989-4DEE-07F6-225E-6031EFD04269}"/>
              </a:ext>
            </a:extLst>
          </p:cNvPr>
          <p:cNvSpPr/>
          <p:nvPr/>
        </p:nvSpPr>
        <p:spPr>
          <a:xfrm>
            <a:off x="348650" y="1944800"/>
            <a:ext cx="3288363" cy="5046133"/>
          </a:xfrm>
          <a:custGeom>
            <a:avLst/>
            <a:gdLst/>
            <a:ahLst/>
            <a:cxnLst/>
            <a:rect l="l" t="t" r="r" b="b"/>
            <a:pathLst>
              <a:path w="2748684" h="2709333" extrusionOk="0">
                <a:moveTo>
                  <a:pt x="0" y="0"/>
                </a:moveTo>
                <a:lnTo>
                  <a:pt x="2748684" y="0"/>
                </a:lnTo>
                <a:lnTo>
                  <a:pt x="2748684" y="2709333"/>
                </a:lnTo>
                <a:lnTo>
                  <a:pt x="0" y="2709333"/>
                </a:lnTo>
                <a:close/>
              </a:path>
            </a:pathLst>
          </a:custGeom>
          <a:solidFill>
            <a:srgbClr val="003A8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9" name="Google Shape;289;p2">
            <a:extLst>
              <a:ext uri="{FF2B5EF4-FFF2-40B4-BE49-F238E27FC236}">
                <a16:creationId xmlns:a16="http://schemas.microsoft.com/office/drawing/2014/main" id="{B8377BE0-6C42-E5C7-1310-41B4BD9D2186}"/>
              </a:ext>
            </a:extLst>
          </p:cNvPr>
          <p:cNvSpPr txBox="1"/>
          <p:nvPr/>
        </p:nvSpPr>
        <p:spPr>
          <a:xfrm>
            <a:off x="510380" y="2673317"/>
            <a:ext cx="3581761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Telco Relevance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5G / edge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High-scale distributed environments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Kubernetes-based telco platforms</a:t>
            </a:r>
          </a:p>
        </p:txBody>
      </p:sp>
      <p:sp>
        <p:nvSpPr>
          <p:cNvPr id="291" name="Google Shape;291;p2">
            <a:extLst>
              <a:ext uri="{FF2B5EF4-FFF2-40B4-BE49-F238E27FC236}">
                <a16:creationId xmlns:a16="http://schemas.microsoft.com/office/drawing/2014/main" id="{DC6665DD-0D2F-DEC1-2750-64050B1FCB6C}"/>
              </a:ext>
            </a:extLst>
          </p:cNvPr>
          <p:cNvSpPr txBox="1"/>
          <p:nvPr/>
        </p:nvSpPr>
        <p:spPr>
          <a:xfrm>
            <a:off x="4016840" y="3545521"/>
            <a:ext cx="4794636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3A3A3A"/>
                </a:solidFill>
                <a:latin typeface="Bai Jamjuree"/>
                <a:ea typeface="Bai Jamjuree"/>
                <a:cs typeface="Bai Jamjuree"/>
                <a:sym typeface="Bai Jamjuree"/>
              </a:rPr>
              <a:t>Solution &amp; Technology Used</a:t>
            </a:r>
            <a:endParaRPr sz="1200" b="0" i="0" u="none" strike="noStrike" cap="none" dirty="0">
              <a:solidFill>
                <a:schemeClr val="dk1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cxnSp>
        <p:nvCxnSpPr>
          <p:cNvPr id="292" name="Google Shape;292;p2">
            <a:extLst>
              <a:ext uri="{FF2B5EF4-FFF2-40B4-BE49-F238E27FC236}">
                <a16:creationId xmlns:a16="http://schemas.microsoft.com/office/drawing/2014/main" id="{948FD597-6663-F4B7-EE1B-20044C0CCEA7}"/>
              </a:ext>
            </a:extLst>
          </p:cNvPr>
          <p:cNvCxnSpPr/>
          <p:nvPr/>
        </p:nvCxnSpPr>
        <p:spPr>
          <a:xfrm rot="10800000" flipH="1">
            <a:off x="3978602" y="5165526"/>
            <a:ext cx="4637100" cy="12600"/>
          </a:xfrm>
          <a:prstGeom prst="straightConnector1">
            <a:avLst/>
          </a:prstGeom>
          <a:noFill/>
          <a:ln w="19050" cap="flat" cmpd="sng">
            <a:solidFill>
              <a:srgbClr val="3A3A3A">
                <a:alpha val="2862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3" name="Google Shape;293;p2">
            <a:extLst>
              <a:ext uri="{FF2B5EF4-FFF2-40B4-BE49-F238E27FC236}">
                <a16:creationId xmlns:a16="http://schemas.microsoft.com/office/drawing/2014/main" id="{7DCFC542-947B-F43F-EA7C-627C0405F9F7}"/>
              </a:ext>
            </a:extLst>
          </p:cNvPr>
          <p:cNvSpPr txBox="1"/>
          <p:nvPr/>
        </p:nvSpPr>
        <p:spPr>
          <a:xfrm>
            <a:off x="4040517" y="4018410"/>
            <a:ext cx="4637100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Wingdings" panose="05000000000000000000" pitchFamily="2" charset="2"/>
              <a:buChar char="q"/>
            </a:pPr>
            <a:r>
              <a:rPr lang="en-US" sz="13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Combined architecture: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 pitchFamily="34" charset="0"/>
              <a:buChar char="•"/>
            </a:pPr>
            <a:r>
              <a:rPr lang="en-US" sz="13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ELK (log processing &amp; analytics)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 pitchFamily="34" charset="0"/>
              <a:buChar char="•"/>
            </a:pPr>
            <a:r>
              <a:rPr lang="en-US" sz="13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Prometheus (metrics)Grafana (visualization)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 pitchFamily="34" charset="0"/>
              <a:buChar char="•"/>
            </a:pPr>
            <a:r>
              <a:rPr lang="en-US" sz="1300" b="0" i="0" u="none" strike="noStrike" cap="none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Loki (lightweight log storage)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" name="Google Shape;292;p2">
            <a:extLst>
              <a:ext uri="{FF2B5EF4-FFF2-40B4-BE49-F238E27FC236}">
                <a16:creationId xmlns:a16="http://schemas.microsoft.com/office/drawing/2014/main" id="{D0A1F20D-11BC-52A6-4C39-E82ED4CC6B5E}"/>
              </a:ext>
            </a:extLst>
          </p:cNvPr>
          <p:cNvCxnSpPr/>
          <p:nvPr/>
        </p:nvCxnSpPr>
        <p:spPr>
          <a:xfrm rot="10800000" flipH="1">
            <a:off x="3946919" y="6891239"/>
            <a:ext cx="4637100" cy="12600"/>
          </a:xfrm>
          <a:prstGeom prst="straightConnector1">
            <a:avLst/>
          </a:prstGeom>
          <a:noFill/>
          <a:ln w="19050" cap="flat" cmpd="sng">
            <a:solidFill>
              <a:srgbClr val="3A3A3A">
                <a:alpha val="2862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Google Shape;273;p2">
            <a:extLst>
              <a:ext uri="{FF2B5EF4-FFF2-40B4-BE49-F238E27FC236}">
                <a16:creationId xmlns:a16="http://schemas.microsoft.com/office/drawing/2014/main" id="{E8DB202E-5E4B-6F93-BB18-958012627230}"/>
              </a:ext>
            </a:extLst>
          </p:cNvPr>
          <p:cNvSpPr txBox="1"/>
          <p:nvPr/>
        </p:nvSpPr>
        <p:spPr>
          <a:xfrm>
            <a:off x="4041904" y="7062719"/>
            <a:ext cx="4542115" cy="991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3A3A3A"/>
                </a:solidFill>
                <a:latin typeface="Bai Jamjuree"/>
                <a:ea typeface="Bai Jamjuree"/>
                <a:cs typeface="Bai Jamjuree"/>
                <a:sym typeface="Bai Jamjuree"/>
              </a:rPr>
              <a:t>Business Value </a:t>
            </a:r>
            <a:endParaRPr sz="1600" b="1" i="0" u="none" strike="noStrike" cap="none" dirty="0">
              <a:solidFill>
                <a:srgbClr val="3A3A3A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❖"/>
            </a:pPr>
            <a:r>
              <a:rPr lang="en-US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Better operational insights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❖"/>
            </a:pPr>
            <a:r>
              <a:rPr lang="en-US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Reduced monitoring cost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❖"/>
            </a:pPr>
            <a:r>
              <a:rPr lang="en-US" dirty="0">
                <a:solidFill>
                  <a:srgbClr val="484848"/>
                </a:solidFill>
                <a:latin typeface="Bai Jamjuree"/>
                <a:ea typeface="Bai Jamjuree"/>
                <a:cs typeface="Bai Jamjuree"/>
                <a:sym typeface="Bai Jamjuree"/>
              </a:rPr>
              <a:t>Cloud-native observability readiness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332485-590E-5F97-C8C3-1FAB7EC66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04" t="25477" r="26414" b="20785"/>
          <a:stretch>
            <a:fillRect/>
          </a:stretch>
        </p:blipFill>
        <p:spPr>
          <a:xfrm>
            <a:off x="7728272" y="1727744"/>
            <a:ext cx="8527728" cy="41976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FDCD68-209E-AF12-5723-A63B4332404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3937" t="7594" r="1040" b="41781"/>
          <a:stretch>
            <a:fillRect/>
          </a:stretch>
        </p:blipFill>
        <p:spPr>
          <a:xfrm>
            <a:off x="410459" y="4818629"/>
            <a:ext cx="3121881" cy="42106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2EC052-0764-42E1-1E09-2B667EA83C0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3937" t="58633" r="858" b="8835"/>
          <a:stretch>
            <a:fillRect/>
          </a:stretch>
        </p:blipFill>
        <p:spPr>
          <a:xfrm>
            <a:off x="11131992" y="6189350"/>
            <a:ext cx="3457185" cy="297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815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1312</Words>
  <Application>Microsoft Office PowerPoint</Application>
  <PresentationFormat>Custom</PresentationFormat>
  <Paragraphs>223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Noto Sans Symbols</vt:lpstr>
      <vt:lpstr>Helvetica Neue</vt:lpstr>
      <vt:lpstr>Arial</vt:lpstr>
      <vt:lpstr>Bai Jamjuree</vt:lpstr>
      <vt:lpstr>Quattrocento Sans</vt:lpstr>
      <vt:lpstr>Office Theme</vt:lpstr>
      <vt:lpstr>VTI ELK CAPABILITY &amp; USE CASE PORTFOLIO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Thomas Nguyen</cp:lastModifiedBy>
  <cp:revision>37</cp:revision>
  <dcterms:created xsi:type="dcterms:W3CDTF">2023-06-13T03:49:00Z</dcterms:created>
  <dcterms:modified xsi:type="dcterms:W3CDTF">2026-04-22T05:32:11Z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2023-06-07T21:00:00Z</vt:filetime>
  </property>
  <property fmtid="{D5CDD505-2E9C-101B-9397-08002B2CF9AE}" pid="3" name="Creator">
    <vt:lpwstr>Adobe Illustrator 27.5 (Windows)</vt:lpwstr>
  </property>
  <property fmtid="{D5CDD505-2E9C-101B-9397-08002B2CF9AE}" pid="4" name="LastSaved">
    <vt:filetime>2023-06-13T21:00:00Z</vt:filetime>
  </property>
  <property fmtid="{D5CDD505-2E9C-101B-9397-08002B2CF9AE}" pid="5" name="Producer">
    <vt:lpwstr>Adobe PDF library 17.00</vt:lpwstr>
  </property>
  <property fmtid="{D5CDD505-2E9C-101B-9397-08002B2CF9AE}" pid="6" name="ICV">
    <vt:lpwstr>A7C276F3A4434DD79FB591704A1AD1EF</vt:lpwstr>
  </property>
  <property fmtid="{D5CDD505-2E9C-101B-9397-08002B2CF9AE}" pid="7" name="KSOProductBuildVer">
    <vt:lpwstr>1033-11.2.0.11537</vt:lpwstr>
  </property>
</Properties>
</file>